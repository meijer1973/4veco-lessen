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5.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058a0402d44455c" /><Relationship Type="http://schemas.openxmlformats.org/officeDocument/2006/relationships/extended-properties" Target="/docProps/app.xml" Id="R855bb1b646234193" /><Relationship Type="http://schemas.openxmlformats.org/officeDocument/2006/relationships/officeDocument" Target="/ppt/presentation.xml" Id="R49267afbbafb430e" /></Relationships>
</file>

<file path=ppt/presentation.xml><?xml version="1.0" encoding="utf-8"?>
<p:presentation xmlns:p="http://schemas.openxmlformats.org/presentationml/2006/main">
  <p:sldMasterIdLst>
    <p:sldMasterId xmlns:r="http://schemas.openxmlformats.org/officeDocument/2006/relationships" id="2147483648" r:id="R2984387586cd43f5"/>
  </p:sldMasterIdLst>
  <p:notesMasterIdLst>
    <p:notesMasterId xmlns:r="http://schemas.openxmlformats.org/officeDocument/2006/relationships" r:id="R5310ba676da943d6"/>
  </p:notesMasterIdLst>
  <p:sldIdLst>
    <p:sldId xmlns:r="http://schemas.openxmlformats.org/officeDocument/2006/relationships" id="256" r:id="R3bebd00dc39f44ad"/>
    <p:sldId xmlns:r="http://schemas.openxmlformats.org/officeDocument/2006/relationships" id="257" r:id="Rb1862bd3cc834d9e"/>
    <p:sldId xmlns:r="http://schemas.openxmlformats.org/officeDocument/2006/relationships" id="258" r:id="Re3aca3cc10d549af"/>
    <p:sldId xmlns:r="http://schemas.openxmlformats.org/officeDocument/2006/relationships" id="259" r:id="R3d4023c4c0444af8"/>
    <p:sldId xmlns:r="http://schemas.openxmlformats.org/officeDocument/2006/relationships" id="260" r:id="R138fdb4801274fa1"/>
    <p:sldId xmlns:r="http://schemas.openxmlformats.org/officeDocument/2006/relationships" id="261" r:id="Rcadb9bd580ef4dba"/>
    <p:sldId xmlns:r="http://schemas.openxmlformats.org/officeDocument/2006/relationships" id="262" r:id="Re848ce877a914491"/>
    <p:sldId xmlns:r="http://schemas.openxmlformats.org/officeDocument/2006/relationships" id="263" r:id="R49cd8c7f61d1419a"/>
    <p:sldId xmlns:r="http://schemas.openxmlformats.org/officeDocument/2006/relationships" id="264" r:id="Rdf910cbbd09d4fda"/>
    <p:sldId xmlns:r="http://schemas.openxmlformats.org/officeDocument/2006/relationships" id="265" r:id="R78e8434c79554068"/>
    <p:sldId xmlns:r="http://schemas.openxmlformats.org/officeDocument/2006/relationships" id="266" r:id="Re089004b172f4975"/>
    <p:sldId xmlns:r="http://schemas.openxmlformats.org/officeDocument/2006/relationships" id="267" r:id="R9853ce8d793040a8"/>
    <p:sldId xmlns:r="http://schemas.openxmlformats.org/officeDocument/2006/relationships" id="268" r:id="Rf173461823a84536"/>
    <p:sldId xmlns:r="http://schemas.openxmlformats.org/officeDocument/2006/relationships" id="269" r:id="R77d77ae12dc94907"/>
    <p:sldId xmlns:r="http://schemas.openxmlformats.org/officeDocument/2006/relationships" id="270" r:id="R9c72f5d9cbe74b4d"/>
    <p:sldId xmlns:r="http://schemas.openxmlformats.org/officeDocument/2006/relationships" id="271" r:id="R1f501c781d2e4c37"/>
    <p:sldId xmlns:r="http://schemas.openxmlformats.org/officeDocument/2006/relationships" id="272" r:id="R22d10e75fdc6401f"/>
    <p:sldId xmlns:r="http://schemas.openxmlformats.org/officeDocument/2006/relationships" id="273" r:id="R9d99b80cc9134ce1"/>
    <p:sldId xmlns:r="http://schemas.openxmlformats.org/officeDocument/2006/relationships" id="274" r:id="Ra9814381ec7149b9"/>
    <p:sldId xmlns:r="http://schemas.openxmlformats.org/officeDocument/2006/relationships" id="275" r:id="Rd826c03482cf4fd0"/>
    <p:sldId xmlns:r="http://schemas.openxmlformats.org/officeDocument/2006/relationships" id="276" r:id="R83ee9e7b486c4975"/>
    <p:sldId xmlns:r="http://schemas.openxmlformats.org/officeDocument/2006/relationships" id="277" r:id="R821133b65a8d42cb"/>
    <p:sldId xmlns:r="http://schemas.openxmlformats.org/officeDocument/2006/relationships" id="278" r:id="Rbaf1f385f0344969"/>
    <p:sldId xmlns:r="http://schemas.openxmlformats.org/officeDocument/2006/relationships" id="279" r:id="Rb5edc0a0c6e14c4b"/>
    <p:sldId xmlns:r="http://schemas.openxmlformats.org/officeDocument/2006/relationships" id="280" r:id="Ra5dff68514554806"/>
    <p:sldId xmlns:r="http://schemas.openxmlformats.org/officeDocument/2006/relationships" id="281" r:id="R9032cdd5ea064e17"/>
    <p:sldId xmlns:r="http://schemas.openxmlformats.org/officeDocument/2006/relationships" id="282" r:id="R7711cf322e6042c2"/>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aa5c79945184a5d" /><Relationship Type="http://schemas.openxmlformats.org/officeDocument/2006/relationships/slideMaster" Target="/ppt/slideMasters/slideMaster1.xml" Id="R2984387586cd43f5" /><Relationship Type="http://schemas.openxmlformats.org/officeDocument/2006/relationships/notesMaster" Target="/ppt/notesMasters/notesMaster1.xml" Id="R5310ba676da943d6" /><Relationship Type="http://schemas.openxmlformats.org/officeDocument/2006/relationships/presProps" Target="/ppt/presProps.xml" Id="R901bee0b6a4e417e" /><Relationship Type="http://schemas.openxmlformats.org/officeDocument/2006/relationships/tableStyles" Target="/ppt/tableStyles.xml" Id="Recf7f21fbf1f4e54" /><Relationship Type="http://schemas.openxmlformats.org/officeDocument/2006/relationships/slide" Target="/ppt/slides/slide1.xml" Id="R3bebd00dc39f44ad" /><Relationship Type="http://schemas.openxmlformats.org/officeDocument/2006/relationships/slide" Target="/ppt/slides/slide2.xml" Id="Rb1862bd3cc834d9e" /><Relationship Type="http://schemas.openxmlformats.org/officeDocument/2006/relationships/slide" Target="/ppt/slides/slide3.xml" Id="Re3aca3cc10d549af" /><Relationship Type="http://schemas.openxmlformats.org/officeDocument/2006/relationships/slide" Target="/ppt/slides/slide4.xml" Id="R3d4023c4c0444af8" /><Relationship Type="http://schemas.openxmlformats.org/officeDocument/2006/relationships/slide" Target="/ppt/slides/slide5.xml" Id="R138fdb4801274fa1" /><Relationship Type="http://schemas.openxmlformats.org/officeDocument/2006/relationships/slide" Target="/ppt/slides/slide6.xml" Id="Rcadb9bd580ef4dba" /><Relationship Type="http://schemas.openxmlformats.org/officeDocument/2006/relationships/slide" Target="/ppt/slides/slide7.xml" Id="Re848ce877a914491" /><Relationship Type="http://schemas.openxmlformats.org/officeDocument/2006/relationships/slide" Target="/ppt/slides/slide8.xml" Id="R49cd8c7f61d1419a" /><Relationship Type="http://schemas.openxmlformats.org/officeDocument/2006/relationships/slide" Target="/ppt/slides/slide9.xml" Id="Rdf910cbbd09d4fda" /><Relationship Type="http://schemas.openxmlformats.org/officeDocument/2006/relationships/slide" Target="/ppt/slides/slide10.xml" Id="R78e8434c79554068" /><Relationship Type="http://schemas.openxmlformats.org/officeDocument/2006/relationships/slide" Target="/ppt/slides/slide11.xml" Id="Re089004b172f4975" /><Relationship Type="http://schemas.openxmlformats.org/officeDocument/2006/relationships/slide" Target="/ppt/slides/slide12.xml" Id="R9853ce8d793040a8" /><Relationship Type="http://schemas.openxmlformats.org/officeDocument/2006/relationships/slide" Target="/ppt/slides/slide13.xml" Id="Rf173461823a84536" /><Relationship Type="http://schemas.openxmlformats.org/officeDocument/2006/relationships/slide" Target="/ppt/slides/slide14.xml" Id="R77d77ae12dc94907" /><Relationship Type="http://schemas.openxmlformats.org/officeDocument/2006/relationships/slide" Target="/ppt/slides/slide15.xml" Id="R9c72f5d9cbe74b4d" /><Relationship Type="http://schemas.openxmlformats.org/officeDocument/2006/relationships/slide" Target="/ppt/slides/slide16.xml" Id="R1f501c781d2e4c37" /><Relationship Type="http://schemas.openxmlformats.org/officeDocument/2006/relationships/slide" Target="/ppt/slides/slide17.xml" Id="R22d10e75fdc6401f" /><Relationship Type="http://schemas.openxmlformats.org/officeDocument/2006/relationships/slide" Target="/ppt/slides/slide18.xml" Id="R9d99b80cc9134ce1" /><Relationship Type="http://schemas.openxmlformats.org/officeDocument/2006/relationships/slide" Target="/ppt/slides/slide19.xml" Id="Ra9814381ec7149b9" /><Relationship Type="http://schemas.openxmlformats.org/officeDocument/2006/relationships/slide" Target="/ppt/slides/slide20.xml" Id="Rd826c03482cf4fd0" /><Relationship Type="http://schemas.openxmlformats.org/officeDocument/2006/relationships/slide" Target="/ppt/slides/slide21.xml" Id="R83ee9e7b486c4975" /><Relationship Type="http://schemas.openxmlformats.org/officeDocument/2006/relationships/slide" Target="/ppt/slides/slide22.xml" Id="R821133b65a8d42cb" /><Relationship Type="http://schemas.openxmlformats.org/officeDocument/2006/relationships/slide" Target="/ppt/slides/slide23.xml" Id="Rbaf1f385f0344969" /><Relationship Type="http://schemas.openxmlformats.org/officeDocument/2006/relationships/slide" Target="/ppt/slides/slide24.xml" Id="Rb5edc0a0c6e14c4b" /><Relationship Type="http://schemas.openxmlformats.org/officeDocument/2006/relationships/slide" Target="/ppt/slides/slide25.xml" Id="Ra5dff68514554806" /><Relationship Type="http://schemas.openxmlformats.org/officeDocument/2006/relationships/slide" Target="/ppt/slides/slide26.xml" Id="R9032cdd5ea064e17" /><Relationship Type="http://schemas.openxmlformats.org/officeDocument/2006/relationships/slide" Target="/ppt/slides/slide27.xml" Id="R7711cf322e6042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d223d22dfe47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09b4274fab4359" /><Relationship Type="http://schemas.openxmlformats.org/officeDocument/2006/relationships/notesMaster" Target="/ppt/notesMasters/notesMaster1.xml" Id="R3b1c351f173040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4dd6f79a2843e2" /><Relationship Type="http://schemas.openxmlformats.org/officeDocument/2006/relationships/notesMaster" Target="/ppt/notesMasters/notesMaster1.xml" Id="R082d316d49084f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4686c7931e4664" /><Relationship Type="http://schemas.openxmlformats.org/officeDocument/2006/relationships/notesMaster" Target="/ppt/notesMasters/notesMaster1.xml" Id="R0362e181649640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103c981fa6b40d7" /><Relationship Type="http://schemas.openxmlformats.org/officeDocument/2006/relationships/notesMaster" Target="/ppt/notesMasters/notesMaster1.xml" Id="R78915d28ec9f43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dec5783a7f4303" /><Relationship Type="http://schemas.openxmlformats.org/officeDocument/2006/relationships/notesMaster" Target="/ppt/notesMasters/notesMaster1.xml" Id="R96d1e2b03ba44c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16ee1283a04ae2" /><Relationship Type="http://schemas.openxmlformats.org/officeDocument/2006/relationships/notesMaster" Target="/ppt/notesMasters/notesMaster1.xml" Id="R8b17dcff1c0f48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9b8e1d1a594404" /><Relationship Type="http://schemas.openxmlformats.org/officeDocument/2006/relationships/notesMaster" Target="/ppt/notesMasters/notesMaster1.xml" Id="R205670c8ed914ac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fbe1b9eb43b4837" /><Relationship Type="http://schemas.openxmlformats.org/officeDocument/2006/relationships/notesMaster" Target="/ppt/notesMasters/notesMaster1.xml" Id="R56e907edd4b245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2a64adf1b74458f" /><Relationship Type="http://schemas.openxmlformats.org/officeDocument/2006/relationships/notesMaster" Target="/ppt/notesMasters/notesMaster1.xml" Id="R9fa5ee04e9fa42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256c21f8584229" /><Relationship Type="http://schemas.openxmlformats.org/officeDocument/2006/relationships/notesMaster" Target="/ppt/notesMasters/notesMaster1.xml" Id="Rb15fda76f52640f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c081c601beb47df" /><Relationship Type="http://schemas.openxmlformats.org/officeDocument/2006/relationships/notesMaster" Target="/ppt/notesMasters/notesMaster1.xml" Id="R263f348969eb4df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351073c8cbc4a3f" /><Relationship Type="http://schemas.openxmlformats.org/officeDocument/2006/relationships/notesMaster" Target="/ppt/notesMasters/notesMaster1.xml" Id="Re28f0672ecab4eb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f222163348e4b11" /><Relationship Type="http://schemas.openxmlformats.org/officeDocument/2006/relationships/notesMaster" Target="/ppt/notesMasters/notesMaster1.xml" Id="Re1d4cee60e0a476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ee92c48e8a8407f" /><Relationship Type="http://schemas.openxmlformats.org/officeDocument/2006/relationships/notesMaster" Target="/ppt/notesMasters/notesMaster1.xml" Id="R97d59918adeb416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9901ef746dd41a0" /><Relationship Type="http://schemas.openxmlformats.org/officeDocument/2006/relationships/notesMaster" Target="/ppt/notesMasters/notesMaster1.xml" Id="R2759d8475616438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f10c92f82bb4669" /><Relationship Type="http://schemas.openxmlformats.org/officeDocument/2006/relationships/notesMaster" Target="/ppt/notesMasters/notesMaster1.xml" Id="Re1406e4aa43b4ea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9d1c45084b84e8c" /><Relationship Type="http://schemas.openxmlformats.org/officeDocument/2006/relationships/notesMaster" Target="/ppt/notesMasters/notesMaster1.xml" Id="Rc16c103606a747c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ab3e7c510204a9d" /><Relationship Type="http://schemas.openxmlformats.org/officeDocument/2006/relationships/notesMaster" Target="/ppt/notesMasters/notesMaster1.xml" Id="R0f207d55fdbc469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a8aa5090a294ef2" /><Relationship Type="http://schemas.openxmlformats.org/officeDocument/2006/relationships/notesMaster" Target="/ppt/notesMasters/notesMaster1.xml" Id="R77bc9a60a5c84ac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6439e5f73d04fba" /><Relationship Type="http://schemas.openxmlformats.org/officeDocument/2006/relationships/notesMaster" Target="/ppt/notesMasters/notesMaster1.xml" Id="R98220c3dc2854d1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5e74f45d5924b07" /><Relationship Type="http://schemas.openxmlformats.org/officeDocument/2006/relationships/notesMaster" Target="/ppt/notesMasters/notesMaster1.xml" Id="Rcc7bd7bdb92f406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292dddbb7f34423" /><Relationship Type="http://schemas.openxmlformats.org/officeDocument/2006/relationships/notesMaster" Target="/ppt/notesMasters/notesMaster1.xml" Id="R5c2f97e528af4b8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bc732cb720a4326" /><Relationship Type="http://schemas.openxmlformats.org/officeDocument/2006/relationships/notesMaster" Target="/ppt/notesMasters/notesMaster1.xml" Id="R0761ffe06835442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add020ec9ca435c" /><Relationship Type="http://schemas.openxmlformats.org/officeDocument/2006/relationships/notesMaster" Target="/ppt/notesMasters/notesMaster1.xml" Id="R986f8130e8734ac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91f1eb1e4c34373" /><Relationship Type="http://schemas.openxmlformats.org/officeDocument/2006/relationships/notesMaster" Target="/ppt/notesMasters/notesMaster1.xml" Id="R9ecb00a161664a8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a4dfbf88cf747fd" /><Relationship Type="http://schemas.openxmlformats.org/officeDocument/2006/relationships/notesMaster" Target="/ppt/notesMasters/notesMaster1.xml" Id="Rcb4f39dd5bd445b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1aee2e436d44992" /><Relationship Type="http://schemas.openxmlformats.org/officeDocument/2006/relationships/notesMaster" Target="/ppt/notesMasters/notesMaster1.xml" Id="Rca07ed5b56bf4b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al, en bij welke stap helpt p. 143?</a:t>
            </a:r>
          </a:p>
          <a:p xmlns:a="http://schemas.openxmlformats.org/drawingml/2006/main">
            <a:r>
              <a:rPr sz="1400"/>
              <a:t/>
            </a:r>
          </a:p>
          <a:p xmlns:a="http://schemas.openxmlformats.org/drawingml/2006/main">
            <a:r>
              <a:rPr sz="1400"/>
              <a:t>Uitleg: Laat dit overzicht staan tijdens startopdracht. Start 28–29: p. 145; basis 30: p. 145 en 31: p. 146; zelfstandig 32–33: p. 146; doel 34: p. 147. Huiswerk is 30, 31, 32, 33 en 34 maken en nakijken. Bonus 35 en herhaling 36 zijn extra.</a:t>
            </a:r>
          </a:p>
          <a:p xmlns:a="http://schemas.openxmlformats.org/drawingml/2006/main">
            <a:r>
              <a:rPr sz="1400"/>
              <a:t/>
            </a:r>
          </a:p>
          <a:p xmlns:a="http://schemas.openxmlformats.org/drawingml/2006/main">
            <a:r>
              <a:rPr sz="1400"/>
              <a:t>28 haalt de minimumprijs zonder opkoop terug uit §3.1.5, uitleg ‘Begin zonder aankoopgarantie’. Bij 29 is personen maal uren bekend uit §4.3.1, maar de loonsom is hier een nieuwe combinatie. Laat de definitie en formule op p. 143 lezen, eenheden onderstrepen en eerst betaalde uren bepalen. Geen antwoord vooraf geven. Keer bij het overzicht vóór basiswerk terug naar 29: laat leerlingen hun opzet en eenheid verbeteren na de uitleg.</a:t>
            </a:r>
          </a:p>
          <a:p xmlns:a="http://schemas.openxmlformats.org/drawingml/2006/main">
            <a:r>
              <a:rPr sz="1400"/>
              <a:t/>
            </a:r>
          </a:p>
          <a:p xmlns:a="http://schemas.openxmlformats.org/drawingml/2006/main">
            <a:r>
              <a:rPr sz="1400"/>
              <a:t>De docentbron adviseert voorlopig twee lessen van 55 minuten; dit is niet gemeten. Laat huiswerk of een vervolg de route afronden; schrap geen basiswerk.</a:t>
            </a:r>
          </a:p>
          <a:p xmlns:a="http://schemas.openxmlformats.org/drawingml/2006/main">
            <a:r>
              <a:rPr sz="1400"/>
              <a:t/>
            </a:r>
          </a:p>
          <a:p xmlns:a="http://schemas.openxmlformats.org/drawingml/2006/main">
            <a:r>
              <a:rPr sz="1400"/>
              <a:t>Misvatting: Gebruik complete-boekpagina’s, niet de lokale hoofdstukpagina’s 33–35.</a:t>
            </a:r>
          </a:p>
          <a:p xmlns:a="http://schemas.openxmlformats.org/drawingml/2006/main">
            <a:r>
              <a:rPr sz="1400"/>
              <a:t/>
            </a:r>
          </a:p>
          <a:p xmlns:a="http://schemas.openxmlformats.org/drawingml/2006/main">
            <a:r>
              <a:rPr sz="1400"/>
              <a:t>Overgang: Ga naar de volgende lesfase.</a:t>
            </a:r>
          </a:p>
          <a:p xmlns:a="http://schemas.openxmlformats.org/drawingml/2006/main">
            <a:r>
              <a:rPr sz="1400"/>
              <a:t/>
            </a:r>
          </a:p>
          <a:p xmlns:a="http://schemas.openxmlformats.org/drawingml/2006/main">
            <a:r>
              <a:rPr sz="1400"/>
              <a:t>Bron: Boek 4, books34-v3, gedrukte boekpagina 141–147.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Alleen voor feedback na eigen poging: 28: 60 producten verkocht, 40 overschot per week. 29: 15 × 20 × 50 = € 15.000 per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Is een hoger uurloon genoeg om het totale loon te kennen?</a:t>
            </a:r>
          </a:p>
          <a:p xmlns:a="http://schemas.openxmlformats.org/drawingml/2006/main">
            <a:r>
              <a:rPr sz="1400"/>
              <a:t/>
            </a:r>
          </a:p>
          <a:p xmlns:a="http://schemas.openxmlformats.org/drawingml/2006/main">
            <a:r>
              <a:rPr sz="1400"/>
              <a:t>Uitleg: Deze doelen komen samen in opgave 34. Het uurloon zegt nog niet hoeveel werk of loon alle werknemers samen krijgen. Alle loonbedragen in deze les zijn fictief.</a:t>
            </a:r>
          </a:p>
          <a:p xmlns:a="http://schemas.openxmlformats.org/drawingml/2006/main">
            <a:r>
              <a:rPr sz="1400"/>
              <a:t/>
            </a:r>
          </a:p>
          <a:p xmlns:a="http://schemas.openxmlformats.org/drawingml/2006/main">
            <a:r>
              <a:rPr sz="1400"/>
              <a:t>Misvatting: We onderzoeken een model, geen actuele wettelijke tarieven.</a:t>
            </a:r>
          </a:p>
          <a:p xmlns:a="http://schemas.openxmlformats.org/drawingml/2006/main">
            <a:r>
              <a:rPr sz="1400"/>
              <a:t/>
            </a:r>
          </a:p>
          <a:p xmlns:a="http://schemas.openxmlformats.org/drawingml/2006/main">
            <a:r>
              <a:rPr sz="1400"/>
              <a:t>Overgang: Haal eerst de bekende minimumprijsprocedure op.</a:t>
            </a:r>
          </a:p>
          <a:p xmlns:a="http://schemas.openxmlformats.org/drawingml/2006/main">
            <a:r>
              <a:rPr sz="1400"/>
              <a:t/>
            </a:r>
          </a:p>
          <a:p xmlns:a="http://schemas.openxmlformats.org/drawingml/2006/main">
            <a:r>
              <a:rPr sz="1400"/>
              <a:t>Bron: Boek 4, books34-v3, gedrukte boekpagina 141–144.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Wie vraagt arbeid en wie biedt arbeid aan?</a:t>
            </a:r>
          </a:p>
          <a:p xmlns:a="http://schemas.openxmlformats.org/drawingml/2006/main">
            <a:r>
              <a:rPr sz="1400"/>
              <a:t/>
            </a:r>
          </a:p>
          <a:p xmlns:a="http://schemas.openxmlformats.org/drawingml/2006/main">
            <a:r>
              <a:rPr sz="1400"/>
              <a:t>Uitleg: Herhaal §3.1.5: zonder opkoop worden alleen gevraagde producten verkocht. Op de arbeidsmarkt vragen werkgevers arbeid en bieden werknemers arbeid aan. Een loonvloer is een ondergrens. Er is geen automatische overheidsaankoop van ongebruikte arbeid.</a:t>
            </a:r>
          </a:p>
          <a:p xmlns:a="http://schemas.openxmlformats.org/drawingml/2006/main">
            <a:r>
              <a:rPr sz="1400"/>
              <a:t/>
            </a:r>
          </a:p>
          <a:p xmlns:a="http://schemas.openxmlformats.org/drawingml/2006/main">
            <a:r>
              <a:rPr sz="1400"/>
              <a:t>Misvatting: Een bedrijf biedt een baan aan, maar vraagt economisch arbeid.</a:t>
            </a:r>
          </a:p>
          <a:p xmlns:a="http://schemas.openxmlformats.org/drawingml/2006/main">
            <a:r>
              <a:rPr sz="1400"/>
              <a:t/>
            </a:r>
          </a:p>
          <a:p xmlns:a="http://schemas.openxmlformats.org/drawingml/2006/main">
            <a:r>
              <a:rPr sz="1400"/>
              <a:t>Overgang: Gebruik een nieuwe, afzonderlijke voorbeeldmarkt.</a:t>
            </a:r>
          </a:p>
          <a:p xmlns:a="http://schemas.openxmlformats.org/drawingml/2006/main">
            <a:r>
              <a:rPr sz="1400"/>
              <a:t/>
            </a:r>
          </a:p>
          <a:p xmlns:a="http://schemas.openxmlformats.org/drawingml/2006/main">
            <a:r>
              <a:rPr sz="1400"/>
              <a:t>Bron: Boek 4, books34-v3, gedrukte boekpagina 141.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grootheid geeft L weer?</a:t>
            </a:r>
          </a:p>
          <a:p xmlns:a="http://schemas.openxmlformats.org/drawingml/2006/main">
            <a:r>
              <a:rPr sz="1400"/>
              <a:t/>
            </a:r>
          </a:p>
          <a:p xmlns:a="http://schemas.openxmlformats.org/drawingml/2006/main">
            <a:r>
              <a:rPr sz="1400"/>
              <a:t>Uitleg: Eigen onderwijsmodel met onveranderde functies en 24 uur per persoon per week. Neem naleving van de ondergrens aan. Eerst rekenen we zonder vloer, daarna met een minimum van 20 euro. We volgen geen individuele werknemers.</a:t>
            </a:r>
          </a:p>
          <a:p xmlns:a="http://schemas.openxmlformats.org/drawingml/2006/main">
            <a:r>
              <a:rPr sz="1400"/>
              <a:t/>
            </a:r>
          </a:p>
          <a:p xmlns:a="http://schemas.openxmlformats.org/drawingml/2006/main">
            <a:r>
              <a:rPr sz="1400"/>
              <a:t>Misvatting: L is geen aantal uren; vermenigvuldig later met 24.</a:t>
            </a:r>
          </a:p>
          <a:p xmlns:a="http://schemas.openxmlformats.org/drawingml/2006/main">
            <a:r>
              <a:rPr sz="1400"/>
              <a:t/>
            </a:r>
          </a:p>
          <a:p xmlns:a="http://schemas.openxmlformats.org/drawingml/2006/main">
            <a:r>
              <a:rPr sz="1400"/>
              <a:t>Overgang: Bereken het vrije evenwicht.</a:t>
            </a:r>
          </a:p>
          <a:p xmlns:a="http://schemas.openxmlformats.org/drawingml/2006/main">
            <a:r>
              <a:rPr sz="1400"/>
              <a:t/>
            </a:r>
          </a:p>
          <a:p xmlns:a="http://schemas.openxmlformats.org/drawingml/2006/main">
            <a:r>
              <a:rPr sz="1400"/>
              <a:t>Bron: Boek 4, books34-v3, gedrukte boekpagina 141–144.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Uitlegvoorbeeld — niet uit het boek. Reparatiewerkplaatsen, functies, 24 uur en bedragen zijn zelf gekozen onderwijsgegevens. De boekpagina onderbouwt uitsluitend de methode.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stel je hier Lᵥ gelijk aan Lₐ?</a:t>
            </a:r>
          </a:p>
          <a:p xmlns:a="http://schemas.openxmlformats.org/drawingml/2006/main">
            <a:r>
              <a:rPr sz="1400"/>
              <a:t/>
            </a:r>
          </a:p>
          <a:p xmlns:a="http://schemas.openxmlformats.org/drawingml/2006/main">
            <a:r>
              <a:rPr sz="1400"/>
              <a:t>Uitleg: Stel de twee hoeveelheden gelijk en los het loon op. Vul 18 in de vraagfunctie in. Controleer met aanbod. De vraag en het aanbod gebruiken dezelfde eenheid.</a:t>
            </a:r>
          </a:p>
          <a:p xmlns:a="http://schemas.openxmlformats.org/drawingml/2006/main">
            <a:r>
              <a:rPr sz="1400"/>
              <a:t/>
            </a:r>
          </a:p>
          <a:p xmlns:a="http://schemas.openxmlformats.org/drawingml/2006/main">
            <a:r>
              <a:rPr sz="1400"/>
              <a:t>Misvatting: Een loon in euro is geen werkgelegenheid in personen.</a:t>
            </a:r>
          </a:p>
          <a:p xmlns:a="http://schemas.openxmlformats.org/drawingml/2006/main">
            <a:r>
              <a:rPr sz="1400"/>
              <a:t/>
            </a:r>
          </a:p>
          <a:p xmlns:a="http://schemas.openxmlformats.org/drawingml/2006/main">
            <a:r>
              <a:rPr sz="1400"/>
              <a:t>Overgang: Lees dezelfde uitkomst in de grafiek.</a:t>
            </a:r>
          </a:p>
          <a:p xmlns:a="http://schemas.openxmlformats.org/drawingml/2006/main">
            <a:r>
              <a:rPr sz="1400"/>
              <a:t/>
            </a:r>
          </a:p>
          <a:p xmlns:a="http://schemas.openxmlformats.org/drawingml/2006/main">
            <a:r>
              <a:rPr sz="1400"/>
              <a:t>Bron: Boek 4, books34-v3, gedrukte boekpagina 141–144.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Uitlegvoorbeeld — niet uit het boek. Reparatiewerkplaatsen, functies, 24 uur en bedragen zijn zelf gekozen onderwijsgegevens. De boekpagina onderbouwt uitsluitend de methode.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as geeft het aantal personen?</a:t>
            </a:r>
          </a:p>
          <a:p xmlns:a="http://schemas.openxmlformats.org/drawingml/2006/main">
            <a:r>
              <a:rPr sz="1400"/>
              <a:t/>
            </a:r>
          </a:p>
          <a:p xmlns:a="http://schemas.openxmlformats.org/drawingml/2006/main">
            <a:r>
              <a:rPr sz="1400"/>
              <a:t>Uitleg: De dalende lijn is arbeidsvraag, de stijgende arbeidsaanbod. Het snijpunt heeft eerst de horizontale hoeveelheid en dan het verticale loon. Controleer de hulplijnen.</a:t>
            </a:r>
          </a:p>
          <a:p xmlns:a="http://schemas.openxmlformats.org/drawingml/2006/main">
            <a:r>
              <a:rPr sz="1400"/>
              <a:t/>
            </a:r>
          </a:p>
          <a:p xmlns:a="http://schemas.openxmlformats.org/drawingml/2006/main">
            <a:r>
              <a:rPr sz="1400"/>
              <a:t>Misvatting: Draai de coördinaten van E niet om.</a:t>
            </a:r>
          </a:p>
          <a:p xmlns:a="http://schemas.openxmlformats.org/drawingml/2006/main">
            <a:r>
              <a:rPr sz="1400"/>
              <a:t/>
            </a:r>
          </a:p>
          <a:p xmlns:a="http://schemas.openxmlformats.org/drawingml/2006/main">
            <a:r>
              <a:rPr sz="1400"/>
              <a:t>Overgang: Vergelijk eerst met een minimum onder het evenwicht.</a:t>
            </a:r>
          </a:p>
          <a:p xmlns:a="http://schemas.openxmlformats.org/drawingml/2006/main">
            <a:r>
              <a:rPr sz="1400"/>
              <a:t/>
            </a:r>
          </a:p>
          <a:p xmlns:a="http://schemas.openxmlformats.org/drawingml/2006/main">
            <a:r>
              <a:rPr sz="1400"/>
              <a:t>Bron: Boek 4, books34-v3, gedrukte boekpagina 141–144.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Uitlegvoorbeeld — niet uit het boek. Reparatiewerkplaatsen, functies, 24 uur en bedragen zijn zelf gekozen onderwijsgegevens. De boekpagina onderbouwt uitsluitend de methode.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Moet iedereen nu precies het minimum verdienen?</a:t>
            </a:r>
          </a:p>
          <a:p xmlns:a="http://schemas.openxmlformats.org/drawingml/2006/main">
            <a:r>
              <a:rPr sz="1400"/>
              <a:t/>
            </a:r>
          </a:p>
          <a:p xmlns:a="http://schemas.openxmlformats.org/drawingml/2006/main">
            <a:r>
              <a:rPr sz="1400"/>
              <a:t>Uitleg: De ondergrens van 16 ligt onder het vrije loon van 18. Het evenwicht blijft toegestaan, dus loon en werkgelegenheid blijven gelijk. Bij gelijkheid met het evenwichtsloon dwingt de vloer evenmin een verandering af.</a:t>
            </a:r>
          </a:p>
          <a:p xmlns:a="http://schemas.openxmlformats.org/drawingml/2006/main">
            <a:r>
              <a:rPr sz="1400"/>
              <a:t/>
            </a:r>
          </a:p>
          <a:p xmlns:a="http://schemas.openxmlformats.org/drawingml/2006/main">
            <a:r>
              <a:rPr sz="1400"/>
              <a:t>Misvatting: Een minimum is geen voorgeschreven exact loon.</a:t>
            </a:r>
          </a:p>
          <a:p xmlns:a="http://schemas.openxmlformats.org/drawingml/2006/main">
            <a:r>
              <a:rPr sz="1400"/>
              <a:t/>
            </a:r>
          </a:p>
          <a:p xmlns:a="http://schemas.openxmlformats.org/drawingml/2006/main">
            <a:r>
              <a:rPr sz="1400"/>
              <a:t>Overgang: Verhoog in dezelfde markt de ondergrens naar 20 euro.</a:t>
            </a:r>
          </a:p>
          <a:p xmlns:a="http://schemas.openxmlformats.org/drawingml/2006/main">
            <a:r>
              <a:rPr sz="1400"/>
              <a:t/>
            </a:r>
          </a:p>
          <a:p xmlns:a="http://schemas.openxmlformats.org/drawingml/2006/main">
            <a:r>
              <a:rPr sz="1400"/>
              <a:t>Bron: Boek 4, books34-v3, gedrukte boekpagina 141.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Uitlegvoorbeeld — niet uit het boek. Reparatiewerkplaatsen, functies, 24 uur en bedragen zijn zelf gekozen onderwijsgegevens. De boekpagina onderbouwt uitsluitend de methode.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loon vul je in beide functies in?</a:t>
            </a:r>
          </a:p>
          <a:p xmlns:a="http://schemas.openxmlformats.org/drawingml/2006/main">
            <a:r>
              <a:rPr sz="1400"/>
              <a:t/>
            </a:r>
          </a:p>
          <a:p xmlns:a="http://schemas.openxmlformats.org/drawingml/2006/main">
            <a:r>
              <a:rPr sz="1400"/>
              <a:t>Uitleg: Naleving van de vloer maakt het loon in dit model 20. Vul ditzelfde loon in beide functies in. Werkgevers vullen alle 50 gevraagde plaatsen; niet alle 70 aanbieders krijgen werk.</a:t>
            </a:r>
          </a:p>
          <a:p xmlns:a="http://schemas.openxmlformats.org/drawingml/2006/main">
            <a:r>
              <a:rPr sz="1400"/>
              <a:t/>
            </a:r>
          </a:p>
          <a:p xmlns:a="http://schemas.openxmlformats.org/drawingml/2006/main">
            <a:r>
              <a:rPr sz="1400"/>
              <a:t>Misvatting: De bestaande lijnen verschuiven niet door alleen de loonvloer.</a:t>
            </a:r>
          </a:p>
          <a:p xmlns:a="http://schemas.openxmlformats.org/drawingml/2006/main">
            <a:r>
              <a:rPr sz="1400"/>
              <a:t/>
            </a:r>
          </a:p>
          <a:p xmlns:a="http://schemas.openxmlformats.org/drawingml/2006/main">
            <a:r>
              <a:rPr sz="1400"/>
              <a:t>Overgang: Markeer de twee hoeveelheden op de bestaande lijnen.</a:t>
            </a:r>
          </a:p>
          <a:p xmlns:a="http://schemas.openxmlformats.org/drawingml/2006/main">
            <a:r>
              <a:rPr sz="1400"/>
              <a:t/>
            </a:r>
          </a:p>
          <a:p xmlns:a="http://schemas.openxmlformats.org/drawingml/2006/main">
            <a:r>
              <a:rPr sz="1400"/>
              <a:t>Bron: Boek 4, books34-v3, gedrukte boekpagina 142.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Uitlegvoorbeeld — niet uit het boek. Reparatiewerkplaatsen, functies, 24 uur en bedragen zijn zelf gekozen onderwijsgegevens. De boekpagina onderbouwt uitsluitend de methode.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lees je het overschot af?</a:t>
            </a:r>
          </a:p>
          <a:p xmlns:a="http://schemas.openxmlformats.org/drawingml/2006/main">
            <a:r>
              <a:rPr sz="1400"/>
              <a:t/>
            </a:r>
          </a:p>
          <a:p xmlns:a="http://schemas.openxmlformats.org/drawingml/2006/main">
            <a:r>
              <a:rPr sz="1400"/>
              <a:t>Uitleg: Trek de horizontale vloer bij 20 euro. Lees links de vraag van 50 en rechts het aanbod van 70. Trek verticale hulplijnen naar de hoeveelheidsas. De dikke horizontale afstand is 20 personen. Alle niet-geplaatste aanbieders zoeken en zijn beschikbaar.</a:t>
            </a:r>
          </a:p>
          <a:p xmlns:a="http://schemas.openxmlformats.org/drawingml/2006/main">
            <a:r>
              <a:rPr sz="1400"/>
              <a:t/>
            </a:r>
          </a:p>
          <a:p xmlns:a="http://schemas.openxmlformats.org/drawingml/2006/main">
            <a:r>
              <a:rPr sz="1400"/>
              <a:t>Misvatting: Het overschot is niet de hele aangeboden hoeveelheid of een oppervlakte. Geen automatische opkoop door de overheid.</a:t>
            </a:r>
          </a:p>
          <a:p xmlns:a="http://schemas.openxmlformats.org/drawingml/2006/main">
            <a:r>
              <a:rPr sz="1400"/>
              <a:t/>
            </a:r>
          </a:p>
          <a:p xmlns:a="http://schemas.openxmlformats.org/drawingml/2006/main">
            <a:r>
              <a:rPr sz="1400"/>
              <a:t>Overgang: Vergelijk met de eerdere 60 werkenden.</a:t>
            </a:r>
          </a:p>
          <a:p xmlns:a="http://schemas.openxmlformats.org/drawingml/2006/main">
            <a:r>
              <a:rPr sz="1400"/>
              <a:t/>
            </a:r>
          </a:p>
          <a:p xmlns:a="http://schemas.openxmlformats.org/drawingml/2006/main">
            <a:r>
              <a:rPr sz="1400"/>
              <a:t>Bron: Boek 4, books34-v3, gedrukte boekpagina 142.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Uitlegvoorbeeld — niet uit het boek. Reparatiewerkplaatsen, functies, 24 uur en bedragen zijn zelf gekozen onderwijsgegevens. De boekpagina onderbouwt uitsluitend de methode.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20 overschot niet hetzelfde als 20 verloren banen?</a:t>
            </a:r>
          </a:p>
          <a:p xmlns:a="http://schemas.openxmlformats.org/drawingml/2006/main">
            <a:r>
              <a:rPr sz="1400"/>
              <a:t/>
            </a:r>
          </a:p>
          <a:p xmlns:a="http://schemas.openxmlformats.org/drawingml/2006/main">
            <a:r>
              <a:rPr sz="1400"/>
              <a:t>Uitleg: Er werken 10 minder personen en 10 extra personen bieden arbeid aan. Dat geeft samen een overschot van 20. Dit is een vergelijking van aantallen, geen individuele loopbaanregistratie. Wie hetzelfde aantal uren blijft werken krijgt een hoger weekloon.</a:t>
            </a:r>
          </a:p>
          <a:p xmlns:a="http://schemas.openxmlformats.org/drawingml/2006/main">
            <a:r>
              <a:rPr sz="1400"/>
              <a:t/>
            </a:r>
          </a:p>
          <a:p xmlns:a="http://schemas.openxmlformats.org/drawingml/2006/main">
            <a:r>
              <a:rPr sz="1400"/>
              <a:t>Misvatting: Zeg niet dat alle nieuwe werklozen eerder werk hadden.</a:t>
            </a:r>
          </a:p>
          <a:p xmlns:a="http://schemas.openxmlformats.org/drawingml/2006/main">
            <a:r>
              <a:rPr sz="1400"/>
              <a:t/>
            </a:r>
          </a:p>
          <a:p xmlns:a="http://schemas.openxmlformats.org/drawingml/2006/main">
            <a:r>
              <a:rPr sz="1400"/>
              <a:t>Overgang: Bereken nu hoeveel loon daadwerkelijk wordt betaald.</a:t>
            </a:r>
          </a:p>
          <a:p xmlns:a="http://schemas.openxmlformats.org/drawingml/2006/main">
            <a:r>
              <a:rPr sz="1400"/>
              <a:t/>
            </a:r>
          </a:p>
          <a:p xmlns:a="http://schemas.openxmlformats.org/drawingml/2006/main">
            <a:r>
              <a:rPr sz="1400"/>
              <a:t>Bron: Boek 4, books34-v3, gedrukte boekpagina 142.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Uitlegvoorbeeld — niet uit het boek. Reparatiewerkplaatsen, functies, 24 uur en bedragen zijn zelf gekozen onderwijsgegevens. De boekpagina onderbouwt uitsluitend de methode.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Met welk aantal personen reken je nieuw?</a:t>
            </a:r>
          </a:p>
          <a:p xmlns:a="http://schemas.openxmlformats.org/drawingml/2006/main">
            <a:r>
              <a:rPr sz="1400"/>
              <a:t/>
            </a:r>
          </a:p>
          <a:p xmlns:a="http://schemas.openxmlformats.org/drawingml/2006/main">
            <a:r>
              <a:rPr sz="1400"/>
              <a:t>Uitleg: De loonsom is het totale brutoloon dat alle werkenden samen ontvangen per week. Eerst personen naar uren, daarna uren maal euro per uur. Laat de eenheden mee wegvallen. Het product w × L in een grafiek met personen vereist nog de factor 24 uur per persoon per week.</a:t>
            </a:r>
          </a:p>
          <a:p xmlns:a="http://schemas.openxmlformats.org/drawingml/2006/main">
            <a:r>
              <a:rPr sz="1400"/>
              <a:t/>
            </a:r>
          </a:p>
          <a:p xmlns:a="http://schemas.openxmlformats.org/drawingml/2006/main">
            <a:r>
              <a:rPr sz="1400"/>
              <a:t>Misvatting: Het hogere loon geldt niet als inkomen voor alle aanbieders.</a:t>
            </a:r>
          </a:p>
          <a:p xmlns:a="http://schemas.openxmlformats.org/drawingml/2006/main">
            <a:r>
              <a:rPr sz="1400"/>
              <a:t/>
            </a:r>
          </a:p>
          <a:p xmlns:a="http://schemas.openxmlformats.org/drawingml/2006/main">
            <a:r>
              <a:rPr sz="1400"/>
              <a:t>Overgang: Vergelijk nieuw met oud in procenten.</a:t>
            </a:r>
          </a:p>
          <a:p xmlns:a="http://schemas.openxmlformats.org/drawingml/2006/main">
            <a:r>
              <a:rPr sz="1400"/>
              <a:t/>
            </a:r>
          </a:p>
          <a:p xmlns:a="http://schemas.openxmlformats.org/drawingml/2006/main">
            <a:r>
              <a:rPr sz="1400"/>
              <a:t>Bron: Boek 4, books34-v3, gedrukte boekpagina 143.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Uitlegvoorbeeld — niet uit het boek. Reparatiewerkplaatsen, functies, 24 uur en bedragen zijn zelf gekozen onderwijsgegevens. De boekpagina onderbouwt uitsluitend de methode.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staat het oude bedrag in de noemer?</a:t>
            </a:r>
          </a:p>
          <a:p xmlns:a="http://schemas.openxmlformats.org/drawingml/2006/main">
            <a:r>
              <a:rPr sz="1400"/>
              <a:t/>
            </a:r>
          </a:p>
          <a:p xmlns:a="http://schemas.openxmlformats.org/drawingml/2006/main">
            <a:r>
              <a:rPr sz="1400"/>
              <a:t>Uitleg: Het verschil is min 1920 euro per week. Deel door de oude 25920. Reken zonder tussentijds afronden. Uurloon stijgt 11,11 procent, uren dalen 16,67 procent. De combinatie geeft min 7,4074 procent, niet het verschil van de percentages. Er bestaat geen vaste richting voor de loonsom.</a:t>
            </a:r>
          </a:p>
          <a:p xmlns:a="http://schemas.openxmlformats.org/drawingml/2006/main">
            <a:r>
              <a:rPr sz="1400"/>
              <a:t/>
            </a:r>
          </a:p>
          <a:p xmlns:a="http://schemas.openxmlformats.org/drawingml/2006/main">
            <a:r>
              <a:rPr sz="1400"/>
              <a:t>Misvatting: Een hoger minimumloon betekent niet in ieder model een lagere loonsom. De bron bepaalt de reactie.</a:t>
            </a:r>
          </a:p>
          <a:p xmlns:a="http://schemas.openxmlformats.org/drawingml/2006/main">
            <a:r>
              <a:rPr sz="1400"/>
              <a:t/>
            </a:r>
          </a:p>
          <a:p xmlns:a="http://schemas.openxmlformats.org/drawingml/2006/main">
            <a:r>
              <a:rPr sz="1400"/>
              <a:t>Overgang: Controleer de redenering kort.</a:t>
            </a:r>
          </a:p>
          <a:p xmlns:a="http://schemas.openxmlformats.org/drawingml/2006/main">
            <a:r>
              <a:rPr sz="1400"/>
              <a:t/>
            </a:r>
          </a:p>
          <a:p xmlns:a="http://schemas.openxmlformats.org/drawingml/2006/main">
            <a:r>
              <a:rPr sz="1400"/>
              <a:t>Bron: Boek 4, books34-v3, gedrukte boekpagina 143.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Uitlegvoorbeeld — niet uit het boek. Reparatiewerkplaatsen, functies, 24 uur en bedragen zijn zelf gekozen onderwijsgegevens. De boekpagina onderbouwt uitsluitend de methode.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voorwaarde moet je aan een hoger weekloon toevoegen?</a:t>
            </a:r>
          </a:p>
          <a:p xmlns:a="http://schemas.openxmlformats.org/drawingml/2006/main">
            <a:r>
              <a:rPr sz="1400"/>
              <a:t/>
            </a:r>
          </a:p>
          <a:p xmlns:a="http://schemas.openxmlformats.org/drawingml/2006/main">
            <a:r>
              <a:rPr sz="1400"/>
              <a:t>Uitleg: Laat leerlingen het onderscheid verwoorden. Wie werk behoudt en 24 uur blijft werken: 18 × 24 = 432 naar 20 × 24 = 480 euro per week. De 20 niet-geplaatste aanbieders ontvangen hier geen loon. Individuele baanbehouders zijn niet bekend.</a:t>
            </a:r>
          </a:p>
          <a:p xmlns:a="http://schemas.openxmlformats.org/drawingml/2006/main">
            <a:r>
              <a:rPr sz="1400"/>
              <a:t/>
            </a:r>
          </a:p>
          <a:p xmlns:a="http://schemas.openxmlformats.org/drawingml/2006/main">
            <a:r>
              <a:rPr sz="1400"/>
              <a:t>Misvatting: Een modeluitkomst is geen algemene empirische voorspelling voor elke echte minimumloonsverhoging.</a:t>
            </a:r>
          </a:p>
          <a:p xmlns:a="http://schemas.openxmlformats.org/drawingml/2006/main">
            <a:r>
              <a:rPr sz="1400"/>
              <a:t/>
            </a:r>
          </a:p>
          <a:p xmlns:a="http://schemas.openxmlformats.org/drawingml/2006/main">
            <a:r>
              <a:rPr sz="1400"/>
              <a:t>Overgang: Keer terug naar start 29 en laat basiswerk beginnen.</a:t>
            </a:r>
          </a:p>
          <a:p xmlns:a="http://schemas.openxmlformats.org/drawingml/2006/main">
            <a:r>
              <a:rPr sz="1400"/>
              <a:t/>
            </a:r>
          </a:p>
          <a:p xmlns:a="http://schemas.openxmlformats.org/drawingml/2006/main">
            <a:r>
              <a:rPr sz="1400"/>
              <a:t>Bron: Boek 4, books34-v3, gedrukte boekpagina 142–143.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Uitlegvoorbeeld — niet uit het boek. Reparatiewerkplaatsen, functies, 24 uur en bedragen zijn zelf gekozen onderwijsgegevens. De boekpagina onderbouwt uitsluitend de methode.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al, en bij welke stap helpt p. 143?</a:t>
            </a:r>
          </a:p>
          <a:p xmlns:a="http://schemas.openxmlformats.org/drawingml/2006/main">
            <a:r>
              <a:rPr sz="1400"/>
              <a:t/>
            </a:r>
          </a:p>
          <a:p xmlns:a="http://schemas.openxmlformats.org/drawingml/2006/main">
            <a:r>
              <a:rPr sz="1400"/>
              <a:t>Uitleg: Laat dit overzicht staan tijdens zelfstandig werken. Start 28–29: p. 145; basis 30: p. 145 en 31: p. 146; zelfstandig 32–33: p. 146; doel 34: p. 147. Huiswerk is 30, 31, 32, 33 en 34 maken en nakijken. Bonus 35 en herhaling 36 zijn extra.</a:t>
            </a:r>
          </a:p>
          <a:p xmlns:a="http://schemas.openxmlformats.org/drawingml/2006/main">
            <a:r>
              <a:rPr sz="1400"/>
              <a:t/>
            </a:r>
          </a:p>
          <a:p xmlns:a="http://schemas.openxmlformats.org/drawingml/2006/main">
            <a:r>
              <a:rPr sz="1400"/>
              <a:t>28 haalt de minimumprijs zonder opkoop terug uit §3.1.5, uitleg ‘Begin zonder aankoopgarantie’. Bij 29 is personen maal uren bekend uit §4.3.1, maar de loonsom is hier een nieuwe combinatie. Laat de definitie en formule op p. 143 lezen, eenheden onderstrepen en eerst betaalde uren bepalen. Geen antwoord vooraf geven. Keer bij het overzicht vóór basiswerk terug naar 29: laat leerlingen hun opzet en eenheid verbeteren na de uitleg.</a:t>
            </a:r>
          </a:p>
          <a:p xmlns:a="http://schemas.openxmlformats.org/drawingml/2006/main">
            <a:r>
              <a:rPr sz="1400"/>
              <a:t/>
            </a:r>
          </a:p>
          <a:p xmlns:a="http://schemas.openxmlformats.org/drawingml/2006/main">
            <a:r>
              <a:rPr sz="1400"/>
              <a:t>De docentbron adviseert voorlopig twee lessen van 55 minuten; dit is niet gemeten. Laat huiswerk of een vervolg de route afronden; schrap geen basiswerk.</a:t>
            </a:r>
          </a:p>
          <a:p xmlns:a="http://schemas.openxmlformats.org/drawingml/2006/main">
            <a:r>
              <a:rPr sz="1400"/>
              <a:t/>
            </a:r>
          </a:p>
          <a:p xmlns:a="http://schemas.openxmlformats.org/drawingml/2006/main">
            <a:r>
              <a:rPr sz="1400"/>
              <a:t>Misvatting: Gebruik complete-boekpagina’s, niet de lokale hoofdstukpagina’s 33–35.</a:t>
            </a:r>
          </a:p>
          <a:p xmlns:a="http://schemas.openxmlformats.org/drawingml/2006/main">
            <a:r>
              <a:rPr sz="1400"/>
              <a:t/>
            </a:r>
          </a:p>
          <a:p xmlns:a="http://schemas.openxmlformats.org/drawingml/2006/main">
            <a:r>
              <a:rPr sz="1400"/>
              <a:t>Overgang: Ga naar de volgende lesfase.</a:t>
            </a:r>
          </a:p>
          <a:p xmlns:a="http://schemas.openxmlformats.org/drawingml/2006/main">
            <a:r>
              <a:rPr sz="1400"/>
              <a:t/>
            </a:r>
          </a:p>
          <a:p xmlns:a="http://schemas.openxmlformats.org/drawingml/2006/main">
            <a:r>
              <a:rPr sz="1400"/>
              <a:t>Bron: Boek 4, books34-v3, gedrukte boekpagina 141–147.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Alleen voor feedback na eigen poging: 28: 60 producten verkocht, 40 overschot per week. 29: 15 × 20 × 50 = € 15.000 per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arbeidsduur hoort bij deze opgave?</a:t>
            </a:r>
          </a:p>
          <a:p xmlns:a="http://schemas.openxmlformats.org/drawingml/2006/main">
            <a:r>
              <a:rPr sz="1400"/>
              <a:t/>
            </a:r>
          </a:p>
          <a:p xmlns:a="http://schemas.openxmlformats.org/drawingml/2006/main">
            <a:r>
              <a:rPr sz="1400"/>
              <a:t>Uitleg: Dit is de volledige oorspronkelijke context van doelopgave 34. De markt en arbeidsduur zijn anders dan in het uitlegvoorbeeld. Alle vragen en de basisgrafiek komen eerst, zonder uitwerking.</a:t>
            </a:r>
          </a:p>
          <a:p xmlns:a="http://schemas.openxmlformats.org/drawingml/2006/main">
            <a:r>
              <a:rPr sz="1400"/>
              <a:t/>
            </a:r>
          </a:p>
          <a:p xmlns:a="http://schemas.openxmlformats.org/drawingml/2006/main">
            <a:r>
              <a:rPr sz="1400"/>
              <a:t>Misvatting: Gebruik 25 uur, niet de 24 uur uit het uitlegvoorbeeld.</a:t>
            </a:r>
          </a:p>
          <a:p xmlns:a="http://schemas.openxmlformats.org/drawingml/2006/main">
            <a:r>
              <a:rPr sz="1400"/>
              <a:t/>
            </a:r>
          </a:p>
          <a:p xmlns:a="http://schemas.openxmlformats.org/drawingml/2006/main">
            <a:r>
              <a:rPr sz="1400"/>
              <a:t>Overgang: Toon deelvragen a en b.</a:t>
            </a:r>
          </a:p>
          <a:p xmlns:a="http://schemas.openxmlformats.org/drawingml/2006/main">
            <a:r>
              <a:rPr sz="1400"/>
              <a:t/>
            </a:r>
          </a:p>
          <a:p xmlns:a="http://schemas.openxmlformats.org/drawingml/2006/main">
            <a:r>
              <a:rPr sz="1400"/>
              <a:t>Bron: Boek 4, books34-v3, gedrukte boekpagina 147.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onderdelen moet je antwoord op b bevatten?</a:t>
            </a:r>
          </a:p>
          <a:p xmlns:a="http://schemas.openxmlformats.org/drawingml/2006/main">
            <a:r>
              <a:rPr sz="1400"/>
              <a:t/>
            </a:r>
          </a:p>
          <a:p xmlns:a="http://schemas.openxmlformats.org/drawingml/2006/main">
            <a:r>
              <a:rPr sz="1400"/>
              <a:t>Uitleg: Lees de volledige deelvragen zonder antwoorden. Bij b zijn zowel vier hoeveelheidsbegrippen als grafische markering gevraagd.</a:t>
            </a:r>
          </a:p>
          <a:p xmlns:a="http://schemas.openxmlformats.org/drawingml/2006/main">
            <a:r>
              <a:rPr sz="1400"/>
              <a:t/>
            </a:r>
          </a:p>
          <a:p xmlns:a="http://schemas.openxmlformats.org/drawingml/2006/main">
            <a:r>
              <a:rPr sz="1400"/>
              <a:t>Misvatting: Een juiste uitkomst zonder gevraagde grafiek is onvolledig.</a:t>
            </a:r>
          </a:p>
          <a:p xmlns:a="http://schemas.openxmlformats.org/drawingml/2006/main">
            <a:r>
              <a:rPr sz="1400"/>
              <a:t/>
            </a:r>
          </a:p>
          <a:p xmlns:a="http://schemas.openxmlformats.org/drawingml/2006/main">
            <a:r>
              <a:rPr sz="1400"/>
              <a:t>Overgang: Toon de basisgrafiek.</a:t>
            </a:r>
          </a:p>
          <a:p xmlns:a="http://schemas.openxmlformats.org/drawingml/2006/main">
            <a:r>
              <a:rPr sz="1400"/>
              <a:t/>
            </a:r>
          </a:p>
          <a:p xmlns:a="http://schemas.openxmlformats.org/drawingml/2006/main">
            <a:r>
              <a:rPr sz="1400"/>
              <a:t>Bron: Boek 4, books34-v3, gedrukte boekpagina 147.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moet je aan deze grafiek toevoegen?</a:t>
            </a:r>
          </a:p>
          <a:p xmlns:a="http://schemas.openxmlformats.org/drawingml/2006/main">
            <a:r>
              <a:rPr sz="1400"/>
              <a:t/>
            </a:r>
          </a:p>
          <a:p xmlns:a="http://schemas.openxmlformats.org/drawingml/2006/main">
            <a:r>
              <a:rPr sz="1400"/>
              <a:t>Uitleg: De bestaande vraag- en aanbodlijnen zijn hier bewerkbaar weergegeven met dezelfde functies, assen en schaal. Alleen het opgegeven domein 2 tot 22 euro wordt getekend. Voeg nog geen antwoorden toe; c en d volgen eerst.</a:t>
            </a:r>
          </a:p>
          <a:p xmlns:a="http://schemas.openxmlformats.org/drawingml/2006/main">
            <a:r>
              <a:rPr sz="1400"/>
              <a:t/>
            </a:r>
          </a:p>
          <a:p xmlns:a="http://schemas.openxmlformats.org/drawingml/2006/main">
            <a:r>
              <a:rPr sz="1400"/>
              <a:t>Misvatting: De horizontale as geeft personen, niet uren.</a:t>
            </a:r>
          </a:p>
          <a:p xmlns:a="http://schemas.openxmlformats.org/drawingml/2006/main">
            <a:r>
              <a:rPr sz="1400"/>
              <a:t/>
            </a:r>
          </a:p>
          <a:p xmlns:a="http://schemas.openxmlformats.org/drawingml/2006/main">
            <a:r>
              <a:rPr sz="1400"/>
              <a:t>Overgang: Toon de overige deelvragen.</a:t>
            </a:r>
          </a:p>
          <a:p xmlns:a="http://schemas.openxmlformats.org/drawingml/2006/main">
            <a:r>
              <a:rPr sz="1400"/>
              <a:t/>
            </a:r>
          </a:p>
          <a:p xmlns:a="http://schemas.openxmlformats.org/drawingml/2006/main">
            <a:r>
              <a:rPr sz="1400"/>
              <a:t>Bron: Boek 4, books34-v3, gedrukte boekpagina 147.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uitspraken vraagt d te beoordelen?</a:t>
            </a:r>
          </a:p>
          <a:p xmlns:a="http://schemas.openxmlformats.org/drawingml/2006/main">
            <a:r>
              <a:rPr sz="1400"/>
              <a:t/>
            </a:r>
          </a:p>
          <a:p xmlns:a="http://schemas.openxmlformats.org/drawingml/2006/main">
            <a:r>
              <a:rPr sz="1400"/>
              <a:t>Uitleg: Nu zijn de context, basisgrafiek en alle vier deelvragen beschikbaar zonder oplossingen. Laat leerlingen eigen werk ernaast leggen voordat de bespreking begint.</a:t>
            </a:r>
          </a:p>
          <a:p xmlns:a="http://schemas.openxmlformats.org/drawingml/2006/main">
            <a:r>
              <a:rPr sz="1400"/>
              <a:t/>
            </a:r>
          </a:p>
          <a:p xmlns:a="http://schemas.openxmlformats.org/drawingml/2006/main">
            <a:r>
              <a:rPr sz="1400"/>
              <a:t>Misvatting: De 40 in de vraag is geen reden om de berekening bij b over te slaan.</a:t>
            </a:r>
          </a:p>
          <a:p xmlns:a="http://schemas.openxmlformats.org/drawingml/2006/main">
            <a:r>
              <a:rPr sz="1400"/>
              <a:t/>
            </a:r>
          </a:p>
          <a:p xmlns:a="http://schemas.openxmlformats.org/drawingml/2006/main">
            <a:r>
              <a:rPr sz="1400"/>
              <a:t>Overgang: Begin de uitwerking bij het vrije evenwicht.</a:t>
            </a:r>
          </a:p>
          <a:p xmlns:a="http://schemas.openxmlformats.org/drawingml/2006/main">
            <a:r>
              <a:rPr sz="1400"/>
              <a:t/>
            </a:r>
          </a:p>
          <a:p xmlns:a="http://schemas.openxmlformats.org/drawingml/2006/main">
            <a:r>
              <a:rPr sz="1400"/>
              <a:t>Bron: Boek 4, books34-v3, gedrukte boekpagina 147.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controleer je de 100 personen met de andere functie?</a:t>
            </a:r>
          </a:p>
          <a:p xmlns:a="http://schemas.openxmlformats.org/drawingml/2006/main">
            <a:r>
              <a:rPr sz="1400"/>
              <a:t/>
            </a:r>
          </a:p>
          <a:p xmlns:a="http://schemas.openxmlformats.org/drawingml/2006/main">
            <a:r>
              <a:rPr sz="1400"/>
              <a:t>Uitleg: Gelijkstellen levert 12 euro. Invullen geeft 100 personen. Controle met aanbod: −20 + 120 = 100. Het minimum van 14 ligt boven het vrije evenwicht, dus dat evenwicht is niet toegestaan.</a:t>
            </a:r>
          </a:p>
          <a:p xmlns:a="http://schemas.openxmlformats.org/drawingml/2006/main">
            <a:r>
              <a:rPr sz="1400"/>
              <a:t/>
            </a:r>
          </a:p>
          <a:p xmlns:a="http://schemas.openxmlformats.org/drawingml/2006/main">
            <a:r>
              <a:rPr sz="1400"/>
              <a:t>Misvatting: De conclusie bindend vereist vergelijking met het berekende vrije loon.</a:t>
            </a:r>
          </a:p>
          <a:p xmlns:a="http://schemas.openxmlformats.org/drawingml/2006/main">
            <a:r>
              <a:rPr sz="1400"/>
              <a:t/>
            </a:r>
          </a:p>
          <a:p xmlns:a="http://schemas.openxmlformats.org/drawingml/2006/main">
            <a:r>
              <a:rPr sz="1400"/>
              <a:t>Overgang: Bereken beide hoeveelheden bij 14 euro.</a:t>
            </a:r>
          </a:p>
          <a:p xmlns:a="http://schemas.openxmlformats.org/drawingml/2006/main">
            <a:r>
              <a:rPr sz="1400"/>
              <a:t/>
            </a:r>
          </a:p>
          <a:p xmlns:a="http://schemas.openxmlformats.org/drawingml/2006/main">
            <a:r>
              <a:rPr sz="1400"/>
              <a:t>Bron: Boek 4, books34-v3, gedrukte boekpagina 147.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werkgelegenheid hier gelijk aan arbeidsvraag?</a:t>
            </a:r>
          </a:p>
          <a:p xmlns:a="http://schemas.openxmlformats.org/drawingml/2006/main">
            <a:r>
              <a:rPr sz="1400"/>
              <a:t/>
            </a:r>
          </a:p>
          <a:p xmlns:a="http://schemas.openxmlformats.org/drawingml/2006/main">
            <a:r>
              <a:rPr sz="1400"/>
              <a:t>Uitleg: Het loon wordt 14 euro. Werkgevers willen 80 plaatsen vullen en alle gevraagde plaatsen worden gevuld. Van 120 aanbieders krijgen er 40 geen werk; de bron zegt dat zij zoeken en direct beschikbaar zijn.</a:t>
            </a:r>
          </a:p>
          <a:p xmlns:a="http://schemas.openxmlformats.org/drawingml/2006/main">
            <a:r>
              <a:rPr sz="1400"/>
              <a:t/>
            </a:r>
          </a:p>
          <a:p xmlns:a="http://schemas.openxmlformats.org/drawingml/2006/main">
            <a:r>
              <a:rPr sz="1400"/>
              <a:t>Misvatting: 120 aanbieders betekent geen 120 gevulde arbeidsplaatsen.</a:t>
            </a:r>
          </a:p>
          <a:p xmlns:a="http://schemas.openxmlformats.org/drawingml/2006/main">
            <a:r>
              <a:rPr sz="1400"/>
              <a:t/>
            </a:r>
          </a:p>
          <a:p xmlns:a="http://schemas.openxmlformats.org/drawingml/2006/main">
            <a:r>
              <a:rPr sz="1400"/>
              <a:t>Overgang: Zet deze uitkomsten in de basisgrafiek.</a:t>
            </a:r>
          </a:p>
          <a:p xmlns:a="http://schemas.openxmlformats.org/drawingml/2006/main">
            <a:r>
              <a:rPr sz="1400"/>
              <a:t/>
            </a:r>
          </a:p>
          <a:p xmlns:a="http://schemas.openxmlformats.org/drawingml/2006/main">
            <a:r>
              <a:rPr sz="1400"/>
              <a:t>Bron: Boek 4, books34-v3, gedrukte boekpagina 147.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afstand laat de 40 zien?</a:t>
            </a:r>
          </a:p>
          <a:p xmlns:a="http://schemas.openxmlformats.org/drawingml/2006/main">
            <a:r>
              <a:rPr sz="1400"/>
              <a:t/>
            </a:r>
          </a:p>
          <a:p xmlns:a="http://schemas.openxmlformats.org/drawingml/2006/main">
            <a:r>
              <a:rPr sz="1400"/>
              <a:t>Uitleg: Teken de vloer horizontaal bij 14 euro. De snijpunten zijn (80;14) op vraag en (120;14) op aanbod. Lees de hoeveelheden verticaal naar de L-as. De dikke horizontale afstand geeft het overschot van 40 personen; de oorspronkelijke lijnen blijven staan.</a:t>
            </a:r>
          </a:p>
          <a:p xmlns:a="http://schemas.openxmlformats.org/drawingml/2006/main">
            <a:r>
              <a:rPr sz="1400"/>
              <a:t/>
            </a:r>
          </a:p>
          <a:p xmlns:a="http://schemas.openxmlformats.org/drawingml/2006/main">
            <a:r>
              <a:rPr sz="1400"/>
              <a:t>Misvatting: De loonvloer verschuift de lijnen niet; alle getekende curvepunten liggen in het opgegeven domein.</a:t>
            </a:r>
          </a:p>
          <a:p xmlns:a="http://schemas.openxmlformats.org/drawingml/2006/main">
            <a:r>
              <a:rPr sz="1400"/>
              <a:t/>
            </a:r>
          </a:p>
          <a:p xmlns:a="http://schemas.openxmlformats.org/drawingml/2006/main">
            <a:r>
              <a:rPr sz="1400"/>
              <a:t>Overgang: Gebruik alleen de 80 werkenden voor de nieuwe loonsom.</a:t>
            </a:r>
          </a:p>
          <a:p xmlns:a="http://schemas.openxmlformats.org/drawingml/2006/main">
            <a:r>
              <a:rPr sz="1400"/>
              <a:t/>
            </a:r>
          </a:p>
          <a:p xmlns:a="http://schemas.openxmlformats.org/drawingml/2006/main">
            <a:r>
              <a:rPr sz="1400"/>
              <a:t>Bron: Boek 4, books34-v3, gedrukte boekpagina 147.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komt de factor 25 vandaan?</a:t>
            </a:r>
          </a:p>
          <a:p xmlns:a="http://schemas.openxmlformats.org/drawingml/2006/main">
            <a:r>
              <a:rPr sz="1400"/>
              <a:t/>
            </a:r>
          </a:p>
          <a:p xmlns:a="http://schemas.openxmlformats.org/drawingml/2006/main">
            <a:r>
              <a:rPr sz="1400"/>
              <a:t>Uitleg: Vermenigvuldig steeds met de gegeven 25 uur per persoon per week. De loonsom gebruikt in de oude situatie 100 en in de nieuwe 80 werkenden. Niet 120. Voor en na hebben dezelfde week als periode.</a:t>
            </a:r>
          </a:p>
          <a:p xmlns:a="http://schemas.openxmlformats.org/drawingml/2006/main">
            <a:r>
              <a:rPr sz="1400"/>
              <a:t/>
            </a:r>
          </a:p>
          <a:p xmlns:a="http://schemas.openxmlformats.org/drawingml/2006/main">
            <a:r>
              <a:rPr sz="1400"/>
              <a:t>Misvatting: w maal personen mist de arbeidsduur.</a:t>
            </a:r>
          </a:p>
          <a:p xmlns:a="http://schemas.openxmlformats.org/drawingml/2006/main">
            <a:r>
              <a:rPr sz="1400"/>
              <a:t/>
            </a:r>
          </a:p>
          <a:p xmlns:a="http://schemas.openxmlformats.org/drawingml/2006/main">
            <a:r>
              <a:rPr sz="1400"/>
              <a:t>Overgang: Deel het verschil door de oude loonsom.</a:t>
            </a:r>
          </a:p>
          <a:p xmlns:a="http://schemas.openxmlformats.org/drawingml/2006/main">
            <a:r>
              <a:rPr sz="1400"/>
              <a:t/>
            </a:r>
          </a:p>
          <a:p xmlns:a="http://schemas.openxmlformats.org/drawingml/2006/main">
            <a:r>
              <a:rPr sz="1400"/>
              <a:t>Bron: Boek 4, books34-v3, gedrukte boekpagina 147.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de noemer 30000 en niet 28000?</a:t>
            </a:r>
          </a:p>
          <a:p xmlns:a="http://schemas.openxmlformats.org/drawingml/2006/main">
            <a:r>
              <a:rPr sz="1400"/>
              <a:t/>
            </a:r>
          </a:p>
          <a:p xmlns:a="http://schemas.openxmlformats.org/drawingml/2006/main">
            <a:r>
              <a:rPr sz="1400"/>
              <a:t>Uitleg: De oude 30000 is de basis. Bewaar ongeronde tussenuitkomsten en rond de procentuele verandering op twee decimalen af. Min betekent een daling. Dit is de gezamenlijke loonsom, niet het weekloon van iemand die blijft werken.</a:t>
            </a:r>
          </a:p>
          <a:p xmlns:a="http://schemas.openxmlformats.org/drawingml/2006/main">
            <a:r>
              <a:rPr sz="1400"/>
              <a:t/>
            </a:r>
          </a:p>
          <a:p xmlns:a="http://schemas.openxmlformats.org/drawingml/2006/main">
            <a:r>
              <a:rPr sz="1400"/>
              <a:t>Misvatting: Trek niet simpelweg de procentuele veranderingen van loon en werk van elkaar af.</a:t>
            </a:r>
          </a:p>
          <a:p xmlns:a="http://schemas.openxmlformats.org/drawingml/2006/main">
            <a:r>
              <a:rPr sz="1400"/>
              <a:t/>
            </a:r>
          </a:p>
          <a:p xmlns:a="http://schemas.openxmlformats.org/drawingml/2006/main">
            <a:r>
              <a:rPr sz="1400"/>
              <a:t>Overgang: Beoordeel de eerste uitspraak uit d.</a:t>
            </a:r>
          </a:p>
          <a:p xmlns:a="http://schemas.openxmlformats.org/drawingml/2006/main">
            <a:r>
              <a:rPr sz="1400"/>
              <a:t/>
            </a:r>
          </a:p>
          <a:p xmlns:a="http://schemas.openxmlformats.org/drawingml/2006/main">
            <a:r>
              <a:rPr sz="1400"/>
              <a:t>Bron: Boek 4, books34-v3, gedrukte boekpagina 147.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oud aantal heb je nodig voor beide vergelijkingen?</a:t>
            </a:r>
          </a:p>
          <a:p xmlns:a="http://schemas.openxmlformats.org/drawingml/2006/main">
            <a:r>
              <a:rPr sz="1400"/>
              <a:t/>
            </a:r>
          </a:p>
          <a:p xmlns:a="http://schemas.openxmlformats.org/drawingml/2006/main">
            <a:r>
              <a:rPr sz="1400"/>
              <a:t>Uitleg: Eerst waren er 100 werkenden en aanbieders. Nu zijn er 80 werkenden en 120 aanbieders. De daling van werk is 20; de toename van aanbod eveneens 20. Zonder individuele gegevens weet je niet welke personen werk behouden of verliezen.</a:t>
            </a:r>
          </a:p>
          <a:p xmlns:a="http://schemas.openxmlformats.org/drawingml/2006/main">
            <a:r>
              <a:rPr sz="1400"/>
              <a:t/>
            </a:r>
          </a:p>
          <a:p xmlns:a="http://schemas.openxmlformats.org/drawingml/2006/main">
            <a:r>
              <a:rPr sz="1400"/>
              <a:t>Misvatting: Een aanbodoverschot vergelijkt nieuw aanbod met nieuw werk; baanverlies vergelijkt oud en nieuw werk.</a:t>
            </a:r>
          </a:p>
          <a:p xmlns:a="http://schemas.openxmlformats.org/drawingml/2006/main">
            <a:r>
              <a:rPr sz="1400"/>
              <a:t/>
            </a:r>
          </a:p>
          <a:p xmlns:a="http://schemas.openxmlformats.org/drawingml/2006/main">
            <a:r>
              <a:rPr sz="1400"/>
              <a:t>Overgang: Beoordeel daarna of iedereen meer verdient.</a:t>
            </a:r>
          </a:p>
          <a:p xmlns:a="http://schemas.openxmlformats.org/drawingml/2006/main">
            <a:r>
              <a:rPr sz="1400"/>
              <a:t/>
            </a:r>
          </a:p>
          <a:p xmlns:a="http://schemas.openxmlformats.org/drawingml/2006/main">
            <a:r>
              <a:rPr sz="1400"/>
              <a:t>Bron: Boek 4, books34-v3, gedrukte boekpagina 147.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voorwaarde maakt de eerste zin juist?</a:t>
            </a:r>
          </a:p>
          <a:p xmlns:a="http://schemas.openxmlformats.org/drawingml/2006/main">
            <a:r>
              <a:rPr sz="1400"/>
              <a:t/>
            </a:r>
          </a:p>
          <a:p xmlns:a="http://schemas.openxmlformats.org/drawingml/2006/main">
            <a:r>
              <a:rPr sz="1400"/>
              <a:t>Uitleg: Alleen de blijvende werknemer met dezelfde uren heeft het hogere weekloon. De niet-geplaatste aanbieders ontvangen in deze markt geen loon. Andere inkomensbronnen zijn niet gegeven. Trek geen algemene uitspraak over iedere echte minimumloonverhoging.</a:t>
            </a:r>
          </a:p>
          <a:p xmlns:a="http://schemas.openxmlformats.org/drawingml/2006/main">
            <a:r>
              <a:rPr sz="1400"/>
              <a:t/>
            </a:r>
          </a:p>
          <a:p xmlns:a="http://schemas.openxmlformats.org/drawingml/2006/main">
            <a:r>
              <a:rPr sz="1400"/>
              <a:t>Misvatting: Hoger uurloon, hoger individueel weekloon en hogere totale loonsom zijn verschillende uitspraken.</a:t>
            </a:r>
          </a:p>
          <a:p xmlns:a="http://schemas.openxmlformats.org/drawingml/2006/main">
            <a:r>
              <a:rPr sz="1400"/>
              <a:t/>
            </a:r>
          </a:p>
          <a:p xmlns:a="http://schemas.openxmlformats.org/drawingml/2006/main">
            <a:r>
              <a:rPr sz="1400"/>
              <a:t>Overgang: Laat leerlingen hun eigen antwoord nalopen.</a:t>
            </a:r>
          </a:p>
          <a:p xmlns:a="http://schemas.openxmlformats.org/drawingml/2006/main">
            <a:r>
              <a:rPr sz="1400"/>
              <a:t/>
            </a:r>
          </a:p>
          <a:p xmlns:a="http://schemas.openxmlformats.org/drawingml/2006/main">
            <a:r>
              <a:rPr sz="1400"/>
              <a:t>Bron: Boek 4, books34-v3, gedrukte boekpagina 147.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ontbreekt nog in jouw antwoord?</a:t>
            </a:r>
          </a:p>
          <a:p xmlns:a="http://schemas.openxmlformats.org/drawingml/2006/main">
            <a:r>
              <a:rPr sz="1400"/>
              <a:t/>
            </a:r>
          </a:p>
          <a:p xmlns:a="http://schemas.openxmlformats.org/drawingml/2006/main">
            <a:r>
              <a:rPr sz="1400"/>
              <a:t>Uitleg: Controleer alle vier onderdelen: algebra plus binding; invullen plus grafiek; loonsommen plus juiste noemer; beide onjuiste uitspraken onderbouwen. Laat een leerling één verbetering verwoorden.</a:t>
            </a:r>
          </a:p>
          <a:p xmlns:a="http://schemas.openxmlformats.org/drawingml/2006/main">
            <a:r>
              <a:rPr sz="1400"/>
              <a:t/>
            </a:r>
          </a:p>
          <a:p xmlns:a="http://schemas.openxmlformats.org/drawingml/2006/main">
            <a:r>
              <a:rPr sz="1400"/>
              <a:t>Misvatting: Een eindgetal vervangt de gevraagde redenering niet.</a:t>
            </a:r>
          </a:p>
          <a:p xmlns:a="http://schemas.openxmlformats.org/drawingml/2006/main">
            <a:r>
              <a:rPr sz="1400"/>
              <a:t/>
            </a:r>
          </a:p>
          <a:p xmlns:a="http://schemas.openxmlformats.org/drawingml/2006/main">
            <a:r>
              <a:rPr sz="1400"/>
              <a:t>Overgang: Zet het huiswerk in de agenda.</a:t>
            </a:r>
          </a:p>
          <a:p xmlns:a="http://schemas.openxmlformats.org/drawingml/2006/main">
            <a:r>
              <a:rPr sz="1400"/>
              <a:t/>
            </a:r>
          </a:p>
          <a:p xmlns:a="http://schemas.openxmlformats.org/drawingml/2006/main">
            <a:r>
              <a:rPr sz="1400"/>
              <a:t>Bron: Boek 4, books34-v3, gedrukte boekpagina 147.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al, en bij welke stap helpt p. 143?</a:t>
            </a:r>
          </a:p>
          <a:p xmlns:a="http://schemas.openxmlformats.org/drawingml/2006/main">
            <a:r>
              <a:rPr sz="1400"/>
              <a:t/>
            </a:r>
          </a:p>
          <a:p xmlns:a="http://schemas.openxmlformats.org/drawingml/2006/main">
            <a:r>
              <a:rPr sz="1400"/>
              <a:t>Uitleg: Laat dit overzicht staan tijdens afsluiting / huiswerk. Start 28–29: p. 145; basis 30: p. 145 en 31: p. 146; zelfstandig 32–33: p. 146; doel 34: p. 147. Huiswerk is 30, 31, 32, 33 en 34 maken en nakijken. Bonus 35 en herhaling 36 zijn extra.</a:t>
            </a:r>
          </a:p>
          <a:p xmlns:a="http://schemas.openxmlformats.org/drawingml/2006/main">
            <a:r>
              <a:rPr sz="1400"/>
              <a:t/>
            </a:r>
          </a:p>
          <a:p xmlns:a="http://schemas.openxmlformats.org/drawingml/2006/main">
            <a:r>
              <a:rPr sz="1400"/>
              <a:t>28 haalt de minimumprijs zonder opkoop terug uit §3.1.5, uitleg ‘Begin zonder aankoopgarantie’. Bij 29 is personen maal uren bekend uit §4.3.1, maar de loonsom is hier een nieuwe combinatie. Laat de definitie en formule op p. 143 lezen, eenheden onderstrepen en eerst betaalde uren bepalen. Geen antwoord vooraf geven. Keer bij het overzicht vóór basiswerk terug naar 29: laat leerlingen hun opzet en eenheid verbeteren na de uitleg.</a:t>
            </a:r>
          </a:p>
          <a:p xmlns:a="http://schemas.openxmlformats.org/drawingml/2006/main">
            <a:r>
              <a:rPr sz="1400"/>
              <a:t/>
            </a:r>
          </a:p>
          <a:p xmlns:a="http://schemas.openxmlformats.org/drawingml/2006/main">
            <a:r>
              <a:rPr sz="1400"/>
              <a:t>De docentbron adviseert voorlopig twee lessen van 55 minuten; dit is niet gemeten. Laat huiswerk of een vervolg de route afronden; schrap geen basiswerk.</a:t>
            </a:r>
          </a:p>
          <a:p xmlns:a="http://schemas.openxmlformats.org/drawingml/2006/main">
            <a:r>
              <a:rPr sz="1400"/>
              <a:t/>
            </a:r>
          </a:p>
          <a:p xmlns:a="http://schemas.openxmlformats.org/drawingml/2006/main">
            <a:r>
              <a:rPr sz="1400"/>
              <a:t>Misvatting: Gebruik complete-boekpagina’s, niet de lokale hoofdstukpagina’s 33–35.</a:t>
            </a:r>
          </a:p>
          <a:p xmlns:a="http://schemas.openxmlformats.org/drawingml/2006/main">
            <a:r>
              <a:rPr sz="1400"/>
              <a:t/>
            </a:r>
          </a:p>
          <a:p xmlns:a="http://schemas.openxmlformats.org/drawingml/2006/main">
            <a:r>
              <a:rPr sz="1400"/>
              <a:t>Overgang: Laat het huiswerk noteren.</a:t>
            </a:r>
          </a:p>
          <a:p xmlns:a="http://schemas.openxmlformats.org/drawingml/2006/main">
            <a:r>
              <a:rPr sz="1400"/>
              <a:t/>
            </a:r>
          </a:p>
          <a:p xmlns:a="http://schemas.openxmlformats.org/drawingml/2006/main">
            <a:r>
              <a:rPr sz="1400"/>
              <a:t>Bron: Boek 4, books34-v3, gedrukte boekpagina 141–147.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https://github.com/meijer1973/4veco-lessen/blob/e734532a42b27732ac25ce990fc9448b12309d28/edities/books34-v3/books/book-4/chapters/4.3/4.3.4%20manuscript.md ; https://github.com/meijer1973/4veco-lessen/blob/e734532a42b27732ac25ce990fc9448b12309d28/edities/books34-v3/books/book-4/chapters/4.3/Antwoorden.md</a:t>
            </a:r>
          </a:p>
          <a:p xmlns:a="http://schemas.openxmlformats.org/drawingml/2006/main">
            <a:r>
              <a:rPr sz="1400"/>
              <a:t>Alleen voor feedback na eigen poging: 28: 60 producten verkocht, 40 overschot per week. 29: 15 × 20 × 50 = € 15.000 per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559d3951b34b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3fac08e8ef4331" /><Relationship Type="http://schemas.openxmlformats.org/officeDocument/2006/relationships/slideLayout" Target="/ppt/slideLayouts/slideLayout1.xml" Id="Radacc671ac6e46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acc671ac6e46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1f7092e15fa4354" /><Relationship Type="http://schemas.openxmlformats.org/officeDocument/2006/relationships/notesSlide" Target="/ppt/notesSlides/notesSlide1.xml" Id="Rfe9ea266278243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0865ac69c374ee8" /><Relationship Type="http://schemas.openxmlformats.org/officeDocument/2006/relationships/notesSlide" Target="/ppt/notesSlides/notesSlide2.xml" Id="R0fa2299c10f54c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b9d7faf883b43e4" /><Relationship Type="http://schemas.openxmlformats.org/officeDocument/2006/relationships/notesSlide" Target="/ppt/notesSlides/notesSlide3.xml" Id="Rdde08f2c8d0943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746340dbc834d8f" /><Relationship Type="http://schemas.openxmlformats.org/officeDocument/2006/relationships/notesSlide" Target="/ppt/notesSlides/notesSlide4.xml" Id="R24c47b26a53047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8a328c60cc14b2b" /><Relationship Type="http://schemas.openxmlformats.org/officeDocument/2006/relationships/notesSlide" Target="/ppt/notesSlides/notesSlide5.xml" Id="R7e7a40ccfd8344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2f0bab9c2af4043" /><Relationship Type="http://schemas.openxmlformats.org/officeDocument/2006/relationships/chart" Target="/ppt/slides/charts/chart1.xml" Id="R67c5832779754827" /><Relationship Type="http://schemas.openxmlformats.org/officeDocument/2006/relationships/notesSlide" Target="/ppt/notesSlides/notesSlide6.xml" Id="R0406be72ef2f44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2eba18b40204daa" /><Relationship Type="http://schemas.openxmlformats.org/officeDocument/2006/relationships/chart" Target="/ppt/slides/charts/chart2.xml" Id="R2177125629494027" /><Relationship Type="http://schemas.openxmlformats.org/officeDocument/2006/relationships/notesSlide" Target="/ppt/notesSlides/notesSlide7.xml" Id="R44895fd7ca8f4a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4da82fa6d424ae2" /><Relationship Type="http://schemas.openxmlformats.org/officeDocument/2006/relationships/notesSlide" Target="/ppt/notesSlides/notesSlide8.xml" Id="Rfd0d87eb906749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33dbdacfc4d48b5" /><Relationship Type="http://schemas.openxmlformats.org/officeDocument/2006/relationships/chart" Target="/ppt/slides/charts/chart3.xml" Id="Rdfe37da2d01c4633" /><Relationship Type="http://schemas.openxmlformats.org/officeDocument/2006/relationships/notesSlide" Target="/ppt/notesSlides/notesSlide9.xml" Id="Rf5b75b7ca2ee46e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72e1800ae2c4742" /><Relationship Type="http://schemas.openxmlformats.org/officeDocument/2006/relationships/notesSlide" Target="/ppt/notesSlides/notesSlide10.xml" Id="R8ca9155c081f41d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2d9479dbd814aa9" /><Relationship Type="http://schemas.openxmlformats.org/officeDocument/2006/relationships/notesSlide" Target="/ppt/notesSlides/notesSlide11.xml" Id="Rd27c7ffae29347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b70979b5346419f" /><Relationship Type="http://schemas.openxmlformats.org/officeDocument/2006/relationships/notesSlide" Target="/ppt/notesSlides/notesSlide12.xml" Id="Rd40df48326aa43c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3f63f3e89974cd1" /><Relationship Type="http://schemas.openxmlformats.org/officeDocument/2006/relationships/notesSlide" Target="/ppt/notesSlides/notesSlide13.xml" Id="R8244bd207b744ed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6c6bf9130d344a2" /><Relationship Type="http://schemas.openxmlformats.org/officeDocument/2006/relationships/notesSlide" Target="/ppt/notesSlides/notesSlide14.xml" Id="R18530334224445c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d413076e6374cac" /><Relationship Type="http://schemas.openxmlformats.org/officeDocument/2006/relationships/notesSlide" Target="/ppt/notesSlides/notesSlide15.xml" Id="Rc804bd6105d1420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e0d12f2f7b84219" /><Relationship Type="http://schemas.openxmlformats.org/officeDocument/2006/relationships/notesSlide" Target="/ppt/notesSlides/notesSlide16.xml" Id="R2bf768ca06f5481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258a2b68d934367" /><Relationship Type="http://schemas.openxmlformats.org/officeDocument/2006/relationships/chart" Target="/ppt/slides/charts/chart4.xml" Id="R47b8a1c60b574d41" /><Relationship Type="http://schemas.openxmlformats.org/officeDocument/2006/relationships/notesSlide" Target="/ppt/notesSlides/notesSlide17.xml" Id="R848110e1889a4b7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a5ce19f7a5f407a" /><Relationship Type="http://schemas.openxmlformats.org/officeDocument/2006/relationships/notesSlide" Target="/ppt/notesSlides/notesSlide18.xml" Id="R14f57683820e426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9a8637994c14e36" /><Relationship Type="http://schemas.openxmlformats.org/officeDocument/2006/relationships/notesSlide" Target="/ppt/notesSlides/notesSlide19.xml" Id="Rd87b85862906415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77d432090bd4241" /><Relationship Type="http://schemas.openxmlformats.org/officeDocument/2006/relationships/notesSlide" Target="/ppt/notesSlides/notesSlide20.xml" Id="Ra9be0849606b4ef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0a043df6fea4c96" /><Relationship Type="http://schemas.openxmlformats.org/officeDocument/2006/relationships/chart" Target="/ppt/slides/charts/chart5.xml" Id="R81bae8ae7e124890" /><Relationship Type="http://schemas.openxmlformats.org/officeDocument/2006/relationships/notesSlide" Target="/ppt/notesSlides/notesSlide21.xml" Id="Re2b45cae8b56464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0200e85191e4c82" /><Relationship Type="http://schemas.openxmlformats.org/officeDocument/2006/relationships/notesSlide" Target="/ppt/notesSlides/notesSlide22.xml" Id="Rf6f8cff5e981438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67117b33f954423" /><Relationship Type="http://schemas.openxmlformats.org/officeDocument/2006/relationships/notesSlide" Target="/ppt/notesSlides/notesSlide23.xml" Id="R17ca8fddf35d4db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1a078d2e79044af" /><Relationship Type="http://schemas.openxmlformats.org/officeDocument/2006/relationships/notesSlide" Target="/ppt/notesSlides/notesSlide24.xml" Id="R5d61671b2d994a3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3f33d50e4534d18" /><Relationship Type="http://schemas.openxmlformats.org/officeDocument/2006/relationships/notesSlide" Target="/ppt/notesSlides/notesSlide25.xml" Id="R1a7c1af40cd04fd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d20469b83844359" /><Relationship Type="http://schemas.openxmlformats.org/officeDocument/2006/relationships/notesSlide" Target="/ppt/notesSlides/notesSlide26.xml" Id="R8c8ab7d2d7b14e5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d50805487b042c6" /><Relationship Type="http://schemas.openxmlformats.org/officeDocument/2006/relationships/notesSlide" Target="/ppt/notesSlides/notesSlide27.xml" Id="Rb6a2c79d729a496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Lᵥ</c:v>
          </c:tx>
          <c:spPr>
            <a:ln xmlns:a="http://schemas.openxmlformats.org/drawingml/2006/main" w="38100">
              <a:solidFill>
                <a:srgbClr val="1A5276"/>
              </a:solidFill>
              <a:prstDash val="solid"/>
            </a:ln>
          </c:spPr>
          <c:marker>
            <c:symbol val="none"/>
          </c:marker>
          <c:xVal>
            <c:numRef>
              <c:f>'Chart Data'!$A$2:$A$3</c:f>
              <c:numCache>
                <c:formatCode>General</c:formatCode>
                <c:ptCount val="2"/>
                <c:pt idx="0">
                  <c:v>0</c:v>
                </c:pt>
                <c:pt idx="1">
                  <c:v>120</c:v>
                </c:pt>
              </c:numCache>
            </c:numRef>
          </c:xVal>
          <c:yVal>
            <c:numRef>
              <c:f>'Chart Data'!$B$2:$B$3</c:f>
              <c:numCache>
                <c:formatCode>0</c:formatCode>
                <c:ptCount val="2"/>
                <c:pt idx="0">
                  <c:v>30</c:v>
                </c:pt>
                <c:pt idx="1">
                  <c:v>6</c:v>
                </c:pt>
              </c:numCache>
            </c:numRef>
          </c:yVal>
          <c:smooth val="0"/>
        </c:ser>
        <c:ser>
          <c:idx val="1"/>
          <c:order val="1"/>
          <c:tx>
            <c:v>Lₐ</c:v>
          </c:tx>
          <c:spPr>
            <a:ln xmlns:a="http://schemas.openxmlformats.org/drawingml/2006/main" w="38100">
              <a:solidFill>
                <a:srgbClr val="1E8449"/>
              </a:solidFill>
              <a:prstDash val="solid"/>
            </a:ln>
          </c:spPr>
          <c:marker>
            <c:symbol val="none"/>
          </c:marker>
          <c:xVal>
            <c:numRef>
              <c:f>'Chart Data'!$C$2:$C$3</c:f>
              <c:numCache>
                <c:formatCode>General</c:formatCode>
                <c:ptCount val="2"/>
                <c:pt idx="0">
                  <c:v>0</c:v>
                </c:pt>
                <c:pt idx="1">
                  <c:v>120</c:v>
                </c:pt>
              </c:numCache>
            </c:numRef>
          </c:xVal>
          <c:yVal>
            <c:numRef>
              <c:f>'Chart Data'!$D$2:$D$3</c:f>
              <c:numCache>
                <c:formatCode>0</c:formatCode>
                <c:ptCount val="2"/>
                <c:pt idx="0">
                  <c:v>6</c:v>
                </c:pt>
                <c:pt idx="1">
                  <c:v>30</c:v>
                </c:pt>
              </c:numCache>
            </c:numRef>
          </c:yVal>
          <c:smooth val="0"/>
        </c:ser>
        <c:ser>
          <c:idx val="2"/>
          <c:order val="2"/>
          <c:tx>
            <c:v>Lᵥ</c:v>
          </c:tx>
          <c:spPr>
            <a:ln xmlns:a="http://schemas.openxmlformats.org/drawingml/2006/main" w="0">
              <a:noFill/>
            </a:ln>
          </c:spPr>
          <c:marker>
            <c:symbol val="none"/>
            <c:size val="8"/>
            <c:spPr>
              <a:solidFill xmlns:a="http://schemas.openxmlformats.org/drawingml/2006/main">
                <a:srgbClr val="1A5276"/>
              </a:solidFill>
            </c:spPr>
          </c:marker>
          <c:dLbls>
            <c:dLbl>
              <c:idx val="0"/>
              <c:tx>
                <c:rich>
                  <a:bodyPr xmlns:a="http://schemas.openxmlformats.org/drawingml/2006/main"/>
                  <a:lstStyle xmlns:a="http://schemas.openxmlformats.org/drawingml/2006/main"/>
                  <a:p xmlns:a="http://schemas.openxmlformats.org/drawingml/2006/main">
                    <a:r>
                      <a:rPr sz="1950" b="1">
                        <a:solidFill>
                          <a:srgbClr val="1A5276"/>
                        </a:solidFill>
                        <a:latin typeface="Arial"/>
                        <a:ea typeface="Arial"/>
                        <a:cs typeface="Arial"/>
                      </a:rPr>
                      <a:t>Lᵥ</a:t>
                    </a:r>
                  </a:p>
                </c:rich>
              </c:tx>
              <c:txPr>
                <a:bodyPr xmlns:a="http://schemas.openxmlformats.org/drawingml/2006/main" anchorCtr="1"/>
                <a:lstStyle xmlns:a="http://schemas.openxmlformats.org/drawingml/2006/main"/>
                <a:p xmlns:a="http://schemas.openxmlformats.org/drawingml/2006/main">
                  <a:pPr>
                    <a:defRPr sz="1950" b="1">
                      <a:solidFill>
                        <a:srgbClr val="1A527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10</c:v>
                </c:pt>
              </c:numCache>
            </c:numRef>
          </c:xVal>
          <c:yVal>
            <c:numRef>
              <c:f>'Chart Data'!$F$2:$F$2</c:f>
              <c:numCache>
                <c:formatCode>0</c:formatCode>
                <c:ptCount val="1"/>
                <c:pt idx="0">
                  <c:v>28</c:v>
                </c:pt>
              </c:numCache>
            </c:numRef>
          </c:yVal>
          <c:smooth val="0"/>
        </c:ser>
        <c:ser>
          <c:idx val="3"/>
          <c:order val="3"/>
          <c:tx>
            <c:v>Lₐ</c:v>
          </c:tx>
          <c:spPr>
            <a:ln xmlns:a="http://schemas.openxmlformats.org/drawingml/2006/main" w="0">
              <a:noFill/>
            </a:ln>
          </c:spPr>
          <c:marker>
            <c:symbol val="none"/>
            <c:size val="8"/>
            <c:spPr>
              <a:solidFill xmlns:a="http://schemas.openxmlformats.org/drawingml/2006/main">
                <a:srgbClr val="1E8449"/>
              </a:solidFill>
            </c:spPr>
          </c:marker>
          <c:dLbls>
            <c:dLbl>
              <c:idx val="0"/>
              <c:tx>
                <c:rich>
                  <a:bodyPr xmlns:a="http://schemas.openxmlformats.org/drawingml/2006/main"/>
                  <a:lstStyle xmlns:a="http://schemas.openxmlformats.org/drawingml/2006/main"/>
                  <a:p xmlns:a="http://schemas.openxmlformats.org/drawingml/2006/main">
                    <a:r>
                      <a:rPr sz="1950" b="1">
                        <a:solidFill>
                          <a:srgbClr val="1E8449"/>
                        </a:solidFill>
                        <a:latin typeface="Arial"/>
                        <a:ea typeface="Arial"/>
                        <a:cs typeface="Arial"/>
                      </a:rPr>
                      <a:t>Lₐ</a:t>
                    </a:r>
                  </a:p>
                </c:rich>
              </c:tx>
              <c:txPr>
                <a:bodyPr xmlns:a="http://schemas.openxmlformats.org/drawingml/2006/main" anchorCtr="1"/>
                <a:lstStyle xmlns:a="http://schemas.openxmlformats.org/drawingml/2006/main"/>
                <a:p xmlns:a="http://schemas.openxmlformats.org/drawingml/2006/main">
                  <a:pPr>
                    <a:defRPr sz="1950" b="1">
                      <a:solidFill>
                        <a:srgbClr val="1E8449"/>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110</c:v>
                </c:pt>
              </c:numCache>
            </c:numRef>
          </c:xVal>
          <c:yVal>
            <c:numRef>
              <c:f>'Chart Data'!$H$2:$H$2</c:f>
              <c:numCache>
                <c:formatCode>0</c:formatCode>
                <c:ptCount val="1"/>
                <c:pt idx="0">
                  <c:v>28</c:v>
                </c:pt>
              </c:numCache>
            </c:numRef>
          </c:yVal>
          <c:smooth val="0"/>
        </c:ser>
        <c:ser>
          <c:idx val="4"/>
          <c:order val="4"/>
          <c:tx>
            <c:v>Evenwichtsloon</c:v>
          </c:tx>
          <c:spPr>
            <a:ln xmlns:a="http://schemas.openxmlformats.org/drawingml/2006/main" w="19050">
              <a:solidFill>
                <a:srgbClr val="445B6B"/>
              </a:solidFill>
              <a:prstDash val="dash"/>
            </a:ln>
          </c:spPr>
          <c:marker>
            <c:symbol val="none"/>
          </c:marker>
          <c:xVal>
            <c:numRef>
              <c:f>'Chart Data'!$I$2:$I$3</c:f>
              <c:numCache>
                <c:formatCode>General</c:formatCode>
                <c:ptCount val="2"/>
                <c:pt idx="0">
                  <c:v>0</c:v>
                </c:pt>
                <c:pt idx="1">
                  <c:v>60</c:v>
                </c:pt>
              </c:numCache>
            </c:numRef>
          </c:xVal>
          <c:yVal>
            <c:numRef>
              <c:f>'Chart Data'!$J$2:$J$3</c:f>
              <c:numCache>
                <c:formatCode>0</c:formatCode>
                <c:ptCount val="2"/>
                <c:pt idx="0">
                  <c:v>18</c:v>
                </c:pt>
                <c:pt idx="1">
                  <c:v>18</c:v>
                </c:pt>
              </c:numCache>
            </c:numRef>
          </c:yVal>
          <c:smooth val="0"/>
        </c:ser>
        <c:ser>
          <c:idx val="5"/>
          <c:order val="5"/>
          <c:tx>
            <c:v>Evenwichtshoeveelheid</c:v>
          </c:tx>
          <c:spPr>
            <a:ln xmlns:a="http://schemas.openxmlformats.org/drawingml/2006/main" w="19050">
              <a:solidFill>
                <a:srgbClr val="445B6B"/>
              </a:solidFill>
              <a:prstDash val="dash"/>
            </a:ln>
          </c:spPr>
          <c:marker>
            <c:symbol val="none"/>
          </c:marker>
          <c:xVal>
            <c:numRef>
              <c:f>'Chart Data'!$K$2:$K$3</c:f>
              <c:numCache>
                <c:formatCode>General</c:formatCode>
                <c:ptCount val="2"/>
                <c:pt idx="0">
                  <c:v>60</c:v>
                </c:pt>
                <c:pt idx="1">
                  <c:v>60</c:v>
                </c:pt>
              </c:numCache>
            </c:numRef>
          </c:xVal>
          <c:yVal>
            <c:numRef>
              <c:f>'Chart Data'!$L$2:$L$3</c:f>
              <c:numCache>
                <c:formatCode>0</c:formatCode>
                <c:ptCount val="2"/>
                <c:pt idx="0">
                  <c:v>0</c:v>
                </c:pt>
                <c:pt idx="1">
                  <c:v>18</c:v>
                </c:pt>
              </c:numCache>
            </c:numRef>
          </c:yVal>
          <c:smooth val="0"/>
        </c:ser>
        <c:ser>
          <c:idx val="6"/>
          <c:order val="6"/>
          <c:tx>
            <c:v>E</c:v>
          </c:tx>
          <c:spPr>
            <a:ln xmlns:a="http://schemas.openxmlformats.org/drawingml/2006/main" w="0">
              <a:noFill/>
            </a:ln>
          </c:spPr>
          <c:marker>
            <c:symbol val="circle"/>
            <c:size val="8"/>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Data'!$M$2:$M$2</c:f>
              <c:numCache>
                <c:formatCode>General</c:formatCode>
                <c:ptCount val="1"/>
                <c:pt idx="0">
                  <c:v>60</c:v>
                </c:pt>
              </c:numCache>
            </c:numRef>
          </c:xVal>
          <c:yVal>
            <c:numRef>
              <c:f>'Chart Data'!$N$2:$N$2</c:f>
              <c:numCache>
                <c:formatCode>0</c:formatCode>
                <c:ptCount val="1"/>
                <c:pt idx="0">
                  <c:v>18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w (€ per uur)</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12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L (personen)</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Lᵥ</c:v>
          </c:tx>
          <c:spPr>
            <a:ln xmlns:a="http://schemas.openxmlformats.org/drawingml/2006/main" w="38100">
              <a:solidFill>
                <a:srgbClr val="1A5276"/>
              </a:solidFill>
              <a:prstDash val="solid"/>
            </a:ln>
          </c:spPr>
          <c:marker>
            <c:symbol val="none"/>
          </c:marker>
          <c:xVal>
            <c:numRef>
              <c:f>'Chart Data'!$A$2:$A$3</c:f>
              <c:numCache>
                <c:formatCode>General</c:formatCode>
                <c:ptCount val="2"/>
                <c:pt idx="0">
                  <c:v>0</c:v>
                </c:pt>
                <c:pt idx="1">
                  <c:v>120</c:v>
                </c:pt>
              </c:numCache>
            </c:numRef>
          </c:xVal>
          <c:yVal>
            <c:numRef>
              <c:f>'Chart Data'!$B$2:$B$3</c:f>
              <c:numCache>
                <c:formatCode>0</c:formatCode>
                <c:ptCount val="2"/>
                <c:pt idx="0">
                  <c:v>30</c:v>
                </c:pt>
                <c:pt idx="1">
                  <c:v>6</c:v>
                </c:pt>
              </c:numCache>
            </c:numRef>
          </c:yVal>
          <c:smooth val="0"/>
        </c:ser>
        <c:ser>
          <c:idx val="1"/>
          <c:order val="1"/>
          <c:tx>
            <c:v>Lₐ</c:v>
          </c:tx>
          <c:spPr>
            <a:ln xmlns:a="http://schemas.openxmlformats.org/drawingml/2006/main" w="38100">
              <a:solidFill>
                <a:srgbClr val="1E8449"/>
              </a:solidFill>
              <a:prstDash val="solid"/>
            </a:ln>
          </c:spPr>
          <c:marker>
            <c:symbol val="none"/>
          </c:marker>
          <c:xVal>
            <c:numRef>
              <c:f>'Chart Data'!$C$2:$C$3</c:f>
              <c:numCache>
                <c:formatCode>General</c:formatCode>
                <c:ptCount val="2"/>
                <c:pt idx="0">
                  <c:v>0</c:v>
                </c:pt>
                <c:pt idx="1">
                  <c:v>120</c:v>
                </c:pt>
              </c:numCache>
            </c:numRef>
          </c:xVal>
          <c:yVal>
            <c:numRef>
              <c:f>'Chart Data'!$D$2:$D$3</c:f>
              <c:numCache>
                <c:formatCode>0</c:formatCode>
                <c:ptCount val="2"/>
                <c:pt idx="0">
                  <c:v>6</c:v>
                </c:pt>
                <c:pt idx="1">
                  <c:v>30</c:v>
                </c:pt>
              </c:numCache>
            </c:numRef>
          </c:yVal>
          <c:smooth val="0"/>
        </c:ser>
        <c:ser>
          <c:idx val="2"/>
          <c:order val="2"/>
          <c:tx>
            <c:v>Lᵥ</c:v>
          </c:tx>
          <c:spPr>
            <a:ln xmlns:a="http://schemas.openxmlformats.org/drawingml/2006/main" w="0">
              <a:noFill/>
            </a:ln>
          </c:spPr>
          <c:marker>
            <c:symbol val="none"/>
            <c:size val="8"/>
            <c:spPr>
              <a:solidFill xmlns:a="http://schemas.openxmlformats.org/drawingml/2006/main">
                <a:srgbClr val="1A5276"/>
              </a:solidFill>
            </c:spPr>
          </c:marker>
          <c:dLbls>
            <c:dLbl>
              <c:idx val="0"/>
              <c:tx>
                <c:rich>
                  <a:bodyPr xmlns:a="http://schemas.openxmlformats.org/drawingml/2006/main"/>
                  <a:lstStyle xmlns:a="http://schemas.openxmlformats.org/drawingml/2006/main"/>
                  <a:p xmlns:a="http://schemas.openxmlformats.org/drawingml/2006/main">
                    <a:r>
                      <a:rPr sz="1950" b="1">
                        <a:solidFill>
                          <a:srgbClr val="1A5276"/>
                        </a:solidFill>
                        <a:latin typeface="Arial"/>
                        <a:ea typeface="Arial"/>
                        <a:cs typeface="Arial"/>
                      </a:rPr>
                      <a:t>Lᵥ</a:t>
                    </a:r>
                  </a:p>
                </c:rich>
              </c:tx>
              <c:txPr>
                <a:bodyPr xmlns:a="http://schemas.openxmlformats.org/drawingml/2006/main" anchorCtr="1"/>
                <a:lstStyle xmlns:a="http://schemas.openxmlformats.org/drawingml/2006/main"/>
                <a:p xmlns:a="http://schemas.openxmlformats.org/drawingml/2006/main">
                  <a:pPr>
                    <a:defRPr sz="1950" b="1">
                      <a:solidFill>
                        <a:srgbClr val="1A527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10</c:v>
                </c:pt>
              </c:numCache>
            </c:numRef>
          </c:xVal>
          <c:yVal>
            <c:numRef>
              <c:f>'Chart Data'!$F$2:$F$2</c:f>
              <c:numCache>
                <c:formatCode>0</c:formatCode>
                <c:ptCount val="1"/>
                <c:pt idx="0">
                  <c:v>28</c:v>
                </c:pt>
              </c:numCache>
            </c:numRef>
          </c:yVal>
          <c:smooth val="0"/>
        </c:ser>
        <c:ser>
          <c:idx val="3"/>
          <c:order val="3"/>
          <c:tx>
            <c:v>Lₐ</c:v>
          </c:tx>
          <c:spPr>
            <a:ln xmlns:a="http://schemas.openxmlformats.org/drawingml/2006/main" w="0">
              <a:noFill/>
            </a:ln>
          </c:spPr>
          <c:marker>
            <c:symbol val="none"/>
            <c:size val="8"/>
            <c:spPr>
              <a:solidFill xmlns:a="http://schemas.openxmlformats.org/drawingml/2006/main">
                <a:srgbClr val="1E8449"/>
              </a:solidFill>
            </c:spPr>
          </c:marker>
          <c:dLbls>
            <c:dLbl>
              <c:idx val="0"/>
              <c:tx>
                <c:rich>
                  <a:bodyPr xmlns:a="http://schemas.openxmlformats.org/drawingml/2006/main"/>
                  <a:lstStyle xmlns:a="http://schemas.openxmlformats.org/drawingml/2006/main"/>
                  <a:p xmlns:a="http://schemas.openxmlformats.org/drawingml/2006/main">
                    <a:r>
                      <a:rPr sz="1950" b="1">
                        <a:solidFill>
                          <a:srgbClr val="1E8449"/>
                        </a:solidFill>
                        <a:latin typeface="Arial"/>
                        <a:ea typeface="Arial"/>
                        <a:cs typeface="Arial"/>
                      </a:rPr>
                      <a:t>Lₐ</a:t>
                    </a:r>
                  </a:p>
                </c:rich>
              </c:tx>
              <c:txPr>
                <a:bodyPr xmlns:a="http://schemas.openxmlformats.org/drawingml/2006/main" anchorCtr="1"/>
                <a:lstStyle xmlns:a="http://schemas.openxmlformats.org/drawingml/2006/main"/>
                <a:p xmlns:a="http://schemas.openxmlformats.org/drawingml/2006/main">
                  <a:pPr>
                    <a:defRPr sz="1950" b="1">
                      <a:solidFill>
                        <a:srgbClr val="1E8449"/>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110</c:v>
                </c:pt>
              </c:numCache>
            </c:numRef>
          </c:xVal>
          <c:yVal>
            <c:numRef>
              <c:f>'Chart Data'!$H$2:$H$2</c:f>
              <c:numCache>
                <c:formatCode>0</c:formatCode>
                <c:ptCount val="1"/>
                <c:pt idx="0">
                  <c:v>28</c:v>
                </c:pt>
              </c:numCache>
            </c:numRef>
          </c:yVal>
          <c:smooth val="0"/>
        </c:ser>
        <c:ser>
          <c:idx val="4"/>
          <c:order val="4"/>
          <c:tx>
            <c:v>Evenwichtsloon</c:v>
          </c:tx>
          <c:spPr>
            <a:ln xmlns:a="http://schemas.openxmlformats.org/drawingml/2006/main" w="19050">
              <a:solidFill>
                <a:srgbClr val="445B6B"/>
              </a:solidFill>
              <a:prstDash val="dash"/>
            </a:ln>
          </c:spPr>
          <c:marker>
            <c:symbol val="none"/>
          </c:marker>
          <c:xVal>
            <c:numRef>
              <c:f>'Chart Data'!$I$2:$I$3</c:f>
              <c:numCache>
                <c:formatCode>General</c:formatCode>
                <c:ptCount val="2"/>
                <c:pt idx="0">
                  <c:v>0</c:v>
                </c:pt>
                <c:pt idx="1">
                  <c:v>60</c:v>
                </c:pt>
              </c:numCache>
            </c:numRef>
          </c:xVal>
          <c:yVal>
            <c:numRef>
              <c:f>'Chart Data'!$J$2:$J$3</c:f>
              <c:numCache>
                <c:formatCode>0</c:formatCode>
                <c:ptCount val="2"/>
                <c:pt idx="0">
                  <c:v>18</c:v>
                </c:pt>
                <c:pt idx="1">
                  <c:v>18</c:v>
                </c:pt>
              </c:numCache>
            </c:numRef>
          </c:yVal>
          <c:smooth val="0"/>
        </c:ser>
        <c:ser>
          <c:idx val="5"/>
          <c:order val="5"/>
          <c:tx>
            <c:v>Evenwichtshoeveelheid</c:v>
          </c:tx>
          <c:spPr>
            <a:ln xmlns:a="http://schemas.openxmlformats.org/drawingml/2006/main" w="19050">
              <a:solidFill>
                <a:srgbClr val="445B6B"/>
              </a:solidFill>
              <a:prstDash val="dash"/>
            </a:ln>
          </c:spPr>
          <c:marker>
            <c:symbol val="none"/>
          </c:marker>
          <c:xVal>
            <c:numRef>
              <c:f>'Chart Data'!$K$2:$K$3</c:f>
              <c:numCache>
                <c:formatCode>General</c:formatCode>
                <c:ptCount val="2"/>
                <c:pt idx="0">
                  <c:v>60</c:v>
                </c:pt>
                <c:pt idx="1">
                  <c:v>60</c:v>
                </c:pt>
              </c:numCache>
            </c:numRef>
          </c:xVal>
          <c:yVal>
            <c:numRef>
              <c:f>'Chart Data'!$L$2:$L$3</c:f>
              <c:numCache>
                <c:formatCode>0</c:formatCode>
                <c:ptCount val="2"/>
                <c:pt idx="0">
                  <c:v>0</c:v>
                </c:pt>
                <c:pt idx="1">
                  <c:v>18</c:v>
                </c:pt>
              </c:numCache>
            </c:numRef>
          </c:yVal>
          <c:smooth val="0"/>
        </c:ser>
        <c:ser>
          <c:idx val="6"/>
          <c:order val="6"/>
          <c:tx>
            <c:v>E</c:v>
          </c:tx>
          <c:spPr>
            <a:ln xmlns:a="http://schemas.openxmlformats.org/drawingml/2006/main" w="0">
              <a:noFill/>
            </a:ln>
          </c:spPr>
          <c:marker>
            <c:symbol val="circle"/>
            <c:size val="8"/>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Data'!$M$2:$M$2</c:f>
              <c:numCache>
                <c:formatCode>General</c:formatCode>
                <c:ptCount val="1"/>
                <c:pt idx="0">
                  <c:v>60</c:v>
                </c:pt>
              </c:numCache>
            </c:numRef>
          </c:xVal>
          <c:yVal>
            <c:numRef>
              <c:f>'Chart Data'!$N$2:$N$2</c:f>
              <c:numCache>
                <c:formatCode>0</c:formatCode>
                <c:ptCount val="1"/>
                <c:pt idx="0">
                  <c:v>18</c:v>
                </c:pt>
              </c:numCache>
            </c:numRef>
          </c:yVal>
          <c:smooth val="0"/>
        </c:ser>
        <c:ser>
          <c:idx val="7"/>
          <c:order val="7"/>
          <c:tx>
            <c:v>Minimum € 16</c:v>
          </c:tx>
          <c:spPr>
            <a:ln xmlns:a="http://schemas.openxmlformats.org/drawingml/2006/main" w="28575">
              <a:solidFill>
                <a:srgbClr val="A94D16"/>
              </a:solidFill>
              <a:prstDash val="dash"/>
            </a:ln>
          </c:spPr>
          <c:marker>
            <c:symbol val="none"/>
          </c:marker>
          <c:xVal>
            <c:numRef>
              <c:f>'Chart Data'!$O$2:$O$3</c:f>
              <c:numCache>
                <c:formatCode>General</c:formatCode>
                <c:ptCount val="2"/>
                <c:pt idx="0">
                  <c:v>0</c:v>
                </c:pt>
                <c:pt idx="1">
                  <c:v>120</c:v>
                </c:pt>
              </c:numCache>
            </c:numRef>
          </c:xVal>
          <c:yVal>
            <c:numRef>
              <c:f>'Chart Data'!$P$2:$P$3</c:f>
              <c:numCache>
                <c:formatCode>0</c:formatCode>
                <c:ptCount val="2"/>
                <c:pt idx="0">
                  <c:v>16</c:v>
                </c:pt>
                <c:pt idx="1">
                  <c:v>16</c:v>
                </c:pt>
              </c:numCache>
            </c:numRef>
          </c:yVal>
          <c:smooth val="0"/>
        </c:ser>
        <c:ser>
          <c:idx val="8"/>
          <c:order val="8"/>
          <c:tx>
            <c:v>minimum = 16</c:v>
          </c:tx>
          <c:spPr>
            <a:ln xmlns:a="http://schemas.openxmlformats.org/drawingml/2006/main" w="0">
              <a:noFill/>
            </a:ln>
          </c:spPr>
          <c:marker>
            <c:symbol val="none"/>
            <c:size val="8"/>
            <c:spPr>
              <a:solidFill xmlns:a="http://schemas.openxmlformats.org/drawingml/2006/main">
                <a:srgbClr val="A94D16"/>
              </a:solidFill>
            </c:spPr>
          </c:marker>
          <c:dLbls>
            <c:dLbl>
              <c:idx val="0"/>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minimum = 16</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Data'!$Q$2:$Q$2</c:f>
              <c:numCache>
                <c:formatCode>General</c:formatCode>
                <c:ptCount val="1"/>
                <c:pt idx="0">
                  <c:v>105</c:v>
                </c:pt>
              </c:numCache>
            </c:numRef>
          </c:xVal>
          <c:yVal>
            <c:numRef>
              <c:f>'Chart Data'!$R$2:$R$2</c:f>
              <c:numCache>
                <c:formatCode>0</c:formatCode>
                <c:ptCount val="1"/>
                <c:pt idx="0">
                  <c:v>16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w (€ per uur)</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12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L (personen)</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Lᵥ</c:v>
          </c:tx>
          <c:spPr>
            <a:ln xmlns:a="http://schemas.openxmlformats.org/drawingml/2006/main" w="38100">
              <a:solidFill>
                <a:srgbClr val="1A5276"/>
              </a:solidFill>
              <a:prstDash val="solid"/>
            </a:ln>
          </c:spPr>
          <c:marker>
            <c:symbol val="none"/>
          </c:marker>
          <c:xVal>
            <c:numRef>
              <c:f>'Chart Data'!$A$2:$A$3</c:f>
              <c:numCache>
                <c:formatCode>General</c:formatCode>
                <c:ptCount val="2"/>
                <c:pt idx="0">
                  <c:v>0</c:v>
                </c:pt>
                <c:pt idx="1">
                  <c:v>120</c:v>
                </c:pt>
              </c:numCache>
            </c:numRef>
          </c:xVal>
          <c:yVal>
            <c:numRef>
              <c:f>'Chart Data'!$B$2:$B$3</c:f>
              <c:numCache>
                <c:formatCode>0</c:formatCode>
                <c:ptCount val="2"/>
                <c:pt idx="0">
                  <c:v>30</c:v>
                </c:pt>
                <c:pt idx="1">
                  <c:v>6</c:v>
                </c:pt>
              </c:numCache>
            </c:numRef>
          </c:yVal>
          <c:smooth val="0"/>
        </c:ser>
        <c:ser>
          <c:idx val="1"/>
          <c:order val="1"/>
          <c:tx>
            <c:v>Lₐ</c:v>
          </c:tx>
          <c:spPr>
            <a:ln xmlns:a="http://schemas.openxmlformats.org/drawingml/2006/main" w="38100">
              <a:solidFill>
                <a:srgbClr val="1E8449"/>
              </a:solidFill>
              <a:prstDash val="solid"/>
            </a:ln>
          </c:spPr>
          <c:marker>
            <c:symbol val="none"/>
          </c:marker>
          <c:xVal>
            <c:numRef>
              <c:f>'Chart Data'!$C$2:$C$3</c:f>
              <c:numCache>
                <c:formatCode>General</c:formatCode>
                <c:ptCount val="2"/>
                <c:pt idx="0">
                  <c:v>0</c:v>
                </c:pt>
                <c:pt idx="1">
                  <c:v>120</c:v>
                </c:pt>
              </c:numCache>
            </c:numRef>
          </c:xVal>
          <c:yVal>
            <c:numRef>
              <c:f>'Chart Data'!$D$2:$D$3</c:f>
              <c:numCache>
                <c:formatCode>0</c:formatCode>
                <c:ptCount val="2"/>
                <c:pt idx="0">
                  <c:v>6</c:v>
                </c:pt>
                <c:pt idx="1">
                  <c:v>30</c:v>
                </c:pt>
              </c:numCache>
            </c:numRef>
          </c:yVal>
          <c:smooth val="0"/>
        </c:ser>
        <c:ser>
          <c:idx val="2"/>
          <c:order val="2"/>
          <c:tx>
            <c:v>Lᵥ</c:v>
          </c:tx>
          <c:spPr>
            <a:ln xmlns:a="http://schemas.openxmlformats.org/drawingml/2006/main" w="0">
              <a:noFill/>
            </a:ln>
          </c:spPr>
          <c:marker>
            <c:symbol val="none"/>
            <c:size val="8"/>
            <c:spPr>
              <a:solidFill xmlns:a="http://schemas.openxmlformats.org/drawingml/2006/main">
                <a:srgbClr val="1A5276"/>
              </a:solidFill>
            </c:spPr>
          </c:marker>
          <c:dLbls>
            <c:dLbl>
              <c:idx val="0"/>
              <c:tx>
                <c:rich>
                  <a:bodyPr xmlns:a="http://schemas.openxmlformats.org/drawingml/2006/main"/>
                  <a:lstStyle xmlns:a="http://schemas.openxmlformats.org/drawingml/2006/main"/>
                  <a:p xmlns:a="http://schemas.openxmlformats.org/drawingml/2006/main">
                    <a:r>
                      <a:rPr sz="1950" b="1">
                        <a:solidFill>
                          <a:srgbClr val="1A5276"/>
                        </a:solidFill>
                        <a:latin typeface="Arial"/>
                        <a:ea typeface="Arial"/>
                        <a:cs typeface="Arial"/>
                      </a:rPr>
                      <a:t>Lᵥ</a:t>
                    </a:r>
                  </a:p>
                </c:rich>
              </c:tx>
              <c:txPr>
                <a:bodyPr xmlns:a="http://schemas.openxmlformats.org/drawingml/2006/main" anchorCtr="1"/>
                <a:lstStyle xmlns:a="http://schemas.openxmlformats.org/drawingml/2006/main"/>
                <a:p xmlns:a="http://schemas.openxmlformats.org/drawingml/2006/main">
                  <a:pPr>
                    <a:defRPr sz="1950" b="1">
                      <a:solidFill>
                        <a:srgbClr val="1A527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10</c:v>
                </c:pt>
              </c:numCache>
            </c:numRef>
          </c:xVal>
          <c:yVal>
            <c:numRef>
              <c:f>'Chart Data'!$F$2:$F$2</c:f>
              <c:numCache>
                <c:formatCode>0</c:formatCode>
                <c:ptCount val="1"/>
                <c:pt idx="0">
                  <c:v>28</c:v>
                </c:pt>
              </c:numCache>
            </c:numRef>
          </c:yVal>
          <c:smooth val="0"/>
        </c:ser>
        <c:ser>
          <c:idx val="3"/>
          <c:order val="3"/>
          <c:tx>
            <c:v>Lₐ</c:v>
          </c:tx>
          <c:spPr>
            <a:ln xmlns:a="http://schemas.openxmlformats.org/drawingml/2006/main" w="0">
              <a:noFill/>
            </a:ln>
          </c:spPr>
          <c:marker>
            <c:symbol val="none"/>
            <c:size val="8"/>
            <c:spPr>
              <a:solidFill xmlns:a="http://schemas.openxmlformats.org/drawingml/2006/main">
                <a:srgbClr val="1E8449"/>
              </a:solidFill>
            </c:spPr>
          </c:marker>
          <c:dLbls>
            <c:dLbl>
              <c:idx val="0"/>
              <c:tx>
                <c:rich>
                  <a:bodyPr xmlns:a="http://schemas.openxmlformats.org/drawingml/2006/main"/>
                  <a:lstStyle xmlns:a="http://schemas.openxmlformats.org/drawingml/2006/main"/>
                  <a:p xmlns:a="http://schemas.openxmlformats.org/drawingml/2006/main">
                    <a:r>
                      <a:rPr sz="1950" b="1">
                        <a:solidFill>
                          <a:srgbClr val="1E8449"/>
                        </a:solidFill>
                        <a:latin typeface="Arial"/>
                        <a:ea typeface="Arial"/>
                        <a:cs typeface="Arial"/>
                      </a:rPr>
                      <a:t>Lₐ</a:t>
                    </a:r>
                  </a:p>
                </c:rich>
              </c:tx>
              <c:txPr>
                <a:bodyPr xmlns:a="http://schemas.openxmlformats.org/drawingml/2006/main" anchorCtr="1"/>
                <a:lstStyle xmlns:a="http://schemas.openxmlformats.org/drawingml/2006/main"/>
                <a:p xmlns:a="http://schemas.openxmlformats.org/drawingml/2006/main">
                  <a:pPr>
                    <a:defRPr sz="1950" b="1">
                      <a:solidFill>
                        <a:srgbClr val="1E8449"/>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110</c:v>
                </c:pt>
              </c:numCache>
            </c:numRef>
          </c:xVal>
          <c:yVal>
            <c:numRef>
              <c:f>'Chart Data'!$H$2:$H$2</c:f>
              <c:numCache>
                <c:formatCode>0</c:formatCode>
                <c:ptCount val="1"/>
                <c:pt idx="0">
                  <c:v>28</c:v>
                </c:pt>
              </c:numCache>
            </c:numRef>
          </c:yVal>
          <c:smooth val="0"/>
        </c:ser>
        <c:ser>
          <c:idx val="4"/>
          <c:order val="4"/>
          <c:tx>
            <c:v>Loonvloer</c:v>
          </c:tx>
          <c:spPr>
            <a:ln xmlns:a="http://schemas.openxmlformats.org/drawingml/2006/main" w="28575">
              <a:solidFill>
                <a:srgbClr val="A94D16"/>
              </a:solidFill>
              <a:prstDash val="dash"/>
            </a:ln>
          </c:spPr>
          <c:marker>
            <c:symbol val="none"/>
          </c:marker>
          <c:xVal>
            <c:numRef>
              <c:f>'Chart Data'!$I$2:$I$3</c:f>
              <c:numCache>
                <c:formatCode>General</c:formatCode>
                <c:ptCount val="2"/>
                <c:pt idx="0">
                  <c:v>0</c:v>
                </c:pt>
                <c:pt idx="1">
                  <c:v>120</c:v>
                </c:pt>
              </c:numCache>
            </c:numRef>
          </c:xVal>
          <c:yVal>
            <c:numRef>
              <c:f>'Chart Data'!$J$2:$J$3</c:f>
              <c:numCache>
                <c:formatCode>0</c:formatCode>
                <c:ptCount val="2"/>
                <c:pt idx="0">
                  <c:v>20</c:v>
                </c:pt>
                <c:pt idx="1">
                  <c:v>20</c:v>
                </c:pt>
              </c:numCache>
            </c:numRef>
          </c:yVal>
          <c:smooth val="0"/>
        </c:ser>
        <c:ser>
          <c:idx val="5"/>
          <c:order val="5"/>
          <c:tx>
            <c:v>Gevraagde personen</c:v>
          </c:tx>
          <c:spPr>
            <a:ln xmlns:a="http://schemas.openxmlformats.org/drawingml/2006/main" w="19050">
              <a:solidFill>
                <a:srgbClr val="1A5276"/>
              </a:solidFill>
              <a:prstDash val="dash"/>
            </a:ln>
          </c:spPr>
          <c:marker>
            <c:symbol val="none"/>
          </c:marker>
          <c:xVal>
            <c:numRef>
              <c:f>'Chart Data'!$K$2:$K$3</c:f>
              <c:numCache>
                <c:formatCode>General</c:formatCode>
                <c:ptCount val="2"/>
                <c:pt idx="0">
                  <c:v>50</c:v>
                </c:pt>
                <c:pt idx="1">
                  <c:v>50</c:v>
                </c:pt>
              </c:numCache>
            </c:numRef>
          </c:xVal>
          <c:yVal>
            <c:numRef>
              <c:f>'Chart Data'!$L$2:$L$3</c:f>
              <c:numCache>
                <c:formatCode>0</c:formatCode>
                <c:ptCount val="2"/>
                <c:pt idx="0">
                  <c:v>0</c:v>
                </c:pt>
                <c:pt idx="1">
                  <c:v>20</c:v>
                </c:pt>
              </c:numCache>
            </c:numRef>
          </c:yVal>
          <c:smooth val="0"/>
        </c:ser>
        <c:ser>
          <c:idx val="6"/>
          <c:order val="6"/>
          <c:tx>
            <c:v>Aangeboden personen</c:v>
          </c:tx>
          <c:spPr>
            <a:ln xmlns:a="http://schemas.openxmlformats.org/drawingml/2006/main" w="19050">
              <a:solidFill>
                <a:srgbClr val="1E8449"/>
              </a:solidFill>
              <a:prstDash val="dash"/>
            </a:ln>
          </c:spPr>
          <c:marker>
            <c:symbol val="none"/>
          </c:marker>
          <c:xVal>
            <c:numRef>
              <c:f>'Chart Data'!$M$2:$M$3</c:f>
              <c:numCache>
                <c:formatCode>General</c:formatCode>
                <c:ptCount val="2"/>
                <c:pt idx="0">
                  <c:v>70</c:v>
                </c:pt>
                <c:pt idx="1">
                  <c:v>70</c:v>
                </c:pt>
              </c:numCache>
            </c:numRef>
          </c:xVal>
          <c:yVal>
            <c:numRef>
              <c:f>'Chart Data'!$N$2:$N$3</c:f>
              <c:numCache>
                <c:formatCode>0</c:formatCode>
                <c:ptCount val="2"/>
                <c:pt idx="0">
                  <c:v>0</c:v>
                </c:pt>
                <c:pt idx="1">
                  <c:v>20</c:v>
                </c:pt>
              </c:numCache>
            </c:numRef>
          </c:yVal>
          <c:smooth val="0"/>
        </c:ser>
        <c:ser>
          <c:idx val="7"/>
          <c:order val="7"/>
          <c:tx>
            <c:v>w = 20</c:v>
          </c:tx>
          <c:spPr>
            <a:ln xmlns:a="http://schemas.openxmlformats.org/drawingml/2006/main" w="0">
              <a:noFill/>
            </a:ln>
          </c:spPr>
          <c:marker>
            <c:symbol val="none"/>
            <c:size val="8"/>
            <c:spPr>
              <a:solidFill xmlns:a="http://schemas.openxmlformats.org/drawingml/2006/main">
                <a:srgbClr val="A94D16"/>
              </a:solidFill>
            </c:spPr>
          </c:marker>
          <c:dLbls>
            <c:dLbl>
              <c:idx val="0"/>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w = 20</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Data'!$O$2:$O$2</c:f>
              <c:numCache>
                <c:formatCode>General</c:formatCode>
                <c:ptCount val="1"/>
                <c:pt idx="0">
                  <c:v>103.2</c:v>
                </c:pt>
              </c:numCache>
            </c:numRef>
          </c:xVal>
          <c:yVal>
            <c:numRef>
              <c:f>'Chart Data'!$P$2:$P$2</c:f>
              <c:numCache>
                <c:formatCode>0</c:formatCode>
                <c:ptCount val="1"/>
                <c:pt idx="0">
                  <c:v>20</c:v>
                </c:pt>
              </c:numCache>
            </c:numRef>
          </c:yVal>
          <c:smooth val="0"/>
        </c:ser>
        <c:ser>
          <c:idx val="8"/>
          <c:order val="8"/>
          <c:tx>
            <c:v>50</c:v>
          </c:tx>
          <c:spPr>
            <a:ln xmlns:a="http://schemas.openxmlformats.org/drawingml/2006/main" w="0">
              <a:noFill/>
            </a:ln>
          </c:spPr>
          <c:marker>
            <c:symbol val="none"/>
            <c:size val="8"/>
            <c:spPr>
              <a:solidFill xmlns:a="http://schemas.openxmlformats.org/drawingml/2006/main">
                <a:srgbClr val="1A5276"/>
              </a:solidFill>
            </c:spPr>
          </c:marker>
          <c:dLbls>
            <c:dLbl>
              <c:idx val="0"/>
              <c:tx>
                <c:rich>
                  <a:bodyPr xmlns:a="http://schemas.openxmlformats.org/drawingml/2006/main"/>
                  <a:lstStyle xmlns:a="http://schemas.openxmlformats.org/drawingml/2006/main"/>
                  <a:p xmlns:a="http://schemas.openxmlformats.org/drawingml/2006/main">
                    <a:r>
                      <a:rPr sz="1950" b="1">
                        <a:solidFill>
                          <a:srgbClr val="1A5276"/>
                        </a:solidFill>
                        <a:latin typeface="Arial"/>
                        <a:ea typeface="Arial"/>
                        <a:cs typeface="Arial"/>
                      </a:rPr>
                      <a:t>50</a:t>
                    </a:r>
                  </a:p>
                </c:rich>
              </c:tx>
              <c:txPr>
                <a:bodyPr xmlns:a="http://schemas.openxmlformats.org/drawingml/2006/main" anchorCtr="1"/>
                <a:lstStyle xmlns:a="http://schemas.openxmlformats.org/drawingml/2006/main"/>
                <a:p xmlns:a="http://schemas.openxmlformats.org/drawingml/2006/main">
                  <a:pPr>
                    <a:defRPr sz="1950" b="1">
                      <a:solidFill>
                        <a:srgbClr val="1A527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Data'!$Q$2:$Q$2</c:f>
              <c:numCache>
                <c:formatCode>General</c:formatCode>
                <c:ptCount val="1"/>
                <c:pt idx="0">
                  <c:v>50</c:v>
                </c:pt>
              </c:numCache>
            </c:numRef>
          </c:xVal>
          <c:yVal>
            <c:numRef>
              <c:f>'Chart Data'!$R$2:$R$2</c:f>
              <c:numCache>
                <c:formatCode>0</c:formatCode>
                <c:ptCount val="1"/>
                <c:pt idx="0">
                  <c:v>0</c:v>
                </c:pt>
              </c:numCache>
            </c:numRef>
          </c:yVal>
          <c:smooth val="0"/>
        </c:ser>
        <c:ser>
          <c:idx val="9"/>
          <c:order val="9"/>
          <c:tx>
            <c:v>70</c:v>
          </c:tx>
          <c:spPr>
            <a:ln xmlns:a="http://schemas.openxmlformats.org/drawingml/2006/main" w="0">
              <a:noFill/>
            </a:ln>
          </c:spPr>
          <c:marker>
            <c:symbol val="none"/>
            <c:size val="8"/>
            <c:spPr>
              <a:solidFill xmlns:a="http://schemas.openxmlformats.org/drawingml/2006/main">
                <a:srgbClr val="1E8449"/>
              </a:solidFill>
            </c:spPr>
          </c:marker>
          <c:dLbls>
            <c:dLbl>
              <c:idx val="0"/>
              <c:tx>
                <c:rich>
                  <a:bodyPr xmlns:a="http://schemas.openxmlformats.org/drawingml/2006/main"/>
                  <a:lstStyle xmlns:a="http://schemas.openxmlformats.org/drawingml/2006/main"/>
                  <a:p xmlns:a="http://schemas.openxmlformats.org/drawingml/2006/main">
                    <a:r>
                      <a:rPr sz="1950" b="1">
                        <a:solidFill>
                          <a:srgbClr val="1E8449"/>
                        </a:solidFill>
                        <a:latin typeface="Arial"/>
                        <a:ea typeface="Arial"/>
                        <a:cs typeface="Arial"/>
                      </a:rPr>
                      <a:t>70</a:t>
                    </a:r>
                  </a:p>
                </c:rich>
              </c:tx>
              <c:txPr>
                <a:bodyPr xmlns:a="http://schemas.openxmlformats.org/drawingml/2006/main" anchorCtr="1"/>
                <a:lstStyle xmlns:a="http://schemas.openxmlformats.org/drawingml/2006/main"/>
                <a:p xmlns:a="http://schemas.openxmlformats.org/drawingml/2006/main">
                  <a:pPr>
                    <a:defRPr sz="1950" b="1">
                      <a:solidFill>
                        <a:srgbClr val="1E8449"/>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Data'!$S$2:$S$2</c:f>
              <c:numCache>
                <c:formatCode>General</c:formatCode>
                <c:ptCount val="1"/>
                <c:pt idx="0">
                  <c:v>70</c:v>
                </c:pt>
              </c:numCache>
            </c:numRef>
          </c:xVal>
          <c:yVal>
            <c:numRef>
              <c:f>'Chart Data'!$T$2:$T$2</c:f>
              <c:numCache>
                <c:formatCode>0</c:formatCode>
                <c:ptCount val="1"/>
                <c:pt idx="0">
                  <c:v>0</c:v>
                </c:pt>
              </c:numCache>
            </c:numRef>
          </c:yVal>
          <c:smooth val="0"/>
        </c:ser>
        <c:ser>
          <c:idx val="10"/>
          <c:order val="10"/>
          <c:tx>
            <c:v>Aanbodoverschot</c:v>
          </c:tx>
          <c:spPr>
            <a:ln xmlns:a="http://schemas.openxmlformats.org/drawingml/2006/main" w="66675">
              <a:solidFill>
                <a:srgbClr val="A94D16"/>
              </a:solidFill>
              <a:prstDash val="solid"/>
            </a:ln>
          </c:spPr>
          <c:marker>
            <c:symbol val="none"/>
          </c:marker>
          <c:xVal>
            <c:numRef>
              <c:f>'Chart Data'!$U$2:$U$3</c:f>
              <c:numCache>
                <c:formatCode>General</c:formatCode>
                <c:ptCount val="2"/>
                <c:pt idx="0">
                  <c:v>50</c:v>
                </c:pt>
                <c:pt idx="1">
                  <c:v>70</c:v>
                </c:pt>
              </c:numCache>
            </c:numRef>
          </c:xVal>
          <c:yVal>
            <c:numRef>
              <c:f>'Chart Data'!$V$2:$V$3</c:f>
              <c:numCache>
                <c:formatCode>0</c:formatCode>
                <c:ptCount val="2"/>
                <c:pt idx="0">
                  <c:v>20</c:v>
                </c:pt>
                <c:pt idx="1">
                  <c:v>20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w (€ per uur)</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12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L (personen)</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Lᵥ</c:v>
          </c:tx>
          <c:spPr>
            <a:ln xmlns:a="http://schemas.openxmlformats.org/drawingml/2006/main" w="38100">
              <a:solidFill>
                <a:srgbClr val="1A5276"/>
              </a:solidFill>
              <a:prstDash val="solid"/>
            </a:ln>
          </c:spPr>
          <c:marker>
            <c:symbol val="none"/>
          </c:marker>
          <c:xVal>
            <c:numRef>
              <c:f>'Chart Data'!$A$2:$A$3</c:f>
              <c:numCache>
                <c:formatCode>General</c:formatCode>
                <c:ptCount val="2"/>
                <c:pt idx="0">
                  <c:v>0</c:v>
                </c:pt>
                <c:pt idx="1">
                  <c:v>200</c:v>
                </c:pt>
              </c:numCache>
            </c:numRef>
          </c:xVal>
          <c:yVal>
            <c:numRef>
              <c:f>'Chart Data'!$B$2:$B$3</c:f>
              <c:numCache>
                <c:formatCode>0</c:formatCode>
                <c:ptCount val="2"/>
                <c:pt idx="0">
                  <c:v>22</c:v>
                </c:pt>
                <c:pt idx="1">
                  <c:v>2</c:v>
                </c:pt>
              </c:numCache>
            </c:numRef>
          </c:yVal>
          <c:smooth val="0"/>
        </c:ser>
        <c:ser>
          <c:idx val="1"/>
          <c:order val="1"/>
          <c:tx>
            <c:v>Lₐ</c:v>
          </c:tx>
          <c:spPr>
            <a:ln xmlns:a="http://schemas.openxmlformats.org/drawingml/2006/main" w="38100">
              <a:solidFill>
                <a:srgbClr val="1E8449"/>
              </a:solidFill>
              <a:prstDash val="solid"/>
            </a:ln>
          </c:spPr>
          <c:marker>
            <c:symbol val="none"/>
          </c:marker>
          <c:xVal>
            <c:numRef>
              <c:f>'Chart Data'!$C$2:$C$3</c:f>
              <c:numCache>
                <c:formatCode>General</c:formatCode>
                <c:ptCount val="2"/>
                <c:pt idx="0">
                  <c:v>0</c:v>
                </c:pt>
                <c:pt idx="1">
                  <c:v>200</c:v>
                </c:pt>
              </c:numCache>
            </c:numRef>
          </c:xVal>
          <c:yVal>
            <c:numRef>
              <c:f>'Chart Data'!$D$2:$D$3</c:f>
              <c:numCache>
                <c:formatCode>0</c:formatCode>
                <c:ptCount val="2"/>
                <c:pt idx="0">
                  <c:v>2</c:v>
                </c:pt>
                <c:pt idx="1">
                  <c:v>22</c:v>
                </c:pt>
              </c:numCache>
            </c:numRef>
          </c:yVal>
          <c:smooth val="0"/>
        </c:ser>
        <c:ser>
          <c:idx val="2"/>
          <c:order val="2"/>
          <c:tx>
            <c:v>Lᵥ</c:v>
          </c:tx>
          <c:spPr>
            <a:ln xmlns:a="http://schemas.openxmlformats.org/drawingml/2006/main" w="0">
              <a:noFill/>
            </a:ln>
          </c:spPr>
          <c:marker>
            <c:symbol val="none"/>
            <c:size val="8"/>
            <c:spPr>
              <a:solidFill xmlns:a="http://schemas.openxmlformats.org/drawingml/2006/main">
                <a:srgbClr val="1A5276"/>
              </a:solidFill>
            </c:spPr>
          </c:marker>
          <c:dLbls>
            <c:dLbl>
              <c:idx val="0"/>
              <c:tx>
                <c:rich>
                  <a:bodyPr xmlns:a="http://schemas.openxmlformats.org/drawingml/2006/main"/>
                  <a:lstStyle xmlns:a="http://schemas.openxmlformats.org/drawingml/2006/main"/>
                  <a:p xmlns:a="http://schemas.openxmlformats.org/drawingml/2006/main">
                    <a:r>
                      <a:rPr sz="1950" b="1">
                        <a:solidFill>
                          <a:srgbClr val="1A5276"/>
                        </a:solidFill>
                        <a:latin typeface="Arial"/>
                        <a:ea typeface="Arial"/>
                        <a:cs typeface="Arial"/>
                      </a:rPr>
                      <a:t>Lᵥ</a:t>
                    </a:r>
                  </a:p>
                </c:rich>
              </c:tx>
              <c:txPr>
                <a:bodyPr xmlns:a="http://schemas.openxmlformats.org/drawingml/2006/main" anchorCtr="1"/>
                <a:lstStyle xmlns:a="http://schemas.openxmlformats.org/drawingml/2006/main"/>
                <a:p xmlns:a="http://schemas.openxmlformats.org/drawingml/2006/main">
                  <a:pPr>
                    <a:defRPr sz="1950" b="1">
                      <a:solidFill>
                        <a:srgbClr val="1A527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20</c:v>
                </c:pt>
              </c:numCache>
            </c:numRef>
          </c:xVal>
          <c:yVal>
            <c:numRef>
              <c:f>'Chart Data'!$F$2:$F$2</c:f>
              <c:numCache>
                <c:formatCode>0</c:formatCode>
                <c:ptCount val="1"/>
                <c:pt idx="0">
                  <c:v>20</c:v>
                </c:pt>
              </c:numCache>
            </c:numRef>
          </c:yVal>
          <c:smooth val="0"/>
        </c:ser>
        <c:ser>
          <c:idx val="3"/>
          <c:order val="3"/>
          <c:tx>
            <c:v>Lₐ</c:v>
          </c:tx>
          <c:spPr>
            <a:ln xmlns:a="http://schemas.openxmlformats.org/drawingml/2006/main" w="0">
              <a:noFill/>
            </a:ln>
          </c:spPr>
          <c:marker>
            <c:symbol val="none"/>
            <c:size val="8"/>
            <c:spPr>
              <a:solidFill xmlns:a="http://schemas.openxmlformats.org/drawingml/2006/main">
                <a:srgbClr val="1E8449"/>
              </a:solidFill>
            </c:spPr>
          </c:marker>
          <c:dLbls>
            <c:dLbl>
              <c:idx val="0"/>
              <c:tx>
                <c:rich>
                  <a:bodyPr xmlns:a="http://schemas.openxmlformats.org/drawingml/2006/main"/>
                  <a:lstStyle xmlns:a="http://schemas.openxmlformats.org/drawingml/2006/main"/>
                  <a:p xmlns:a="http://schemas.openxmlformats.org/drawingml/2006/main">
                    <a:r>
                      <a:rPr sz="1950" b="1">
                        <a:solidFill>
                          <a:srgbClr val="1E8449"/>
                        </a:solidFill>
                        <a:latin typeface="Arial"/>
                        <a:ea typeface="Arial"/>
                        <a:cs typeface="Arial"/>
                      </a:rPr>
                      <a:t>Lₐ</a:t>
                    </a:r>
                  </a:p>
                </c:rich>
              </c:tx>
              <c:txPr>
                <a:bodyPr xmlns:a="http://schemas.openxmlformats.org/drawingml/2006/main" anchorCtr="1"/>
                <a:lstStyle xmlns:a="http://schemas.openxmlformats.org/drawingml/2006/main"/>
                <a:p xmlns:a="http://schemas.openxmlformats.org/drawingml/2006/main">
                  <a:pPr>
                    <a:defRPr sz="1950" b="1">
                      <a:solidFill>
                        <a:srgbClr val="1E8449"/>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180</c:v>
                </c:pt>
              </c:numCache>
            </c:numRef>
          </c:xVal>
          <c:yVal>
            <c:numRef>
              <c:f>'Chart Data'!$H$2:$H$2</c:f>
              <c:numCache>
                <c:formatCode>0</c:formatCode>
                <c:ptCount val="1"/>
                <c:pt idx="0">
                  <c:v>20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w (€ per uur)</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22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L (personen)</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4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Lᵥ</c:v>
          </c:tx>
          <c:spPr>
            <a:ln xmlns:a="http://schemas.openxmlformats.org/drawingml/2006/main" w="38100">
              <a:solidFill>
                <a:srgbClr val="1A5276"/>
              </a:solidFill>
              <a:prstDash val="solid"/>
            </a:ln>
          </c:spPr>
          <c:marker>
            <c:symbol val="none"/>
          </c:marker>
          <c:xVal>
            <c:numRef>
              <c:f>'Chart Data'!$A$2:$A$3</c:f>
              <c:numCache>
                <c:formatCode>General</c:formatCode>
                <c:ptCount val="2"/>
                <c:pt idx="0">
                  <c:v>0</c:v>
                </c:pt>
                <c:pt idx="1">
                  <c:v>200</c:v>
                </c:pt>
              </c:numCache>
            </c:numRef>
          </c:xVal>
          <c:yVal>
            <c:numRef>
              <c:f>'Chart Data'!$B$2:$B$3</c:f>
              <c:numCache>
                <c:formatCode>0</c:formatCode>
                <c:ptCount val="2"/>
                <c:pt idx="0">
                  <c:v>22</c:v>
                </c:pt>
                <c:pt idx="1">
                  <c:v>2</c:v>
                </c:pt>
              </c:numCache>
            </c:numRef>
          </c:yVal>
          <c:smooth val="0"/>
        </c:ser>
        <c:ser>
          <c:idx val="1"/>
          <c:order val="1"/>
          <c:tx>
            <c:v>Lₐ</c:v>
          </c:tx>
          <c:spPr>
            <a:ln xmlns:a="http://schemas.openxmlformats.org/drawingml/2006/main" w="38100">
              <a:solidFill>
                <a:srgbClr val="1E8449"/>
              </a:solidFill>
              <a:prstDash val="solid"/>
            </a:ln>
          </c:spPr>
          <c:marker>
            <c:symbol val="none"/>
          </c:marker>
          <c:xVal>
            <c:numRef>
              <c:f>'Chart Data'!$C$2:$C$3</c:f>
              <c:numCache>
                <c:formatCode>General</c:formatCode>
                <c:ptCount val="2"/>
                <c:pt idx="0">
                  <c:v>0</c:v>
                </c:pt>
                <c:pt idx="1">
                  <c:v>200</c:v>
                </c:pt>
              </c:numCache>
            </c:numRef>
          </c:xVal>
          <c:yVal>
            <c:numRef>
              <c:f>'Chart Data'!$D$2:$D$3</c:f>
              <c:numCache>
                <c:formatCode>0</c:formatCode>
                <c:ptCount val="2"/>
                <c:pt idx="0">
                  <c:v>2</c:v>
                </c:pt>
                <c:pt idx="1">
                  <c:v>22</c:v>
                </c:pt>
              </c:numCache>
            </c:numRef>
          </c:yVal>
          <c:smooth val="0"/>
        </c:ser>
        <c:ser>
          <c:idx val="2"/>
          <c:order val="2"/>
          <c:tx>
            <c:v>Lᵥ</c:v>
          </c:tx>
          <c:spPr>
            <a:ln xmlns:a="http://schemas.openxmlformats.org/drawingml/2006/main" w="0">
              <a:noFill/>
            </a:ln>
          </c:spPr>
          <c:marker>
            <c:symbol val="none"/>
            <c:size val="8"/>
            <c:spPr>
              <a:solidFill xmlns:a="http://schemas.openxmlformats.org/drawingml/2006/main">
                <a:srgbClr val="1A5276"/>
              </a:solidFill>
            </c:spPr>
          </c:marker>
          <c:dLbls>
            <c:dLbl>
              <c:idx val="0"/>
              <c:tx>
                <c:rich>
                  <a:bodyPr xmlns:a="http://schemas.openxmlformats.org/drawingml/2006/main"/>
                  <a:lstStyle xmlns:a="http://schemas.openxmlformats.org/drawingml/2006/main"/>
                  <a:p xmlns:a="http://schemas.openxmlformats.org/drawingml/2006/main">
                    <a:r>
                      <a:rPr sz="1950" b="1">
                        <a:solidFill>
                          <a:srgbClr val="1A5276"/>
                        </a:solidFill>
                        <a:latin typeface="Arial"/>
                        <a:ea typeface="Arial"/>
                        <a:cs typeface="Arial"/>
                      </a:rPr>
                      <a:t>Lᵥ</a:t>
                    </a:r>
                  </a:p>
                </c:rich>
              </c:tx>
              <c:txPr>
                <a:bodyPr xmlns:a="http://schemas.openxmlformats.org/drawingml/2006/main" anchorCtr="1"/>
                <a:lstStyle xmlns:a="http://schemas.openxmlformats.org/drawingml/2006/main"/>
                <a:p xmlns:a="http://schemas.openxmlformats.org/drawingml/2006/main">
                  <a:pPr>
                    <a:defRPr sz="1950" b="1">
                      <a:solidFill>
                        <a:srgbClr val="1A527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20</c:v>
                </c:pt>
              </c:numCache>
            </c:numRef>
          </c:xVal>
          <c:yVal>
            <c:numRef>
              <c:f>'Chart Data'!$F$2:$F$2</c:f>
              <c:numCache>
                <c:formatCode>0</c:formatCode>
                <c:ptCount val="1"/>
                <c:pt idx="0">
                  <c:v>20</c:v>
                </c:pt>
              </c:numCache>
            </c:numRef>
          </c:yVal>
          <c:smooth val="0"/>
        </c:ser>
        <c:ser>
          <c:idx val="3"/>
          <c:order val="3"/>
          <c:tx>
            <c:v>Lₐ</c:v>
          </c:tx>
          <c:spPr>
            <a:ln xmlns:a="http://schemas.openxmlformats.org/drawingml/2006/main" w="0">
              <a:noFill/>
            </a:ln>
          </c:spPr>
          <c:marker>
            <c:symbol val="none"/>
            <c:size val="8"/>
            <c:spPr>
              <a:solidFill xmlns:a="http://schemas.openxmlformats.org/drawingml/2006/main">
                <a:srgbClr val="1E8449"/>
              </a:solidFill>
            </c:spPr>
          </c:marker>
          <c:dLbls>
            <c:dLbl>
              <c:idx val="0"/>
              <c:tx>
                <c:rich>
                  <a:bodyPr xmlns:a="http://schemas.openxmlformats.org/drawingml/2006/main"/>
                  <a:lstStyle xmlns:a="http://schemas.openxmlformats.org/drawingml/2006/main"/>
                  <a:p xmlns:a="http://schemas.openxmlformats.org/drawingml/2006/main">
                    <a:r>
                      <a:rPr sz="1950" b="1">
                        <a:solidFill>
                          <a:srgbClr val="1E8449"/>
                        </a:solidFill>
                        <a:latin typeface="Arial"/>
                        <a:ea typeface="Arial"/>
                        <a:cs typeface="Arial"/>
                      </a:rPr>
                      <a:t>Lₐ</a:t>
                    </a:r>
                  </a:p>
                </c:rich>
              </c:tx>
              <c:txPr>
                <a:bodyPr xmlns:a="http://schemas.openxmlformats.org/drawingml/2006/main" anchorCtr="1"/>
                <a:lstStyle xmlns:a="http://schemas.openxmlformats.org/drawingml/2006/main"/>
                <a:p xmlns:a="http://schemas.openxmlformats.org/drawingml/2006/main">
                  <a:pPr>
                    <a:defRPr sz="1950" b="1">
                      <a:solidFill>
                        <a:srgbClr val="1E8449"/>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180</c:v>
                </c:pt>
              </c:numCache>
            </c:numRef>
          </c:xVal>
          <c:yVal>
            <c:numRef>
              <c:f>'Chart Data'!$H$2:$H$2</c:f>
              <c:numCache>
                <c:formatCode>0</c:formatCode>
                <c:ptCount val="1"/>
                <c:pt idx="0">
                  <c:v>20</c:v>
                </c:pt>
              </c:numCache>
            </c:numRef>
          </c:yVal>
          <c:smooth val="0"/>
        </c:ser>
        <c:ser>
          <c:idx val="4"/>
          <c:order val="4"/>
          <c:tx>
            <c:v>Loonvloer</c:v>
          </c:tx>
          <c:spPr>
            <a:ln xmlns:a="http://schemas.openxmlformats.org/drawingml/2006/main" w="28575">
              <a:solidFill>
                <a:srgbClr val="A94D16"/>
              </a:solidFill>
              <a:prstDash val="dash"/>
            </a:ln>
          </c:spPr>
          <c:marker>
            <c:symbol val="none"/>
          </c:marker>
          <c:xVal>
            <c:numRef>
              <c:f>'Chart Data'!$I$2:$I$3</c:f>
              <c:numCache>
                <c:formatCode>General</c:formatCode>
                <c:ptCount val="2"/>
                <c:pt idx="0">
                  <c:v>0</c:v>
                </c:pt>
                <c:pt idx="1">
                  <c:v>220</c:v>
                </c:pt>
              </c:numCache>
            </c:numRef>
          </c:xVal>
          <c:yVal>
            <c:numRef>
              <c:f>'Chart Data'!$J$2:$J$3</c:f>
              <c:numCache>
                <c:formatCode>0</c:formatCode>
                <c:ptCount val="2"/>
                <c:pt idx="0">
                  <c:v>14</c:v>
                </c:pt>
                <c:pt idx="1">
                  <c:v>14</c:v>
                </c:pt>
              </c:numCache>
            </c:numRef>
          </c:yVal>
          <c:smooth val="0"/>
        </c:ser>
        <c:ser>
          <c:idx val="5"/>
          <c:order val="5"/>
          <c:tx>
            <c:v>Gevraagde personen</c:v>
          </c:tx>
          <c:spPr>
            <a:ln xmlns:a="http://schemas.openxmlformats.org/drawingml/2006/main" w="19050">
              <a:solidFill>
                <a:srgbClr val="1A5276"/>
              </a:solidFill>
              <a:prstDash val="dash"/>
            </a:ln>
          </c:spPr>
          <c:marker>
            <c:symbol val="none"/>
          </c:marker>
          <c:xVal>
            <c:numRef>
              <c:f>'Chart Data'!$K$2:$K$3</c:f>
              <c:numCache>
                <c:formatCode>General</c:formatCode>
                <c:ptCount val="2"/>
                <c:pt idx="0">
                  <c:v>80</c:v>
                </c:pt>
                <c:pt idx="1">
                  <c:v>80</c:v>
                </c:pt>
              </c:numCache>
            </c:numRef>
          </c:xVal>
          <c:yVal>
            <c:numRef>
              <c:f>'Chart Data'!$L$2:$L$3</c:f>
              <c:numCache>
                <c:formatCode>0</c:formatCode>
                <c:ptCount val="2"/>
                <c:pt idx="0">
                  <c:v>0</c:v>
                </c:pt>
                <c:pt idx="1">
                  <c:v>14</c:v>
                </c:pt>
              </c:numCache>
            </c:numRef>
          </c:yVal>
          <c:smooth val="0"/>
        </c:ser>
        <c:ser>
          <c:idx val="6"/>
          <c:order val="6"/>
          <c:tx>
            <c:v>Aangeboden personen</c:v>
          </c:tx>
          <c:spPr>
            <a:ln xmlns:a="http://schemas.openxmlformats.org/drawingml/2006/main" w="19050">
              <a:solidFill>
                <a:srgbClr val="1E8449"/>
              </a:solidFill>
              <a:prstDash val="dash"/>
            </a:ln>
          </c:spPr>
          <c:marker>
            <c:symbol val="none"/>
          </c:marker>
          <c:xVal>
            <c:numRef>
              <c:f>'Chart Data'!$M$2:$M$3</c:f>
              <c:numCache>
                <c:formatCode>General</c:formatCode>
                <c:ptCount val="2"/>
                <c:pt idx="0">
                  <c:v>120</c:v>
                </c:pt>
                <c:pt idx="1">
                  <c:v>120</c:v>
                </c:pt>
              </c:numCache>
            </c:numRef>
          </c:xVal>
          <c:yVal>
            <c:numRef>
              <c:f>'Chart Data'!$N$2:$N$3</c:f>
              <c:numCache>
                <c:formatCode>0</c:formatCode>
                <c:ptCount val="2"/>
                <c:pt idx="0">
                  <c:v>0</c:v>
                </c:pt>
                <c:pt idx="1">
                  <c:v>14</c:v>
                </c:pt>
              </c:numCache>
            </c:numRef>
          </c:yVal>
          <c:smooth val="0"/>
        </c:ser>
        <c:ser>
          <c:idx val="7"/>
          <c:order val="7"/>
          <c:tx>
            <c:v>w = 14</c:v>
          </c:tx>
          <c:spPr>
            <a:ln xmlns:a="http://schemas.openxmlformats.org/drawingml/2006/main" w="0">
              <a:noFill/>
            </a:ln>
          </c:spPr>
          <c:marker>
            <c:symbol val="none"/>
            <c:size val="8"/>
            <c:spPr>
              <a:solidFill xmlns:a="http://schemas.openxmlformats.org/drawingml/2006/main">
                <a:srgbClr val="A94D16"/>
              </a:solidFill>
            </c:spPr>
          </c:marker>
          <c:dLbls>
            <c:dLbl>
              <c:idx val="0"/>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w = 14</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Data'!$O$2:$O$2</c:f>
              <c:numCache>
                <c:formatCode>General</c:formatCode>
                <c:ptCount val="1"/>
                <c:pt idx="0">
                  <c:v>189.2</c:v>
                </c:pt>
              </c:numCache>
            </c:numRef>
          </c:xVal>
          <c:yVal>
            <c:numRef>
              <c:f>'Chart Data'!$P$2:$P$2</c:f>
              <c:numCache>
                <c:formatCode>0</c:formatCode>
                <c:ptCount val="1"/>
                <c:pt idx="0">
                  <c:v>14</c:v>
                </c:pt>
              </c:numCache>
            </c:numRef>
          </c:yVal>
          <c:smooth val="0"/>
        </c:ser>
        <c:ser>
          <c:idx val="8"/>
          <c:order val="8"/>
          <c:tx>
            <c:v>80</c:v>
          </c:tx>
          <c:spPr>
            <a:ln xmlns:a="http://schemas.openxmlformats.org/drawingml/2006/main" w="0">
              <a:noFill/>
            </a:ln>
          </c:spPr>
          <c:marker>
            <c:symbol val="none"/>
            <c:size val="8"/>
            <c:spPr>
              <a:solidFill xmlns:a="http://schemas.openxmlformats.org/drawingml/2006/main">
                <a:srgbClr val="1A5276"/>
              </a:solidFill>
            </c:spPr>
          </c:marker>
          <c:dLbls>
            <c:dLbl>
              <c:idx val="0"/>
              <c:tx>
                <c:rich>
                  <a:bodyPr xmlns:a="http://schemas.openxmlformats.org/drawingml/2006/main"/>
                  <a:lstStyle xmlns:a="http://schemas.openxmlformats.org/drawingml/2006/main"/>
                  <a:p xmlns:a="http://schemas.openxmlformats.org/drawingml/2006/main">
                    <a:r>
                      <a:rPr sz="1950" b="1">
                        <a:solidFill>
                          <a:srgbClr val="1A5276"/>
                        </a:solidFill>
                        <a:latin typeface="Arial"/>
                        <a:ea typeface="Arial"/>
                        <a:cs typeface="Arial"/>
                      </a:rPr>
                      <a:t>80</a:t>
                    </a:r>
                  </a:p>
                </c:rich>
              </c:tx>
              <c:txPr>
                <a:bodyPr xmlns:a="http://schemas.openxmlformats.org/drawingml/2006/main" anchorCtr="1"/>
                <a:lstStyle xmlns:a="http://schemas.openxmlformats.org/drawingml/2006/main"/>
                <a:p xmlns:a="http://schemas.openxmlformats.org/drawingml/2006/main">
                  <a:pPr>
                    <a:defRPr sz="1950" b="1">
                      <a:solidFill>
                        <a:srgbClr val="1A527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Data'!$Q$2:$Q$2</c:f>
              <c:numCache>
                <c:formatCode>General</c:formatCode>
                <c:ptCount val="1"/>
                <c:pt idx="0">
                  <c:v>80</c:v>
                </c:pt>
              </c:numCache>
            </c:numRef>
          </c:xVal>
          <c:yVal>
            <c:numRef>
              <c:f>'Chart Data'!$R$2:$R$2</c:f>
              <c:numCache>
                <c:formatCode>0</c:formatCode>
                <c:ptCount val="1"/>
                <c:pt idx="0">
                  <c:v>0</c:v>
                </c:pt>
              </c:numCache>
            </c:numRef>
          </c:yVal>
          <c:smooth val="0"/>
        </c:ser>
        <c:ser>
          <c:idx val="9"/>
          <c:order val="9"/>
          <c:tx>
            <c:v>120</c:v>
          </c:tx>
          <c:spPr>
            <a:ln xmlns:a="http://schemas.openxmlformats.org/drawingml/2006/main" w="0">
              <a:noFill/>
            </a:ln>
          </c:spPr>
          <c:marker>
            <c:symbol val="none"/>
            <c:size val="8"/>
            <c:spPr>
              <a:solidFill xmlns:a="http://schemas.openxmlformats.org/drawingml/2006/main">
                <a:srgbClr val="1E8449"/>
              </a:solidFill>
            </c:spPr>
          </c:marker>
          <c:dLbls>
            <c:dLbl>
              <c:idx val="0"/>
              <c:tx>
                <c:rich>
                  <a:bodyPr xmlns:a="http://schemas.openxmlformats.org/drawingml/2006/main"/>
                  <a:lstStyle xmlns:a="http://schemas.openxmlformats.org/drawingml/2006/main"/>
                  <a:p xmlns:a="http://schemas.openxmlformats.org/drawingml/2006/main">
                    <a:r>
                      <a:rPr sz="1950" b="1">
                        <a:solidFill>
                          <a:srgbClr val="1E8449"/>
                        </a:solidFill>
                        <a:latin typeface="Arial"/>
                        <a:ea typeface="Arial"/>
                        <a:cs typeface="Arial"/>
                      </a:rPr>
                      <a:t>120</a:t>
                    </a:r>
                  </a:p>
                </c:rich>
              </c:tx>
              <c:txPr>
                <a:bodyPr xmlns:a="http://schemas.openxmlformats.org/drawingml/2006/main" anchorCtr="1"/>
                <a:lstStyle xmlns:a="http://schemas.openxmlformats.org/drawingml/2006/main"/>
                <a:p xmlns:a="http://schemas.openxmlformats.org/drawingml/2006/main">
                  <a:pPr>
                    <a:defRPr sz="1950" b="1">
                      <a:solidFill>
                        <a:srgbClr val="1E8449"/>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Data'!$S$2:$S$2</c:f>
              <c:numCache>
                <c:formatCode>General</c:formatCode>
                <c:ptCount val="1"/>
                <c:pt idx="0">
                  <c:v>120</c:v>
                </c:pt>
              </c:numCache>
            </c:numRef>
          </c:xVal>
          <c:yVal>
            <c:numRef>
              <c:f>'Chart Data'!$T$2:$T$2</c:f>
              <c:numCache>
                <c:formatCode>0</c:formatCode>
                <c:ptCount val="1"/>
                <c:pt idx="0">
                  <c:v>0</c:v>
                </c:pt>
              </c:numCache>
            </c:numRef>
          </c:yVal>
          <c:smooth val="0"/>
        </c:ser>
        <c:ser>
          <c:idx val="10"/>
          <c:order val="10"/>
          <c:tx>
            <c:v>Aanbodoverschot</c:v>
          </c:tx>
          <c:spPr>
            <a:ln xmlns:a="http://schemas.openxmlformats.org/drawingml/2006/main" w="66675">
              <a:solidFill>
                <a:srgbClr val="A94D16"/>
              </a:solidFill>
              <a:prstDash val="solid"/>
            </a:ln>
          </c:spPr>
          <c:marker>
            <c:symbol val="none"/>
          </c:marker>
          <c:xVal>
            <c:numRef>
              <c:f>'Chart Data'!$U$2:$U$3</c:f>
              <c:numCache>
                <c:formatCode>General</c:formatCode>
                <c:ptCount val="2"/>
                <c:pt idx="0">
                  <c:v>80</c:v>
                </c:pt>
                <c:pt idx="1">
                  <c:v>120</c:v>
                </c:pt>
              </c:numCache>
            </c:numRef>
          </c:xVal>
          <c:yVal>
            <c:numRef>
              <c:f>'Chart Data'!$V$2:$V$3</c:f>
              <c:numCache>
                <c:formatCode>0</c:formatCode>
                <c:ptCount val="2"/>
                <c:pt idx="0">
                  <c:v>14</c:v>
                </c:pt>
                <c:pt idx="1">
                  <c:v>14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w (€ per uur)</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22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L (personen)</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4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3.4 Minimumloon">
            <a:extLst xmlns:a="http://schemas.openxmlformats.org/drawingml/2006/main">
              <a:ext uri="{FF2B5EF4-FFF2-40B4-BE49-F238E27FC236}">
                <a16:creationId xmlns:a16="http://schemas.microsoft.com/office/drawing/2014/main" id="{45FE6893-1CF7-470E-9D41-3EC99ADF3E5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§4.3.4 Minimumloon</a:t>
            </a:r>
          </a:p>
        </p:txBody>
      </p:sp>
      <p:sp>
        <p:nvSpPr>
          <p:cNvPr id="2" name="">
            <a:extLst xmlns:a="http://schemas.openxmlformats.org/drawingml/2006/main">
              <a:ext uri="{FF2B5EF4-FFF2-40B4-BE49-F238E27FC236}">
                <a16:creationId xmlns:a16="http://schemas.microsoft.com/office/drawing/2014/main" id="{E88C5E12-6FA9-4BB4-8C99-7DC98167A0B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a:extLst xmlns:a="http://schemas.openxmlformats.org/drawingml/2006/main">
              <a:ext uri="{FF2B5EF4-FFF2-40B4-BE49-F238E27FC236}">
                <a16:creationId xmlns:a16="http://schemas.microsoft.com/office/drawing/2014/main" id="{EB96E59D-EDB7-4F8D-BC77-5909414C241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a:t>
            </a:r>
          </a:p>
        </p:txBody>
      </p:sp>
      <p:sp>
        <p:nvSpPr>
          <p:cNvPr id="4" name="1">
            <a:extLst xmlns:a="http://schemas.openxmlformats.org/drawingml/2006/main">
              <a:ext uri="{FF2B5EF4-FFF2-40B4-BE49-F238E27FC236}">
                <a16:creationId xmlns:a16="http://schemas.microsoft.com/office/drawing/2014/main" id="{D9F01412-EF7E-4F85-938D-30738A85276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E879D105-4FCB-43E9-9D91-F81A1636188D}"/>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7F99C13B-7B55-41F7-8ECC-01DDE0F4CA7C}"/>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E6CDD731-9048-4AF2-94F6-7257C38E1268}"/>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B6B894E5-54C1-49E3-AAF3-87CBB38F3AC6}"/>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E8B58017-3305-4BF0-8095-CC8B55BE5374}"/>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D3DA878A-9804-44A4-9337-286EE7A60FEF}"/>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8018146A-D406-42D7-8244-C35FC47317A3}"/>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06425972-2640-472D-904F-8FF154433358}"/>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24994FA1-E4C1-4A3E-881B-9425461C965E}"/>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19676E4E-AF89-4E15-84A4-DFC5F9E52BFF}"/>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2DED364F-D078-496C-92C3-CB0484D6936E}"/>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381EEC3B-5699-46B8-8CFE-9470576BD0B7}"/>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BC0732AC-358D-445E-9AED-E9591A4ECCED}"/>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0E6D16A2-5FC9-4F80-9A12-3F5F05FB53B4}"/>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34.</a:t>
            </a:r>
          </a:p>
        </p:txBody>
      </p:sp>
      <p:sp>
        <p:nvSpPr>
          <p:cNvPr id="19" name="route-number-7">
            <a:extLst xmlns:a="http://schemas.openxmlformats.org/drawingml/2006/main">
              <a:ext uri="{FF2B5EF4-FFF2-40B4-BE49-F238E27FC236}">
                <a16:creationId xmlns:a16="http://schemas.microsoft.com/office/drawing/2014/main" id="{601FE596-A7C7-49CB-BFDD-F13D42B0390C}"/>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6E037F39-05C8-4BFE-B0F9-4977C84DF7A2}"/>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FBB109BA-DDAE-4675-AEB3-AD62CCBDBDD3}"/>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F475189E-977A-4E59-914C-A76FB54EA771}"/>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Bindendheid bepalen. Werk 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loonsom berekenen. Gevolgen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voor groepen verklaren.</a:t>
            </a:r>
          </a:p>
        </p:txBody>
      </p:sp>
      <p:sp>
        <p:nvSpPr>
          <p:cNvPr id="23" name="">
            <a:extLst xmlns:a="http://schemas.openxmlformats.org/drawingml/2006/main">
              <a:ext uri="{FF2B5EF4-FFF2-40B4-BE49-F238E27FC236}">
                <a16:creationId xmlns:a16="http://schemas.microsoft.com/office/drawing/2014/main" id="{9D682645-8644-4996-9EB2-957F74EC6858}"/>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46FE894E-5798-4ACE-BCF1-B5E925C6BB1E}"/>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9241DCE3-F02B-4A1F-8662-28CA48553CCE}"/>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145 · Opgaven 28 en 29</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29: verkennen, theorie p. 143</a:t>
            </a:r>
          </a:p>
        </p:txBody>
      </p:sp>
      <p:sp>
        <p:nvSpPr>
          <p:cNvPr id="26" name="">
            <a:extLst xmlns:a="http://schemas.openxmlformats.org/drawingml/2006/main">
              <a:ext uri="{FF2B5EF4-FFF2-40B4-BE49-F238E27FC236}">
                <a16:creationId xmlns:a16="http://schemas.microsoft.com/office/drawing/2014/main" id="{982CB80E-462E-4791-80B6-A01A4170DC94}"/>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39F24557-7B28-44C8-8B56-8E43CE6A21F8}"/>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14265D5D-C1D0-4579-9DB8-3ACC69CAFA98}"/>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§4.3.4 Minimumloon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30 en 31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32 en 33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34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7987083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Wat kun je na deze les?">
            <a:extLst xmlns:a="http://schemas.openxmlformats.org/drawingml/2006/main">
              <a:ext uri="{FF2B5EF4-FFF2-40B4-BE49-F238E27FC236}">
                <a16:creationId xmlns:a16="http://schemas.microsoft.com/office/drawing/2014/main" id="{B1C74DF7-1EFB-4E93-A24E-5651CFF177D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Wat kun je na deze les?</a:t>
            </a:r>
          </a:p>
        </p:txBody>
      </p:sp>
      <p:sp>
        <p:nvSpPr>
          <p:cNvPr id="2" name="">
            <a:extLst xmlns:a="http://schemas.openxmlformats.org/drawingml/2006/main">
              <a:ext uri="{FF2B5EF4-FFF2-40B4-BE49-F238E27FC236}">
                <a16:creationId xmlns:a16="http://schemas.microsoft.com/office/drawing/2014/main" id="{FA9F88A4-D780-427E-870C-F5F019DB5F0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a:extLst xmlns:a="http://schemas.openxmlformats.org/drawingml/2006/main">
              <a:ext uri="{FF2B5EF4-FFF2-40B4-BE49-F238E27FC236}">
                <a16:creationId xmlns:a16="http://schemas.microsoft.com/office/drawing/2014/main" id="{113075FF-B784-458F-8A6F-992F2212908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a:t>
            </a:r>
          </a:p>
        </p:txBody>
      </p:sp>
      <p:sp>
        <p:nvSpPr>
          <p:cNvPr id="4" name="2">
            <a:extLst xmlns:a="http://schemas.openxmlformats.org/drawingml/2006/main">
              <a:ext uri="{FF2B5EF4-FFF2-40B4-BE49-F238E27FC236}">
                <a16:creationId xmlns:a16="http://schemas.microsoft.com/office/drawing/2014/main" id="{A870C264-2D18-4A82-ABB7-5E6B814D218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Bindendheid">
            <a:extLst xmlns:a="http://schemas.openxmlformats.org/drawingml/2006/main">
              <a:ext uri="{FF2B5EF4-FFF2-40B4-BE49-F238E27FC236}">
                <a16:creationId xmlns:a16="http://schemas.microsoft.com/office/drawing/2014/main" id="{247DF63C-5537-4CF4-9C5C-AE7CDBD2FBA0}"/>
              </a:ext>
            </a:extLst>
          </p:cNvPr>
          <p:cNvSpPr>
            <a:spLocks xmlns:a="http://schemas.openxmlformats.org/drawingml/2006/main" noGrp="1"/>
          </p:cNvSpPr>
          <p:nvPr/>
        </p:nvSpPr>
        <p:spPr>
          <a:xfrm xmlns:a="http://schemas.openxmlformats.org/drawingml/2006/main">
            <a:off x="571500" y="201930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Bindendheid</a:t>
            </a:r>
          </a:p>
        </p:txBody>
      </p:sp>
      <p:sp>
        <p:nvSpPr>
          <p:cNvPr id="6" name="Vergelijk de loonvloer met het vrije evenwichtsloon.">
            <a:extLst xmlns:a="http://schemas.openxmlformats.org/drawingml/2006/main">
              <a:ext uri="{FF2B5EF4-FFF2-40B4-BE49-F238E27FC236}">
                <a16:creationId xmlns:a16="http://schemas.microsoft.com/office/drawing/2014/main" id="{E62B1B79-10F9-4253-BE03-A352ABAC1654}"/>
              </a:ext>
            </a:extLst>
          </p:cNvPr>
          <p:cNvSpPr>
            <a:spLocks xmlns:a="http://schemas.openxmlformats.org/drawingml/2006/main" noGrp="1"/>
          </p:cNvSpPr>
          <p:nvPr/>
        </p:nvSpPr>
        <p:spPr>
          <a:xfrm xmlns:a="http://schemas.openxmlformats.org/drawingml/2006/main">
            <a:off x="5334000" y="2019300"/>
            <a:ext cx="933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Vergelijk de loonvloer met het vrije evenwichtsloon.</a:t>
            </a:r>
          </a:p>
        </p:txBody>
      </p:sp>
      <p:sp>
        <p:nvSpPr>
          <p:cNvPr id="7" name="Betaald werk">
            <a:extLst xmlns:a="http://schemas.openxmlformats.org/drawingml/2006/main">
              <a:ext uri="{FF2B5EF4-FFF2-40B4-BE49-F238E27FC236}">
                <a16:creationId xmlns:a16="http://schemas.microsoft.com/office/drawing/2014/main" id="{0297302D-596B-463A-A116-4361DEBD972D}"/>
              </a:ext>
            </a:extLst>
          </p:cNvPr>
          <p:cNvSpPr>
            <a:spLocks xmlns:a="http://schemas.openxmlformats.org/drawingml/2006/main" noGrp="1"/>
          </p:cNvSpPr>
          <p:nvPr/>
        </p:nvSpPr>
        <p:spPr>
          <a:xfrm xmlns:a="http://schemas.openxmlformats.org/drawingml/2006/main">
            <a:off x="571500" y="340042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Betaald werk</a:t>
            </a:r>
          </a:p>
        </p:txBody>
      </p:sp>
      <p:sp>
        <p:nvSpPr>
          <p:cNvPr id="8" name="Bereken vraag, aanbod, werkgelegenheid en overschot.">
            <a:extLst xmlns:a="http://schemas.openxmlformats.org/drawingml/2006/main">
              <a:ext uri="{FF2B5EF4-FFF2-40B4-BE49-F238E27FC236}">
                <a16:creationId xmlns:a16="http://schemas.microsoft.com/office/drawing/2014/main" id="{7968AEBF-508D-40CE-81FC-263E81BA5D59}"/>
              </a:ext>
            </a:extLst>
          </p:cNvPr>
          <p:cNvSpPr>
            <a:spLocks xmlns:a="http://schemas.openxmlformats.org/drawingml/2006/main" noGrp="1"/>
          </p:cNvSpPr>
          <p:nvPr/>
        </p:nvSpPr>
        <p:spPr>
          <a:xfrm xmlns:a="http://schemas.openxmlformats.org/drawingml/2006/main">
            <a:off x="5334000" y="3400425"/>
            <a:ext cx="933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Bereken vraag, aanbod, werkgelegenheid en overschot.</a:t>
            </a:r>
          </a:p>
        </p:txBody>
      </p:sp>
      <p:sp>
        <p:nvSpPr>
          <p:cNvPr id="9" name="Loonsom">
            <a:extLst xmlns:a="http://schemas.openxmlformats.org/drawingml/2006/main">
              <a:ext uri="{FF2B5EF4-FFF2-40B4-BE49-F238E27FC236}">
                <a16:creationId xmlns:a16="http://schemas.microsoft.com/office/drawing/2014/main" id="{FBDEDFB1-C306-42A7-864A-EC346C254CDF}"/>
              </a:ext>
            </a:extLst>
          </p:cNvPr>
          <p:cNvSpPr>
            <a:spLocks xmlns:a="http://schemas.openxmlformats.org/drawingml/2006/main" noGrp="1"/>
          </p:cNvSpPr>
          <p:nvPr/>
        </p:nvSpPr>
        <p:spPr>
          <a:xfrm xmlns:a="http://schemas.openxmlformats.org/drawingml/2006/main">
            <a:off x="571500" y="47815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Loonsom</a:t>
            </a:r>
          </a:p>
        </p:txBody>
      </p:sp>
      <p:sp>
        <p:nvSpPr>
          <p:cNvPr id="10" name="Reken personen om naar betaalde uren per week.">
            <a:extLst xmlns:a="http://schemas.openxmlformats.org/drawingml/2006/main">
              <a:ext uri="{FF2B5EF4-FFF2-40B4-BE49-F238E27FC236}">
                <a16:creationId xmlns:a16="http://schemas.microsoft.com/office/drawing/2014/main" id="{CFFB140D-0C1D-4E09-9B51-C8A0C4E0FD23}"/>
              </a:ext>
            </a:extLst>
          </p:cNvPr>
          <p:cNvSpPr>
            <a:spLocks xmlns:a="http://schemas.openxmlformats.org/drawingml/2006/main" noGrp="1"/>
          </p:cNvSpPr>
          <p:nvPr/>
        </p:nvSpPr>
        <p:spPr>
          <a:xfrm xmlns:a="http://schemas.openxmlformats.org/drawingml/2006/main">
            <a:off x="5334000" y="4781550"/>
            <a:ext cx="933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Reken personen om naar betaalde uren per week.</a:t>
            </a:r>
          </a:p>
        </p:txBody>
      </p:sp>
      <p:sp>
        <p:nvSpPr>
          <p:cNvPr id="11" name="Verdeling">
            <a:extLst xmlns:a="http://schemas.openxmlformats.org/drawingml/2006/main">
              <a:ext uri="{FF2B5EF4-FFF2-40B4-BE49-F238E27FC236}">
                <a16:creationId xmlns:a16="http://schemas.microsoft.com/office/drawing/2014/main" id="{74788D2E-35C8-43DA-818F-349D062C9FBB}"/>
              </a:ext>
            </a:extLst>
          </p:cNvPr>
          <p:cNvSpPr>
            <a:spLocks xmlns:a="http://schemas.openxmlformats.org/drawingml/2006/main" noGrp="1"/>
          </p:cNvSpPr>
          <p:nvPr/>
        </p:nvSpPr>
        <p:spPr>
          <a:xfrm xmlns:a="http://schemas.openxmlformats.org/drawingml/2006/main">
            <a:off x="571500" y="616267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Verdeling</a:t>
            </a:r>
          </a:p>
        </p:txBody>
      </p:sp>
      <p:sp>
        <p:nvSpPr>
          <p:cNvPr id="12" name="Verklaar wie een hoger inkomen krijgt en wie niet.">
            <a:extLst xmlns:a="http://schemas.openxmlformats.org/drawingml/2006/main">
              <a:ext uri="{FF2B5EF4-FFF2-40B4-BE49-F238E27FC236}">
                <a16:creationId xmlns:a16="http://schemas.microsoft.com/office/drawing/2014/main" id="{E8A4880F-0E72-49A1-8F38-23B487A398CA}"/>
              </a:ext>
            </a:extLst>
          </p:cNvPr>
          <p:cNvSpPr>
            <a:spLocks xmlns:a="http://schemas.openxmlformats.org/drawingml/2006/main" noGrp="1"/>
          </p:cNvSpPr>
          <p:nvPr/>
        </p:nvSpPr>
        <p:spPr>
          <a:xfrm xmlns:a="http://schemas.openxmlformats.org/drawingml/2006/main">
            <a:off x="5334000" y="6162675"/>
            <a:ext cx="933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Verklaar wie een hoger inkomen krijgt en wie niet.</a:t>
            </a:r>
          </a:p>
        </p:txBody>
      </p:sp>
    </p:spTree>
    <p:extLst>
      <p:ext uri="{BB962C8B-B14F-4D97-AF65-F5344CB8AC3E}">
        <p14:creationId xmlns:p14="http://schemas.microsoft.com/office/powerpoint/2010/main" val="479717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Minimumprijs en minimumloon">
            <a:extLst xmlns:a="http://schemas.openxmlformats.org/drawingml/2006/main">
              <a:ext uri="{FF2B5EF4-FFF2-40B4-BE49-F238E27FC236}">
                <a16:creationId xmlns:a16="http://schemas.microsoft.com/office/drawing/2014/main" id="{E927E54B-A939-459D-BB97-3E28D7DC7B0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Minimumprijs en minimumloon</a:t>
            </a:r>
          </a:p>
        </p:txBody>
      </p:sp>
      <p:sp>
        <p:nvSpPr>
          <p:cNvPr id="2" name="">
            <a:extLst xmlns:a="http://schemas.openxmlformats.org/drawingml/2006/main">
              <a:ext uri="{FF2B5EF4-FFF2-40B4-BE49-F238E27FC236}">
                <a16:creationId xmlns:a16="http://schemas.microsoft.com/office/drawing/2014/main" id="{18D73C7B-F6CA-4505-B07F-F4299ED34DB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a:extLst xmlns:a="http://schemas.openxmlformats.org/drawingml/2006/main">
              <a:ext uri="{FF2B5EF4-FFF2-40B4-BE49-F238E27FC236}">
                <a16:creationId xmlns:a16="http://schemas.microsoft.com/office/drawing/2014/main" id="{B6F96210-874E-4135-BE07-89C00408015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a:t>
            </a:r>
          </a:p>
        </p:txBody>
      </p:sp>
      <p:sp>
        <p:nvSpPr>
          <p:cNvPr id="4" name="3">
            <a:extLst xmlns:a="http://schemas.openxmlformats.org/drawingml/2006/main">
              <a:ext uri="{FF2B5EF4-FFF2-40B4-BE49-F238E27FC236}">
                <a16:creationId xmlns:a16="http://schemas.microsoft.com/office/drawing/2014/main" id="{5196F05E-0954-4BF8-9D9F-02F7203D4C7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graphicFrame>
        <p:nvGraphicFramePr>
          <p:cNvPr id="11" name=""/>
          <p:cNvGraphicFramePr/>
          <p:nvPr/>
        </p:nvGraphicFramePr>
        <p:xfrm>
          <a:off xmlns:a="http://schemas.openxmlformats.org/drawingml/2006/main" x="571500" y="2047875"/>
          <a:ext xmlns:a="http://schemas.openxmlformats.org/drawingml/2006/main" cx="14097000" cy="4191000"/>
        </p:xfrm>
        <a:graphic xmlns:a="http://schemas.openxmlformats.org/drawingml/2006/main">
          <a:graphicData uri="http://schemas.openxmlformats.org/drawingml/2006/table">
            <a:tbl>
              <a:tblPr/>
              <a:tblGrid>
                <a:gridCol w="7048500"/>
                <a:gridCol w="7048500"/>
              </a:tblGrid>
              <a:tr h="838200">
                <a:tc>
                  <a:txBody>
                    <a:bodyPr lIns="161925" tIns="95250" rIns="142875" bIns="95250"/>
                    <a:lstStyle/>
                    <a:p>
                      <a:r>
                        <a:rPr sz="2625" b="1">
                          <a:solidFill>
                            <a:srgbClr val="FFFFFF"/>
                          </a:solidFill>
                          <a:latin typeface="Arial"/>
                          <a:ea typeface="Arial"/>
                          <a:cs typeface="Arial"/>
                        </a:rPr>
                        <a:t>Bekende goederenmarkt</a:t>
                      </a:r>
                    </a:p>
                  </a:txBody>
                  <a:tcPr marL="91440" marR="91440" marT="45720" marB="45720" anchor="ctr">
                    <a:solidFill>
                      <a:srgbClr val="183247"/>
                    </a:solidFill>
                  </a:tcPr>
                </a:tc>
                <a:tc>
                  <a:txBody>
                    <a:bodyPr lIns="161925" tIns="95250" rIns="142875" bIns="95250"/>
                    <a:lstStyle/>
                    <a:p>
                      <a:r>
                        <a:rPr sz="2625" b="1">
                          <a:solidFill>
                            <a:srgbClr val="FFFFFF"/>
                          </a:solidFill>
                          <a:latin typeface="Arial"/>
                          <a:ea typeface="Arial"/>
                          <a:cs typeface="Arial"/>
                        </a:rPr>
                        <a:t>Arbeidsmarkt</a:t>
                      </a:r>
                    </a:p>
                  </a:txBody>
                  <a:tcPr marL="91440" marR="91440" marT="45720" marB="45720" anchor="ctr">
                    <a:solidFill>
                      <a:srgbClr val="183247"/>
                    </a:solidFill>
                  </a:tcPr>
                </a:tc>
              </a:tr>
              <a:tr h="838200">
                <a:tc>
                  <a:txBody>
                    <a:bodyPr lIns="161925" tIns="95250" rIns="142875" bIns="95250"/>
                    <a:lstStyle/>
                    <a:p>
                      <a:r>
                        <a:rPr sz="2625" b="0">
                          <a:solidFill>
                            <a:srgbClr val="183247"/>
                          </a:solidFill>
                          <a:latin typeface="Arial"/>
                          <a:ea typeface="Arial"/>
                          <a:cs typeface="Arial"/>
                        </a:rPr>
                        <a:t>Prijs P per product</a:t>
                      </a:r>
                    </a:p>
                  </a:txBody>
                  <a:tcPr marL="91440" marR="91440" marT="45720" marB="45720" anchor="ctr">
                    <a:solidFill>
                      <a:srgbClr val="FFFFFF"/>
                    </a:solidFill>
                  </a:tcPr>
                </a:tc>
                <a:tc>
                  <a:txBody>
                    <a:bodyPr lIns="161925" tIns="95250" rIns="142875" bIns="95250"/>
                    <a:lstStyle/>
                    <a:p>
                      <a:r>
                        <a:rPr sz="2625" b="0">
                          <a:solidFill>
                            <a:srgbClr val="183247"/>
                          </a:solidFill>
                          <a:latin typeface="Arial"/>
                          <a:ea typeface="Arial"/>
                          <a:cs typeface="Arial"/>
                        </a:rPr>
                        <a:t>Uurloon w</a:t>
                      </a:r>
                    </a:p>
                  </a:txBody>
                  <a:tcPr marL="91440" marR="91440" marT="45720" marB="45720" anchor="ctr">
                    <a:solidFill>
                      <a:srgbClr val="FFFFFF"/>
                    </a:solidFill>
                  </a:tcPr>
                </a:tc>
              </a:tr>
              <a:tr h="838200">
                <a:tc>
                  <a:txBody>
                    <a:bodyPr lIns="161925" tIns="95250" rIns="142875" bIns="95250"/>
                    <a:lstStyle/>
                    <a:p>
                      <a:r>
                        <a:rPr sz="2625" b="0">
                          <a:solidFill>
                            <a:srgbClr val="183247"/>
                          </a:solidFill>
                          <a:latin typeface="Arial"/>
                          <a:ea typeface="Arial"/>
                          <a:cs typeface="Arial"/>
                        </a:rPr>
                        <a:t>Producten Q</a:t>
                      </a:r>
                    </a:p>
                  </a:txBody>
                  <a:tcPr marL="91440" marR="91440" marT="45720" marB="45720" anchor="ctr">
                    <a:solidFill>
                      <a:srgbClr val="EFF4F7"/>
                    </a:solidFill>
                  </a:tcPr>
                </a:tc>
                <a:tc>
                  <a:txBody>
                    <a:bodyPr lIns="161925" tIns="95250" rIns="142875" bIns="95250"/>
                    <a:lstStyle/>
                    <a:p>
                      <a:r>
                        <a:rPr sz="2625" b="0">
                          <a:solidFill>
                            <a:srgbClr val="183247"/>
                          </a:solidFill>
                          <a:latin typeface="Arial"/>
                          <a:ea typeface="Arial"/>
                          <a:cs typeface="Arial"/>
                        </a:rPr>
                        <a:t>Arbeid L: personen of uren</a:t>
                      </a:r>
                    </a:p>
                  </a:txBody>
                  <a:tcPr marL="91440" marR="91440" marT="45720" marB="45720" anchor="ctr">
                    <a:solidFill>
                      <a:srgbClr val="EFF4F7"/>
                    </a:solidFill>
                  </a:tcPr>
                </a:tc>
              </a:tr>
              <a:tr h="838200">
                <a:tc>
                  <a:txBody>
                    <a:bodyPr lIns="161925" tIns="95250" rIns="142875" bIns="95250"/>
                    <a:lstStyle/>
                    <a:p>
                      <a:r>
                        <a:rPr sz="2625" b="0">
                          <a:solidFill>
                            <a:srgbClr val="183247"/>
                          </a:solidFill>
                          <a:latin typeface="Arial"/>
                          <a:ea typeface="Arial"/>
                          <a:cs typeface="Arial"/>
                        </a:rPr>
                        <a:t>Vraag door kopers</a:t>
                      </a:r>
                    </a:p>
                  </a:txBody>
                  <a:tcPr marL="91440" marR="91440" marT="45720" marB="45720" anchor="ctr">
                    <a:solidFill>
                      <a:srgbClr val="FFFFFF"/>
                    </a:solidFill>
                  </a:tcPr>
                </a:tc>
                <a:tc>
                  <a:txBody>
                    <a:bodyPr lIns="161925" tIns="95250" rIns="142875" bIns="95250"/>
                    <a:lstStyle/>
                    <a:p>
                      <a:r>
                        <a:rPr sz="2625" b="0">
                          <a:solidFill>
                            <a:srgbClr val="183247"/>
                          </a:solidFill>
                          <a:latin typeface="Arial"/>
                          <a:ea typeface="Arial"/>
                          <a:cs typeface="Arial"/>
                        </a:rPr>
                        <a:t>Arbeidsvraag door werkgevers</a:t>
                      </a:r>
                    </a:p>
                  </a:txBody>
                  <a:tcPr marL="91440" marR="91440" marT="45720" marB="45720" anchor="ctr">
                    <a:solidFill>
                      <a:srgbClr val="FFFFFF"/>
                    </a:solidFill>
                  </a:tcPr>
                </a:tc>
              </a:tr>
              <a:tr h="838200">
                <a:tc>
                  <a:txBody>
                    <a:bodyPr lIns="161925" tIns="95250" rIns="142875" bIns="95250"/>
                    <a:lstStyle/>
                    <a:p>
                      <a:r>
                        <a:rPr sz="2625" b="0">
                          <a:solidFill>
                            <a:srgbClr val="183247"/>
                          </a:solidFill>
                          <a:latin typeface="Arial"/>
                          <a:ea typeface="Arial"/>
                          <a:cs typeface="Arial"/>
                        </a:rPr>
                        <a:t>Aanbod is nog geen verkoop</a:t>
                      </a:r>
                    </a:p>
                  </a:txBody>
                  <a:tcPr marL="91440" marR="91440" marT="45720" marB="45720" anchor="ctr">
                    <a:solidFill>
                      <a:srgbClr val="EFF4F7"/>
                    </a:solidFill>
                  </a:tcPr>
                </a:tc>
                <a:tc>
                  <a:txBody>
                    <a:bodyPr lIns="161925" tIns="95250" rIns="142875" bIns="95250"/>
                    <a:lstStyle/>
                    <a:p>
                      <a:r>
                        <a:rPr sz="2625" b="0">
                          <a:solidFill>
                            <a:srgbClr val="183247"/>
                          </a:solidFill>
                          <a:latin typeface="Arial"/>
                          <a:ea typeface="Arial"/>
                          <a:cs typeface="Arial"/>
                        </a:rPr>
                        <a:t>Arbeidsaanbod is nog geen betaald werk</a:t>
                      </a:r>
                    </a:p>
                  </a:txBody>
                  <a:tcPr marL="91440" marR="91440" marT="45720" marB="45720" anchor="ctr">
                    <a:solidFill>
                      <a:srgbClr val="EFF4F7"/>
                    </a:solidFill>
                  </a:tcPr>
                </a:tc>
              </a:tr>
            </a:tbl>
          </a:graphicData>
        </a:graphic>
      </p:graphicFrame>
      <p:sp>
        <p:nvSpPr>
          <p:cNvPr id="6" name="Eerst het vrije evenwicht, daarna de ondergrens.">
            <a:extLst xmlns:a="http://schemas.openxmlformats.org/drawingml/2006/main">
              <a:ext uri="{FF2B5EF4-FFF2-40B4-BE49-F238E27FC236}">
                <a16:creationId xmlns:a16="http://schemas.microsoft.com/office/drawing/2014/main" id="{29310B5D-B5CC-4F5A-A8A0-01E452854AA1}"/>
              </a:ext>
            </a:extLst>
          </p:cNvPr>
          <p:cNvSpPr>
            <a:spLocks xmlns:a="http://schemas.openxmlformats.org/drawingml/2006/main" noGrp="1"/>
          </p:cNvSpPr>
          <p:nvPr/>
        </p:nvSpPr>
        <p:spPr>
          <a:xfrm xmlns:a="http://schemas.openxmlformats.org/drawingml/2006/main">
            <a:off x="571500" y="6877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A5276"/>
                </a:solidFill>
                <a:latin typeface="Arial"/>
                <a:ea typeface="Arial"/>
                <a:cs typeface="Arial"/>
              </a:defRPr>
            </a:pPr>
            <a:r>
              <a:rPr sz="3150" b="1">
                <a:solidFill>
                  <a:srgbClr val="1A5276"/>
                </a:solidFill>
                <a:latin typeface="Arial"/>
                <a:ea typeface="Arial"/>
                <a:cs typeface="Arial"/>
              </a:rPr>
              <a:t>Eerst het vrije evenwicht, daarna de ondergrens.</a:t>
            </a:r>
          </a:p>
        </p:txBody>
      </p:sp>
    </p:spTree>
    <p:extLst>
      <p:ext uri="{BB962C8B-B14F-4D97-AF65-F5344CB8AC3E}">
        <p14:creationId xmlns:p14="http://schemas.microsoft.com/office/powerpoint/2010/main" val="10842176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paratiewerkplaatsen">
            <a:extLst xmlns:a="http://schemas.openxmlformats.org/drawingml/2006/main">
              <a:ext uri="{FF2B5EF4-FFF2-40B4-BE49-F238E27FC236}">
                <a16:creationId xmlns:a16="http://schemas.microsoft.com/office/drawing/2014/main" id="{EB7F7BA5-2D72-4FA0-B8C3-AC7C6904C92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Reparatiewerkplaatsen</a:t>
            </a:r>
          </a:p>
        </p:txBody>
      </p:sp>
      <p:sp>
        <p:nvSpPr>
          <p:cNvPr id="2" name="">
            <a:extLst xmlns:a="http://schemas.openxmlformats.org/drawingml/2006/main">
              <a:ext uri="{FF2B5EF4-FFF2-40B4-BE49-F238E27FC236}">
                <a16:creationId xmlns:a16="http://schemas.microsoft.com/office/drawing/2014/main" id="{5D2F363A-372A-4C06-8427-F2D630999AD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a:extLst xmlns:a="http://schemas.openxmlformats.org/drawingml/2006/main">
              <a:ext uri="{FF2B5EF4-FFF2-40B4-BE49-F238E27FC236}">
                <a16:creationId xmlns:a16="http://schemas.microsoft.com/office/drawing/2014/main" id="{9E7BA34D-DD12-4E26-A2CE-2FCD4EC6AD3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a:t>
            </a:r>
          </a:p>
        </p:txBody>
      </p:sp>
      <p:sp>
        <p:nvSpPr>
          <p:cNvPr id="4" name="4">
            <a:extLst xmlns:a="http://schemas.openxmlformats.org/drawingml/2006/main">
              <a:ext uri="{FF2B5EF4-FFF2-40B4-BE49-F238E27FC236}">
                <a16:creationId xmlns:a16="http://schemas.microsoft.com/office/drawing/2014/main" id="{96AFE1F1-65A0-4116-8350-210C8D123F3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a:extLst xmlns:a="http://schemas.openxmlformats.org/drawingml/2006/main">
              <a:ext uri="{FF2B5EF4-FFF2-40B4-BE49-F238E27FC236}">
                <a16:creationId xmlns:a16="http://schemas.microsoft.com/office/drawing/2014/main" id="{8ECBFB39-307C-4D97-A574-E18555741114}"/>
              </a:ext>
            </a:extLst>
          </p:cNvPr>
          <p:cNvSpPr>
            <a:spLocks xmlns:a="http://schemas.openxmlformats.org/drawingml/2006/main" noGrp="1"/>
          </p:cNvSpPr>
          <p:nvPr/>
        </p:nvSpPr>
        <p:spPr>
          <a:xfrm xmlns:a="http://schemas.openxmlformats.org/drawingml/2006/main">
            <a:off x="571500" y="16573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A5276"/>
                </a:solidFill>
                <a:latin typeface="Arial"/>
                <a:ea typeface="Arial"/>
                <a:cs typeface="Arial"/>
              </a:defRPr>
            </a:pPr>
            <a:r>
              <a:rPr sz="2100" b="1">
                <a:solidFill>
                  <a:srgbClr val="1A5276"/>
                </a:solidFill>
                <a:latin typeface="Arial"/>
                <a:ea typeface="Arial"/>
                <a:cs typeface="Arial"/>
              </a:rPr>
              <a:t>Uitlegvoorbeeld — niet uit het boek</a:t>
            </a:r>
          </a:p>
        </p:txBody>
      </p:sp>
      <p:sp>
        <p:nvSpPr>
          <p:cNvPr id="6" name="Lᵥ = 150 − 5w       Lₐ = −30 + 5w">
            <a:extLst xmlns:a="http://schemas.openxmlformats.org/drawingml/2006/main">
              <a:ext uri="{FF2B5EF4-FFF2-40B4-BE49-F238E27FC236}">
                <a16:creationId xmlns:a16="http://schemas.microsoft.com/office/drawing/2014/main" id="{439C6B4E-3744-4E6C-8E96-9976169F654B}"/>
              </a:ext>
            </a:extLst>
          </p:cNvPr>
          <p:cNvSpPr>
            <a:spLocks xmlns:a="http://schemas.openxmlformats.org/drawingml/2006/main" noGrp="1"/>
          </p:cNvSpPr>
          <p:nvPr/>
        </p:nvSpPr>
        <p:spPr>
          <a:xfrm xmlns:a="http://schemas.openxmlformats.org/drawingml/2006/main">
            <a:off x="571500" y="2571750"/>
            <a:ext cx="1409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Lᵥ = 150 − 5w       Lₐ = −30 + 5w</a:t>
            </a:r>
          </a:p>
        </p:txBody>
      </p:sp>
      <p:sp>
        <p:nvSpPr>
          <p:cNvPr id="7" name="L = personen, ieder 24 betaalde uren per week">
            <a:extLst xmlns:a="http://schemas.openxmlformats.org/drawingml/2006/main">
              <a:ext uri="{FF2B5EF4-FFF2-40B4-BE49-F238E27FC236}">
                <a16:creationId xmlns:a16="http://schemas.microsoft.com/office/drawing/2014/main" id="{377CF628-8DB0-45D3-B426-7F6CFECD6471}"/>
              </a:ext>
            </a:extLst>
          </p:cNvPr>
          <p:cNvSpPr>
            <a:spLocks xmlns:a="http://schemas.openxmlformats.org/drawingml/2006/main" noGrp="1"/>
          </p:cNvSpPr>
          <p:nvPr/>
        </p:nvSpPr>
        <p:spPr>
          <a:xfrm xmlns:a="http://schemas.openxmlformats.org/drawingml/2006/main">
            <a:off x="571500" y="3857625"/>
            <a:ext cx="1409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L = personen, ieder 24 betaalde uren per week</a:t>
            </a:r>
          </a:p>
        </p:txBody>
      </p:sp>
      <p:sp>
        <p:nvSpPr>
          <p:cNvPr id="8" name="w = brutouurloon in euro; € 6 ≤ w ≤ € 30">
            <a:extLst xmlns:a="http://schemas.openxmlformats.org/drawingml/2006/main">
              <a:ext uri="{FF2B5EF4-FFF2-40B4-BE49-F238E27FC236}">
                <a16:creationId xmlns:a16="http://schemas.microsoft.com/office/drawing/2014/main" id="{6C847000-92A1-494D-B527-2F33ABD60247}"/>
              </a:ext>
            </a:extLst>
          </p:cNvPr>
          <p:cNvSpPr>
            <a:spLocks xmlns:a="http://schemas.openxmlformats.org/drawingml/2006/main" noGrp="1"/>
          </p:cNvSpPr>
          <p:nvPr/>
        </p:nvSpPr>
        <p:spPr>
          <a:xfrm xmlns:a="http://schemas.openxmlformats.org/drawingml/2006/main">
            <a:off x="571500" y="5143500"/>
            <a:ext cx="1409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w = brutouurloon in euro; € 6 ≤ w ≤ € 30</a:t>
            </a:r>
          </a:p>
        </p:txBody>
      </p:sp>
      <p:sp>
        <p:nvSpPr>
          <p:cNvPr id="9" name="Concurrerende werkgevers · vergelijkbare arbeid&#10;Geen vacatures of zoek">
            <a:extLst xmlns:a="http://schemas.openxmlformats.org/drawingml/2006/main">
              <a:ext uri="{FF2B5EF4-FFF2-40B4-BE49-F238E27FC236}">
                <a16:creationId xmlns:a16="http://schemas.microsoft.com/office/drawing/2014/main" id="{4EBC8A63-B676-48A9-8752-3FFC93D93677}"/>
              </a:ext>
            </a:extLst>
          </p:cNvPr>
          <p:cNvSpPr>
            <a:spLocks xmlns:a="http://schemas.openxmlformats.org/drawingml/2006/main" noGrp="1"/>
          </p:cNvSpPr>
          <p:nvPr/>
        </p:nvSpPr>
        <p:spPr>
          <a:xfrm xmlns:a="http://schemas.openxmlformats.org/drawingml/2006/main">
            <a:off x="571500" y="664845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Concurrerende werkgevers · vergelijkbare arbeid</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Geen vacatures of zoekproblemen · alle gevraagde plaatsen gevuld</a:t>
            </a:r>
          </a:p>
        </p:txBody>
      </p:sp>
    </p:spTree>
    <p:extLst>
      <p:ext uri="{BB962C8B-B14F-4D97-AF65-F5344CB8AC3E}">
        <p14:creationId xmlns:p14="http://schemas.microsoft.com/office/powerpoint/2010/main" val="5052333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Vrij evenwicht">
            <a:extLst xmlns:a="http://schemas.openxmlformats.org/drawingml/2006/main">
              <a:ext uri="{FF2B5EF4-FFF2-40B4-BE49-F238E27FC236}">
                <a16:creationId xmlns:a16="http://schemas.microsoft.com/office/drawing/2014/main" id="{B5EC1391-11D1-4580-8840-57E217C5FC8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Vrij evenwicht</a:t>
            </a:r>
          </a:p>
        </p:txBody>
      </p:sp>
      <p:sp>
        <p:nvSpPr>
          <p:cNvPr id="2" name="">
            <a:extLst xmlns:a="http://schemas.openxmlformats.org/drawingml/2006/main">
              <a:ext uri="{FF2B5EF4-FFF2-40B4-BE49-F238E27FC236}">
                <a16:creationId xmlns:a16="http://schemas.microsoft.com/office/drawing/2014/main" id="{C4DC1991-E0A5-403F-87E9-880478D90FE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a:extLst xmlns:a="http://schemas.openxmlformats.org/drawingml/2006/main">
              <a:ext uri="{FF2B5EF4-FFF2-40B4-BE49-F238E27FC236}">
                <a16:creationId xmlns:a16="http://schemas.microsoft.com/office/drawing/2014/main" id="{394CDA9B-26D4-47FE-A542-A4A314A98CF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a:t>
            </a:r>
          </a:p>
        </p:txBody>
      </p:sp>
      <p:sp>
        <p:nvSpPr>
          <p:cNvPr id="4" name="5">
            <a:extLst xmlns:a="http://schemas.openxmlformats.org/drawingml/2006/main">
              <a:ext uri="{FF2B5EF4-FFF2-40B4-BE49-F238E27FC236}">
                <a16:creationId xmlns:a16="http://schemas.microsoft.com/office/drawing/2014/main" id="{23C50A28-9657-4494-AE48-D2795272C4E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a:extLst xmlns:a="http://schemas.openxmlformats.org/drawingml/2006/main">
              <a:ext uri="{FF2B5EF4-FFF2-40B4-BE49-F238E27FC236}">
                <a16:creationId xmlns:a16="http://schemas.microsoft.com/office/drawing/2014/main" id="{AF1DDE53-888F-4307-A06F-25796A404D23}"/>
              </a:ext>
            </a:extLst>
          </p:cNvPr>
          <p:cNvSpPr>
            <a:spLocks xmlns:a="http://schemas.openxmlformats.org/drawingml/2006/main" noGrp="1"/>
          </p:cNvSpPr>
          <p:nvPr/>
        </p:nvSpPr>
        <p:spPr>
          <a:xfrm xmlns:a="http://schemas.openxmlformats.org/drawingml/2006/main">
            <a:off x="571500" y="16573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A5276"/>
                </a:solidFill>
                <a:latin typeface="Arial"/>
                <a:ea typeface="Arial"/>
                <a:cs typeface="Arial"/>
              </a:defRPr>
            </a:pPr>
            <a:r>
              <a:rPr sz="2100" b="1">
                <a:solidFill>
                  <a:srgbClr val="1A5276"/>
                </a:solidFill>
                <a:latin typeface="Arial"/>
                <a:ea typeface="Arial"/>
                <a:cs typeface="Arial"/>
              </a:rPr>
              <a:t>Uitlegvoorbeeld — niet uit het boek</a:t>
            </a:r>
          </a:p>
        </p:txBody>
      </p:sp>
      <p:sp>
        <p:nvSpPr>
          <p:cNvPr id="6" name="150 − 5w = −30 + 5w">
            <a:extLst xmlns:a="http://schemas.openxmlformats.org/drawingml/2006/main">
              <a:ext uri="{FF2B5EF4-FFF2-40B4-BE49-F238E27FC236}">
                <a16:creationId xmlns:a16="http://schemas.microsoft.com/office/drawing/2014/main" id="{50E97ED5-DCA6-4468-A765-216501495698}"/>
              </a:ext>
            </a:extLst>
          </p:cNvPr>
          <p:cNvSpPr>
            <a:spLocks xmlns:a="http://schemas.openxmlformats.org/drawingml/2006/main" noGrp="1"/>
          </p:cNvSpPr>
          <p:nvPr/>
        </p:nvSpPr>
        <p:spPr>
          <a:xfrm xmlns:a="http://schemas.openxmlformats.org/drawingml/2006/main">
            <a:off x="571500" y="2400300"/>
            <a:ext cx="14097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150 − 5w = −30 + 5w</a:t>
            </a:r>
          </a:p>
        </p:txBody>
      </p:sp>
      <p:sp>
        <p:nvSpPr>
          <p:cNvPr id="7" name="180 = 10w     →     w = € 18 per uur">
            <a:extLst xmlns:a="http://schemas.openxmlformats.org/drawingml/2006/main">
              <a:ext uri="{FF2B5EF4-FFF2-40B4-BE49-F238E27FC236}">
                <a16:creationId xmlns:a16="http://schemas.microsoft.com/office/drawing/2014/main" id="{573A0179-CFEB-482B-BC52-A46752DADE44}"/>
              </a:ext>
            </a:extLst>
          </p:cNvPr>
          <p:cNvSpPr>
            <a:spLocks xmlns:a="http://schemas.openxmlformats.org/drawingml/2006/main" noGrp="1"/>
          </p:cNvSpPr>
          <p:nvPr/>
        </p:nvSpPr>
        <p:spPr>
          <a:xfrm xmlns:a="http://schemas.openxmlformats.org/drawingml/2006/main">
            <a:off x="571500" y="3676650"/>
            <a:ext cx="14097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180 = 10w     →     w = € 18 per uur</a:t>
            </a:r>
          </a:p>
        </p:txBody>
      </p:sp>
      <p:sp>
        <p:nvSpPr>
          <p:cNvPr id="8" name="L = 150 − 5 × 18 = 60 personen">
            <a:extLst xmlns:a="http://schemas.openxmlformats.org/drawingml/2006/main">
              <a:ext uri="{FF2B5EF4-FFF2-40B4-BE49-F238E27FC236}">
                <a16:creationId xmlns:a16="http://schemas.microsoft.com/office/drawing/2014/main" id="{C70C4CAC-A450-4308-97BD-05B51B1840B2}"/>
              </a:ext>
            </a:extLst>
          </p:cNvPr>
          <p:cNvSpPr>
            <a:spLocks xmlns:a="http://schemas.openxmlformats.org/drawingml/2006/main" noGrp="1"/>
          </p:cNvSpPr>
          <p:nvPr/>
        </p:nvSpPr>
        <p:spPr>
          <a:xfrm xmlns:a="http://schemas.openxmlformats.org/drawingml/2006/main">
            <a:off x="571500" y="4953000"/>
            <a:ext cx="14097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L = 150 − 5 × 18 = 60 personen</a:t>
            </a:r>
          </a:p>
        </p:txBody>
      </p:sp>
      <p:sp>
        <p:nvSpPr>
          <p:cNvPr id="9" name="Controle: −30 + 5 × 18 = 60 personen">
            <a:extLst xmlns:a="http://schemas.openxmlformats.org/drawingml/2006/main">
              <a:ext uri="{FF2B5EF4-FFF2-40B4-BE49-F238E27FC236}">
                <a16:creationId xmlns:a16="http://schemas.microsoft.com/office/drawing/2014/main" id="{AB84E9D4-9AD2-41C7-89B4-2A0D41D90C2E}"/>
              </a:ext>
            </a:extLst>
          </p:cNvPr>
          <p:cNvSpPr>
            <a:spLocks xmlns:a="http://schemas.openxmlformats.org/drawingml/2006/main" noGrp="1"/>
          </p:cNvSpPr>
          <p:nvPr/>
        </p:nvSpPr>
        <p:spPr>
          <a:xfrm xmlns:a="http://schemas.openxmlformats.org/drawingml/2006/main">
            <a:off x="571500" y="6229350"/>
            <a:ext cx="14097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A5276"/>
                </a:solidFill>
                <a:latin typeface="Arial"/>
                <a:ea typeface="Arial"/>
                <a:cs typeface="Arial"/>
              </a:defRPr>
            </a:pPr>
            <a:r>
              <a:rPr sz="3225" b="1">
                <a:solidFill>
                  <a:srgbClr val="1A5276"/>
                </a:solidFill>
                <a:latin typeface="Arial"/>
                <a:ea typeface="Arial"/>
                <a:cs typeface="Arial"/>
              </a:rPr>
              <a:t>Controle: −30 + 5 × 18 = 60 personen</a:t>
            </a:r>
          </a:p>
        </p:txBody>
      </p:sp>
    </p:spTree>
    <p:extLst>
      <p:ext uri="{BB962C8B-B14F-4D97-AF65-F5344CB8AC3E}">
        <p14:creationId xmlns:p14="http://schemas.microsoft.com/office/powerpoint/2010/main" val="2752234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Het evenwicht in de grafiek">
            <a:extLst xmlns:a="http://schemas.openxmlformats.org/drawingml/2006/main">
              <a:ext uri="{FF2B5EF4-FFF2-40B4-BE49-F238E27FC236}">
                <a16:creationId xmlns:a16="http://schemas.microsoft.com/office/drawing/2014/main" id="{CAB51731-9698-40DA-8394-7D58B014F35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Het evenwicht in de grafiek</a:t>
            </a:r>
          </a:p>
        </p:txBody>
      </p:sp>
      <p:sp>
        <p:nvSpPr>
          <p:cNvPr id="2" name="">
            <a:extLst xmlns:a="http://schemas.openxmlformats.org/drawingml/2006/main">
              <a:ext uri="{FF2B5EF4-FFF2-40B4-BE49-F238E27FC236}">
                <a16:creationId xmlns:a16="http://schemas.microsoft.com/office/drawing/2014/main" id="{48404C0D-10B9-476C-918E-0B3080EDD81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a:extLst xmlns:a="http://schemas.openxmlformats.org/drawingml/2006/main">
              <a:ext uri="{FF2B5EF4-FFF2-40B4-BE49-F238E27FC236}">
                <a16:creationId xmlns:a16="http://schemas.microsoft.com/office/drawing/2014/main" id="{2A17143E-A886-4F92-A465-D3BB8A9A263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a:t>
            </a:r>
          </a:p>
        </p:txBody>
      </p:sp>
      <p:sp>
        <p:nvSpPr>
          <p:cNvPr id="4" name="6">
            <a:extLst xmlns:a="http://schemas.openxmlformats.org/drawingml/2006/main">
              <a:ext uri="{FF2B5EF4-FFF2-40B4-BE49-F238E27FC236}">
                <a16:creationId xmlns:a16="http://schemas.microsoft.com/office/drawing/2014/main" id="{FD7DE6F4-B37A-42DC-872A-2C6D0DAD340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a:extLst xmlns:a="http://schemas.openxmlformats.org/drawingml/2006/main">
              <a:ext uri="{FF2B5EF4-FFF2-40B4-BE49-F238E27FC236}">
                <a16:creationId xmlns:a16="http://schemas.microsoft.com/office/drawing/2014/main" id="{A3DDBFB5-AE1B-4311-852A-931D7CEF709B}"/>
              </a:ext>
            </a:extLst>
          </p:cNvPr>
          <p:cNvSpPr>
            <a:spLocks xmlns:a="http://schemas.openxmlformats.org/drawingml/2006/main" noGrp="1"/>
          </p:cNvSpPr>
          <p:nvPr/>
        </p:nvSpPr>
        <p:spPr>
          <a:xfrm xmlns:a="http://schemas.openxmlformats.org/drawingml/2006/main">
            <a:off x="571500" y="16573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A5276"/>
                </a:solidFill>
                <a:latin typeface="Arial"/>
                <a:ea typeface="Arial"/>
                <a:cs typeface="Arial"/>
              </a:defRPr>
            </a:pPr>
            <a:r>
              <a:rPr sz="2100" b="1">
                <a:solidFill>
                  <a:srgbClr val="1A5276"/>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305050"/>
          <a:ext xmlns:a="http://schemas.openxmlformats.org/drawingml/2006/main" cx="10096500" cy="5334000"/>
        </p:xfrm>
        <a:graphic xmlns:a="http://schemas.openxmlformats.org/drawingml/2006/main">
          <a:graphicData uri="http://schemas.openxmlformats.org/drawingml/2006/chart">
            <c:chart xmlns:r="http://schemas.openxmlformats.org/officeDocument/2006/relationships" xmlns:c="http://schemas.openxmlformats.org/drawingml/2006/chart" r:id="R67c5832779754827"/>
          </a:graphicData>
        </a:graphic>
      </p:graphicFrame>
      <p:sp>
        <p:nvSpPr>
          <p:cNvPr id="7" name="E = (60; 18)">
            <a:extLst xmlns:a="http://schemas.openxmlformats.org/drawingml/2006/main">
              <a:ext uri="{FF2B5EF4-FFF2-40B4-BE49-F238E27FC236}">
                <a16:creationId xmlns:a16="http://schemas.microsoft.com/office/drawing/2014/main" id="{6CC1FBAE-6D54-4347-A61C-72CED1F46D42}"/>
              </a:ext>
            </a:extLst>
          </p:cNvPr>
          <p:cNvSpPr>
            <a:spLocks xmlns:a="http://schemas.openxmlformats.org/drawingml/2006/main" noGrp="1"/>
          </p:cNvSpPr>
          <p:nvPr/>
        </p:nvSpPr>
        <p:spPr>
          <a:xfrm xmlns:a="http://schemas.openxmlformats.org/drawingml/2006/main">
            <a:off x="11049000" y="2686050"/>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E = (60; 18)</a:t>
            </a:r>
          </a:p>
        </p:txBody>
      </p:sp>
      <p:sp>
        <p:nvSpPr>
          <p:cNvPr id="8" name="60 personen&#10;€ 18 per uur">
            <a:extLst xmlns:a="http://schemas.openxmlformats.org/drawingml/2006/main">
              <a:ext uri="{FF2B5EF4-FFF2-40B4-BE49-F238E27FC236}">
                <a16:creationId xmlns:a16="http://schemas.microsoft.com/office/drawing/2014/main" id="{5FC99065-D11A-40C5-83BA-62F655ABFCED}"/>
              </a:ext>
            </a:extLst>
          </p:cNvPr>
          <p:cNvSpPr>
            <a:spLocks xmlns:a="http://schemas.openxmlformats.org/drawingml/2006/main" noGrp="1"/>
          </p:cNvSpPr>
          <p:nvPr/>
        </p:nvSpPr>
        <p:spPr>
          <a:xfrm xmlns:a="http://schemas.openxmlformats.org/drawingml/2006/main">
            <a:off x="11049000" y="3733800"/>
            <a:ext cx="3619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60 personen</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€ 18 per uur</a:t>
            </a:r>
          </a:p>
        </p:txBody>
      </p:sp>
      <p:sp>
        <p:nvSpPr>
          <p:cNvPr id="9" name="Loon verticaal&#10;Arbeid horizontaal">
            <a:extLst xmlns:a="http://schemas.openxmlformats.org/drawingml/2006/main">
              <a:ext uri="{FF2B5EF4-FFF2-40B4-BE49-F238E27FC236}">
                <a16:creationId xmlns:a16="http://schemas.microsoft.com/office/drawing/2014/main" id="{C75D3013-617D-4370-8B8D-563B04986728}"/>
              </a:ext>
            </a:extLst>
          </p:cNvPr>
          <p:cNvSpPr>
            <a:spLocks xmlns:a="http://schemas.openxmlformats.org/drawingml/2006/main" noGrp="1"/>
          </p:cNvSpPr>
          <p:nvPr/>
        </p:nvSpPr>
        <p:spPr>
          <a:xfrm xmlns:a="http://schemas.openxmlformats.org/drawingml/2006/main">
            <a:off x="11049000" y="5962650"/>
            <a:ext cx="3619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Loon verticaal</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Arbeid horizontaal</a:t>
            </a:r>
          </a:p>
        </p:txBody>
      </p:sp>
    </p:spTree>
    <p:extLst>
      <p:ext uri="{BB962C8B-B14F-4D97-AF65-F5344CB8AC3E}">
        <p14:creationId xmlns:p14="http://schemas.microsoft.com/office/powerpoint/2010/main" val="37105617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en niet-bindend minimumloon">
            <a:extLst xmlns:a="http://schemas.openxmlformats.org/drawingml/2006/main">
              <a:ext uri="{FF2B5EF4-FFF2-40B4-BE49-F238E27FC236}">
                <a16:creationId xmlns:a16="http://schemas.microsoft.com/office/drawing/2014/main" id="{AE6E4820-8367-4168-BFA5-29E30D23B8E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niet-bindend minimumloon</a:t>
            </a:r>
          </a:p>
        </p:txBody>
      </p:sp>
      <p:sp>
        <p:nvSpPr>
          <p:cNvPr id="2" name="">
            <a:extLst xmlns:a="http://schemas.openxmlformats.org/drawingml/2006/main">
              <a:ext uri="{FF2B5EF4-FFF2-40B4-BE49-F238E27FC236}">
                <a16:creationId xmlns:a16="http://schemas.microsoft.com/office/drawing/2014/main" id="{6F46E3CE-4A4F-4B4C-9022-A8EAB3F444E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a:extLst xmlns:a="http://schemas.openxmlformats.org/drawingml/2006/main">
              <a:ext uri="{FF2B5EF4-FFF2-40B4-BE49-F238E27FC236}">
                <a16:creationId xmlns:a16="http://schemas.microsoft.com/office/drawing/2014/main" id="{D42FB7B3-ED09-41C9-9701-E6426691479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a:t>
            </a:r>
          </a:p>
        </p:txBody>
      </p:sp>
      <p:sp>
        <p:nvSpPr>
          <p:cNvPr id="4" name="7">
            <a:extLst xmlns:a="http://schemas.openxmlformats.org/drawingml/2006/main">
              <a:ext uri="{FF2B5EF4-FFF2-40B4-BE49-F238E27FC236}">
                <a16:creationId xmlns:a16="http://schemas.microsoft.com/office/drawing/2014/main" id="{A6196497-5511-48DF-80F4-3C86161F1F5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Uitlegvoorbeeld — niet uit het boek">
            <a:extLst xmlns:a="http://schemas.openxmlformats.org/drawingml/2006/main">
              <a:ext uri="{FF2B5EF4-FFF2-40B4-BE49-F238E27FC236}">
                <a16:creationId xmlns:a16="http://schemas.microsoft.com/office/drawing/2014/main" id="{A124A9D1-3E16-4CDF-B187-CE8DC2972CA9}"/>
              </a:ext>
            </a:extLst>
          </p:cNvPr>
          <p:cNvSpPr>
            <a:spLocks xmlns:a="http://schemas.openxmlformats.org/drawingml/2006/main" noGrp="1"/>
          </p:cNvSpPr>
          <p:nvPr/>
        </p:nvSpPr>
        <p:spPr>
          <a:xfrm xmlns:a="http://schemas.openxmlformats.org/drawingml/2006/main">
            <a:off x="571500" y="16573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A5276"/>
                </a:solidFill>
                <a:latin typeface="Arial"/>
                <a:ea typeface="Arial"/>
                <a:cs typeface="Arial"/>
              </a:defRPr>
            </a:pPr>
            <a:r>
              <a:rPr sz="2100" b="1">
                <a:solidFill>
                  <a:srgbClr val="1A5276"/>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305050"/>
          <a:ext xmlns:a="http://schemas.openxmlformats.org/drawingml/2006/main" cx="10096500" cy="5334000"/>
        </p:xfrm>
        <a:graphic xmlns:a="http://schemas.openxmlformats.org/drawingml/2006/main">
          <a:graphicData uri="http://schemas.openxmlformats.org/drawingml/2006/chart">
            <c:chart xmlns:r="http://schemas.openxmlformats.org/officeDocument/2006/relationships" xmlns:c="http://schemas.openxmlformats.org/drawingml/2006/chart" r:id="R2177125629494027"/>
          </a:graphicData>
        </a:graphic>
      </p:graphicFrame>
      <p:sp>
        <p:nvSpPr>
          <p:cNvPr id="7" name="Minimum: € 16">
            <a:extLst xmlns:a="http://schemas.openxmlformats.org/drawingml/2006/main">
              <a:ext uri="{FF2B5EF4-FFF2-40B4-BE49-F238E27FC236}">
                <a16:creationId xmlns:a16="http://schemas.microsoft.com/office/drawing/2014/main" id="{ABC65F33-34A1-46BD-B3D6-992B6D0057DC}"/>
              </a:ext>
            </a:extLst>
          </p:cNvPr>
          <p:cNvSpPr>
            <a:spLocks xmlns:a="http://schemas.openxmlformats.org/drawingml/2006/main" noGrp="1"/>
          </p:cNvSpPr>
          <p:nvPr/>
        </p:nvSpPr>
        <p:spPr>
          <a:xfrm xmlns:a="http://schemas.openxmlformats.org/drawingml/2006/main">
            <a:off x="11049000" y="2600325"/>
            <a:ext cx="361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Minimum: € 16</a:t>
            </a:r>
          </a:p>
        </p:txBody>
      </p:sp>
      <p:sp>
        <p:nvSpPr>
          <p:cNvPr id="8" name="€ 18 blijft&#10;toegestaan.">
            <a:extLst xmlns:a="http://schemas.openxmlformats.org/drawingml/2006/main">
              <a:ext uri="{FF2B5EF4-FFF2-40B4-BE49-F238E27FC236}">
                <a16:creationId xmlns:a16="http://schemas.microsoft.com/office/drawing/2014/main" id="{2034D42F-08F4-4CC1-9375-6755F59AD81D}"/>
              </a:ext>
            </a:extLst>
          </p:cNvPr>
          <p:cNvSpPr>
            <a:spLocks xmlns:a="http://schemas.openxmlformats.org/drawingml/2006/main" noGrp="1"/>
          </p:cNvSpPr>
          <p:nvPr/>
        </p:nvSpPr>
        <p:spPr>
          <a:xfrm xmlns:a="http://schemas.openxmlformats.org/drawingml/2006/main">
            <a:off x="11049000" y="3848100"/>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€ 18 blijft</a:t>
            </a:r>
          </a:p>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toegestaan.</a:t>
            </a:r>
          </a:p>
        </p:txBody>
      </p:sp>
      <p:sp>
        <p:nvSpPr>
          <p:cNvPr id="9" name="Loon: € 18&#10;Werk: 60 personen">
            <a:extLst xmlns:a="http://schemas.openxmlformats.org/drawingml/2006/main">
              <a:ext uri="{FF2B5EF4-FFF2-40B4-BE49-F238E27FC236}">
                <a16:creationId xmlns:a16="http://schemas.microsoft.com/office/drawing/2014/main" id="{39CDC568-3E9A-43CC-9353-34AFE4A5251C}"/>
              </a:ext>
            </a:extLst>
          </p:cNvPr>
          <p:cNvSpPr>
            <a:spLocks xmlns:a="http://schemas.openxmlformats.org/drawingml/2006/main" noGrp="1"/>
          </p:cNvSpPr>
          <p:nvPr/>
        </p:nvSpPr>
        <p:spPr>
          <a:xfrm xmlns:a="http://schemas.openxmlformats.org/drawingml/2006/main">
            <a:off x="11049000" y="5962650"/>
            <a:ext cx="3619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Loon: € 18</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Werk: 60 personen</a:t>
            </a:r>
          </a:p>
        </p:txBody>
      </p:sp>
    </p:spTree>
    <p:extLst>
      <p:ext uri="{BB962C8B-B14F-4D97-AF65-F5344CB8AC3E}">
        <p14:creationId xmlns:p14="http://schemas.microsoft.com/office/powerpoint/2010/main" val="36768951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en bindend minimumloon">
            <a:extLst xmlns:a="http://schemas.openxmlformats.org/drawingml/2006/main">
              <a:ext uri="{FF2B5EF4-FFF2-40B4-BE49-F238E27FC236}">
                <a16:creationId xmlns:a16="http://schemas.microsoft.com/office/drawing/2014/main" id="{3F41F558-B0D1-44CC-8104-2929E833A92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bindend minimumloon</a:t>
            </a:r>
          </a:p>
        </p:txBody>
      </p:sp>
      <p:sp>
        <p:nvSpPr>
          <p:cNvPr id="2" name="">
            <a:extLst xmlns:a="http://schemas.openxmlformats.org/drawingml/2006/main">
              <a:ext uri="{FF2B5EF4-FFF2-40B4-BE49-F238E27FC236}">
                <a16:creationId xmlns:a16="http://schemas.microsoft.com/office/drawing/2014/main" id="{E37C5D4D-6455-4B6D-8E83-55D9AFC9C1C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a:extLst xmlns:a="http://schemas.openxmlformats.org/drawingml/2006/main">
              <a:ext uri="{FF2B5EF4-FFF2-40B4-BE49-F238E27FC236}">
                <a16:creationId xmlns:a16="http://schemas.microsoft.com/office/drawing/2014/main" id="{E0206B1D-B864-45D8-A2FE-1BCDBDC9EBC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a:t>
            </a:r>
          </a:p>
        </p:txBody>
      </p:sp>
      <p:sp>
        <p:nvSpPr>
          <p:cNvPr id="4" name="8">
            <a:extLst xmlns:a="http://schemas.openxmlformats.org/drawingml/2006/main">
              <a:ext uri="{FF2B5EF4-FFF2-40B4-BE49-F238E27FC236}">
                <a16:creationId xmlns:a16="http://schemas.microsoft.com/office/drawing/2014/main" id="{A0DDBDEB-C873-4A04-A636-944526C738C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Uitlegvoorbeeld — niet uit het boek">
            <a:extLst xmlns:a="http://schemas.openxmlformats.org/drawingml/2006/main">
              <a:ext uri="{FF2B5EF4-FFF2-40B4-BE49-F238E27FC236}">
                <a16:creationId xmlns:a16="http://schemas.microsoft.com/office/drawing/2014/main" id="{29A84C59-1409-4017-8E0D-169627EB0859}"/>
              </a:ext>
            </a:extLst>
          </p:cNvPr>
          <p:cNvSpPr>
            <a:spLocks xmlns:a="http://schemas.openxmlformats.org/drawingml/2006/main" noGrp="1"/>
          </p:cNvSpPr>
          <p:nvPr/>
        </p:nvSpPr>
        <p:spPr>
          <a:xfrm xmlns:a="http://schemas.openxmlformats.org/drawingml/2006/main">
            <a:off x="571500" y="16573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A5276"/>
                </a:solidFill>
                <a:latin typeface="Arial"/>
                <a:ea typeface="Arial"/>
                <a:cs typeface="Arial"/>
              </a:defRPr>
            </a:pPr>
            <a:r>
              <a:rPr sz="2100" b="1">
                <a:solidFill>
                  <a:srgbClr val="1A5276"/>
                </a:solidFill>
                <a:latin typeface="Arial"/>
                <a:ea typeface="Arial"/>
                <a:cs typeface="Arial"/>
              </a:rPr>
              <a:t>Uitlegvoorbeeld — niet uit het boek</a:t>
            </a:r>
          </a:p>
        </p:txBody>
      </p:sp>
      <p:sp>
        <p:nvSpPr>
          <p:cNvPr id="6" name="€ 20 &gt; € 18: het vrije evenwicht is niet toegestaan.">
            <a:extLst xmlns:a="http://schemas.openxmlformats.org/drawingml/2006/main">
              <a:ext uri="{FF2B5EF4-FFF2-40B4-BE49-F238E27FC236}">
                <a16:creationId xmlns:a16="http://schemas.microsoft.com/office/drawing/2014/main" id="{4340D327-EA07-4761-8CD1-CD0D888AC051}"/>
              </a:ext>
            </a:extLst>
          </p:cNvPr>
          <p:cNvSpPr>
            <a:spLocks xmlns:a="http://schemas.openxmlformats.org/drawingml/2006/main" noGrp="1"/>
          </p:cNvSpPr>
          <p:nvPr/>
        </p:nvSpPr>
        <p:spPr>
          <a:xfrm xmlns:a="http://schemas.openxmlformats.org/drawingml/2006/main">
            <a:off x="571500" y="24003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€ 20 &gt; € 18: het vrije evenwicht is niet toegestaan.</a:t>
            </a:r>
          </a:p>
        </p:txBody>
      </p:sp>
      <p:sp>
        <p:nvSpPr>
          <p:cNvPr id="7" name="Lᵥ = 150 − 5 × 20 = 50 personen">
            <a:extLst xmlns:a="http://schemas.openxmlformats.org/drawingml/2006/main">
              <a:ext uri="{FF2B5EF4-FFF2-40B4-BE49-F238E27FC236}">
                <a16:creationId xmlns:a16="http://schemas.microsoft.com/office/drawing/2014/main" id="{20EE55BF-17EA-483B-B549-363B90C82DF6}"/>
              </a:ext>
            </a:extLst>
          </p:cNvPr>
          <p:cNvSpPr>
            <a:spLocks xmlns:a="http://schemas.openxmlformats.org/drawingml/2006/main" noGrp="1"/>
          </p:cNvSpPr>
          <p:nvPr/>
        </p:nvSpPr>
        <p:spPr>
          <a:xfrm xmlns:a="http://schemas.openxmlformats.org/drawingml/2006/main">
            <a:off x="571500" y="3800475"/>
            <a:ext cx="14097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Lᵥ = 150 − 5 × 20 = 50 personen</a:t>
            </a:r>
          </a:p>
        </p:txBody>
      </p:sp>
      <p:sp>
        <p:nvSpPr>
          <p:cNvPr id="8" name="Lₐ = −30 + 5 × 20 = 70 personen">
            <a:extLst xmlns:a="http://schemas.openxmlformats.org/drawingml/2006/main">
              <a:ext uri="{FF2B5EF4-FFF2-40B4-BE49-F238E27FC236}">
                <a16:creationId xmlns:a16="http://schemas.microsoft.com/office/drawing/2014/main" id="{D4A008A1-A428-4183-AFDA-FB560AA9A928}"/>
              </a:ext>
            </a:extLst>
          </p:cNvPr>
          <p:cNvSpPr>
            <a:spLocks xmlns:a="http://schemas.openxmlformats.org/drawingml/2006/main" noGrp="1"/>
          </p:cNvSpPr>
          <p:nvPr/>
        </p:nvSpPr>
        <p:spPr>
          <a:xfrm xmlns:a="http://schemas.openxmlformats.org/drawingml/2006/main">
            <a:off x="571500" y="5057775"/>
            <a:ext cx="14097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Lₐ = −30 + 5 × 20 = 70 personen</a:t>
            </a:r>
          </a:p>
        </p:txBody>
      </p:sp>
      <p:sp>
        <p:nvSpPr>
          <p:cNvPr id="9" name="Werkgelegenheid = 50 personen">
            <a:extLst xmlns:a="http://schemas.openxmlformats.org/drawingml/2006/main">
              <a:ext uri="{FF2B5EF4-FFF2-40B4-BE49-F238E27FC236}">
                <a16:creationId xmlns:a16="http://schemas.microsoft.com/office/drawing/2014/main" id="{02BC5A7A-4C36-4D0F-B806-6543BD2110AA}"/>
              </a:ext>
            </a:extLst>
          </p:cNvPr>
          <p:cNvSpPr>
            <a:spLocks xmlns:a="http://schemas.openxmlformats.org/drawingml/2006/main" noGrp="1"/>
          </p:cNvSpPr>
          <p:nvPr/>
        </p:nvSpPr>
        <p:spPr>
          <a:xfrm xmlns:a="http://schemas.openxmlformats.org/drawingml/2006/main">
            <a:off x="571500" y="6315075"/>
            <a:ext cx="14097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A5276"/>
                </a:solidFill>
                <a:latin typeface="Arial"/>
                <a:ea typeface="Arial"/>
                <a:cs typeface="Arial"/>
              </a:defRPr>
            </a:pPr>
            <a:r>
              <a:rPr sz="3225" b="1">
                <a:solidFill>
                  <a:srgbClr val="1A5276"/>
                </a:solidFill>
                <a:latin typeface="Arial"/>
                <a:ea typeface="Arial"/>
                <a:cs typeface="Arial"/>
              </a:rPr>
              <a:t>Werkgelegenheid = 50 personen</a:t>
            </a:r>
          </a:p>
        </p:txBody>
      </p:sp>
    </p:spTree>
    <p:extLst>
      <p:ext uri="{BB962C8B-B14F-4D97-AF65-F5344CB8AC3E}">
        <p14:creationId xmlns:p14="http://schemas.microsoft.com/office/powerpoint/2010/main" val="16539283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anbodoverschot bij de loonvloer">
            <a:extLst xmlns:a="http://schemas.openxmlformats.org/drawingml/2006/main">
              <a:ext uri="{FF2B5EF4-FFF2-40B4-BE49-F238E27FC236}">
                <a16:creationId xmlns:a16="http://schemas.microsoft.com/office/drawing/2014/main" id="{6B0FDEDA-3DA5-45A2-9150-4ECC086CFC8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Aanbodoverschot bij de loonvloer</a:t>
            </a:r>
          </a:p>
        </p:txBody>
      </p:sp>
      <p:sp>
        <p:nvSpPr>
          <p:cNvPr id="2" name="">
            <a:extLst xmlns:a="http://schemas.openxmlformats.org/drawingml/2006/main">
              <a:ext uri="{FF2B5EF4-FFF2-40B4-BE49-F238E27FC236}">
                <a16:creationId xmlns:a16="http://schemas.microsoft.com/office/drawing/2014/main" id="{0143BD0B-57B9-4B62-968D-E0AB41F14AD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a:extLst xmlns:a="http://schemas.openxmlformats.org/drawingml/2006/main">
              <a:ext uri="{FF2B5EF4-FFF2-40B4-BE49-F238E27FC236}">
                <a16:creationId xmlns:a16="http://schemas.microsoft.com/office/drawing/2014/main" id="{2FD01FCD-259A-4BB4-ACAF-9FDADBDD346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a:t>
            </a:r>
          </a:p>
        </p:txBody>
      </p:sp>
      <p:sp>
        <p:nvSpPr>
          <p:cNvPr id="4" name="9">
            <a:extLst xmlns:a="http://schemas.openxmlformats.org/drawingml/2006/main">
              <a:ext uri="{FF2B5EF4-FFF2-40B4-BE49-F238E27FC236}">
                <a16:creationId xmlns:a16="http://schemas.microsoft.com/office/drawing/2014/main" id="{3AD29AA8-5C75-4D36-8984-96FC0FA98CF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Uitlegvoorbeeld — niet uit het boek">
            <a:extLst xmlns:a="http://schemas.openxmlformats.org/drawingml/2006/main">
              <a:ext uri="{FF2B5EF4-FFF2-40B4-BE49-F238E27FC236}">
                <a16:creationId xmlns:a16="http://schemas.microsoft.com/office/drawing/2014/main" id="{AD6E307D-E6FE-4AEE-B8F4-C8BE19AFB5C6}"/>
              </a:ext>
            </a:extLst>
          </p:cNvPr>
          <p:cNvSpPr>
            <a:spLocks xmlns:a="http://schemas.openxmlformats.org/drawingml/2006/main" noGrp="1"/>
          </p:cNvSpPr>
          <p:nvPr/>
        </p:nvSpPr>
        <p:spPr>
          <a:xfrm xmlns:a="http://schemas.openxmlformats.org/drawingml/2006/main">
            <a:off x="571500" y="16573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A5276"/>
                </a:solidFill>
                <a:latin typeface="Arial"/>
                <a:ea typeface="Arial"/>
                <a:cs typeface="Arial"/>
              </a:defRPr>
            </a:pPr>
            <a:r>
              <a:rPr sz="2100" b="1">
                <a:solidFill>
                  <a:srgbClr val="1A5276"/>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305050"/>
          <a:ext xmlns:a="http://schemas.openxmlformats.org/drawingml/2006/main" cx="10096500" cy="5334000"/>
        </p:xfrm>
        <a:graphic xmlns:a="http://schemas.openxmlformats.org/drawingml/2006/main">
          <a:graphicData uri="http://schemas.openxmlformats.org/drawingml/2006/chart">
            <c:chart xmlns:r="http://schemas.openxmlformats.org/officeDocument/2006/relationships" xmlns:c="http://schemas.openxmlformats.org/drawingml/2006/chart" r:id="Rdfe37da2d01c4633"/>
          </a:graphicData>
        </a:graphic>
      </p:graphicFrame>
      <p:sp>
        <p:nvSpPr>
          <p:cNvPr id="7" name="70 − 50 = 20">
            <a:extLst xmlns:a="http://schemas.openxmlformats.org/drawingml/2006/main">
              <a:ext uri="{FF2B5EF4-FFF2-40B4-BE49-F238E27FC236}">
                <a16:creationId xmlns:a16="http://schemas.microsoft.com/office/drawing/2014/main" id="{0FDD6D64-3CE1-4CA3-9772-E1861E43FC7F}"/>
              </a:ext>
            </a:extLst>
          </p:cNvPr>
          <p:cNvSpPr>
            <a:spLocks xmlns:a="http://schemas.openxmlformats.org/drawingml/2006/main" noGrp="1"/>
          </p:cNvSpPr>
          <p:nvPr/>
        </p:nvSpPr>
        <p:spPr>
          <a:xfrm xmlns:a="http://schemas.openxmlformats.org/drawingml/2006/main">
            <a:off x="11049000" y="2581275"/>
            <a:ext cx="361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70 − 50 = 20</a:t>
            </a:r>
          </a:p>
        </p:txBody>
      </p:sp>
      <p:sp>
        <p:nvSpPr>
          <p:cNvPr id="8" name="20 personen&#10;willen werken,&#10;maar krijgen&#10;geen baan.">
            <a:extLst xmlns:a="http://schemas.openxmlformats.org/drawingml/2006/main">
              <a:ext uri="{FF2B5EF4-FFF2-40B4-BE49-F238E27FC236}">
                <a16:creationId xmlns:a16="http://schemas.microsoft.com/office/drawing/2014/main" id="{61E8E0DD-C02C-43EC-94AE-2B02AD2659E0}"/>
              </a:ext>
            </a:extLst>
          </p:cNvPr>
          <p:cNvSpPr>
            <a:spLocks xmlns:a="http://schemas.openxmlformats.org/drawingml/2006/main" noGrp="1"/>
          </p:cNvSpPr>
          <p:nvPr/>
        </p:nvSpPr>
        <p:spPr>
          <a:xfrm xmlns:a="http://schemas.openxmlformats.org/drawingml/2006/main">
            <a:off x="11049000" y="3629025"/>
            <a:ext cx="3619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20 personen</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willen werken,</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maar krijgen</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geen baan.</a:t>
            </a:r>
          </a:p>
        </p:txBody>
      </p:sp>
      <p:sp>
        <p:nvSpPr>
          <p:cNvPr id="9" name="Horizontale afstand&#10;Geen oppervlakte">
            <a:extLst xmlns:a="http://schemas.openxmlformats.org/drawingml/2006/main">
              <a:ext uri="{FF2B5EF4-FFF2-40B4-BE49-F238E27FC236}">
                <a16:creationId xmlns:a16="http://schemas.microsoft.com/office/drawing/2014/main" id="{ADFE8201-14A1-4FBF-A8E5-F60F1524F173}"/>
              </a:ext>
            </a:extLst>
          </p:cNvPr>
          <p:cNvSpPr>
            <a:spLocks xmlns:a="http://schemas.openxmlformats.org/drawingml/2006/main" noGrp="1"/>
          </p:cNvSpPr>
          <p:nvPr/>
        </p:nvSpPr>
        <p:spPr>
          <a:xfrm xmlns:a="http://schemas.openxmlformats.org/drawingml/2006/main">
            <a:off x="11049000" y="6343650"/>
            <a:ext cx="3619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83247"/>
                </a:solidFill>
                <a:latin typeface="Arial"/>
                <a:ea typeface="Arial"/>
                <a:cs typeface="Arial"/>
              </a:defRPr>
            </a:pPr>
            <a:r>
              <a:rPr sz="2325" b="1">
                <a:solidFill>
                  <a:srgbClr val="183247"/>
                </a:solidFill>
                <a:latin typeface="Arial"/>
                <a:ea typeface="Arial"/>
                <a:cs typeface="Arial"/>
              </a:rPr>
              <a:t>Horizontale afstand</a:t>
            </a:r>
          </a:p>
          <a:p xmlns:a="http://schemas.openxmlformats.org/drawingml/2006/main">
            <a:pPr algn="l">
              <a:defRPr sz="2325" b="1">
                <a:solidFill>
                  <a:srgbClr val="183247"/>
                </a:solidFill>
                <a:latin typeface="Arial"/>
                <a:ea typeface="Arial"/>
                <a:cs typeface="Arial"/>
              </a:defRPr>
            </a:pPr>
            <a:r>
              <a:rPr sz="2325" b="1">
                <a:solidFill>
                  <a:srgbClr val="183247"/>
                </a:solidFill>
                <a:latin typeface="Arial"/>
                <a:ea typeface="Arial"/>
                <a:cs typeface="Arial"/>
              </a:rPr>
              <a:t>Geen oppervlakte</a:t>
            </a:r>
          </a:p>
        </p:txBody>
      </p:sp>
    </p:spTree>
    <p:extLst>
      <p:ext uri="{BB962C8B-B14F-4D97-AF65-F5344CB8AC3E}">
        <p14:creationId xmlns:p14="http://schemas.microsoft.com/office/powerpoint/2010/main" val="11737895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inder werkenden en extra aanbieders">
            <a:extLst xmlns:a="http://schemas.openxmlformats.org/drawingml/2006/main">
              <a:ext uri="{FF2B5EF4-FFF2-40B4-BE49-F238E27FC236}">
                <a16:creationId xmlns:a16="http://schemas.microsoft.com/office/drawing/2014/main" id="{A464C949-B0BB-4185-A050-BB09A52B6AC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Minder werkenden en extra aanbieders</a:t>
            </a:r>
          </a:p>
        </p:txBody>
      </p:sp>
      <p:sp>
        <p:nvSpPr>
          <p:cNvPr id="2" name="">
            <a:extLst xmlns:a="http://schemas.openxmlformats.org/drawingml/2006/main">
              <a:ext uri="{FF2B5EF4-FFF2-40B4-BE49-F238E27FC236}">
                <a16:creationId xmlns:a16="http://schemas.microsoft.com/office/drawing/2014/main" id="{F2845F4D-338D-4812-8C09-F6B0C361FEB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a:extLst xmlns:a="http://schemas.openxmlformats.org/drawingml/2006/main">
              <a:ext uri="{FF2B5EF4-FFF2-40B4-BE49-F238E27FC236}">
                <a16:creationId xmlns:a16="http://schemas.microsoft.com/office/drawing/2014/main" id="{8AC14342-F45E-4684-BD58-270FCAB4E0E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a:t>
            </a:r>
          </a:p>
        </p:txBody>
      </p:sp>
      <p:sp>
        <p:nvSpPr>
          <p:cNvPr id="4" name="10">
            <a:extLst xmlns:a="http://schemas.openxmlformats.org/drawingml/2006/main">
              <a:ext uri="{FF2B5EF4-FFF2-40B4-BE49-F238E27FC236}">
                <a16:creationId xmlns:a16="http://schemas.microsoft.com/office/drawing/2014/main" id="{C9D9CBA9-5415-458A-AEC8-834D201E1FA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Uitlegvoorbeeld — niet uit het boek">
            <a:extLst xmlns:a="http://schemas.openxmlformats.org/drawingml/2006/main">
              <a:ext uri="{FF2B5EF4-FFF2-40B4-BE49-F238E27FC236}">
                <a16:creationId xmlns:a16="http://schemas.microsoft.com/office/drawing/2014/main" id="{5EC7C5A1-0135-4BF6-8E9C-92E98DC8BF97}"/>
              </a:ext>
            </a:extLst>
          </p:cNvPr>
          <p:cNvSpPr>
            <a:spLocks xmlns:a="http://schemas.openxmlformats.org/drawingml/2006/main" noGrp="1"/>
          </p:cNvSpPr>
          <p:nvPr/>
        </p:nvSpPr>
        <p:spPr>
          <a:xfrm xmlns:a="http://schemas.openxmlformats.org/drawingml/2006/main">
            <a:off x="571500" y="16573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A5276"/>
                </a:solidFill>
                <a:latin typeface="Arial"/>
                <a:ea typeface="Arial"/>
                <a:cs typeface="Arial"/>
              </a:defRPr>
            </a:pPr>
            <a:r>
              <a:rPr sz="2100" b="1">
                <a:solidFill>
                  <a:srgbClr val="1A5276"/>
                </a:solidFill>
                <a:latin typeface="Arial"/>
                <a:ea typeface="Arial"/>
                <a:cs typeface="Arial"/>
              </a:rPr>
              <a:t>Uitlegvoorbeeld — niet uit het boek</a:t>
            </a:r>
          </a:p>
        </p:txBody>
      </p:sp>
      <p:graphicFrame>
        <p:nvGraphicFramePr>
          <p:cNvPr id="13" name=""/>
          <p:cNvGraphicFramePr/>
          <p:nvPr/>
        </p:nvGraphicFramePr>
        <p:xfrm>
          <a:off xmlns:a="http://schemas.openxmlformats.org/drawingml/2006/main" x="571500" y="2466975"/>
          <a:ext xmlns:a="http://schemas.openxmlformats.org/drawingml/2006/main" cx="14097000" cy="2705100"/>
        </p:xfrm>
        <a:graphic xmlns:a="http://schemas.openxmlformats.org/drawingml/2006/main">
          <a:graphicData uri="http://schemas.openxmlformats.org/drawingml/2006/table">
            <a:tbl>
              <a:tblPr/>
              <a:tblGrid>
                <a:gridCol w="5524500"/>
                <a:gridCol w="2476500"/>
                <a:gridCol w="2476500"/>
                <a:gridCol w="3619500"/>
              </a:tblGrid>
              <a:tr h="901700">
                <a:tc>
                  <a:txBody>
                    <a:bodyPr lIns="161925" tIns="95250" rIns="142875" bIns="95250"/>
                    <a:lstStyle/>
                    <a:p>
                      <a:r>
                        <a:rPr sz="2700" b="1">
                          <a:solidFill>
                            <a:srgbClr val="FFFFFF"/>
                          </a:solidFill>
                          <a:latin typeface="Arial"/>
                          <a:ea typeface="Arial"/>
                          <a:cs typeface="Arial"/>
                        </a:rPr>
                        <a:t>Personen</a:t>
                      </a:r>
                    </a:p>
                  </a:txBody>
                  <a:tcPr marL="91440" marR="91440" marT="45720" marB="45720" anchor="ctr">
                    <a:solidFill>
                      <a:srgbClr val="183247"/>
                    </a:solidFill>
                  </a:tcPr>
                </a:tc>
                <a:tc>
                  <a:txBody>
                    <a:bodyPr lIns="161925" tIns="95250" rIns="142875" bIns="95250"/>
                    <a:lstStyle/>
                    <a:p>
                      <a:r>
                        <a:rPr sz="2700" b="1">
                          <a:solidFill>
                            <a:srgbClr val="FFFFFF"/>
                          </a:solidFill>
                          <a:latin typeface="Arial"/>
                          <a:ea typeface="Arial"/>
                          <a:cs typeface="Arial"/>
                        </a:rPr>
                        <a:t>Oud</a:t>
                      </a:r>
                    </a:p>
                  </a:txBody>
                  <a:tcPr marL="91440" marR="91440" marT="45720" marB="45720" anchor="ctr">
                    <a:solidFill>
                      <a:srgbClr val="183247"/>
                    </a:solidFill>
                  </a:tcPr>
                </a:tc>
                <a:tc>
                  <a:txBody>
                    <a:bodyPr lIns="161925" tIns="95250" rIns="142875" bIns="95250"/>
                    <a:lstStyle/>
                    <a:p>
                      <a:r>
                        <a:rPr sz="2700" b="1">
                          <a:solidFill>
                            <a:srgbClr val="FFFFFF"/>
                          </a:solidFill>
                          <a:latin typeface="Arial"/>
                          <a:ea typeface="Arial"/>
                          <a:cs typeface="Arial"/>
                        </a:rPr>
                        <a:t>Nieuw</a:t>
                      </a:r>
                    </a:p>
                  </a:txBody>
                  <a:tcPr marL="91440" marR="91440" marT="45720" marB="45720" anchor="ctr">
                    <a:solidFill>
                      <a:srgbClr val="183247"/>
                    </a:solidFill>
                  </a:tcPr>
                </a:tc>
                <a:tc>
                  <a:txBody>
                    <a:bodyPr lIns="161925" tIns="95250" rIns="142875" bIns="95250"/>
                    <a:lstStyle/>
                    <a:p>
                      <a:r>
                        <a:rPr sz="2700" b="1">
                          <a:solidFill>
                            <a:srgbClr val="FFFFFF"/>
                          </a:solidFill>
                          <a:latin typeface="Arial"/>
                          <a:ea typeface="Arial"/>
                          <a:cs typeface="Arial"/>
                        </a:rPr>
                        <a:t>Verschil</a:t>
                      </a:r>
                    </a:p>
                  </a:txBody>
                  <a:tcPr marL="91440" marR="91440" marT="45720" marB="45720" anchor="ctr">
                    <a:solidFill>
                      <a:srgbClr val="183247"/>
                    </a:solidFill>
                  </a:tcPr>
                </a:tc>
              </a:tr>
              <a:tr h="901700">
                <a:tc>
                  <a:txBody>
                    <a:bodyPr lIns="161925" tIns="95250" rIns="142875" bIns="95250"/>
                    <a:lstStyle/>
                    <a:p>
                      <a:r>
                        <a:rPr sz="2700" b="0">
                          <a:solidFill>
                            <a:srgbClr val="183247"/>
                          </a:solidFill>
                          <a:latin typeface="Arial"/>
                          <a:ea typeface="Arial"/>
                          <a:cs typeface="Arial"/>
                        </a:rPr>
                        <a:t>Werkenden</a:t>
                      </a:r>
                    </a:p>
                  </a:txBody>
                  <a:tcPr marL="91440" marR="91440" marT="45720" marB="45720" anchor="ctr">
                    <a:solidFill>
                      <a:srgbClr val="FFFFFF"/>
                    </a:solidFill>
                  </a:tcPr>
                </a:tc>
                <a:tc>
                  <a:txBody>
                    <a:bodyPr lIns="161925" tIns="95250" rIns="142875" bIns="95250"/>
                    <a:lstStyle/>
                    <a:p>
                      <a:r>
                        <a:rPr sz="2700" b="0">
                          <a:solidFill>
                            <a:srgbClr val="183247"/>
                          </a:solidFill>
                          <a:latin typeface="Arial"/>
                          <a:ea typeface="Arial"/>
                          <a:cs typeface="Arial"/>
                        </a:rPr>
                        <a:t>60</a:t>
                      </a:r>
                    </a:p>
                  </a:txBody>
                  <a:tcPr marL="91440" marR="91440" marT="45720" marB="45720" anchor="ctr">
                    <a:solidFill>
                      <a:srgbClr val="FFFFFF"/>
                    </a:solidFill>
                  </a:tcPr>
                </a:tc>
                <a:tc>
                  <a:txBody>
                    <a:bodyPr lIns="161925" tIns="95250" rIns="142875" bIns="95250"/>
                    <a:lstStyle/>
                    <a:p>
                      <a:r>
                        <a:rPr sz="2700" b="0">
                          <a:solidFill>
                            <a:srgbClr val="183247"/>
                          </a:solidFill>
                          <a:latin typeface="Arial"/>
                          <a:ea typeface="Arial"/>
                          <a:cs typeface="Arial"/>
                        </a:rPr>
                        <a:t>50</a:t>
                      </a:r>
                    </a:p>
                  </a:txBody>
                  <a:tcPr marL="91440" marR="91440" marT="45720" marB="45720" anchor="ctr">
                    <a:solidFill>
                      <a:srgbClr val="FFFFFF"/>
                    </a:solidFill>
                  </a:tcPr>
                </a:tc>
                <a:tc>
                  <a:txBody>
                    <a:bodyPr lIns="161925" tIns="95250" rIns="142875" bIns="95250"/>
                    <a:lstStyle/>
                    <a:p>
                      <a:r>
                        <a:rPr sz="2700" b="0">
                          <a:solidFill>
                            <a:srgbClr val="183247"/>
                          </a:solidFill>
                          <a:latin typeface="Arial"/>
                          <a:ea typeface="Arial"/>
                          <a:cs typeface="Arial"/>
                        </a:rPr>
                        <a:t>10 minder</a:t>
                      </a:r>
                    </a:p>
                  </a:txBody>
                  <a:tcPr marL="91440" marR="91440" marT="45720" marB="45720" anchor="ctr">
                    <a:solidFill>
                      <a:srgbClr val="FFFFFF"/>
                    </a:solidFill>
                  </a:tcPr>
                </a:tc>
              </a:tr>
              <a:tr h="901700">
                <a:tc>
                  <a:txBody>
                    <a:bodyPr lIns="161925" tIns="95250" rIns="142875" bIns="95250"/>
                    <a:lstStyle/>
                    <a:p>
                      <a:r>
                        <a:rPr sz="2700" b="0">
                          <a:solidFill>
                            <a:srgbClr val="183247"/>
                          </a:solidFill>
                          <a:latin typeface="Arial"/>
                          <a:ea typeface="Arial"/>
                          <a:cs typeface="Arial"/>
                        </a:rPr>
                        <a:t>Arbeidsaanbod</a:t>
                      </a:r>
                    </a:p>
                  </a:txBody>
                  <a:tcPr marL="91440" marR="91440" marT="45720" marB="45720" anchor="ctr">
                    <a:solidFill>
                      <a:srgbClr val="EFF4F7"/>
                    </a:solidFill>
                  </a:tcPr>
                </a:tc>
                <a:tc>
                  <a:txBody>
                    <a:bodyPr lIns="161925" tIns="95250" rIns="142875" bIns="95250"/>
                    <a:lstStyle/>
                    <a:p>
                      <a:r>
                        <a:rPr sz="2700" b="0">
                          <a:solidFill>
                            <a:srgbClr val="183247"/>
                          </a:solidFill>
                          <a:latin typeface="Arial"/>
                          <a:ea typeface="Arial"/>
                          <a:cs typeface="Arial"/>
                        </a:rPr>
                        <a:t>60</a:t>
                      </a:r>
                    </a:p>
                  </a:txBody>
                  <a:tcPr marL="91440" marR="91440" marT="45720" marB="45720" anchor="ctr">
                    <a:solidFill>
                      <a:srgbClr val="EFF4F7"/>
                    </a:solidFill>
                  </a:tcPr>
                </a:tc>
                <a:tc>
                  <a:txBody>
                    <a:bodyPr lIns="161925" tIns="95250" rIns="142875" bIns="95250"/>
                    <a:lstStyle/>
                    <a:p>
                      <a:r>
                        <a:rPr sz="2700" b="0">
                          <a:solidFill>
                            <a:srgbClr val="183247"/>
                          </a:solidFill>
                          <a:latin typeface="Arial"/>
                          <a:ea typeface="Arial"/>
                          <a:cs typeface="Arial"/>
                        </a:rPr>
                        <a:t>70</a:t>
                      </a:r>
                    </a:p>
                  </a:txBody>
                  <a:tcPr marL="91440" marR="91440" marT="45720" marB="45720" anchor="ctr">
                    <a:solidFill>
                      <a:srgbClr val="EFF4F7"/>
                    </a:solidFill>
                  </a:tcPr>
                </a:tc>
                <a:tc>
                  <a:txBody>
                    <a:bodyPr lIns="161925" tIns="95250" rIns="142875" bIns="95250"/>
                    <a:lstStyle/>
                    <a:p>
                      <a:r>
                        <a:rPr sz="2700" b="0">
                          <a:solidFill>
                            <a:srgbClr val="183247"/>
                          </a:solidFill>
                          <a:latin typeface="Arial"/>
                          <a:ea typeface="Arial"/>
                          <a:cs typeface="Arial"/>
                        </a:rPr>
                        <a:t>10 extra</a:t>
                      </a:r>
                    </a:p>
                  </a:txBody>
                  <a:tcPr marL="91440" marR="91440" marT="45720" marB="45720" anchor="ctr">
                    <a:solidFill>
                      <a:srgbClr val="EFF4F7"/>
                    </a:solidFill>
                  </a:tcPr>
                </a:tc>
              </a:tr>
            </a:tbl>
          </a:graphicData>
        </a:graphic>
      </p:graphicFrame>
      <p:sp>
        <p:nvSpPr>
          <p:cNvPr id="7" name="20 personen overschot = 10 minder werkenden + 10 extra aanbieders">
            <a:extLst xmlns:a="http://schemas.openxmlformats.org/drawingml/2006/main">
              <a:ext uri="{FF2B5EF4-FFF2-40B4-BE49-F238E27FC236}">
                <a16:creationId xmlns:a16="http://schemas.microsoft.com/office/drawing/2014/main" id="{127D6055-9B91-4408-B6B7-F5B40237868C}"/>
              </a:ext>
            </a:extLst>
          </p:cNvPr>
          <p:cNvSpPr>
            <a:spLocks xmlns:a="http://schemas.openxmlformats.org/drawingml/2006/main" noGrp="1"/>
          </p:cNvSpPr>
          <p:nvPr/>
        </p:nvSpPr>
        <p:spPr>
          <a:xfrm xmlns:a="http://schemas.openxmlformats.org/drawingml/2006/main">
            <a:off x="571500" y="5876925"/>
            <a:ext cx="14097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A94D16"/>
                </a:solidFill>
                <a:latin typeface="Arial"/>
                <a:ea typeface="Arial"/>
                <a:cs typeface="Arial"/>
              </a:defRPr>
            </a:pPr>
            <a:r>
              <a:rPr sz="3150" b="1">
                <a:solidFill>
                  <a:srgbClr val="A94D16"/>
                </a:solidFill>
                <a:latin typeface="Arial"/>
                <a:ea typeface="Arial"/>
                <a:cs typeface="Arial"/>
              </a:rPr>
              <a:t>20 personen overschot = 10 minder werkenden + 10 extra aanbieders</a:t>
            </a:r>
          </a:p>
        </p:txBody>
      </p:sp>
    </p:spTree>
    <p:extLst>
      <p:ext uri="{BB962C8B-B14F-4D97-AF65-F5344CB8AC3E}">
        <p14:creationId xmlns:p14="http://schemas.microsoft.com/office/powerpoint/2010/main" val="171586880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Loonsom: loon over betaalde uren">
            <a:extLst xmlns:a="http://schemas.openxmlformats.org/drawingml/2006/main">
              <a:ext uri="{FF2B5EF4-FFF2-40B4-BE49-F238E27FC236}">
                <a16:creationId xmlns:a16="http://schemas.microsoft.com/office/drawing/2014/main" id="{4630766B-AE57-4021-A5EC-F5DA32CE4AB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Loonsom: loon over betaalde uren</a:t>
            </a:r>
          </a:p>
        </p:txBody>
      </p:sp>
      <p:sp>
        <p:nvSpPr>
          <p:cNvPr id="2" name="">
            <a:extLst xmlns:a="http://schemas.openxmlformats.org/drawingml/2006/main">
              <a:ext uri="{FF2B5EF4-FFF2-40B4-BE49-F238E27FC236}">
                <a16:creationId xmlns:a16="http://schemas.microsoft.com/office/drawing/2014/main" id="{953F3201-F5EB-4637-9A4A-DB7E8FB2151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a:extLst xmlns:a="http://schemas.openxmlformats.org/drawingml/2006/main">
              <a:ext uri="{FF2B5EF4-FFF2-40B4-BE49-F238E27FC236}">
                <a16:creationId xmlns:a16="http://schemas.microsoft.com/office/drawing/2014/main" id="{8286A9BD-D7E6-49B3-AA75-AED1077E948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a:t>
            </a:r>
          </a:p>
        </p:txBody>
      </p:sp>
      <p:sp>
        <p:nvSpPr>
          <p:cNvPr id="4" name="11">
            <a:extLst xmlns:a="http://schemas.openxmlformats.org/drawingml/2006/main">
              <a:ext uri="{FF2B5EF4-FFF2-40B4-BE49-F238E27FC236}">
                <a16:creationId xmlns:a16="http://schemas.microsoft.com/office/drawing/2014/main" id="{749F6B0A-804D-4161-AE7A-718012800DC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Uitlegvoorbeeld — niet uit het boek">
            <a:extLst xmlns:a="http://schemas.openxmlformats.org/drawingml/2006/main">
              <a:ext uri="{FF2B5EF4-FFF2-40B4-BE49-F238E27FC236}">
                <a16:creationId xmlns:a16="http://schemas.microsoft.com/office/drawing/2014/main" id="{67D06486-3348-46B9-97FE-300F156855B1}"/>
              </a:ext>
            </a:extLst>
          </p:cNvPr>
          <p:cNvSpPr>
            <a:spLocks xmlns:a="http://schemas.openxmlformats.org/drawingml/2006/main" noGrp="1"/>
          </p:cNvSpPr>
          <p:nvPr/>
        </p:nvSpPr>
        <p:spPr>
          <a:xfrm xmlns:a="http://schemas.openxmlformats.org/drawingml/2006/main">
            <a:off x="571500" y="16573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A5276"/>
                </a:solidFill>
                <a:latin typeface="Arial"/>
                <a:ea typeface="Arial"/>
                <a:cs typeface="Arial"/>
              </a:defRPr>
            </a:pPr>
            <a:r>
              <a:rPr sz="2100" b="1">
                <a:solidFill>
                  <a:srgbClr val="1A5276"/>
                </a:solidFill>
                <a:latin typeface="Arial"/>
                <a:ea typeface="Arial"/>
                <a:cs typeface="Arial"/>
              </a:rPr>
              <a:t>Uitlegvoorbeeld — niet uit het boek</a:t>
            </a:r>
          </a:p>
        </p:txBody>
      </p:sp>
      <p:sp>
        <p:nvSpPr>
          <p:cNvPr id="6" name="Loonsom per week = uurloon × uren per werknemer × werkenden">
            <a:extLst xmlns:a="http://schemas.openxmlformats.org/drawingml/2006/main">
              <a:ext uri="{FF2B5EF4-FFF2-40B4-BE49-F238E27FC236}">
                <a16:creationId xmlns:a16="http://schemas.microsoft.com/office/drawing/2014/main" id="{C6B59792-8D99-47E8-84CD-B528A5B7BEF3}"/>
              </a:ext>
            </a:extLst>
          </p:cNvPr>
          <p:cNvSpPr>
            <a:spLocks xmlns:a="http://schemas.openxmlformats.org/drawingml/2006/main" noGrp="1"/>
          </p:cNvSpPr>
          <p:nvPr/>
        </p:nvSpPr>
        <p:spPr>
          <a:xfrm xmlns:a="http://schemas.openxmlformats.org/drawingml/2006/main">
            <a:off x="571500" y="2286000"/>
            <a:ext cx="1409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A5276"/>
                </a:solidFill>
                <a:latin typeface="Arial"/>
                <a:ea typeface="Arial"/>
                <a:cs typeface="Arial"/>
              </a:defRPr>
            </a:pPr>
            <a:r>
              <a:rPr sz="3225" b="1">
                <a:solidFill>
                  <a:srgbClr val="1A5276"/>
                </a:solidFill>
                <a:latin typeface="Arial"/>
                <a:ea typeface="Arial"/>
                <a:cs typeface="Arial"/>
              </a:rPr>
              <a:t>Loonsom per week = uurloon × uren per werknemer × werkenden</a:t>
            </a:r>
          </a:p>
        </p:txBody>
      </p:sp>
      <p:graphicFrame>
        <p:nvGraphicFramePr>
          <p:cNvPr id="15" name=""/>
          <p:cNvGraphicFramePr/>
          <p:nvPr/>
        </p:nvGraphicFramePr>
        <p:xfrm>
          <a:off xmlns:a="http://schemas.openxmlformats.org/drawingml/2006/main" x="571500" y="4162425"/>
          <a:ext xmlns:a="http://schemas.openxmlformats.org/drawingml/2006/main" cx="14097000" cy="2667000"/>
        </p:xfrm>
        <a:graphic xmlns:a="http://schemas.openxmlformats.org/drawingml/2006/main">
          <a:graphicData uri="http://schemas.openxmlformats.org/drawingml/2006/table">
            <a:tbl>
              <a:tblPr/>
              <a:tblGrid>
                <a:gridCol w="1809750"/>
                <a:gridCol w="5905500"/>
                <a:gridCol w="6381750"/>
              </a:tblGrid>
              <a:tr h="889000">
                <a:tc>
                  <a:txBody>
                    <a:bodyPr lIns="161925" tIns="95250" rIns="142875" bIns="95250"/>
                    <a:lstStyle/>
                    <a:p>
                      <a:r>
                        <a:rPr sz="2550" b="1">
                          <a:solidFill>
                            <a:srgbClr val="FFFFFF"/>
                          </a:solidFill>
                          <a:latin typeface="Arial"/>
                          <a:ea typeface="Arial"/>
                          <a:cs typeface="Arial"/>
                        </a:rPr>
                        <a:t/>
                      </a:r>
                    </a:p>
                  </a:txBody>
                  <a:tcPr marL="91440" marR="91440" marT="45720" marB="45720" anchor="ctr">
                    <a:solidFill>
                      <a:srgbClr val="183247"/>
                    </a:solidFill>
                  </a:tcPr>
                </a:tc>
                <a:tc>
                  <a:txBody>
                    <a:bodyPr lIns="161925" tIns="95250" rIns="142875" bIns="95250"/>
                    <a:lstStyle/>
                    <a:p>
                      <a:r>
                        <a:rPr sz="2550" b="1">
                          <a:solidFill>
                            <a:srgbClr val="FFFFFF"/>
                          </a:solidFill>
                          <a:latin typeface="Arial"/>
                          <a:ea typeface="Arial"/>
                          <a:cs typeface="Arial"/>
                        </a:rPr>
                        <a:t>Betaalde uren per week</a:t>
                      </a:r>
                    </a:p>
                  </a:txBody>
                  <a:tcPr marL="91440" marR="91440" marT="45720" marB="45720" anchor="ctr">
                    <a:solidFill>
                      <a:srgbClr val="183247"/>
                    </a:solidFill>
                  </a:tcPr>
                </a:tc>
                <a:tc>
                  <a:txBody>
                    <a:bodyPr lIns="161925" tIns="95250" rIns="142875" bIns="95250"/>
                    <a:lstStyle/>
                    <a:p>
                      <a:r>
                        <a:rPr sz="2550" b="1">
                          <a:solidFill>
                            <a:srgbClr val="FFFFFF"/>
                          </a:solidFill>
                          <a:latin typeface="Arial"/>
                          <a:ea typeface="Arial"/>
                          <a:cs typeface="Arial"/>
                        </a:rPr>
                        <a:t>Loonsom per week</a:t>
                      </a:r>
                    </a:p>
                  </a:txBody>
                  <a:tcPr marL="91440" marR="91440" marT="45720" marB="45720" anchor="ctr">
                    <a:solidFill>
                      <a:srgbClr val="183247"/>
                    </a:solidFill>
                  </a:tcPr>
                </a:tc>
              </a:tr>
              <a:tr h="889000">
                <a:tc>
                  <a:txBody>
                    <a:bodyPr lIns="161925" tIns="95250" rIns="142875" bIns="95250"/>
                    <a:lstStyle/>
                    <a:p>
                      <a:r>
                        <a:rPr sz="2550" b="0">
                          <a:solidFill>
                            <a:srgbClr val="183247"/>
                          </a:solidFill>
                          <a:latin typeface="Arial"/>
                          <a:ea typeface="Arial"/>
                          <a:cs typeface="Arial"/>
                        </a:rPr>
                        <a:t>Oud</a:t>
                      </a:r>
                    </a:p>
                  </a:txBody>
                  <a:tcPr marL="91440" marR="91440" marT="45720" marB="45720" anchor="ctr">
                    <a:solidFill>
                      <a:srgbClr val="FFFFFF"/>
                    </a:solidFill>
                  </a:tcPr>
                </a:tc>
                <a:tc>
                  <a:txBody>
                    <a:bodyPr lIns="161925" tIns="95250" rIns="142875" bIns="95250"/>
                    <a:lstStyle/>
                    <a:p>
                      <a:r>
                        <a:rPr sz="2550" b="0">
                          <a:solidFill>
                            <a:srgbClr val="183247"/>
                          </a:solidFill>
                          <a:latin typeface="Arial"/>
                          <a:ea typeface="Arial"/>
                          <a:cs typeface="Arial"/>
                        </a:rPr>
                        <a:t>24 × 60 = 1.440 uur</a:t>
                      </a:r>
                    </a:p>
                  </a:txBody>
                  <a:tcPr marL="91440" marR="91440" marT="45720" marB="45720" anchor="ctr">
                    <a:solidFill>
                      <a:srgbClr val="FFFFFF"/>
                    </a:solidFill>
                  </a:tcPr>
                </a:tc>
                <a:tc>
                  <a:txBody>
                    <a:bodyPr lIns="161925" tIns="95250" rIns="142875" bIns="95250"/>
                    <a:lstStyle/>
                    <a:p>
                      <a:r>
                        <a:rPr sz="2550" b="0">
                          <a:solidFill>
                            <a:srgbClr val="183247"/>
                          </a:solidFill>
                          <a:latin typeface="Arial"/>
                          <a:ea typeface="Arial"/>
                          <a:cs typeface="Arial"/>
                        </a:rPr>
                        <a:t>€ 18 × 1.440 = € 25.920</a:t>
                      </a:r>
                    </a:p>
                  </a:txBody>
                  <a:tcPr marL="91440" marR="91440" marT="45720" marB="45720" anchor="ctr">
                    <a:solidFill>
                      <a:srgbClr val="FFFFFF"/>
                    </a:solidFill>
                  </a:tcPr>
                </a:tc>
              </a:tr>
              <a:tr h="889000">
                <a:tc>
                  <a:txBody>
                    <a:bodyPr lIns="161925" tIns="95250" rIns="142875" bIns="95250"/>
                    <a:lstStyle/>
                    <a:p>
                      <a:r>
                        <a:rPr sz="2550" b="0">
                          <a:solidFill>
                            <a:srgbClr val="183247"/>
                          </a:solidFill>
                          <a:latin typeface="Arial"/>
                          <a:ea typeface="Arial"/>
                          <a:cs typeface="Arial"/>
                        </a:rPr>
                        <a:t>Nieuw</a:t>
                      </a:r>
                    </a:p>
                  </a:txBody>
                  <a:tcPr marL="91440" marR="91440" marT="45720" marB="45720" anchor="ctr">
                    <a:solidFill>
                      <a:srgbClr val="EFF4F7"/>
                    </a:solidFill>
                  </a:tcPr>
                </a:tc>
                <a:tc>
                  <a:txBody>
                    <a:bodyPr lIns="161925" tIns="95250" rIns="142875" bIns="95250"/>
                    <a:lstStyle/>
                    <a:p>
                      <a:r>
                        <a:rPr sz="2550" b="0">
                          <a:solidFill>
                            <a:srgbClr val="183247"/>
                          </a:solidFill>
                          <a:latin typeface="Arial"/>
                          <a:ea typeface="Arial"/>
                          <a:cs typeface="Arial"/>
                        </a:rPr>
                        <a:t>24 × 50 = 1.200 uur</a:t>
                      </a:r>
                    </a:p>
                  </a:txBody>
                  <a:tcPr marL="91440" marR="91440" marT="45720" marB="45720" anchor="ctr">
                    <a:solidFill>
                      <a:srgbClr val="EFF4F7"/>
                    </a:solidFill>
                  </a:tcPr>
                </a:tc>
                <a:tc>
                  <a:txBody>
                    <a:bodyPr lIns="161925" tIns="95250" rIns="142875" bIns="95250"/>
                    <a:lstStyle/>
                    <a:p>
                      <a:r>
                        <a:rPr sz="2550" b="0">
                          <a:solidFill>
                            <a:srgbClr val="183247"/>
                          </a:solidFill>
                          <a:latin typeface="Arial"/>
                          <a:ea typeface="Arial"/>
                          <a:cs typeface="Arial"/>
                        </a:rPr>
                        <a:t>€ 20 × 1.200 = € 24.000</a:t>
                      </a:r>
                    </a:p>
                  </a:txBody>
                  <a:tcPr marL="91440" marR="91440" marT="45720" marB="45720" anchor="ctr">
                    <a:solidFill>
                      <a:srgbClr val="EFF4F7"/>
                    </a:solidFill>
                  </a:tcPr>
                </a:tc>
              </a:tr>
            </a:tbl>
          </a:graphicData>
        </a:graphic>
      </p:graphicFrame>
      <p:sp>
        <p:nvSpPr>
          <p:cNvPr id="8" name="De 70 aanbieders worden niet allemaal betaald.">
            <a:extLst xmlns:a="http://schemas.openxmlformats.org/drawingml/2006/main">
              <a:ext uri="{FF2B5EF4-FFF2-40B4-BE49-F238E27FC236}">
                <a16:creationId xmlns:a16="http://schemas.microsoft.com/office/drawing/2014/main" id="{15E76AC7-B12C-4F6A-ADAD-E5FEB1378A79}"/>
              </a:ext>
            </a:extLst>
          </p:cNvPr>
          <p:cNvSpPr>
            <a:spLocks xmlns:a="http://schemas.openxmlformats.org/drawingml/2006/main" noGrp="1"/>
          </p:cNvSpPr>
          <p:nvPr/>
        </p:nvSpPr>
        <p:spPr>
          <a:xfrm xmlns:a="http://schemas.openxmlformats.org/drawingml/2006/main">
            <a:off x="571500" y="7277100"/>
            <a:ext cx="1409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De 70 aanbieders worden niet allemaal betaald.</a:t>
            </a:r>
          </a:p>
        </p:txBody>
      </p:sp>
    </p:spTree>
    <p:extLst>
      <p:ext uri="{BB962C8B-B14F-4D97-AF65-F5344CB8AC3E}">
        <p14:creationId xmlns:p14="http://schemas.microsoft.com/office/powerpoint/2010/main" val="203831467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 verandering van de loonsom">
            <a:extLst xmlns:a="http://schemas.openxmlformats.org/drawingml/2006/main">
              <a:ext uri="{FF2B5EF4-FFF2-40B4-BE49-F238E27FC236}">
                <a16:creationId xmlns:a16="http://schemas.microsoft.com/office/drawing/2014/main" id="{CF5B842C-BFC2-418F-9BE4-AA99B9EDDA8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verandering van de loonsom</a:t>
            </a:r>
          </a:p>
        </p:txBody>
      </p:sp>
      <p:sp>
        <p:nvSpPr>
          <p:cNvPr id="2" name="">
            <a:extLst xmlns:a="http://schemas.openxmlformats.org/drawingml/2006/main">
              <a:ext uri="{FF2B5EF4-FFF2-40B4-BE49-F238E27FC236}">
                <a16:creationId xmlns:a16="http://schemas.microsoft.com/office/drawing/2014/main" id="{789652FF-DD2F-4E0F-A91A-175851A50E2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a:extLst xmlns:a="http://schemas.openxmlformats.org/drawingml/2006/main">
              <a:ext uri="{FF2B5EF4-FFF2-40B4-BE49-F238E27FC236}">
                <a16:creationId xmlns:a16="http://schemas.microsoft.com/office/drawing/2014/main" id="{D91265B5-D405-4916-B504-A30B91C8EA5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a:t>
            </a:r>
          </a:p>
        </p:txBody>
      </p:sp>
      <p:sp>
        <p:nvSpPr>
          <p:cNvPr id="4" name="12">
            <a:extLst xmlns:a="http://schemas.openxmlformats.org/drawingml/2006/main">
              <a:ext uri="{FF2B5EF4-FFF2-40B4-BE49-F238E27FC236}">
                <a16:creationId xmlns:a16="http://schemas.microsoft.com/office/drawing/2014/main" id="{32DFC910-7DC7-4AC2-9DD9-48A14CBECF7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Uitlegvoorbeeld — niet uit het boek">
            <a:extLst xmlns:a="http://schemas.openxmlformats.org/drawingml/2006/main">
              <a:ext uri="{FF2B5EF4-FFF2-40B4-BE49-F238E27FC236}">
                <a16:creationId xmlns:a16="http://schemas.microsoft.com/office/drawing/2014/main" id="{E71CE7FE-D610-4887-B8B2-256989016C52}"/>
              </a:ext>
            </a:extLst>
          </p:cNvPr>
          <p:cNvSpPr>
            <a:spLocks xmlns:a="http://schemas.openxmlformats.org/drawingml/2006/main" noGrp="1"/>
          </p:cNvSpPr>
          <p:nvPr/>
        </p:nvSpPr>
        <p:spPr>
          <a:xfrm xmlns:a="http://schemas.openxmlformats.org/drawingml/2006/main">
            <a:off x="571500" y="16573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A5276"/>
                </a:solidFill>
                <a:latin typeface="Arial"/>
                <a:ea typeface="Arial"/>
                <a:cs typeface="Arial"/>
              </a:defRPr>
            </a:pPr>
            <a:r>
              <a:rPr sz="2100" b="1">
                <a:solidFill>
                  <a:srgbClr val="1A5276"/>
                </a:solidFill>
                <a:latin typeface="Arial"/>
                <a:ea typeface="Arial"/>
                <a:cs typeface="Arial"/>
              </a:rPr>
              <a:t>Uitlegvoorbeeld — niet uit het boek</a:t>
            </a:r>
          </a:p>
        </p:txBody>
      </p:sp>
      <p:sp>
        <p:nvSpPr>
          <p:cNvPr id="6" name="Verandering = (nieuw − oud) / oud × 100%">
            <a:extLst xmlns:a="http://schemas.openxmlformats.org/drawingml/2006/main">
              <a:ext uri="{FF2B5EF4-FFF2-40B4-BE49-F238E27FC236}">
                <a16:creationId xmlns:a16="http://schemas.microsoft.com/office/drawing/2014/main" id="{8DFB13EB-7720-437F-92F9-70716563CC8C}"/>
              </a:ext>
            </a:extLst>
          </p:cNvPr>
          <p:cNvSpPr>
            <a:spLocks xmlns:a="http://schemas.openxmlformats.org/drawingml/2006/main" noGrp="1"/>
          </p:cNvSpPr>
          <p:nvPr/>
        </p:nvSpPr>
        <p:spPr>
          <a:xfrm xmlns:a="http://schemas.openxmlformats.org/drawingml/2006/main">
            <a:off x="571500" y="2562225"/>
            <a:ext cx="1409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Verandering = (nieuw − oud) / oud × 100%</a:t>
            </a:r>
          </a:p>
        </p:txBody>
      </p:sp>
      <p:sp>
        <p:nvSpPr>
          <p:cNvPr id="7" name="(24.000 − 25.920) / 25.920 × 100% ≈ −7,41%">
            <a:extLst xmlns:a="http://schemas.openxmlformats.org/drawingml/2006/main">
              <a:ext uri="{FF2B5EF4-FFF2-40B4-BE49-F238E27FC236}">
                <a16:creationId xmlns:a16="http://schemas.microsoft.com/office/drawing/2014/main" id="{93BEBA7E-C0BF-4358-9BCD-95659E3D9094}"/>
              </a:ext>
            </a:extLst>
          </p:cNvPr>
          <p:cNvSpPr>
            <a:spLocks xmlns:a="http://schemas.openxmlformats.org/drawingml/2006/main" noGrp="1"/>
          </p:cNvSpPr>
          <p:nvPr/>
        </p:nvSpPr>
        <p:spPr>
          <a:xfrm xmlns:a="http://schemas.openxmlformats.org/drawingml/2006/main">
            <a:off x="571500" y="3971925"/>
            <a:ext cx="1409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A5276"/>
                </a:solidFill>
                <a:latin typeface="Arial"/>
                <a:ea typeface="Arial"/>
                <a:cs typeface="Arial"/>
              </a:defRPr>
            </a:pPr>
            <a:r>
              <a:rPr sz="3225" b="1">
                <a:solidFill>
                  <a:srgbClr val="1A5276"/>
                </a:solidFill>
                <a:latin typeface="Arial"/>
                <a:ea typeface="Arial"/>
                <a:cs typeface="Arial"/>
              </a:rPr>
              <a:t>(24.000 − 25.920) / 25.920 × 100% ≈ −7,41%</a:t>
            </a:r>
          </a:p>
        </p:txBody>
      </p:sp>
      <p:sp>
        <p:nvSpPr>
          <p:cNvPr id="8" name="Het hogere uurloon compenseert hier de daling&#10;van het aantal betaalde ">
            <a:extLst xmlns:a="http://schemas.openxmlformats.org/drawingml/2006/main">
              <a:ext uri="{FF2B5EF4-FFF2-40B4-BE49-F238E27FC236}">
                <a16:creationId xmlns:a16="http://schemas.microsoft.com/office/drawing/2014/main" id="{3F1EF760-D9FA-4AF9-934C-C43AD3DFA665}"/>
              </a:ext>
            </a:extLst>
          </p:cNvPr>
          <p:cNvSpPr>
            <a:spLocks xmlns:a="http://schemas.openxmlformats.org/drawingml/2006/main" noGrp="1"/>
          </p:cNvSpPr>
          <p:nvPr/>
        </p:nvSpPr>
        <p:spPr>
          <a:xfrm xmlns:a="http://schemas.openxmlformats.org/drawingml/2006/main">
            <a:off x="571500" y="5553075"/>
            <a:ext cx="1409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A94D16"/>
                </a:solidFill>
                <a:latin typeface="Arial"/>
                <a:ea typeface="Arial"/>
                <a:cs typeface="Arial"/>
              </a:defRPr>
            </a:pPr>
            <a:r>
              <a:rPr sz="3075" b="1">
                <a:solidFill>
                  <a:srgbClr val="A94D16"/>
                </a:solidFill>
                <a:latin typeface="Arial"/>
                <a:ea typeface="Arial"/>
                <a:cs typeface="Arial"/>
              </a:rPr>
              <a:t>Het hogere uurloon compenseert hier de daling</a:t>
            </a:r>
          </a:p>
          <a:p xmlns:a="http://schemas.openxmlformats.org/drawingml/2006/main">
            <a:pPr algn="l">
              <a:defRPr sz="3075" b="1">
                <a:solidFill>
                  <a:srgbClr val="A94D16"/>
                </a:solidFill>
                <a:latin typeface="Arial"/>
                <a:ea typeface="Arial"/>
                <a:cs typeface="Arial"/>
              </a:defRPr>
            </a:pPr>
            <a:r>
              <a:rPr sz="3075" b="1">
                <a:solidFill>
                  <a:srgbClr val="A94D16"/>
                </a:solidFill>
                <a:latin typeface="Arial"/>
                <a:ea typeface="Arial"/>
                <a:cs typeface="Arial"/>
              </a:rPr>
              <a:t>van het aantal betaalde uren niet.</a:t>
            </a:r>
          </a:p>
        </p:txBody>
      </p:sp>
      <p:sp>
        <p:nvSpPr>
          <p:cNvPr id="9" name="Een andere reactie van betaald werk kan de loonsom laten stijgen.">
            <a:extLst xmlns:a="http://schemas.openxmlformats.org/drawingml/2006/main">
              <a:ext uri="{FF2B5EF4-FFF2-40B4-BE49-F238E27FC236}">
                <a16:creationId xmlns:a16="http://schemas.microsoft.com/office/drawing/2014/main" id="{D91196A1-C540-42FE-B3A3-A5FEFEBBD6A0}"/>
              </a:ext>
            </a:extLst>
          </p:cNvPr>
          <p:cNvSpPr>
            <a:spLocks xmlns:a="http://schemas.openxmlformats.org/drawingml/2006/main" noGrp="1"/>
          </p:cNvSpPr>
          <p:nvPr/>
        </p:nvSpPr>
        <p:spPr>
          <a:xfrm xmlns:a="http://schemas.openxmlformats.org/drawingml/2006/main">
            <a:off x="571500" y="7229475"/>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Een andere reactie van betaald werk kan de loonsom laten stijgen.</a:t>
            </a:r>
          </a:p>
        </p:txBody>
      </p:sp>
    </p:spTree>
    <p:extLst>
      <p:ext uri="{BB962C8B-B14F-4D97-AF65-F5344CB8AC3E}">
        <p14:creationId xmlns:p14="http://schemas.microsoft.com/office/powerpoint/2010/main" val="37473563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Korte controle">
            <a:extLst xmlns:a="http://schemas.openxmlformats.org/drawingml/2006/main">
              <a:ext uri="{FF2B5EF4-FFF2-40B4-BE49-F238E27FC236}">
                <a16:creationId xmlns:a16="http://schemas.microsoft.com/office/drawing/2014/main" id="{3748BAD5-F02E-4B3B-9F94-106E56417A3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controle</a:t>
            </a:r>
          </a:p>
        </p:txBody>
      </p:sp>
      <p:sp>
        <p:nvSpPr>
          <p:cNvPr id="2" name="">
            <a:extLst xmlns:a="http://schemas.openxmlformats.org/drawingml/2006/main">
              <a:ext uri="{FF2B5EF4-FFF2-40B4-BE49-F238E27FC236}">
                <a16:creationId xmlns:a16="http://schemas.microsoft.com/office/drawing/2014/main" id="{6898E4C9-8796-4373-B6B7-1CA1CD9FA33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a:extLst xmlns:a="http://schemas.openxmlformats.org/drawingml/2006/main">
              <a:ext uri="{FF2B5EF4-FFF2-40B4-BE49-F238E27FC236}">
                <a16:creationId xmlns:a16="http://schemas.microsoft.com/office/drawing/2014/main" id="{2B253594-0A45-4C97-9878-15C477649A3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a:t>
            </a:r>
          </a:p>
        </p:txBody>
      </p:sp>
      <p:sp>
        <p:nvSpPr>
          <p:cNvPr id="4" name="13">
            <a:extLst xmlns:a="http://schemas.openxmlformats.org/drawingml/2006/main">
              <a:ext uri="{FF2B5EF4-FFF2-40B4-BE49-F238E27FC236}">
                <a16:creationId xmlns:a16="http://schemas.microsoft.com/office/drawing/2014/main" id="{75FD0D44-3A2E-477B-A03F-9F19C73034A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Uitlegvoorbeeld — niet uit het boek">
            <a:extLst xmlns:a="http://schemas.openxmlformats.org/drawingml/2006/main">
              <a:ext uri="{FF2B5EF4-FFF2-40B4-BE49-F238E27FC236}">
                <a16:creationId xmlns:a16="http://schemas.microsoft.com/office/drawing/2014/main" id="{1E44077E-FB65-44A1-B855-D83C973B1E48}"/>
              </a:ext>
            </a:extLst>
          </p:cNvPr>
          <p:cNvSpPr>
            <a:spLocks xmlns:a="http://schemas.openxmlformats.org/drawingml/2006/main" noGrp="1"/>
          </p:cNvSpPr>
          <p:nvPr/>
        </p:nvSpPr>
        <p:spPr>
          <a:xfrm xmlns:a="http://schemas.openxmlformats.org/drawingml/2006/main">
            <a:off x="571500" y="16573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A5276"/>
                </a:solidFill>
                <a:latin typeface="Arial"/>
                <a:ea typeface="Arial"/>
                <a:cs typeface="Arial"/>
              </a:defRPr>
            </a:pPr>
            <a:r>
              <a:rPr sz="2100" b="1">
                <a:solidFill>
                  <a:srgbClr val="1A5276"/>
                </a:solidFill>
                <a:latin typeface="Arial"/>
                <a:ea typeface="Arial"/>
                <a:cs typeface="Arial"/>
              </a:rPr>
              <a:t>Uitlegvoorbeeld — niet uit het boek</a:t>
            </a:r>
          </a:p>
        </p:txBody>
      </p:sp>
      <p:sp>
        <p:nvSpPr>
          <p:cNvPr id="6" name="“Iedereen verdient meer, want het uurloon stijgt.”">
            <a:extLst xmlns:a="http://schemas.openxmlformats.org/drawingml/2006/main">
              <a:ext uri="{FF2B5EF4-FFF2-40B4-BE49-F238E27FC236}">
                <a16:creationId xmlns:a16="http://schemas.microsoft.com/office/drawing/2014/main" id="{BEA69F25-8E88-4710-9EF3-6D74AFFE6AEC}"/>
              </a:ext>
            </a:extLst>
          </p:cNvPr>
          <p:cNvSpPr>
            <a:spLocks xmlns:a="http://schemas.openxmlformats.org/drawingml/2006/main" noGrp="1"/>
          </p:cNvSpPr>
          <p:nvPr/>
        </p:nvSpPr>
        <p:spPr>
          <a:xfrm xmlns:a="http://schemas.openxmlformats.org/drawingml/2006/main">
            <a:off x="571500" y="2571750"/>
            <a:ext cx="1409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A5276"/>
                </a:solidFill>
                <a:latin typeface="Arial"/>
                <a:ea typeface="Arial"/>
                <a:cs typeface="Arial"/>
              </a:defRPr>
            </a:pPr>
            <a:r>
              <a:rPr sz="3675" b="1">
                <a:solidFill>
                  <a:srgbClr val="1A5276"/>
                </a:solidFill>
                <a:latin typeface="Arial"/>
                <a:ea typeface="Arial"/>
                <a:cs typeface="Arial"/>
              </a:rPr>
              <a:t>“Iedereen verdient meer, want het uurloon stijgt.”</a:t>
            </a:r>
          </a:p>
        </p:txBody>
      </p:sp>
      <p:sp>
        <p:nvSpPr>
          <p:cNvPr id="7" name="Voor welke groep klopt dit bij dezelfde uren?&#10;Welke groep ontvangt dit">
            <a:extLst xmlns:a="http://schemas.openxmlformats.org/drawingml/2006/main">
              <a:ext uri="{FF2B5EF4-FFF2-40B4-BE49-F238E27FC236}">
                <a16:creationId xmlns:a16="http://schemas.microsoft.com/office/drawing/2014/main" id="{97E5B0AC-0AEE-4DFF-9692-5DEB4403535A}"/>
              </a:ext>
            </a:extLst>
          </p:cNvPr>
          <p:cNvSpPr>
            <a:spLocks xmlns:a="http://schemas.openxmlformats.org/drawingml/2006/main" noGrp="1"/>
          </p:cNvSpPr>
          <p:nvPr/>
        </p:nvSpPr>
        <p:spPr>
          <a:xfrm xmlns:a="http://schemas.openxmlformats.org/drawingml/2006/main">
            <a:off x="571500" y="5038725"/>
            <a:ext cx="14097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Voor welke groep klopt dit bij dezelfde uren?</a:t>
            </a:r>
          </a:p>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Welke groep ontvangt dit hogere loon niet?</a:t>
            </a:r>
          </a:p>
        </p:txBody>
      </p:sp>
    </p:spTree>
    <p:extLst>
      <p:ext uri="{BB962C8B-B14F-4D97-AF65-F5344CB8AC3E}">
        <p14:creationId xmlns:p14="http://schemas.microsoft.com/office/powerpoint/2010/main" val="9961723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3.4 Minimumloon">
            <a:extLst xmlns:a="http://schemas.openxmlformats.org/drawingml/2006/main">
              <a:ext uri="{FF2B5EF4-FFF2-40B4-BE49-F238E27FC236}">
                <a16:creationId xmlns:a16="http://schemas.microsoft.com/office/drawing/2014/main" id="{35203074-7A7D-486F-ACFE-DC700998D03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§4.3.4 Minimumloon</a:t>
            </a:r>
          </a:p>
        </p:txBody>
      </p:sp>
      <p:sp>
        <p:nvSpPr>
          <p:cNvPr id="2" name="">
            <a:extLst xmlns:a="http://schemas.openxmlformats.org/drawingml/2006/main">
              <a:ext uri="{FF2B5EF4-FFF2-40B4-BE49-F238E27FC236}">
                <a16:creationId xmlns:a16="http://schemas.microsoft.com/office/drawing/2014/main" id="{C22A6471-CA10-49E6-8947-A9622ED1A1A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a:extLst xmlns:a="http://schemas.openxmlformats.org/drawingml/2006/main">
              <a:ext uri="{FF2B5EF4-FFF2-40B4-BE49-F238E27FC236}">
                <a16:creationId xmlns:a16="http://schemas.microsoft.com/office/drawing/2014/main" id="{1C4BEF0B-194D-4689-AE35-CC8DBB83449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a:t>
            </a:r>
          </a:p>
        </p:txBody>
      </p:sp>
      <p:sp>
        <p:nvSpPr>
          <p:cNvPr id="4" name="14">
            <a:extLst xmlns:a="http://schemas.openxmlformats.org/drawingml/2006/main">
              <a:ext uri="{FF2B5EF4-FFF2-40B4-BE49-F238E27FC236}">
                <a16:creationId xmlns:a16="http://schemas.microsoft.com/office/drawing/2014/main" id="{A87980A3-7A30-46E3-86DA-C156253DC0A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phase">
            <a:extLst xmlns:a="http://schemas.openxmlformats.org/drawingml/2006/main">
              <a:ext uri="{FF2B5EF4-FFF2-40B4-BE49-F238E27FC236}">
                <a16:creationId xmlns:a16="http://schemas.microsoft.com/office/drawing/2014/main" id="{4EECE91E-6CEE-458D-9E9B-87F837D6BFBB}"/>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4050E657-3FBA-4496-ABC0-3AE07135B6FB}"/>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2FE514A2-F1B5-4B63-843A-23ED8272267F}"/>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203EC00A-B8A1-495A-ACBF-DDCF7711091F}"/>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A0BA7436-59AF-4960-8B86-94FE381E17D5}"/>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385C1F4E-4091-48B5-95EF-62D50A180773}"/>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40460E43-DDD5-47C6-A48D-B583A169727F}"/>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FD74FAC1-FD12-4869-BE7E-8754F2AA0DBF}"/>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E573D36C-E543-4AA8-97B4-4BD5A1FBF914}"/>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8224110C-4DC9-4349-8B88-6546A07C376D}"/>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8B55904E-7D02-4B74-B36D-B2ACE4E8FAEF}"/>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B7979951-A068-41A2-A735-973D8D4778B1}"/>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6DC7A347-3EDD-4156-91CB-EBA0B635A25F}"/>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3F72D118-CA7B-4F24-BE2A-0DBE71F0FF23}"/>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34.</a:t>
            </a:r>
          </a:p>
        </p:txBody>
      </p:sp>
      <p:sp>
        <p:nvSpPr>
          <p:cNvPr id="19" name="route-number-7">
            <a:extLst xmlns:a="http://schemas.openxmlformats.org/drawingml/2006/main">
              <a:ext uri="{FF2B5EF4-FFF2-40B4-BE49-F238E27FC236}">
                <a16:creationId xmlns:a16="http://schemas.microsoft.com/office/drawing/2014/main" id="{AF1C42BC-87C0-4FDB-AAC7-0CE88297C026}"/>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43107097-B009-4BBA-A61D-93C24013AA70}"/>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75A17129-4BBE-4E9E-B2CD-CF6EBA70E8D0}"/>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85B5B06A-97D4-425D-B4AD-E7B20C520CA6}"/>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Bindendheid bepalen. Werk 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loonsom berekenen. Gevolgen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voor groepen verklaren.</a:t>
            </a:r>
          </a:p>
        </p:txBody>
      </p:sp>
      <p:sp>
        <p:nvSpPr>
          <p:cNvPr id="23" name="">
            <a:extLst xmlns:a="http://schemas.openxmlformats.org/drawingml/2006/main">
              <a:ext uri="{FF2B5EF4-FFF2-40B4-BE49-F238E27FC236}">
                <a16:creationId xmlns:a16="http://schemas.microsoft.com/office/drawing/2014/main" id="{798B873A-6089-4FF5-81EF-6465457E6DC9}"/>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F415E6DD-3203-49F5-979F-F34B2D4EAB86}"/>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0511C3DC-E335-4793-9161-675E9B53855D}"/>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145 · Opgaven 28 en 29</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29: verkennen, theorie p. 143</a:t>
            </a:r>
          </a:p>
        </p:txBody>
      </p:sp>
      <p:sp>
        <p:nvSpPr>
          <p:cNvPr id="26" name="">
            <a:extLst xmlns:a="http://schemas.openxmlformats.org/drawingml/2006/main">
              <a:ext uri="{FF2B5EF4-FFF2-40B4-BE49-F238E27FC236}">
                <a16:creationId xmlns:a16="http://schemas.microsoft.com/office/drawing/2014/main" id="{9603D257-65EB-4D8B-BF8C-F054060F5656}"/>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B38A913F-CDFA-4EDB-B167-E36DFD36B047}"/>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4CAF713D-33DC-426A-A3DC-9ED140882258}"/>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§4.3.4 Minimumloon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30 en 31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32 en 33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34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7334353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4 · Een loonvloer in de sorteercentra">
            <a:extLst xmlns:a="http://schemas.openxmlformats.org/drawingml/2006/main">
              <a:ext uri="{FF2B5EF4-FFF2-40B4-BE49-F238E27FC236}">
                <a16:creationId xmlns:a16="http://schemas.microsoft.com/office/drawing/2014/main" id="{1BD05ADF-A403-4BDA-9915-EEFC5483BDF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34 · Een loonvloer in de sorteercentra</a:t>
            </a:r>
          </a:p>
        </p:txBody>
      </p:sp>
      <p:sp>
        <p:nvSpPr>
          <p:cNvPr id="2" name="">
            <a:extLst xmlns:a="http://schemas.openxmlformats.org/drawingml/2006/main">
              <a:ext uri="{FF2B5EF4-FFF2-40B4-BE49-F238E27FC236}">
                <a16:creationId xmlns:a16="http://schemas.microsoft.com/office/drawing/2014/main" id="{C794DFB6-FAC5-4BB6-8864-C65E3F70606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 Opgave 34 · Boekpagina 147">
            <a:extLst xmlns:a="http://schemas.openxmlformats.org/drawingml/2006/main">
              <a:ext uri="{FF2B5EF4-FFF2-40B4-BE49-F238E27FC236}">
                <a16:creationId xmlns:a16="http://schemas.microsoft.com/office/drawing/2014/main" id="{428FC96C-71F5-407F-A06A-194D9743D81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 · Opgave 34 · Boekpagina 147</a:t>
            </a:r>
          </a:p>
        </p:txBody>
      </p:sp>
      <p:sp>
        <p:nvSpPr>
          <p:cNvPr id="4" name="15">
            <a:extLst xmlns:a="http://schemas.openxmlformats.org/drawingml/2006/main">
              <a:ext uri="{FF2B5EF4-FFF2-40B4-BE49-F238E27FC236}">
                <a16:creationId xmlns:a16="http://schemas.microsoft.com/office/drawing/2014/main" id="{DD4D0759-F504-4CA9-8C11-4AB5C512A30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Lᵥ = 220 − 10w     en     Lₐ = −20 + 10w">
            <a:extLst xmlns:a="http://schemas.openxmlformats.org/drawingml/2006/main">
              <a:ext uri="{FF2B5EF4-FFF2-40B4-BE49-F238E27FC236}">
                <a16:creationId xmlns:a16="http://schemas.microsoft.com/office/drawing/2014/main" id="{B4536203-DFCC-4DC3-9311-E7171F18C88A}"/>
              </a:ext>
            </a:extLst>
          </p:cNvPr>
          <p:cNvSpPr>
            <a:spLocks xmlns:a="http://schemas.openxmlformats.org/drawingml/2006/main" noGrp="1"/>
          </p:cNvSpPr>
          <p:nvPr/>
        </p:nvSpPr>
        <p:spPr>
          <a:xfrm xmlns:a="http://schemas.openxmlformats.org/drawingml/2006/main">
            <a:off x="571500" y="2066925"/>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A5276"/>
                </a:solidFill>
                <a:latin typeface="Arial"/>
                <a:ea typeface="Arial"/>
                <a:cs typeface="Arial"/>
              </a:defRPr>
            </a:pPr>
            <a:r>
              <a:rPr sz="3300" b="1">
                <a:solidFill>
                  <a:srgbClr val="1A5276"/>
                </a:solidFill>
                <a:latin typeface="Arial"/>
                <a:ea typeface="Arial"/>
                <a:cs typeface="Arial"/>
              </a:rPr>
              <a:t>Lᵥ = 220 − 10w     en     Lₐ = −20 + 10w</a:t>
            </a:r>
          </a:p>
        </p:txBody>
      </p:sp>
      <p:sp>
        <p:nvSpPr>
          <p:cNvPr id="6" name="Voor € 2 ≤ w ≤ € 22. L is het aantal personen met ieder 25 betaalde ur">
            <a:extLst xmlns:a="http://schemas.openxmlformats.org/drawingml/2006/main">
              <a:ext uri="{FF2B5EF4-FFF2-40B4-BE49-F238E27FC236}">
                <a16:creationId xmlns:a16="http://schemas.microsoft.com/office/drawing/2014/main" id="{3EDA114C-4B29-48F1-B3CC-7481A0D014CB}"/>
              </a:ext>
            </a:extLst>
          </p:cNvPr>
          <p:cNvSpPr>
            <a:spLocks xmlns:a="http://schemas.openxmlformats.org/drawingml/2006/main" noGrp="1"/>
          </p:cNvSpPr>
          <p:nvPr/>
        </p:nvSpPr>
        <p:spPr>
          <a:xfrm xmlns:a="http://schemas.openxmlformats.org/drawingml/2006/main">
            <a:off x="571500" y="3190875"/>
            <a:ext cx="14097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Voor € 2 ≤ w ≤ € 22. L is het aantal personen met ieder 25 betaalde uren per week; w is het brutouurloon in euro.</a:t>
            </a:r>
          </a:p>
        </p:txBody>
      </p:sp>
      <p:sp>
        <p:nvSpPr>
          <p:cNvPr id="7" name="Een fictief minimumloon wordt € 14.">
            <a:extLst xmlns:a="http://schemas.openxmlformats.org/drawingml/2006/main">
              <a:ext uri="{FF2B5EF4-FFF2-40B4-BE49-F238E27FC236}">
                <a16:creationId xmlns:a16="http://schemas.microsoft.com/office/drawing/2014/main" id="{D3063D2F-6158-4D32-BC97-C47CD1EBEF33}"/>
              </a:ext>
            </a:extLst>
          </p:cNvPr>
          <p:cNvSpPr>
            <a:spLocks xmlns:a="http://schemas.openxmlformats.org/drawingml/2006/main" noGrp="1"/>
          </p:cNvSpPr>
          <p:nvPr/>
        </p:nvSpPr>
        <p:spPr>
          <a:xfrm xmlns:a="http://schemas.openxmlformats.org/drawingml/2006/main">
            <a:off x="571500" y="4810125"/>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Een fictief minimumloon wordt € 14.</a:t>
            </a:r>
          </a:p>
        </p:txBody>
      </p:sp>
      <p:sp>
        <p:nvSpPr>
          <p:cNvPr id="8" name="Werkgevers concurreren; er zijn geen vacatures of zoekproblemen. Alle ">
            <a:extLst xmlns:a="http://schemas.openxmlformats.org/drawingml/2006/main">
              <a:ext uri="{FF2B5EF4-FFF2-40B4-BE49-F238E27FC236}">
                <a16:creationId xmlns:a16="http://schemas.microsoft.com/office/drawing/2014/main" id="{29464265-0AC7-444F-B144-B58712DFB69E}"/>
              </a:ext>
            </a:extLst>
          </p:cNvPr>
          <p:cNvSpPr>
            <a:spLocks xmlns:a="http://schemas.openxmlformats.org/drawingml/2006/main" noGrp="1"/>
          </p:cNvSpPr>
          <p:nvPr/>
        </p:nvSpPr>
        <p:spPr>
          <a:xfrm xmlns:a="http://schemas.openxmlformats.org/drawingml/2006/main">
            <a:off x="571500" y="5962650"/>
            <a:ext cx="1409700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Werkgevers concurreren; er zijn geen vacatures of zoekproblemen. Alle gevraagde plaatsen worden gevuld. Alle aanbieders zonder baan zoeken en zijn direct beschikbaar.</a:t>
            </a:r>
          </a:p>
        </p:txBody>
      </p:sp>
    </p:spTree>
    <p:extLst>
      <p:ext uri="{BB962C8B-B14F-4D97-AF65-F5344CB8AC3E}">
        <p14:creationId xmlns:p14="http://schemas.microsoft.com/office/powerpoint/2010/main" val="110640704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4 · Deelvragen a en b">
            <a:extLst xmlns:a="http://schemas.openxmlformats.org/drawingml/2006/main">
              <a:ext uri="{FF2B5EF4-FFF2-40B4-BE49-F238E27FC236}">
                <a16:creationId xmlns:a16="http://schemas.microsoft.com/office/drawing/2014/main" id="{1D1CC32A-2487-4E20-A38A-AEC27F5F8D4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34 · Deelvragen a en b</a:t>
            </a:r>
          </a:p>
        </p:txBody>
      </p:sp>
      <p:sp>
        <p:nvSpPr>
          <p:cNvPr id="2" name="">
            <a:extLst xmlns:a="http://schemas.openxmlformats.org/drawingml/2006/main">
              <a:ext uri="{FF2B5EF4-FFF2-40B4-BE49-F238E27FC236}">
                <a16:creationId xmlns:a16="http://schemas.microsoft.com/office/drawing/2014/main" id="{E6F086A9-C275-4FB2-B602-A8BE71A7406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 Opgave 34 · Boekpagina 147">
            <a:extLst xmlns:a="http://schemas.openxmlformats.org/drawingml/2006/main">
              <a:ext uri="{FF2B5EF4-FFF2-40B4-BE49-F238E27FC236}">
                <a16:creationId xmlns:a16="http://schemas.microsoft.com/office/drawing/2014/main" id="{A8C99D41-7340-4FA9-94BE-BD63BB59137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 · Opgave 34 · Boekpagina 147</a:t>
            </a:r>
          </a:p>
        </p:txBody>
      </p:sp>
      <p:sp>
        <p:nvSpPr>
          <p:cNvPr id="4" name="16">
            <a:extLst xmlns:a="http://schemas.openxmlformats.org/drawingml/2006/main">
              <a:ext uri="{FF2B5EF4-FFF2-40B4-BE49-F238E27FC236}">
                <a16:creationId xmlns:a16="http://schemas.microsoft.com/office/drawing/2014/main" id="{045D8C1A-6A73-4274-AA12-FB987620FC1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a. (2p) Bereken het vrije evenwicht en bepaal of de loonvloer bindend ">
            <a:extLst xmlns:a="http://schemas.openxmlformats.org/drawingml/2006/main">
              <a:ext uri="{FF2B5EF4-FFF2-40B4-BE49-F238E27FC236}">
                <a16:creationId xmlns:a16="http://schemas.microsoft.com/office/drawing/2014/main" id="{3A1FA5C1-28BA-4560-BCFB-52C3F3B91710}"/>
              </a:ext>
            </a:extLst>
          </p:cNvPr>
          <p:cNvSpPr>
            <a:spLocks xmlns:a="http://schemas.openxmlformats.org/drawingml/2006/main" noGrp="1"/>
          </p:cNvSpPr>
          <p:nvPr/>
        </p:nvSpPr>
        <p:spPr>
          <a:xfrm xmlns:a="http://schemas.openxmlformats.org/drawingml/2006/main">
            <a:off x="571500" y="2219325"/>
            <a:ext cx="1409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a. (2p) Bereken het vrije evenwicht en bepaal of de loonvloer bindend is.</a:t>
            </a:r>
          </a:p>
        </p:txBody>
      </p:sp>
      <p:sp>
        <p:nvSpPr>
          <p:cNvPr id="6" name="">
            <a:extLst xmlns:a="http://schemas.openxmlformats.org/drawingml/2006/main">
              <a:ext uri="{FF2B5EF4-FFF2-40B4-BE49-F238E27FC236}">
                <a16:creationId xmlns:a16="http://schemas.microsoft.com/office/drawing/2014/main" id="{638DAC78-0F05-4D52-85E8-F243405F4A80}"/>
              </a:ext>
            </a:extLst>
          </p:cNvPr>
          <p:cNvSpPr>
            <a:spLocks xmlns:a="http://schemas.openxmlformats.org/drawingml/2006/main" noGrp="1"/>
          </p:cNvSpPr>
          <p:nvPr/>
        </p:nvSpPr>
        <p:spPr>
          <a:xfrm xmlns:a="http://schemas.openxmlformats.org/drawingml/2006/main">
            <a:off x="571500" y="4191000"/>
            <a:ext cx="14097000" cy="0"/>
          </a:xfrm>
          <a:prstGeom xmlns:a="http://schemas.openxmlformats.org/drawingml/2006/main" prst="line">
            <a:avLst/>
          </a:prstGeom>
          <a:ln xmlns:a="http://schemas.openxmlformats.org/drawingml/2006/main" w="19050">
            <a:solidFill>
              <a:srgbClr val="C6D2DB"/>
            </a:solidFill>
          </a:ln>
        </p:spPr>
      </p:sp>
      <p:sp>
        <p:nvSpPr>
          <p:cNvPr id="7" name="b. (3p) Bereken bij de loonvloer arbeidsvraag, arbeidsaanbod, werkgele">
            <a:extLst xmlns:a="http://schemas.openxmlformats.org/drawingml/2006/main">
              <a:ext uri="{FF2B5EF4-FFF2-40B4-BE49-F238E27FC236}">
                <a16:creationId xmlns:a16="http://schemas.microsoft.com/office/drawing/2014/main" id="{39244270-F608-4C0C-9067-FC27307ECE34}"/>
              </a:ext>
            </a:extLst>
          </p:cNvPr>
          <p:cNvSpPr>
            <a:spLocks xmlns:a="http://schemas.openxmlformats.org/drawingml/2006/main" noGrp="1"/>
          </p:cNvSpPr>
          <p:nvPr/>
        </p:nvSpPr>
        <p:spPr>
          <a:xfrm xmlns:a="http://schemas.openxmlformats.org/drawingml/2006/main">
            <a:off x="571500" y="4752975"/>
            <a:ext cx="14097000" cy="2314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b. (3p) Bereken bij de loonvloer arbeidsvraag, arbeidsaanbod, werkgelegenheid en aanbodoverschot. Geef de loonvloer en beide hoeveelheden aan in de basisgrafiek.</a:t>
            </a:r>
          </a:p>
        </p:txBody>
      </p:sp>
    </p:spTree>
    <p:extLst>
      <p:ext uri="{BB962C8B-B14F-4D97-AF65-F5344CB8AC3E}">
        <p14:creationId xmlns:p14="http://schemas.microsoft.com/office/powerpoint/2010/main" val="185442530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4 · Basisgrafiek">
            <a:extLst xmlns:a="http://schemas.openxmlformats.org/drawingml/2006/main">
              <a:ext uri="{FF2B5EF4-FFF2-40B4-BE49-F238E27FC236}">
                <a16:creationId xmlns:a16="http://schemas.microsoft.com/office/drawing/2014/main" id="{C0BD0228-08ED-4128-ACA9-50A931274C1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34 · Basisgrafiek</a:t>
            </a:r>
          </a:p>
        </p:txBody>
      </p:sp>
      <p:sp>
        <p:nvSpPr>
          <p:cNvPr id="2" name="">
            <a:extLst xmlns:a="http://schemas.openxmlformats.org/drawingml/2006/main">
              <a:ext uri="{FF2B5EF4-FFF2-40B4-BE49-F238E27FC236}">
                <a16:creationId xmlns:a16="http://schemas.microsoft.com/office/drawing/2014/main" id="{CFEDB581-ED69-4479-9E8B-F62B5DAABEA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 Opgave 34 · Boekpagina 147">
            <a:extLst xmlns:a="http://schemas.openxmlformats.org/drawingml/2006/main">
              <a:ext uri="{FF2B5EF4-FFF2-40B4-BE49-F238E27FC236}">
                <a16:creationId xmlns:a16="http://schemas.microsoft.com/office/drawing/2014/main" id="{7FF84021-043C-457B-BE06-BD55755DE79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 · Opgave 34 · Boekpagina 147</a:t>
            </a:r>
          </a:p>
        </p:txBody>
      </p:sp>
      <p:sp>
        <p:nvSpPr>
          <p:cNvPr id="4" name="17">
            <a:extLst xmlns:a="http://schemas.openxmlformats.org/drawingml/2006/main">
              <a:ext uri="{FF2B5EF4-FFF2-40B4-BE49-F238E27FC236}">
                <a16:creationId xmlns:a16="http://schemas.microsoft.com/office/drawing/2014/main" id="{80E45A28-7681-483B-8570-A81FCB04566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graphicFrame>
        <p:nvGraphicFramePr>
          <p:cNvPr id="13" name="Chart"/>
          <p:cNvGraphicFramePr/>
          <p:nvPr/>
        </p:nvGraphicFramePr>
        <p:xfrm>
          <a:off xmlns:a="http://schemas.openxmlformats.org/drawingml/2006/main" x="571500" y="2305050"/>
          <a:ext xmlns:a="http://schemas.openxmlformats.org/drawingml/2006/main" cx="10096500" cy="5334000"/>
        </p:xfrm>
        <a:graphic xmlns:a="http://schemas.openxmlformats.org/drawingml/2006/main">
          <a:graphicData uri="http://schemas.openxmlformats.org/drawingml/2006/chart">
            <c:chart xmlns:r="http://schemas.openxmlformats.org/officeDocument/2006/relationships" xmlns:c="http://schemas.openxmlformats.org/drawingml/2006/chart" r:id="R47b8a1c60b574d41"/>
          </a:graphicData>
        </a:graphic>
      </p:graphicFrame>
      <p:sp>
        <p:nvSpPr>
          <p:cNvPr id="6" name="Lᵥ = 220 − 10w&#10;Lₐ = −20 + 10w">
            <a:extLst xmlns:a="http://schemas.openxmlformats.org/drawingml/2006/main">
              <a:ext uri="{FF2B5EF4-FFF2-40B4-BE49-F238E27FC236}">
                <a16:creationId xmlns:a16="http://schemas.microsoft.com/office/drawing/2014/main" id="{5467B56A-9111-4BF2-8CE7-F9D4B96AC5B6}"/>
              </a:ext>
            </a:extLst>
          </p:cNvPr>
          <p:cNvSpPr>
            <a:spLocks xmlns:a="http://schemas.openxmlformats.org/drawingml/2006/main" noGrp="1"/>
          </p:cNvSpPr>
          <p:nvPr/>
        </p:nvSpPr>
        <p:spPr>
          <a:xfrm xmlns:a="http://schemas.openxmlformats.org/drawingml/2006/main">
            <a:off x="10906125" y="2695575"/>
            <a:ext cx="37623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Lᵥ = 220 − 10w</a:t>
            </a:r>
          </a:p>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Lₐ = −20 + 10w</a:t>
            </a:r>
          </a:p>
        </p:txBody>
      </p:sp>
      <p:sp>
        <p:nvSpPr>
          <p:cNvPr id="7" name="Vul de loonvloer,&#10;vraag en aanbod&#10;aan; teken de lijnen&#10;niet opnieuw.">
            <a:extLst xmlns:a="http://schemas.openxmlformats.org/drawingml/2006/main">
              <a:ext uri="{FF2B5EF4-FFF2-40B4-BE49-F238E27FC236}">
                <a16:creationId xmlns:a16="http://schemas.microsoft.com/office/drawing/2014/main" id="{E86F310C-E371-4336-ADCF-512B5BB6C8B0}"/>
              </a:ext>
            </a:extLst>
          </p:cNvPr>
          <p:cNvSpPr>
            <a:spLocks xmlns:a="http://schemas.openxmlformats.org/drawingml/2006/main" noGrp="1"/>
          </p:cNvSpPr>
          <p:nvPr/>
        </p:nvSpPr>
        <p:spPr>
          <a:xfrm xmlns:a="http://schemas.openxmlformats.org/drawingml/2006/main">
            <a:off x="10906125" y="4772025"/>
            <a:ext cx="376237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Vul de loonvloer,</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vraag en aanbod</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aan; teken de lijnen</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niet opnieuw.</a:t>
            </a:r>
          </a:p>
        </p:txBody>
      </p:sp>
      <p:sp>
        <p:nvSpPr>
          <p:cNvPr id="8" name="Functies voor € 2 ≤ w ≤ € 22">
            <a:extLst xmlns:a="http://schemas.openxmlformats.org/drawingml/2006/main">
              <a:ext uri="{FF2B5EF4-FFF2-40B4-BE49-F238E27FC236}">
                <a16:creationId xmlns:a16="http://schemas.microsoft.com/office/drawing/2014/main" id="{14E3ED2B-CD93-4B0A-B36A-9334C1F95413}"/>
              </a:ext>
            </a:extLst>
          </p:cNvPr>
          <p:cNvSpPr>
            <a:spLocks xmlns:a="http://schemas.openxmlformats.org/drawingml/2006/main" noGrp="1"/>
          </p:cNvSpPr>
          <p:nvPr/>
        </p:nvSpPr>
        <p:spPr>
          <a:xfrm xmlns:a="http://schemas.openxmlformats.org/drawingml/2006/main">
            <a:off x="571500" y="1695450"/>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A5276"/>
                </a:solidFill>
                <a:latin typeface="Arial"/>
                <a:ea typeface="Arial"/>
                <a:cs typeface="Arial"/>
              </a:defRPr>
            </a:pPr>
            <a:r>
              <a:rPr sz="2175" b="0">
                <a:solidFill>
                  <a:srgbClr val="1A5276"/>
                </a:solidFill>
                <a:latin typeface="Arial"/>
                <a:ea typeface="Arial"/>
                <a:cs typeface="Arial"/>
              </a:rPr>
              <a:t>Functies voor € 2 ≤ w ≤ € 22</a:t>
            </a:r>
          </a:p>
        </p:txBody>
      </p:sp>
    </p:spTree>
    <p:extLst>
      <p:ext uri="{BB962C8B-B14F-4D97-AF65-F5344CB8AC3E}">
        <p14:creationId xmlns:p14="http://schemas.microsoft.com/office/powerpoint/2010/main" val="115852323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4 · Deelvragen c en d">
            <a:extLst xmlns:a="http://schemas.openxmlformats.org/drawingml/2006/main">
              <a:ext uri="{FF2B5EF4-FFF2-40B4-BE49-F238E27FC236}">
                <a16:creationId xmlns:a16="http://schemas.microsoft.com/office/drawing/2014/main" id="{D4DAB33A-40E9-4A43-8ED1-9870470D8AD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34 · Deelvragen c en d</a:t>
            </a:r>
          </a:p>
        </p:txBody>
      </p:sp>
      <p:sp>
        <p:nvSpPr>
          <p:cNvPr id="2" name="">
            <a:extLst xmlns:a="http://schemas.openxmlformats.org/drawingml/2006/main">
              <a:ext uri="{FF2B5EF4-FFF2-40B4-BE49-F238E27FC236}">
                <a16:creationId xmlns:a16="http://schemas.microsoft.com/office/drawing/2014/main" id="{98852243-758C-46CA-882F-0780332F2B4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 Opgave 34 · Boekpagina 147">
            <a:extLst xmlns:a="http://schemas.openxmlformats.org/drawingml/2006/main">
              <a:ext uri="{FF2B5EF4-FFF2-40B4-BE49-F238E27FC236}">
                <a16:creationId xmlns:a16="http://schemas.microsoft.com/office/drawing/2014/main" id="{57505FB3-DCF6-41ED-A505-5F9037BB032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 · Opgave 34 · Boekpagina 147</a:t>
            </a:r>
          </a:p>
        </p:txBody>
      </p:sp>
      <p:sp>
        <p:nvSpPr>
          <p:cNvPr id="4" name="18">
            <a:extLst xmlns:a="http://schemas.openxmlformats.org/drawingml/2006/main">
              <a:ext uri="{FF2B5EF4-FFF2-40B4-BE49-F238E27FC236}">
                <a16:creationId xmlns:a16="http://schemas.microsoft.com/office/drawing/2014/main" id="{74537A30-4094-4A8E-B91C-B50894C0C83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c. (3p) Bereken de loonsom vóór en na de verandering en de procentuele">
            <a:extLst xmlns:a="http://schemas.openxmlformats.org/drawingml/2006/main">
              <a:ext uri="{FF2B5EF4-FFF2-40B4-BE49-F238E27FC236}">
                <a16:creationId xmlns:a16="http://schemas.microsoft.com/office/drawing/2014/main" id="{3A30818F-FA18-4C6D-8503-88654FB22162}"/>
              </a:ext>
            </a:extLst>
          </p:cNvPr>
          <p:cNvSpPr>
            <a:spLocks xmlns:a="http://schemas.openxmlformats.org/drawingml/2006/main" noGrp="1"/>
          </p:cNvSpPr>
          <p:nvPr/>
        </p:nvSpPr>
        <p:spPr>
          <a:xfrm xmlns:a="http://schemas.openxmlformats.org/drawingml/2006/main">
            <a:off x="571500" y="2257425"/>
            <a:ext cx="14097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c. (3p) Bereken de loonsom vóór en na de verandering en de procentuele verandering.</a:t>
            </a:r>
          </a:p>
        </p:txBody>
      </p:sp>
      <p:sp>
        <p:nvSpPr>
          <p:cNvPr id="6" name="">
            <a:extLst xmlns:a="http://schemas.openxmlformats.org/drawingml/2006/main">
              <a:ext uri="{FF2B5EF4-FFF2-40B4-BE49-F238E27FC236}">
                <a16:creationId xmlns:a16="http://schemas.microsoft.com/office/drawing/2014/main" id="{EF9A5CAB-0665-45CA-AF82-4E3E805A6EAF}"/>
              </a:ext>
            </a:extLst>
          </p:cNvPr>
          <p:cNvSpPr>
            <a:spLocks xmlns:a="http://schemas.openxmlformats.org/drawingml/2006/main" noGrp="1"/>
          </p:cNvSpPr>
          <p:nvPr/>
        </p:nvSpPr>
        <p:spPr>
          <a:xfrm xmlns:a="http://schemas.openxmlformats.org/drawingml/2006/main">
            <a:off x="571500" y="4333875"/>
            <a:ext cx="14097000" cy="0"/>
          </a:xfrm>
          <a:prstGeom xmlns:a="http://schemas.openxmlformats.org/drawingml/2006/main" prst="line">
            <a:avLst/>
          </a:prstGeom>
          <a:ln xmlns:a="http://schemas.openxmlformats.org/drawingml/2006/main" w="19050">
            <a:solidFill>
              <a:srgbClr val="C6D2DB"/>
            </a:solidFill>
          </a:ln>
        </p:spPr>
      </p:sp>
      <p:sp>
        <p:nvSpPr>
          <p:cNvPr id="7" name="d. (2p) Leg uit waarom “alle 40 hebben hun baan verloren” en “iedereen">
            <a:extLst xmlns:a="http://schemas.openxmlformats.org/drawingml/2006/main">
              <a:ext uri="{FF2B5EF4-FFF2-40B4-BE49-F238E27FC236}">
                <a16:creationId xmlns:a16="http://schemas.microsoft.com/office/drawing/2014/main" id="{2693E0EA-4641-4ECB-85D2-25B5F028A2E3}"/>
              </a:ext>
            </a:extLst>
          </p:cNvPr>
          <p:cNvSpPr>
            <a:spLocks xmlns:a="http://schemas.openxmlformats.org/drawingml/2006/main" noGrp="1"/>
          </p:cNvSpPr>
          <p:nvPr/>
        </p:nvSpPr>
        <p:spPr>
          <a:xfrm xmlns:a="http://schemas.openxmlformats.org/drawingml/2006/main">
            <a:off x="571500" y="4943475"/>
            <a:ext cx="14097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d. (2p) Leg uit waarom “alle 40 hebben hun baan verloren” en “iedereen verdient meer” geen juiste conclusies zijn.</a:t>
            </a:r>
          </a:p>
        </p:txBody>
      </p:sp>
    </p:spTree>
    <p:extLst>
      <p:ext uri="{BB962C8B-B14F-4D97-AF65-F5344CB8AC3E}">
        <p14:creationId xmlns:p14="http://schemas.microsoft.com/office/powerpoint/2010/main" val="157942321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4a · Evenwicht en bindendheid">
            <a:extLst xmlns:a="http://schemas.openxmlformats.org/drawingml/2006/main">
              <a:ext uri="{FF2B5EF4-FFF2-40B4-BE49-F238E27FC236}">
                <a16:creationId xmlns:a16="http://schemas.microsoft.com/office/drawing/2014/main" id="{C69CD478-F402-4F27-99D4-FB3B5714A8A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34a · Evenwicht en bindendheid</a:t>
            </a:r>
          </a:p>
        </p:txBody>
      </p:sp>
      <p:sp>
        <p:nvSpPr>
          <p:cNvPr id="2" name="">
            <a:extLst xmlns:a="http://schemas.openxmlformats.org/drawingml/2006/main">
              <a:ext uri="{FF2B5EF4-FFF2-40B4-BE49-F238E27FC236}">
                <a16:creationId xmlns:a16="http://schemas.microsoft.com/office/drawing/2014/main" id="{00AC1008-527A-4936-80BC-5A0A01D1744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 Opgave 34 · Boekpagina 147">
            <a:extLst xmlns:a="http://schemas.openxmlformats.org/drawingml/2006/main">
              <a:ext uri="{FF2B5EF4-FFF2-40B4-BE49-F238E27FC236}">
                <a16:creationId xmlns:a16="http://schemas.microsoft.com/office/drawing/2014/main" id="{2B7E515A-7C18-464B-B6A9-6892B8E597C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 · Opgave 34 · Boekpagina 147</a:t>
            </a:r>
          </a:p>
        </p:txBody>
      </p:sp>
      <p:sp>
        <p:nvSpPr>
          <p:cNvPr id="4" name="19">
            <a:extLst xmlns:a="http://schemas.openxmlformats.org/drawingml/2006/main">
              <a:ext uri="{FF2B5EF4-FFF2-40B4-BE49-F238E27FC236}">
                <a16:creationId xmlns:a16="http://schemas.microsoft.com/office/drawing/2014/main" id="{E3561722-98EE-4EAA-9980-BD218ADFF9E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220 − 10w = −20 + 10w">
            <a:extLst xmlns:a="http://schemas.openxmlformats.org/drawingml/2006/main">
              <a:ext uri="{FF2B5EF4-FFF2-40B4-BE49-F238E27FC236}">
                <a16:creationId xmlns:a16="http://schemas.microsoft.com/office/drawing/2014/main" id="{9A0B1722-2695-4427-B9EE-BD066A59B6DB}"/>
              </a:ext>
            </a:extLst>
          </p:cNvPr>
          <p:cNvSpPr>
            <a:spLocks xmlns:a="http://schemas.openxmlformats.org/drawingml/2006/main" noGrp="1"/>
          </p:cNvSpPr>
          <p:nvPr/>
        </p:nvSpPr>
        <p:spPr>
          <a:xfrm xmlns:a="http://schemas.openxmlformats.org/drawingml/2006/main">
            <a:off x="571500" y="2162175"/>
            <a:ext cx="1409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0">
                <a:solidFill>
                  <a:srgbClr val="183247"/>
                </a:solidFill>
                <a:latin typeface="Arial"/>
                <a:ea typeface="Arial"/>
                <a:cs typeface="Arial"/>
              </a:defRPr>
            </a:pPr>
            <a:r>
              <a:rPr sz="3375" b="0">
                <a:solidFill>
                  <a:srgbClr val="183247"/>
                </a:solidFill>
                <a:latin typeface="Arial"/>
                <a:ea typeface="Arial"/>
                <a:cs typeface="Arial"/>
              </a:rPr>
              <a:t>220 − 10w = −20 + 10w</a:t>
            </a:r>
          </a:p>
        </p:txBody>
      </p:sp>
      <p:sp>
        <p:nvSpPr>
          <p:cNvPr id="6" name="240 = 20w     →     w = € 12 per uur">
            <a:extLst xmlns:a="http://schemas.openxmlformats.org/drawingml/2006/main">
              <a:ext uri="{FF2B5EF4-FFF2-40B4-BE49-F238E27FC236}">
                <a16:creationId xmlns:a16="http://schemas.microsoft.com/office/drawing/2014/main" id="{64644160-4C31-41C2-8D29-1128B33222DE}"/>
              </a:ext>
            </a:extLst>
          </p:cNvPr>
          <p:cNvSpPr>
            <a:spLocks xmlns:a="http://schemas.openxmlformats.org/drawingml/2006/main" noGrp="1"/>
          </p:cNvSpPr>
          <p:nvPr/>
        </p:nvSpPr>
        <p:spPr>
          <a:xfrm xmlns:a="http://schemas.openxmlformats.org/drawingml/2006/main">
            <a:off x="571500" y="3571875"/>
            <a:ext cx="1409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0">
                <a:solidFill>
                  <a:srgbClr val="183247"/>
                </a:solidFill>
                <a:latin typeface="Arial"/>
                <a:ea typeface="Arial"/>
                <a:cs typeface="Arial"/>
              </a:defRPr>
            </a:pPr>
            <a:r>
              <a:rPr sz="3375" b="0">
                <a:solidFill>
                  <a:srgbClr val="183247"/>
                </a:solidFill>
                <a:latin typeface="Arial"/>
                <a:ea typeface="Arial"/>
                <a:cs typeface="Arial"/>
              </a:rPr>
              <a:t>240 = 20w     →     w = € 12 per uur</a:t>
            </a:r>
          </a:p>
        </p:txBody>
      </p:sp>
      <p:sp>
        <p:nvSpPr>
          <p:cNvPr id="7" name="L = 220 − 10 × 12 = 100 personen">
            <a:extLst xmlns:a="http://schemas.openxmlformats.org/drawingml/2006/main">
              <a:ext uri="{FF2B5EF4-FFF2-40B4-BE49-F238E27FC236}">
                <a16:creationId xmlns:a16="http://schemas.microsoft.com/office/drawing/2014/main" id="{99E52E36-9DB5-4398-9B6F-E2A534621A73}"/>
              </a:ext>
            </a:extLst>
          </p:cNvPr>
          <p:cNvSpPr>
            <a:spLocks xmlns:a="http://schemas.openxmlformats.org/drawingml/2006/main" noGrp="1"/>
          </p:cNvSpPr>
          <p:nvPr/>
        </p:nvSpPr>
        <p:spPr>
          <a:xfrm xmlns:a="http://schemas.openxmlformats.org/drawingml/2006/main">
            <a:off x="571500" y="4981575"/>
            <a:ext cx="1409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0">
                <a:solidFill>
                  <a:srgbClr val="183247"/>
                </a:solidFill>
                <a:latin typeface="Arial"/>
                <a:ea typeface="Arial"/>
                <a:cs typeface="Arial"/>
              </a:defRPr>
            </a:pPr>
            <a:r>
              <a:rPr sz="3375" b="0">
                <a:solidFill>
                  <a:srgbClr val="183247"/>
                </a:solidFill>
                <a:latin typeface="Arial"/>
                <a:ea typeface="Arial"/>
                <a:cs typeface="Arial"/>
              </a:rPr>
              <a:t>L = 220 − 10 × 12 = 100 personen</a:t>
            </a:r>
          </a:p>
        </p:txBody>
      </p:sp>
      <p:sp>
        <p:nvSpPr>
          <p:cNvPr id="8" name="€ 14 &gt; € 12: de loonvloer is bindend">
            <a:extLst xmlns:a="http://schemas.openxmlformats.org/drawingml/2006/main">
              <a:ext uri="{FF2B5EF4-FFF2-40B4-BE49-F238E27FC236}">
                <a16:creationId xmlns:a16="http://schemas.microsoft.com/office/drawing/2014/main" id="{052BF855-6711-4C6C-98B9-9A80E3172257}"/>
              </a:ext>
            </a:extLst>
          </p:cNvPr>
          <p:cNvSpPr>
            <a:spLocks xmlns:a="http://schemas.openxmlformats.org/drawingml/2006/main" noGrp="1"/>
          </p:cNvSpPr>
          <p:nvPr/>
        </p:nvSpPr>
        <p:spPr>
          <a:xfrm xmlns:a="http://schemas.openxmlformats.org/drawingml/2006/main">
            <a:off x="571500" y="6391275"/>
            <a:ext cx="1409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A5276"/>
                </a:solidFill>
                <a:latin typeface="Arial"/>
                <a:ea typeface="Arial"/>
                <a:cs typeface="Arial"/>
              </a:defRPr>
            </a:pPr>
            <a:r>
              <a:rPr sz="3375" b="1">
                <a:solidFill>
                  <a:srgbClr val="1A5276"/>
                </a:solidFill>
                <a:latin typeface="Arial"/>
                <a:ea typeface="Arial"/>
                <a:cs typeface="Arial"/>
              </a:rPr>
              <a:t>€ 14 &gt; € 12: de loonvloer is bindend</a:t>
            </a:r>
          </a:p>
        </p:txBody>
      </p:sp>
    </p:spTree>
    <p:extLst>
      <p:ext uri="{BB962C8B-B14F-4D97-AF65-F5344CB8AC3E}">
        <p14:creationId xmlns:p14="http://schemas.microsoft.com/office/powerpoint/2010/main" val="179771900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4b · Vraag, aanbod en betaald werk">
            <a:extLst xmlns:a="http://schemas.openxmlformats.org/drawingml/2006/main">
              <a:ext uri="{FF2B5EF4-FFF2-40B4-BE49-F238E27FC236}">
                <a16:creationId xmlns:a16="http://schemas.microsoft.com/office/drawing/2014/main" id="{222013F4-26DB-4E47-BE1E-601D57EB7CC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34b · Vraag, aanbod en betaald werk</a:t>
            </a:r>
          </a:p>
        </p:txBody>
      </p:sp>
      <p:sp>
        <p:nvSpPr>
          <p:cNvPr id="2" name="">
            <a:extLst xmlns:a="http://schemas.openxmlformats.org/drawingml/2006/main">
              <a:ext uri="{FF2B5EF4-FFF2-40B4-BE49-F238E27FC236}">
                <a16:creationId xmlns:a16="http://schemas.microsoft.com/office/drawing/2014/main" id="{CCEBAC26-7544-4504-A8C0-24ED11E7A89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 Opgave 34 · Boekpagina 147">
            <a:extLst xmlns:a="http://schemas.openxmlformats.org/drawingml/2006/main">
              <a:ext uri="{FF2B5EF4-FFF2-40B4-BE49-F238E27FC236}">
                <a16:creationId xmlns:a16="http://schemas.microsoft.com/office/drawing/2014/main" id="{71F7D60C-9A9A-4FC0-B083-11A6471960A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 · Opgave 34 · Boekpagina 147</a:t>
            </a:r>
          </a:p>
        </p:txBody>
      </p:sp>
      <p:sp>
        <p:nvSpPr>
          <p:cNvPr id="4" name="20">
            <a:extLst xmlns:a="http://schemas.openxmlformats.org/drawingml/2006/main">
              <a:ext uri="{FF2B5EF4-FFF2-40B4-BE49-F238E27FC236}">
                <a16:creationId xmlns:a16="http://schemas.microsoft.com/office/drawing/2014/main" id="{54364DE9-A45D-4833-9FAD-4A80FA39AF1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Lᵥ = 220 − 10 × 14 = 80 personen">
            <a:extLst xmlns:a="http://schemas.openxmlformats.org/drawingml/2006/main">
              <a:ext uri="{FF2B5EF4-FFF2-40B4-BE49-F238E27FC236}">
                <a16:creationId xmlns:a16="http://schemas.microsoft.com/office/drawing/2014/main" id="{5E1DF488-DFC5-4BD8-9D29-4C381875A788}"/>
              </a:ext>
            </a:extLst>
          </p:cNvPr>
          <p:cNvSpPr>
            <a:spLocks xmlns:a="http://schemas.openxmlformats.org/drawingml/2006/main" noGrp="1"/>
          </p:cNvSpPr>
          <p:nvPr/>
        </p:nvSpPr>
        <p:spPr>
          <a:xfrm xmlns:a="http://schemas.openxmlformats.org/drawingml/2006/main">
            <a:off x="571500" y="2152650"/>
            <a:ext cx="140970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Lᵥ = 220 − 10 × 14 = 80 personen</a:t>
            </a:r>
          </a:p>
        </p:txBody>
      </p:sp>
      <p:sp>
        <p:nvSpPr>
          <p:cNvPr id="6" name="Lₐ = −20 + 10 × 14 = 120 personen">
            <a:extLst xmlns:a="http://schemas.openxmlformats.org/drawingml/2006/main">
              <a:ext uri="{FF2B5EF4-FFF2-40B4-BE49-F238E27FC236}">
                <a16:creationId xmlns:a16="http://schemas.microsoft.com/office/drawing/2014/main" id="{5CD3E9A9-CBBC-4352-9B66-280477286A73}"/>
              </a:ext>
            </a:extLst>
          </p:cNvPr>
          <p:cNvSpPr>
            <a:spLocks xmlns:a="http://schemas.openxmlformats.org/drawingml/2006/main" noGrp="1"/>
          </p:cNvSpPr>
          <p:nvPr/>
        </p:nvSpPr>
        <p:spPr>
          <a:xfrm xmlns:a="http://schemas.openxmlformats.org/drawingml/2006/main">
            <a:off x="571500" y="3543300"/>
            <a:ext cx="140970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Lₐ = −20 + 10 × 14 = 120 personen</a:t>
            </a:r>
          </a:p>
        </p:txBody>
      </p:sp>
      <p:sp>
        <p:nvSpPr>
          <p:cNvPr id="7" name="Werkgelegenheid = 80 personen">
            <a:extLst xmlns:a="http://schemas.openxmlformats.org/drawingml/2006/main">
              <a:ext uri="{FF2B5EF4-FFF2-40B4-BE49-F238E27FC236}">
                <a16:creationId xmlns:a16="http://schemas.microsoft.com/office/drawing/2014/main" id="{E9DDC438-2922-4997-A159-FEEB68C4D555}"/>
              </a:ext>
            </a:extLst>
          </p:cNvPr>
          <p:cNvSpPr>
            <a:spLocks xmlns:a="http://schemas.openxmlformats.org/drawingml/2006/main" noGrp="1"/>
          </p:cNvSpPr>
          <p:nvPr/>
        </p:nvSpPr>
        <p:spPr>
          <a:xfrm xmlns:a="http://schemas.openxmlformats.org/drawingml/2006/main">
            <a:off x="571500" y="4933950"/>
            <a:ext cx="140970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Werkgelegenheid = 80 personen</a:t>
            </a:r>
          </a:p>
        </p:txBody>
      </p:sp>
      <p:sp>
        <p:nvSpPr>
          <p:cNvPr id="8" name="Aanbodoverschot = 120 − 80 = 40 personen">
            <a:extLst xmlns:a="http://schemas.openxmlformats.org/drawingml/2006/main">
              <a:ext uri="{FF2B5EF4-FFF2-40B4-BE49-F238E27FC236}">
                <a16:creationId xmlns:a16="http://schemas.microsoft.com/office/drawing/2014/main" id="{679892A0-833E-428C-A35A-61F73EC9CAAB}"/>
              </a:ext>
            </a:extLst>
          </p:cNvPr>
          <p:cNvSpPr>
            <a:spLocks xmlns:a="http://schemas.openxmlformats.org/drawingml/2006/main" noGrp="1"/>
          </p:cNvSpPr>
          <p:nvPr/>
        </p:nvSpPr>
        <p:spPr>
          <a:xfrm xmlns:a="http://schemas.openxmlformats.org/drawingml/2006/main">
            <a:off x="571500" y="6324600"/>
            <a:ext cx="140970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A5276"/>
                </a:solidFill>
                <a:latin typeface="Arial"/>
                <a:ea typeface="Arial"/>
                <a:cs typeface="Arial"/>
              </a:defRPr>
            </a:pPr>
            <a:r>
              <a:rPr sz="3225" b="1">
                <a:solidFill>
                  <a:srgbClr val="1A5276"/>
                </a:solidFill>
                <a:latin typeface="Arial"/>
                <a:ea typeface="Arial"/>
                <a:cs typeface="Arial"/>
              </a:rPr>
              <a:t>Aanbodoverschot = 120 − 80 = 40 personen</a:t>
            </a:r>
          </a:p>
        </p:txBody>
      </p:sp>
    </p:spTree>
    <p:extLst>
      <p:ext uri="{BB962C8B-B14F-4D97-AF65-F5344CB8AC3E}">
        <p14:creationId xmlns:p14="http://schemas.microsoft.com/office/powerpoint/2010/main" val="201204416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4b · De loonvloer in de grafiek">
            <a:extLst xmlns:a="http://schemas.openxmlformats.org/drawingml/2006/main">
              <a:ext uri="{FF2B5EF4-FFF2-40B4-BE49-F238E27FC236}">
                <a16:creationId xmlns:a16="http://schemas.microsoft.com/office/drawing/2014/main" id="{DC94A455-3B7E-4E8E-9973-2D4CBAC04E6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34b · De loonvloer in de grafiek</a:t>
            </a:r>
          </a:p>
        </p:txBody>
      </p:sp>
      <p:sp>
        <p:nvSpPr>
          <p:cNvPr id="2" name="">
            <a:extLst xmlns:a="http://schemas.openxmlformats.org/drawingml/2006/main">
              <a:ext uri="{FF2B5EF4-FFF2-40B4-BE49-F238E27FC236}">
                <a16:creationId xmlns:a16="http://schemas.microsoft.com/office/drawing/2014/main" id="{55B473D2-822E-4B38-A9F1-3A37885787C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 Opgave 34 · Boekpagina 147">
            <a:extLst xmlns:a="http://schemas.openxmlformats.org/drawingml/2006/main">
              <a:ext uri="{FF2B5EF4-FFF2-40B4-BE49-F238E27FC236}">
                <a16:creationId xmlns:a16="http://schemas.microsoft.com/office/drawing/2014/main" id="{D98B94F9-968B-4318-AB20-867D532B2EB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 · Opgave 34 · Boekpagina 147</a:t>
            </a:r>
          </a:p>
        </p:txBody>
      </p:sp>
      <p:sp>
        <p:nvSpPr>
          <p:cNvPr id="4" name="21">
            <a:extLst xmlns:a="http://schemas.openxmlformats.org/drawingml/2006/main">
              <a:ext uri="{FF2B5EF4-FFF2-40B4-BE49-F238E27FC236}">
                <a16:creationId xmlns:a16="http://schemas.microsoft.com/office/drawing/2014/main" id="{EDA17295-FD49-460D-8667-1BDDAD847B1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graphicFrame>
        <p:nvGraphicFramePr>
          <p:cNvPr id="13" name="Chart"/>
          <p:cNvGraphicFramePr/>
          <p:nvPr/>
        </p:nvGraphicFramePr>
        <p:xfrm>
          <a:off xmlns:a="http://schemas.openxmlformats.org/drawingml/2006/main" x="571500" y="2305050"/>
          <a:ext xmlns:a="http://schemas.openxmlformats.org/drawingml/2006/main" cx="10096500" cy="5334000"/>
        </p:xfrm>
        <a:graphic xmlns:a="http://schemas.openxmlformats.org/drawingml/2006/main">
          <a:graphicData uri="http://schemas.openxmlformats.org/drawingml/2006/chart">
            <c:chart xmlns:r="http://schemas.openxmlformats.org/officeDocument/2006/relationships" xmlns:c="http://schemas.openxmlformats.org/drawingml/2006/chart" r:id="R81bae8ae7e124890"/>
          </a:graphicData>
        </a:graphic>
      </p:graphicFrame>
      <p:sp>
        <p:nvSpPr>
          <p:cNvPr id="6" name="Bij € 14 per uur">
            <a:extLst xmlns:a="http://schemas.openxmlformats.org/drawingml/2006/main">
              <a:ext uri="{FF2B5EF4-FFF2-40B4-BE49-F238E27FC236}">
                <a16:creationId xmlns:a16="http://schemas.microsoft.com/office/drawing/2014/main" id="{8E111114-3A79-4D6B-B08A-42AD35D4BEBA}"/>
              </a:ext>
            </a:extLst>
          </p:cNvPr>
          <p:cNvSpPr>
            <a:spLocks xmlns:a="http://schemas.openxmlformats.org/drawingml/2006/main" noGrp="1"/>
          </p:cNvSpPr>
          <p:nvPr/>
        </p:nvSpPr>
        <p:spPr>
          <a:xfrm xmlns:a="http://schemas.openxmlformats.org/drawingml/2006/main">
            <a:off x="10953750" y="2457450"/>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Bij € 14 per uur</a:t>
            </a:r>
          </a:p>
        </p:txBody>
      </p:sp>
      <p:sp>
        <p:nvSpPr>
          <p:cNvPr id="7" name="Vraag: 80&#10;Aanbod: 120">
            <a:extLst xmlns:a="http://schemas.openxmlformats.org/drawingml/2006/main">
              <a:ext uri="{FF2B5EF4-FFF2-40B4-BE49-F238E27FC236}">
                <a16:creationId xmlns:a16="http://schemas.microsoft.com/office/drawing/2014/main" id="{09F63573-A9F7-42B7-8A72-276C96985D79}"/>
              </a:ext>
            </a:extLst>
          </p:cNvPr>
          <p:cNvSpPr>
            <a:spLocks xmlns:a="http://schemas.openxmlformats.org/drawingml/2006/main" noGrp="1"/>
          </p:cNvSpPr>
          <p:nvPr/>
        </p:nvSpPr>
        <p:spPr>
          <a:xfrm xmlns:a="http://schemas.openxmlformats.org/drawingml/2006/main">
            <a:off x="10953750" y="3676650"/>
            <a:ext cx="3714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Vraag: 80</a:t>
            </a:r>
          </a:p>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Aanbod: 120</a:t>
            </a:r>
          </a:p>
        </p:txBody>
      </p:sp>
      <p:sp>
        <p:nvSpPr>
          <p:cNvPr id="8" name="120 − 80 = 40&#10;personen overschot">
            <a:extLst xmlns:a="http://schemas.openxmlformats.org/drawingml/2006/main">
              <a:ext uri="{FF2B5EF4-FFF2-40B4-BE49-F238E27FC236}">
                <a16:creationId xmlns:a16="http://schemas.microsoft.com/office/drawing/2014/main" id="{863E0DE8-F9EE-41A2-843C-E0D20B3017B4}"/>
              </a:ext>
            </a:extLst>
          </p:cNvPr>
          <p:cNvSpPr>
            <a:spLocks xmlns:a="http://schemas.openxmlformats.org/drawingml/2006/main" noGrp="1"/>
          </p:cNvSpPr>
          <p:nvPr/>
        </p:nvSpPr>
        <p:spPr>
          <a:xfrm xmlns:a="http://schemas.openxmlformats.org/drawingml/2006/main">
            <a:off x="10953750" y="5857875"/>
            <a:ext cx="3714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120 − 80 = 40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personen overschot</a:t>
            </a:r>
          </a:p>
        </p:txBody>
      </p:sp>
    </p:spTree>
    <p:extLst>
      <p:ext uri="{BB962C8B-B14F-4D97-AF65-F5344CB8AC3E}">
        <p14:creationId xmlns:p14="http://schemas.microsoft.com/office/powerpoint/2010/main" val="196318817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34c · Loonsommen vergelijken">
            <a:extLst xmlns:a="http://schemas.openxmlformats.org/drawingml/2006/main">
              <a:ext uri="{FF2B5EF4-FFF2-40B4-BE49-F238E27FC236}">
                <a16:creationId xmlns:a16="http://schemas.microsoft.com/office/drawing/2014/main" id="{C8E9E47F-CD1E-40E8-991C-7B9DD15A1D2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34c · Loonsommen vergelijken</a:t>
            </a:r>
          </a:p>
        </p:txBody>
      </p:sp>
      <p:sp>
        <p:nvSpPr>
          <p:cNvPr id="2" name="">
            <a:extLst xmlns:a="http://schemas.openxmlformats.org/drawingml/2006/main">
              <a:ext uri="{FF2B5EF4-FFF2-40B4-BE49-F238E27FC236}">
                <a16:creationId xmlns:a16="http://schemas.microsoft.com/office/drawing/2014/main" id="{D56B1241-2CDA-4FF0-97CC-C70D34B035E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 Opgave 34 · Boekpagina 147">
            <a:extLst xmlns:a="http://schemas.openxmlformats.org/drawingml/2006/main">
              <a:ext uri="{FF2B5EF4-FFF2-40B4-BE49-F238E27FC236}">
                <a16:creationId xmlns:a16="http://schemas.microsoft.com/office/drawing/2014/main" id="{3F5FBB99-F212-4F6A-882B-C7D215C8F60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 · Opgave 34 · Boekpagina 147</a:t>
            </a:r>
          </a:p>
        </p:txBody>
      </p:sp>
      <p:sp>
        <p:nvSpPr>
          <p:cNvPr id="4" name="22">
            <a:extLst xmlns:a="http://schemas.openxmlformats.org/drawingml/2006/main">
              <a:ext uri="{FF2B5EF4-FFF2-40B4-BE49-F238E27FC236}">
                <a16:creationId xmlns:a16="http://schemas.microsoft.com/office/drawing/2014/main" id="{E1873D89-6A08-415B-BA33-A91AF40191F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graphicFrame>
        <p:nvGraphicFramePr>
          <p:cNvPr id="11" name=""/>
          <p:cNvGraphicFramePr/>
          <p:nvPr/>
        </p:nvGraphicFramePr>
        <p:xfrm>
          <a:off xmlns:a="http://schemas.openxmlformats.org/drawingml/2006/main" x="571500" y="2076450"/>
          <a:ext xmlns:a="http://schemas.openxmlformats.org/drawingml/2006/main" cx="14097000" cy="4562475"/>
        </p:xfrm>
        <a:graphic xmlns:a="http://schemas.openxmlformats.org/drawingml/2006/main">
          <a:graphicData uri="http://schemas.openxmlformats.org/drawingml/2006/table">
            <a:tbl>
              <a:tblPr/>
              <a:tblGrid>
                <a:gridCol w="5143500"/>
                <a:gridCol w="4476750"/>
                <a:gridCol w="4476750"/>
              </a:tblGrid>
              <a:tr h="912495">
                <a:tc>
                  <a:txBody>
                    <a:bodyPr lIns="161925" tIns="95250" rIns="142875" bIns="95250"/>
                    <a:lstStyle/>
                    <a:p>
                      <a:r>
                        <a:rPr sz="2475" b="1">
                          <a:solidFill>
                            <a:srgbClr val="FFFFFF"/>
                          </a:solidFill>
                          <a:latin typeface="Arial"/>
                          <a:ea typeface="Arial"/>
                          <a:cs typeface="Arial"/>
                        </a:rPr>
                        <a:t/>
                      </a:r>
                    </a:p>
                  </a:txBody>
                  <a:tcPr marL="91440" marR="91440" marT="45720" marB="45720" anchor="ctr">
                    <a:solidFill>
                      <a:srgbClr val="183247"/>
                    </a:solidFill>
                  </a:tcPr>
                </a:tc>
                <a:tc>
                  <a:txBody>
                    <a:bodyPr lIns="161925" tIns="95250" rIns="142875" bIns="95250"/>
                    <a:lstStyle/>
                    <a:p>
                      <a:r>
                        <a:rPr sz="2475" b="1">
                          <a:solidFill>
                            <a:srgbClr val="FFFFFF"/>
                          </a:solidFill>
                          <a:latin typeface="Arial"/>
                          <a:ea typeface="Arial"/>
                          <a:cs typeface="Arial"/>
                        </a:rPr>
                        <a:t>Oud</a:t>
                      </a:r>
                    </a:p>
                  </a:txBody>
                  <a:tcPr marL="91440" marR="91440" marT="45720" marB="45720" anchor="ctr">
                    <a:solidFill>
                      <a:srgbClr val="183247"/>
                    </a:solidFill>
                  </a:tcPr>
                </a:tc>
                <a:tc>
                  <a:txBody>
                    <a:bodyPr lIns="161925" tIns="95250" rIns="142875" bIns="95250"/>
                    <a:lstStyle/>
                    <a:p>
                      <a:r>
                        <a:rPr sz="2475" b="1">
                          <a:solidFill>
                            <a:srgbClr val="FFFFFF"/>
                          </a:solidFill>
                          <a:latin typeface="Arial"/>
                          <a:ea typeface="Arial"/>
                          <a:cs typeface="Arial"/>
                        </a:rPr>
                        <a:t>Nieuw</a:t>
                      </a:r>
                    </a:p>
                  </a:txBody>
                  <a:tcPr marL="91440" marR="91440" marT="45720" marB="45720" anchor="ctr">
                    <a:solidFill>
                      <a:srgbClr val="183247"/>
                    </a:solidFill>
                  </a:tcPr>
                </a:tc>
              </a:tr>
              <a:tr h="912495">
                <a:tc>
                  <a:txBody>
                    <a:bodyPr lIns="161925" tIns="95250" rIns="142875" bIns="95250"/>
                    <a:lstStyle/>
                    <a:p>
                      <a:r>
                        <a:rPr sz="2475" b="0">
                          <a:solidFill>
                            <a:srgbClr val="183247"/>
                          </a:solidFill>
                          <a:latin typeface="Arial"/>
                          <a:ea typeface="Arial"/>
                          <a:cs typeface="Arial"/>
                        </a:rPr>
                        <a:t>Uurloon</a:t>
                      </a:r>
                    </a:p>
                  </a:txBody>
                  <a:tcPr marL="91440" marR="91440" marT="45720" marB="45720" anchor="ctr">
                    <a:solidFill>
                      <a:srgbClr val="FFFFFF"/>
                    </a:solidFill>
                  </a:tcPr>
                </a:tc>
                <a:tc>
                  <a:txBody>
                    <a:bodyPr lIns="161925" tIns="95250" rIns="142875" bIns="95250"/>
                    <a:lstStyle/>
                    <a:p>
                      <a:r>
                        <a:rPr sz="2475" b="0">
                          <a:solidFill>
                            <a:srgbClr val="183247"/>
                          </a:solidFill>
                          <a:latin typeface="Arial"/>
                          <a:ea typeface="Arial"/>
                          <a:cs typeface="Arial"/>
                        </a:rPr>
                        <a:t>€ 12</a:t>
                      </a:r>
                    </a:p>
                  </a:txBody>
                  <a:tcPr marL="91440" marR="91440" marT="45720" marB="45720" anchor="ctr">
                    <a:solidFill>
                      <a:srgbClr val="FFFFFF"/>
                    </a:solidFill>
                  </a:tcPr>
                </a:tc>
                <a:tc>
                  <a:txBody>
                    <a:bodyPr lIns="161925" tIns="95250" rIns="142875" bIns="95250"/>
                    <a:lstStyle/>
                    <a:p>
                      <a:r>
                        <a:rPr sz="2475" b="0">
                          <a:solidFill>
                            <a:srgbClr val="183247"/>
                          </a:solidFill>
                          <a:latin typeface="Arial"/>
                          <a:ea typeface="Arial"/>
                          <a:cs typeface="Arial"/>
                        </a:rPr>
                        <a:t>€ 14</a:t>
                      </a:r>
                    </a:p>
                  </a:txBody>
                  <a:tcPr marL="91440" marR="91440" marT="45720" marB="45720" anchor="ctr">
                    <a:solidFill>
                      <a:srgbClr val="FFFFFF"/>
                    </a:solidFill>
                  </a:tcPr>
                </a:tc>
              </a:tr>
              <a:tr h="912495">
                <a:tc>
                  <a:txBody>
                    <a:bodyPr lIns="161925" tIns="95250" rIns="142875" bIns="95250"/>
                    <a:lstStyle/>
                    <a:p>
                      <a:r>
                        <a:rPr sz="2475" b="0">
                          <a:solidFill>
                            <a:srgbClr val="183247"/>
                          </a:solidFill>
                          <a:latin typeface="Arial"/>
                          <a:ea typeface="Arial"/>
                          <a:cs typeface="Arial"/>
                        </a:rPr>
                        <a:t>Werkenden</a:t>
                      </a:r>
                    </a:p>
                  </a:txBody>
                  <a:tcPr marL="91440" marR="91440" marT="45720" marB="45720" anchor="ctr">
                    <a:solidFill>
                      <a:srgbClr val="EFF4F7"/>
                    </a:solidFill>
                  </a:tcPr>
                </a:tc>
                <a:tc>
                  <a:txBody>
                    <a:bodyPr lIns="161925" tIns="95250" rIns="142875" bIns="95250"/>
                    <a:lstStyle/>
                    <a:p>
                      <a:r>
                        <a:rPr sz="2475" b="0">
                          <a:solidFill>
                            <a:srgbClr val="183247"/>
                          </a:solidFill>
                          <a:latin typeface="Arial"/>
                          <a:ea typeface="Arial"/>
                          <a:cs typeface="Arial"/>
                        </a:rPr>
                        <a:t>100 personen</a:t>
                      </a:r>
                    </a:p>
                  </a:txBody>
                  <a:tcPr marL="91440" marR="91440" marT="45720" marB="45720" anchor="ctr">
                    <a:solidFill>
                      <a:srgbClr val="EFF4F7"/>
                    </a:solidFill>
                  </a:tcPr>
                </a:tc>
                <a:tc>
                  <a:txBody>
                    <a:bodyPr lIns="161925" tIns="95250" rIns="142875" bIns="95250"/>
                    <a:lstStyle/>
                    <a:p>
                      <a:r>
                        <a:rPr sz="2475" b="0">
                          <a:solidFill>
                            <a:srgbClr val="183247"/>
                          </a:solidFill>
                          <a:latin typeface="Arial"/>
                          <a:ea typeface="Arial"/>
                          <a:cs typeface="Arial"/>
                        </a:rPr>
                        <a:t>80 personen</a:t>
                      </a:r>
                    </a:p>
                  </a:txBody>
                  <a:tcPr marL="91440" marR="91440" marT="45720" marB="45720" anchor="ctr">
                    <a:solidFill>
                      <a:srgbClr val="EFF4F7"/>
                    </a:solidFill>
                  </a:tcPr>
                </a:tc>
              </a:tr>
              <a:tr h="912495">
                <a:tc>
                  <a:txBody>
                    <a:bodyPr lIns="161925" tIns="95250" rIns="142875" bIns="95250"/>
                    <a:lstStyle/>
                    <a:p>
                      <a:r>
                        <a:rPr sz="2475" b="0">
                          <a:solidFill>
                            <a:srgbClr val="183247"/>
                          </a:solidFill>
                          <a:latin typeface="Arial"/>
                          <a:ea typeface="Arial"/>
                          <a:cs typeface="Arial"/>
                        </a:rPr>
                        <a:t>Betaalde uren per week</a:t>
                      </a:r>
                    </a:p>
                  </a:txBody>
                  <a:tcPr marL="91440" marR="91440" marT="45720" marB="45720" anchor="ctr">
                    <a:solidFill>
                      <a:srgbClr val="FFFFFF"/>
                    </a:solidFill>
                  </a:tcPr>
                </a:tc>
                <a:tc>
                  <a:txBody>
                    <a:bodyPr lIns="161925" tIns="95250" rIns="142875" bIns="95250"/>
                    <a:lstStyle/>
                    <a:p>
                      <a:r>
                        <a:rPr sz="2475" b="0">
                          <a:solidFill>
                            <a:srgbClr val="183247"/>
                          </a:solidFill>
                          <a:latin typeface="Arial"/>
                          <a:ea typeface="Arial"/>
                          <a:cs typeface="Arial"/>
                        </a:rPr>
                        <a:t>25 × 100 = 2.500</a:t>
                      </a:r>
                    </a:p>
                  </a:txBody>
                  <a:tcPr marL="91440" marR="91440" marT="45720" marB="45720" anchor="ctr">
                    <a:solidFill>
                      <a:srgbClr val="FFFFFF"/>
                    </a:solidFill>
                  </a:tcPr>
                </a:tc>
                <a:tc>
                  <a:txBody>
                    <a:bodyPr lIns="161925" tIns="95250" rIns="142875" bIns="95250"/>
                    <a:lstStyle/>
                    <a:p>
                      <a:r>
                        <a:rPr sz="2475" b="0">
                          <a:solidFill>
                            <a:srgbClr val="183247"/>
                          </a:solidFill>
                          <a:latin typeface="Arial"/>
                          <a:ea typeface="Arial"/>
                          <a:cs typeface="Arial"/>
                        </a:rPr>
                        <a:t>25 × 80 = 2.000</a:t>
                      </a:r>
                    </a:p>
                  </a:txBody>
                  <a:tcPr marL="91440" marR="91440" marT="45720" marB="45720" anchor="ctr">
                    <a:solidFill>
                      <a:srgbClr val="FFFFFF"/>
                    </a:solidFill>
                  </a:tcPr>
                </a:tc>
              </a:tr>
              <a:tr h="912495">
                <a:tc>
                  <a:txBody>
                    <a:bodyPr lIns="161925" tIns="95250" rIns="142875" bIns="95250"/>
                    <a:lstStyle/>
                    <a:p>
                      <a:r>
                        <a:rPr sz="2475" b="0">
                          <a:solidFill>
                            <a:srgbClr val="183247"/>
                          </a:solidFill>
                          <a:latin typeface="Arial"/>
                          <a:ea typeface="Arial"/>
                          <a:cs typeface="Arial"/>
                        </a:rPr>
                        <a:t>Loonsom per week</a:t>
                      </a:r>
                    </a:p>
                  </a:txBody>
                  <a:tcPr marL="91440" marR="91440" marT="45720" marB="45720" anchor="ctr">
                    <a:solidFill>
                      <a:srgbClr val="EFF4F7"/>
                    </a:solidFill>
                  </a:tcPr>
                </a:tc>
                <a:tc>
                  <a:txBody>
                    <a:bodyPr lIns="161925" tIns="95250" rIns="142875" bIns="95250"/>
                    <a:lstStyle/>
                    <a:p>
                      <a:r>
                        <a:rPr sz="2475" b="0">
                          <a:solidFill>
                            <a:srgbClr val="183247"/>
                          </a:solidFill>
                          <a:latin typeface="Arial"/>
                          <a:ea typeface="Arial"/>
                          <a:cs typeface="Arial"/>
                        </a:rPr>
                        <a:t>12 × 2.500 = € 30.000</a:t>
                      </a:r>
                    </a:p>
                  </a:txBody>
                  <a:tcPr marL="91440" marR="91440" marT="45720" marB="45720" anchor="ctr">
                    <a:solidFill>
                      <a:srgbClr val="EFF4F7"/>
                    </a:solidFill>
                  </a:tcPr>
                </a:tc>
                <a:tc>
                  <a:txBody>
                    <a:bodyPr lIns="161925" tIns="95250" rIns="142875" bIns="95250"/>
                    <a:lstStyle/>
                    <a:p>
                      <a:r>
                        <a:rPr sz="2475" b="0">
                          <a:solidFill>
                            <a:srgbClr val="183247"/>
                          </a:solidFill>
                          <a:latin typeface="Arial"/>
                          <a:ea typeface="Arial"/>
                          <a:cs typeface="Arial"/>
                        </a:rPr>
                        <a:t>14 × 2.000 = € 28.000</a:t>
                      </a:r>
                    </a:p>
                  </a:txBody>
                  <a:tcPr marL="91440" marR="91440" marT="45720" marB="45720" anchor="ctr">
                    <a:solidFill>
                      <a:srgbClr val="EFF4F7"/>
                    </a:solidFill>
                  </a:tcPr>
                </a:tc>
              </a:tr>
            </a:tbl>
          </a:graphicData>
        </a:graphic>
      </p:graphicFrame>
      <p:sp>
        <p:nvSpPr>
          <p:cNvPr id="6" name="Uurloon stijgt; betaalde uren dalen van 2.500 naar 2.000.">
            <a:extLst xmlns:a="http://schemas.openxmlformats.org/drawingml/2006/main">
              <a:ext uri="{FF2B5EF4-FFF2-40B4-BE49-F238E27FC236}">
                <a16:creationId xmlns:a16="http://schemas.microsoft.com/office/drawing/2014/main" id="{DEFB9B5F-2174-4761-B79C-0E25EC8D630B}"/>
              </a:ext>
            </a:extLst>
          </p:cNvPr>
          <p:cNvSpPr>
            <a:spLocks xmlns:a="http://schemas.openxmlformats.org/drawingml/2006/main" noGrp="1"/>
          </p:cNvSpPr>
          <p:nvPr/>
        </p:nvSpPr>
        <p:spPr>
          <a:xfrm xmlns:a="http://schemas.openxmlformats.org/drawingml/2006/main">
            <a:off x="571500" y="718185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Uurloon stijgt; betaalde uren dalen van 2.500 naar 2.000.</a:t>
            </a:r>
          </a:p>
        </p:txBody>
      </p:sp>
    </p:spTree>
    <p:extLst>
      <p:ext uri="{BB962C8B-B14F-4D97-AF65-F5344CB8AC3E}">
        <p14:creationId xmlns:p14="http://schemas.microsoft.com/office/powerpoint/2010/main" val="9937281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4c · Procentuele verandering">
            <a:extLst xmlns:a="http://schemas.openxmlformats.org/drawingml/2006/main">
              <a:ext uri="{FF2B5EF4-FFF2-40B4-BE49-F238E27FC236}">
                <a16:creationId xmlns:a16="http://schemas.microsoft.com/office/drawing/2014/main" id="{4F7CC850-EE7B-415A-B619-BA4C99275A5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34c · Procentuele verandering</a:t>
            </a:r>
          </a:p>
        </p:txBody>
      </p:sp>
      <p:sp>
        <p:nvSpPr>
          <p:cNvPr id="2" name="">
            <a:extLst xmlns:a="http://schemas.openxmlformats.org/drawingml/2006/main">
              <a:ext uri="{FF2B5EF4-FFF2-40B4-BE49-F238E27FC236}">
                <a16:creationId xmlns:a16="http://schemas.microsoft.com/office/drawing/2014/main" id="{7CA15320-3227-453A-84D7-8881FD6F4AC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 Opgave 34 · Boekpagina 147">
            <a:extLst xmlns:a="http://schemas.openxmlformats.org/drawingml/2006/main">
              <a:ext uri="{FF2B5EF4-FFF2-40B4-BE49-F238E27FC236}">
                <a16:creationId xmlns:a16="http://schemas.microsoft.com/office/drawing/2014/main" id="{1B92AC9E-A1E9-4D94-BD01-CDEF3A222C8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 · Opgave 34 · Boekpagina 147</a:t>
            </a:r>
          </a:p>
        </p:txBody>
      </p:sp>
      <p:sp>
        <p:nvSpPr>
          <p:cNvPr id="4" name="23">
            <a:extLst xmlns:a="http://schemas.openxmlformats.org/drawingml/2006/main">
              <a:ext uri="{FF2B5EF4-FFF2-40B4-BE49-F238E27FC236}">
                <a16:creationId xmlns:a16="http://schemas.microsoft.com/office/drawing/2014/main" id="{04548D13-2657-410E-8070-DF432C32F9A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Verandering = (nieuw − oud) / oud × 100%">
            <a:extLst xmlns:a="http://schemas.openxmlformats.org/drawingml/2006/main">
              <a:ext uri="{FF2B5EF4-FFF2-40B4-BE49-F238E27FC236}">
                <a16:creationId xmlns:a16="http://schemas.microsoft.com/office/drawing/2014/main" id="{CF3B6D43-D2FA-4E37-B910-E70D5832E766}"/>
              </a:ext>
            </a:extLst>
          </p:cNvPr>
          <p:cNvSpPr>
            <a:spLocks xmlns:a="http://schemas.openxmlformats.org/drawingml/2006/main" noGrp="1"/>
          </p:cNvSpPr>
          <p:nvPr/>
        </p:nvSpPr>
        <p:spPr>
          <a:xfrm xmlns:a="http://schemas.openxmlformats.org/drawingml/2006/main">
            <a:off x="571500" y="2152650"/>
            <a:ext cx="1409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Verandering = (nieuw − oud) / oud × 100%</a:t>
            </a:r>
          </a:p>
        </p:txBody>
      </p:sp>
      <p:sp>
        <p:nvSpPr>
          <p:cNvPr id="6" name="(28.000 − 30.000) / 30.000 × 100%">
            <a:extLst xmlns:a="http://schemas.openxmlformats.org/drawingml/2006/main">
              <a:ext uri="{FF2B5EF4-FFF2-40B4-BE49-F238E27FC236}">
                <a16:creationId xmlns:a16="http://schemas.microsoft.com/office/drawing/2014/main" id="{7D61D512-9141-4927-80E3-E1179191F265}"/>
              </a:ext>
            </a:extLst>
          </p:cNvPr>
          <p:cNvSpPr>
            <a:spLocks xmlns:a="http://schemas.openxmlformats.org/drawingml/2006/main" noGrp="1"/>
          </p:cNvSpPr>
          <p:nvPr/>
        </p:nvSpPr>
        <p:spPr>
          <a:xfrm xmlns:a="http://schemas.openxmlformats.org/drawingml/2006/main">
            <a:off x="571500" y="3533775"/>
            <a:ext cx="1409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(28.000 − 30.000) / 30.000 × 100%</a:t>
            </a:r>
          </a:p>
        </p:txBody>
      </p:sp>
      <p:sp>
        <p:nvSpPr>
          <p:cNvPr id="7" name="= −6,666…% ≈ −6,67%">
            <a:extLst xmlns:a="http://schemas.openxmlformats.org/drawingml/2006/main">
              <a:ext uri="{FF2B5EF4-FFF2-40B4-BE49-F238E27FC236}">
                <a16:creationId xmlns:a16="http://schemas.microsoft.com/office/drawing/2014/main" id="{9A0D3BE5-4E04-4DDA-8BEF-D725A8DA2A85}"/>
              </a:ext>
            </a:extLst>
          </p:cNvPr>
          <p:cNvSpPr>
            <a:spLocks xmlns:a="http://schemas.openxmlformats.org/drawingml/2006/main" noGrp="1"/>
          </p:cNvSpPr>
          <p:nvPr/>
        </p:nvSpPr>
        <p:spPr>
          <a:xfrm xmlns:a="http://schemas.openxmlformats.org/drawingml/2006/main">
            <a:off x="571500" y="4914900"/>
            <a:ext cx="1409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A5276"/>
                </a:solidFill>
                <a:latin typeface="Arial"/>
                <a:ea typeface="Arial"/>
                <a:cs typeface="Arial"/>
              </a:defRPr>
            </a:pPr>
            <a:r>
              <a:rPr sz="3300" b="1">
                <a:solidFill>
                  <a:srgbClr val="1A5276"/>
                </a:solidFill>
                <a:latin typeface="Arial"/>
                <a:ea typeface="Arial"/>
                <a:cs typeface="Arial"/>
              </a:rPr>
              <a:t>= −6,666…% ≈ −6,67%</a:t>
            </a:r>
          </a:p>
        </p:txBody>
      </p:sp>
      <p:sp>
        <p:nvSpPr>
          <p:cNvPr id="8" name="De loonsom daalt met € 2.000 per week.&#10;Het hogere uurloon compenseert ">
            <a:extLst xmlns:a="http://schemas.openxmlformats.org/drawingml/2006/main">
              <a:ext uri="{FF2B5EF4-FFF2-40B4-BE49-F238E27FC236}">
                <a16:creationId xmlns:a16="http://schemas.microsoft.com/office/drawing/2014/main" id="{DD37EBF0-2C96-4887-87FF-AB6FCAA6EC27}"/>
              </a:ext>
            </a:extLst>
          </p:cNvPr>
          <p:cNvSpPr>
            <a:spLocks xmlns:a="http://schemas.openxmlformats.org/drawingml/2006/main" noGrp="1"/>
          </p:cNvSpPr>
          <p:nvPr/>
        </p:nvSpPr>
        <p:spPr>
          <a:xfrm xmlns:a="http://schemas.openxmlformats.org/drawingml/2006/main">
            <a:off x="571500" y="6438900"/>
            <a:ext cx="14097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De loonsom daalt met € 2.000 per week.</a:t>
            </a:r>
          </a:p>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Het hogere uurloon compenseert de daling van betaalde uren niet.</a:t>
            </a:r>
          </a:p>
        </p:txBody>
      </p:sp>
    </p:spTree>
    <p:extLst>
      <p:ext uri="{BB962C8B-B14F-4D97-AF65-F5344CB8AC3E}">
        <p14:creationId xmlns:p14="http://schemas.microsoft.com/office/powerpoint/2010/main" val="128858738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34d · Hebben alle 40 hun baan verloren?">
            <a:extLst xmlns:a="http://schemas.openxmlformats.org/drawingml/2006/main">
              <a:ext uri="{FF2B5EF4-FFF2-40B4-BE49-F238E27FC236}">
                <a16:creationId xmlns:a16="http://schemas.microsoft.com/office/drawing/2014/main" id="{C19BFF9A-D2B3-4BDC-ACC3-9162E94A96D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34d · Hebben alle 40 hun baan verloren?</a:t>
            </a:r>
          </a:p>
        </p:txBody>
      </p:sp>
      <p:sp>
        <p:nvSpPr>
          <p:cNvPr id="2" name="">
            <a:extLst xmlns:a="http://schemas.openxmlformats.org/drawingml/2006/main">
              <a:ext uri="{FF2B5EF4-FFF2-40B4-BE49-F238E27FC236}">
                <a16:creationId xmlns:a16="http://schemas.microsoft.com/office/drawing/2014/main" id="{CC11CF11-A0A5-4AA3-86F1-3ED49AFD139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 Opgave 34 · Boekpagina 147">
            <a:extLst xmlns:a="http://schemas.openxmlformats.org/drawingml/2006/main">
              <a:ext uri="{FF2B5EF4-FFF2-40B4-BE49-F238E27FC236}">
                <a16:creationId xmlns:a16="http://schemas.microsoft.com/office/drawing/2014/main" id="{6D7FFA0B-BBE0-47DD-BA78-98C8CA6BBF6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 · Opgave 34 · Boekpagina 147</a:t>
            </a:r>
          </a:p>
        </p:txBody>
      </p:sp>
      <p:sp>
        <p:nvSpPr>
          <p:cNvPr id="4" name="24">
            <a:extLst xmlns:a="http://schemas.openxmlformats.org/drawingml/2006/main">
              <a:ext uri="{FF2B5EF4-FFF2-40B4-BE49-F238E27FC236}">
                <a16:creationId xmlns:a16="http://schemas.microsoft.com/office/drawing/2014/main" id="{23E1D178-C0CE-417F-9F48-F55EB65C2EB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graphicFrame>
        <p:nvGraphicFramePr>
          <p:cNvPr id="11" name=""/>
          <p:cNvGraphicFramePr/>
          <p:nvPr/>
        </p:nvGraphicFramePr>
        <p:xfrm>
          <a:off xmlns:a="http://schemas.openxmlformats.org/drawingml/2006/main" x="571500" y="2190750"/>
          <a:ext xmlns:a="http://schemas.openxmlformats.org/drawingml/2006/main" cx="14097000" cy="3371850"/>
        </p:xfrm>
        <a:graphic xmlns:a="http://schemas.openxmlformats.org/drawingml/2006/main">
          <a:graphicData uri="http://schemas.openxmlformats.org/drawingml/2006/table">
            <a:tbl>
              <a:tblPr/>
              <a:tblGrid>
                <a:gridCol w="5905500"/>
                <a:gridCol w="4667250"/>
                <a:gridCol w="3524250"/>
              </a:tblGrid>
              <a:tr h="842963">
                <a:tc>
                  <a:txBody>
                    <a:bodyPr lIns="161925" tIns="95250" rIns="142875" bIns="95250"/>
                    <a:lstStyle/>
                    <a:p>
                      <a:r>
                        <a:rPr sz="2700" b="1">
                          <a:solidFill>
                            <a:srgbClr val="FFFFFF"/>
                          </a:solidFill>
                          <a:latin typeface="Arial"/>
                          <a:ea typeface="Arial"/>
                          <a:cs typeface="Arial"/>
                        </a:rPr>
                        <a:t>Verandering</a:t>
                      </a:r>
                    </a:p>
                  </a:txBody>
                  <a:tcPr marL="91440" marR="91440" marT="45720" marB="45720" anchor="ctr">
                    <a:solidFill>
                      <a:srgbClr val="183247"/>
                    </a:solidFill>
                  </a:tcPr>
                </a:tc>
                <a:tc>
                  <a:txBody>
                    <a:bodyPr lIns="161925" tIns="95250" rIns="142875" bIns="95250"/>
                    <a:lstStyle/>
                    <a:p>
                      <a:r>
                        <a:rPr sz="2700" b="1">
                          <a:solidFill>
                            <a:srgbClr val="FFFFFF"/>
                          </a:solidFill>
                          <a:latin typeface="Arial"/>
                          <a:ea typeface="Arial"/>
                          <a:cs typeface="Arial"/>
                        </a:rPr>
                        <a:t>Berekening</a:t>
                      </a:r>
                    </a:p>
                  </a:txBody>
                  <a:tcPr marL="91440" marR="91440" marT="45720" marB="45720" anchor="ctr">
                    <a:solidFill>
                      <a:srgbClr val="183247"/>
                    </a:solidFill>
                  </a:tcPr>
                </a:tc>
                <a:tc>
                  <a:txBody>
                    <a:bodyPr lIns="161925" tIns="95250" rIns="142875" bIns="95250"/>
                    <a:lstStyle/>
                    <a:p>
                      <a:r>
                        <a:rPr sz="2700" b="1">
                          <a:solidFill>
                            <a:srgbClr val="FFFFFF"/>
                          </a:solidFill>
                          <a:latin typeface="Arial"/>
                          <a:ea typeface="Arial"/>
                          <a:cs typeface="Arial"/>
                        </a:rPr>
                        <a:t>Personen</a:t>
                      </a:r>
                    </a:p>
                  </a:txBody>
                  <a:tcPr marL="91440" marR="91440" marT="45720" marB="45720" anchor="ctr">
                    <a:solidFill>
                      <a:srgbClr val="183247"/>
                    </a:solidFill>
                  </a:tcPr>
                </a:tc>
              </a:tr>
              <a:tr h="842963">
                <a:tc>
                  <a:txBody>
                    <a:bodyPr lIns="161925" tIns="95250" rIns="142875" bIns="95250"/>
                    <a:lstStyle/>
                    <a:p>
                      <a:r>
                        <a:rPr sz="2700" b="0">
                          <a:solidFill>
                            <a:srgbClr val="183247"/>
                          </a:solidFill>
                          <a:latin typeface="Arial"/>
                          <a:ea typeface="Arial"/>
                          <a:cs typeface="Arial"/>
                        </a:rPr>
                        <a:t>Minder werkenden</a:t>
                      </a:r>
                    </a:p>
                  </a:txBody>
                  <a:tcPr marL="91440" marR="91440" marT="45720" marB="45720" anchor="ctr">
                    <a:solidFill>
                      <a:srgbClr val="FFFFFF"/>
                    </a:solidFill>
                  </a:tcPr>
                </a:tc>
                <a:tc>
                  <a:txBody>
                    <a:bodyPr lIns="161925" tIns="95250" rIns="142875" bIns="95250"/>
                    <a:lstStyle/>
                    <a:p>
                      <a:r>
                        <a:rPr sz="2700" b="0">
                          <a:solidFill>
                            <a:srgbClr val="183247"/>
                          </a:solidFill>
                          <a:latin typeface="Arial"/>
                          <a:ea typeface="Arial"/>
                          <a:cs typeface="Arial"/>
                        </a:rPr>
                        <a:t>100 − 80</a:t>
                      </a:r>
                    </a:p>
                  </a:txBody>
                  <a:tcPr marL="91440" marR="91440" marT="45720" marB="45720" anchor="ctr">
                    <a:solidFill>
                      <a:srgbClr val="FFFFFF"/>
                    </a:solidFill>
                  </a:tcPr>
                </a:tc>
                <a:tc>
                  <a:txBody>
                    <a:bodyPr lIns="161925" tIns="95250" rIns="142875" bIns="95250"/>
                    <a:lstStyle/>
                    <a:p>
                      <a:r>
                        <a:rPr sz="2700" b="0">
                          <a:solidFill>
                            <a:srgbClr val="183247"/>
                          </a:solidFill>
                          <a:latin typeface="Arial"/>
                          <a:ea typeface="Arial"/>
                          <a:cs typeface="Arial"/>
                        </a:rPr>
                        <a:t>20</a:t>
                      </a:r>
                    </a:p>
                  </a:txBody>
                  <a:tcPr marL="91440" marR="91440" marT="45720" marB="45720" anchor="ctr">
                    <a:solidFill>
                      <a:srgbClr val="FFFFFF"/>
                    </a:solidFill>
                  </a:tcPr>
                </a:tc>
              </a:tr>
              <a:tr h="842963">
                <a:tc>
                  <a:txBody>
                    <a:bodyPr lIns="161925" tIns="95250" rIns="142875" bIns="95250"/>
                    <a:lstStyle/>
                    <a:p>
                      <a:r>
                        <a:rPr sz="2700" b="0">
                          <a:solidFill>
                            <a:srgbClr val="183247"/>
                          </a:solidFill>
                          <a:latin typeface="Arial"/>
                          <a:ea typeface="Arial"/>
                          <a:cs typeface="Arial"/>
                        </a:rPr>
                        <a:t>Extra aanbieders</a:t>
                      </a:r>
                    </a:p>
                  </a:txBody>
                  <a:tcPr marL="91440" marR="91440" marT="45720" marB="45720" anchor="ctr">
                    <a:solidFill>
                      <a:srgbClr val="EFF4F7"/>
                    </a:solidFill>
                  </a:tcPr>
                </a:tc>
                <a:tc>
                  <a:txBody>
                    <a:bodyPr lIns="161925" tIns="95250" rIns="142875" bIns="95250"/>
                    <a:lstStyle/>
                    <a:p>
                      <a:r>
                        <a:rPr sz="2700" b="0">
                          <a:solidFill>
                            <a:srgbClr val="183247"/>
                          </a:solidFill>
                          <a:latin typeface="Arial"/>
                          <a:ea typeface="Arial"/>
                          <a:cs typeface="Arial"/>
                        </a:rPr>
                        <a:t>120 − 100</a:t>
                      </a:r>
                    </a:p>
                  </a:txBody>
                  <a:tcPr marL="91440" marR="91440" marT="45720" marB="45720" anchor="ctr">
                    <a:solidFill>
                      <a:srgbClr val="EFF4F7"/>
                    </a:solidFill>
                  </a:tcPr>
                </a:tc>
                <a:tc>
                  <a:txBody>
                    <a:bodyPr lIns="161925" tIns="95250" rIns="142875" bIns="95250"/>
                    <a:lstStyle/>
                    <a:p>
                      <a:r>
                        <a:rPr sz="2700" b="0">
                          <a:solidFill>
                            <a:srgbClr val="183247"/>
                          </a:solidFill>
                          <a:latin typeface="Arial"/>
                          <a:ea typeface="Arial"/>
                          <a:cs typeface="Arial"/>
                        </a:rPr>
                        <a:t>20</a:t>
                      </a:r>
                    </a:p>
                  </a:txBody>
                  <a:tcPr marL="91440" marR="91440" marT="45720" marB="45720" anchor="ctr">
                    <a:solidFill>
                      <a:srgbClr val="EFF4F7"/>
                    </a:solidFill>
                  </a:tcPr>
                </a:tc>
              </a:tr>
              <a:tr h="842963">
                <a:tc>
                  <a:txBody>
                    <a:bodyPr lIns="161925" tIns="95250" rIns="142875" bIns="95250"/>
                    <a:lstStyle/>
                    <a:p>
                      <a:r>
                        <a:rPr sz="2700" b="0">
                          <a:solidFill>
                            <a:srgbClr val="183247"/>
                          </a:solidFill>
                          <a:latin typeface="Arial"/>
                          <a:ea typeface="Arial"/>
                          <a:cs typeface="Arial"/>
                        </a:rPr>
                        <a:t>Nieuw aanbodoverschot</a:t>
                      </a:r>
                    </a:p>
                  </a:txBody>
                  <a:tcPr marL="91440" marR="91440" marT="45720" marB="45720" anchor="ctr">
                    <a:solidFill>
                      <a:srgbClr val="FFFFFF"/>
                    </a:solidFill>
                  </a:tcPr>
                </a:tc>
                <a:tc>
                  <a:txBody>
                    <a:bodyPr lIns="161925" tIns="95250" rIns="142875" bIns="95250"/>
                    <a:lstStyle/>
                    <a:p>
                      <a:r>
                        <a:rPr sz="2700" b="0">
                          <a:solidFill>
                            <a:srgbClr val="183247"/>
                          </a:solidFill>
                          <a:latin typeface="Arial"/>
                          <a:ea typeface="Arial"/>
                          <a:cs typeface="Arial"/>
                        </a:rPr>
                        <a:t>20 + 20</a:t>
                      </a:r>
                    </a:p>
                  </a:txBody>
                  <a:tcPr marL="91440" marR="91440" marT="45720" marB="45720" anchor="ctr">
                    <a:solidFill>
                      <a:srgbClr val="FFFFFF"/>
                    </a:solidFill>
                  </a:tcPr>
                </a:tc>
                <a:tc>
                  <a:txBody>
                    <a:bodyPr lIns="161925" tIns="95250" rIns="142875" bIns="95250"/>
                    <a:lstStyle/>
                    <a:p>
                      <a:r>
                        <a:rPr sz="2700" b="0">
                          <a:solidFill>
                            <a:srgbClr val="183247"/>
                          </a:solidFill>
                          <a:latin typeface="Arial"/>
                          <a:ea typeface="Arial"/>
                          <a:cs typeface="Arial"/>
                        </a:rPr>
                        <a:t>40</a:t>
                      </a:r>
                    </a:p>
                  </a:txBody>
                  <a:tcPr marL="91440" marR="91440" marT="45720" marB="45720" anchor="ctr">
                    <a:solidFill>
                      <a:srgbClr val="FFFFFF"/>
                    </a:solidFill>
                  </a:tcPr>
                </a:tc>
              </a:tr>
            </a:tbl>
          </a:graphicData>
        </a:graphic>
      </p:graphicFrame>
      <p:sp>
        <p:nvSpPr>
          <p:cNvPr id="6" name="40 zonder werk is niet hetzelfde als 40 verloren banen.">
            <a:extLst xmlns:a="http://schemas.openxmlformats.org/drawingml/2006/main">
              <a:ext uri="{FF2B5EF4-FFF2-40B4-BE49-F238E27FC236}">
                <a16:creationId xmlns:a16="http://schemas.microsoft.com/office/drawing/2014/main" id="{7A0036F4-DA2E-4FA8-8BB9-B7620F495D14}"/>
              </a:ext>
            </a:extLst>
          </p:cNvPr>
          <p:cNvSpPr>
            <a:spLocks xmlns:a="http://schemas.openxmlformats.org/drawingml/2006/main" noGrp="1"/>
          </p:cNvSpPr>
          <p:nvPr/>
        </p:nvSpPr>
        <p:spPr>
          <a:xfrm xmlns:a="http://schemas.openxmlformats.org/drawingml/2006/main">
            <a:off x="571500" y="6143625"/>
            <a:ext cx="14097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40 zonder werk is niet hetzelfde als 40 verloren banen.</a:t>
            </a:r>
          </a:p>
        </p:txBody>
      </p:sp>
    </p:spTree>
    <p:extLst>
      <p:ext uri="{BB962C8B-B14F-4D97-AF65-F5344CB8AC3E}">
        <p14:creationId xmlns:p14="http://schemas.microsoft.com/office/powerpoint/2010/main" val="121704371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4d · Verdient iedereen meer?">
            <a:extLst xmlns:a="http://schemas.openxmlformats.org/drawingml/2006/main">
              <a:ext uri="{FF2B5EF4-FFF2-40B4-BE49-F238E27FC236}">
                <a16:creationId xmlns:a16="http://schemas.microsoft.com/office/drawing/2014/main" id="{E5D27DC9-96D4-4B8F-9D96-FD2FD55D44E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34d · Verdient iedereen meer?</a:t>
            </a:r>
          </a:p>
        </p:txBody>
      </p:sp>
      <p:sp>
        <p:nvSpPr>
          <p:cNvPr id="2" name="">
            <a:extLst xmlns:a="http://schemas.openxmlformats.org/drawingml/2006/main">
              <a:ext uri="{FF2B5EF4-FFF2-40B4-BE49-F238E27FC236}">
                <a16:creationId xmlns:a16="http://schemas.microsoft.com/office/drawing/2014/main" id="{65D8E075-AAEA-40BA-B5C0-42D22DCE6AC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 Opgave 34 · Boekpagina 147">
            <a:extLst xmlns:a="http://schemas.openxmlformats.org/drawingml/2006/main">
              <a:ext uri="{FF2B5EF4-FFF2-40B4-BE49-F238E27FC236}">
                <a16:creationId xmlns:a16="http://schemas.microsoft.com/office/drawing/2014/main" id="{28315653-A224-40B4-8DD0-C3FD21382C8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 · Opgave 34 · Boekpagina 147</a:t>
            </a:r>
          </a:p>
        </p:txBody>
      </p:sp>
      <p:sp>
        <p:nvSpPr>
          <p:cNvPr id="4" name="25">
            <a:extLst xmlns:a="http://schemas.openxmlformats.org/drawingml/2006/main">
              <a:ext uri="{FF2B5EF4-FFF2-40B4-BE49-F238E27FC236}">
                <a16:creationId xmlns:a16="http://schemas.microsoft.com/office/drawing/2014/main" id="{39F4FE93-8A1A-49C2-836E-8989D6744B3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sp>
        <p:nvSpPr>
          <p:cNvPr id="5" name="Wie werk houdt en 25 uur blijft werken:">
            <a:extLst xmlns:a="http://schemas.openxmlformats.org/drawingml/2006/main">
              <a:ext uri="{FF2B5EF4-FFF2-40B4-BE49-F238E27FC236}">
                <a16:creationId xmlns:a16="http://schemas.microsoft.com/office/drawing/2014/main" id="{1E32E6FB-18A1-45CF-8A0B-28F9808E2250}"/>
              </a:ext>
            </a:extLst>
          </p:cNvPr>
          <p:cNvSpPr>
            <a:spLocks xmlns:a="http://schemas.openxmlformats.org/drawingml/2006/main" noGrp="1"/>
          </p:cNvSpPr>
          <p:nvPr/>
        </p:nvSpPr>
        <p:spPr>
          <a:xfrm xmlns:a="http://schemas.openxmlformats.org/drawingml/2006/main">
            <a:off x="571500" y="2124075"/>
            <a:ext cx="14097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Wie werk houdt en 25 uur blijft werken:</a:t>
            </a:r>
          </a:p>
        </p:txBody>
      </p:sp>
      <p:sp>
        <p:nvSpPr>
          <p:cNvPr id="6" name="€ 12 × 25 = € 300     →     € 14 × 25 = € 350 per week">
            <a:extLst xmlns:a="http://schemas.openxmlformats.org/drawingml/2006/main">
              <a:ext uri="{FF2B5EF4-FFF2-40B4-BE49-F238E27FC236}">
                <a16:creationId xmlns:a16="http://schemas.microsoft.com/office/drawing/2014/main" id="{393F48E9-A803-4E03-B655-7AB1255539D5}"/>
              </a:ext>
            </a:extLst>
          </p:cNvPr>
          <p:cNvSpPr>
            <a:spLocks xmlns:a="http://schemas.openxmlformats.org/drawingml/2006/main" noGrp="1"/>
          </p:cNvSpPr>
          <p:nvPr/>
        </p:nvSpPr>
        <p:spPr>
          <a:xfrm xmlns:a="http://schemas.openxmlformats.org/drawingml/2006/main">
            <a:off x="571500" y="3200400"/>
            <a:ext cx="14097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€ 12 × 25 = € 300     →     € 14 × 25 = € 350 per week</a:t>
            </a:r>
          </a:p>
        </p:txBody>
      </p:sp>
      <p:sp>
        <p:nvSpPr>
          <p:cNvPr id="7" name="">
            <a:extLst xmlns:a="http://schemas.openxmlformats.org/drawingml/2006/main">
              <a:ext uri="{FF2B5EF4-FFF2-40B4-BE49-F238E27FC236}">
                <a16:creationId xmlns:a16="http://schemas.microsoft.com/office/drawing/2014/main" id="{C85879A7-B280-4A10-958E-E51E44AC3231}"/>
              </a:ext>
            </a:extLst>
          </p:cNvPr>
          <p:cNvSpPr>
            <a:spLocks xmlns:a="http://schemas.openxmlformats.org/drawingml/2006/main" noGrp="1"/>
          </p:cNvSpPr>
          <p:nvPr/>
        </p:nvSpPr>
        <p:spPr>
          <a:xfrm xmlns:a="http://schemas.openxmlformats.org/drawingml/2006/main">
            <a:off x="571500" y="4829175"/>
            <a:ext cx="14097000" cy="0"/>
          </a:xfrm>
          <a:prstGeom xmlns:a="http://schemas.openxmlformats.org/drawingml/2006/main" prst="line">
            <a:avLst/>
          </a:prstGeom>
          <a:ln xmlns:a="http://schemas.openxmlformats.org/drawingml/2006/main" w="19050">
            <a:solidFill>
              <a:srgbClr val="C6D2DB"/>
            </a:solidFill>
          </a:ln>
        </p:spPr>
      </p:sp>
      <p:sp>
        <p:nvSpPr>
          <p:cNvPr id="8" name="40 aanbieders krijgen in dit model geen baan.&#10;Zij ontvangen het hogere">
            <a:extLst xmlns:a="http://schemas.openxmlformats.org/drawingml/2006/main">
              <a:ext uri="{FF2B5EF4-FFF2-40B4-BE49-F238E27FC236}">
                <a16:creationId xmlns:a16="http://schemas.microsoft.com/office/drawing/2014/main" id="{B7F79AE3-DAF8-458A-8D6A-7824EC82CE22}"/>
              </a:ext>
            </a:extLst>
          </p:cNvPr>
          <p:cNvSpPr>
            <a:spLocks xmlns:a="http://schemas.openxmlformats.org/drawingml/2006/main" noGrp="1"/>
          </p:cNvSpPr>
          <p:nvPr/>
        </p:nvSpPr>
        <p:spPr>
          <a:xfrm xmlns:a="http://schemas.openxmlformats.org/drawingml/2006/main">
            <a:off x="571500" y="5276850"/>
            <a:ext cx="14097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40 aanbieders krijgen in dit model geen baan.</a:t>
            </a:r>
          </a:p>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Zij ontvangen het hogere loon dus niet.</a:t>
            </a:r>
          </a:p>
        </p:txBody>
      </p:sp>
      <p:sp>
        <p:nvSpPr>
          <p:cNvPr id="9" name="De uitkomst geldt onder de gegeven modelaannames.">
            <a:extLst xmlns:a="http://schemas.openxmlformats.org/drawingml/2006/main">
              <a:ext uri="{FF2B5EF4-FFF2-40B4-BE49-F238E27FC236}">
                <a16:creationId xmlns:a16="http://schemas.microsoft.com/office/drawing/2014/main" id="{47AF37E1-30B9-447A-AE42-02265E28ADF8}"/>
              </a:ext>
            </a:extLst>
          </p:cNvPr>
          <p:cNvSpPr>
            <a:spLocks xmlns:a="http://schemas.openxmlformats.org/drawingml/2006/main" noGrp="1"/>
          </p:cNvSpPr>
          <p:nvPr/>
        </p:nvSpPr>
        <p:spPr>
          <a:xfrm xmlns:a="http://schemas.openxmlformats.org/drawingml/2006/main">
            <a:off x="571500" y="7219950"/>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A94D16"/>
                </a:solidFill>
                <a:latin typeface="Arial"/>
                <a:ea typeface="Arial"/>
                <a:cs typeface="Arial"/>
              </a:defRPr>
            </a:pPr>
            <a:r>
              <a:rPr sz="2550" b="1">
                <a:solidFill>
                  <a:srgbClr val="A94D16"/>
                </a:solidFill>
                <a:latin typeface="Arial"/>
                <a:ea typeface="Arial"/>
                <a:cs typeface="Arial"/>
              </a:rPr>
              <a:t>De uitkomst geldt onder de gegeven modelaannames.</a:t>
            </a:r>
          </a:p>
        </p:txBody>
      </p:sp>
    </p:spTree>
    <p:extLst>
      <p:ext uri="{BB962C8B-B14F-4D97-AF65-F5344CB8AC3E}">
        <p14:creationId xmlns:p14="http://schemas.microsoft.com/office/powerpoint/2010/main" val="14341941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Antwoordcontrole bij opgave 34">
            <a:extLst xmlns:a="http://schemas.openxmlformats.org/drawingml/2006/main">
              <a:ext uri="{FF2B5EF4-FFF2-40B4-BE49-F238E27FC236}">
                <a16:creationId xmlns:a16="http://schemas.microsoft.com/office/drawing/2014/main" id="{5C0106AB-F734-4F62-9BC8-DB18703A365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Antwoordcontrole bij opgave 34</a:t>
            </a:r>
          </a:p>
        </p:txBody>
      </p:sp>
      <p:sp>
        <p:nvSpPr>
          <p:cNvPr id="2" name="">
            <a:extLst xmlns:a="http://schemas.openxmlformats.org/drawingml/2006/main">
              <a:ext uri="{FF2B5EF4-FFF2-40B4-BE49-F238E27FC236}">
                <a16:creationId xmlns:a16="http://schemas.microsoft.com/office/drawing/2014/main" id="{EFC36225-28F8-4EDC-9349-6DB21369346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 Opgave 34 · Boekpagina 147">
            <a:extLst xmlns:a="http://schemas.openxmlformats.org/drawingml/2006/main">
              <a:ext uri="{FF2B5EF4-FFF2-40B4-BE49-F238E27FC236}">
                <a16:creationId xmlns:a16="http://schemas.microsoft.com/office/drawing/2014/main" id="{11B6D191-E40B-4C6D-9D5F-99783138E93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 · Opgave 34 · Boekpagina 147</a:t>
            </a:r>
          </a:p>
        </p:txBody>
      </p:sp>
      <p:sp>
        <p:nvSpPr>
          <p:cNvPr id="4" name="26">
            <a:extLst xmlns:a="http://schemas.openxmlformats.org/drawingml/2006/main">
              <a:ext uri="{FF2B5EF4-FFF2-40B4-BE49-F238E27FC236}">
                <a16:creationId xmlns:a16="http://schemas.microsoft.com/office/drawing/2014/main" id="{B365AD97-580F-4609-AE51-5C09DF32049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26</a:t>
            </a:r>
          </a:p>
        </p:txBody>
      </p:sp>
      <p:sp>
        <p:nvSpPr>
          <p:cNvPr id="5" name="a">
            <a:extLst xmlns:a="http://schemas.openxmlformats.org/drawingml/2006/main">
              <a:ext uri="{FF2B5EF4-FFF2-40B4-BE49-F238E27FC236}">
                <a16:creationId xmlns:a16="http://schemas.microsoft.com/office/drawing/2014/main" id="{96D114D4-6E62-4A2F-9958-E610193A8949}"/>
              </a:ext>
            </a:extLst>
          </p:cNvPr>
          <p:cNvSpPr>
            <a:spLocks xmlns:a="http://schemas.openxmlformats.org/drawingml/2006/main" noGrp="1"/>
          </p:cNvSpPr>
          <p:nvPr/>
        </p:nvSpPr>
        <p:spPr>
          <a:xfrm xmlns:a="http://schemas.openxmlformats.org/drawingml/2006/main">
            <a:off x="571500" y="2076450"/>
            <a:ext cx="809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A5276"/>
                </a:solidFill>
                <a:latin typeface="Arial"/>
                <a:ea typeface="Arial"/>
                <a:cs typeface="Arial"/>
              </a:defRPr>
            </a:pPr>
            <a:r>
              <a:rPr sz="3150" b="1">
                <a:solidFill>
                  <a:srgbClr val="1A5276"/>
                </a:solidFill>
                <a:latin typeface="Arial"/>
                <a:ea typeface="Arial"/>
                <a:cs typeface="Arial"/>
              </a:rPr>
              <a:t>a</a:t>
            </a:r>
          </a:p>
        </p:txBody>
      </p:sp>
      <p:sp>
        <p:nvSpPr>
          <p:cNvPr id="6" name="€ 12 en 100 personen; € 14 is bindend.">
            <a:extLst xmlns:a="http://schemas.openxmlformats.org/drawingml/2006/main">
              <a:ext uri="{FF2B5EF4-FFF2-40B4-BE49-F238E27FC236}">
                <a16:creationId xmlns:a16="http://schemas.microsoft.com/office/drawing/2014/main" id="{2791E17D-676E-4294-9813-53F0107CD95B}"/>
              </a:ext>
            </a:extLst>
          </p:cNvPr>
          <p:cNvSpPr>
            <a:spLocks xmlns:a="http://schemas.openxmlformats.org/drawingml/2006/main" noGrp="1"/>
          </p:cNvSpPr>
          <p:nvPr/>
        </p:nvSpPr>
        <p:spPr>
          <a:xfrm xmlns:a="http://schemas.openxmlformats.org/drawingml/2006/main">
            <a:off x="1743075" y="2076450"/>
            <a:ext cx="129254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€ 12 en 100 personen; € 14 is bindend.</a:t>
            </a:r>
          </a:p>
        </p:txBody>
      </p:sp>
      <p:sp>
        <p:nvSpPr>
          <p:cNvPr id="7" name="b">
            <a:extLst xmlns:a="http://schemas.openxmlformats.org/drawingml/2006/main">
              <a:ext uri="{FF2B5EF4-FFF2-40B4-BE49-F238E27FC236}">
                <a16:creationId xmlns:a16="http://schemas.microsoft.com/office/drawing/2014/main" id="{5D0C1B59-C52E-471C-B04A-9C6CFF8258A9}"/>
              </a:ext>
            </a:extLst>
          </p:cNvPr>
          <p:cNvSpPr>
            <a:spLocks xmlns:a="http://schemas.openxmlformats.org/drawingml/2006/main" noGrp="1"/>
          </p:cNvSpPr>
          <p:nvPr/>
        </p:nvSpPr>
        <p:spPr>
          <a:xfrm xmlns:a="http://schemas.openxmlformats.org/drawingml/2006/main">
            <a:off x="571500" y="3381375"/>
            <a:ext cx="809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A5276"/>
                </a:solidFill>
                <a:latin typeface="Arial"/>
                <a:ea typeface="Arial"/>
                <a:cs typeface="Arial"/>
              </a:defRPr>
            </a:pPr>
            <a:r>
              <a:rPr sz="3150" b="1">
                <a:solidFill>
                  <a:srgbClr val="1A5276"/>
                </a:solidFill>
                <a:latin typeface="Arial"/>
                <a:ea typeface="Arial"/>
                <a:cs typeface="Arial"/>
              </a:rPr>
              <a:t>b</a:t>
            </a:r>
          </a:p>
        </p:txBody>
      </p:sp>
      <p:sp>
        <p:nvSpPr>
          <p:cNvPr id="8" name="Vraag 80, aanbod 120, werk 80, overschot 40; grafiek erbij.">
            <a:extLst xmlns:a="http://schemas.openxmlformats.org/drawingml/2006/main">
              <a:ext uri="{FF2B5EF4-FFF2-40B4-BE49-F238E27FC236}">
                <a16:creationId xmlns:a16="http://schemas.microsoft.com/office/drawing/2014/main" id="{3E6A0657-9FCA-456D-8714-A1E48973EF63}"/>
              </a:ext>
            </a:extLst>
          </p:cNvPr>
          <p:cNvSpPr>
            <a:spLocks xmlns:a="http://schemas.openxmlformats.org/drawingml/2006/main" noGrp="1"/>
          </p:cNvSpPr>
          <p:nvPr/>
        </p:nvSpPr>
        <p:spPr>
          <a:xfrm xmlns:a="http://schemas.openxmlformats.org/drawingml/2006/main">
            <a:off x="1743075" y="3381375"/>
            <a:ext cx="129254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Vraag 80, aanbod 120, werk 80, overschot 40; grafiek erbij.</a:t>
            </a:r>
          </a:p>
        </p:txBody>
      </p:sp>
      <p:sp>
        <p:nvSpPr>
          <p:cNvPr id="9" name="c">
            <a:extLst xmlns:a="http://schemas.openxmlformats.org/drawingml/2006/main">
              <a:ext uri="{FF2B5EF4-FFF2-40B4-BE49-F238E27FC236}">
                <a16:creationId xmlns:a16="http://schemas.microsoft.com/office/drawing/2014/main" id="{5F9A84E1-14C1-416E-8C43-D11F8E0FB6CF}"/>
              </a:ext>
            </a:extLst>
          </p:cNvPr>
          <p:cNvSpPr>
            <a:spLocks xmlns:a="http://schemas.openxmlformats.org/drawingml/2006/main" noGrp="1"/>
          </p:cNvSpPr>
          <p:nvPr/>
        </p:nvSpPr>
        <p:spPr>
          <a:xfrm xmlns:a="http://schemas.openxmlformats.org/drawingml/2006/main">
            <a:off x="571500" y="4686300"/>
            <a:ext cx="809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A5276"/>
                </a:solidFill>
                <a:latin typeface="Arial"/>
                <a:ea typeface="Arial"/>
                <a:cs typeface="Arial"/>
              </a:defRPr>
            </a:pPr>
            <a:r>
              <a:rPr sz="3150" b="1">
                <a:solidFill>
                  <a:srgbClr val="1A5276"/>
                </a:solidFill>
                <a:latin typeface="Arial"/>
                <a:ea typeface="Arial"/>
                <a:cs typeface="Arial"/>
              </a:rPr>
              <a:t>c</a:t>
            </a:r>
          </a:p>
        </p:txBody>
      </p:sp>
      <p:sp>
        <p:nvSpPr>
          <p:cNvPr id="10" name="€ 30.000 → € 28.000 per week; −6,67%.">
            <a:extLst xmlns:a="http://schemas.openxmlformats.org/drawingml/2006/main">
              <a:ext uri="{FF2B5EF4-FFF2-40B4-BE49-F238E27FC236}">
                <a16:creationId xmlns:a16="http://schemas.microsoft.com/office/drawing/2014/main" id="{926932A7-3866-4A59-83F5-D94EC436D3B0}"/>
              </a:ext>
            </a:extLst>
          </p:cNvPr>
          <p:cNvSpPr>
            <a:spLocks xmlns:a="http://schemas.openxmlformats.org/drawingml/2006/main" noGrp="1"/>
          </p:cNvSpPr>
          <p:nvPr/>
        </p:nvSpPr>
        <p:spPr>
          <a:xfrm xmlns:a="http://schemas.openxmlformats.org/drawingml/2006/main">
            <a:off x="1743075" y="4686300"/>
            <a:ext cx="129254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€ 30.000 → € 28.000 per week; −6,67%.</a:t>
            </a:r>
          </a:p>
        </p:txBody>
      </p:sp>
      <p:sp>
        <p:nvSpPr>
          <p:cNvPr id="11" name="d">
            <a:extLst xmlns:a="http://schemas.openxmlformats.org/drawingml/2006/main">
              <a:ext uri="{FF2B5EF4-FFF2-40B4-BE49-F238E27FC236}">
                <a16:creationId xmlns:a16="http://schemas.microsoft.com/office/drawing/2014/main" id="{BE838599-E4C2-49B0-AFF6-4E1F6F21FBC4}"/>
              </a:ext>
            </a:extLst>
          </p:cNvPr>
          <p:cNvSpPr>
            <a:spLocks xmlns:a="http://schemas.openxmlformats.org/drawingml/2006/main" noGrp="1"/>
          </p:cNvSpPr>
          <p:nvPr/>
        </p:nvSpPr>
        <p:spPr>
          <a:xfrm xmlns:a="http://schemas.openxmlformats.org/drawingml/2006/main">
            <a:off x="571500" y="5991225"/>
            <a:ext cx="809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A5276"/>
                </a:solidFill>
                <a:latin typeface="Arial"/>
                <a:ea typeface="Arial"/>
                <a:cs typeface="Arial"/>
              </a:defRPr>
            </a:pPr>
            <a:r>
              <a:rPr sz="3150" b="1">
                <a:solidFill>
                  <a:srgbClr val="1A5276"/>
                </a:solidFill>
                <a:latin typeface="Arial"/>
                <a:ea typeface="Arial"/>
                <a:cs typeface="Arial"/>
              </a:rPr>
              <a:t>d</a:t>
            </a:r>
          </a:p>
        </p:txBody>
      </p:sp>
      <p:sp>
        <p:nvSpPr>
          <p:cNvPr id="12" name="20 minder werkenden én 20 extra aanbieders; inkomen per groep.">
            <a:extLst xmlns:a="http://schemas.openxmlformats.org/drawingml/2006/main">
              <a:ext uri="{FF2B5EF4-FFF2-40B4-BE49-F238E27FC236}">
                <a16:creationId xmlns:a16="http://schemas.microsoft.com/office/drawing/2014/main" id="{1E138A9E-DB06-431A-A0B1-06D8F810A6B4}"/>
              </a:ext>
            </a:extLst>
          </p:cNvPr>
          <p:cNvSpPr>
            <a:spLocks xmlns:a="http://schemas.openxmlformats.org/drawingml/2006/main" noGrp="1"/>
          </p:cNvSpPr>
          <p:nvPr/>
        </p:nvSpPr>
        <p:spPr>
          <a:xfrm xmlns:a="http://schemas.openxmlformats.org/drawingml/2006/main">
            <a:off x="1743075" y="5991225"/>
            <a:ext cx="129254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20 minder werkenden én 20 extra aanbieders; inkomen per groep.</a:t>
            </a:r>
          </a:p>
        </p:txBody>
      </p:sp>
      <p:sp>
        <p:nvSpPr>
          <p:cNvPr id="13" name="Verbeter een ontbrekende eenheid, stap of verklaring.">
            <a:extLst xmlns:a="http://schemas.openxmlformats.org/drawingml/2006/main">
              <a:ext uri="{FF2B5EF4-FFF2-40B4-BE49-F238E27FC236}">
                <a16:creationId xmlns:a16="http://schemas.microsoft.com/office/drawing/2014/main" id="{9A19F1F4-8305-4E25-B7DB-44B1258F3540}"/>
              </a:ext>
            </a:extLst>
          </p:cNvPr>
          <p:cNvSpPr>
            <a:spLocks xmlns:a="http://schemas.openxmlformats.org/drawingml/2006/main" noGrp="1"/>
          </p:cNvSpPr>
          <p:nvPr/>
        </p:nvSpPr>
        <p:spPr>
          <a:xfrm xmlns:a="http://schemas.openxmlformats.org/drawingml/2006/main">
            <a:off x="571500" y="744855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Verbeter een ontbrekende eenheid, stap of verklaring.</a:t>
            </a:r>
          </a:p>
        </p:txBody>
      </p:sp>
    </p:spTree>
    <p:extLst>
      <p:ext uri="{BB962C8B-B14F-4D97-AF65-F5344CB8AC3E}">
        <p14:creationId xmlns:p14="http://schemas.microsoft.com/office/powerpoint/2010/main" val="187212579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3.4 Minimumloon">
            <a:extLst xmlns:a="http://schemas.openxmlformats.org/drawingml/2006/main">
              <a:ext uri="{FF2B5EF4-FFF2-40B4-BE49-F238E27FC236}">
                <a16:creationId xmlns:a16="http://schemas.microsoft.com/office/drawing/2014/main" id="{6DB47D70-EEE8-46E2-A85B-BEC9A4DD9FF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§4.3.4 Minimumloon</a:t>
            </a:r>
          </a:p>
        </p:txBody>
      </p:sp>
      <p:sp>
        <p:nvSpPr>
          <p:cNvPr id="2" name="">
            <a:extLst xmlns:a="http://schemas.openxmlformats.org/drawingml/2006/main">
              <a:ext uri="{FF2B5EF4-FFF2-40B4-BE49-F238E27FC236}">
                <a16:creationId xmlns:a16="http://schemas.microsoft.com/office/drawing/2014/main" id="{55541CBE-9512-4B48-8FD7-FA6A26790F2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4 Minimumloon">
            <a:extLst xmlns:a="http://schemas.openxmlformats.org/drawingml/2006/main">
              <a:ext uri="{FF2B5EF4-FFF2-40B4-BE49-F238E27FC236}">
                <a16:creationId xmlns:a16="http://schemas.microsoft.com/office/drawing/2014/main" id="{090C3244-C2E6-487A-87BE-C82F94D4DE5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§4.3.4 Minimumloon</a:t>
            </a:r>
          </a:p>
        </p:txBody>
      </p:sp>
      <p:sp>
        <p:nvSpPr>
          <p:cNvPr id="4" name="27">
            <a:extLst xmlns:a="http://schemas.openxmlformats.org/drawingml/2006/main">
              <a:ext uri="{FF2B5EF4-FFF2-40B4-BE49-F238E27FC236}">
                <a16:creationId xmlns:a16="http://schemas.microsoft.com/office/drawing/2014/main" id="{1566AB7B-D724-44CC-B4FF-B802C32EE58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27</a:t>
            </a:r>
          </a:p>
        </p:txBody>
      </p:sp>
      <p:sp>
        <p:nvSpPr>
          <p:cNvPr id="5" name="phase">
            <a:extLst xmlns:a="http://schemas.openxmlformats.org/drawingml/2006/main">
              <a:ext uri="{FF2B5EF4-FFF2-40B4-BE49-F238E27FC236}">
                <a16:creationId xmlns:a16="http://schemas.microsoft.com/office/drawing/2014/main" id="{6C8ECB17-24E9-4448-A8A4-95A5449DCF12}"/>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3505FDD6-D378-4135-9D4E-6348265F0ECC}"/>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4726E43B-83B7-4EF3-B0AC-F20794AD2AC0}"/>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7024B802-51A1-4A29-A177-E5824FFF97DF}"/>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28EB6DC2-29A5-4A8F-8186-6B71847BA244}"/>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A78211EC-8F63-4123-AE1A-EE2FAF18D99B}"/>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9CBCCB2A-6AD5-4D17-B8AD-837A9094E65D}"/>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B986308B-F1D4-4C80-ADEB-0F38E10E010A}"/>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43FBC02C-CD72-41FB-BF8A-C6B77CCB59A2}"/>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46E9E9B5-20F1-4D2A-9C1B-2CD148260F8D}"/>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69DAA4A8-A854-4E8F-9AFB-F616FDBF54FB}"/>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5DF56151-7EF1-43C9-A451-4418A1A0E3A6}"/>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21831F04-0E07-4BE7-998F-F85045EBDC84}"/>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472C48A8-A302-493B-8AB5-C37DD7FAA6FA}"/>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34.</a:t>
            </a:r>
          </a:p>
        </p:txBody>
      </p:sp>
      <p:sp>
        <p:nvSpPr>
          <p:cNvPr id="19" name="route-number-7">
            <a:extLst xmlns:a="http://schemas.openxmlformats.org/drawingml/2006/main">
              <a:ext uri="{FF2B5EF4-FFF2-40B4-BE49-F238E27FC236}">
                <a16:creationId xmlns:a16="http://schemas.microsoft.com/office/drawing/2014/main" id="{4BEB9EC9-CC39-4D32-9B73-C2097B6CFDF4}"/>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2D7B3605-11D8-4296-93D1-A7DD20E61FA8}"/>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55AF7DAB-575F-479C-9405-D1C90DE33D4D}"/>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725E78CA-2F45-4A98-9E2B-6F1D65EFD781}"/>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Bindendheid bepalen. Werk 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loonsom berekenen. Gevolgen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voor groepen verklaren.</a:t>
            </a:r>
          </a:p>
        </p:txBody>
      </p:sp>
      <p:sp>
        <p:nvSpPr>
          <p:cNvPr id="23" name="">
            <a:extLst xmlns:a="http://schemas.openxmlformats.org/drawingml/2006/main">
              <a:ext uri="{FF2B5EF4-FFF2-40B4-BE49-F238E27FC236}">
                <a16:creationId xmlns:a16="http://schemas.microsoft.com/office/drawing/2014/main" id="{0FF51B97-624F-4B01-B885-643E8EF5AA4C}"/>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C45C9AC5-0D5F-4157-B159-45F01980ED52}"/>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8EC26B21-B759-4695-8C4A-925F1EFD963F}"/>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145 · Opgaven 28 en 29</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29: verkennen, theorie p. 143</a:t>
            </a:r>
          </a:p>
        </p:txBody>
      </p:sp>
      <p:sp>
        <p:nvSpPr>
          <p:cNvPr id="26" name="">
            <a:extLst xmlns:a="http://schemas.openxmlformats.org/drawingml/2006/main">
              <a:ext uri="{FF2B5EF4-FFF2-40B4-BE49-F238E27FC236}">
                <a16:creationId xmlns:a16="http://schemas.microsoft.com/office/drawing/2014/main" id="{3D41C950-D5BF-4999-A176-394DD545939C}"/>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EFD66EDC-D39B-4EEF-8B5E-B3C6CFBB3D41}"/>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E60F0153-9309-4787-A4D4-9C678FCA609C}"/>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§4.3.4 Minimumloon</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30 en 31</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32 en 33</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34</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20636175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2026-10-01T18:32:46.0230000Z</dcterms:created>
  <dcterms:modified xsi:type="dcterms:W3CDTF">2026-10-01T18:32:46.0230000Z</dcterms:modified>
</coreProperties>
</file>