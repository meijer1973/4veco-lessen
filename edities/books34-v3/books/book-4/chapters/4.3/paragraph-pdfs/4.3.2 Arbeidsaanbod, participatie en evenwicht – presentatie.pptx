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4.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77359bac106429b" /><Relationship Type="http://schemas.openxmlformats.org/officeDocument/2006/relationships/extended-properties" Target="/docProps/app.xml" Id="R836b6fb00c02457a" /><Relationship Type="http://schemas.openxmlformats.org/officeDocument/2006/relationships/officeDocument" Target="/ppt/presentation.xml" Id="R15154f4c8f9f4741" /></Relationships>
</file>

<file path=ppt/presentation.xml><?xml version="1.0" encoding="utf-8"?>
<p:presentation xmlns:p="http://schemas.openxmlformats.org/presentationml/2006/main">
  <p:sldMasterIdLst>
    <p:sldMasterId xmlns:r="http://schemas.openxmlformats.org/officeDocument/2006/relationships" id="2147483648" r:id="R4c1d84a230e14f95"/>
  </p:sldMasterIdLst>
  <p:notesMasterIdLst>
    <p:notesMasterId xmlns:r="http://schemas.openxmlformats.org/officeDocument/2006/relationships" r:id="R26cbee6162e14c0e"/>
  </p:notesMasterIdLst>
  <p:sldIdLst>
    <p:sldId xmlns:r="http://schemas.openxmlformats.org/officeDocument/2006/relationships" id="256" r:id="R2147b9d449464cb7"/>
    <p:sldId xmlns:r="http://schemas.openxmlformats.org/officeDocument/2006/relationships" id="257" r:id="R03f2ba70ac7e41d4"/>
    <p:sldId xmlns:r="http://schemas.openxmlformats.org/officeDocument/2006/relationships" id="258" r:id="R6834f5daae504508"/>
    <p:sldId xmlns:r="http://schemas.openxmlformats.org/officeDocument/2006/relationships" id="259" r:id="R8a0dfa9a2f60478d"/>
    <p:sldId xmlns:r="http://schemas.openxmlformats.org/officeDocument/2006/relationships" id="260" r:id="R7294f5021c11489b"/>
    <p:sldId xmlns:r="http://schemas.openxmlformats.org/officeDocument/2006/relationships" id="261" r:id="R4ee2c0fed3904cd5"/>
    <p:sldId xmlns:r="http://schemas.openxmlformats.org/officeDocument/2006/relationships" id="262" r:id="R0c1d6ab56c7a4a71"/>
    <p:sldId xmlns:r="http://schemas.openxmlformats.org/officeDocument/2006/relationships" id="263" r:id="R97727f72baee47f6"/>
    <p:sldId xmlns:r="http://schemas.openxmlformats.org/officeDocument/2006/relationships" id="264" r:id="R537093684fd047f8"/>
    <p:sldId xmlns:r="http://schemas.openxmlformats.org/officeDocument/2006/relationships" id="265" r:id="R58675105637c4c13"/>
    <p:sldId xmlns:r="http://schemas.openxmlformats.org/officeDocument/2006/relationships" id="266" r:id="R10e402c0acac4782"/>
    <p:sldId xmlns:r="http://schemas.openxmlformats.org/officeDocument/2006/relationships" id="267" r:id="R61d544f43a5c408e"/>
    <p:sldId xmlns:r="http://schemas.openxmlformats.org/officeDocument/2006/relationships" id="268" r:id="Rec96e46d073b48ed"/>
    <p:sldId xmlns:r="http://schemas.openxmlformats.org/officeDocument/2006/relationships" id="269" r:id="R48a1ffd8472843cd"/>
    <p:sldId xmlns:r="http://schemas.openxmlformats.org/officeDocument/2006/relationships" id="270" r:id="R04b61377206d49bd"/>
    <p:sldId xmlns:r="http://schemas.openxmlformats.org/officeDocument/2006/relationships" id="271" r:id="R65ed311ad86f422c"/>
    <p:sldId xmlns:r="http://schemas.openxmlformats.org/officeDocument/2006/relationships" id="272" r:id="Rfd78f0a4fccc4bc5"/>
    <p:sldId xmlns:r="http://schemas.openxmlformats.org/officeDocument/2006/relationships" id="273" r:id="R4d3e56d1c4004c01"/>
    <p:sldId xmlns:r="http://schemas.openxmlformats.org/officeDocument/2006/relationships" id="274" r:id="R4eb70d1ca20041c6"/>
    <p:sldId xmlns:r="http://schemas.openxmlformats.org/officeDocument/2006/relationships" id="275" r:id="Reae602b3fc5c468e"/>
    <p:sldId xmlns:r="http://schemas.openxmlformats.org/officeDocument/2006/relationships" id="276" r:id="Rf4daa751b3ac4c46"/>
    <p:sldId xmlns:r="http://schemas.openxmlformats.org/officeDocument/2006/relationships" id="277" r:id="R6c7ee69c1f0b4577"/>
    <p:sldId xmlns:r="http://schemas.openxmlformats.org/officeDocument/2006/relationships" id="278" r:id="R71cd465c1a4947ae"/>
    <p:sldId xmlns:r="http://schemas.openxmlformats.org/officeDocument/2006/relationships" id="279" r:id="Rb94efc59833b45a7"/>
    <p:sldId xmlns:r="http://schemas.openxmlformats.org/officeDocument/2006/relationships" id="280" r:id="R28841867d7a2419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14474085ed49c6" /><Relationship Type="http://schemas.openxmlformats.org/officeDocument/2006/relationships/slideMaster" Target="/ppt/slideMasters/slideMaster1.xml" Id="R4c1d84a230e14f95" /><Relationship Type="http://schemas.openxmlformats.org/officeDocument/2006/relationships/notesMaster" Target="/ppt/notesMasters/notesMaster1.xml" Id="R26cbee6162e14c0e" /><Relationship Type="http://schemas.openxmlformats.org/officeDocument/2006/relationships/presProps" Target="/ppt/presProps.xml" Id="R59bc6278c96e4f0b" /><Relationship Type="http://schemas.openxmlformats.org/officeDocument/2006/relationships/tableStyles" Target="/ppt/tableStyles.xml" Id="R872da6c0a611411b" /><Relationship Type="http://schemas.openxmlformats.org/officeDocument/2006/relationships/slide" Target="/ppt/slides/slide1.xml" Id="R2147b9d449464cb7" /><Relationship Type="http://schemas.openxmlformats.org/officeDocument/2006/relationships/slide" Target="/ppt/slides/slide2.xml" Id="R03f2ba70ac7e41d4" /><Relationship Type="http://schemas.openxmlformats.org/officeDocument/2006/relationships/slide" Target="/ppt/slides/slide3.xml" Id="R6834f5daae504508" /><Relationship Type="http://schemas.openxmlformats.org/officeDocument/2006/relationships/slide" Target="/ppt/slides/slide4.xml" Id="R8a0dfa9a2f60478d" /><Relationship Type="http://schemas.openxmlformats.org/officeDocument/2006/relationships/slide" Target="/ppt/slides/slide5.xml" Id="R7294f5021c11489b" /><Relationship Type="http://schemas.openxmlformats.org/officeDocument/2006/relationships/slide" Target="/ppt/slides/slide6.xml" Id="R4ee2c0fed3904cd5" /><Relationship Type="http://schemas.openxmlformats.org/officeDocument/2006/relationships/slide" Target="/ppt/slides/slide7.xml" Id="R0c1d6ab56c7a4a71" /><Relationship Type="http://schemas.openxmlformats.org/officeDocument/2006/relationships/slide" Target="/ppt/slides/slide8.xml" Id="R97727f72baee47f6" /><Relationship Type="http://schemas.openxmlformats.org/officeDocument/2006/relationships/slide" Target="/ppt/slides/slide9.xml" Id="R537093684fd047f8" /><Relationship Type="http://schemas.openxmlformats.org/officeDocument/2006/relationships/slide" Target="/ppt/slides/slide10.xml" Id="R58675105637c4c13" /><Relationship Type="http://schemas.openxmlformats.org/officeDocument/2006/relationships/slide" Target="/ppt/slides/slide11.xml" Id="R10e402c0acac4782" /><Relationship Type="http://schemas.openxmlformats.org/officeDocument/2006/relationships/slide" Target="/ppt/slides/slide12.xml" Id="R61d544f43a5c408e" /><Relationship Type="http://schemas.openxmlformats.org/officeDocument/2006/relationships/slide" Target="/ppt/slides/slide13.xml" Id="Rec96e46d073b48ed" /><Relationship Type="http://schemas.openxmlformats.org/officeDocument/2006/relationships/slide" Target="/ppt/slides/slide14.xml" Id="R48a1ffd8472843cd" /><Relationship Type="http://schemas.openxmlformats.org/officeDocument/2006/relationships/slide" Target="/ppt/slides/slide15.xml" Id="R04b61377206d49bd" /><Relationship Type="http://schemas.openxmlformats.org/officeDocument/2006/relationships/slide" Target="/ppt/slides/slide16.xml" Id="R65ed311ad86f422c" /><Relationship Type="http://schemas.openxmlformats.org/officeDocument/2006/relationships/slide" Target="/ppt/slides/slide17.xml" Id="Rfd78f0a4fccc4bc5" /><Relationship Type="http://schemas.openxmlformats.org/officeDocument/2006/relationships/slide" Target="/ppt/slides/slide18.xml" Id="R4d3e56d1c4004c01" /><Relationship Type="http://schemas.openxmlformats.org/officeDocument/2006/relationships/slide" Target="/ppt/slides/slide19.xml" Id="R4eb70d1ca20041c6" /><Relationship Type="http://schemas.openxmlformats.org/officeDocument/2006/relationships/slide" Target="/ppt/slides/slide20.xml" Id="Reae602b3fc5c468e" /><Relationship Type="http://schemas.openxmlformats.org/officeDocument/2006/relationships/slide" Target="/ppt/slides/slide21.xml" Id="Rf4daa751b3ac4c46" /><Relationship Type="http://schemas.openxmlformats.org/officeDocument/2006/relationships/slide" Target="/ppt/slides/slide22.xml" Id="R6c7ee69c1f0b4577" /><Relationship Type="http://schemas.openxmlformats.org/officeDocument/2006/relationships/slide" Target="/ppt/slides/slide23.xml" Id="R71cd465c1a4947ae" /><Relationship Type="http://schemas.openxmlformats.org/officeDocument/2006/relationships/slide" Target="/ppt/slides/slide24.xml" Id="Rb94efc59833b45a7" /><Relationship Type="http://schemas.openxmlformats.org/officeDocument/2006/relationships/slide" Target="/ppt/slides/slide25.xml" Id="R28841867d7a241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1f854c5ca948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d5d32124b946d4" /><Relationship Type="http://schemas.openxmlformats.org/officeDocument/2006/relationships/notesMaster" Target="/ppt/notesMasters/notesMaster1.xml" Id="R5018942c4aef41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9d86f3f99b4c5d" /><Relationship Type="http://schemas.openxmlformats.org/officeDocument/2006/relationships/notesMaster" Target="/ppt/notesMasters/notesMaster1.xml" Id="Rfca3098fb97349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52574bbade4800" /><Relationship Type="http://schemas.openxmlformats.org/officeDocument/2006/relationships/notesMaster" Target="/ppt/notesMasters/notesMaster1.xml" Id="Rc891a18aec3848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354d62aeb44673" /><Relationship Type="http://schemas.openxmlformats.org/officeDocument/2006/relationships/notesMaster" Target="/ppt/notesMasters/notesMaster1.xml" Id="Rd067c6ae0ce244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8746a77b264b90" /><Relationship Type="http://schemas.openxmlformats.org/officeDocument/2006/relationships/notesMaster" Target="/ppt/notesMasters/notesMaster1.xml" Id="R8b24ea59e5cf41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6f3b14c8fb4a91" /><Relationship Type="http://schemas.openxmlformats.org/officeDocument/2006/relationships/notesMaster" Target="/ppt/notesMasters/notesMaster1.xml" Id="R175731b2f3614b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8c510915794abd" /><Relationship Type="http://schemas.openxmlformats.org/officeDocument/2006/relationships/notesMaster" Target="/ppt/notesMasters/notesMaster1.xml" Id="R309690bf49f544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0eb0e969404e3e" /><Relationship Type="http://schemas.openxmlformats.org/officeDocument/2006/relationships/notesMaster" Target="/ppt/notesMasters/notesMaster1.xml" Id="R9ab48f95932248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6eaae34dce44e8" /><Relationship Type="http://schemas.openxmlformats.org/officeDocument/2006/relationships/notesMaster" Target="/ppt/notesMasters/notesMaster1.xml" Id="R4e044f29a7e848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1615ba815849c6" /><Relationship Type="http://schemas.openxmlformats.org/officeDocument/2006/relationships/notesMaster" Target="/ppt/notesMasters/notesMaster1.xml" Id="R43324ee3548c41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b56a81a278485c" /><Relationship Type="http://schemas.openxmlformats.org/officeDocument/2006/relationships/notesMaster" Target="/ppt/notesMasters/notesMaster1.xml" Id="R663979b4e5b74d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551d49c1e9472b" /><Relationship Type="http://schemas.openxmlformats.org/officeDocument/2006/relationships/notesMaster" Target="/ppt/notesMasters/notesMaster1.xml" Id="R1a867853c47148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06abbd4111409c" /><Relationship Type="http://schemas.openxmlformats.org/officeDocument/2006/relationships/notesMaster" Target="/ppt/notesMasters/notesMaster1.xml" Id="Rae3c4f4d6abf4d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2035f3b95c4c19" /><Relationship Type="http://schemas.openxmlformats.org/officeDocument/2006/relationships/notesMaster" Target="/ppt/notesMasters/notesMaster1.xml" Id="Rb0d53457255745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7277ce9c4049f1" /><Relationship Type="http://schemas.openxmlformats.org/officeDocument/2006/relationships/notesMaster" Target="/ppt/notesMasters/notesMaster1.xml" Id="Rfbd5a3d16dbc4a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a69374e8c74923" /><Relationship Type="http://schemas.openxmlformats.org/officeDocument/2006/relationships/notesMaster" Target="/ppt/notesMasters/notesMaster1.xml" Id="R5d11a4cfa8ed42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6c6268ff5842b7" /><Relationship Type="http://schemas.openxmlformats.org/officeDocument/2006/relationships/notesMaster" Target="/ppt/notesMasters/notesMaster1.xml" Id="R36c61015254942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b6726728bc4be0" /><Relationship Type="http://schemas.openxmlformats.org/officeDocument/2006/relationships/notesMaster" Target="/ppt/notesMasters/notesMaster1.xml" Id="R6540e7d7377f423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0d81929f3f4d90" /><Relationship Type="http://schemas.openxmlformats.org/officeDocument/2006/relationships/notesMaster" Target="/ppt/notesMasters/notesMaster1.xml" Id="R0eb281d48523484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0e501fa8c94906" /><Relationship Type="http://schemas.openxmlformats.org/officeDocument/2006/relationships/notesMaster" Target="/ppt/notesMasters/notesMaster1.xml" Id="R541ebae426db42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5cb4f1f4064782" /><Relationship Type="http://schemas.openxmlformats.org/officeDocument/2006/relationships/notesMaster" Target="/ppt/notesMasters/notesMaster1.xml" Id="R99bdac613c5e46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0c5ffc5d11c43b6" /><Relationship Type="http://schemas.openxmlformats.org/officeDocument/2006/relationships/notesMaster" Target="/ppt/notesMasters/notesMaster1.xml" Id="R4a7eddc701f446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f940709abbe4c1f" /><Relationship Type="http://schemas.openxmlformats.org/officeDocument/2006/relationships/notesMaster" Target="/ppt/notesMasters/notesMaster1.xml" Id="R3f88c7ded70b4b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32f5832912d4ca7" /><Relationship Type="http://schemas.openxmlformats.org/officeDocument/2006/relationships/notesMaster" Target="/ppt/notesMasters/notesMaster1.xml" Id="R94741b27d7d54b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8f7fc426d354f92" /><Relationship Type="http://schemas.openxmlformats.org/officeDocument/2006/relationships/notesMaster" Target="/ppt/notesMasters/notesMaster1.xml" Id="R9d64e9f357cd47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voorwaarde uit de definitie helpt je bij opgave 11?</a:t>
            </a:r>
          </a:p>
          <a:p xmlns:a="http://schemas.openxmlformats.org/drawingml/2006/main">
            <a:r>
              <a:rPr sz="1400"/>
              <a:t/>
            </a:r>
          </a:p>
          <a:p xmlns:a="http://schemas.openxmlformats.org/drawingml/2006/main">
            <a:r>
              <a:rPr sz="1400"/>
              <a:t>Uitleg: Laat dit overzicht staan tijdens startopdracht. Start 10 herhaalt gelijkstellen, invullen en deel/geheel × 100%. Bij haperende algebra: groepeer de termen, deel door de coëfficiënt en vul terug in. De bekende evenwichtsroute is uitgewerkt in Boek 3 §3.1.4, hoofdstukpagina 30; vandaag veranderen variabelen en eenheden. Start 11 is een verkenning van de nieuwe bevolkingsindeling. Laat leerlingen op p.124 de definitie van beroepsbevolking en de voorwaarden recent zoeken en direct beschikbaar aanwijzen. Zij noteren twijfel en gebruiken die steun, zonder dat dit als beheerste voorkennis telt. Keer vóór basiswerk terug naar 11: opnieuw indelen en de gebruikte voorwaarden uitleggen. Bespreek eventueel het reeds gemaakte startwerk. Basis 12–13 staat op p.128, zelfstandig 14–15 op p.129, doel 16 op p.130. Huiswerk 12, 13, 14, 15, 16 maken en nakijken. Bonus 17 en herhaling 18 zijn extra. De docentenroute reserveert voorlopig twee lessen van 55 minuten; een tijdsfit is niet gemeten. Rond de volledige route zo nodig later af.</a:t>
            </a:r>
          </a:p>
          <a:p xmlns:a="http://schemas.openxmlformats.org/drawingml/2006/main">
            <a:r>
              <a:rPr sz="1400"/>
              <a:t/>
            </a:r>
          </a:p>
          <a:p xmlns:a="http://schemas.openxmlformats.org/drawingml/2006/main">
            <a:r>
              <a:rPr sz="1400"/>
              <a:t>Misvatting: Geen betaald werk hebben is op zichzelf onvoldoende om als werkloos te tellen.</a:t>
            </a:r>
          </a:p>
          <a:p xmlns:a="http://schemas.openxmlformats.org/drawingml/2006/main">
            <a:r>
              <a:rPr sz="1400"/>
              <a:t/>
            </a:r>
          </a:p>
          <a:p xmlns:a="http://schemas.openxmlformats.org/drawingml/2006/main">
            <a:r>
              <a:rPr sz="1400"/>
              <a:t>Overgang: Ga verder wanneer de klas aan de volgende fase toe is.</a:t>
            </a:r>
          </a:p>
          <a:p xmlns:a="http://schemas.openxmlformats.org/drawingml/2006/main">
            <a:r>
              <a:rPr sz="1400"/>
              <a:t/>
            </a:r>
          </a:p>
          <a:p xmlns:a="http://schemas.openxmlformats.org/drawingml/2006/main">
            <a:r>
              <a:rPr sz="1400"/>
              <a:t>Bron: Boek 4, editie books34-v3, gedrukte complete-boekpagina 124, 128–130.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soorten bron ga je gebruiken?</a:t>
            </a:r>
          </a:p>
          <a:p xmlns:a="http://schemas.openxmlformats.org/drawingml/2006/main">
            <a:r>
              <a:rPr sz="1400"/>
              <a:t/>
            </a:r>
          </a:p>
          <a:p xmlns:a="http://schemas.openxmlformats.org/drawingml/2006/main">
            <a:r>
              <a:rPr sz="1400"/>
              <a:t>Uitleg: Koppel de doelen aan 16 a, 16 b en 16 c. De leerlingen combineren straks een regiotelling met een apart sectormodel. Niet elk getal heeft hetzelfde object of dezelfde eenheid.</a:t>
            </a:r>
          </a:p>
          <a:p xmlns:a="http://schemas.openxmlformats.org/drawingml/2006/main">
            <a:r>
              <a:rPr sz="1400"/>
              <a:t/>
            </a:r>
          </a:p>
          <a:p xmlns:a="http://schemas.openxmlformats.org/drawingml/2006/main">
            <a:r>
              <a:rPr sz="1400"/>
              <a:t>Misvatting: Een getelde beroepsbevolking is niet automatisch het aanbod bij elk loon.</a:t>
            </a:r>
          </a:p>
          <a:p xmlns:a="http://schemas.openxmlformats.org/drawingml/2006/main">
            <a:r>
              <a:rPr sz="1400"/>
              <a:t/>
            </a:r>
          </a:p>
          <a:p xmlns:a="http://schemas.openxmlformats.org/drawingml/2006/main">
            <a:r>
              <a:rPr sz="1400"/>
              <a:t>Overgang: Begin met de voorwaarden voor de bevolkingsgroepen.</a:t>
            </a:r>
          </a:p>
          <a:p xmlns:a="http://schemas.openxmlformats.org/drawingml/2006/main">
            <a:r>
              <a:rPr sz="1400"/>
              <a:t/>
            </a:r>
          </a:p>
          <a:p xmlns:a="http://schemas.openxmlformats.org/drawingml/2006/main">
            <a:r>
              <a:rPr sz="1400"/>
              <a:t>Bron: Boek 4, editie books34-v3, gedrukte complete-boekpagina 124–127.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een leerling met een betaalde bijbaan tot de beroepsbevolking horen?</a:t>
            </a:r>
          </a:p>
          <a:p xmlns:a="http://schemas.openxmlformats.org/drawingml/2006/main">
            <a:r>
              <a:rPr sz="1400"/>
              <a:t/>
            </a:r>
          </a:p>
          <a:p xmlns:a="http://schemas.openxmlformats.org/drawingml/2006/main">
            <a:r>
              <a:rPr sz="1400"/>
              <a:t>Uitleg: Werkzaam telt ook bij weinig betaalde uren. Werkloos vereist alle drie de genoemde voorwaarden. Bij de niet-beroepsbevolking is geen betaald werk gegeven en ontbreekt minstens één van zoeken of beschikbaarheid. Leeftijdsbereik: 15-jarigen wel, 75-jarigen niet. Student-zijn bepaalt de groep niet.</a:t>
            </a:r>
          </a:p>
          <a:p xmlns:a="http://schemas.openxmlformats.org/drawingml/2006/main">
            <a:r>
              <a:rPr sz="1400"/>
              <a:t/>
            </a:r>
          </a:p>
          <a:p xmlns:a="http://schemas.openxmlformats.org/drawingml/2006/main">
            <a:r>
              <a:rPr sz="1400"/>
              <a:t>Misvatting: Tel werklozen niet nogmaals bij een al gegeven beroepsbevolking op.</a:t>
            </a:r>
          </a:p>
          <a:p xmlns:a="http://schemas.openxmlformats.org/drawingml/2006/main">
            <a:r>
              <a:rPr sz="1400"/>
              <a:t/>
            </a:r>
          </a:p>
          <a:p xmlns:a="http://schemas.openxmlformats.org/drawingml/2006/main">
            <a:r>
              <a:rPr sz="1400"/>
              <a:t>Overgang: Gebruik de indeling bij de eigen regiotelling.</a:t>
            </a:r>
          </a:p>
          <a:p xmlns:a="http://schemas.openxmlformats.org/drawingml/2006/main">
            <a:r>
              <a:rPr sz="1400"/>
              <a:t/>
            </a:r>
          </a:p>
          <a:p xmlns:a="http://schemas.openxmlformats.org/drawingml/2006/main">
            <a:r>
              <a:rPr sz="1400"/>
              <a:t>Bron: Boek 4, editie books34-v3, gedrukte complete-boekpagina 124.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tellen de 240 mensen zonder werk toch mee in de beroepsbevolking?</a:t>
            </a:r>
          </a:p>
          <a:p xmlns:a="http://schemas.openxmlformats.org/drawingml/2006/main">
            <a:r>
              <a:rPr sz="1400"/>
              <a:t/>
            </a:r>
          </a:p>
          <a:p xmlns:a="http://schemas.openxmlformats.org/drawingml/2006/main">
            <a:r>
              <a:rPr sz="1400"/>
              <a:t>Uitleg: Geconstrueerde telling Dijkstad. Beide deelnemende groepen samen vormen 1.800 personen. Niet-deelnemers tellen wel in de totale bevolking mee. Controleer dat de categorieën samen 2.400 zijn.</a:t>
            </a:r>
          </a:p>
          <a:p xmlns:a="http://schemas.openxmlformats.org/drawingml/2006/main">
            <a:r>
              <a:rPr sz="1400"/>
              <a:t/>
            </a:r>
          </a:p>
          <a:p xmlns:a="http://schemas.openxmlformats.org/drawingml/2006/main">
            <a:r>
              <a:rPr sz="1400"/>
              <a:t>Misvatting: De 600 niet-deelnemers horen niet bij de beroepsbevolking.</a:t>
            </a:r>
          </a:p>
          <a:p xmlns:a="http://schemas.openxmlformats.org/drawingml/2006/main">
            <a:r>
              <a:rPr sz="1400"/>
              <a:t/>
            </a:r>
          </a:p>
          <a:p xmlns:a="http://schemas.openxmlformats.org/drawingml/2006/main">
            <a:r>
              <a:rPr sz="1400"/>
              <a:t>Overgang: Gebruik deze telling voor twee participatiepercentages.</a:t>
            </a:r>
          </a:p>
          <a:p xmlns:a="http://schemas.openxmlformats.org/drawingml/2006/main">
            <a:r>
              <a:rPr sz="1400"/>
              <a:t/>
            </a:r>
          </a:p>
          <a:p xmlns:a="http://schemas.openxmlformats.org/drawingml/2006/main">
            <a:r>
              <a:rPr sz="1400"/>
              <a:t>Bron: Boek 4, editie books34-v3, gedrukte complete-boekpagina 124–125.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teller verandert wanneer iemand zonder baan actief gaat zoeken en beschikbaar is?</a:t>
            </a:r>
          </a:p>
          <a:p xmlns:a="http://schemas.openxmlformats.org/drawingml/2006/main">
            <a:r>
              <a:rPr sz="1400"/>
              <a:t/>
            </a:r>
          </a:p>
          <a:p xmlns:a="http://schemas.openxmlformats.org/drawingml/2006/main">
            <a:r>
              <a:rPr sz="1400"/>
              <a:t>Uitleg: Bij bruto tel je allen die aan de arbeidsmarkt deelnemen. Netto telt mensen met betaald werk. Deel beide door de opgegeven bevolking van dezelfde leeftijdsgroep en vermenigvuldig met 100 procent. Dit herhaalt deel/geheel uit start 10 b met een nieuw economisch onderscheid.</a:t>
            </a:r>
          </a:p>
          <a:p xmlns:a="http://schemas.openxmlformats.org/drawingml/2006/main">
            <a:r>
              <a:rPr sz="1400"/>
              <a:t/>
            </a:r>
          </a:p>
          <a:p xmlns:a="http://schemas.openxmlformats.org/drawingml/2006/main">
            <a:r>
              <a:rPr sz="1400"/>
              <a:t>Misvatting: De beroepsbevolking is hier geen noemer. Het werkloosheidspercentage krijgt in §4.3.3 een andere noemer.</a:t>
            </a:r>
          </a:p>
          <a:p xmlns:a="http://schemas.openxmlformats.org/drawingml/2006/main">
            <a:r>
              <a:rPr sz="1400"/>
              <a:t/>
            </a:r>
          </a:p>
          <a:p xmlns:a="http://schemas.openxmlformats.org/drawingml/2006/main">
            <a:r>
              <a:rPr sz="1400"/>
              <a:t>Overgang: Vul de Dijkstad-cijfers in.</a:t>
            </a:r>
          </a:p>
          <a:p xmlns:a="http://schemas.openxmlformats.org/drawingml/2006/main">
            <a:r>
              <a:rPr sz="1400"/>
              <a:t/>
            </a:r>
          </a:p>
          <a:p xmlns:a="http://schemas.openxmlformats.org/drawingml/2006/main">
            <a:r>
              <a:rPr sz="1400"/>
              <a:t>Bron: Boek 4, editie books34-v3, gedrukte complete-boekpagina 125.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verandert de noemer niet?</a:t>
            </a:r>
          </a:p>
          <a:p xmlns:a="http://schemas.openxmlformats.org/drawingml/2006/main">
            <a:r>
              <a:rPr sz="1400"/>
              <a:t/>
            </a:r>
          </a:p>
          <a:p xmlns:a="http://schemas.openxmlformats.org/drawingml/2006/main">
            <a:r>
              <a:rPr sz="1400"/>
              <a:t>Uitleg: Dezelfde 2.400 inwoners vormen beide noemers. 75% neemt deel, 65% heeft betaald werk. Het verschil is 10 procentpunt van de hele bevolking. Dat verschil is niet het werkloosheidspercentage.</a:t>
            </a:r>
          </a:p>
          <a:p xmlns:a="http://schemas.openxmlformats.org/drawingml/2006/main">
            <a:r>
              <a:rPr sz="1400"/>
              <a:t/>
            </a:r>
          </a:p>
          <a:p xmlns:a="http://schemas.openxmlformats.org/drawingml/2006/main">
            <a:r>
              <a:rPr sz="1400"/>
              <a:t>Misvatting: Verschil in procentpunten is iets anders dan een procentuele verandering of het werkloosheidspercentage.</a:t>
            </a:r>
          </a:p>
          <a:p xmlns:a="http://schemas.openxmlformats.org/drawingml/2006/main">
            <a:r>
              <a:rPr sz="1400"/>
              <a:t/>
            </a:r>
          </a:p>
          <a:p xmlns:a="http://schemas.openxmlformats.org/drawingml/2006/main">
            <a:r>
              <a:rPr sz="1400"/>
              <a:t>Overgang: Vervolgens een apart model: arbeid bij verschillende lonen.</a:t>
            </a:r>
          </a:p>
          <a:p xmlns:a="http://schemas.openxmlformats.org/drawingml/2006/main">
            <a:r>
              <a:rPr sz="1400"/>
              <a:t/>
            </a:r>
          </a:p>
          <a:p xmlns:a="http://schemas.openxmlformats.org/drawingml/2006/main">
            <a:r>
              <a:rPr sz="1400"/>
              <a:t>Bron: Boek 4, editie books34-v3, gedrukte complete-boekpagina 125.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koopt jouw werktijd als je een bijbaan hebt?</a:t>
            </a:r>
          </a:p>
          <a:p xmlns:a="http://schemas.openxmlformats.org/drawingml/2006/main">
            <a:r>
              <a:rPr sz="1400"/>
              <a:t/>
            </a:r>
          </a:p>
          <a:p xmlns:a="http://schemas.openxmlformats.org/drawingml/2006/main">
            <a:r>
              <a:rPr sz="1400"/>
              <a:t>Uitleg: Werkgevers kopen arbeid, huishoudens bieden arbeid. Herhaal §4.3.1: uren, personen en fte zijn verschillende grootheden. Hier bepaalt de bron L als personen met elk 20 uur per week. Wissel deze as niet stilzwijgend met uren of euro. De algebra van gelijkstellen blijft gelijk.</a:t>
            </a:r>
          </a:p>
          <a:p xmlns:a="http://schemas.openxmlformats.org/drawingml/2006/main">
            <a:r>
              <a:rPr sz="1400"/>
              <a:t/>
            </a:r>
          </a:p>
          <a:p xmlns:a="http://schemas.openxmlformats.org/drawingml/2006/main">
            <a:r>
              <a:rPr sz="1400"/>
              <a:t>Misvatting: In dagelijks taalgebruik biedt een werkgever een baan aan; economisch vraagt hij arbeid.</a:t>
            </a:r>
          </a:p>
          <a:p xmlns:a="http://schemas.openxmlformats.org/drawingml/2006/main">
            <a:r>
              <a:rPr sz="1400"/>
              <a:t/>
            </a:r>
          </a:p>
          <a:p xmlns:a="http://schemas.openxmlformats.org/drawingml/2006/main">
            <a:r>
              <a:rPr sz="1400"/>
              <a:t>Overgang: Lees eerst de context en aannamen van het eigen sectorvoorbeeld.</a:t>
            </a:r>
          </a:p>
          <a:p xmlns:a="http://schemas.openxmlformats.org/drawingml/2006/main">
            <a:r>
              <a:rPr sz="1400"/>
              <a:t/>
            </a:r>
          </a:p>
          <a:p xmlns:a="http://schemas.openxmlformats.org/drawingml/2006/main">
            <a:r>
              <a:rPr sz="1400"/>
              <a:t>Bron: Boek 4, editie books34-v3, gedrukte complete-boekpagina 126; voorkennis p.114–115.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moet de bron vermelden dat passende matches direct ontstaan?</a:t>
            </a:r>
          </a:p>
          <a:p xmlns:a="http://schemas.openxmlformats.org/drawingml/2006/main">
            <a:r>
              <a:rPr sz="1400"/>
              <a:t/>
            </a:r>
          </a:p>
          <a:p xmlns:a="http://schemas.openxmlformats.org/drawingml/2006/main">
            <a:r>
              <a:rPr sz="1400"/>
              <a:t>Uitleg: Eigen model voor baliemedewerkers, los van de Dijkstad-telling. Bij elk gegeven loon geeft de vraagfunctie het aantal personen dat werkgevers willen inzetten en de aanbodfunctie hoeveel mensen hun arbeid aanbieden. Andere omstandigheden blijven gelijk. Beide functies zijn alleen geldig op het aangegeven domein. De modelafspraken maken gelijk gevraagde en aangeboden arbeid tot gevulde werkgelegenheid.</a:t>
            </a:r>
          </a:p>
          <a:p xmlns:a="http://schemas.openxmlformats.org/drawingml/2006/main">
            <a:r>
              <a:rPr sz="1400"/>
              <a:t/>
            </a:r>
          </a:p>
          <a:p xmlns:a="http://schemas.openxmlformats.org/drawingml/2006/main">
            <a:r>
              <a:rPr sz="1400"/>
              <a:t>Misvatting: Een modeluitkomst is geen telling van alle werkenden of werklozen in Dijkstad.</a:t>
            </a:r>
          </a:p>
          <a:p xmlns:a="http://schemas.openxmlformats.org/drawingml/2006/main">
            <a:r>
              <a:rPr sz="1400"/>
              <a:t/>
            </a:r>
          </a:p>
          <a:p xmlns:a="http://schemas.openxmlformats.org/drawingml/2006/main">
            <a:r>
              <a:rPr sz="1400"/>
              <a:t>Overgang: Teken eerst arbeidsvraag en let op de asbetekenis.</a:t>
            </a:r>
          </a:p>
          <a:p xmlns:a="http://schemas.openxmlformats.org/drawingml/2006/main">
            <a:r>
              <a:rPr sz="1400"/>
              <a:t/>
            </a:r>
          </a:p>
          <a:p xmlns:a="http://schemas.openxmlformats.org/drawingml/2006/main">
            <a:r>
              <a:rPr sz="1400"/>
              <a:t>Bron: Boek 4, editie books34-v3, gedrukte complete-boekpagina 126–127.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ligt het punt met 108 personen en 12 euro per uur?</a:t>
            </a:r>
          </a:p>
          <a:p xmlns:a="http://schemas.openxmlformats.org/drawingml/2006/main">
            <a:r>
              <a:rPr sz="1400"/>
              <a:t/>
            </a:r>
          </a:p>
          <a:p xmlns:a="http://schemas.openxmlformats.org/drawingml/2006/main">
            <a:r>
              <a:rPr sz="1400"/>
              <a:t>Uitleg: Vul de lonen in: 180−72=108 en 180−144=36. Loon staat verticaal, personen horizontaal. Bij hoger loon willen werkgevers minder personen inzetten, ceteris paribus. De lijn is alleen getekend voor 6 tot 30 euro per uur.</a:t>
            </a:r>
          </a:p>
          <a:p xmlns:a="http://schemas.openxmlformats.org/drawingml/2006/main">
            <a:r>
              <a:rPr sz="1400"/>
              <a:t/>
            </a:r>
          </a:p>
          <a:p xmlns:a="http://schemas.openxmlformats.org/drawingml/2006/main">
            <a:r>
              <a:rPr sz="1400"/>
              <a:t>Misvatting: Een hoger loon verplaatst hier het punt langs dezelfde vraaglijn.</a:t>
            </a:r>
          </a:p>
          <a:p xmlns:a="http://schemas.openxmlformats.org/drawingml/2006/main">
            <a:r>
              <a:rPr sz="1400"/>
              <a:t/>
            </a:r>
          </a:p>
          <a:p xmlns:a="http://schemas.openxmlformats.org/drawingml/2006/main">
            <a:r>
              <a:rPr sz="1400"/>
              <a:t>Overgang: Voeg het arbeidsaanbod bij dezelfde lonen en dezelfde schaal toe.</a:t>
            </a:r>
          </a:p>
          <a:p xmlns:a="http://schemas.openxmlformats.org/drawingml/2006/main">
            <a:r>
              <a:rPr sz="1400"/>
              <a:t/>
            </a:r>
          </a:p>
          <a:p xmlns:a="http://schemas.openxmlformats.org/drawingml/2006/main">
            <a:r>
              <a:rPr sz="1400"/>
              <a:t>Bron: Boek 4, editie books34-v3, gedrukte complete-boekpagina 126; voorkennis p.117.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 loon zouden beide aantallen gelijk zijn?</a:t>
            </a:r>
          </a:p>
          <a:p xmlns:a="http://schemas.openxmlformats.org/drawingml/2006/main">
            <a:r>
              <a:rPr sz="1400"/>
              <a:t/>
            </a:r>
          </a:p>
          <a:p xmlns:a="http://schemas.openxmlformats.org/drawingml/2006/main">
            <a:r>
              <a:rPr sz="1400"/>
              <a:t>Uitleg: Vul aanbod in: −36+72=36 en −36+144=108. Een hoger loon trekt in dit model meer aanbieders aan. Hier liggen uren per persoon vast. Het boek bespreekt algemener ook veranderingen van uren. Tijd, zorgtaken, opleiding en voorkeuren blijven gelijk. Meer beschikbare gekwalificeerde werknemers kan de gehele lijn verschuiven. Bij uitsluitend een ander loon beweeg je langs de lijn.</a:t>
            </a:r>
          </a:p>
          <a:p xmlns:a="http://schemas.openxmlformats.org/drawingml/2006/main">
            <a:r>
              <a:rPr sz="1400"/>
              <a:t/>
            </a:r>
          </a:p>
          <a:p xmlns:a="http://schemas.openxmlformats.org/drawingml/2006/main">
            <a:r>
              <a:rPr sz="1400"/>
              <a:t>Misvatting: De aanbodlijn is een vereenvoudiging voor deze markt, geen algemene garantie dat ieder mens bij hoger loon meer werkt.</a:t>
            </a:r>
          </a:p>
          <a:p xmlns:a="http://schemas.openxmlformats.org/drawingml/2006/main">
            <a:r>
              <a:rPr sz="1400"/>
              <a:t/>
            </a:r>
          </a:p>
          <a:p xmlns:a="http://schemas.openxmlformats.org/drawingml/2006/main">
            <a:r>
              <a:rPr sz="1400"/>
              <a:t>Overgang: Bereken het snijpunt met gelijkstellen.</a:t>
            </a:r>
          </a:p>
          <a:p xmlns:a="http://schemas.openxmlformats.org/drawingml/2006/main">
            <a:r>
              <a:rPr sz="1400"/>
              <a:t/>
            </a:r>
          </a:p>
          <a:p xmlns:a="http://schemas.openxmlformats.org/drawingml/2006/main">
            <a:r>
              <a:rPr sz="1400"/>
              <a:t>Bron: Boek 4, editie books34-v3, gedrukte complete-boekpagina 125–126.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rekenen we na het loon ook nog L uit?</a:t>
            </a:r>
          </a:p>
          <a:p xmlns:a="http://schemas.openxmlformats.org/drawingml/2006/main">
            <a:r>
              <a:rPr sz="1400"/>
              <a:t/>
            </a:r>
          </a:p>
          <a:p xmlns:a="http://schemas.openxmlformats.org/drawingml/2006/main">
            <a:r>
              <a:rPr sz="1400"/>
              <a:t>Uitleg: Breng −36 naar links en −6 w naar rechts: 180+36=12 w. Deel beide kanten door 12. Vul w 18 in beide functies terug in. De twee uitkomsten zijn gelijk en niet-negatief. De eenheid van w is euro per uur, van L personen.</a:t>
            </a:r>
          </a:p>
          <a:p xmlns:a="http://schemas.openxmlformats.org/drawingml/2006/main">
            <a:r>
              <a:rPr sz="1400"/>
              <a:t/>
            </a:r>
          </a:p>
          <a:p xmlns:a="http://schemas.openxmlformats.org/drawingml/2006/main">
            <a:r>
              <a:rPr sz="1400"/>
              <a:t>Misvatting: w 18 is geen hoeveelheid arbeid; de evenwichtsvergelijking geeft eerst het loon.</a:t>
            </a:r>
          </a:p>
          <a:p xmlns:a="http://schemas.openxmlformats.org/drawingml/2006/main">
            <a:r>
              <a:rPr sz="1400"/>
              <a:t/>
            </a:r>
          </a:p>
          <a:p xmlns:a="http://schemas.openxmlformats.org/drawingml/2006/main">
            <a:r>
              <a:rPr sz="1400"/>
              <a:t>Overgang: Markeer de berekende coördinaten op de grafiek.</a:t>
            </a:r>
          </a:p>
          <a:p xmlns:a="http://schemas.openxmlformats.org/drawingml/2006/main">
            <a:r>
              <a:rPr sz="1400"/>
              <a:t/>
            </a:r>
          </a:p>
          <a:p xmlns:a="http://schemas.openxmlformats.org/drawingml/2006/main">
            <a:r>
              <a:rPr sz="1400"/>
              <a:t>Bron: Boek 4, editie books34-v3, gedrukte complete-boekpagina 126–127.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coördinaat schrijf je eerst: personen of loon?</a:t>
            </a:r>
          </a:p>
          <a:p xmlns:a="http://schemas.openxmlformats.org/drawingml/2006/main">
            <a:r>
              <a:rPr sz="1400"/>
              <a:t/>
            </a:r>
          </a:p>
          <a:p xmlns:a="http://schemas.openxmlformats.org/drawingml/2006/main">
            <a:r>
              <a:rPr sz="1400"/>
              <a:t>Uitleg: E ligt bij L 72 en w 18. Trek een verticale hulplijn naar de hoeveelheidsas en een horizontale hulplijn naar de loonas. Beide arbeidslijnen lopen door dit punt. Onder de gegeven vrije loonaanpassing en directe matching werken deze 72 personen in het model.</a:t>
            </a:r>
          </a:p>
          <a:p xmlns:a="http://schemas.openxmlformats.org/drawingml/2006/main">
            <a:r>
              <a:rPr sz="1400"/>
              <a:t/>
            </a:r>
          </a:p>
          <a:p xmlns:a="http://schemas.openxmlformats.org/drawingml/2006/main">
            <a:r>
              <a:rPr sz="1400"/>
              <a:t>Misvatting: E=(18; 72) verwisselt de assen. De grafiek telt geen euro horizontaal.</a:t>
            </a:r>
          </a:p>
          <a:p xmlns:a="http://schemas.openxmlformats.org/drawingml/2006/main">
            <a:r>
              <a:rPr sz="1400"/>
              <a:t/>
            </a:r>
          </a:p>
          <a:p xmlns:a="http://schemas.openxmlformats.org/drawingml/2006/main">
            <a:r>
              <a:rPr sz="1400"/>
              <a:t>Overgang: Leg de modeluitkomst naast de telling, met de bron erbij.</a:t>
            </a:r>
          </a:p>
          <a:p xmlns:a="http://schemas.openxmlformats.org/drawingml/2006/main">
            <a:r>
              <a:rPr sz="1400"/>
              <a:t/>
            </a:r>
          </a:p>
          <a:p xmlns:a="http://schemas.openxmlformats.org/drawingml/2006/main">
            <a:r>
              <a:rPr sz="1400"/>
              <a:t>Bron: Boek 4, editie books34-v3, gedrukte complete-boekpagina 126–127.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gebruik je voor de bruto-participatie?</a:t>
            </a:r>
          </a:p>
          <a:p xmlns:a="http://schemas.openxmlformats.org/drawingml/2006/main">
            <a:r>
              <a:rPr sz="1400"/>
              <a:t/>
            </a:r>
          </a:p>
          <a:p xmlns:a="http://schemas.openxmlformats.org/drawingml/2006/main">
            <a:r>
              <a:rPr sz="1400"/>
              <a:t>Uitleg: De twee bronnen hebben een ander object. Een beroepsbevolking omvat werkenden en werklozen uit een regio. De sectoruitkomst is de werkgelegenheid onder een expliciet loon- en matchingmodel. Je mag 72 niet van 1.800 aftrekken om regionale werkloosheid te vinden.</a:t>
            </a:r>
          </a:p>
          <a:p xmlns:a="http://schemas.openxmlformats.org/drawingml/2006/main">
            <a:r>
              <a:rPr sz="1400"/>
              <a:t/>
            </a:r>
          </a:p>
          <a:p xmlns:a="http://schemas.openxmlformats.org/drawingml/2006/main">
            <a:r>
              <a:rPr sz="1400"/>
              <a:t>Misvatting: De hele beroepsbevolking vormt geen vast arbeidsaanbod bij alle lonen.</a:t>
            </a:r>
          </a:p>
          <a:p xmlns:a="http://schemas.openxmlformats.org/drawingml/2006/main">
            <a:r>
              <a:rPr sz="1400"/>
              <a:t/>
            </a:r>
          </a:p>
          <a:p xmlns:a="http://schemas.openxmlformats.org/drawingml/2006/main">
            <a:r>
              <a:rPr sz="1400"/>
              <a:t>Overgang: Controleer of de leerlingen de gekozen noemer en het punt E kunnen uitleggen.</a:t>
            </a:r>
          </a:p>
          <a:p xmlns:a="http://schemas.openxmlformats.org/drawingml/2006/main">
            <a:r>
              <a:rPr sz="1400"/>
              <a:t/>
            </a:r>
          </a:p>
          <a:p xmlns:a="http://schemas.openxmlformats.org/drawingml/2006/main">
            <a:r>
              <a:rPr sz="1400"/>
              <a:t>Bron: Boek 4, editie books34-v3, gedrukte complete-boekpagina 125–127.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of afspraak gebruikte je in je antwoord?</a:t>
            </a:r>
          </a:p>
          <a:p xmlns:a="http://schemas.openxmlformats.org/drawingml/2006/main">
            <a:r>
              <a:rPr sz="1400"/>
              <a:t/>
            </a:r>
          </a:p>
          <a:p xmlns:a="http://schemas.openxmlformats.org/drawingml/2006/main">
            <a:r>
              <a:rPr sz="1400"/>
              <a:t>Uitleg: Antwoorden: noemer 2.400 inwoners; iemand zonder werk telt bij bruto mee als die recent zoekt en direct beschikbaar is. E betekent 72 personen bij 18 euro per uur. Alleen loonverandering is beweging langs bestaande lijnen, geen verschuiving. Laat leerlingen één antwoord uitleggen en bied bij twijfel de passende vorige dia opnieuw aan.</a:t>
            </a:r>
          </a:p>
          <a:p xmlns:a="http://schemas.openxmlformats.org/drawingml/2006/main">
            <a:r>
              <a:rPr sz="1400"/>
              <a:t/>
            </a:r>
          </a:p>
          <a:p xmlns:a="http://schemas.openxmlformats.org/drawingml/2006/main">
            <a:r>
              <a:rPr sz="1400"/>
              <a:t>Misvatting: Een goed getal zonder passende eenheid of reden is nog geen volledige uitleg.</a:t>
            </a:r>
          </a:p>
          <a:p xmlns:a="http://schemas.openxmlformats.org/drawingml/2006/main">
            <a:r>
              <a:rPr sz="1400"/>
              <a:t/>
            </a:r>
          </a:p>
          <a:p xmlns:a="http://schemas.openxmlformats.org/drawingml/2006/main">
            <a:r>
              <a:rPr sz="1400"/>
              <a:t>Overgang: Keer op het overzicht eerst terug naar start 11, daarna basis 12–13. De controle voegt geen huiswerk toe.</a:t>
            </a:r>
          </a:p>
          <a:p xmlns:a="http://schemas.openxmlformats.org/drawingml/2006/main">
            <a:r>
              <a:rPr sz="1400"/>
              <a:t/>
            </a:r>
          </a:p>
          <a:p xmlns:a="http://schemas.openxmlformats.org/drawingml/2006/main">
            <a:r>
              <a:rPr sz="1400"/>
              <a:t>Bron: Boek 4, editie books34-v3, gedrukte complete-boekpagina 124–127.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Uitlegvoorbeeld — niet uit het boek. Dijkstad en de markt voor baliemedewerkers met eigen aantallen en functies. De boekpagina onderbouwt de methode, niet deze 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voorwaarde uit de definitie helpt je bij opgave 11?</a:t>
            </a:r>
          </a:p>
          <a:p xmlns:a="http://schemas.openxmlformats.org/drawingml/2006/main">
            <a:r>
              <a:rPr sz="1400"/>
              <a:t/>
            </a:r>
          </a:p>
          <a:p xmlns:a="http://schemas.openxmlformats.org/drawingml/2006/main">
            <a:r>
              <a:rPr sz="1400"/>
              <a:t>Uitleg: Laat dit overzicht staan tijdens zelfstandig werken. Start 10 herhaalt gelijkstellen, invullen en deel/geheel × 100%. Bij haperende algebra: groepeer de termen, deel door de coëfficiënt en vul terug in. De bekende evenwichtsroute is uitgewerkt in Boek 3 §3.1.4, hoofdstukpagina 30; vandaag veranderen variabelen en eenheden. Start 11 is een verkenning van de nieuwe bevolkingsindeling. Laat leerlingen op p.124 de definitie van beroepsbevolking en de voorwaarden recent zoeken en direct beschikbaar aanwijzen. Zij noteren twijfel en gebruiken die steun, zonder dat dit als beheerste voorkennis telt. Keer vóór basiswerk terug naar 11: opnieuw indelen en de gebruikte voorwaarden uitleggen. Bespreek eventueel het reeds gemaakte startwerk. Basis 12–13 staat op p.128, zelfstandig 14–15 op p.129, doel 16 op p.130. Huiswerk 12, 13, 14, 15, 16 maken en nakijken. Bonus 17 en herhaling 18 zijn extra. De docentenroute reserveert voorlopig twee lessen van 55 minuten; een tijdsfit is niet gemeten. Rond de volledige route zo nodig later af.</a:t>
            </a:r>
          </a:p>
          <a:p xmlns:a="http://schemas.openxmlformats.org/drawingml/2006/main">
            <a:r>
              <a:rPr sz="1400"/>
              <a:t/>
            </a:r>
          </a:p>
          <a:p xmlns:a="http://schemas.openxmlformats.org/drawingml/2006/main">
            <a:r>
              <a:rPr sz="1400"/>
              <a:t>Misvatting: Geen betaald werk hebben is op zichzelf onvoldoende om als werkloos te tellen.</a:t>
            </a:r>
          </a:p>
          <a:p xmlns:a="http://schemas.openxmlformats.org/drawingml/2006/main">
            <a:r>
              <a:rPr sz="1400"/>
              <a:t/>
            </a:r>
          </a:p>
          <a:p xmlns:a="http://schemas.openxmlformats.org/drawingml/2006/main">
            <a:r>
              <a:rPr sz="1400"/>
              <a:t>Overgang: Ga verder wanneer de klas aan de volgende fase toe is.</a:t>
            </a:r>
          </a:p>
          <a:p xmlns:a="http://schemas.openxmlformats.org/drawingml/2006/main">
            <a:r>
              <a:rPr sz="1400"/>
              <a:t/>
            </a:r>
          </a:p>
          <a:p xmlns:a="http://schemas.openxmlformats.org/drawingml/2006/main">
            <a:r>
              <a:rPr sz="1400"/>
              <a:t>Bron: Boek 4, editie books34-v3, gedrukte complete-boekpagina 124, 128–130.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leeftijdsgroep beschrijft bron A?</a:t>
            </a:r>
          </a:p>
          <a:p xmlns:a="http://schemas.openxmlformats.org/drawingml/2006/main">
            <a:r>
              <a:rPr sz="1400"/>
              <a:t/>
            </a:r>
          </a:p>
          <a:p xmlns:a="http://schemas.openxmlformats.org/drawingml/2006/main">
            <a:r>
              <a:rPr sz="1400"/>
              <a:t>Uitleg: Dit is de volledige inhoud van bronA uit opgave 16, nu als tabel. Laat leerlingen hun gemaakte werk erbij houden, maar toon nog geen oplossingen. BronB komt apart.</a:t>
            </a:r>
          </a:p>
          <a:p xmlns:a="http://schemas.openxmlformats.org/drawingml/2006/main">
            <a:r>
              <a:rPr sz="1400"/>
              <a:t/>
            </a:r>
          </a:p>
          <a:p xmlns:a="http://schemas.openxmlformats.org/drawingml/2006/main">
            <a:r>
              <a:rPr sz="1400"/>
              <a:t>Misvatting: De beroepsbevolking is hier nog niet gegeven als afzonderlijk totaal.</a:t>
            </a:r>
          </a:p>
          <a:p xmlns:a="http://schemas.openxmlformats.org/drawingml/2006/main">
            <a:r>
              <a:rPr sz="1400"/>
              <a:t/>
            </a:r>
          </a:p>
          <a:p xmlns:a="http://schemas.openxmlformats.org/drawingml/2006/main">
            <a:r>
              <a:rPr sz="1400"/>
              <a:t>Overgang: Lees nu de volledige bron B.</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afspraken maken loonaanpassing en passende matches mogelijk?</a:t>
            </a:r>
          </a:p>
          <a:p xmlns:a="http://schemas.openxmlformats.org/drawingml/2006/main">
            <a:r>
              <a:rPr sz="1400"/>
              <a:t/>
            </a:r>
          </a:p>
          <a:p xmlns:a="http://schemas.openxmlformats.org/drawingml/2006/main">
            <a:r>
              <a:rPr sz="1400"/>
              <a:t>Uitleg: Alle data, eenheden en aannamen van bronB zijn overgenomen. Deze sector heeft eigen functies. De cijfers en uitkomst van baliemedewerkers gelden hier niet.</a:t>
            </a:r>
          </a:p>
          <a:p xmlns:a="http://schemas.openxmlformats.org/drawingml/2006/main">
            <a:r>
              <a:rPr sz="1400"/>
              <a:t/>
            </a:r>
          </a:p>
          <a:p xmlns:a="http://schemas.openxmlformats.org/drawingml/2006/main">
            <a:r>
              <a:rPr sz="1400"/>
              <a:t>Misvatting: Neem geen loon of hoeveelheid over uit het uitlegvoorbeeld.</a:t>
            </a:r>
          </a:p>
          <a:p xmlns:a="http://schemas.openxmlformats.org/drawingml/2006/main">
            <a:r>
              <a:rPr sz="1400"/>
              <a:t/>
            </a:r>
          </a:p>
          <a:p xmlns:a="http://schemas.openxmlformats.org/drawingml/2006/main">
            <a:r>
              <a:rPr sz="1400"/>
              <a:t>Overgang: Laat alle deelvragen zien voordat er antwoorden verschijnen.</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vraag gebruik je welke bron?</a:t>
            </a:r>
          </a:p>
          <a:p xmlns:a="http://schemas.openxmlformats.org/drawingml/2006/main">
            <a:r>
              <a:rPr sz="1400"/>
              <a:t/>
            </a:r>
          </a:p>
          <a:p xmlns:a="http://schemas.openxmlformats.org/drawingml/2006/main">
            <a:r>
              <a:rPr sz="1400"/>
              <a:t>Uitleg: Alle drie subvragen en puntenwaarden zijn letterlijk behouden. Hieronder verwijst in het boek naar de basisgrafiek; toon die nu op de volgende dia. Er zijn nog geen antwoorden onthuld.</a:t>
            </a:r>
          </a:p>
          <a:p xmlns:a="http://schemas.openxmlformats.org/drawingml/2006/main">
            <a:r>
              <a:rPr sz="1400"/>
              <a:t/>
            </a:r>
          </a:p>
          <a:p xmlns:a="http://schemas.openxmlformats.org/drawingml/2006/main">
            <a:r>
              <a:rPr sz="1400"/>
              <a:t>Misvatting: 16 c vraagt zowel de actoren als de reden waarom het model de telling niet vervangt.</a:t>
            </a:r>
          </a:p>
          <a:p xmlns:a="http://schemas.openxmlformats.org/drawingml/2006/main">
            <a:r>
              <a:rPr sz="1400"/>
              <a:t/>
            </a:r>
          </a:p>
          <a:p xmlns:a="http://schemas.openxmlformats.org/drawingml/2006/main">
            <a:r>
              <a:rPr sz="1400"/>
              <a:t>Overgang: Toon de basisgrafiek zonder het berekende punt E.</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zet je straks een berekend loon en aantal personen in deze grafiek?</a:t>
            </a:r>
          </a:p>
          <a:p xmlns:a="http://schemas.openxmlformats.org/drawingml/2006/main">
            <a:r>
              <a:rPr sz="1400"/>
              <a:t/>
            </a:r>
          </a:p>
          <a:p xmlns:a="http://schemas.openxmlformats.org/drawingml/2006/main">
            <a:r>
              <a:rPr sz="1400"/>
              <a:t>Uitleg: Basisgrafiek bij de volledige opgave 16. Dezelfde functies, eenheden en assenschaal als de boekfiguur. De getekende lijnstukken zijn begrensd op het expliciete geldigheidsgebied uit bronB. De boekfiguur trekt de lijnen daarbuiten door; gebruik uitsluitend 4≤w≤24. Dit verandert geen brongegeven of gevraagde bewerking. Laat het berekende punt en hulplijnen eerst door leerlingen aanwijzen, zonder oplossing te tonen.</a:t>
            </a:r>
          </a:p>
          <a:p xmlns:a="http://schemas.openxmlformats.org/drawingml/2006/main">
            <a:r>
              <a:rPr sz="1400"/>
              <a:t/>
            </a:r>
          </a:p>
          <a:p xmlns:a="http://schemas.openxmlformats.org/drawingml/2006/main">
            <a:r>
              <a:rPr sz="1400"/>
              <a:t>Misvatting: De functies zijn buiten het aangegeven domein geen geldige voorspelling.</a:t>
            </a:r>
          </a:p>
          <a:p xmlns:a="http://schemas.openxmlformats.org/drawingml/2006/main">
            <a:r>
              <a:rPr sz="1400"/>
              <a:t/>
            </a:r>
          </a:p>
          <a:p xmlns:a="http://schemas.openxmlformats.org/drawingml/2006/main">
            <a:r>
              <a:rPr sz="1400"/>
              <a:t>Overgang: Begin nu de antwoorden bij bron A.</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de 500 bij de teller van bruto?</a:t>
            </a:r>
          </a:p>
          <a:p xmlns:a="http://schemas.openxmlformats.org/drawingml/2006/main">
            <a:r>
              <a:rPr sz="1400"/>
              <a:t/>
            </a:r>
          </a:p>
          <a:p xmlns:a="http://schemas.openxmlformats.org/drawingml/2006/main">
            <a:r>
              <a:rPr sz="1400"/>
              <a:t>Uitleg: Tel werkenden en werklozen bij elkaar: 3.500. De niet-deelnemers tellen niet bij de beroepsbevolking. Samen met die 1.500 is de totale bevolking wel 5.000.</a:t>
            </a:r>
          </a:p>
          <a:p xmlns:a="http://schemas.openxmlformats.org/drawingml/2006/main">
            <a:r>
              <a:rPr sz="1400"/>
              <a:t/>
            </a:r>
          </a:p>
          <a:p xmlns:a="http://schemas.openxmlformats.org/drawingml/2006/main">
            <a:r>
              <a:rPr sz="1400"/>
              <a:t>Misvatting: Tel werklozen niet nogmaals bij 3.500 op.</a:t>
            </a:r>
          </a:p>
          <a:p xmlns:a="http://schemas.openxmlformats.org/drawingml/2006/main">
            <a:r>
              <a:rPr sz="1400"/>
              <a:t/>
            </a:r>
          </a:p>
          <a:p xmlns:a="http://schemas.openxmlformats.org/drawingml/2006/main">
            <a:r>
              <a:rPr sz="1400"/>
              <a:t>Overgang: Gebruik de totale bevolking als noemer voor beide percentages.</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getallen verschillen in deze berekeningen?</a:t>
            </a:r>
          </a:p>
          <a:p xmlns:a="http://schemas.openxmlformats.org/drawingml/2006/main">
            <a:r>
              <a:rPr sz="1400"/>
              <a:t/>
            </a:r>
          </a:p>
          <a:p xmlns:a="http://schemas.openxmlformats.org/drawingml/2006/main">
            <a:r>
              <a:rPr sz="1400"/>
              <a:t>Uitleg: Werk beide breuken uit met dezelfde noemer 5.000. Bruto 70%, netto 60%. Controle: bruto is groter dan netto en beide vallen tussen 0 en 100. 70−60 is 10 procentpunt, het aandeel werklozen in de hele bevolking.</a:t>
            </a:r>
          </a:p>
          <a:p xmlns:a="http://schemas.openxmlformats.org/drawingml/2006/main">
            <a:r>
              <a:rPr sz="1400"/>
              <a:t/>
            </a:r>
          </a:p>
          <a:p xmlns:a="http://schemas.openxmlformats.org/drawingml/2006/main">
            <a:r>
              <a:rPr sz="1400"/>
              <a:t>Misvatting: 500/3.500 is geen participatiepercentage.</a:t>
            </a:r>
          </a:p>
          <a:p xmlns:a="http://schemas.openxmlformats.org/drawingml/2006/main">
            <a:r>
              <a:rPr sz="1400"/>
              <a:t/>
            </a:r>
          </a:p>
          <a:p xmlns:a="http://schemas.openxmlformats.org/drawingml/2006/main">
            <a:r>
              <a:rPr sz="1400"/>
              <a:t>Overgang: Ga naar bron B en los eerst het loon op.</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controleert dat beide marktpartijen het eens zijn?</a:t>
            </a:r>
          </a:p>
          <a:p xmlns:a="http://schemas.openxmlformats.org/drawingml/2006/main">
            <a:r>
              <a:rPr sz="1400"/>
              <a:t/>
            </a:r>
          </a:p>
          <a:p xmlns:a="http://schemas.openxmlformats.org/drawingml/2006/main">
            <a:r>
              <a:rPr sz="1400"/>
              <a:t>Uitleg: Tel 40 bij beide kanten op en breng−10 w naar rechts. Deel 280 door 20. Bereken daarna de hoeveelheid in beide functies. Door de gegeven directe matching is 100 personen ook de werkgelegenheid. Iedere persoon werkt 20 uur per week; de gevraagde werkgelegenheid is in personen.</a:t>
            </a:r>
          </a:p>
          <a:p xmlns:a="http://schemas.openxmlformats.org/drawingml/2006/main">
            <a:r>
              <a:rPr sz="1400"/>
              <a:t/>
            </a:r>
          </a:p>
          <a:p xmlns:a="http://schemas.openxmlformats.org/drawingml/2006/main">
            <a:r>
              <a:rPr sz="1400"/>
              <a:t>Misvatting: 100 personen is geen uurloon en geen aantal uren.</a:t>
            </a:r>
          </a:p>
          <a:p xmlns:a="http://schemas.openxmlformats.org/drawingml/2006/main">
            <a:r>
              <a:rPr sz="1400"/>
              <a:t/>
            </a:r>
          </a:p>
          <a:p xmlns:a="http://schemas.openxmlformats.org/drawingml/2006/main">
            <a:r>
              <a:rPr sz="1400"/>
              <a:t>Overgang: Markeer precies dit punt E, met twee hulplijnen.</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E met beide functies?</a:t>
            </a:r>
          </a:p>
          <a:p xmlns:a="http://schemas.openxmlformats.org/drawingml/2006/main">
            <a:r>
              <a:rPr sz="1400"/>
              <a:t/>
            </a:r>
          </a:p>
          <a:p xmlns:a="http://schemas.openxmlformats.org/drawingml/2006/main">
            <a:r>
              <a:rPr sz="1400"/>
              <a:t>Uitleg: E ligt op het snijpunt bijL 100 en w 14. De verticale hulplijn bereikt 100 op de horizontale as, de horizontale hulplijn 14 op de verticale as. Beide assen blijven gelijk aan de vraagdia. Het getal 100 ligt tussen 80 en 120; 14 ligt net onder 15.</a:t>
            </a:r>
          </a:p>
          <a:p xmlns:a="http://schemas.openxmlformats.org/drawingml/2006/main">
            <a:r>
              <a:rPr sz="1400"/>
              <a:t/>
            </a:r>
          </a:p>
          <a:p xmlns:a="http://schemas.openxmlformats.org/drawingml/2006/main">
            <a:r>
              <a:rPr sz="1400"/>
              <a:t>Misvatting: Het snijpunt geeft geen werkloosheidspercentage.</a:t>
            </a:r>
          </a:p>
          <a:p xmlns:a="http://schemas.openxmlformats.org/drawingml/2006/main">
            <a:r>
              <a:rPr sz="1400"/>
              <a:t/>
            </a:r>
          </a:p>
          <a:p xmlns:a="http://schemas.openxmlformats.org/drawingml/2006/main">
            <a:r>
              <a:rPr sz="1400"/>
              <a:t>Overgang: Verklaar nu de actoren en het verschil met de regiotelling.</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mag je 100 niet van 3.500 aftrekken om de werkloosheid in Waterstad te vinden?</a:t>
            </a:r>
          </a:p>
          <a:p xmlns:a="http://schemas.openxmlformats.org/drawingml/2006/main">
            <a:r>
              <a:rPr sz="1400"/>
              <a:t/>
            </a:r>
          </a:p>
          <a:p xmlns:a="http://schemas.openxmlformats.org/drawingml/2006/main">
            <a:r>
              <a:rPr sz="1400"/>
              <a:t>Uitleg: Werkgevers vragen arbeid en huishoudens bieden die arbeid.100 personen horen uitsluitend bij het aparte bezorgmodel. BronA telt alle inwoners van 15 tot 75 jaar in Waterstad op een moment. Andere populatie, ander object en modelaannamen: de modeluitkomst vervangt daarom de regiotelling niet. Laat leerlingen hun antwoord op 16 c controleren op beide gevraagde delen.</a:t>
            </a:r>
          </a:p>
          <a:p xmlns:a="http://schemas.openxmlformats.org/drawingml/2006/main">
            <a:r>
              <a:rPr sz="1400"/>
              <a:t/>
            </a:r>
          </a:p>
          <a:p xmlns:a="http://schemas.openxmlformats.org/drawingml/2006/main">
            <a:r>
              <a:rPr sz="1400"/>
              <a:t>Misvatting: Een sectormodel met directe matches verklaart niet zonder extra gegevens alle waargenomen regionale werkloosheid.</a:t>
            </a:r>
          </a:p>
          <a:p xmlns:a="http://schemas.openxmlformats.org/drawingml/2006/main">
            <a:r>
              <a:rPr sz="1400"/>
              <a:t/>
            </a:r>
          </a:p>
          <a:p xmlns:a="http://schemas.openxmlformats.org/drawingml/2006/main">
            <a:r>
              <a:rPr sz="1400"/>
              <a:t>Overgang: Laat ontbrekende eenheden, hulplijnen of redeneringen verbeteren. Ga terug naar het overzicht voor huiswerk.</a:t>
            </a:r>
          </a:p>
          <a:p xmlns:a="http://schemas.openxmlformats.org/drawingml/2006/main">
            <a:r>
              <a:rPr sz="1400"/>
              <a:t/>
            </a:r>
          </a:p>
          <a:p xmlns:a="http://schemas.openxmlformats.org/drawingml/2006/main">
            <a:r>
              <a:rPr sz="1400"/>
              <a:t>Bron: Boek 4, editie books34-v3, gedrukte complete-boekpagina 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voorwaarde uit de definitie helpt je bij opgave 11?</a:t>
            </a:r>
          </a:p>
          <a:p xmlns:a="http://schemas.openxmlformats.org/drawingml/2006/main">
            <a:r>
              <a:rPr sz="1400"/>
              <a:t/>
            </a:r>
          </a:p>
          <a:p xmlns:a="http://schemas.openxmlformats.org/drawingml/2006/main">
            <a:r>
              <a:rPr sz="1400"/>
              <a:t>Uitleg: Laat dit overzicht staan tijdens afsluiting / huiswerk. Start 10 herhaalt gelijkstellen, invullen en deel/geheel × 100%. Bij haperende algebra: groepeer de termen, deel door de coëfficiënt en vul terug in. De bekende evenwichtsroute is uitgewerkt in Boek 3 §3.1.4, hoofdstukpagina 30; vandaag veranderen variabelen en eenheden. Start 11 is een verkenning van de nieuwe bevolkingsindeling. Laat leerlingen op p.124 de definitie van beroepsbevolking en de voorwaarden recent zoeken en direct beschikbaar aanwijzen. Zij noteren twijfel en gebruiken die steun, zonder dat dit als beheerste voorkennis telt. Keer vóór basiswerk terug naar 11: opnieuw indelen en de gebruikte voorwaarden uitleggen. Bespreek eventueel het reeds gemaakte startwerk. Basis 12–13 staat op p.128, zelfstandig 14–15 op p.129, doel 16 op p.130. Huiswerk 12, 13, 14, 15, 16 maken en nakijken. Bonus 17 en herhaling 18 zijn extra. De docentenroute reserveert voorlopig twee lessen van 55 minuten; een tijdsfit is niet gemeten. Rond de volledige route zo nodig later af.</a:t>
            </a:r>
          </a:p>
          <a:p xmlns:a="http://schemas.openxmlformats.org/drawingml/2006/main">
            <a:r>
              <a:rPr sz="1400"/>
              <a:t/>
            </a:r>
          </a:p>
          <a:p xmlns:a="http://schemas.openxmlformats.org/drawingml/2006/main">
            <a:r>
              <a:rPr sz="1400"/>
              <a:t>Misvatting: Geen betaald werk hebben is op zichzelf onvoldoende om als werkloos te tellen.</a:t>
            </a:r>
          </a:p>
          <a:p xmlns:a="http://schemas.openxmlformats.org/drawingml/2006/main">
            <a:r>
              <a:rPr sz="1400"/>
              <a:t/>
            </a:r>
          </a:p>
          <a:p xmlns:a="http://schemas.openxmlformats.org/drawingml/2006/main">
            <a:r>
              <a:rPr sz="1400"/>
              <a:t>Overgang: Laat het huiswerk noteren. Volgende paragraaf: werkloosheid en veranderingen.</a:t>
            </a:r>
          </a:p>
          <a:p xmlns:a="http://schemas.openxmlformats.org/drawingml/2006/main">
            <a:r>
              <a:rPr sz="1400"/>
              <a:t/>
            </a:r>
          </a:p>
          <a:p xmlns:a="http://schemas.openxmlformats.org/drawingml/2006/main">
            <a:r>
              <a:rPr sz="1400"/>
              <a:t>Bron: Boek 4, editie books34-v3, gedrukte complete-boekpagina 124, 128–130. https://github.com/meijer1973/4veco-lessen/blob/e734532a42b27732ac25ce990fc9448b12309d28/edities/books34-v3/books/book-4/output/Boek_4_Compleet_v3.pdf</a:t>
            </a:r>
          </a:p>
          <a:p xmlns:a="http://schemas.openxmlformats.org/drawingml/2006/main">
            <a:r>
              <a:rPr sz="1400"/>
              <a:t>Methode en opgaven: https://github.com/meijer1973/4veco-lessen/blob/e734532a42b27732ac25ce990fc9448b12309d28/edities/books34-v3/books/book-4/chapters/4.3/4.3.2%20manuscript.md</a:t>
            </a:r>
          </a:p>
          <a:p xmlns:a="http://schemas.openxmlformats.org/drawingml/2006/main">
            <a:r>
              <a:rPr sz="1400"/>
              <a:t>Antwoorden: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7c8ca1d56a49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9f2dcd8829425d" /><Relationship Type="http://schemas.openxmlformats.org/officeDocument/2006/relationships/slideLayout" Target="/ppt/slideLayouts/slideLayout1.xml" Id="R1e25b4d3717e48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25b4d3717e48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790caf5f034c7d" /><Relationship Type="http://schemas.openxmlformats.org/officeDocument/2006/relationships/notesSlide" Target="/ppt/notesSlides/notesSlide1.xml" Id="R3eb98b3815b04c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e4514364094033" /><Relationship Type="http://schemas.openxmlformats.org/officeDocument/2006/relationships/notesSlide" Target="/ppt/notesSlides/notesSlide2.xml" Id="R048e29dc856e4d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6327bd456245fa" /><Relationship Type="http://schemas.openxmlformats.org/officeDocument/2006/relationships/notesSlide" Target="/ppt/notesSlides/notesSlide3.xml" Id="R8df659c6e88844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1949e2e50d4a12" /><Relationship Type="http://schemas.openxmlformats.org/officeDocument/2006/relationships/notesSlide" Target="/ppt/notesSlides/notesSlide4.xml" Id="Rae3e40b3d26649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a1ab756bf34d1f" /><Relationship Type="http://schemas.openxmlformats.org/officeDocument/2006/relationships/notesSlide" Target="/ppt/notesSlides/notesSlide5.xml" Id="Rf02d849b9be443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33c21f270e414c" /><Relationship Type="http://schemas.openxmlformats.org/officeDocument/2006/relationships/notesSlide" Target="/ppt/notesSlides/notesSlide6.xml" Id="R7e737ccdfbb94e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f9244763dc41e2" /><Relationship Type="http://schemas.openxmlformats.org/officeDocument/2006/relationships/notesSlide" Target="/ppt/notesSlides/notesSlide7.xml" Id="Rc6233140b6684e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1e3754c7f343d9" /><Relationship Type="http://schemas.openxmlformats.org/officeDocument/2006/relationships/notesSlide" Target="/ppt/notesSlides/notesSlide8.xml" Id="R100d05e7fde240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c1bf123ad54e2c" /><Relationship Type="http://schemas.openxmlformats.org/officeDocument/2006/relationships/chart" Target="/ppt/slides/charts/chart1.xml" Id="Rce6aa2cd41e24fa8" /><Relationship Type="http://schemas.openxmlformats.org/officeDocument/2006/relationships/notesSlide" Target="/ppt/notesSlides/notesSlide9.xml" Id="Rac5ec40166624c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281800f0064372" /><Relationship Type="http://schemas.openxmlformats.org/officeDocument/2006/relationships/chart" Target="/ppt/slides/charts/chart2.xml" Id="Rb1afe2017b6143c1" /><Relationship Type="http://schemas.openxmlformats.org/officeDocument/2006/relationships/notesSlide" Target="/ppt/notesSlides/notesSlide10.xml" Id="R0a9f2d33cd3249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5c21adaa364cf3" /><Relationship Type="http://schemas.openxmlformats.org/officeDocument/2006/relationships/notesSlide" Target="/ppt/notesSlides/notesSlide11.xml" Id="R1061743748f94c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1f67038b984ca1" /><Relationship Type="http://schemas.openxmlformats.org/officeDocument/2006/relationships/chart" Target="/ppt/slides/charts/chart3.xml" Id="Rf60ddd58a89a4599" /><Relationship Type="http://schemas.openxmlformats.org/officeDocument/2006/relationships/notesSlide" Target="/ppt/notesSlides/notesSlide12.xml" Id="R061998bd5e9b49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805bd6683340ba" /><Relationship Type="http://schemas.openxmlformats.org/officeDocument/2006/relationships/notesSlide" Target="/ppt/notesSlides/notesSlide13.xml" Id="Rf3102ec30f8641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ce95dd561ea4b31" /><Relationship Type="http://schemas.openxmlformats.org/officeDocument/2006/relationships/notesSlide" Target="/ppt/notesSlides/notesSlide14.xml" Id="R57229792af7e4a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f64ea47636c4942" /><Relationship Type="http://schemas.openxmlformats.org/officeDocument/2006/relationships/notesSlide" Target="/ppt/notesSlides/notesSlide15.xml" Id="R7e6a3716f9254e2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bbf7e9b680d4908" /><Relationship Type="http://schemas.openxmlformats.org/officeDocument/2006/relationships/notesSlide" Target="/ppt/notesSlides/notesSlide16.xml" Id="R3749242c9ed14b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70a97c069204c00" /><Relationship Type="http://schemas.openxmlformats.org/officeDocument/2006/relationships/notesSlide" Target="/ppt/notesSlides/notesSlide17.xml" Id="R1f57c52484634f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5ab09215b7844b7" /><Relationship Type="http://schemas.openxmlformats.org/officeDocument/2006/relationships/notesSlide" Target="/ppt/notesSlides/notesSlide18.xml" Id="R061635e9932d48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dd9960ae10a416c" /><Relationship Type="http://schemas.openxmlformats.org/officeDocument/2006/relationships/chart" Target="/ppt/slides/charts/chart4.xml" Id="Rb4ca28524fb14d6c" /><Relationship Type="http://schemas.openxmlformats.org/officeDocument/2006/relationships/notesSlide" Target="/ppt/notesSlides/notesSlide19.xml" Id="R6611bca073954a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d3c0656e0964aed" /><Relationship Type="http://schemas.openxmlformats.org/officeDocument/2006/relationships/notesSlide" Target="/ppt/notesSlides/notesSlide20.xml" Id="Rea6ce1aab54f4c3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66bd7a406304c24" /><Relationship Type="http://schemas.openxmlformats.org/officeDocument/2006/relationships/notesSlide" Target="/ppt/notesSlides/notesSlide21.xml" Id="R1462f075e6094ed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18dbe0d385c4f3a" /><Relationship Type="http://schemas.openxmlformats.org/officeDocument/2006/relationships/notesSlide" Target="/ppt/notesSlides/notesSlide22.xml" Id="R71f37fd493cc48d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dd4dce2fe224b5f" /><Relationship Type="http://schemas.openxmlformats.org/officeDocument/2006/relationships/chart" Target="/ppt/slides/charts/chart5.xml" Id="Rf399d2aa6e26443a" /><Relationship Type="http://schemas.openxmlformats.org/officeDocument/2006/relationships/notesSlide" Target="/ppt/notesSlides/notesSlide23.xml" Id="R5dd0bc34da2f40b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606ae6de31d4223" /><Relationship Type="http://schemas.openxmlformats.org/officeDocument/2006/relationships/notesSlide" Target="/ppt/notesSlides/notesSlide24.xml" Id="Rec87d2e90c6a48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51a279682a04868" /><Relationship Type="http://schemas.openxmlformats.org/officeDocument/2006/relationships/notesSlide" Target="/ppt/notesSlides/notesSlide25.xml" Id="R181c22e72cce49c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144</c:v>
                </c:pt>
              </c:numCache>
            </c:numRef>
          </c:xVal>
          <c:yVal>
            <c:numRef>
              <c:f>'Chart Data'!$B$2:$B$3</c:f>
              <c:numCache>
                <c:formatCode>0</c:formatCode>
                <c:ptCount val="2"/>
                <c:pt idx="0">
                  <c:v>30</c:v>
                </c:pt>
                <c:pt idx="1">
                  <c:v>6</c:v>
                </c:pt>
              </c:numCache>
            </c:numRef>
          </c:yVal>
          <c:smooth val="0"/>
        </c:ser>
        <c:ser>
          <c:idx val="1"/>
          <c:order val="1"/>
          <c:tx>
            <c:v>Lᵥ</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126</c:v>
                </c:pt>
              </c:numCache>
            </c:numRef>
          </c:xVal>
          <c:yVal>
            <c:numRef>
              <c:f>'Chart Data'!$D$2:$D$2</c:f>
              <c:numCache>
                <c:formatCode>0</c:formatCode>
                <c:ptCount val="1"/>
                <c:pt idx="0">
                  <c:v>11.24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8"/>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144</c:v>
                </c:pt>
              </c:numCache>
            </c:numRef>
          </c:xVal>
          <c:yVal>
            <c:numRef>
              <c:f>'Chart Data'!$B$2:$B$3</c:f>
              <c:numCache>
                <c:formatCode>0</c:formatCode>
                <c:ptCount val="2"/>
                <c:pt idx="0">
                  <c:v>30</c:v>
                </c:pt>
                <c:pt idx="1">
                  <c:v>6</c:v>
                </c:pt>
              </c:numCache>
            </c:numRef>
          </c:yVal>
          <c:smooth val="0"/>
        </c:ser>
        <c:ser>
          <c:idx val="1"/>
          <c:order val="1"/>
          <c:tx>
            <c:v>Lᵥ</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126</c:v>
                </c:pt>
              </c:numCache>
            </c:numRef>
          </c:xVal>
          <c:yVal>
            <c:numRef>
              <c:f>'Chart Data'!$D$2:$D$2</c:f>
              <c:numCache>
                <c:formatCode>0</c:formatCode>
                <c:ptCount val="1"/>
                <c:pt idx="0">
                  <c:v>11.24</c:v>
                </c:pt>
              </c:numCache>
            </c:numRef>
          </c:yVal>
          <c:smooth val="0"/>
        </c:ser>
        <c:ser>
          <c:idx val="2"/>
          <c:order val="2"/>
          <c:tx>
            <c:v>Lₐ</c:v>
          </c:tx>
          <c:spPr>
            <a:ln xmlns:a="http://schemas.openxmlformats.org/drawingml/2006/main" w="28575">
              <a:solidFill>
                <a:srgbClr val="1E7449"/>
              </a:solidFill>
              <a:prstDash val="solid"/>
            </a:ln>
          </c:spPr>
          <c:marker>
            <c:symbol val="none"/>
          </c:marker>
          <c:xVal>
            <c:numRef>
              <c:f>'Chart Data'!$E$2:$E$3</c:f>
              <c:numCache>
                <c:formatCode>General</c:formatCode>
                <c:ptCount val="2"/>
                <c:pt idx="0">
                  <c:v>0</c:v>
                </c:pt>
                <c:pt idx="1">
                  <c:v>144</c:v>
                </c:pt>
              </c:numCache>
            </c:numRef>
          </c:xVal>
          <c:yVal>
            <c:numRef>
              <c:f>'Chart Data'!$F$2:$F$3</c:f>
              <c:numCache>
                <c:formatCode>0</c:formatCode>
                <c:ptCount val="2"/>
                <c:pt idx="0">
                  <c:v>6</c:v>
                </c:pt>
                <c:pt idx="1">
                  <c:v>30</c:v>
                </c:pt>
              </c:numCache>
            </c:numRef>
          </c:yVal>
          <c:smooth val="0"/>
        </c:ser>
        <c:ser>
          <c:idx val="3"/>
          <c:order val="3"/>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126</c:v>
                </c:pt>
              </c:numCache>
            </c:numRef>
          </c:xVal>
          <c:yVal>
            <c:numRef>
              <c:f>'Chart Data'!$H$2:$H$2</c:f>
              <c:numCache>
                <c:formatCode>0</c:formatCode>
                <c:ptCount val="1"/>
                <c:pt idx="0">
                  <c:v>29.24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8"/>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144</c:v>
                </c:pt>
              </c:numCache>
            </c:numRef>
          </c:xVal>
          <c:yVal>
            <c:numRef>
              <c:f>'Chart Data'!$B$2:$B$3</c:f>
              <c:numCache>
                <c:formatCode>0</c:formatCode>
                <c:ptCount val="2"/>
                <c:pt idx="0">
                  <c:v>30</c:v>
                </c:pt>
                <c:pt idx="1">
                  <c:v>6</c:v>
                </c:pt>
              </c:numCache>
            </c:numRef>
          </c:yVal>
          <c:smooth val="0"/>
        </c:ser>
        <c:ser>
          <c:idx val="1"/>
          <c:order val="1"/>
          <c:tx>
            <c:v>Lᵥ</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126</c:v>
                </c:pt>
              </c:numCache>
            </c:numRef>
          </c:xVal>
          <c:yVal>
            <c:numRef>
              <c:f>'Chart Data'!$D$2:$D$2</c:f>
              <c:numCache>
                <c:formatCode>0</c:formatCode>
                <c:ptCount val="1"/>
                <c:pt idx="0">
                  <c:v>11.24</c:v>
                </c:pt>
              </c:numCache>
            </c:numRef>
          </c:yVal>
          <c:smooth val="0"/>
        </c:ser>
        <c:ser>
          <c:idx val="2"/>
          <c:order val="2"/>
          <c:tx>
            <c:v>Lₐ</c:v>
          </c:tx>
          <c:spPr>
            <a:ln xmlns:a="http://schemas.openxmlformats.org/drawingml/2006/main" w="28575">
              <a:solidFill>
                <a:srgbClr val="1E7449"/>
              </a:solidFill>
              <a:prstDash val="solid"/>
            </a:ln>
          </c:spPr>
          <c:marker>
            <c:symbol val="none"/>
          </c:marker>
          <c:xVal>
            <c:numRef>
              <c:f>'Chart Data'!$E$2:$E$3</c:f>
              <c:numCache>
                <c:formatCode>General</c:formatCode>
                <c:ptCount val="2"/>
                <c:pt idx="0">
                  <c:v>0</c:v>
                </c:pt>
                <c:pt idx="1">
                  <c:v>144</c:v>
                </c:pt>
              </c:numCache>
            </c:numRef>
          </c:xVal>
          <c:yVal>
            <c:numRef>
              <c:f>'Chart Data'!$F$2:$F$3</c:f>
              <c:numCache>
                <c:formatCode>0</c:formatCode>
                <c:ptCount val="2"/>
                <c:pt idx="0">
                  <c:v>6</c:v>
                </c:pt>
                <c:pt idx="1">
                  <c:v>30</c:v>
                </c:pt>
              </c:numCache>
            </c:numRef>
          </c:yVal>
          <c:smooth val="0"/>
        </c:ser>
        <c:ser>
          <c:idx val="3"/>
          <c:order val="3"/>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126</c:v>
                </c:pt>
              </c:numCache>
            </c:numRef>
          </c:xVal>
          <c:yVal>
            <c:numRef>
              <c:f>'Chart Data'!$H$2:$H$2</c:f>
              <c:numCache>
                <c:formatCode>0</c:formatCode>
                <c:ptCount val="1"/>
                <c:pt idx="0">
                  <c:v>29.24</c:v>
                </c:pt>
              </c:numCache>
            </c:numRef>
          </c:yVal>
          <c:smooth val="0"/>
        </c:ser>
        <c:ser>
          <c:idx val="4"/>
          <c:order val="4"/>
          <c:tx>
            <c:v>loonhulplijn</c:v>
          </c:tx>
          <c:spPr>
            <a:ln xmlns:a="http://schemas.openxmlformats.org/drawingml/2006/main" w="19050">
              <a:solidFill>
                <a:srgbClr val="445B6B"/>
              </a:solidFill>
              <a:prstDash val="dash"/>
            </a:ln>
          </c:spPr>
          <c:marker>
            <c:symbol val="none"/>
          </c:marker>
          <c:xVal>
            <c:numRef>
              <c:f>'Chart Data'!$I$2:$I$3</c:f>
              <c:numCache>
                <c:formatCode>General</c:formatCode>
                <c:ptCount val="2"/>
                <c:pt idx="0">
                  <c:v>0</c:v>
                </c:pt>
                <c:pt idx="1">
                  <c:v>72</c:v>
                </c:pt>
              </c:numCache>
            </c:numRef>
          </c:xVal>
          <c:yVal>
            <c:numRef>
              <c:f>'Chart Data'!$J$2:$J$3</c:f>
              <c:numCache>
                <c:formatCode>0</c:formatCode>
                <c:ptCount val="2"/>
                <c:pt idx="0">
                  <c:v>18</c:v>
                </c:pt>
                <c:pt idx="1">
                  <c:v>18</c:v>
                </c:pt>
              </c:numCache>
            </c:numRef>
          </c:yVal>
          <c:smooth val="0"/>
        </c:ser>
        <c:ser>
          <c:idx val="5"/>
          <c:order val="5"/>
          <c:tx>
            <c:v>hoeveelheidhulplijn</c:v>
          </c:tx>
          <c:spPr>
            <a:ln xmlns:a="http://schemas.openxmlformats.org/drawingml/2006/main" w="19050">
              <a:solidFill>
                <a:srgbClr val="445B6B"/>
              </a:solidFill>
              <a:prstDash val="dash"/>
            </a:ln>
          </c:spPr>
          <c:marker>
            <c:symbol val="none"/>
          </c:marker>
          <c:xVal>
            <c:numRef>
              <c:f>'Chart Data'!$K$2:$K$3</c:f>
              <c:numCache>
                <c:formatCode>General</c:formatCode>
                <c:ptCount val="2"/>
                <c:pt idx="0">
                  <c:v>72</c:v>
                </c:pt>
                <c:pt idx="1">
                  <c:v>72</c:v>
                </c:pt>
              </c:numCache>
            </c:numRef>
          </c:xVal>
          <c:yVal>
            <c:numRef>
              <c:f>'Chart Data'!$L$2:$L$3</c:f>
              <c:numCache>
                <c:formatCode>0</c:formatCode>
                <c:ptCount val="2"/>
                <c:pt idx="0">
                  <c:v>0</c:v>
                </c:pt>
                <c:pt idx="1">
                  <c:v>18</c:v>
                </c:pt>
              </c:numCache>
            </c:numRef>
          </c:yVal>
          <c:smooth val="0"/>
        </c:ser>
        <c:ser>
          <c:idx val="6"/>
          <c:order val="6"/>
          <c:tx>
            <c:v>evenwicht</c:v>
          </c:tx>
          <c:spPr>
            <a:ln xmlns:a="http://schemas.openxmlformats.org/drawingml/2006/main" w="0">
              <a:noFill/>
            </a:ln>
          </c:spPr>
          <c:marker>
            <c:symbol val="circle"/>
            <c:size val="9"/>
            <c:spPr>
              <a:solidFill xmlns:a="http://schemas.openxmlformats.org/drawingml/2006/main">
                <a:srgbClr val="A94D16"/>
              </a:solidFill>
            </c:spPr>
          </c:marker>
          <c:xVal>
            <c:numRef>
              <c:f>'Chart Data'!$M$2:$M$2</c:f>
              <c:numCache>
                <c:formatCode>General</c:formatCode>
                <c:ptCount val="1"/>
                <c:pt idx="0">
                  <c:v>72</c:v>
                </c:pt>
              </c:numCache>
            </c:numRef>
          </c:xVal>
          <c:yVal>
            <c:numRef>
              <c:f>'Chart Data'!$N$2:$N$2</c:f>
              <c:numCache>
                <c:formatCode>0</c:formatCode>
                <c:ptCount val="1"/>
                <c:pt idx="0">
                  <c:v>18</c:v>
                </c:pt>
              </c:numCache>
            </c:numRef>
          </c:yVal>
          <c:smooth val="0"/>
        </c:ser>
        <c:ser>
          <c:idx val="7"/>
          <c:order val="7"/>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88</c:v>
                </c:pt>
              </c:numCache>
            </c:numRef>
          </c:xVal>
          <c:yVal>
            <c:numRef>
              <c:f>'Chart Data'!$P$2:$P$2</c:f>
              <c:numCache>
                <c:formatCode>0</c:formatCode>
                <c:ptCount val="1"/>
                <c:pt idx="0">
                  <c:v>18.64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8"/>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200</c:v>
                </c:pt>
              </c:numCache>
            </c:numRef>
          </c:xVal>
          <c:yVal>
            <c:numRef>
              <c:f>'Chart Data'!$B$2:$B$3</c:f>
              <c:numCache>
                <c:formatCode>0</c:formatCode>
                <c:ptCount val="2"/>
                <c:pt idx="0">
                  <c:v>24</c:v>
                </c:pt>
                <c:pt idx="1">
                  <c:v>4</c:v>
                </c:pt>
              </c:numCache>
            </c:numRef>
          </c:yVal>
          <c:smooth val="0"/>
        </c:ser>
        <c:ser>
          <c:idx val="1"/>
          <c:order val="1"/>
          <c:tx>
            <c:v>Lᵥ</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170</c:v>
                </c:pt>
              </c:numCache>
            </c:numRef>
          </c:xVal>
          <c:yVal>
            <c:numRef>
              <c:f>'Chart Data'!$D$2:$D$2</c:f>
              <c:numCache>
                <c:formatCode>0</c:formatCode>
                <c:ptCount val="1"/>
                <c:pt idx="0">
                  <c:v>8.96</c:v>
                </c:pt>
              </c:numCache>
            </c:numRef>
          </c:yVal>
          <c:smooth val="0"/>
        </c:ser>
        <c:ser>
          <c:idx val="2"/>
          <c:order val="2"/>
          <c:tx>
            <c:v>Lₐ</c:v>
          </c:tx>
          <c:spPr>
            <a:ln xmlns:a="http://schemas.openxmlformats.org/drawingml/2006/main" w="28575">
              <a:solidFill>
                <a:srgbClr val="1E7449"/>
              </a:solidFill>
              <a:prstDash val="solid"/>
            </a:ln>
          </c:spPr>
          <c:marker>
            <c:symbol val="none"/>
          </c:marker>
          <c:xVal>
            <c:numRef>
              <c:f>'Chart Data'!$E$2:$E$3</c:f>
              <c:numCache>
                <c:formatCode>General</c:formatCode>
                <c:ptCount val="2"/>
                <c:pt idx="0">
                  <c:v>0</c:v>
                </c:pt>
                <c:pt idx="1">
                  <c:v>200</c:v>
                </c:pt>
              </c:numCache>
            </c:numRef>
          </c:xVal>
          <c:yVal>
            <c:numRef>
              <c:f>'Chart Data'!$F$2:$F$3</c:f>
              <c:numCache>
                <c:formatCode>0</c:formatCode>
                <c:ptCount val="2"/>
                <c:pt idx="0">
                  <c:v>4</c:v>
                </c:pt>
                <c:pt idx="1">
                  <c:v>24</c:v>
                </c:pt>
              </c:numCache>
            </c:numRef>
          </c:yVal>
          <c:smooth val="0"/>
        </c:ser>
        <c:ser>
          <c:idx val="3"/>
          <c:order val="3"/>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170</c:v>
                </c:pt>
              </c:numCache>
            </c:numRef>
          </c:xVal>
          <c:yVal>
            <c:numRef>
              <c:f>'Chart Data'!$H$2:$H$2</c:f>
              <c:numCache>
                <c:formatCode>0</c:formatCode>
                <c:ptCount val="1"/>
                <c:pt idx="0">
                  <c:v>22.96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Lᵥ</c:v>
          </c:tx>
          <c:spPr>
            <a:ln xmlns:a="http://schemas.openxmlformats.org/drawingml/2006/main" w="28575">
              <a:solidFill>
                <a:srgbClr val="1A5276"/>
              </a:solidFill>
              <a:prstDash val="solid"/>
            </a:ln>
          </c:spPr>
          <c:marker>
            <c:symbol val="none"/>
          </c:marker>
          <c:xVal>
            <c:numRef>
              <c:f>'Chart Data'!$A$2:$A$3</c:f>
              <c:numCache>
                <c:formatCode>General</c:formatCode>
                <c:ptCount val="2"/>
                <c:pt idx="0">
                  <c:v>0</c:v>
                </c:pt>
                <c:pt idx="1">
                  <c:v>200</c:v>
                </c:pt>
              </c:numCache>
            </c:numRef>
          </c:xVal>
          <c:yVal>
            <c:numRef>
              <c:f>'Chart Data'!$B$2:$B$3</c:f>
              <c:numCache>
                <c:formatCode>0</c:formatCode>
                <c:ptCount val="2"/>
                <c:pt idx="0">
                  <c:v>24</c:v>
                </c:pt>
                <c:pt idx="1">
                  <c:v>4</c:v>
                </c:pt>
              </c:numCache>
            </c:numRef>
          </c:yVal>
          <c:smooth val="0"/>
        </c:ser>
        <c:ser>
          <c:idx val="1"/>
          <c:order val="1"/>
          <c:tx>
            <c:v>Lᵥ</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Lᵥ</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170</c:v>
                </c:pt>
              </c:numCache>
            </c:numRef>
          </c:xVal>
          <c:yVal>
            <c:numRef>
              <c:f>'Chart Data'!$D$2:$D$2</c:f>
              <c:numCache>
                <c:formatCode>0</c:formatCode>
                <c:ptCount val="1"/>
                <c:pt idx="0">
                  <c:v>8.96</c:v>
                </c:pt>
              </c:numCache>
            </c:numRef>
          </c:yVal>
          <c:smooth val="0"/>
        </c:ser>
        <c:ser>
          <c:idx val="2"/>
          <c:order val="2"/>
          <c:tx>
            <c:v>Lₐ</c:v>
          </c:tx>
          <c:spPr>
            <a:ln xmlns:a="http://schemas.openxmlformats.org/drawingml/2006/main" w="28575">
              <a:solidFill>
                <a:srgbClr val="1E7449"/>
              </a:solidFill>
              <a:prstDash val="solid"/>
            </a:ln>
          </c:spPr>
          <c:marker>
            <c:symbol val="none"/>
          </c:marker>
          <c:xVal>
            <c:numRef>
              <c:f>'Chart Data'!$E$2:$E$3</c:f>
              <c:numCache>
                <c:formatCode>General</c:formatCode>
                <c:ptCount val="2"/>
                <c:pt idx="0">
                  <c:v>0</c:v>
                </c:pt>
                <c:pt idx="1">
                  <c:v>200</c:v>
                </c:pt>
              </c:numCache>
            </c:numRef>
          </c:xVal>
          <c:yVal>
            <c:numRef>
              <c:f>'Chart Data'!$F$2:$F$3</c:f>
              <c:numCache>
                <c:formatCode>0</c:formatCode>
                <c:ptCount val="2"/>
                <c:pt idx="0">
                  <c:v>4</c:v>
                </c:pt>
                <c:pt idx="1">
                  <c:v>24</c:v>
                </c:pt>
              </c:numCache>
            </c:numRef>
          </c:yVal>
          <c:smooth val="0"/>
        </c:ser>
        <c:ser>
          <c:idx val="3"/>
          <c:order val="3"/>
          <c:tx>
            <c:v>Lₐ</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E7449"/>
                        </a:solidFill>
                        <a:latin typeface="Arial"/>
                        <a:ea typeface="Arial"/>
                        <a:cs typeface="Arial"/>
                      </a:rPr>
                      <a:t>Lₐ</a:t>
                    </a:r>
                  </a:p>
                </c:rich>
              </c:tx>
              <c:txPr>
                <a:bodyPr xmlns:a="http://schemas.openxmlformats.org/drawingml/2006/main" anchorCtr="1"/>
                <a:lstStyle xmlns:a="http://schemas.openxmlformats.org/drawingml/2006/main"/>
                <a:p xmlns:a="http://schemas.openxmlformats.org/drawingml/2006/main">
                  <a:pPr>
                    <a:defRPr sz="2100" b="1">
                      <a:solidFill>
                        <a:srgbClr val="1E7449"/>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170</c:v>
                </c:pt>
              </c:numCache>
            </c:numRef>
          </c:xVal>
          <c:yVal>
            <c:numRef>
              <c:f>'Chart Data'!$H$2:$H$2</c:f>
              <c:numCache>
                <c:formatCode>0</c:formatCode>
                <c:ptCount val="1"/>
                <c:pt idx="0">
                  <c:v>22.96</c:v>
                </c:pt>
              </c:numCache>
            </c:numRef>
          </c:yVal>
          <c:smooth val="0"/>
        </c:ser>
        <c:ser>
          <c:idx val="4"/>
          <c:order val="4"/>
          <c:tx>
            <c:v>loonhulplijn</c:v>
          </c:tx>
          <c:spPr>
            <a:ln xmlns:a="http://schemas.openxmlformats.org/drawingml/2006/main" w="19050">
              <a:solidFill>
                <a:srgbClr val="445B6B"/>
              </a:solidFill>
              <a:prstDash val="dash"/>
            </a:ln>
          </c:spPr>
          <c:marker>
            <c:symbol val="none"/>
          </c:marker>
          <c:xVal>
            <c:numRef>
              <c:f>'Chart Data'!$I$2:$I$3</c:f>
              <c:numCache>
                <c:formatCode>General</c:formatCode>
                <c:ptCount val="2"/>
                <c:pt idx="0">
                  <c:v>0</c:v>
                </c:pt>
                <c:pt idx="1">
                  <c:v>100</c:v>
                </c:pt>
              </c:numCache>
            </c:numRef>
          </c:xVal>
          <c:yVal>
            <c:numRef>
              <c:f>'Chart Data'!$J$2:$J$3</c:f>
              <c:numCache>
                <c:formatCode>0</c:formatCode>
                <c:ptCount val="2"/>
                <c:pt idx="0">
                  <c:v>14</c:v>
                </c:pt>
                <c:pt idx="1">
                  <c:v>14</c:v>
                </c:pt>
              </c:numCache>
            </c:numRef>
          </c:yVal>
          <c:smooth val="0"/>
        </c:ser>
        <c:ser>
          <c:idx val="5"/>
          <c:order val="5"/>
          <c:tx>
            <c:v>hoeveelheidhulplijn</c:v>
          </c:tx>
          <c:spPr>
            <a:ln xmlns:a="http://schemas.openxmlformats.org/drawingml/2006/main" w="19050">
              <a:solidFill>
                <a:srgbClr val="445B6B"/>
              </a:solidFill>
              <a:prstDash val="dash"/>
            </a:ln>
          </c:spPr>
          <c:marker>
            <c:symbol val="none"/>
          </c:marker>
          <c:xVal>
            <c:numRef>
              <c:f>'Chart Data'!$K$2:$K$3</c:f>
              <c:numCache>
                <c:formatCode>General</c:formatCode>
                <c:ptCount val="2"/>
                <c:pt idx="0">
                  <c:v>100</c:v>
                </c:pt>
                <c:pt idx="1">
                  <c:v>100</c:v>
                </c:pt>
              </c:numCache>
            </c:numRef>
          </c:xVal>
          <c:yVal>
            <c:numRef>
              <c:f>'Chart Data'!$L$2:$L$3</c:f>
              <c:numCache>
                <c:formatCode>0</c:formatCode>
                <c:ptCount val="2"/>
                <c:pt idx="0">
                  <c:v>0</c:v>
                </c:pt>
                <c:pt idx="1">
                  <c:v>14</c:v>
                </c:pt>
              </c:numCache>
            </c:numRef>
          </c:yVal>
          <c:smooth val="0"/>
        </c:ser>
        <c:ser>
          <c:idx val="6"/>
          <c:order val="6"/>
          <c:tx>
            <c:v>evenwicht</c:v>
          </c:tx>
          <c:spPr>
            <a:ln xmlns:a="http://schemas.openxmlformats.org/drawingml/2006/main" w="0">
              <a:noFill/>
            </a:ln>
          </c:spPr>
          <c:marker>
            <c:symbol val="circle"/>
            <c:size val="9"/>
            <c:spPr>
              <a:solidFill xmlns:a="http://schemas.openxmlformats.org/drawingml/2006/main">
                <a:srgbClr val="A94D16"/>
              </a:solidFill>
            </c:spPr>
          </c:marker>
          <c:xVal>
            <c:numRef>
              <c:f>'Chart Data'!$M$2:$M$2</c:f>
              <c:numCache>
                <c:formatCode>General</c:formatCode>
                <c:ptCount val="1"/>
                <c:pt idx="0">
                  <c:v>100</c:v>
                </c:pt>
              </c:numCache>
            </c:numRef>
          </c:xVal>
          <c:yVal>
            <c:numRef>
              <c:f>'Chart Data'!$N$2:$N$2</c:f>
              <c:numCache>
                <c:formatCode>0</c:formatCode>
                <c:ptCount val="1"/>
                <c:pt idx="0">
                  <c:v>14</c:v>
                </c:pt>
              </c:numCache>
            </c:numRef>
          </c:yVal>
          <c:smooth val="0"/>
        </c:ser>
        <c:ser>
          <c:idx val="7"/>
          <c:order val="7"/>
          <c:tx>
            <c:v>E</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124</c:v>
                </c:pt>
              </c:numCache>
            </c:numRef>
          </c:xVal>
          <c:yVal>
            <c:numRef>
              <c:f>'Chart Data'!$P$2:$P$2</c:f>
              <c:numCache>
                <c:formatCode>0</c:formatCode>
                <c:ptCount val="1"/>
                <c:pt idx="0">
                  <c:v>14.56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240"/>
          <c:min val="0"/>
        </c:scaling>
        <c:delete val="0"/>
        <c:axPos val="b"/>
        <c:title>
          <c:tx>
            <c:rich>
              <a:bodyPr xmlns:a="http://schemas.openxmlformats.org/drawingml/2006/main"/>
              <a:lstStyle xmlns:a="http://schemas.openxmlformats.org/drawingml/2006/main"/>
              <a:p xmlns:a="http://schemas.openxmlformats.org/drawingml/2006/main">
                <a:r>
                  <a:rPr sz="2100">
                    <a:solidFill>
                      <a:srgbClr val="183247"/>
                    </a:solidFill>
                    <a:latin typeface="Arial"/>
                    <a:ea typeface="Arial"/>
                    <a:cs typeface="Arial"/>
                  </a:rPr>
                  <a:t>L (personen)</a:t>
                </a:r>
              </a:p>
            </c:rich>
          </c:tx>
          <c:overlay val="0"/>
          <c:txPr>
            <a:bodyPr xmlns:a="http://schemas.openxmlformats.org/drawingml/2006/main" anchorCtr="1"/>
            <a:lstStyle xmlns:a="http://schemas.openxmlformats.org/drawingml/2006/main"/>
            <a:p xmlns:a="http://schemas.openxmlformats.org/drawingml/2006/main">
              <a:pPr>
                <a:defRPr sz="210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4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2 Arbeidsaanbod, participatie en evenwicht">
            <a:extLst xmlns:a="http://schemas.openxmlformats.org/drawingml/2006/main">
              <a:ext uri="{FF2B5EF4-FFF2-40B4-BE49-F238E27FC236}">
                <a16:creationId xmlns:a16="http://schemas.microsoft.com/office/drawing/2014/main" id="{2B6B14DE-3C88-4144-9241-6159DDD1ADAA}"/>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§4.3.2 Arbeidsaanbod, participatie en evenwicht</a:t>
            </a:r>
          </a:p>
        </p:txBody>
      </p:sp>
      <p:sp>
        <p:nvSpPr>
          <p:cNvPr id="2" name="">
            <a:extLst xmlns:a="http://schemas.openxmlformats.org/drawingml/2006/main">
              <a:ext uri="{FF2B5EF4-FFF2-40B4-BE49-F238E27FC236}">
                <a16:creationId xmlns:a16="http://schemas.microsoft.com/office/drawing/2014/main" id="{F17072E4-E502-44ED-9465-8EAE71BB11D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6A88E6A4-D448-47E9-ABAD-44F5F81C6C2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
            <a:extLst xmlns:a="http://schemas.openxmlformats.org/drawingml/2006/main">
              <a:ext uri="{FF2B5EF4-FFF2-40B4-BE49-F238E27FC236}">
                <a16:creationId xmlns:a16="http://schemas.microsoft.com/office/drawing/2014/main" id="{6CB63EB9-E200-4E0F-A5DE-E5155BA14F2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159D8E33-4218-4A72-BA56-EC546DDF1E43}"/>
              </a:ext>
            </a:extLst>
          </p:cNvPr>
          <p:cNvSpPr>
            <a:spLocks xmlns:a="http://schemas.openxmlformats.org/drawingml/2006/main" noGrp="1"/>
          </p:cNvSpPr>
          <p:nvPr/>
        </p:nvSpPr>
        <p:spPr>
          <a:xfrm xmlns:a="http://schemas.openxmlformats.org/drawingml/2006/main">
            <a:off x="571500" y="1066800"/>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5BC97144-FD8D-4722-ACD2-FD743728813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1E649EA6-5F73-409D-8D19-AF64D9511550}"/>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E268C591-DB52-4A6C-9C62-66826605A587}"/>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38E0AB2E-776A-4A6F-98F0-AC3974478A42}"/>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BF05F2A7-92FE-4EA3-9AD0-961B2569DA7E}"/>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9EFC9C81-14DD-437F-88B9-5DD75105EFF9}"/>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CDA8DD68-711C-49B6-AFBC-F064C623FC3B}"/>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4F4BBB83-229D-48D8-8E6A-F47AFB3489B6}"/>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71F799E3-E843-4372-9599-A0EACBF9F013}"/>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B5E68BC0-0AD5-4607-9DBC-B1327ED92721}"/>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9C185A55-50BA-4126-A26D-72F42CB7042D}"/>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58C263A7-1B34-47F6-B9E2-4CB0E1DD4176}"/>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FBA42DA5-3159-4F29-A5EF-6012B610EF0A}"/>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6">
            <a:extLst xmlns:a="http://schemas.openxmlformats.org/drawingml/2006/main">
              <a:ext uri="{FF2B5EF4-FFF2-40B4-BE49-F238E27FC236}">
                <a16:creationId xmlns:a16="http://schemas.microsoft.com/office/drawing/2014/main" id="{45D801C2-F562-4E0C-858E-D0FB0E9EA0D1}"/>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CB720D26-9467-4BA3-B261-CA43F5ED32E5}"/>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CC45DCA-A247-44E9-BE24-C8236B32B9A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76E5434-B19D-4015-9E05-CE842E6144D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Groepen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Bruto en netto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Loon en werkgelegenheid vinden.</a:t>
            </a:r>
          </a:p>
        </p:txBody>
      </p:sp>
      <p:sp>
        <p:nvSpPr>
          <p:cNvPr id="23" name="">
            <a:extLst xmlns:a="http://schemas.openxmlformats.org/drawingml/2006/main">
              <a:ext uri="{FF2B5EF4-FFF2-40B4-BE49-F238E27FC236}">
                <a16:creationId xmlns:a16="http://schemas.microsoft.com/office/drawing/2014/main" id="{6E535A6C-FDF8-4972-B49D-EC736EC2176B}"/>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511DD0A-1EF9-4B18-8CDD-4509484BD114}"/>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266D179-0AA6-44DF-B812-2558E17C664B}"/>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128 · Opgaven 10 en 11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11: verkennen, theorie p. 124</a:t>
            </a:r>
          </a:p>
        </p:txBody>
      </p:sp>
      <p:sp>
        <p:nvSpPr>
          <p:cNvPr id="26" name="">
            <a:extLst xmlns:a="http://schemas.openxmlformats.org/drawingml/2006/main">
              <a:ext uri="{FF2B5EF4-FFF2-40B4-BE49-F238E27FC236}">
                <a16:creationId xmlns:a16="http://schemas.microsoft.com/office/drawing/2014/main" id="{11DAD668-AA18-4A53-9B66-A21D2E8FA2FA}"/>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2653EB12-A429-45C9-A2C0-F58E09492A7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BDA799FA-EA8C-42FF-B6C8-BFABAB3F2D6A}"/>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§4.3.2 · Opgaven 12 t/m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4082181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at kun je na deze les?">
            <a:extLst xmlns:a="http://schemas.openxmlformats.org/drawingml/2006/main">
              <a:ext uri="{FF2B5EF4-FFF2-40B4-BE49-F238E27FC236}">
                <a16:creationId xmlns:a16="http://schemas.microsoft.com/office/drawing/2014/main" id="{E58DDB6B-4BCB-4D00-8619-C12AEFA67895}"/>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C8938397-1E72-4FAE-85DB-2ADE03C1169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BA15E0CE-3861-4B2E-BA68-CE17AB3A15E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2">
            <a:extLst xmlns:a="http://schemas.openxmlformats.org/drawingml/2006/main">
              <a:ext uri="{FF2B5EF4-FFF2-40B4-BE49-F238E27FC236}">
                <a16:creationId xmlns:a16="http://schemas.microsoft.com/office/drawing/2014/main" id="{71A7D59F-DCF2-431D-B047-263B1D92C06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2209800"/>
          <a:ext xmlns:a="http://schemas.openxmlformats.org/drawingml/2006/main" cx="14097000" cy="3943350"/>
        </p:xfrm>
        <a:graphic xmlns:a="http://schemas.openxmlformats.org/drawingml/2006/main">
          <a:graphicData uri="http://schemas.openxmlformats.org/drawingml/2006/table">
            <a:tbl>
              <a:tblPr/>
              <a:tblGrid>
                <a:gridCol w="5286375"/>
                <a:gridCol w="8810625"/>
              </a:tblGrid>
              <a:tr h="985838">
                <a:tc>
                  <a:txBody>
                    <a:bodyPr lIns="171450" tIns="95250" rIns="133350" bIns="95250"/>
                    <a:lstStyle/>
                    <a:p>
                      <a:r>
                        <a:rPr sz="2625" b="1">
                          <a:solidFill>
                            <a:srgbClr val="FFFFFF"/>
                          </a:solidFill>
                          <a:latin typeface="Arial"/>
                          <a:ea typeface="Arial"/>
                          <a:cs typeface="Arial"/>
                        </a:rPr>
                        <a:t>Bewerking</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Wat laat je zien?</a:t>
                      </a:r>
                    </a:p>
                  </a:txBody>
                  <a:tcPr marL="91440" marR="91440" marT="45720" marB="45720" anchor="ctr">
                    <a:solidFill>
                      <a:srgbClr val="183247"/>
                    </a:solidFill>
                  </a:tcPr>
                </a:tc>
              </a:tr>
              <a:tr h="985838">
                <a:tc>
                  <a:txBody>
                    <a:bodyPr lIns="171450" tIns="95250" rIns="133350" bIns="95250"/>
                    <a:lstStyle/>
                    <a:p>
                      <a:r>
                        <a:rPr sz="2625" b="0">
                          <a:solidFill>
                            <a:srgbClr val="183247"/>
                          </a:solidFill>
                          <a:latin typeface="Arial"/>
                          <a:ea typeface="Arial"/>
                          <a:cs typeface="Arial"/>
                        </a:rPr>
                        <a:t>Groepen onderscheiden</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Werkzaam, werkloos of niet-beroepsbevolking</a:t>
                      </a:r>
                    </a:p>
                  </a:txBody>
                  <a:tcPr marL="91440" marR="91440" marT="45720" marB="45720" anchor="ctr">
                    <a:solidFill>
                      <a:srgbClr val="FFFFFF"/>
                    </a:solidFill>
                  </a:tcPr>
                </a:tc>
              </a:tr>
              <a:tr h="985838">
                <a:tc>
                  <a:txBody>
                    <a:bodyPr lIns="171450" tIns="95250" rIns="133350" bIns="95250"/>
                    <a:lstStyle/>
                    <a:p>
                      <a:r>
                        <a:rPr sz="2625" b="0">
                          <a:solidFill>
                            <a:srgbClr val="183247"/>
                          </a:solidFill>
                          <a:latin typeface="Arial"/>
                          <a:ea typeface="Arial"/>
                          <a:cs typeface="Arial"/>
                        </a:rPr>
                        <a:t>Participatie berekenen</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De juiste teller en dezelfde bevolkingsnoemer</a:t>
                      </a:r>
                    </a:p>
                  </a:txBody>
                  <a:tcPr marL="91440" marR="91440" marT="45720" marB="45720" anchor="ctr">
                    <a:solidFill>
                      <a:srgbClr val="EFF4F7"/>
                    </a:solidFill>
                  </a:tcPr>
                </a:tc>
              </a:tr>
              <a:tr h="985838">
                <a:tc>
                  <a:txBody>
                    <a:bodyPr lIns="171450" tIns="95250" rIns="133350" bIns="95250"/>
                    <a:lstStyle/>
                    <a:p>
                      <a:r>
                        <a:rPr sz="2625" b="0">
                          <a:solidFill>
                            <a:srgbClr val="183247"/>
                          </a:solidFill>
                          <a:latin typeface="Arial"/>
                          <a:ea typeface="Arial"/>
                          <a:cs typeface="Arial"/>
                        </a:rPr>
                        <a:t>Evenwicht bepalen</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Lᵥ = Lₐ, invullen en E tekenen</a:t>
                      </a:r>
                    </a:p>
                  </a:txBody>
                  <a:tcPr marL="91440" marR="91440" marT="45720" marB="45720" anchor="ctr">
                    <a:solidFill>
                      <a:srgbClr val="FFFFFF"/>
                    </a:solidFill>
                  </a:tcPr>
                </a:tc>
              </a:tr>
            </a:tbl>
          </a:graphicData>
        </a:graphic>
      </p:graphicFrame>
      <p:sp>
        <p:nvSpPr>
          <p:cNvPr id="6" name="Bevolkingstelling en sectormodel beschrijven verschillende g">
            <a:extLst xmlns:a="http://schemas.openxmlformats.org/drawingml/2006/main">
              <a:ext uri="{FF2B5EF4-FFF2-40B4-BE49-F238E27FC236}">
                <a16:creationId xmlns:a16="http://schemas.microsoft.com/office/drawing/2014/main" id="{6058CF8B-601D-4C03-99A6-65F86C7E56E3}"/>
              </a:ext>
            </a:extLst>
          </p:cNvPr>
          <p:cNvSpPr>
            <a:spLocks xmlns:a="http://schemas.openxmlformats.org/drawingml/2006/main" noGrp="1"/>
          </p:cNvSpPr>
          <p:nvPr/>
        </p:nvSpPr>
        <p:spPr>
          <a:xfrm xmlns:a="http://schemas.openxmlformats.org/drawingml/2006/main">
            <a:off x="571500" y="693420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Bevolkingstelling en sectormodel beschrijven verschillende groepen.</a:t>
            </a:r>
          </a:p>
        </p:txBody>
      </p:sp>
    </p:spTree>
    <p:extLst>
      <p:ext uri="{BB962C8B-B14F-4D97-AF65-F5344CB8AC3E}">
        <p14:creationId xmlns:p14="http://schemas.microsoft.com/office/powerpoint/2010/main" val="6546610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ie behoort tot de beroepsbevolking?">
            <a:extLst xmlns:a="http://schemas.openxmlformats.org/drawingml/2006/main">
              <a:ext uri="{FF2B5EF4-FFF2-40B4-BE49-F238E27FC236}">
                <a16:creationId xmlns:a16="http://schemas.microsoft.com/office/drawing/2014/main" id="{DA1B22FA-5C0F-49FF-A1F5-D96BC19A45FF}"/>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Wie behoort tot de beroepsbevolking?</a:t>
            </a:r>
          </a:p>
        </p:txBody>
      </p:sp>
      <p:sp>
        <p:nvSpPr>
          <p:cNvPr id="2" name="">
            <a:extLst xmlns:a="http://schemas.openxmlformats.org/drawingml/2006/main">
              <a:ext uri="{FF2B5EF4-FFF2-40B4-BE49-F238E27FC236}">
                <a16:creationId xmlns:a16="http://schemas.microsoft.com/office/drawing/2014/main" id="{8D726B81-FE54-4C3A-B0BC-44800196FFC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5C9146F8-D988-4536-8B4E-E0432CF057E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3">
            <a:extLst xmlns:a="http://schemas.openxmlformats.org/drawingml/2006/main">
              <a:ext uri="{FF2B5EF4-FFF2-40B4-BE49-F238E27FC236}">
                <a16:creationId xmlns:a16="http://schemas.microsoft.com/office/drawing/2014/main" id="{94403546-2869-4B76-A62B-A42F7E038F0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Bevolking van 15 tot 75 jaar">
            <a:extLst xmlns:a="http://schemas.openxmlformats.org/drawingml/2006/main">
              <a:ext uri="{FF2B5EF4-FFF2-40B4-BE49-F238E27FC236}">
                <a16:creationId xmlns:a16="http://schemas.microsoft.com/office/drawing/2014/main" id="{8AC4E7EF-5453-486E-A70D-740FFCA7A21E}"/>
              </a:ext>
            </a:extLst>
          </p:cNvPr>
          <p:cNvSpPr>
            <a:spLocks xmlns:a="http://schemas.openxmlformats.org/drawingml/2006/main" noGrp="1"/>
          </p:cNvSpPr>
          <p:nvPr/>
        </p:nvSpPr>
        <p:spPr>
          <a:xfrm xmlns:a="http://schemas.openxmlformats.org/drawingml/2006/main">
            <a:off x="571500" y="17811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Bevolking van 15 tot 75 jaar</a:t>
            </a:r>
          </a:p>
        </p:txBody>
      </p:sp>
      <p:graphicFrame>
        <p:nvGraphicFramePr>
          <p:cNvPr id="13" name=""/>
          <p:cNvGraphicFramePr/>
          <p:nvPr/>
        </p:nvGraphicFramePr>
        <p:xfrm>
          <a:off xmlns:a="http://schemas.openxmlformats.org/drawingml/2006/main" x="571500" y="2695575"/>
          <a:ext xmlns:a="http://schemas.openxmlformats.org/drawingml/2006/main" cx="14097000" cy="3590925"/>
        </p:xfrm>
        <a:graphic xmlns:a="http://schemas.openxmlformats.org/drawingml/2006/main">
          <a:graphicData uri="http://schemas.openxmlformats.org/drawingml/2006/table">
            <a:tbl>
              <a:tblPr/>
              <a:tblGrid>
                <a:gridCol w="7429500"/>
                <a:gridCol w="6667500"/>
              </a:tblGrid>
              <a:tr h="897731">
                <a:tc>
                  <a:txBody>
                    <a:bodyPr lIns="171450" tIns="95250" rIns="133350" bIns="95250"/>
                    <a:lstStyle/>
                    <a:p>
                      <a:r>
                        <a:rPr sz="2550"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Groep</a:t>
                      </a:r>
                    </a:p>
                  </a:txBody>
                  <a:tcPr marL="91440" marR="91440" marT="45720" marB="45720" anchor="ctr">
                    <a:solidFill>
                      <a:srgbClr val="183247"/>
                    </a:solidFill>
                  </a:tcPr>
                </a:tc>
              </a:tr>
              <a:tr h="897731">
                <a:tc>
                  <a:txBody>
                    <a:bodyPr lIns="171450" tIns="95250" rIns="133350" bIns="95250"/>
                    <a:lstStyle/>
                    <a:p>
                      <a:r>
                        <a:rPr sz="2550" b="0">
                          <a:solidFill>
                            <a:srgbClr val="183247"/>
                          </a:solidFill>
                          <a:latin typeface="Arial"/>
                          <a:ea typeface="Arial"/>
                          <a:cs typeface="Arial"/>
                        </a:rPr>
                        <a:t>Betaald werk</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Werkzame beroepsbevolking</a:t>
                      </a:r>
                    </a:p>
                  </a:txBody>
                  <a:tcPr marL="91440" marR="91440" marT="45720" marB="45720" anchor="ctr">
                    <a:solidFill>
                      <a:srgbClr val="FFFFFF"/>
                    </a:solidFill>
                  </a:tcPr>
                </a:tc>
              </a:tr>
              <a:tr h="897731">
                <a:tc>
                  <a:txBody>
                    <a:bodyPr lIns="171450" tIns="95250" rIns="133350" bIns="95250"/>
                    <a:lstStyle/>
                    <a:p>
                      <a:r>
                        <a:rPr sz="2550" b="0">
                          <a:solidFill>
                            <a:srgbClr val="183247"/>
                          </a:solidFill>
                          <a:latin typeface="Arial"/>
                          <a:ea typeface="Arial"/>
                          <a:cs typeface="Arial"/>
                        </a:rPr>
                        <a:t>Geen betaald werk + recent gezocht</a:t>
                      </a:r>
                    </a:p>
                    <a:p>
                      <a:r>
                        <a:rPr sz="2550" b="0">
                          <a:solidFill>
                            <a:srgbClr val="183247"/>
                          </a:solidFill>
                          <a:latin typeface="Arial"/>
                          <a:ea typeface="Arial"/>
                          <a:cs typeface="Arial"/>
                        </a:rPr>
                        <a:t>+ direct beschikbaar</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Werkloze beroepsbevolking</a:t>
                      </a:r>
                    </a:p>
                  </a:txBody>
                  <a:tcPr marL="91440" marR="91440" marT="45720" marB="45720" anchor="ctr">
                    <a:solidFill>
                      <a:srgbClr val="EFF4F7"/>
                    </a:solidFill>
                  </a:tcPr>
                </a:tc>
              </a:tr>
              <a:tr h="897731">
                <a:tc>
                  <a:txBody>
                    <a:bodyPr lIns="171450" tIns="95250" rIns="133350" bIns="95250"/>
                    <a:lstStyle/>
                    <a:p>
                      <a:r>
                        <a:rPr sz="2550" b="0">
                          <a:solidFill>
                            <a:srgbClr val="183247"/>
                          </a:solidFill>
                          <a:latin typeface="Arial"/>
                          <a:ea typeface="Arial"/>
                          <a:cs typeface="Arial"/>
                        </a:rPr>
                        <a:t>Geen betaald werk + niet recent gezocht</a:t>
                      </a:r>
                    </a:p>
                    <a:p>
                      <a:r>
                        <a:rPr sz="2550" b="0">
                          <a:solidFill>
                            <a:srgbClr val="183247"/>
                          </a:solidFill>
                          <a:latin typeface="Arial"/>
                          <a:ea typeface="Arial"/>
                          <a:cs typeface="Arial"/>
                        </a:rPr>
                        <a:t>of niet direct beschikbaar</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Niet-beroepsbevolking</a:t>
                      </a:r>
                    </a:p>
                  </a:txBody>
                  <a:tcPr marL="91440" marR="91440" marT="45720" marB="45720" anchor="ctr">
                    <a:solidFill>
                      <a:srgbClr val="FFFFFF"/>
                    </a:solidFill>
                  </a:tcPr>
                </a:tc>
              </a:tr>
            </a:tbl>
          </a:graphicData>
        </a:graphic>
      </p:graphicFrame>
      <p:sp>
        <p:nvSpPr>
          <p:cNvPr id="7" name="Beroepsbevolking = werkenden + werklozen">
            <a:extLst xmlns:a="http://schemas.openxmlformats.org/drawingml/2006/main">
              <a:ext uri="{FF2B5EF4-FFF2-40B4-BE49-F238E27FC236}">
                <a16:creationId xmlns:a16="http://schemas.microsoft.com/office/drawing/2014/main" id="{786569D2-BBF3-42D6-A802-B6349FE0D45B}"/>
              </a:ext>
            </a:extLst>
          </p:cNvPr>
          <p:cNvSpPr>
            <a:spLocks xmlns:a="http://schemas.openxmlformats.org/drawingml/2006/main" noGrp="1"/>
          </p:cNvSpPr>
          <p:nvPr/>
        </p:nvSpPr>
        <p:spPr>
          <a:xfrm xmlns:a="http://schemas.openxmlformats.org/drawingml/2006/main">
            <a:off x="571500" y="69246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E7449"/>
                </a:solidFill>
                <a:latin typeface="Arial"/>
                <a:ea typeface="Arial"/>
                <a:cs typeface="Arial"/>
              </a:defRPr>
            </a:pPr>
            <a:r>
              <a:rPr sz="3225" b="1">
                <a:solidFill>
                  <a:srgbClr val="1E7449"/>
                </a:solidFill>
                <a:latin typeface="Arial"/>
                <a:ea typeface="Arial"/>
                <a:cs typeface="Arial"/>
              </a:rPr>
              <a:t>Beroepsbevolking = werkenden + werklozen</a:t>
            </a:r>
          </a:p>
        </p:txBody>
      </p:sp>
    </p:spTree>
    <p:extLst>
      <p:ext uri="{BB962C8B-B14F-4D97-AF65-F5344CB8AC3E}">
        <p14:creationId xmlns:p14="http://schemas.microsoft.com/office/powerpoint/2010/main" val="20759346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ijkstad: de bevolking indelen">
            <a:extLst xmlns:a="http://schemas.openxmlformats.org/drawingml/2006/main">
              <a:ext uri="{FF2B5EF4-FFF2-40B4-BE49-F238E27FC236}">
                <a16:creationId xmlns:a16="http://schemas.microsoft.com/office/drawing/2014/main" id="{2BCA3083-F0F6-4A5D-9530-BAE64AD8EC3B}"/>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Dijkstad: de bevolking indelen</a:t>
            </a:r>
          </a:p>
        </p:txBody>
      </p:sp>
      <p:sp>
        <p:nvSpPr>
          <p:cNvPr id="2" name="">
            <a:extLst xmlns:a="http://schemas.openxmlformats.org/drawingml/2006/main">
              <a:ext uri="{FF2B5EF4-FFF2-40B4-BE49-F238E27FC236}">
                <a16:creationId xmlns:a16="http://schemas.microsoft.com/office/drawing/2014/main" id="{9E1BED69-7FE2-4F3E-8C54-1E09BCAA07F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1B52F17D-1DAF-4EC0-AC7E-5D20E6A553D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4">
            <a:extLst xmlns:a="http://schemas.openxmlformats.org/drawingml/2006/main">
              <a:ext uri="{FF2B5EF4-FFF2-40B4-BE49-F238E27FC236}">
                <a16:creationId xmlns:a16="http://schemas.microsoft.com/office/drawing/2014/main" id="{340AB381-DD69-4047-A8DD-8FD53D5277F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FDDEC75F-00A8-4F6B-A3CF-06D98EC1F59B}"/>
              </a:ext>
            </a:extLst>
          </p:cNvPr>
          <p:cNvSpPr>
            <a:spLocks xmlns:a="http://schemas.openxmlformats.org/drawingml/2006/main" noGrp="1"/>
          </p:cNvSpPr>
          <p:nvPr/>
        </p:nvSpPr>
        <p:spPr>
          <a:xfrm xmlns:a="http://schemas.openxmlformats.org/drawingml/2006/main">
            <a:off x="571500" y="16859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5" name=""/>
          <p:cNvGraphicFramePr/>
          <p:nvPr/>
        </p:nvGraphicFramePr>
        <p:xfrm>
          <a:off xmlns:a="http://schemas.openxmlformats.org/drawingml/2006/main" x="571500" y="2457450"/>
          <a:ext xmlns:a="http://schemas.openxmlformats.org/drawingml/2006/main" cx="8096250" cy="3943350"/>
        </p:xfrm>
        <a:graphic xmlns:a="http://schemas.openxmlformats.org/drawingml/2006/main">
          <a:graphicData uri="http://schemas.openxmlformats.org/drawingml/2006/table">
            <a:tbl>
              <a:tblPr/>
              <a:tblGrid>
                <a:gridCol w="6096000"/>
                <a:gridCol w="2000250"/>
              </a:tblGrid>
              <a:tr h="788670">
                <a:tc>
                  <a:txBody>
                    <a:bodyPr lIns="171450" tIns="95250" rIns="133350" bIns="95250"/>
                    <a:lstStyle/>
                    <a:p>
                      <a:r>
                        <a:rPr sz="2550" b="1">
                          <a:solidFill>
                            <a:srgbClr val="FFFFFF"/>
                          </a:solidFill>
                          <a:latin typeface="Arial"/>
                          <a:ea typeface="Arial"/>
                          <a:cs typeface="Arial"/>
                        </a:rPr>
                        <a:t>Inwoners van 15 tot 75 jaar</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Personen</a:t>
                      </a:r>
                    </a:p>
                  </a:txBody>
                  <a:tcPr marL="91440" marR="91440" marT="45720" marB="45720" anchor="ctr">
                    <a:solidFill>
                      <a:srgbClr val="183247"/>
                    </a:solidFill>
                  </a:tcPr>
                </a:tc>
              </a:tr>
              <a:tr h="788670">
                <a:tc>
                  <a:txBody>
                    <a:bodyPr lIns="171450" tIns="95250" rIns="133350" bIns="95250"/>
                    <a:lstStyle/>
                    <a:p>
                      <a:r>
                        <a:rPr sz="2550" b="0">
                          <a:solidFill>
                            <a:srgbClr val="183247"/>
                          </a:solidFill>
                          <a:latin typeface="Arial"/>
                          <a:ea typeface="Arial"/>
                          <a:cs typeface="Arial"/>
                        </a:rPr>
                        <a:t>Werkenden</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1.560</a:t>
                      </a:r>
                    </a:p>
                  </a:txBody>
                  <a:tcPr marL="91440" marR="91440" marT="45720" marB="45720" anchor="ctr">
                    <a:solidFill>
                      <a:srgbClr val="FFFFFF"/>
                    </a:solidFill>
                  </a:tcPr>
                </a:tc>
              </a:tr>
              <a:tr h="788670">
                <a:tc>
                  <a:txBody>
                    <a:bodyPr lIns="171450" tIns="95250" rIns="133350" bIns="95250"/>
                    <a:lstStyle/>
                    <a:p>
                      <a:r>
                        <a:rPr sz="2550" b="0">
                          <a:solidFill>
                            <a:srgbClr val="183247"/>
                          </a:solidFill>
                          <a:latin typeface="Arial"/>
                          <a:ea typeface="Arial"/>
                          <a:cs typeface="Arial"/>
                        </a:rPr>
                        <a:t>Werklozen</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240</a:t>
                      </a:r>
                    </a:p>
                  </a:txBody>
                  <a:tcPr marL="91440" marR="91440" marT="45720" marB="45720" anchor="ctr">
                    <a:solidFill>
                      <a:srgbClr val="EFF4F7"/>
                    </a:solidFill>
                  </a:tcPr>
                </a:tc>
              </a:tr>
              <a:tr h="788670">
                <a:tc>
                  <a:txBody>
                    <a:bodyPr lIns="171450" tIns="95250" rIns="133350" bIns="95250"/>
                    <a:lstStyle/>
                    <a:p>
                      <a:r>
                        <a:rPr sz="2550" b="0">
                          <a:solidFill>
                            <a:srgbClr val="183247"/>
                          </a:solidFill>
                          <a:latin typeface="Arial"/>
                          <a:ea typeface="Arial"/>
                          <a:cs typeface="Arial"/>
                        </a:rPr>
                        <a:t>Niet-beroepsbevolking</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600</a:t>
                      </a:r>
                    </a:p>
                  </a:txBody>
                  <a:tcPr marL="91440" marR="91440" marT="45720" marB="45720" anchor="ctr">
                    <a:solidFill>
                      <a:srgbClr val="FFFFFF"/>
                    </a:solidFill>
                  </a:tcPr>
                </a:tc>
              </a:tr>
              <a:tr h="788670">
                <a:tc>
                  <a:txBody>
                    <a:bodyPr lIns="171450" tIns="95250" rIns="133350" bIns="95250"/>
                    <a:lstStyle/>
                    <a:p>
                      <a:r>
                        <a:rPr sz="2550" b="0">
                          <a:solidFill>
                            <a:srgbClr val="183247"/>
                          </a:solidFill>
                          <a:latin typeface="Arial"/>
                          <a:ea typeface="Arial"/>
                          <a:cs typeface="Arial"/>
                        </a:rPr>
                        <a:t>Bevolking</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2.400</a:t>
                      </a:r>
                    </a:p>
                  </a:txBody>
                  <a:tcPr marL="91440" marR="91440" marT="45720" marB="45720" anchor="ctr">
                    <a:solidFill>
                      <a:srgbClr val="EFF4F7"/>
                    </a:solidFill>
                  </a:tcPr>
                </a:tc>
              </a:tr>
            </a:tbl>
          </a:graphicData>
        </a:graphic>
      </p:graphicFrame>
      <p:sp>
        <p:nvSpPr>
          <p:cNvPr id="7" name="Beroepsbevolking">
            <a:extLst xmlns:a="http://schemas.openxmlformats.org/drawingml/2006/main">
              <a:ext uri="{FF2B5EF4-FFF2-40B4-BE49-F238E27FC236}">
                <a16:creationId xmlns:a16="http://schemas.microsoft.com/office/drawing/2014/main" id="{199F0D8E-57DB-4C24-A957-A8C2EF5A16E2}"/>
              </a:ext>
            </a:extLst>
          </p:cNvPr>
          <p:cNvSpPr>
            <a:spLocks xmlns:a="http://schemas.openxmlformats.org/drawingml/2006/main" noGrp="1"/>
          </p:cNvSpPr>
          <p:nvPr/>
        </p:nvSpPr>
        <p:spPr>
          <a:xfrm xmlns:a="http://schemas.openxmlformats.org/drawingml/2006/main">
            <a:off x="9429750" y="28575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E7449"/>
                </a:solidFill>
                <a:latin typeface="Arial"/>
                <a:ea typeface="Arial"/>
                <a:cs typeface="Arial"/>
              </a:defRPr>
            </a:pPr>
            <a:r>
              <a:rPr sz="2700" b="1">
                <a:solidFill>
                  <a:srgbClr val="1E7449"/>
                </a:solidFill>
                <a:latin typeface="Arial"/>
                <a:ea typeface="Arial"/>
                <a:cs typeface="Arial"/>
              </a:rPr>
              <a:t>Beroepsbevolking</a:t>
            </a:r>
          </a:p>
        </p:txBody>
      </p:sp>
      <p:sp>
        <p:nvSpPr>
          <p:cNvPr id="8" name="1.560 + 240&#10;= 1.800 personen">
            <a:extLst xmlns:a="http://schemas.openxmlformats.org/drawingml/2006/main">
              <a:ext uri="{FF2B5EF4-FFF2-40B4-BE49-F238E27FC236}">
                <a16:creationId xmlns:a16="http://schemas.microsoft.com/office/drawing/2014/main" id="{F62FFC85-C5E9-463C-BA46-891D7C055B73}"/>
              </a:ext>
            </a:extLst>
          </p:cNvPr>
          <p:cNvSpPr>
            <a:spLocks xmlns:a="http://schemas.openxmlformats.org/drawingml/2006/main" noGrp="1"/>
          </p:cNvSpPr>
          <p:nvPr/>
        </p:nvSpPr>
        <p:spPr>
          <a:xfrm xmlns:a="http://schemas.openxmlformats.org/drawingml/2006/main">
            <a:off x="9429750" y="3762375"/>
            <a:ext cx="5238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1.560 + 240</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 1.800 personen</a:t>
            </a:r>
          </a:p>
        </p:txBody>
      </p:sp>
      <p:sp>
        <p:nvSpPr>
          <p:cNvPr id="9" name="Controle: 1.800 + 600 = 2.400 personen">
            <a:extLst xmlns:a="http://schemas.openxmlformats.org/drawingml/2006/main">
              <a:ext uri="{FF2B5EF4-FFF2-40B4-BE49-F238E27FC236}">
                <a16:creationId xmlns:a16="http://schemas.microsoft.com/office/drawing/2014/main" id="{EAA0025B-EB8C-4924-8343-C04E714795AF}"/>
              </a:ext>
            </a:extLst>
          </p:cNvPr>
          <p:cNvSpPr>
            <a:spLocks xmlns:a="http://schemas.openxmlformats.org/drawingml/2006/main" noGrp="1"/>
          </p:cNvSpPr>
          <p:nvPr/>
        </p:nvSpPr>
        <p:spPr>
          <a:xfrm xmlns:a="http://schemas.openxmlformats.org/drawingml/2006/main">
            <a:off x="571500" y="71056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Controle: 1.800 + 600 = 2.400 personen</a:t>
            </a:r>
          </a:p>
        </p:txBody>
      </p:sp>
    </p:spTree>
    <p:extLst>
      <p:ext uri="{BB962C8B-B14F-4D97-AF65-F5344CB8AC3E}">
        <p14:creationId xmlns:p14="http://schemas.microsoft.com/office/powerpoint/2010/main" val="12534402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uto en netto: dezelfde noemer">
            <a:extLst xmlns:a="http://schemas.openxmlformats.org/drawingml/2006/main">
              <a:ext uri="{FF2B5EF4-FFF2-40B4-BE49-F238E27FC236}">
                <a16:creationId xmlns:a16="http://schemas.microsoft.com/office/drawing/2014/main" id="{C379BD70-549F-4649-92E7-3E86E0754EAF}"/>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Bruto en netto: dezelfde noemer</a:t>
            </a:r>
          </a:p>
        </p:txBody>
      </p:sp>
      <p:sp>
        <p:nvSpPr>
          <p:cNvPr id="2" name="">
            <a:extLst xmlns:a="http://schemas.openxmlformats.org/drawingml/2006/main">
              <a:ext uri="{FF2B5EF4-FFF2-40B4-BE49-F238E27FC236}">
                <a16:creationId xmlns:a16="http://schemas.microsoft.com/office/drawing/2014/main" id="{30876E13-92A0-4793-83D2-A9776D36CC2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FD65ECD9-B042-4746-AE3A-AB37FE1C371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5">
            <a:extLst xmlns:a="http://schemas.openxmlformats.org/drawingml/2006/main">
              <a:ext uri="{FF2B5EF4-FFF2-40B4-BE49-F238E27FC236}">
                <a16:creationId xmlns:a16="http://schemas.microsoft.com/office/drawing/2014/main" id="{EC8847ED-A26E-4774-9387-4209234C78D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graphicFrame>
        <p:nvGraphicFramePr>
          <p:cNvPr id="12" name=""/>
          <p:cNvGraphicFramePr/>
          <p:nvPr/>
        </p:nvGraphicFramePr>
        <p:xfrm>
          <a:off xmlns:a="http://schemas.openxmlformats.org/drawingml/2006/main" x="571500" y="2428875"/>
          <a:ext xmlns:a="http://schemas.openxmlformats.org/drawingml/2006/main" cx="14097000" cy="2952750"/>
        </p:xfrm>
        <a:graphic xmlns:a="http://schemas.openxmlformats.org/drawingml/2006/main">
          <a:graphicData uri="http://schemas.openxmlformats.org/drawingml/2006/table">
            <a:tbl>
              <a:tblPr/>
              <a:tblGrid>
                <a:gridCol w="4667250"/>
                <a:gridCol w="5810250"/>
                <a:gridCol w="3619500"/>
              </a:tblGrid>
              <a:tr h="984250">
                <a:tc>
                  <a:txBody>
                    <a:bodyPr lIns="171450" tIns="95250" rIns="133350" bIns="95250"/>
                    <a:lstStyle/>
                    <a:p>
                      <a:r>
                        <a:rPr sz="2625" b="1">
                          <a:solidFill>
                            <a:srgbClr val="FFFFFF"/>
                          </a:solidFill>
                          <a:latin typeface="Arial"/>
                          <a:ea typeface="Arial"/>
                          <a:cs typeface="Arial"/>
                        </a:rPr>
                        <a:t>Percentage</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Teller</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Noemer</a:t>
                      </a:r>
                    </a:p>
                  </a:txBody>
                  <a:tcPr marL="91440" marR="91440" marT="45720" marB="45720" anchor="ctr">
                    <a:solidFill>
                      <a:srgbClr val="183247"/>
                    </a:solidFill>
                  </a:tcPr>
                </a:tc>
              </a:tr>
              <a:tr h="984250">
                <a:tc>
                  <a:txBody>
                    <a:bodyPr lIns="171450" tIns="95250" rIns="133350" bIns="95250"/>
                    <a:lstStyle/>
                    <a:p>
                      <a:r>
                        <a:rPr sz="2625" b="0">
                          <a:solidFill>
                            <a:srgbClr val="183247"/>
                          </a:solidFill>
                          <a:latin typeface="Arial"/>
                          <a:ea typeface="Arial"/>
                          <a:cs typeface="Arial"/>
                        </a:rPr>
                        <a:t>Bruto-participatie</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Werkenden + werklozen</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Bevolking</a:t>
                      </a:r>
                    </a:p>
                  </a:txBody>
                  <a:tcPr marL="91440" marR="91440" marT="45720" marB="45720" anchor="ctr">
                    <a:solidFill>
                      <a:srgbClr val="FFFFFF"/>
                    </a:solidFill>
                  </a:tcPr>
                </a:tc>
              </a:tr>
              <a:tr h="984250">
                <a:tc>
                  <a:txBody>
                    <a:bodyPr lIns="171450" tIns="95250" rIns="133350" bIns="95250"/>
                    <a:lstStyle/>
                    <a:p>
                      <a:r>
                        <a:rPr sz="2625" b="0">
                          <a:solidFill>
                            <a:srgbClr val="183247"/>
                          </a:solidFill>
                          <a:latin typeface="Arial"/>
                          <a:ea typeface="Arial"/>
                          <a:cs typeface="Arial"/>
                        </a:rPr>
                        <a:t>Netto-participatie</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Werkenden</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Bevolking</a:t>
                      </a:r>
                    </a:p>
                  </a:txBody>
                  <a:tcPr marL="91440" marR="91440" marT="45720" marB="45720" anchor="ctr">
                    <a:solidFill>
                      <a:srgbClr val="EFF4F7"/>
                    </a:solidFill>
                  </a:tcPr>
                </a:tc>
              </a:tr>
            </a:tbl>
          </a:graphicData>
        </a:graphic>
      </p:graphicFrame>
      <p:sp>
        <p:nvSpPr>
          <p:cNvPr id="6" name="Participatie = teller / bevolking × 100%">
            <a:extLst xmlns:a="http://schemas.openxmlformats.org/drawingml/2006/main">
              <a:ext uri="{FF2B5EF4-FFF2-40B4-BE49-F238E27FC236}">
                <a16:creationId xmlns:a16="http://schemas.microsoft.com/office/drawing/2014/main" id="{C0FAC2D6-F1F7-434D-9C72-72D2E529F840}"/>
              </a:ext>
            </a:extLst>
          </p:cNvPr>
          <p:cNvSpPr>
            <a:spLocks xmlns:a="http://schemas.openxmlformats.org/drawingml/2006/main" noGrp="1"/>
          </p:cNvSpPr>
          <p:nvPr/>
        </p:nvSpPr>
        <p:spPr>
          <a:xfrm xmlns:a="http://schemas.openxmlformats.org/drawingml/2006/main">
            <a:off x="571500" y="60769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Participatie = teller / bevolking × 100%</a:t>
            </a:r>
          </a:p>
        </p:txBody>
      </p:sp>
      <p:sp>
        <p:nvSpPr>
          <p:cNvPr id="7" name="Kies bij teller én noemer hetzelfde leeftijdsbereik.">
            <a:extLst xmlns:a="http://schemas.openxmlformats.org/drawingml/2006/main">
              <a:ext uri="{FF2B5EF4-FFF2-40B4-BE49-F238E27FC236}">
                <a16:creationId xmlns:a16="http://schemas.microsoft.com/office/drawing/2014/main" id="{F021E067-2274-4F8E-8342-A93F82B0E965}"/>
              </a:ext>
            </a:extLst>
          </p:cNvPr>
          <p:cNvSpPr>
            <a:spLocks xmlns:a="http://schemas.openxmlformats.org/drawingml/2006/main" noGrp="1"/>
          </p:cNvSpPr>
          <p:nvPr/>
        </p:nvSpPr>
        <p:spPr>
          <a:xfrm xmlns:a="http://schemas.openxmlformats.org/drawingml/2006/main">
            <a:off x="571500" y="713422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Kies bij teller én noemer hetzelfde leeftijdsbereik.</a:t>
            </a:r>
          </a:p>
        </p:txBody>
      </p:sp>
    </p:spTree>
    <p:extLst>
      <p:ext uri="{BB962C8B-B14F-4D97-AF65-F5344CB8AC3E}">
        <p14:creationId xmlns:p14="http://schemas.microsoft.com/office/powerpoint/2010/main" val="2247760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ijkstad: bruto 75%, netto 65%">
            <a:extLst xmlns:a="http://schemas.openxmlformats.org/drawingml/2006/main">
              <a:ext uri="{FF2B5EF4-FFF2-40B4-BE49-F238E27FC236}">
                <a16:creationId xmlns:a16="http://schemas.microsoft.com/office/drawing/2014/main" id="{797C02A0-3D39-4C89-A25A-B05FEA83EEBC}"/>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Dijkstad: bruto 75%, netto 65%</a:t>
            </a:r>
          </a:p>
        </p:txBody>
      </p:sp>
      <p:sp>
        <p:nvSpPr>
          <p:cNvPr id="2" name="">
            <a:extLst xmlns:a="http://schemas.openxmlformats.org/drawingml/2006/main">
              <a:ext uri="{FF2B5EF4-FFF2-40B4-BE49-F238E27FC236}">
                <a16:creationId xmlns:a16="http://schemas.microsoft.com/office/drawing/2014/main" id="{86AAF319-C480-418E-9F50-8DC26F7F199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E2F63F92-9950-4E5E-9B86-93960920B76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6">
            <a:extLst xmlns:a="http://schemas.openxmlformats.org/drawingml/2006/main">
              <a:ext uri="{FF2B5EF4-FFF2-40B4-BE49-F238E27FC236}">
                <a16:creationId xmlns:a16="http://schemas.microsoft.com/office/drawing/2014/main" id="{F902C528-ABA5-46DF-95F1-C19DC749DEA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781476E4-F896-420A-B64E-99733800870E}"/>
              </a:ext>
            </a:extLst>
          </p:cNvPr>
          <p:cNvSpPr>
            <a:spLocks xmlns:a="http://schemas.openxmlformats.org/drawingml/2006/main" noGrp="1"/>
          </p:cNvSpPr>
          <p:nvPr/>
        </p:nvSpPr>
        <p:spPr>
          <a:xfrm xmlns:a="http://schemas.openxmlformats.org/drawingml/2006/main">
            <a:off x="571500" y="16859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sp>
        <p:nvSpPr>
          <p:cNvPr id="6" name="Bruto-participatie">
            <a:extLst xmlns:a="http://schemas.openxmlformats.org/drawingml/2006/main">
              <a:ext uri="{FF2B5EF4-FFF2-40B4-BE49-F238E27FC236}">
                <a16:creationId xmlns:a16="http://schemas.microsoft.com/office/drawing/2014/main" id="{A4B73E82-B636-422D-BDB8-7A630108DBC5}"/>
              </a:ext>
            </a:extLst>
          </p:cNvPr>
          <p:cNvSpPr>
            <a:spLocks xmlns:a="http://schemas.openxmlformats.org/drawingml/2006/main" noGrp="1"/>
          </p:cNvSpPr>
          <p:nvPr/>
        </p:nvSpPr>
        <p:spPr>
          <a:xfrm xmlns:a="http://schemas.openxmlformats.org/drawingml/2006/main">
            <a:off x="571500" y="27146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Bruto-participatie</a:t>
            </a:r>
          </a:p>
        </p:txBody>
      </p:sp>
      <p:sp>
        <p:nvSpPr>
          <p:cNvPr id="7" name="1.800 / 2.400 × 100% = 75%">
            <a:extLst xmlns:a="http://schemas.openxmlformats.org/drawingml/2006/main">
              <a:ext uri="{FF2B5EF4-FFF2-40B4-BE49-F238E27FC236}">
                <a16:creationId xmlns:a16="http://schemas.microsoft.com/office/drawing/2014/main" id="{4F6B9CBB-976B-48F1-9C6F-6B0ECB1D0095}"/>
              </a:ext>
            </a:extLst>
          </p:cNvPr>
          <p:cNvSpPr>
            <a:spLocks xmlns:a="http://schemas.openxmlformats.org/drawingml/2006/main" noGrp="1"/>
          </p:cNvSpPr>
          <p:nvPr/>
        </p:nvSpPr>
        <p:spPr>
          <a:xfrm xmlns:a="http://schemas.openxmlformats.org/drawingml/2006/main">
            <a:off x="571500" y="345757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1.800 / 2.400 × 100% = 75%</a:t>
            </a:r>
          </a:p>
        </p:txBody>
      </p:sp>
      <p:sp>
        <p:nvSpPr>
          <p:cNvPr id="8" name="">
            <a:extLst xmlns:a="http://schemas.openxmlformats.org/drawingml/2006/main">
              <a:ext uri="{FF2B5EF4-FFF2-40B4-BE49-F238E27FC236}">
                <a16:creationId xmlns:a16="http://schemas.microsoft.com/office/drawing/2014/main" id="{A8658631-63C2-438A-9959-111BE17D1916}"/>
              </a:ext>
            </a:extLst>
          </p:cNvPr>
          <p:cNvSpPr>
            <a:spLocks xmlns:a="http://schemas.openxmlformats.org/drawingml/2006/main" noGrp="1"/>
          </p:cNvSpPr>
          <p:nvPr/>
        </p:nvSpPr>
        <p:spPr>
          <a:xfrm xmlns:a="http://schemas.openxmlformats.org/drawingml/2006/main">
            <a:off x="571500" y="4714875"/>
            <a:ext cx="14097000" cy="0"/>
          </a:xfrm>
          <a:prstGeom xmlns:a="http://schemas.openxmlformats.org/drawingml/2006/main" prst="line">
            <a:avLst/>
          </a:prstGeom>
          <a:ln xmlns:a="http://schemas.openxmlformats.org/drawingml/2006/main" w="19050">
            <a:solidFill>
              <a:srgbClr val="C6D2DB"/>
            </a:solidFill>
          </a:ln>
        </p:spPr>
      </p:sp>
      <p:sp>
        <p:nvSpPr>
          <p:cNvPr id="9" name="Netto-participatie">
            <a:extLst xmlns:a="http://schemas.openxmlformats.org/drawingml/2006/main">
              <a:ext uri="{FF2B5EF4-FFF2-40B4-BE49-F238E27FC236}">
                <a16:creationId xmlns:a16="http://schemas.microsoft.com/office/drawing/2014/main" id="{C9102610-DCFA-42E3-BB52-CECE91C52FE3}"/>
              </a:ext>
            </a:extLst>
          </p:cNvPr>
          <p:cNvSpPr>
            <a:spLocks xmlns:a="http://schemas.openxmlformats.org/drawingml/2006/main" noGrp="1"/>
          </p:cNvSpPr>
          <p:nvPr/>
        </p:nvSpPr>
        <p:spPr>
          <a:xfrm xmlns:a="http://schemas.openxmlformats.org/drawingml/2006/main">
            <a:off x="571500" y="50958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E7449"/>
                </a:solidFill>
                <a:latin typeface="Arial"/>
                <a:ea typeface="Arial"/>
                <a:cs typeface="Arial"/>
              </a:defRPr>
            </a:pPr>
            <a:r>
              <a:rPr sz="2925" b="1">
                <a:solidFill>
                  <a:srgbClr val="1E7449"/>
                </a:solidFill>
                <a:latin typeface="Arial"/>
                <a:ea typeface="Arial"/>
                <a:cs typeface="Arial"/>
              </a:rPr>
              <a:t>Netto-participatie</a:t>
            </a:r>
          </a:p>
        </p:txBody>
      </p:sp>
      <p:sp>
        <p:nvSpPr>
          <p:cNvPr id="10" name="1.560 / 2.400 × 100% = 65%">
            <a:extLst xmlns:a="http://schemas.openxmlformats.org/drawingml/2006/main">
              <a:ext uri="{FF2B5EF4-FFF2-40B4-BE49-F238E27FC236}">
                <a16:creationId xmlns:a16="http://schemas.microsoft.com/office/drawing/2014/main" id="{5F865EBA-6649-469E-82C5-BB2DAEE0784D}"/>
              </a:ext>
            </a:extLst>
          </p:cNvPr>
          <p:cNvSpPr>
            <a:spLocks xmlns:a="http://schemas.openxmlformats.org/drawingml/2006/main" noGrp="1"/>
          </p:cNvSpPr>
          <p:nvPr/>
        </p:nvSpPr>
        <p:spPr>
          <a:xfrm xmlns:a="http://schemas.openxmlformats.org/drawingml/2006/main">
            <a:off x="571500" y="583882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1.560 / 2.400 × 100% = 65%</a:t>
            </a:r>
          </a:p>
        </p:txBody>
      </p:sp>
      <p:sp>
        <p:nvSpPr>
          <p:cNvPr id="11" name="Controle: bruto ≥ netto en beide ≤ 100%">
            <a:extLst xmlns:a="http://schemas.openxmlformats.org/drawingml/2006/main">
              <a:ext uri="{FF2B5EF4-FFF2-40B4-BE49-F238E27FC236}">
                <a16:creationId xmlns:a16="http://schemas.microsoft.com/office/drawing/2014/main" id="{1864CF55-B5AF-41AA-8534-3499428D3185}"/>
              </a:ext>
            </a:extLst>
          </p:cNvPr>
          <p:cNvSpPr>
            <a:spLocks xmlns:a="http://schemas.openxmlformats.org/drawingml/2006/main" noGrp="1"/>
          </p:cNvSpPr>
          <p:nvPr/>
        </p:nvSpPr>
        <p:spPr>
          <a:xfrm xmlns:a="http://schemas.openxmlformats.org/drawingml/2006/main">
            <a:off x="571500" y="7191375"/>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Controle: bruto ≥ netto en beide ≤ 100%</a:t>
            </a:r>
          </a:p>
        </p:txBody>
      </p:sp>
    </p:spTree>
    <p:extLst>
      <p:ext uri="{BB962C8B-B14F-4D97-AF65-F5344CB8AC3E}">
        <p14:creationId xmlns:p14="http://schemas.microsoft.com/office/powerpoint/2010/main" val="6668159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Van productmarkt naar arbeidsmarkt">
            <a:extLst xmlns:a="http://schemas.openxmlformats.org/drawingml/2006/main">
              <a:ext uri="{FF2B5EF4-FFF2-40B4-BE49-F238E27FC236}">
                <a16:creationId xmlns:a16="http://schemas.microsoft.com/office/drawing/2014/main" id="{74DBEBF4-89BF-4F05-825A-941ACD275DDE}"/>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Van productmarkt naar arbeidsmarkt</a:t>
            </a:r>
          </a:p>
        </p:txBody>
      </p:sp>
      <p:sp>
        <p:nvSpPr>
          <p:cNvPr id="2" name="">
            <a:extLst xmlns:a="http://schemas.openxmlformats.org/drawingml/2006/main">
              <a:ext uri="{FF2B5EF4-FFF2-40B4-BE49-F238E27FC236}">
                <a16:creationId xmlns:a16="http://schemas.microsoft.com/office/drawing/2014/main" id="{037E182B-B81E-426F-9CE3-1CC23CB11AE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EDC45CC5-87AE-43BC-93AF-6BEFCCCB578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7">
            <a:extLst xmlns:a="http://schemas.openxmlformats.org/drawingml/2006/main">
              <a:ext uri="{FF2B5EF4-FFF2-40B4-BE49-F238E27FC236}">
                <a16:creationId xmlns:a16="http://schemas.microsoft.com/office/drawing/2014/main" id="{DECA4366-DE6D-4352-9C68-AA29AB620F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graphicFrame>
        <p:nvGraphicFramePr>
          <p:cNvPr id="11" name=""/>
          <p:cNvGraphicFramePr/>
          <p:nvPr/>
        </p:nvGraphicFramePr>
        <p:xfrm>
          <a:off xmlns:a="http://schemas.openxmlformats.org/drawingml/2006/main" x="571500" y="2181225"/>
          <a:ext xmlns:a="http://schemas.openxmlformats.org/drawingml/2006/main" cx="14097000" cy="4257675"/>
        </p:xfrm>
        <a:graphic xmlns:a="http://schemas.openxmlformats.org/drawingml/2006/main">
          <a:graphicData uri="http://schemas.openxmlformats.org/drawingml/2006/table">
            <a:tbl>
              <a:tblPr/>
              <a:tblGrid>
                <a:gridCol w="5905500"/>
                <a:gridCol w="8191500"/>
              </a:tblGrid>
              <a:tr h="851535">
                <a:tc>
                  <a:txBody>
                    <a:bodyPr lIns="171450" tIns="95250" rIns="133350" bIns="95250"/>
                    <a:lstStyle/>
                    <a:p>
                      <a:r>
                        <a:rPr sz="2550" b="1">
                          <a:solidFill>
                            <a:srgbClr val="FFFFFF"/>
                          </a:solidFill>
                          <a:latin typeface="Arial"/>
                          <a:ea typeface="Arial"/>
                          <a:cs typeface="Arial"/>
                        </a:rPr>
                        <a:t>Bekende markt</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Arbeidsmarkt</a:t>
                      </a:r>
                    </a:p>
                  </a:txBody>
                  <a:tcPr marL="91440" marR="91440" marT="45720" marB="45720" anchor="ctr">
                    <a:solidFill>
                      <a:srgbClr val="183247"/>
                    </a:solidFill>
                  </a:tcPr>
                </a:tc>
              </a:tr>
              <a:tr h="851535">
                <a:tc>
                  <a:txBody>
                    <a:bodyPr lIns="171450" tIns="95250" rIns="133350" bIns="95250"/>
                    <a:lstStyle/>
                    <a:p>
                      <a:r>
                        <a:rPr sz="2550" b="0">
                          <a:solidFill>
                            <a:srgbClr val="183247"/>
                          </a:solidFill>
                          <a:latin typeface="Arial"/>
                          <a:ea typeface="Arial"/>
                          <a:cs typeface="Arial"/>
                        </a:rPr>
                        <a:t>Prijs P</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Uurloon w in € per uur</a:t>
                      </a:r>
                    </a:p>
                  </a:txBody>
                  <a:tcPr marL="91440" marR="91440" marT="45720" marB="45720" anchor="ctr">
                    <a:solidFill>
                      <a:srgbClr val="FFFFFF"/>
                    </a:solidFill>
                  </a:tcPr>
                </a:tc>
              </a:tr>
              <a:tr h="851535">
                <a:tc>
                  <a:txBody>
                    <a:bodyPr lIns="171450" tIns="95250" rIns="133350" bIns="95250"/>
                    <a:lstStyle/>
                    <a:p>
                      <a:r>
                        <a:rPr sz="2550" b="0">
                          <a:solidFill>
                            <a:srgbClr val="183247"/>
                          </a:solidFill>
                          <a:latin typeface="Arial"/>
                          <a:ea typeface="Arial"/>
                          <a:cs typeface="Arial"/>
                        </a:rPr>
                        <a:t>Gevraagde hoeveelheid Qᵥ</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Arbeidsvraag Lᵥ door werkgevers</a:t>
                      </a:r>
                    </a:p>
                  </a:txBody>
                  <a:tcPr marL="91440" marR="91440" marT="45720" marB="45720" anchor="ctr">
                    <a:solidFill>
                      <a:srgbClr val="EFF4F7"/>
                    </a:solidFill>
                  </a:tcPr>
                </a:tc>
              </a:tr>
              <a:tr h="851535">
                <a:tc>
                  <a:txBody>
                    <a:bodyPr lIns="171450" tIns="95250" rIns="133350" bIns="95250"/>
                    <a:lstStyle/>
                    <a:p>
                      <a:r>
                        <a:rPr sz="2550" b="0">
                          <a:solidFill>
                            <a:srgbClr val="183247"/>
                          </a:solidFill>
                          <a:latin typeface="Arial"/>
                          <a:ea typeface="Arial"/>
                          <a:cs typeface="Arial"/>
                        </a:rPr>
                        <a:t>Aangeboden hoeveelheid Qₐ</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Arbeidsaanbod Lₐ door huishoudens</a:t>
                      </a:r>
                    </a:p>
                  </a:txBody>
                  <a:tcPr marL="91440" marR="91440" marT="45720" marB="45720" anchor="ctr">
                    <a:solidFill>
                      <a:srgbClr val="FFFFFF"/>
                    </a:solidFill>
                  </a:tcPr>
                </a:tc>
              </a:tr>
              <a:tr h="851535">
                <a:tc>
                  <a:txBody>
                    <a:bodyPr lIns="171450" tIns="95250" rIns="133350" bIns="95250"/>
                    <a:lstStyle/>
                    <a:p>
                      <a:r>
                        <a:rPr sz="2550" b="0">
                          <a:solidFill>
                            <a:srgbClr val="183247"/>
                          </a:solidFill>
                          <a:latin typeface="Arial"/>
                          <a:ea typeface="Arial"/>
                          <a:cs typeface="Arial"/>
                        </a:rPr>
                        <a:t>Qᵥ = Qₐ</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Lᵥ = Lₐ</a:t>
                      </a:r>
                    </a:p>
                  </a:txBody>
                  <a:tcPr marL="91440" marR="91440" marT="45720" marB="45720" anchor="ctr">
                    <a:solidFill>
                      <a:srgbClr val="EFF4F7"/>
                    </a:solidFill>
                  </a:tcPr>
                </a:tc>
              </a:tr>
            </a:tbl>
          </a:graphicData>
        </a:graphic>
      </p:graphicFrame>
      <p:sp>
        <p:nvSpPr>
          <p:cNvPr id="6" name="Uitlegvoorbeeld en doelopgave: personen, ieder 20 uur per we">
            <a:extLst xmlns:a="http://schemas.openxmlformats.org/drawingml/2006/main">
              <a:ext uri="{FF2B5EF4-FFF2-40B4-BE49-F238E27FC236}">
                <a16:creationId xmlns:a16="http://schemas.microsoft.com/office/drawing/2014/main" id="{F167515E-CDD6-4AA7-B582-4FBEE05EEBAF}"/>
              </a:ext>
            </a:extLst>
          </p:cNvPr>
          <p:cNvSpPr>
            <a:spLocks xmlns:a="http://schemas.openxmlformats.org/drawingml/2006/main" noGrp="1"/>
          </p:cNvSpPr>
          <p:nvPr/>
        </p:nvSpPr>
        <p:spPr>
          <a:xfrm xmlns:a="http://schemas.openxmlformats.org/drawingml/2006/main">
            <a:off x="571500" y="70675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Uitlegvoorbeeld en doelopgave: personen, ieder 20 uur per week.</a:t>
            </a:r>
          </a:p>
        </p:txBody>
      </p:sp>
    </p:spTree>
    <p:extLst>
      <p:ext uri="{BB962C8B-B14F-4D97-AF65-F5344CB8AC3E}">
        <p14:creationId xmlns:p14="http://schemas.microsoft.com/office/powerpoint/2010/main" val="2488034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aparte markt: baliemedewerkers">
            <a:extLst xmlns:a="http://schemas.openxmlformats.org/drawingml/2006/main">
              <a:ext uri="{FF2B5EF4-FFF2-40B4-BE49-F238E27FC236}">
                <a16:creationId xmlns:a16="http://schemas.microsoft.com/office/drawing/2014/main" id="{4F77ABFA-1ABB-45C3-895A-C0CCE8B0585C}"/>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aparte markt: baliemedewerkers</a:t>
            </a:r>
          </a:p>
        </p:txBody>
      </p:sp>
      <p:sp>
        <p:nvSpPr>
          <p:cNvPr id="2" name="">
            <a:extLst xmlns:a="http://schemas.openxmlformats.org/drawingml/2006/main">
              <a:ext uri="{FF2B5EF4-FFF2-40B4-BE49-F238E27FC236}">
                <a16:creationId xmlns:a16="http://schemas.microsoft.com/office/drawing/2014/main" id="{50A20C75-42BE-470E-B9B0-F37D3D37815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0B6BED93-6777-4E20-A1F7-D1B93B9B42F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8">
            <a:extLst xmlns:a="http://schemas.openxmlformats.org/drawingml/2006/main">
              <a:ext uri="{FF2B5EF4-FFF2-40B4-BE49-F238E27FC236}">
                <a16:creationId xmlns:a16="http://schemas.microsoft.com/office/drawing/2014/main" id="{3E61CC2B-B7F6-4526-A803-214634F96CC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710EE142-F517-4FE5-986B-9FD05487E22F}"/>
              </a:ext>
            </a:extLst>
          </p:cNvPr>
          <p:cNvSpPr>
            <a:spLocks xmlns:a="http://schemas.openxmlformats.org/drawingml/2006/main" noGrp="1"/>
          </p:cNvSpPr>
          <p:nvPr/>
        </p:nvSpPr>
        <p:spPr>
          <a:xfrm xmlns:a="http://schemas.openxmlformats.org/drawingml/2006/main">
            <a:off x="571500" y="16859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sp>
        <p:nvSpPr>
          <p:cNvPr id="6" name="Lᵥ = 180 − 6w">
            <a:extLst xmlns:a="http://schemas.openxmlformats.org/drawingml/2006/main">
              <a:ext uri="{FF2B5EF4-FFF2-40B4-BE49-F238E27FC236}">
                <a16:creationId xmlns:a16="http://schemas.microsoft.com/office/drawing/2014/main" id="{0989CF71-868A-4D48-9F57-A94BE8158E99}"/>
              </a:ext>
            </a:extLst>
          </p:cNvPr>
          <p:cNvSpPr>
            <a:spLocks xmlns:a="http://schemas.openxmlformats.org/drawingml/2006/main" noGrp="1"/>
          </p:cNvSpPr>
          <p:nvPr/>
        </p:nvSpPr>
        <p:spPr>
          <a:xfrm xmlns:a="http://schemas.openxmlformats.org/drawingml/2006/main">
            <a:off x="571500" y="2647950"/>
            <a:ext cx="685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A5276"/>
                </a:solidFill>
                <a:latin typeface="Arial"/>
                <a:ea typeface="Arial"/>
                <a:cs typeface="Arial"/>
              </a:defRPr>
            </a:pPr>
            <a:r>
              <a:rPr sz="3750" b="1">
                <a:solidFill>
                  <a:srgbClr val="1A5276"/>
                </a:solidFill>
                <a:latin typeface="Arial"/>
                <a:ea typeface="Arial"/>
                <a:cs typeface="Arial"/>
              </a:rPr>
              <a:t>Lᵥ = 180 − 6w</a:t>
            </a:r>
          </a:p>
        </p:txBody>
      </p:sp>
      <p:sp>
        <p:nvSpPr>
          <p:cNvPr id="7" name="Lₐ = −36 + 6w">
            <a:extLst xmlns:a="http://schemas.openxmlformats.org/drawingml/2006/main">
              <a:ext uri="{FF2B5EF4-FFF2-40B4-BE49-F238E27FC236}">
                <a16:creationId xmlns:a16="http://schemas.microsoft.com/office/drawing/2014/main" id="{0C5A209A-A768-4E76-9E42-7BA3D598DC44}"/>
              </a:ext>
            </a:extLst>
          </p:cNvPr>
          <p:cNvSpPr>
            <a:spLocks xmlns:a="http://schemas.openxmlformats.org/drawingml/2006/main" noGrp="1"/>
          </p:cNvSpPr>
          <p:nvPr/>
        </p:nvSpPr>
        <p:spPr>
          <a:xfrm xmlns:a="http://schemas.openxmlformats.org/drawingml/2006/main">
            <a:off x="7858125" y="2647950"/>
            <a:ext cx="676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E7449"/>
                </a:solidFill>
                <a:latin typeface="Arial"/>
                <a:ea typeface="Arial"/>
                <a:cs typeface="Arial"/>
              </a:defRPr>
            </a:pPr>
            <a:r>
              <a:rPr sz="3750" b="1">
                <a:solidFill>
                  <a:srgbClr val="1E7449"/>
                </a:solidFill>
                <a:latin typeface="Arial"/>
                <a:ea typeface="Arial"/>
                <a:cs typeface="Arial"/>
              </a:rPr>
              <a:t>Lₐ = −36 + 6w</a:t>
            </a:r>
          </a:p>
        </p:txBody>
      </p:sp>
      <p:graphicFrame>
        <p:nvGraphicFramePr>
          <p:cNvPr id="16" name=""/>
          <p:cNvGraphicFramePr/>
          <p:nvPr/>
        </p:nvGraphicFramePr>
        <p:xfrm>
          <a:off xmlns:a="http://schemas.openxmlformats.org/drawingml/2006/main" x="571500" y="4000500"/>
          <a:ext xmlns:a="http://schemas.openxmlformats.org/drawingml/2006/main" cx="14097000" cy="3533775"/>
        </p:xfrm>
        <a:graphic xmlns:a="http://schemas.openxmlformats.org/drawingml/2006/main">
          <a:graphicData uri="http://schemas.openxmlformats.org/drawingml/2006/table">
            <a:tbl>
              <a:tblPr/>
              <a:tblGrid>
                <a:gridCol w="4333875"/>
                <a:gridCol w="9763125"/>
              </a:tblGrid>
              <a:tr h="706755">
                <a:tc>
                  <a:txBody>
                    <a:bodyPr lIns="171450" tIns="95250" rIns="133350" bIns="95250"/>
                    <a:lstStyle/>
                    <a:p>
                      <a:r>
                        <a:rPr sz="2400" b="1">
                          <a:solidFill>
                            <a:srgbClr val="FFFFFF"/>
                          </a:solidFill>
                          <a:latin typeface="Arial"/>
                          <a:ea typeface="Arial"/>
                          <a:cs typeface="Arial"/>
                        </a:rPr>
                        <a:t>Grootheid / aanname</a:t>
                      </a:r>
                    </a:p>
                  </a:txBody>
                  <a:tcPr marL="91440" marR="91440" marT="45720" marB="45720" anchor="ctr">
                    <a:solidFill>
                      <a:srgbClr val="183247"/>
                    </a:solidFill>
                  </a:tcPr>
                </a:tc>
                <a:tc>
                  <a:txBody>
                    <a:bodyPr lIns="171450" tIns="95250" rIns="133350" bIns="95250"/>
                    <a:lstStyle/>
                    <a:p>
                      <a:r>
                        <a:rPr sz="2400" b="1">
                          <a:solidFill>
                            <a:srgbClr val="FFFFFF"/>
                          </a:solidFill>
                          <a:latin typeface="Arial"/>
                          <a:ea typeface="Arial"/>
                          <a:cs typeface="Arial"/>
                        </a:rPr>
                        <a:t>Afspraak</a:t>
                      </a:r>
                    </a:p>
                  </a:txBody>
                  <a:tcPr marL="91440" marR="91440" marT="45720" marB="45720" anchor="ctr">
                    <a:solidFill>
                      <a:srgbClr val="183247"/>
                    </a:solidFill>
                  </a:tcPr>
                </a:tc>
              </a:tr>
              <a:tr h="706755">
                <a:tc>
                  <a:txBody>
                    <a:bodyPr lIns="171450" tIns="95250" rIns="133350" bIns="95250"/>
                    <a:lstStyle/>
                    <a:p>
                      <a:r>
                        <a:rPr sz="2400" b="0">
                          <a:solidFill>
                            <a:srgbClr val="183247"/>
                          </a:solidFill>
                          <a:latin typeface="Arial"/>
                          <a:ea typeface="Arial"/>
                          <a:cs typeface="Arial"/>
                        </a:rPr>
                        <a:t>L</a:t>
                      </a:r>
                    </a:p>
                  </a:txBody>
                  <a:tcPr marL="91440" marR="91440" marT="45720" marB="45720" anchor="ctr">
                    <a:solidFill>
                      <a:srgbClr val="FFFFFF"/>
                    </a:solidFill>
                  </a:tcPr>
                </a:tc>
                <a:tc>
                  <a:txBody>
                    <a:bodyPr lIns="171450" tIns="95250" rIns="133350" bIns="95250"/>
                    <a:lstStyle/>
                    <a:p>
                      <a:r>
                        <a:rPr sz="2400" b="0">
                          <a:solidFill>
                            <a:srgbClr val="183247"/>
                          </a:solidFill>
                          <a:latin typeface="Arial"/>
                          <a:ea typeface="Arial"/>
                          <a:cs typeface="Arial"/>
                        </a:rPr>
                        <a:t>Personen, ieder 20 uur per week</a:t>
                      </a:r>
                    </a:p>
                  </a:txBody>
                  <a:tcPr marL="91440" marR="91440" marT="45720" marB="45720" anchor="ctr">
                    <a:solidFill>
                      <a:srgbClr val="FFFFFF"/>
                    </a:solidFill>
                  </a:tcPr>
                </a:tc>
              </a:tr>
              <a:tr h="706755">
                <a:tc>
                  <a:txBody>
                    <a:bodyPr lIns="171450" tIns="95250" rIns="133350" bIns="95250"/>
                    <a:lstStyle/>
                    <a:p>
                      <a:r>
                        <a:rPr sz="2400" b="0">
                          <a:solidFill>
                            <a:srgbClr val="183247"/>
                          </a:solidFill>
                          <a:latin typeface="Arial"/>
                          <a:ea typeface="Arial"/>
                          <a:cs typeface="Arial"/>
                        </a:rPr>
                        <a:t>w</a:t>
                      </a:r>
                    </a:p>
                  </a:txBody>
                  <a:tcPr marL="91440" marR="91440" marT="45720" marB="45720" anchor="ctr">
                    <a:solidFill>
                      <a:srgbClr val="EFF4F7"/>
                    </a:solidFill>
                  </a:tcPr>
                </a:tc>
                <a:tc>
                  <a:txBody>
                    <a:bodyPr lIns="171450" tIns="95250" rIns="133350" bIns="95250"/>
                    <a:lstStyle/>
                    <a:p>
                      <a:r>
                        <a:rPr sz="2400" b="0">
                          <a:solidFill>
                            <a:srgbClr val="183247"/>
                          </a:solidFill>
                          <a:latin typeface="Arial"/>
                          <a:ea typeface="Arial"/>
                          <a:cs typeface="Arial"/>
                        </a:rPr>
                        <a:t>Uurloon in euro; € 6 ≤ w ≤ € 30</a:t>
                      </a:r>
                    </a:p>
                  </a:txBody>
                  <a:tcPr marL="91440" marR="91440" marT="45720" marB="45720" anchor="ctr">
                    <a:solidFill>
                      <a:srgbClr val="EFF4F7"/>
                    </a:solidFill>
                  </a:tcPr>
                </a:tc>
              </a:tr>
              <a:tr h="706755">
                <a:tc>
                  <a:txBody>
                    <a:bodyPr lIns="171450" tIns="95250" rIns="133350" bIns="95250"/>
                    <a:lstStyle/>
                    <a:p>
                      <a:r>
                        <a:rPr sz="2400" b="0">
                          <a:solidFill>
                            <a:srgbClr val="183247"/>
                          </a:solidFill>
                          <a:latin typeface="Arial"/>
                          <a:ea typeface="Arial"/>
                          <a:cs typeface="Arial"/>
                        </a:rPr>
                        <a:t>Markt</a:t>
                      </a:r>
                    </a:p>
                  </a:txBody>
                  <a:tcPr marL="91440" marR="91440" marT="45720" marB="45720" anchor="ctr">
                    <a:solidFill>
                      <a:srgbClr val="FFFFFF"/>
                    </a:solidFill>
                  </a:tcPr>
                </a:tc>
                <a:tc>
                  <a:txBody>
                    <a:bodyPr lIns="171450" tIns="95250" rIns="133350" bIns="95250"/>
                    <a:lstStyle/>
                    <a:p>
                      <a:r>
                        <a:rPr sz="2400" b="0">
                          <a:solidFill>
                            <a:srgbClr val="183247"/>
                          </a:solidFill>
                          <a:latin typeface="Arial"/>
                          <a:ea typeface="Arial"/>
                          <a:cs typeface="Arial"/>
                        </a:rPr>
                        <a:t>Veel werkgevers en werknemers; vergelijkbare arbeid</a:t>
                      </a:r>
                    </a:p>
                  </a:txBody>
                  <a:tcPr marL="91440" marR="91440" marT="45720" marB="45720" anchor="ctr">
                    <a:solidFill>
                      <a:srgbClr val="FFFFFF"/>
                    </a:solidFill>
                  </a:tcPr>
                </a:tc>
              </a:tr>
              <a:tr h="706755">
                <a:tc>
                  <a:txBody>
                    <a:bodyPr lIns="171450" tIns="95250" rIns="133350" bIns="95250"/>
                    <a:lstStyle/>
                    <a:p>
                      <a:r>
                        <a:rPr sz="2400" b="0">
                          <a:solidFill>
                            <a:srgbClr val="183247"/>
                          </a:solidFill>
                          <a:latin typeface="Arial"/>
                          <a:ea typeface="Arial"/>
                          <a:cs typeface="Arial"/>
                        </a:rPr>
                        <a:t>Aanpassing</a:t>
                      </a:r>
                    </a:p>
                  </a:txBody>
                  <a:tcPr marL="91440" marR="91440" marT="45720" marB="45720" anchor="ctr">
                    <a:solidFill>
                      <a:srgbClr val="EFF4F7"/>
                    </a:solidFill>
                  </a:tcPr>
                </a:tc>
                <a:tc>
                  <a:txBody>
                    <a:bodyPr lIns="171450" tIns="95250" rIns="133350" bIns="95250"/>
                    <a:lstStyle/>
                    <a:p>
                      <a:r>
                        <a:rPr sz="2400" b="0">
                          <a:solidFill>
                            <a:srgbClr val="183247"/>
                          </a:solidFill>
                          <a:latin typeface="Arial"/>
                          <a:ea typeface="Arial"/>
                          <a:cs typeface="Arial"/>
                        </a:rPr>
                        <a:t>Vrij loon, geen loonvloer, direct passende matches</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543675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rbeidsvraag bij verschillende lonen">
            <a:extLst xmlns:a="http://schemas.openxmlformats.org/drawingml/2006/main">
              <a:ext uri="{FF2B5EF4-FFF2-40B4-BE49-F238E27FC236}">
                <a16:creationId xmlns:a16="http://schemas.microsoft.com/office/drawing/2014/main" id="{9800EB04-278D-4D61-862F-A17885A29177}"/>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Arbeidsvraag bij verschillende lonen</a:t>
            </a:r>
          </a:p>
        </p:txBody>
      </p:sp>
      <p:sp>
        <p:nvSpPr>
          <p:cNvPr id="2" name="">
            <a:extLst xmlns:a="http://schemas.openxmlformats.org/drawingml/2006/main">
              <a:ext uri="{FF2B5EF4-FFF2-40B4-BE49-F238E27FC236}">
                <a16:creationId xmlns:a16="http://schemas.microsoft.com/office/drawing/2014/main" id="{3BE3CD91-836C-4A34-B5ED-DC288AF5FD5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107BD659-A804-4891-9B2E-8B7E969FB7C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9">
            <a:extLst xmlns:a="http://schemas.openxmlformats.org/drawingml/2006/main">
              <a:ext uri="{FF2B5EF4-FFF2-40B4-BE49-F238E27FC236}">
                <a16:creationId xmlns:a16="http://schemas.microsoft.com/office/drawing/2014/main" id="{860287F0-FB94-4A03-BF48-FE8B4C6FEA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C21BD113-71EF-4181-AFD5-69BE9D768D7B}"/>
              </a:ext>
            </a:extLst>
          </p:cNvPr>
          <p:cNvSpPr>
            <a:spLocks xmlns:a="http://schemas.openxmlformats.org/drawingml/2006/main" noGrp="1"/>
          </p:cNvSpPr>
          <p:nvPr/>
        </p:nvSpPr>
        <p:spPr>
          <a:xfrm xmlns:a="http://schemas.openxmlformats.org/drawingml/2006/main">
            <a:off x="571500" y="16859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38375"/>
          <a:ext xmlns:a="http://schemas.openxmlformats.org/drawingml/2006/main" cx="10001250" cy="5334000"/>
        </p:xfrm>
        <a:graphic xmlns:a="http://schemas.openxmlformats.org/drawingml/2006/main">
          <a:graphicData uri="http://schemas.openxmlformats.org/drawingml/2006/chart">
            <c:chart xmlns:r="http://schemas.openxmlformats.org/officeDocument/2006/relationships" xmlns:c="http://schemas.openxmlformats.org/drawingml/2006/chart" r:id="Rce6aa2cd41e24fa8"/>
          </a:graphicData>
        </a:graphic>
      </p:graphicFrame>
      <p:sp>
        <p:nvSpPr>
          <p:cNvPr id="7" name="Lᵥ = 180 − 6w">
            <a:extLst xmlns:a="http://schemas.openxmlformats.org/drawingml/2006/main">
              <a:ext uri="{FF2B5EF4-FFF2-40B4-BE49-F238E27FC236}">
                <a16:creationId xmlns:a16="http://schemas.microsoft.com/office/drawing/2014/main" id="{BC06C63B-149C-4368-A1EF-E36F9921FD42}"/>
              </a:ext>
            </a:extLst>
          </p:cNvPr>
          <p:cNvSpPr>
            <a:spLocks xmlns:a="http://schemas.openxmlformats.org/drawingml/2006/main" noGrp="1"/>
          </p:cNvSpPr>
          <p:nvPr/>
        </p:nvSpPr>
        <p:spPr>
          <a:xfrm xmlns:a="http://schemas.openxmlformats.org/drawingml/2006/main">
            <a:off x="10953750" y="254317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Lᵥ = 180 − 6w</a:t>
            </a:r>
          </a:p>
        </p:txBody>
      </p:sp>
      <p:sp>
        <p:nvSpPr>
          <p:cNvPr id="8" name="w = € 12&#10;Lᵥ = 108 personen&#10;&#10;w = € 24&#10;Lᵥ = 36 personen">
            <a:extLst xmlns:a="http://schemas.openxmlformats.org/drawingml/2006/main">
              <a:ext uri="{FF2B5EF4-FFF2-40B4-BE49-F238E27FC236}">
                <a16:creationId xmlns:a16="http://schemas.microsoft.com/office/drawing/2014/main" id="{6094018F-CFC7-45A1-B455-DFE7643ADFD0}"/>
              </a:ext>
            </a:extLst>
          </p:cNvPr>
          <p:cNvSpPr>
            <a:spLocks xmlns:a="http://schemas.openxmlformats.org/drawingml/2006/main" noGrp="1"/>
          </p:cNvSpPr>
          <p:nvPr/>
        </p:nvSpPr>
        <p:spPr>
          <a:xfrm xmlns:a="http://schemas.openxmlformats.org/drawingml/2006/main">
            <a:off x="10953750" y="3638550"/>
            <a:ext cx="3714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 =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Lᵥ = 108 personen</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 = € 24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Lᵥ = 36 personen</a:t>
            </a:r>
          </a:p>
        </p:txBody>
      </p:sp>
      <p:sp>
        <p:nvSpPr>
          <p:cNvPr id="9" name="Alleen het loon verandert.">
            <a:extLst xmlns:a="http://schemas.openxmlformats.org/drawingml/2006/main">
              <a:ext uri="{FF2B5EF4-FFF2-40B4-BE49-F238E27FC236}">
                <a16:creationId xmlns:a16="http://schemas.microsoft.com/office/drawing/2014/main" id="{C93D7832-3093-47F8-AAE4-62BD63E8C5A9}"/>
              </a:ext>
            </a:extLst>
          </p:cNvPr>
          <p:cNvSpPr>
            <a:spLocks xmlns:a="http://schemas.openxmlformats.org/drawingml/2006/main" noGrp="1"/>
          </p:cNvSpPr>
          <p:nvPr/>
        </p:nvSpPr>
        <p:spPr>
          <a:xfrm xmlns:a="http://schemas.openxmlformats.org/drawingml/2006/main">
            <a:off x="10953750" y="6753225"/>
            <a:ext cx="3714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Alleen het loon verandert.</a:t>
            </a:r>
          </a:p>
        </p:txBody>
      </p:sp>
    </p:spTree>
    <p:extLst>
      <p:ext uri="{BB962C8B-B14F-4D97-AF65-F5344CB8AC3E}">
        <p14:creationId xmlns:p14="http://schemas.microsoft.com/office/powerpoint/2010/main" val="11131332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rbeidsaanbod bij verschillende lonen">
            <a:extLst xmlns:a="http://schemas.openxmlformats.org/drawingml/2006/main">
              <a:ext uri="{FF2B5EF4-FFF2-40B4-BE49-F238E27FC236}">
                <a16:creationId xmlns:a16="http://schemas.microsoft.com/office/drawing/2014/main" id="{DBA14622-2A81-4B11-846A-11F9FF168285}"/>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Arbeidsaanbod bij verschillende lonen</a:t>
            </a:r>
          </a:p>
        </p:txBody>
      </p:sp>
      <p:sp>
        <p:nvSpPr>
          <p:cNvPr id="2" name="">
            <a:extLst xmlns:a="http://schemas.openxmlformats.org/drawingml/2006/main">
              <a:ext uri="{FF2B5EF4-FFF2-40B4-BE49-F238E27FC236}">
                <a16:creationId xmlns:a16="http://schemas.microsoft.com/office/drawing/2014/main" id="{E74224A9-12AA-40F9-955F-F47A8C906B7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5D9727BA-D294-468F-8348-E44E2284556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0">
            <a:extLst xmlns:a="http://schemas.openxmlformats.org/drawingml/2006/main">
              <a:ext uri="{FF2B5EF4-FFF2-40B4-BE49-F238E27FC236}">
                <a16:creationId xmlns:a16="http://schemas.microsoft.com/office/drawing/2014/main" id="{E1899634-0845-419F-AD96-57B90FB8E3B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73935A71-9B56-4085-A33E-A995F0ADDFDF}"/>
              </a:ext>
            </a:extLst>
          </p:cNvPr>
          <p:cNvSpPr>
            <a:spLocks xmlns:a="http://schemas.openxmlformats.org/drawingml/2006/main" noGrp="1"/>
          </p:cNvSpPr>
          <p:nvPr/>
        </p:nvSpPr>
        <p:spPr>
          <a:xfrm xmlns:a="http://schemas.openxmlformats.org/drawingml/2006/main">
            <a:off x="571500" y="16859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38375"/>
          <a:ext xmlns:a="http://schemas.openxmlformats.org/drawingml/2006/main" cx="10001250" cy="5334000"/>
        </p:xfrm>
        <a:graphic xmlns:a="http://schemas.openxmlformats.org/drawingml/2006/main">
          <a:graphicData uri="http://schemas.openxmlformats.org/drawingml/2006/chart">
            <c:chart xmlns:r="http://schemas.openxmlformats.org/officeDocument/2006/relationships" xmlns:c="http://schemas.openxmlformats.org/drawingml/2006/chart" r:id="Rb1afe2017b6143c1"/>
          </a:graphicData>
        </a:graphic>
      </p:graphicFrame>
      <p:sp>
        <p:nvSpPr>
          <p:cNvPr id="7" name="Lₐ = −36 + 6w">
            <a:extLst xmlns:a="http://schemas.openxmlformats.org/drawingml/2006/main">
              <a:ext uri="{FF2B5EF4-FFF2-40B4-BE49-F238E27FC236}">
                <a16:creationId xmlns:a16="http://schemas.microsoft.com/office/drawing/2014/main" id="{D33BC8A2-719A-413F-9F61-F86EF6B18B6F}"/>
              </a:ext>
            </a:extLst>
          </p:cNvPr>
          <p:cNvSpPr>
            <a:spLocks xmlns:a="http://schemas.openxmlformats.org/drawingml/2006/main" noGrp="1"/>
          </p:cNvSpPr>
          <p:nvPr/>
        </p:nvSpPr>
        <p:spPr>
          <a:xfrm xmlns:a="http://schemas.openxmlformats.org/drawingml/2006/main">
            <a:off x="10953750" y="254317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E7449"/>
                </a:solidFill>
                <a:latin typeface="Arial"/>
                <a:ea typeface="Arial"/>
                <a:cs typeface="Arial"/>
              </a:defRPr>
            </a:pPr>
            <a:r>
              <a:rPr sz="2850" b="1">
                <a:solidFill>
                  <a:srgbClr val="1E7449"/>
                </a:solidFill>
                <a:latin typeface="Arial"/>
                <a:ea typeface="Arial"/>
                <a:cs typeface="Arial"/>
              </a:rPr>
              <a:t>Lₐ = −36 + 6w</a:t>
            </a:r>
          </a:p>
        </p:txBody>
      </p:sp>
      <p:sp>
        <p:nvSpPr>
          <p:cNvPr id="8" name="w = € 12&#10;Lₐ = 36 personen&#10;&#10;w = € 24&#10;Lₐ = 108 personen">
            <a:extLst xmlns:a="http://schemas.openxmlformats.org/drawingml/2006/main">
              <a:ext uri="{FF2B5EF4-FFF2-40B4-BE49-F238E27FC236}">
                <a16:creationId xmlns:a16="http://schemas.microsoft.com/office/drawing/2014/main" id="{C8781C18-8C0A-4B12-A0EE-462F70387ED4}"/>
              </a:ext>
            </a:extLst>
          </p:cNvPr>
          <p:cNvSpPr>
            <a:spLocks xmlns:a="http://schemas.openxmlformats.org/drawingml/2006/main" noGrp="1"/>
          </p:cNvSpPr>
          <p:nvPr/>
        </p:nvSpPr>
        <p:spPr>
          <a:xfrm xmlns:a="http://schemas.openxmlformats.org/drawingml/2006/main">
            <a:off x="10953750" y="3638550"/>
            <a:ext cx="3714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 =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Lₐ = 36 personen</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 = € 24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Lₐ = 108 personen</a:t>
            </a:r>
          </a:p>
        </p:txBody>
      </p:sp>
      <p:sp>
        <p:nvSpPr>
          <p:cNvPr id="9" name="Stijgende aanbodlijn in dit model">
            <a:extLst xmlns:a="http://schemas.openxmlformats.org/drawingml/2006/main">
              <a:ext uri="{FF2B5EF4-FFF2-40B4-BE49-F238E27FC236}">
                <a16:creationId xmlns:a16="http://schemas.microsoft.com/office/drawing/2014/main" id="{F00CC61D-B41C-4D4A-BA2E-4A59B3742645}"/>
              </a:ext>
            </a:extLst>
          </p:cNvPr>
          <p:cNvSpPr>
            <a:spLocks xmlns:a="http://schemas.openxmlformats.org/drawingml/2006/main" noGrp="1"/>
          </p:cNvSpPr>
          <p:nvPr/>
        </p:nvSpPr>
        <p:spPr>
          <a:xfrm xmlns:a="http://schemas.openxmlformats.org/drawingml/2006/main">
            <a:off x="10953750" y="6753225"/>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Stijgende aanbodlijn in dit model</a:t>
            </a:r>
          </a:p>
        </p:txBody>
      </p:sp>
    </p:spTree>
    <p:extLst>
      <p:ext uri="{BB962C8B-B14F-4D97-AF65-F5344CB8AC3E}">
        <p14:creationId xmlns:p14="http://schemas.microsoft.com/office/powerpoint/2010/main" val="14058419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venwicht: gelijkstellen en terug invullen">
            <a:extLst xmlns:a="http://schemas.openxmlformats.org/drawingml/2006/main">
              <a:ext uri="{FF2B5EF4-FFF2-40B4-BE49-F238E27FC236}">
                <a16:creationId xmlns:a16="http://schemas.microsoft.com/office/drawing/2014/main" id="{59094CC9-9443-4AC2-87CC-D81E98723977}"/>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Evenwicht: gelijkstellen en terug invullen</a:t>
            </a:r>
          </a:p>
        </p:txBody>
      </p:sp>
      <p:sp>
        <p:nvSpPr>
          <p:cNvPr id="2" name="">
            <a:extLst xmlns:a="http://schemas.openxmlformats.org/drawingml/2006/main">
              <a:ext uri="{FF2B5EF4-FFF2-40B4-BE49-F238E27FC236}">
                <a16:creationId xmlns:a16="http://schemas.microsoft.com/office/drawing/2014/main" id="{6ECF7A39-6C96-4AD8-BA27-DFBAB3BEAC8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5B088426-5D62-45E1-A95F-BB729985EB7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1">
            <a:extLst xmlns:a="http://schemas.openxmlformats.org/drawingml/2006/main">
              <a:ext uri="{FF2B5EF4-FFF2-40B4-BE49-F238E27FC236}">
                <a16:creationId xmlns:a16="http://schemas.microsoft.com/office/drawing/2014/main" id="{A0808B37-1F6B-4528-B532-1707435D19B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D05665B8-AEF7-48A9-8FC1-D53315FBCBFA}"/>
              </a:ext>
            </a:extLst>
          </p:cNvPr>
          <p:cNvSpPr>
            <a:spLocks xmlns:a="http://schemas.openxmlformats.org/drawingml/2006/main" noGrp="1"/>
          </p:cNvSpPr>
          <p:nvPr/>
        </p:nvSpPr>
        <p:spPr>
          <a:xfrm xmlns:a="http://schemas.openxmlformats.org/drawingml/2006/main">
            <a:off x="571500" y="16859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sp>
        <p:nvSpPr>
          <p:cNvPr id="6" name="Gelijkstellen">
            <a:extLst xmlns:a="http://schemas.openxmlformats.org/drawingml/2006/main">
              <a:ext uri="{FF2B5EF4-FFF2-40B4-BE49-F238E27FC236}">
                <a16:creationId xmlns:a16="http://schemas.microsoft.com/office/drawing/2014/main" id="{B9546FBD-8886-4B60-9177-D150C09E1A0B}"/>
              </a:ext>
            </a:extLst>
          </p:cNvPr>
          <p:cNvSpPr>
            <a:spLocks xmlns:a="http://schemas.openxmlformats.org/drawingml/2006/main" noGrp="1"/>
          </p:cNvSpPr>
          <p:nvPr/>
        </p:nvSpPr>
        <p:spPr>
          <a:xfrm xmlns:a="http://schemas.openxmlformats.org/drawingml/2006/main">
            <a:off x="571500" y="260985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Gelijkstellen</a:t>
            </a:r>
          </a:p>
        </p:txBody>
      </p:sp>
      <p:sp>
        <p:nvSpPr>
          <p:cNvPr id="7" name="180 − 6w = −36 + 6w">
            <a:extLst xmlns:a="http://schemas.openxmlformats.org/drawingml/2006/main">
              <a:ext uri="{FF2B5EF4-FFF2-40B4-BE49-F238E27FC236}">
                <a16:creationId xmlns:a16="http://schemas.microsoft.com/office/drawing/2014/main" id="{36A66CB6-E198-4749-B09F-9F1AA9844CE3}"/>
              </a:ext>
            </a:extLst>
          </p:cNvPr>
          <p:cNvSpPr>
            <a:spLocks xmlns:a="http://schemas.openxmlformats.org/drawingml/2006/main" noGrp="1"/>
          </p:cNvSpPr>
          <p:nvPr/>
        </p:nvSpPr>
        <p:spPr>
          <a:xfrm xmlns:a="http://schemas.openxmlformats.org/drawingml/2006/main">
            <a:off x="4429125" y="26098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180 − 6w = −36 + 6w</a:t>
            </a:r>
          </a:p>
        </p:txBody>
      </p:sp>
      <p:sp>
        <p:nvSpPr>
          <p:cNvPr id="8" name="">
            <a:extLst xmlns:a="http://schemas.openxmlformats.org/drawingml/2006/main">
              <a:ext uri="{FF2B5EF4-FFF2-40B4-BE49-F238E27FC236}">
                <a16:creationId xmlns:a16="http://schemas.microsoft.com/office/drawing/2014/main" id="{857D56CD-1105-4009-A2F6-F2E67369B8AD}"/>
              </a:ext>
            </a:extLst>
          </p:cNvPr>
          <p:cNvSpPr>
            <a:spLocks xmlns:a="http://schemas.openxmlformats.org/drawingml/2006/main" noGrp="1"/>
          </p:cNvSpPr>
          <p:nvPr/>
        </p:nvSpPr>
        <p:spPr>
          <a:xfrm xmlns:a="http://schemas.openxmlformats.org/drawingml/2006/main">
            <a:off x="571500" y="3476625"/>
            <a:ext cx="14097000" cy="0"/>
          </a:xfrm>
          <a:prstGeom xmlns:a="http://schemas.openxmlformats.org/drawingml/2006/main" prst="line">
            <a:avLst/>
          </a:prstGeom>
          <a:ln xmlns:a="http://schemas.openxmlformats.org/drawingml/2006/main" w="19050">
            <a:solidFill>
              <a:srgbClr val="C6D2DB"/>
            </a:solidFill>
          </a:ln>
        </p:spPr>
      </p:sp>
      <p:sp>
        <p:nvSpPr>
          <p:cNvPr id="9" name="Oplossen">
            <a:extLst xmlns:a="http://schemas.openxmlformats.org/drawingml/2006/main">
              <a:ext uri="{FF2B5EF4-FFF2-40B4-BE49-F238E27FC236}">
                <a16:creationId xmlns:a16="http://schemas.microsoft.com/office/drawing/2014/main" id="{7AD6C906-F3D0-42DA-8905-5B744F77B774}"/>
              </a:ext>
            </a:extLst>
          </p:cNvPr>
          <p:cNvSpPr>
            <a:spLocks xmlns:a="http://schemas.openxmlformats.org/drawingml/2006/main" noGrp="1"/>
          </p:cNvSpPr>
          <p:nvPr/>
        </p:nvSpPr>
        <p:spPr>
          <a:xfrm xmlns:a="http://schemas.openxmlformats.org/drawingml/2006/main">
            <a:off x="571500" y="380047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Oplossen</a:t>
            </a:r>
          </a:p>
        </p:txBody>
      </p:sp>
      <p:sp>
        <p:nvSpPr>
          <p:cNvPr id="10" name="216 = 12w, dus w = € 18 per uur">
            <a:extLst xmlns:a="http://schemas.openxmlformats.org/drawingml/2006/main">
              <a:ext uri="{FF2B5EF4-FFF2-40B4-BE49-F238E27FC236}">
                <a16:creationId xmlns:a16="http://schemas.microsoft.com/office/drawing/2014/main" id="{3331EF8D-DFAB-4F91-A298-F1A7531FFE71}"/>
              </a:ext>
            </a:extLst>
          </p:cNvPr>
          <p:cNvSpPr>
            <a:spLocks xmlns:a="http://schemas.openxmlformats.org/drawingml/2006/main" noGrp="1"/>
          </p:cNvSpPr>
          <p:nvPr/>
        </p:nvSpPr>
        <p:spPr>
          <a:xfrm xmlns:a="http://schemas.openxmlformats.org/drawingml/2006/main">
            <a:off x="4429125" y="38004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216 = 12w, dus w = € 18 per uur</a:t>
            </a:r>
          </a:p>
        </p:txBody>
      </p:sp>
      <p:sp>
        <p:nvSpPr>
          <p:cNvPr id="11" name="">
            <a:extLst xmlns:a="http://schemas.openxmlformats.org/drawingml/2006/main">
              <a:ext uri="{FF2B5EF4-FFF2-40B4-BE49-F238E27FC236}">
                <a16:creationId xmlns:a16="http://schemas.microsoft.com/office/drawing/2014/main" id="{BAEEFA5F-7BAF-4D10-8F51-5B82AE91E37B}"/>
              </a:ext>
            </a:extLst>
          </p:cNvPr>
          <p:cNvSpPr>
            <a:spLocks xmlns:a="http://schemas.openxmlformats.org/drawingml/2006/main" noGrp="1"/>
          </p:cNvSpPr>
          <p:nvPr/>
        </p:nvSpPr>
        <p:spPr>
          <a:xfrm xmlns:a="http://schemas.openxmlformats.org/drawingml/2006/main">
            <a:off x="571500" y="4667250"/>
            <a:ext cx="14097000" cy="0"/>
          </a:xfrm>
          <a:prstGeom xmlns:a="http://schemas.openxmlformats.org/drawingml/2006/main" prst="line">
            <a:avLst/>
          </a:prstGeom>
          <a:ln xmlns:a="http://schemas.openxmlformats.org/drawingml/2006/main" w="19050">
            <a:solidFill>
              <a:srgbClr val="C6D2DB"/>
            </a:solidFill>
          </a:ln>
        </p:spPr>
      </p:sp>
      <p:sp>
        <p:nvSpPr>
          <p:cNvPr id="12" name="Invullen">
            <a:extLst xmlns:a="http://schemas.openxmlformats.org/drawingml/2006/main">
              <a:ext uri="{FF2B5EF4-FFF2-40B4-BE49-F238E27FC236}">
                <a16:creationId xmlns:a16="http://schemas.microsoft.com/office/drawing/2014/main" id="{D28FA7E4-688F-46ED-88AB-03792B3A344B}"/>
              </a:ext>
            </a:extLst>
          </p:cNvPr>
          <p:cNvSpPr>
            <a:spLocks xmlns:a="http://schemas.openxmlformats.org/drawingml/2006/main" noGrp="1"/>
          </p:cNvSpPr>
          <p:nvPr/>
        </p:nvSpPr>
        <p:spPr>
          <a:xfrm xmlns:a="http://schemas.openxmlformats.org/drawingml/2006/main">
            <a:off x="571500" y="4991100"/>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Invullen</a:t>
            </a:r>
          </a:p>
        </p:txBody>
      </p:sp>
      <p:sp>
        <p:nvSpPr>
          <p:cNvPr id="13" name="Lᵥ = 180 − 6 × 18 = 72 personen">
            <a:extLst xmlns:a="http://schemas.openxmlformats.org/drawingml/2006/main">
              <a:ext uri="{FF2B5EF4-FFF2-40B4-BE49-F238E27FC236}">
                <a16:creationId xmlns:a16="http://schemas.microsoft.com/office/drawing/2014/main" id="{F1B3F497-FC1C-4F4D-B059-A22DC6BB6067}"/>
              </a:ext>
            </a:extLst>
          </p:cNvPr>
          <p:cNvSpPr>
            <a:spLocks xmlns:a="http://schemas.openxmlformats.org/drawingml/2006/main" noGrp="1"/>
          </p:cNvSpPr>
          <p:nvPr/>
        </p:nvSpPr>
        <p:spPr>
          <a:xfrm xmlns:a="http://schemas.openxmlformats.org/drawingml/2006/main">
            <a:off x="4429125" y="49911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Lᵥ = 180 − 6 × 18 = 72 personen</a:t>
            </a:r>
          </a:p>
        </p:txBody>
      </p:sp>
      <p:sp>
        <p:nvSpPr>
          <p:cNvPr id="14" name="">
            <a:extLst xmlns:a="http://schemas.openxmlformats.org/drawingml/2006/main">
              <a:ext uri="{FF2B5EF4-FFF2-40B4-BE49-F238E27FC236}">
                <a16:creationId xmlns:a16="http://schemas.microsoft.com/office/drawing/2014/main" id="{6C33BFA6-7825-4FC1-92A7-6B5D0712662E}"/>
              </a:ext>
            </a:extLst>
          </p:cNvPr>
          <p:cNvSpPr>
            <a:spLocks xmlns:a="http://schemas.openxmlformats.org/drawingml/2006/main" noGrp="1"/>
          </p:cNvSpPr>
          <p:nvPr/>
        </p:nvSpPr>
        <p:spPr>
          <a:xfrm xmlns:a="http://schemas.openxmlformats.org/drawingml/2006/main">
            <a:off x="571500" y="5857875"/>
            <a:ext cx="14097000" cy="0"/>
          </a:xfrm>
          <a:prstGeom xmlns:a="http://schemas.openxmlformats.org/drawingml/2006/main" prst="line">
            <a:avLst/>
          </a:prstGeom>
          <a:ln xmlns:a="http://schemas.openxmlformats.org/drawingml/2006/main" w="19050">
            <a:solidFill>
              <a:srgbClr val="C6D2DB"/>
            </a:solidFill>
          </a:ln>
        </p:spPr>
      </p:sp>
      <p:sp>
        <p:nvSpPr>
          <p:cNvPr id="15" name="Controleren">
            <a:extLst xmlns:a="http://schemas.openxmlformats.org/drawingml/2006/main">
              <a:ext uri="{FF2B5EF4-FFF2-40B4-BE49-F238E27FC236}">
                <a16:creationId xmlns:a16="http://schemas.microsoft.com/office/drawing/2014/main" id="{3791F969-4EFC-4459-8957-533D322C67B3}"/>
              </a:ext>
            </a:extLst>
          </p:cNvPr>
          <p:cNvSpPr>
            <a:spLocks xmlns:a="http://schemas.openxmlformats.org/drawingml/2006/main" noGrp="1"/>
          </p:cNvSpPr>
          <p:nvPr/>
        </p:nvSpPr>
        <p:spPr>
          <a:xfrm xmlns:a="http://schemas.openxmlformats.org/drawingml/2006/main">
            <a:off x="571500" y="618172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Controleren</a:t>
            </a:r>
          </a:p>
        </p:txBody>
      </p:sp>
      <p:sp>
        <p:nvSpPr>
          <p:cNvPr id="16" name="Lₐ = −36 + 6 × 18 = 72 personen">
            <a:extLst xmlns:a="http://schemas.openxmlformats.org/drawingml/2006/main">
              <a:ext uri="{FF2B5EF4-FFF2-40B4-BE49-F238E27FC236}">
                <a16:creationId xmlns:a16="http://schemas.microsoft.com/office/drawing/2014/main" id="{359537E2-7055-4287-A4D8-3D52E66412E2}"/>
              </a:ext>
            </a:extLst>
          </p:cNvPr>
          <p:cNvSpPr>
            <a:spLocks xmlns:a="http://schemas.openxmlformats.org/drawingml/2006/main" noGrp="1"/>
          </p:cNvSpPr>
          <p:nvPr/>
        </p:nvSpPr>
        <p:spPr>
          <a:xfrm xmlns:a="http://schemas.openxmlformats.org/drawingml/2006/main">
            <a:off x="4429125" y="61817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Lₐ = −36 + 6 × 18 = 72 personen</a:t>
            </a:r>
          </a:p>
        </p:txBody>
      </p:sp>
      <p:sp>
        <p:nvSpPr>
          <p:cNvPr id="17" name="€ 18 ligt binnen het domein van € 6 tot en met € 30.">
            <a:extLst xmlns:a="http://schemas.openxmlformats.org/drawingml/2006/main">
              <a:ext uri="{FF2B5EF4-FFF2-40B4-BE49-F238E27FC236}">
                <a16:creationId xmlns:a16="http://schemas.microsoft.com/office/drawing/2014/main" id="{2B3788B9-BA80-452B-A260-C32B6347D88E}"/>
              </a:ext>
            </a:extLst>
          </p:cNvPr>
          <p:cNvSpPr>
            <a:spLocks xmlns:a="http://schemas.openxmlformats.org/drawingml/2006/main" noGrp="1"/>
          </p:cNvSpPr>
          <p:nvPr/>
        </p:nvSpPr>
        <p:spPr>
          <a:xfrm xmlns:a="http://schemas.openxmlformats.org/drawingml/2006/main">
            <a:off x="571500" y="75628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€ 18 ligt binnen het domein van € 6 tot en met € 30.</a:t>
            </a:r>
          </a:p>
        </p:txBody>
      </p:sp>
    </p:spTree>
    <p:extLst>
      <p:ext uri="{BB962C8B-B14F-4D97-AF65-F5344CB8AC3E}">
        <p14:creationId xmlns:p14="http://schemas.microsoft.com/office/powerpoint/2010/main" val="16579445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evenwicht tekenen">
            <a:extLst xmlns:a="http://schemas.openxmlformats.org/drawingml/2006/main">
              <a:ext uri="{FF2B5EF4-FFF2-40B4-BE49-F238E27FC236}">
                <a16:creationId xmlns:a16="http://schemas.microsoft.com/office/drawing/2014/main" id="{EB9B03C1-1C67-475C-A79E-2C0DBD80FFDA}"/>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evenwicht tekenen</a:t>
            </a:r>
          </a:p>
        </p:txBody>
      </p:sp>
      <p:sp>
        <p:nvSpPr>
          <p:cNvPr id="2" name="">
            <a:extLst xmlns:a="http://schemas.openxmlformats.org/drawingml/2006/main">
              <a:ext uri="{FF2B5EF4-FFF2-40B4-BE49-F238E27FC236}">
                <a16:creationId xmlns:a16="http://schemas.microsoft.com/office/drawing/2014/main" id="{610AD34A-094B-46F1-A150-BB9A8618718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6EF41844-D6AE-4161-BB73-66F45AC825A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2">
            <a:extLst xmlns:a="http://schemas.openxmlformats.org/drawingml/2006/main">
              <a:ext uri="{FF2B5EF4-FFF2-40B4-BE49-F238E27FC236}">
                <a16:creationId xmlns:a16="http://schemas.microsoft.com/office/drawing/2014/main" id="{CD2399AA-3453-430A-ABC9-6A4AFB6A72C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4BB2CB43-25E1-4197-9406-0D3A45758484}"/>
              </a:ext>
            </a:extLst>
          </p:cNvPr>
          <p:cNvSpPr>
            <a:spLocks xmlns:a="http://schemas.openxmlformats.org/drawingml/2006/main" noGrp="1"/>
          </p:cNvSpPr>
          <p:nvPr/>
        </p:nvSpPr>
        <p:spPr>
          <a:xfrm xmlns:a="http://schemas.openxmlformats.org/drawingml/2006/main">
            <a:off x="571500" y="16859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38375"/>
          <a:ext xmlns:a="http://schemas.openxmlformats.org/drawingml/2006/main" cx="10001250" cy="5334000"/>
        </p:xfrm>
        <a:graphic xmlns:a="http://schemas.openxmlformats.org/drawingml/2006/main">
          <a:graphicData uri="http://schemas.openxmlformats.org/drawingml/2006/chart">
            <c:chart xmlns:r="http://schemas.openxmlformats.org/officeDocument/2006/relationships" xmlns:c="http://schemas.openxmlformats.org/drawingml/2006/chart" r:id="Rf60ddd58a89a4599"/>
          </a:graphicData>
        </a:graphic>
      </p:graphicFrame>
      <p:sp>
        <p:nvSpPr>
          <p:cNvPr id="7" name="E = (72; 18)">
            <a:extLst xmlns:a="http://schemas.openxmlformats.org/drawingml/2006/main">
              <a:ext uri="{FF2B5EF4-FFF2-40B4-BE49-F238E27FC236}">
                <a16:creationId xmlns:a16="http://schemas.microsoft.com/office/drawing/2014/main" id="{529CF80E-A4CE-4B93-A46A-2E00368E335F}"/>
              </a:ext>
            </a:extLst>
          </p:cNvPr>
          <p:cNvSpPr>
            <a:spLocks xmlns:a="http://schemas.openxmlformats.org/drawingml/2006/main" noGrp="1"/>
          </p:cNvSpPr>
          <p:nvPr/>
        </p:nvSpPr>
        <p:spPr>
          <a:xfrm xmlns:a="http://schemas.openxmlformats.org/drawingml/2006/main">
            <a:off x="10953750" y="2695575"/>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E = (72; 18)</a:t>
            </a:r>
          </a:p>
        </p:txBody>
      </p:sp>
      <p:sp>
        <p:nvSpPr>
          <p:cNvPr id="8" name="Horizontaal&#10;72 personen&#10;&#10;Verticaal&#10;€ 18 per uur">
            <a:extLst xmlns:a="http://schemas.openxmlformats.org/drawingml/2006/main">
              <a:ext uri="{FF2B5EF4-FFF2-40B4-BE49-F238E27FC236}">
                <a16:creationId xmlns:a16="http://schemas.microsoft.com/office/drawing/2014/main" id="{06689B2D-4A6E-4CE7-AD79-3CAFA48FD6E7}"/>
              </a:ext>
            </a:extLst>
          </p:cNvPr>
          <p:cNvSpPr>
            <a:spLocks xmlns:a="http://schemas.openxmlformats.org/drawingml/2006/main" noGrp="1"/>
          </p:cNvSpPr>
          <p:nvPr/>
        </p:nvSpPr>
        <p:spPr>
          <a:xfrm xmlns:a="http://schemas.openxmlformats.org/drawingml/2006/main">
            <a:off x="10953750" y="3905250"/>
            <a:ext cx="37147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Horizontaal</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72 personen</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Verticaal</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€ 18 per uur</a:t>
            </a:r>
          </a:p>
        </p:txBody>
      </p:sp>
      <p:sp>
        <p:nvSpPr>
          <p:cNvPr id="9" name="72 passende matches">
            <a:extLst xmlns:a="http://schemas.openxmlformats.org/drawingml/2006/main">
              <a:ext uri="{FF2B5EF4-FFF2-40B4-BE49-F238E27FC236}">
                <a16:creationId xmlns:a16="http://schemas.microsoft.com/office/drawing/2014/main" id="{EB7009A4-5271-4600-9364-BD69ACC94995}"/>
              </a:ext>
            </a:extLst>
          </p:cNvPr>
          <p:cNvSpPr>
            <a:spLocks xmlns:a="http://schemas.openxmlformats.org/drawingml/2006/main" noGrp="1"/>
          </p:cNvSpPr>
          <p:nvPr/>
        </p:nvSpPr>
        <p:spPr>
          <a:xfrm xmlns:a="http://schemas.openxmlformats.org/drawingml/2006/main">
            <a:off x="10953750" y="6924675"/>
            <a:ext cx="3714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72 passende matches</a:t>
            </a:r>
          </a:p>
        </p:txBody>
      </p:sp>
    </p:spTree>
    <p:extLst>
      <p:ext uri="{BB962C8B-B14F-4D97-AF65-F5344CB8AC3E}">
        <p14:creationId xmlns:p14="http://schemas.microsoft.com/office/powerpoint/2010/main" val="4406080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giotelling en sectormodel">
            <a:extLst xmlns:a="http://schemas.openxmlformats.org/drawingml/2006/main">
              <a:ext uri="{FF2B5EF4-FFF2-40B4-BE49-F238E27FC236}">
                <a16:creationId xmlns:a16="http://schemas.microsoft.com/office/drawing/2014/main" id="{7D4E0C17-76DF-4D36-896D-B6FA29B21235}"/>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Regiotelling en sectormodel</a:t>
            </a:r>
          </a:p>
        </p:txBody>
      </p:sp>
      <p:sp>
        <p:nvSpPr>
          <p:cNvPr id="2" name="">
            <a:extLst xmlns:a="http://schemas.openxmlformats.org/drawingml/2006/main">
              <a:ext uri="{FF2B5EF4-FFF2-40B4-BE49-F238E27FC236}">
                <a16:creationId xmlns:a16="http://schemas.microsoft.com/office/drawing/2014/main" id="{222DF20A-8580-4540-B500-A268A44780C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F60DEC5E-7ABF-4257-B831-32CD4355721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3">
            <a:extLst xmlns:a="http://schemas.openxmlformats.org/drawingml/2006/main">
              <a:ext uri="{FF2B5EF4-FFF2-40B4-BE49-F238E27FC236}">
                <a16:creationId xmlns:a16="http://schemas.microsoft.com/office/drawing/2014/main" id="{F2A756D1-219E-4E21-8F1D-F82FDC7D44C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9D6E94CF-B110-44A3-B319-03B5A4756A81}"/>
              </a:ext>
            </a:extLst>
          </p:cNvPr>
          <p:cNvSpPr>
            <a:spLocks xmlns:a="http://schemas.openxmlformats.org/drawingml/2006/main" noGrp="1"/>
          </p:cNvSpPr>
          <p:nvPr/>
        </p:nvSpPr>
        <p:spPr>
          <a:xfrm xmlns:a="http://schemas.openxmlformats.org/drawingml/2006/main">
            <a:off x="571500" y="168592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609850"/>
          <a:ext xmlns:a="http://schemas.openxmlformats.org/drawingml/2006/main" cx="14097000" cy="3524250"/>
        </p:xfrm>
        <a:graphic xmlns:a="http://schemas.openxmlformats.org/drawingml/2006/main">
          <a:graphicData uri="http://schemas.openxmlformats.org/drawingml/2006/table">
            <a:tbl>
              <a:tblPr/>
              <a:tblGrid>
                <a:gridCol w="7048500"/>
                <a:gridCol w="7048500"/>
              </a:tblGrid>
              <a:tr h="881063">
                <a:tc>
                  <a:txBody>
                    <a:bodyPr lIns="171450" tIns="95250" rIns="133350" bIns="95250"/>
                    <a:lstStyle/>
                    <a:p>
                      <a:r>
                        <a:rPr sz="2550" b="1">
                          <a:solidFill>
                            <a:srgbClr val="FFFFFF"/>
                          </a:solidFill>
                          <a:latin typeface="Arial"/>
                          <a:ea typeface="Arial"/>
                          <a:cs typeface="Arial"/>
                        </a:rPr>
                        <a:t>Dijkstad: waargenomen telling</a:t>
                      </a:r>
                    </a:p>
                  </a:txBody>
                  <a:tcPr marL="91440" marR="91440" marT="45720" marB="45720" anchor="ctr">
                    <a:solidFill>
                      <a:srgbClr val="183247"/>
                    </a:solidFill>
                  </a:tcPr>
                </a:tc>
                <a:tc>
                  <a:txBody>
                    <a:bodyPr lIns="171450" tIns="95250" rIns="133350" bIns="95250"/>
                    <a:lstStyle/>
                    <a:p>
                      <a:r>
                        <a:rPr sz="2550" b="1">
                          <a:solidFill>
                            <a:srgbClr val="FFFFFF"/>
                          </a:solidFill>
                          <a:latin typeface="Arial"/>
                          <a:ea typeface="Arial"/>
                          <a:cs typeface="Arial"/>
                        </a:rPr>
                        <a:t>Baliemedewerkers: vereenvoudigd model</a:t>
                      </a:r>
                    </a:p>
                  </a:txBody>
                  <a:tcPr marL="91440" marR="91440" marT="45720" marB="45720" anchor="ctr">
                    <a:solidFill>
                      <a:srgbClr val="183247"/>
                    </a:solidFill>
                  </a:tcPr>
                </a:tc>
              </a:tr>
              <a:tr h="881063">
                <a:tc>
                  <a:txBody>
                    <a:bodyPr lIns="171450" tIns="95250" rIns="133350" bIns="95250"/>
                    <a:lstStyle/>
                    <a:p>
                      <a:r>
                        <a:rPr sz="2550" b="0">
                          <a:solidFill>
                            <a:srgbClr val="183247"/>
                          </a:solidFill>
                          <a:latin typeface="Arial"/>
                          <a:ea typeface="Arial"/>
                          <a:cs typeface="Arial"/>
                        </a:rPr>
                        <a:t>2.400 inwoners van 15 tot 75 jaar</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Personen met elk 20 uur per week</a:t>
                      </a:r>
                    </a:p>
                  </a:txBody>
                  <a:tcPr marL="91440" marR="91440" marT="45720" marB="45720" anchor="ctr">
                    <a:solidFill>
                      <a:srgbClr val="FFFFFF"/>
                    </a:solidFill>
                  </a:tcPr>
                </a:tc>
              </a:tr>
              <a:tr h="881063">
                <a:tc>
                  <a:txBody>
                    <a:bodyPr lIns="171450" tIns="95250" rIns="133350" bIns="95250"/>
                    <a:lstStyle/>
                    <a:p>
                      <a:r>
                        <a:rPr sz="2550" b="0">
                          <a:solidFill>
                            <a:srgbClr val="183247"/>
                          </a:solidFill>
                          <a:latin typeface="Arial"/>
                          <a:ea typeface="Arial"/>
                          <a:cs typeface="Arial"/>
                        </a:rPr>
                        <a:t>1.800 personen in de beroepsbevolking</a:t>
                      </a:r>
                    </a:p>
                  </a:txBody>
                  <a:tcPr marL="91440" marR="91440" marT="45720" marB="45720" anchor="ctr">
                    <a:solidFill>
                      <a:srgbClr val="EFF4F7"/>
                    </a:solidFill>
                  </a:tcPr>
                </a:tc>
                <a:tc>
                  <a:txBody>
                    <a:bodyPr lIns="171450" tIns="95250" rIns="133350" bIns="95250"/>
                    <a:lstStyle/>
                    <a:p>
                      <a:r>
                        <a:rPr sz="2550" b="0">
                          <a:solidFill>
                            <a:srgbClr val="183247"/>
                          </a:solidFill>
                          <a:latin typeface="Arial"/>
                          <a:ea typeface="Arial"/>
                          <a:cs typeface="Arial"/>
                        </a:rPr>
                        <a:t>72 personen werken bij € 18 per uur</a:t>
                      </a:r>
                    </a:p>
                  </a:txBody>
                  <a:tcPr marL="91440" marR="91440" marT="45720" marB="45720" anchor="ctr">
                    <a:solidFill>
                      <a:srgbClr val="EFF4F7"/>
                    </a:solidFill>
                  </a:tcPr>
                </a:tc>
              </a:tr>
              <a:tr h="881063">
                <a:tc>
                  <a:txBody>
                    <a:bodyPr lIns="171450" tIns="95250" rIns="133350" bIns="95250"/>
                    <a:lstStyle/>
                    <a:p>
                      <a:r>
                        <a:rPr sz="2550" b="0">
                          <a:solidFill>
                            <a:srgbClr val="183247"/>
                          </a:solidFill>
                          <a:latin typeface="Arial"/>
                          <a:ea typeface="Arial"/>
                          <a:cs typeface="Arial"/>
                        </a:rPr>
                        <a:t>Eén regio op een telmoment</a:t>
                      </a:r>
                    </a:p>
                  </a:txBody>
                  <a:tcPr marL="91440" marR="91440" marT="45720" marB="45720" anchor="ctr">
                    <a:solidFill>
                      <a:srgbClr val="FFFFFF"/>
                    </a:solidFill>
                  </a:tcPr>
                </a:tc>
                <a:tc>
                  <a:txBody>
                    <a:bodyPr lIns="171450" tIns="95250" rIns="133350" bIns="95250"/>
                    <a:lstStyle/>
                    <a:p>
                      <a:r>
                        <a:rPr sz="2550" b="0">
                          <a:solidFill>
                            <a:srgbClr val="183247"/>
                          </a:solidFill>
                          <a:latin typeface="Arial"/>
                          <a:ea typeface="Arial"/>
                          <a:cs typeface="Arial"/>
                        </a:rPr>
                        <a:t>Eén aparte markt bij modelaannamen</a:t>
                      </a:r>
                    </a:p>
                  </a:txBody>
                  <a:tcPr marL="91440" marR="91440" marT="45720" marB="45720" anchor="ctr">
                    <a:solidFill>
                      <a:srgbClr val="FFFFFF"/>
                    </a:solidFill>
                  </a:tcPr>
                </a:tc>
              </a:tr>
            </a:tbl>
          </a:graphicData>
        </a:graphic>
      </p:graphicFrame>
      <p:sp>
        <p:nvSpPr>
          <p:cNvPr id="7" name="72 personen vervangen de regiotelling van 1.800 personen nie">
            <a:extLst xmlns:a="http://schemas.openxmlformats.org/drawingml/2006/main">
              <a:ext uri="{FF2B5EF4-FFF2-40B4-BE49-F238E27FC236}">
                <a16:creationId xmlns:a16="http://schemas.microsoft.com/office/drawing/2014/main" id="{E6699BBD-23A8-4490-94D3-714808A7BDC3}"/>
              </a:ext>
            </a:extLst>
          </p:cNvPr>
          <p:cNvSpPr>
            <a:spLocks xmlns:a="http://schemas.openxmlformats.org/drawingml/2006/main" noGrp="1"/>
          </p:cNvSpPr>
          <p:nvPr/>
        </p:nvSpPr>
        <p:spPr>
          <a:xfrm xmlns:a="http://schemas.openxmlformats.org/drawingml/2006/main">
            <a:off x="571500" y="6924675"/>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72 personen vervangen de regiotelling van 1.800 personen niet.</a:t>
            </a:r>
          </a:p>
        </p:txBody>
      </p:sp>
    </p:spTree>
    <p:extLst>
      <p:ext uri="{BB962C8B-B14F-4D97-AF65-F5344CB8AC3E}">
        <p14:creationId xmlns:p14="http://schemas.microsoft.com/office/powerpoint/2010/main" val="14171746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controle vóór het oefenen">
            <a:extLst xmlns:a="http://schemas.openxmlformats.org/drawingml/2006/main">
              <a:ext uri="{FF2B5EF4-FFF2-40B4-BE49-F238E27FC236}">
                <a16:creationId xmlns:a16="http://schemas.microsoft.com/office/drawing/2014/main" id="{4E42AE4F-DD55-4F98-96E2-97E16A412304}"/>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 vóór het oefenen</a:t>
            </a:r>
          </a:p>
        </p:txBody>
      </p:sp>
      <p:sp>
        <p:nvSpPr>
          <p:cNvPr id="2" name="">
            <a:extLst xmlns:a="http://schemas.openxmlformats.org/drawingml/2006/main">
              <a:ext uri="{FF2B5EF4-FFF2-40B4-BE49-F238E27FC236}">
                <a16:creationId xmlns:a16="http://schemas.microsoft.com/office/drawing/2014/main" id="{218DA996-BF6F-45D3-B2B5-549F6D7A406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5DD9E44F-8769-4186-A81E-8A9575A8113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4">
            <a:extLst xmlns:a="http://schemas.openxmlformats.org/drawingml/2006/main">
              <a:ext uri="{FF2B5EF4-FFF2-40B4-BE49-F238E27FC236}">
                <a16:creationId xmlns:a16="http://schemas.microsoft.com/office/drawing/2014/main" id="{DAFCA296-EF56-4D3E-858F-3D35E33E8D5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Dijkstad">
            <a:extLst xmlns:a="http://schemas.openxmlformats.org/drawingml/2006/main">
              <a:ext uri="{FF2B5EF4-FFF2-40B4-BE49-F238E27FC236}">
                <a16:creationId xmlns:a16="http://schemas.microsoft.com/office/drawing/2014/main" id="{29D6C673-CBF2-477F-9963-B19686B7D1FC}"/>
              </a:ext>
            </a:extLst>
          </p:cNvPr>
          <p:cNvSpPr>
            <a:spLocks xmlns:a="http://schemas.openxmlformats.org/drawingml/2006/main" noGrp="1"/>
          </p:cNvSpPr>
          <p:nvPr/>
        </p:nvSpPr>
        <p:spPr>
          <a:xfrm xmlns:a="http://schemas.openxmlformats.org/drawingml/2006/main">
            <a:off x="571500" y="216217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Dijkstad</a:t>
            </a:r>
          </a:p>
        </p:txBody>
      </p:sp>
      <p:sp>
        <p:nvSpPr>
          <p:cNvPr id="6" name="Welke noemer hoort bij bruto én netto?&#10;Waarom telt iemand zo">
            <a:extLst xmlns:a="http://schemas.openxmlformats.org/drawingml/2006/main">
              <a:ext uri="{FF2B5EF4-FFF2-40B4-BE49-F238E27FC236}">
                <a16:creationId xmlns:a16="http://schemas.microsoft.com/office/drawing/2014/main" id="{278E10C0-ACE0-44F3-A206-9D3E61832A73}"/>
              </a:ext>
            </a:extLst>
          </p:cNvPr>
          <p:cNvSpPr>
            <a:spLocks xmlns:a="http://schemas.openxmlformats.org/drawingml/2006/main" noGrp="1"/>
          </p:cNvSpPr>
          <p:nvPr/>
        </p:nvSpPr>
        <p:spPr>
          <a:xfrm xmlns:a="http://schemas.openxmlformats.org/drawingml/2006/main">
            <a:off x="571500" y="3048000"/>
            <a:ext cx="13811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Welke noemer hoort bij bruto én netto?</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Waarom telt iemand zonder werk soms wel mee?</a:t>
            </a:r>
          </a:p>
        </p:txBody>
      </p:sp>
      <p:sp>
        <p:nvSpPr>
          <p:cNvPr id="7" name="">
            <a:extLst xmlns:a="http://schemas.openxmlformats.org/drawingml/2006/main">
              <a:ext uri="{FF2B5EF4-FFF2-40B4-BE49-F238E27FC236}">
                <a16:creationId xmlns:a16="http://schemas.microsoft.com/office/drawing/2014/main" id="{0521B565-CFD4-4E96-91C3-0EC0798BC3FA}"/>
              </a:ext>
            </a:extLst>
          </p:cNvPr>
          <p:cNvSpPr>
            <a:spLocks xmlns:a="http://schemas.openxmlformats.org/drawingml/2006/main" noGrp="1"/>
          </p:cNvSpPr>
          <p:nvPr/>
        </p:nvSpPr>
        <p:spPr>
          <a:xfrm xmlns:a="http://schemas.openxmlformats.org/drawingml/2006/main">
            <a:off x="571500" y="4743450"/>
            <a:ext cx="14097000" cy="0"/>
          </a:xfrm>
          <a:prstGeom xmlns:a="http://schemas.openxmlformats.org/drawingml/2006/main" prst="line">
            <a:avLst/>
          </a:prstGeom>
          <a:ln xmlns:a="http://schemas.openxmlformats.org/drawingml/2006/main" w="19050">
            <a:solidFill>
              <a:srgbClr val="C6D2DB"/>
            </a:solidFill>
          </a:ln>
        </p:spPr>
      </p:sp>
      <p:sp>
        <p:nvSpPr>
          <p:cNvPr id="8" name="Baliemedewerkers">
            <a:extLst xmlns:a="http://schemas.openxmlformats.org/drawingml/2006/main">
              <a:ext uri="{FF2B5EF4-FFF2-40B4-BE49-F238E27FC236}">
                <a16:creationId xmlns:a16="http://schemas.microsoft.com/office/drawing/2014/main" id="{62E8250A-FE47-4B86-8764-FC7591ECF7E5}"/>
              </a:ext>
            </a:extLst>
          </p:cNvPr>
          <p:cNvSpPr>
            <a:spLocks xmlns:a="http://schemas.openxmlformats.org/drawingml/2006/main" noGrp="1"/>
          </p:cNvSpPr>
          <p:nvPr/>
        </p:nvSpPr>
        <p:spPr>
          <a:xfrm xmlns:a="http://schemas.openxmlformats.org/drawingml/2006/main">
            <a:off x="571500" y="5153025"/>
            <a:ext cx="8572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E7449"/>
                </a:solidFill>
                <a:latin typeface="Arial"/>
                <a:ea typeface="Arial"/>
                <a:cs typeface="Arial"/>
              </a:defRPr>
            </a:pPr>
            <a:r>
              <a:rPr sz="3150" b="1">
                <a:solidFill>
                  <a:srgbClr val="1E7449"/>
                </a:solidFill>
                <a:latin typeface="Arial"/>
                <a:ea typeface="Arial"/>
                <a:cs typeface="Arial"/>
              </a:rPr>
              <a:t>Baliemedewerkers</a:t>
            </a:r>
          </a:p>
        </p:txBody>
      </p:sp>
      <p:sp>
        <p:nvSpPr>
          <p:cNvPr id="9" name="Wat betekent E = (72; 18)?&#10;Wat verandert als alleen het loon">
            <a:extLst xmlns:a="http://schemas.openxmlformats.org/drawingml/2006/main">
              <a:ext uri="{FF2B5EF4-FFF2-40B4-BE49-F238E27FC236}">
                <a16:creationId xmlns:a16="http://schemas.microsoft.com/office/drawing/2014/main" id="{96A1AD69-DBDE-4A15-B99F-D01ABB42EAA9}"/>
              </a:ext>
            </a:extLst>
          </p:cNvPr>
          <p:cNvSpPr>
            <a:spLocks xmlns:a="http://schemas.openxmlformats.org/drawingml/2006/main" noGrp="1"/>
          </p:cNvSpPr>
          <p:nvPr/>
        </p:nvSpPr>
        <p:spPr>
          <a:xfrm xmlns:a="http://schemas.openxmlformats.org/drawingml/2006/main">
            <a:off x="571500" y="6038850"/>
            <a:ext cx="13811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Wat betekent E = (72; 18)?</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Wat verandert als alleen het loon verandert?</a:t>
            </a:r>
          </a:p>
        </p:txBody>
      </p:sp>
    </p:spTree>
    <p:extLst>
      <p:ext uri="{BB962C8B-B14F-4D97-AF65-F5344CB8AC3E}">
        <p14:creationId xmlns:p14="http://schemas.microsoft.com/office/powerpoint/2010/main" val="297366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2 Arbeidsaanbod, participatie en evenwicht">
            <a:extLst xmlns:a="http://schemas.openxmlformats.org/drawingml/2006/main">
              <a:ext uri="{FF2B5EF4-FFF2-40B4-BE49-F238E27FC236}">
                <a16:creationId xmlns:a16="http://schemas.microsoft.com/office/drawing/2014/main" id="{2049EC13-B727-47A2-A4D2-59EFB012ED99}"/>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§4.3.2 Arbeidsaanbod, participatie en evenwicht</a:t>
            </a:r>
          </a:p>
        </p:txBody>
      </p:sp>
      <p:sp>
        <p:nvSpPr>
          <p:cNvPr id="2" name="">
            <a:extLst xmlns:a="http://schemas.openxmlformats.org/drawingml/2006/main">
              <a:ext uri="{FF2B5EF4-FFF2-40B4-BE49-F238E27FC236}">
                <a16:creationId xmlns:a16="http://schemas.microsoft.com/office/drawing/2014/main" id="{4EEDFBF9-5157-4866-A486-CA22BE94479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AAAC39D8-7F16-48B0-AA93-0B56ACEF409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5">
            <a:extLst xmlns:a="http://schemas.openxmlformats.org/drawingml/2006/main">
              <a:ext uri="{FF2B5EF4-FFF2-40B4-BE49-F238E27FC236}">
                <a16:creationId xmlns:a16="http://schemas.microsoft.com/office/drawing/2014/main" id="{C5A8021E-D848-48DD-998B-2AFF564B232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D9176674-90B4-4F99-ADD2-21CEE1A4C63E}"/>
              </a:ext>
            </a:extLst>
          </p:cNvPr>
          <p:cNvSpPr>
            <a:spLocks xmlns:a="http://schemas.openxmlformats.org/drawingml/2006/main" noGrp="1"/>
          </p:cNvSpPr>
          <p:nvPr/>
        </p:nvSpPr>
        <p:spPr>
          <a:xfrm xmlns:a="http://schemas.openxmlformats.org/drawingml/2006/main">
            <a:off x="571500" y="1066800"/>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62D930AA-C8B1-4A23-8139-A1322A781E3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55074843-83DB-4A5B-945A-5AAAE020B06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CEBAB652-CA1E-4600-B89E-2D04B977EA36}"/>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912DAFE9-4F93-4A19-B8FF-E002A66C4F2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E7DF01AA-9112-44F0-B37A-7FE2043E5C19}"/>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67B73963-7A06-465E-8178-7145038C2BE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1201C7FF-4A67-44B1-9D66-F987C3627831}"/>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FB745E0E-2326-484C-97FB-B8C0F8FA65A0}"/>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E3A32274-6239-4A7D-9877-19A04A03AC85}"/>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D030749F-52A2-47A1-8B42-166C1A00412D}"/>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DDBC3985-DE0D-4431-914C-9834B60F4D7C}"/>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09823A27-3F10-4A13-B10E-C5C47DC7D17A}"/>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44BEC155-5BA1-4B40-BDEE-BF5BA55BE4FC}"/>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6">
            <a:extLst xmlns:a="http://schemas.openxmlformats.org/drawingml/2006/main">
              <a:ext uri="{FF2B5EF4-FFF2-40B4-BE49-F238E27FC236}">
                <a16:creationId xmlns:a16="http://schemas.microsoft.com/office/drawing/2014/main" id="{2E1A6FF9-681D-4AB4-8DF7-449A43B9E84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D79D2565-FE18-4195-8F09-C14C8ED96940}"/>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FC6B878-0877-4337-BE67-927D3B48ABBE}"/>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684820D5-2F5E-485C-9717-364D90D12269}"/>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Groepen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Bruto en netto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Loon en werkgelegenheid vinden.</a:t>
            </a:r>
          </a:p>
        </p:txBody>
      </p:sp>
      <p:sp>
        <p:nvSpPr>
          <p:cNvPr id="23" name="">
            <a:extLst xmlns:a="http://schemas.openxmlformats.org/drawingml/2006/main">
              <a:ext uri="{FF2B5EF4-FFF2-40B4-BE49-F238E27FC236}">
                <a16:creationId xmlns:a16="http://schemas.microsoft.com/office/drawing/2014/main" id="{5D9C730A-2AEA-429A-AC8E-FEF5550AEE7B}"/>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625FA84B-0761-4114-908A-222A6EC5CEAC}"/>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22A90AB-2079-4704-89B8-F3E2E8896B88}"/>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128 · Opgaven 10 en 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verkennen, theorie p. 124</a:t>
            </a:r>
          </a:p>
        </p:txBody>
      </p:sp>
      <p:sp>
        <p:nvSpPr>
          <p:cNvPr id="26" name="">
            <a:extLst xmlns:a="http://schemas.openxmlformats.org/drawingml/2006/main">
              <a:ext uri="{FF2B5EF4-FFF2-40B4-BE49-F238E27FC236}">
                <a16:creationId xmlns:a16="http://schemas.microsoft.com/office/drawing/2014/main" id="{6B1A38DA-CE2D-4147-B5FC-6F5E6BB545D2}"/>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34EBAD1-85EF-4D8B-B0F9-8F443E4E4873}"/>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6A99DFA7-68AF-435E-9B12-E3F19516C2C4}"/>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§4.3.2 · Opgaven 12 t/m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14 en 15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491025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 · Waterstad en de bezorgsector">
            <a:extLst xmlns:a="http://schemas.openxmlformats.org/drawingml/2006/main">
              <a:ext uri="{FF2B5EF4-FFF2-40B4-BE49-F238E27FC236}">
                <a16:creationId xmlns:a16="http://schemas.microsoft.com/office/drawing/2014/main" id="{D5B30499-645A-44B1-9D34-6867847807CA}"/>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 · Waterstad en de bezorgsector</a:t>
            </a:r>
          </a:p>
        </p:txBody>
      </p:sp>
      <p:sp>
        <p:nvSpPr>
          <p:cNvPr id="2" name="">
            <a:extLst xmlns:a="http://schemas.openxmlformats.org/drawingml/2006/main">
              <a:ext uri="{FF2B5EF4-FFF2-40B4-BE49-F238E27FC236}">
                <a16:creationId xmlns:a16="http://schemas.microsoft.com/office/drawing/2014/main" id="{B17F77A4-4A37-4C1D-91BC-80410ECFF72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534C371D-5843-4F29-910D-C5060FFB34B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6">
            <a:extLst xmlns:a="http://schemas.openxmlformats.org/drawingml/2006/main">
              <a:ext uri="{FF2B5EF4-FFF2-40B4-BE49-F238E27FC236}">
                <a16:creationId xmlns:a16="http://schemas.microsoft.com/office/drawing/2014/main" id="{836A8958-D18C-4D3D-94D8-3FEA3FC966E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Bron A">
            <a:extLst xmlns:a="http://schemas.openxmlformats.org/drawingml/2006/main">
              <a:ext uri="{FF2B5EF4-FFF2-40B4-BE49-F238E27FC236}">
                <a16:creationId xmlns:a16="http://schemas.microsoft.com/office/drawing/2014/main" id="{DEC5CB52-36EB-4EBE-8FCC-ED336A9682CF}"/>
              </a:ext>
            </a:extLst>
          </p:cNvPr>
          <p:cNvSpPr>
            <a:spLocks xmlns:a="http://schemas.openxmlformats.org/drawingml/2006/main" noGrp="1"/>
          </p:cNvSpPr>
          <p:nvPr/>
        </p:nvSpPr>
        <p:spPr>
          <a:xfrm xmlns:a="http://schemas.openxmlformats.org/drawingml/2006/main">
            <a:off x="571500" y="18764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Bron A</a:t>
            </a:r>
          </a:p>
        </p:txBody>
      </p:sp>
      <p:sp>
        <p:nvSpPr>
          <p:cNvPr id="6" name="Waterstad telt 5.000 inwoners van 15 tot 75 jaar.">
            <a:extLst xmlns:a="http://schemas.openxmlformats.org/drawingml/2006/main">
              <a:ext uri="{FF2B5EF4-FFF2-40B4-BE49-F238E27FC236}">
                <a16:creationId xmlns:a16="http://schemas.microsoft.com/office/drawing/2014/main" id="{19E8606F-D28F-4749-AE7D-AD4F2751D52E}"/>
              </a:ext>
            </a:extLst>
          </p:cNvPr>
          <p:cNvSpPr>
            <a:spLocks xmlns:a="http://schemas.openxmlformats.org/drawingml/2006/main" noGrp="1"/>
          </p:cNvSpPr>
          <p:nvPr/>
        </p:nvSpPr>
        <p:spPr>
          <a:xfrm xmlns:a="http://schemas.openxmlformats.org/drawingml/2006/main">
            <a:off x="571500" y="277177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Waterstad telt 5.000 inwoners van 15 tot 75 jaar.</a:t>
            </a:r>
          </a:p>
        </p:txBody>
      </p:sp>
      <p:graphicFrame>
        <p:nvGraphicFramePr>
          <p:cNvPr id="15" name=""/>
          <p:cNvGraphicFramePr/>
          <p:nvPr/>
        </p:nvGraphicFramePr>
        <p:xfrm>
          <a:off xmlns:a="http://schemas.openxmlformats.org/drawingml/2006/main" x="571500" y="3876675"/>
          <a:ext xmlns:a="http://schemas.openxmlformats.org/drawingml/2006/main" cx="14097000" cy="3076575"/>
        </p:xfrm>
        <a:graphic xmlns:a="http://schemas.openxmlformats.org/drawingml/2006/main">
          <a:graphicData uri="http://schemas.openxmlformats.org/drawingml/2006/table">
            <a:tbl>
              <a:tblPr/>
              <a:tblGrid>
                <a:gridCol w="10382250"/>
                <a:gridCol w="3714750"/>
              </a:tblGrid>
              <a:tr h="769144">
                <a:tc>
                  <a:txBody>
                    <a:bodyPr lIns="171450" tIns="95250" rIns="133350" bIns="95250"/>
                    <a:lstStyle/>
                    <a:p>
                      <a:r>
                        <a:rPr sz="2700" b="1">
                          <a:solidFill>
                            <a:srgbClr val="FFFFFF"/>
                          </a:solidFill>
                          <a:latin typeface="Arial"/>
                          <a:ea typeface="Arial"/>
                          <a:cs typeface="Arial"/>
                        </a:rPr>
                        <a:t>Groep</a:t>
                      </a:r>
                    </a:p>
                  </a:txBody>
                  <a:tcPr marL="91440" marR="91440" marT="45720" marB="45720" anchor="ctr">
                    <a:solidFill>
                      <a:srgbClr val="183247"/>
                    </a:solidFill>
                  </a:tcPr>
                </a:tc>
                <a:tc>
                  <a:txBody>
                    <a:bodyPr lIns="171450" tIns="95250" rIns="133350" bIns="95250"/>
                    <a:lstStyle/>
                    <a:p>
                      <a:r>
                        <a:rPr sz="2700" b="1">
                          <a:solidFill>
                            <a:srgbClr val="FFFFFF"/>
                          </a:solidFill>
                          <a:latin typeface="Arial"/>
                          <a:ea typeface="Arial"/>
                          <a:cs typeface="Arial"/>
                        </a:rPr>
                        <a:t>Personen</a:t>
                      </a:r>
                    </a:p>
                  </a:txBody>
                  <a:tcPr marL="91440" marR="91440" marT="45720" marB="45720" anchor="ctr">
                    <a:solidFill>
                      <a:srgbClr val="183247"/>
                    </a:solidFill>
                  </a:tcPr>
                </a:tc>
              </a:tr>
              <a:tr h="769144">
                <a:tc>
                  <a:txBody>
                    <a:bodyPr lIns="171450" tIns="95250" rIns="133350" bIns="95250"/>
                    <a:lstStyle/>
                    <a:p>
                      <a:r>
                        <a:rPr sz="2700" b="0">
                          <a:solidFill>
                            <a:srgbClr val="183247"/>
                          </a:solidFill>
                          <a:latin typeface="Arial"/>
                          <a:ea typeface="Arial"/>
                          <a:cs typeface="Arial"/>
                        </a:rPr>
                        <a:t>Werkenden</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3.000</a:t>
                      </a:r>
                    </a:p>
                  </a:txBody>
                  <a:tcPr marL="91440" marR="91440" marT="45720" marB="45720" anchor="ctr">
                    <a:solidFill>
                      <a:srgbClr val="FFFFFF"/>
                    </a:solidFill>
                  </a:tcPr>
                </a:tc>
              </a:tr>
              <a:tr h="769144">
                <a:tc>
                  <a:txBody>
                    <a:bodyPr lIns="171450" tIns="95250" rIns="133350" bIns="95250"/>
                    <a:lstStyle/>
                    <a:p>
                      <a:r>
                        <a:rPr sz="2700" b="0">
                          <a:solidFill>
                            <a:srgbClr val="183247"/>
                          </a:solidFill>
                          <a:latin typeface="Arial"/>
                          <a:ea typeface="Arial"/>
                          <a:cs typeface="Arial"/>
                        </a:rPr>
                        <a:t>Werklozen</a:t>
                      </a:r>
                    </a:p>
                  </a:txBody>
                  <a:tcPr marL="91440" marR="91440" marT="45720" marB="45720" anchor="ctr">
                    <a:solidFill>
                      <a:srgbClr val="EFF4F7"/>
                    </a:solidFill>
                  </a:tcPr>
                </a:tc>
                <a:tc>
                  <a:txBody>
                    <a:bodyPr lIns="171450" tIns="95250" rIns="133350" bIns="95250"/>
                    <a:lstStyle/>
                    <a:p>
                      <a:r>
                        <a:rPr sz="2700" b="0">
                          <a:solidFill>
                            <a:srgbClr val="183247"/>
                          </a:solidFill>
                          <a:latin typeface="Arial"/>
                          <a:ea typeface="Arial"/>
                          <a:cs typeface="Arial"/>
                        </a:rPr>
                        <a:t>500</a:t>
                      </a:r>
                    </a:p>
                  </a:txBody>
                  <a:tcPr marL="91440" marR="91440" marT="45720" marB="45720" anchor="ctr">
                    <a:solidFill>
                      <a:srgbClr val="EFF4F7"/>
                    </a:solidFill>
                  </a:tcPr>
                </a:tc>
              </a:tr>
              <a:tr h="769144">
                <a:tc>
                  <a:txBody>
                    <a:bodyPr lIns="171450" tIns="95250" rIns="133350" bIns="95250"/>
                    <a:lstStyle/>
                    <a:p>
                      <a:r>
                        <a:rPr sz="2700" b="0">
                          <a:solidFill>
                            <a:srgbClr val="183247"/>
                          </a:solidFill>
                          <a:latin typeface="Arial"/>
                          <a:ea typeface="Arial"/>
                          <a:cs typeface="Arial"/>
                        </a:rPr>
                        <a:t>Niet-deelnemers</a:t>
                      </a:r>
                    </a:p>
                  </a:txBody>
                  <a:tcPr marL="91440" marR="91440" marT="45720" marB="45720" anchor="ctr">
                    <a:solidFill>
                      <a:srgbClr val="FFFFFF"/>
                    </a:solidFill>
                  </a:tcPr>
                </a:tc>
                <a:tc>
                  <a:txBody>
                    <a:bodyPr lIns="171450" tIns="95250" rIns="133350" bIns="95250"/>
                    <a:lstStyle/>
                    <a:p>
                      <a:r>
                        <a:rPr sz="2700" b="0">
                          <a:solidFill>
                            <a:srgbClr val="183247"/>
                          </a:solidFill>
                          <a:latin typeface="Arial"/>
                          <a:ea typeface="Arial"/>
                          <a:cs typeface="Arial"/>
                        </a:rPr>
                        <a:t>1.500</a:t>
                      </a:r>
                    </a:p>
                  </a:txBody>
                  <a:tcPr marL="91440" marR="91440" marT="45720" marB="45720" anchor="ctr">
                    <a:solidFill>
                      <a:srgbClr val="FFFFFF"/>
                    </a:solidFill>
                  </a:tcPr>
                </a:tc>
              </a:tr>
            </a:tbl>
          </a:graphicData>
        </a:graphic>
      </p:graphicFrame>
      <p:sp>
        <p:nvSpPr>
          <p:cNvPr id="8" name="Boekpagina 130 · Eerst alle bronnen en deelvragen">
            <a:extLst xmlns:a="http://schemas.openxmlformats.org/drawingml/2006/main">
              <a:ext uri="{FF2B5EF4-FFF2-40B4-BE49-F238E27FC236}">
                <a16:creationId xmlns:a16="http://schemas.microsoft.com/office/drawing/2014/main" id="{0BA3663A-0988-4BEB-926D-41CE17D8081A}"/>
              </a:ext>
            </a:extLst>
          </p:cNvPr>
          <p:cNvSpPr>
            <a:spLocks xmlns:a="http://schemas.openxmlformats.org/drawingml/2006/main" noGrp="1"/>
          </p:cNvSpPr>
          <p:nvPr/>
        </p:nvSpPr>
        <p:spPr>
          <a:xfrm xmlns:a="http://schemas.openxmlformats.org/drawingml/2006/main">
            <a:off x="571500" y="7429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Boekpagina 130 · Eerst alle bronnen en deelvragen</a:t>
            </a:r>
          </a:p>
        </p:txBody>
      </p:sp>
    </p:spTree>
    <p:extLst>
      <p:ext uri="{BB962C8B-B14F-4D97-AF65-F5344CB8AC3E}">
        <p14:creationId xmlns:p14="http://schemas.microsoft.com/office/powerpoint/2010/main" val="4244304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16 · Bron B">
            <a:extLst xmlns:a="http://schemas.openxmlformats.org/drawingml/2006/main">
              <a:ext uri="{FF2B5EF4-FFF2-40B4-BE49-F238E27FC236}">
                <a16:creationId xmlns:a16="http://schemas.microsoft.com/office/drawing/2014/main" id="{3CF5D16F-13FE-4D63-98B9-36B0B35C63EA}"/>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 · Bron B</a:t>
            </a:r>
          </a:p>
        </p:txBody>
      </p:sp>
      <p:sp>
        <p:nvSpPr>
          <p:cNvPr id="2" name="">
            <a:extLst xmlns:a="http://schemas.openxmlformats.org/drawingml/2006/main">
              <a:ext uri="{FF2B5EF4-FFF2-40B4-BE49-F238E27FC236}">
                <a16:creationId xmlns:a16="http://schemas.microsoft.com/office/drawing/2014/main" id="{96E22BE3-47E0-434B-964C-366EDFD03CE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9954C3AD-9D12-4342-AE84-8BB95371392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7">
            <a:extLst xmlns:a="http://schemas.openxmlformats.org/drawingml/2006/main">
              <a:ext uri="{FF2B5EF4-FFF2-40B4-BE49-F238E27FC236}">
                <a16:creationId xmlns:a16="http://schemas.microsoft.com/office/drawing/2014/main" id="{ED0751D7-1D58-48F3-925A-C75DF92398E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Een afzonderlijk model voor bezorgers">
            <a:extLst xmlns:a="http://schemas.openxmlformats.org/drawingml/2006/main">
              <a:ext uri="{FF2B5EF4-FFF2-40B4-BE49-F238E27FC236}">
                <a16:creationId xmlns:a16="http://schemas.microsoft.com/office/drawing/2014/main" id="{CD31CA10-E53E-4760-8F7C-7823B406CCF7}"/>
              </a:ext>
            </a:extLst>
          </p:cNvPr>
          <p:cNvSpPr>
            <a:spLocks xmlns:a="http://schemas.openxmlformats.org/drawingml/2006/main" noGrp="1"/>
          </p:cNvSpPr>
          <p:nvPr/>
        </p:nvSpPr>
        <p:spPr>
          <a:xfrm xmlns:a="http://schemas.openxmlformats.org/drawingml/2006/main">
            <a:off x="571500" y="185737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Een afzonderlijk model voor bezorgers</a:t>
            </a:r>
          </a:p>
        </p:txBody>
      </p:sp>
      <p:sp>
        <p:nvSpPr>
          <p:cNvPr id="6" name="Lᵥ = 240 − 10w">
            <a:extLst xmlns:a="http://schemas.openxmlformats.org/drawingml/2006/main">
              <a:ext uri="{FF2B5EF4-FFF2-40B4-BE49-F238E27FC236}">
                <a16:creationId xmlns:a16="http://schemas.microsoft.com/office/drawing/2014/main" id="{5A9DEE63-C608-49A9-9E42-F9AA9A738CEE}"/>
              </a:ext>
            </a:extLst>
          </p:cNvPr>
          <p:cNvSpPr>
            <a:spLocks xmlns:a="http://schemas.openxmlformats.org/drawingml/2006/main" noGrp="1"/>
          </p:cNvSpPr>
          <p:nvPr/>
        </p:nvSpPr>
        <p:spPr>
          <a:xfrm xmlns:a="http://schemas.openxmlformats.org/drawingml/2006/main">
            <a:off x="571500" y="2876550"/>
            <a:ext cx="700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A5276"/>
                </a:solidFill>
                <a:latin typeface="Arial"/>
                <a:ea typeface="Arial"/>
                <a:cs typeface="Arial"/>
              </a:defRPr>
            </a:pPr>
            <a:r>
              <a:rPr sz="3750" b="1">
                <a:solidFill>
                  <a:srgbClr val="1A5276"/>
                </a:solidFill>
                <a:latin typeface="Arial"/>
                <a:ea typeface="Arial"/>
                <a:cs typeface="Arial"/>
              </a:rPr>
              <a:t>Lᵥ = 240 − 10w</a:t>
            </a:r>
          </a:p>
        </p:txBody>
      </p:sp>
      <p:sp>
        <p:nvSpPr>
          <p:cNvPr id="7" name="Lₐ = −40 + 10w">
            <a:extLst xmlns:a="http://schemas.openxmlformats.org/drawingml/2006/main">
              <a:ext uri="{FF2B5EF4-FFF2-40B4-BE49-F238E27FC236}">
                <a16:creationId xmlns:a16="http://schemas.microsoft.com/office/drawing/2014/main" id="{C65BEF53-DE3C-4DC7-BC37-1FF0152F49A8}"/>
              </a:ext>
            </a:extLst>
          </p:cNvPr>
          <p:cNvSpPr>
            <a:spLocks xmlns:a="http://schemas.openxmlformats.org/drawingml/2006/main" noGrp="1"/>
          </p:cNvSpPr>
          <p:nvPr/>
        </p:nvSpPr>
        <p:spPr>
          <a:xfrm xmlns:a="http://schemas.openxmlformats.org/drawingml/2006/main">
            <a:off x="7858125" y="2876550"/>
            <a:ext cx="676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E7449"/>
                </a:solidFill>
                <a:latin typeface="Arial"/>
                <a:ea typeface="Arial"/>
                <a:cs typeface="Arial"/>
              </a:defRPr>
            </a:pPr>
            <a:r>
              <a:rPr sz="3750" b="1">
                <a:solidFill>
                  <a:srgbClr val="1E7449"/>
                </a:solidFill>
                <a:latin typeface="Arial"/>
                <a:ea typeface="Arial"/>
                <a:cs typeface="Arial"/>
              </a:rPr>
              <a:t>Lₐ = −40 + 10w</a:t>
            </a:r>
          </a:p>
        </p:txBody>
      </p:sp>
      <p:sp>
        <p:nvSpPr>
          <p:cNvPr id="8" name="L is het aantal personen met 20 uur per week.&#10;w is het uurlo">
            <a:extLst xmlns:a="http://schemas.openxmlformats.org/drawingml/2006/main">
              <a:ext uri="{FF2B5EF4-FFF2-40B4-BE49-F238E27FC236}">
                <a16:creationId xmlns:a16="http://schemas.microsoft.com/office/drawing/2014/main" id="{DDE3AA66-56E5-49FD-97DA-4AF53FDA4663}"/>
              </a:ext>
            </a:extLst>
          </p:cNvPr>
          <p:cNvSpPr>
            <a:spLocks xmlns:a="http://schemas.openxmlformats.org/drawingml/2006/main" noGrp="1"/>
          </p:cNvSpPr>
          <p:nvPr/>
        </p:nvSpPr>
        <p:spPr>
          <a:xfrm xmlns:a="http://schemas.openxmlformats.org/drawingml/2006/main">
            <a:off x="571500" y="4152900"/>
            <a:ext cx="14097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L is het aantal personen met 20 uur per week.</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w is het uurloon in euro.</a:t>
            </a:r>
          </a:p>
        </p:txBody>
      </p:sp>
      <p:sp>
        <p:nvSpPr>
          <p:cNvPr id="9" name="Het model geldt voor € 4 ≤ w ≤ € 24.">
            <a:extLst xmlns:a="http://schemas.openxmlformats.org/drawingml/2006/main">
              <a:ext uri="{FF2B5EF4-FFF2-40B4-BE49-F238E27FC236}">
                <a16:creationId xmlns:a16="http://schemas.microsoft.com/office/drawing/2014/main" id="{B56FD59F-6135-4D89-9020-524B498F928F}"/>
              </a:ext>
            </a:extLst>
          </p:cNvPr>
          <p:cNvSpPr>
            <a:spLocks xmlns:a="http://schemas.openxmlformats.org/drawingml/2006/main" noGrp="1"/>
          </p:cNvSpPr>
          <p:nvPr/>
        </p:nvSpPr>
        <p:spPr>
          <a:xfrm xmlns:a="http://schemas.openxmlformats.org/drawingml/2006/main">
            <a:off x="571500" y="582930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Het model geldt voor € 4 ≤ w ≤ € 24.</a:t>
            </a:r>
          </a:p>
        </p:txBody>
      </p:sp>
      <p:sp>
        <p:nvSpPr>
          <p:cNvPr id="10" name="Het loon is flexibel; er zijn geen zoekproblemen of loonafsp">
            <a:extLst xmlns:a="http://schemas.openxmlformats.org/drawingml/2006/main">
              <a:ext uri="{FF2B5EF4-FFF2-40B4-BE49-F238E27FC236}">
                <a16:creationId xmlns:a16="http://schemas.microsoft.com/office/drawing/2014/main" id="{84FABA25-DA2B-4A5B-B55D-4942AC695C44}"/>
              </a:ext>
            </a:extLst>
          </p:cNvPr>
          <p:cNvSpPr>
            <a:spLocks xmlns:a="http://schemas.openxmlformats.org/drawingml/2006/main" noGrp="1"/>
          </p:cNvSpPr>
          <p:nvPr/>
        </p:nvSpPr>
        <p:spPr>
          <a:xfrm xmlns:a="http://schemas.openxmlformats.org/drawingml/2006/main">
            <a:off x="571500" y="6953250"/>
            <a:ext cx="14097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Het loon is flexibel; er zijn geen zoekproblemen of loonafspraken.</a:t>
            </a:r>
          </a:p>
        </p:txBody>
      </p:sp>
    </p:spTree>
    <p:extLst>
      <p:ext uri="{BB962C8B-B14F-4D97-AF65-F5344CB8AC3E}">
        <p14:creationId xmlns:p14="http://schemas.microsoft.com/office/powerpoint/2010/main" val="14731833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pgave 16 · Alle deelvragen">
            <a:extLst xmlns:a="http://schemas.openxmlformats.org/drawingml/2006/main">
              <a:ext uri="{FF2B5EF4-FFF2-40B4-BE49-F238E27FC236}">
                <a16:creationId xmlns:a16="http://schemas.microsoft.com/office/drawing/2014/main" id="{0F6F1202-06ED-46F8-9FCC-106F7B11A58E}"/>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 · Alle deelvragen</a:t>
            </a:r>
          </a:p>
        </p:txBody>
      </p:sp>
      <p:sp>
        <p:nvSpPr>
          <p:cNvPr id="2" name="">
            <a:extLst xmlns:a="http://schemas.openxmlformats.org/drawingml/2006/main">
              <a:ext uri="{FF2B5EF4-FFF2-40B4-BE49-F238E27FC236}">
                <a16:creationId xmlns:a16="http://schemas.microsoft.com/office/drawing/2014/main" id="{6B43579A-5C93-464B-96A6-000064BB503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343D7047-12BD-4E95-AA44-F34E71AA844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8">
            <a:extLst xmlns:a="http://schemas.openxmlformats.org/drawingml/2006/main">
              <a:ext uri="{FF2B5EF4-FFF2-40B4-BE49-F238E27FC236}">
                <a16:creationId xmlns:a16="http://schemas.microsoft.com/office/drawing/2014/main" id="{C4B7DAF3-C60F-4256-9296-C0B3880EA5E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 3 punten">
            <a:extLst xmlns:a="http://schemas.openxmlformats.org/drawingml/2006/main">
              <a:ext uri="{FF2B5EF4-FFF2-40B4-BE49-F238E27FC236}">
                <a16:creationId xmlns:a16="http://schemas.microsoft.com/office/drawing/2014/main" id="{EA6022CB-CDB3-4DB3-8B68-22D7E158459C}"/>
              </a:ext>
            </a:extLst>
          </p:cNvPr>
          <p:cNvSpPr>
            <a:spLocks xmlns:a="http://schemas.openxmlformats.org/drawingml/2006/main" noGrp="1"/>
          </p:cNvSpPr>
          <p:nvPr/>
        </p:nvSpPr>
        <p:spPr>
          <a:xfrm xmlns:a="http://schemas.openxmlformats.org/drawingml/2006/main">
            <a:off x="571500" y="20955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a · 3 punten</a:t>
            </a:r>
          </a:p>
        </p:txBody>
      </p:sp>
      <p:sp>
        <p:nvSpPr>
          <p:cNvPr id="6" name="Bereken met bron A de beroepsbevolking en de bruto- en netto">
            <a:extLst xmlns:a="http://schemas.openxmlformats.org/drawingml/2006/main">
              <a:ext uri="{FF2B5EF4-FFF2-40B4-BE49-F238E27FC236}">
                <a16:creationId xmlns:a16="http://schemas.microsoft.com/office/drawing/2014/main" id="{7EA926B8-DED1-49D9-8635-CA608102E9AD}"/>
              </a:ext>
            </a:extLst>
          </p:cNvPr>
          <p:cNvSpPr>
            <a:spLocks xmlns:a="http://schemas.openxmlformats.org/drawingml/2006/main" noGrp="1"/>
          </p:cNvSpPr>
          <p:nvPr/>
        </p:nvSpPr>
        <p:spPr>
          <a:xfrm xmlns:a="http://schemas.openxmlformats.org/drawingml/2006/main">
            <a:off x="3524250" y="2095500"/>
            <a:ext cx="1109662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met bron A de beroepsbevolking en de bruto- en netto-participatie.</a:t>
            </a:r>
          </a:p>
        </p:txBody>
      </p:sp>
      <p:sp>
        <p:nvSpPr>
          <p:cNvPr id="7" name="">
            <a:extLst xmlns:a="http://schemas.openxmlformats.org/drawingml/2006/main">
              <a:ext uri="{FF2B5EF4-FFF2-40B4-BE49-F238E27FC236}">
                <a16:creationId xmlns:a16="http://schemas.microsoft.com/office/drawing/2014/main" id="{67F50DBF-3C1B-4847-8994-A827012654FC}"/>
              </a:ext>
            </a:extLst>
          </p:cNvPr>
          <p:cNvSpPr>
            <a:spLocks xmlns:a="http://schemas.openxmlformats.org/drawingml/2006/main" noGrp="1"/>
          </p:cNvSpPr>
          <p:nvPr/>
        </p:nvSpPr>
        <p:spPr>
          <a:xfrm xmlns:a="http://schemas.openxmlformats.org/drawingml/2006/main">
            <a:off x="571500" y="3619500"/>
            <a:ext cx="14097000" cy="0"/>
          </a:xfrm>
          <a:prstGeom xmlns:a="http://schemas.openxmlformats.org/drawingml/2006/main" prst="line">
            <a:avLst/>
          </a:prstGeom>
          <a:ln xmlns:a="http://schemas.openxmlformats.org/drawingml/2006/main" w="19050">
            <a:solidFill>
              <a:srgbClr val="C6D2DB"/>
            </a:solidFill>
          </a:ln>
        </p:spPr>
      </p:sp>
      <p:sp>
        <p:nvSpPr>
          <p:cNvPr id="8" name="b · 3 punten">
            <a:extLst xmlns:a="http://schemas.openxmlformats.org/drawingml/2006/main">
              <a:ext uri="{FF2B5EF4-FFF2-40B4-BE49-F238E27FC236}">
                <a16:creationId xmlns:a16="http://schemas.microsoft.com/office/drawing/2014/main" id="{827CC2A0-DA4F-42AA-87B0-109182204188}"/>
              </a:ext>
            </a:extLst>
          </p:cNvPr>
          <p:cNvSpPr>
            <a:spLocks xmlns:a="http://schemas.openxmlformats.org/drawingml/2006/main" noGrp="1"/>
          </p:cNvSpPr>
          <p:nvPr/>
        </p:nvSpPr>
        <p:spPr>
          <a:xfrm xmlns:a="http://schemas.openxmlformats.org/drawingml/2006/main">
            <a:off x="571500" y="390525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b · 3 punten</a:t>
            </a:r>
          </a:p>
        </p:txBody>
      </p:sp>
      <p:sp>
        <p:nvSpPr>
          <p:cNvPr id="9" name="Bereken met bron B het evenwichtsloon en de werkgelegenheid.">
            <a:extLst xmlns:a="http://schemas.openxmlformats.org/drawingml/2006/main">
              <a:ext uri="{FF2B5EF4-FFF2-40B4-BE49-F238E27FC236}">
                <a16:creationId xmlns:a16="http://schemas.microsoft.com/office/drawing/2014/main" id="{687BE023-AE73-46C5-9393-DC97CF654DB2}"/>
              </a:ext>
            </a:extLst>
          </p:cNvPr>
          <p:cNvSpPr>
            <a:spLocks xmlns:a="http://schemas.openxmlformats.org/drawingml/2006/main" noGrp="1"/>
          </p:cNvSpPr>
          <p:nvPr/>
        </p:nvSpPr>
        <p:spPr>
          <a:xfrm xmlns:a="http://schemas.openxmlformats.org/drawingml/2006/main">
            <a:off x="3524250" y="3905250"/>
            <a:ext cx="1109662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Bereken met bron B het evenwichtsloon en de werkgelegenheid. Markeer E in de basisgrafiek hieronder.</a:t>
            </a:r>
          </a:p>
        </p:txBody>
      </p:sp>
      <p:sp>
        <p:nvSpPr>
          <p:cNvPr id="10" name="">
            <a:extLst xmlns:a="http://schemas.openxmlformats.org/drawingml/2006/main">
              <a:ext uri="{FF2B5EF4-FFF2-40B4-BE49-F238E27FC236}">
                <a16:creationId xmlns:a16="http://schemas.microsoft.com/office/drawing/2014/main" id="{5B0F7205-E85B-4BD4-A6D3-FFBDE781E88A}"/>
              </a:ext>
            </a:extLst>
          </p:cNvPr>
          <p:cNvSpPr>
            <a:spLocks xmlns:a="http://schemas.openxmlformats.org/drawingml/2006/main" noGrp="1"/>
          </p:cNvSpPr>
          <p:nvPr/>
        </p:nvSpPr>
        <p:spPr>
          <a:xfrm xmlns:a="http://schemas.openxmlformats.org/drawingml/2006/main">
            <a:off x="571500" y="5429250"/>
            <a:ext cx="14097000" cy="0"/>
          </a:xfrm>
          <a:prstGeom xmlns:a="http://schemas.openxmlformats.org/drawingml/2006/main" prst="line">
            <a:avLst/>
          </a:prstGeom>
          <a:ln xmlns:a="http://schemas.openxmlformats.org/drawingml/2006/main" w="19050">
            <a:solidFill>
              <a:srgbClr val="C6D2DB"/>
            </a:solidFill>
          </a:ln>
        </p:spPr>
      </p:sp>
      <p:sp>
        <p:nvSpPr>
          <p:cNvPr id="11" name="c · 2 punten">
            <a:extLst xmlns:a="http://schemas.openxmlformats.org/drawingml/2006/main">
              <a:ext uri="{FF2B5EF4-FFF2-40B4-BE49-F238E27FC236}">
                <a16:creationId xmlns:a16="http://schemas.microsoft.com/office/drawing/2014/main" id="{EB0BC9F6-C7D1-4343-B30D-18C70DBE8847}"/>
              </a:ext>
            </a:extLst>
          </p:cNvPr>
          <p:cNvSpPr>
            <a:spLocks xmlns:a="http://schemas.openxmlformats.org/drawingml/2006/main" noGrp="1"/>
          </p:cNvSpPr>
          <p:nvPr/>
        </p:nvSpPr>
        <p:spPr>
          <a:xfrm xmlns:a="http://schemas.openxmlformats.org/drawingml/2006/main">
            <a:off x="571500" y="57150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c · 2 punten</a:t>
            </a:r>
          </a:p>
        </p:txBody>
      </p:sp>
      <p:sp>
        <p:nvSpPr>
          <p:cNvPr id="12" name="Leg uit wie bij dit loon arbeid vragen en aanbieden. Waarom ">
            <a:extLst xmlns:a="http://schemas.openxmlformats.org/drawingml/2006/main">
              <a:ext uri="{FF2B5EF4-FFF2-40B4-BE49-F238E27FC236}">
                <a16:creationId xmlns:a16="http://schemas.microsoft.com/office/drawing/2014/main" id="{18F70DA2-33AE-4125-8782-7BFA147BCA66}"/>
              </a:ext>
            </a:extLst>
          </p:cNvPr>
          <p:cNvSpPr>
            <a:spLocks xmlns:a="http://schemas.openxmlformats.org/drawingml/2006/main" noGrp="1"/>
          </p:cNvSpPr>
          <p:nvPr/>
        </p:nvSpPr>
        <p:spPr>
          <a:xfrm xmlns:a="http://schemas.openxmlformats.org/drawingml/2006/main">
            <a:off x="3524250" y="5715000"/>
            <a:ext cx="1109662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Leg uit wie bij dit loon arbeid vragen en aanbieden. Waarom vervangt de modeluitkomst de regiotelling niet?</a:t>
            </a:r>
          </a:p>
        </p:txBody>
      </p:sp>
      <p:sp>
        <p:nvSpPr>
          <p:cNvPr id="13" name="De basisgrafiek bij b staat op de volgende dia. Boekpagina 1">
            <a:extLst xmlns:a="http://schemas.openxmlformats.org/drawingml/2006/main">
              <a:ext uri="{FF2B5EF4-FFF2-40B4-BE49-F238E27FC236}">
                <a16:creationId xmlns:a16="http://schemas.microsoft.com/office/drawing/2014/main" id="{2E5B378C-F553-4F41-A2F3-F8920FC6147C}"/>
              </a:ext>
            </a:extLst>
          </p:cNvPr>
          <p:cNvSpPr>
            <a:spLocks xmlns:a="http://schemas.openxmlformats.org/drawingml/2006/main" noGrp="1"/>
          </p:cNvSpPr>
          <p:nvPr/>
        </p:nvSpPr>
        <p:spPr>
          <a:xfrm xmlns:a="http://schemas.openxmlformats.org/drawingml/2006/main">
            <a:off x="571500" y="754380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De basisgrafiek bij b staat op de volgende dia. Boekpagina 130.</a:t>
            </a:r>
          </a:p>
        </p:txBody>
      </p:sp>
    </p:spTree>
    <p:extLst>
      <p:ext uri="{BB962C8B-B14F-4D97-AF65-F5344CB8AC3E}">
        <p14:creationId xmlns:p14="http://schemas.microsoft.com/office/powerpoint/2010/main" val="15736310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6b · Basisgrafiek">
            <a:extLst xmlns:a="http://schemas.openxmlformats.org/drawingml/2006/main">
              <a:ext uri="{FF2B5EF4-FFF2-40B4-BE49-F238E27FC236}">
                <a16:creationId xmlns:a16="http://schemas.microsoft.com/office/drawing/2014/main" id="{DBB70046-0574-4AC8-9582-65184634B1A2}"/>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16b · Basisgrafiek</a:t>
            </a:r>
          </a:p>
        </p:txBody>
      </p:sp>
      <p:sp>
        <p:nvSpPr>
          <p:cNvPr id="2" name="">
            <a:extLst xmlns:a="http://schemas.openxmlformats.org/drawingml/2006/main">
              <a:ext uri="{FF2B5EF4-FFF2-40B4-BE49-F238E27FC236}">
                <a16:creationId xmlns:a16="http://schemas.microsoft.com/office/drawing/2014/main" id="{FF77E9B6-B87E-4FB0-9BFC-3EB975DAE0B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468E50CE-905C-4877-BD41-E1B8FFCE1FA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19">
            <a:extLst xmlns:a="http://schemas.openxmlformats.org/drawingml/2006/main">
              <a:ext uri="{FF2B5EF4-FFF2-40B4-BE49-F238E27FC236}">
                <a16:creationId xmlns:a16="http://schemas.microsoft.com/office/drawing/2014/main" id="{1EB4C4D5-F804-4F07-B8BE-F86B7628B3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4" name="Chart"/>
          <p:cNvGraphicFramePr/>
          <p:nvPr/>
        </p:nvGraphicFramePr>
        <p:xfrm>
          <a:off xmlns:a="http://schemas.openxmlformats.org/drawingml/2006/main" x="571500" y="2238375"/>
          <a:ext xmlns:a="http://schemas.openxmlformats.org/drawingml/2006/main" cx="10001250" cy="5334000"/>
        </p:xfrm>
        <a:graphic xmlns:a="http://schemas.openxmlformats.org/drawingml/2006/main">
          <a:graphicData uri="http://schemas.openxmlformats.org/drawingml/2006/chart">
            <c:chart xmlns:r="http://schemas.openxmlformats.org/officeDocument/2006/relationships" xmlns:c="http://schemas.openxmlformats.org/drawingml/2006/chart" r:id="Rb4ca28524fb14d6c"/>
          </a:graphicData>
        </a:graphic>
      </p:graphicFrame>
      <p:sp>
        <p:nvSpPr>
          <p:cNvPr id="6" name="Lᵥ = 240 − 10w">
            <a:extLst xmlns:a="http://schemas.openxmlformats.org/drawingml/2006/main">
              <a:ext uri="{FF2B5EF4-FFF2-40B4-BE49-F238E27FC236}">
                <a16:creationId xmlns:a16="http://schemas.microsoft.com/office/drawing/2014/main" id="{8D63529D-690E-4D9A-922F-868287F5B20A}"/>
              </a:ext>
            </a:extLst>
          </p:cNvPr>
          <p:cNvSpPr>
            <a:spLocks xmlns:a="http://schemas.openxmlformats.org/drawingml/2006/main" noGrp="1"/>
          </p:cNvSpPr>
          <p:nvPr/>
        </p:nvSpPr>
        <p:spPr>
          <a:xfrm xmlns:a="http://schemas.openxmlformats.org/drawingml/2006/main">
            <a:off x="10953750" y="2581275"/>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Lᵥ = 240 − 10w</a:t>
            </a:r>
          </a:p>
        </p:txBody>
      </p:sp>
      <p:sp>
        <p:nvSpPr>
          <p:cNvPr id="7" name="Lₐ = −40 + 10w">
            <a:extLst xmlns:a="http://schemas.openxmlformats.org/drawingml/2006/main">
              <a:ext uri="{FF2B5EF4-FFF2-40B4-BE49-F238E27FC236}">
                <a16:creationId xmlns:a16="http://schemas.microsoft.com/office/drawing/2014/main" id="{9F949BB8-A6EB-4672-9A1D-31A785D8F61F}"/>
              </a:ext>
            </a:extLst>
          </p:cNvPr>
          <p:cNvSpPr>
            <a:spLocks xmlns:a="http://schemas.openxmlformats.org/drawingml/2006/main" noGrp="1"/>
          </p:cNvSpPr>
          <p:nvPr/>
        </p:nvSpPr>
        <p:spPr>
          <a:xfrm xmlns:a="http://schemas.openxmlformats.org/drawingml/2006/main">
            <a:off x="10953750" y="3648075"/>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E7449"/>
                </a:solidFill>
                <a:latin typeface="Arial"/>
                <a:ea typeface="Arial"/>
                <a:cs typeface="Arial"/>
              </a:defRPr>
            </a:pPr>
            <a:r>
              <a:rPr sz="2625" b="1">
                <a:solidFill>
                  <a:srgbClr val="1E7449"/>
                </a:solidFill>
                <a:latin typeface="Arial"/>
                <a:ea typeface="Arial"/>
                <a:cs typeface="Arial"/>
              </a:rPr>
              <a:t>Lₐ = −40 + 10w</a:t>
            </a:r>
          </a:p>
        </p:txBody>
      </p:sp>
      <p:sp>
        <p:nvSpPr>
          <p:cNvPr id="8" name="Markeer E met loon en hoeveelheid.">
            <a:extLst xmlns:a="http://schemas.openxmlformats.org/drawingml/2006/main">
              <a:ext uri="{FF2B5EF4-FFF2-40B4-BE49-F238E27FC236}">
                <a16:creationId xmlns:a16="http://schemas.microsoft.com/office/drawing/2014/main" id="{ED57B881-0D1A-4257-A2F9-4EA87E6EF648}"/>
              </a:ext>
            </a:extLst>
          </p:cNvPr>
          <p:cNvSpPr>
            <a:spLocks xmlns:a="http://schemas.openxmlformats.org/drawingml/2006/main" noGrp="1"/>
          </p:cNvSpPr>
          <p:nvPr/>
        </p:nvSpPr>
        <p:spPr>
          <a:xfrm xmlns:a="http://schemas.openxmlformats.org/drawingml/2006/main">
            <a:off x="10953750" y="5019675"/>
            <a:ext cx="371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Markeer E met loon en hoeveelheid.</a:t>
            </a:r>
          </a:p>
        </p:txBody>
      </p:sp>
      <p:sp>
        <p:nvSpPr>
          <p:cNvPr id="9" name="€ 4 ≤ w ≤ € 24">
            <a:extLst xmlns:a="http://schemas.openxmlformats.org/drawingml/2006/main">
              <a:ext uri="{FF2B5EF4-FFF2-40B4-BE49-F238E27FC236}">
                <a16:creationId xmlns:a16="http://schemas.microsoft.com/office/drawing/2014/main" id="{38ECE3C4-A74D-44E4-9B5D-8BCC46EE3B32}"/>
              </a:ext>
            </a:extLst>
          </p:cNvPr>
          <p:cNvSpPr>
            <a:spLocks xmlns:a="http://schemas.openxmlformats.org/drawingml/2006/main" noGrp="1"/>
          </p:cNvSpPr>
          <p:nvPr/>
        </p:nvSpPr>
        <p:spPr>
          <a:xfrm xmlns:a="http://schemas.openxmlformats.org/drawingml/2006/main">
            <a:off x="10953750" y="6848475"/>
            <a:ext cx="371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€ 4 ≤ w ≤ € 24</a:t>
            </a:r>
          </a:p>
        </p:txBody>
      </p:sp>
    </p:spTree>
    <p:extLst>
      <p:ext uri="{BB962C8B-B14F-4D97-AF65-F5344CB8AC3E}">
        <p14:creationId xmlns:p14="http://schemas.microsoft.com/office/powerpoint/2010/main" val="156746487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6a · De beroepsbevolking">
            <a:extLst xmlns:a="http://schemas.openxmlformats.org/drawingml/2006/main">
              <a:ext uri="{FF2B5EF4-FFF2-40B4-BE49-F238E27FC236}">
                <a16:creationId xmlns:a16="http://schemas.microsoft.com/office/drawing/2014/main" id="{383483E9-5CA8-4AE8-A834-219A08864112}"/>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16a · De beroepsbevolking</a:t>
            </a:r>
          </a:p>
        </p:txBody>
      </p:sp>
      <p:sp>
        <p:nvSpPr>
          <p:cNvPr id="2" name="">
            <a:extLst xmlns:a="http://schemas.openxmlformats.org/drawingml/2006/main">
              <a:ext uri="{FF2B5EF4-FFF2-40B4-BE49-F238E27FC236}">
                <a16:creationId xmlns:a16="http://schemas.microsoft.com/office/drawing/2014/main" id="{67AD29A4-CF65-4BA9-B02E-5A72FAD9309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AA94C078-3DA4-49D1-8862-2221A60968F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20">
            <a:extLst xmlns:a="http://schemas.openxmlformats.org/drawingml/2006/main">
              <a:ext uri="{FF2B5EF4-FFF2-40B4-BE49-F238E27FC236}">
                <a16:creationId xmlns:a16="http://schemas.microsoft.com/office/drawing/2014/main" id="{6B6BCA64-9BC0-47C3-BAA4-920A29E1B8A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Beroepsbevolking = werkenden + werklozen">
            <a:extLst xmlns:a="http://schemas.openxmlformats.org/drawingml/2006/main">
              <a:ext uri="{FF2B5EF4-FFF2-40B4-BE49-F238E27FC236}">
                <a16:creationId xmlns:a16="http://schemas.microsoft.com/office/drawing/2014/main" id="{BAF93529-6610-482F-B6A5-EEE32F612DF4}"/>
              </a:ext>
            </a:extLst>
          </p:cNvPr>
          <p:cNvSpPr>
            <a:spLocks xmlns:a="http://schemas.openxmlformats.org/drawingml/2006/main" noGrp="1"/>
          </p:cNvSpPr>
          <p:nvPr/>
        </p:nvSpPr>
        <p:spPr>
          <a:xfrm xmlns:a="http://schemas.openxmlformats.org/drawingml/2006/main">
            <a:off x="571500" y="222885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Beroepsbevolking = werkenden + werklozen</a:t>
            </a:r>
          </a:p>
        </p:txBody>
      </p:sp>
      <p:sp>
        <p:nvSpPr>
          <p:cNvPr id="6" name="3.000 + 500 = 3.500 personen">
            <a:extLst xmlns:a="http://schemas.openxmlformats.org/drawingml/2006/main">
              <a:ext uri="{FF2B5EF4-FFF2-40B4-BE49-F238E27FC236}">
                <a16:creationId xmlns:a16="http://schemas.microsoft.com/office/drawing/2014/main" id="{6C7CB060-B8EA-48EC-BEF0-6B82E431B5E0}"/>
              </a:ext>
            </a:extLst>
          </p:cNvPr>
          <p:cNvSpPr>
            <a:spLocks xmlns:a="http://schemas.openxmlformats.org/drawingml/2006/main" noGrp="1"/>
          </p:cNvSpPr>
          <p:nvPr/>
        </p:nvSpPr>
        <p:spPr>
          <a:xfrm xmlns:a="http://schemas.openxmlformats.org/drawingml/2006/main">
            <a:off x="571500" y="3743325"/>
            <a:ext cx="14097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183247"/>
                </a:solidFill>
                <a:latin typeface="Arial"/>
                <a:ea typeface="Arial"/>
                <a:cs typeface="Arial"/>
              </a:defRPr>
            </a:pPr>
            <a:r>
              <a:rPr sz="4275" b="1">
                <a:solidFill>
                  <a:srgbClr val="183247"/>
                </a:solidFill>
                <a:latin typeface="Arial"/>
                <a:ea typeface="Arial"/>
                <a:cs typeface="Arial"/>
              </a:rPr>
              <a:t>3.000 + 500 = 3.500 personen</a:t>
            </a:r>
          </a:p>
        </p:txBody>
      </p:sp>
      <p:sp>
        <p:nvSpPr>
          <p:cNvPr id="7" name="">
            <a:extLst xmlns:a="http://schemas.openxmlformats.org/drawingml/2006/main">
              <a:ext uri="{FF2B5EF4-FFF2-40B4-BE49-F238E27FC236}">
                <a16:creationId xmlns:a16="http://schemas.microsoft.com/office/drawing/2014/main" id="{793E1450-B7EE-44C2-AD07-5AAAF938A94D}"/>
              </a:ext>
            </a:extLst>
          </p:cNvPr>
          <p:cNvSpPr>
            <a:spLocks xmlns:a="http://schemas.openxmlformats.org/drawingml/2006/main" noGrp="1"/>
          </p:cNvSpPr>
          <p:nvPr/>
        </p:nvSpPr>
        <p:spPr>
          <a:xfrm xmlns:a="http://schemas.openxmlformats.org/drawingml/2006/main">
            <a:off x="571500" y="5391150"/>
            <a:ext cx="14097000" cy="0"/>
          </a:xfrm>
          <a:prstGeom xmlns:a="http://schemas.openxmlformats.org/drawingml/2006/main" prst="line">
            <a:avLst/>
          </a:prstGeom>
          <a:ln xmlns:a="http://schemas.openxmlformats.org/drawingml/2006/main" w="19050">
            <a:solidFill>
              <a:srgbClr val="C6D2DB"/>
            </a:solidFill>
          </a:ln>
        </p:spPr>
      </p:sp>
      <p:sp>
        <p:nvSpPr>
          <p:cNvPr id="8" name="Controle met bron A">
            <a:extLst xmlns:a="http://schemas.openxmlformats.org/drawingml/2006/main">
              <a:ext uri="{FF2B5EF4-FFF2-40B4-BE49-F238E27FC236}">
                <a16:creationId xmlns:a16="http://schemas.microsoft.com/office/drawing/2014/main" id="{CF79788F-D564-4E25-B6A8-8462370F67C0}"/>
              </a:ext>
            </a:extLst>
          </p:cNvPr>
          <p:cNvSpPr>
            <a:spLocks xmlns:a="http://schemas.openxmlformats.org/drawingml/2006/main" noGrp="1"/>
          </p:cNvSpPr>
          <p:nvPr/>
        </p:nvSpPr>
        <p:spPr>
          <a:xfrm xmlns:a="http://schemas.openxmlformats.org/drawingml/2006/main">
            <a:off x="571500" y="581977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Controle met bron A</a:t>
            </a:r>
          </a:p>
        </p:txBody>
      </p:sp>
      <p:sp>
        <p:nvSpPr>
          <p:cNvPr id="9" name="3.500 + 1.500 = 5.000 inwoners">
            <a:extLst xmlns:a="http://schemas.openxmlformats.org/drawingml/2006/main">
              <a:ext uri="{FF2B5EF4-FFF2-40B4-BE49-F238E27FC236}">
                <a16:creationId xmlns:a16="http://schemas.microsoft.com/office/drawing/2014/main" id="{79418567-1420-4295-9CE5-C8913E06C94A}"/>
              </a:ext>
            </a:extLst>
          </p:cNvPr>
          <p:cNvSpPr>
            <a:spLocks xmlns:a="http://schemas.openxmlformats.org/drawingml/2006/main" noGrp="1"/>
          </p:cNvSpPr>
          <p:nvPr/>
        </p:nvSpPr>
        <p:spPr>
          <a:xfrm xmlns:a="http://schemas.openxmlformats.org/drawingml/2006/main">
            <a:off x="571500" y="670560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3.500 + 1.500 = 5.000 inwoners</a:t>
            </a:r>
          </a:p>
        </p:txBody>
      </p:sp>
    </p:spTree>
    <p:extLst>
      <p:ext uri="{BB962C8B-B14F-4D97-AF65-F5344CB8AC3E}">
        <p14:creationId xmlns:p14="http://schemas.microsoft.com/office/powerpoint/2010/main" val="18208189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6a · Bruto- en netto-participatie">
            <a:extLst xmlns:a="http://schemas.openxmlformats.org/drawingml/2006/main">
              <a:ext uri="{FF2B5EF4-FFF2-40B4-BE49-F238E27FC236}">
                <a16:creationId xmlns:a16="http://schemas.microsoft.com/office/drawing/2014/main" id="{0ADEA546-323E-4F79-9EDA-BF903A98E047}"/>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16a · Bruto- en netto-participatie</a:t>
            </a:r>
          </a:p>
        </p:txBody>
      </p:sp>
      <p:sp>
        <p:nvSpPr>
          <p:cNvPr id="2" name="">
            <a:extLst xmlns:a="http://schemas.openxmlformats.org/drawingml/2006/main">
              <a:ext uri="{FF2B5EF4-FFF2-40B4-BE49-F238E27FC236}">
                <a16:creationId xmlns:a16="http://schemas.microsoft.com/office/drawing/2014/main" id="{F1E4F38F-F60F-4104-8E1E-2855C587645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41488E8A-B7DF-4D8E-B4AB-1C75C9251C7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21">
            <a:extLst xmlns:a="http://schemas.openxmlformats.org/drawingml/2006/main">
              <a:ext uri="{FF2B5EF4-FFF2-40B4-BE49-F238E27FC236}">
                <a16:creationId xmlns:a16="http://schemas.microsoft.com/office/drawing/2014/main" id="{1FBF9830-9AAA-4E02-9897-E5D8B94F3F2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Bruto: beroepsbevolking / bevolking × 100%">
            <a:extLst xmlns:a="http://schemas.openxmlformats.org/drawingml/2006/main">
              <a:ext uri="{FF2B5EF4-FFF2-40B4-BE49-F238E27FC236}">
                <a16:creationId xmlns:a16="http://schemas.microsoft.com/office/drawing/2014/main" id="{30E4A956-730B-44EA-9743-1C9980526585}"/>
              </a:ext>
            </a:extLst>
          </p:cNvPr>
          <p:cNvSpPr>
            <a:spLocks xmlns:a="http://schemas.openxmlformats.org/drawingml/2006/main" noGrp="1"/>
          </p:cNvSpPr>
          <p:nvPr/>
        </p:nvSpPr>
        <p:spPr>
          <a:xfrm xmlns:a="http://schemas.openxmlformats.org/drawingml/2006/main">
            <a:off x="571500" y="2266950"/>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Bruto: beroepsbevolking / bevolking × 100%</a:t>
            </a:r>
          </a:p>
        </p:txBody>
      </p:sp>
      <p:sp>
        <p:nvSpPr>
          <p:cNvPr id="6" name="3.500 / 5.000 × 100% = 70%">
            <a:extLst xmlns:a="http://schemas.openxmlformats.org/drawingml/2006/main">
              <a:ext uri="{FF2B5EF4-FFF2-40B4-BE49-F238E27FC236}">
                <a16:creationId xmlns:a16="http://schemas.microsoft.com/office/drawing/2014/main" id="{9BD8B555-684A-4940-9636-942D8007BA5D}"/>
              </a:ext>
            </a:extLst>
          </p:cNvPr>
          <p:cNvSpPr>
            <a:spLocks xmlns:a="http://schemas.openxmlformats.org/drawingml/2006/main" noGrp="1"/>
          </p:cNvSpPr>
          <p:nvPr/>
        </p:nvSpPr>
        <p:spPr>
          <a:xfrm xmlns:a="http://schemas.openxmlformats.org/drawingml/2006/main">
            <a:off x="571500" y="331470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83247"/>
                </a:solidFill>
                <a:latin typeface="Arial"/>
                <a:ea typeface="Arial"/>
                <a:cs typeface="Arial"/>
              </a:defRPr>
            </a:pPr>
            <a:r>
              <a:rPr sz="3975" b="1">
                <a:solidFill>
                  <a:srgbClr val="183247"/>
                </a:solidFill>
                <a:latin typeface="Arial"/>
                <a:ea typeface="Arial"/>
                <a:cs typeface="Arial"/>
              </a:rPr>
              <a:t>3.500 / 5.000 × 100% = 70%</a:t>
            </a:r>
          </a:p>
        </p:txBody>
      </p:sp>
      <p:sp>
        <p:nvSpPr>
          <p:cNvPr id="7" name="">
            <a:extLst xmlns:a="http://schemas.openxmlformats.org/drawingml/2006/main">
              <a:ext uri="{FF2B5EF4-FFF2-40B4-BE49-F238E27FC236}">
                <a16:creationId xmlns:a16="http://schemas.microsoft.com/office/drawing/2014/main" id="{8DF8FDFF-7926-46B9-AB51-3A02985FAC5B}"/>
              </a:ext>
            </a:extLst>
          </p:cNvPr>
          <p:cNvSpPr>
            <a:spLocks xmlns:a="http://schemas.openxmlformats.org/drawingml/2006/main" noGrp="1"/>
          </p:cNvSpPr>
          <p:nvPr/>
        </p:nvSpPr>
        <p:spPr>
          <a:xfrm xmlns:a="http://schemas.openxmlformats.org/drawingml/2006/main">
            <a:off x="571500" y="4791075"/>
            <a:ext cx="14097000" cy="0"/>
          </a:xfrm>
          <a:prstGeom xmlns:a="http://schemas.openxmlformats.org/drawingml/2006/main" prst="line">
            <a:avLst/>
          </a:prstGeom>
          <a:ln xmlns:a="http://schemas.openxmlformats.org/drawingml/2006/main" w="19050">
            <a:solidFill>
              <a:srgbClr val="C6D2DB"/>
            </a:solidFill>
          </a:ln>
        </p:spPr>
      </p:sp>
      <p:sp>
        <p:nvSpPr>
          <p:cNvPr id="8" name="Netto: werkenden / bevolking × 100%">
            <a:extLst xmlns:a="http://schemas.openxmlformats.org/drawingml/2006/main">
              <a:ext uri="{FF2B5EF4-FFF2-40B4-BE49-F238E27FC236}">
                <a16:creationId xmlns:a16="http://schemas.microsoft.com/office/drawing/2014/main" id="{4EBB9275-527E-4D20-BAD1-AEBE4D14B6D9}"/>
              </a:ext>
            </a:extLst>
          </p:cNvPr>
          <p:cNvSpPr>
            <a:spLocks xmlns:a="http://schemas.openxmlformats.org/drawingml/2006/main" noGrp="1"/>
          </p:cNvSpPr>
          <p:nvPr/>
        </p:nvSpPr>
        <p:spPr>
          <a:xfrm xmlns:a="http://schemas.openxmlformats.org/drawingml/2006/main">
            <a:off x="571500" y="5200650"/>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E7449"/>
                </a:solidFill>
                <a:latin typeface="Arial"/>
                <a:ea typeface="Arial"/>
                <a:cs typeface="Arial"/>
              </a:defRPr>
            </a:pPr>
            <a:r>
              <a:rPr sz="2775" b="1">
                <a:solidFill>
                  <a:srgbClr val="1E7449"/>
                </a:solidFill>
                <a:latin typeface="Arial"/>
                <a:ea typeface="Arial"/>
                <a:cs typeface="Arial"/>
              </a:rPr>
              <a:t>Netto: werkenden / bevolking × 100%</a:t>
            </a:r>
          </a:p>
        </p:txBody>
      </p:sp>
      <p:sp>
        <p:nvSpPr>
          <p:cNvPr id="9" name="3.000 / 5.000 × 100% = 60%">
            <a:extLst xmlns:a="http://schemas.openxmlformats.org/drawingml/2006/main">
              <a:ext uri="{FF2B5EF4-FFF2-40B4-BE49-F238E27FC236}">
                <a16:creationId xmlns:a16="http://schemas.microsoft.com/office/drawing/2014/main" id="{989F94ED-1338-44D5-A901-F6A18E68CA2B}"/>
              </a:ext>
            </a:extLst>
          </p:cNvPr>
          <p:cNvSpPr>
            <a:spLocks xmlns:a="http://schemas.openxmlformats.org/drawingml/2006/main" noGrp="1"/>
          </p:cNvSpPr>
          <p:nvPr/>
        </p:nvSpPr>
        <p:spPr>
          <a:xfrm xmlns:a="http://schemas.openxmlformats.org/drawingml/2006/main">
            <a:off x="571500" y="6276975"/>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83247"/>
                </a:solidFill>
                <a:latin typeface="Arial"/>
                <a:ea typeface="Arial"/>
                <a:cs typeface="Arial"/>
              </a:defRPr>
            </a:pPr>
            <a:r>
              <a:rPr sz="3975" b="1">
                <a:solidFill>
                  <a:srgbClr val="183247"/>
                </a:solidFill>
                <a:latin typeface="Arial"/>
                <a:ea typeface="Arial"/>
                <a:cs typeface="Arial"/>
              </a:rPr>
              <a:t>3.000 / 5.000 × 100% = 60%</a:t>
            </a:r>
          </a:p>
        </p:txBody>
      </p:sp>
    </p:spTree>
    <p:extLst>
      <p:ext uri="{BB962C8B-B14F-4D97-AF65-F5344CB8AC3E}">
        <p14:creationId xmlns:p14="http://schemas.microsoft.com/office/powerpoint/2010/main" val="130415615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Opgave 16b · Evenwichtsloon en werkgelegenheid">
            <a:extLst xmlns:a="http://schemas.openxmlformats.org/drawingml/2006/main">
              <a:ext uri="{FF2B5EF4-FFF2-40B4-BE49-F238E27FC236}">
                <a16:creationId xmlns:a16="http://schemas.microsoft.com/office/drawing/2014/main" id="{B69ED7E4-4997-42B1-B0A8-2B71ADA78E50}"/>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16b · Evenwichtsloon en werkgelegenheid</a:t>
            </a:r>
          </a:p>
        </p:txBody>
      </p:sp>
      <p:sp>
        <p:nvSpPr>
          <p:cNvPr id="2" name="">
            <a:extLst xmlns:a="http://schemas.openxmlformats.org/drawingml/2006/main">
              <a:ext uri="{FF2B5EF4-FFF2-40B4-BE49-F238E27FC236}">
                <a16:creationId xmlns:a16="http://schemas.microsoft.com/office/drawing/2014/main" id="{1FD7B932-7DE2-4C60-BC04-B3585BD978E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B8D98AA4-ACDF-4E3B-AAB6-07F79A2A708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22">
            <a:extLst xmlns:a="http://schemas.openxmlformats.org/drawingml/2006/main">
              <a:ext uri="{FF2B5EF4-FFF2-40B4-BE49-F238E27FC236}">
                <a16:creationId xmlns:a16="http://schemas.microsoft.com/office/drawing/2014/main" id="{7D333F40-9DDA-410F-9577-D6E9BE5AD50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Gelijkstellen">
            <a:extLst xmlns:a="http://schemas.openxmlformats.org/drawingml/2006/main">
              <a:ext uri="{FF2B5EF4-FFF2-40B4-BE49-F238E27FC236}">
                <a16:creationId xmlns:a16="http://schemas.microsoft.com/office/drawing/2014/main" id="{FCB7917E-9E10-4921-AE0B-E8CF122586E9}"/>
              </a:ext>
            </a:extLst>
          </p:cNvPr>
          <p:cNvSpPr>
            <a:spLocks xmlns:a="http://schemas.openxmlformats.org/drawingml/2006/main" noGrp="1"/>
          </p:cNvSpPr>
          <p:nvPr/>
        </p:nvSpPr>
        <p:spPr>
          <a:xfrm xmlns:a="http://schemas.openxmlformats.org/drawingml/2006/main">
            <a:off x="571500" y="21431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Gelijkstellen</a:t>
            </a:r>
          </a:p>
        </p:txBody>
      </p:sp>
      <p:sp>
        <p:nvSpPr>
          <p:cNvPr id="6" name="240 − 10w = −40 + 10w">
            <a:extLst xmlns:a="http://schemas.openxmlformats.org/drawingml/2006/main">
              <a:ext uri="{FF2B5EF4-FFF2-40B4-BE49-F238E27FC236}">
                <a16:creationId xmlns:a16="http://schemas.microsoft.com/office/drawing/2014/main" id="{EAC23C9C-694D-4FE9-A450-3691402E5AB6}"/>
              </a:ext>
            </a:extLst>
          </p:cNvPr>
          <p:cNvSpPr>
            <a:spLocks xmlns:a="http://schemas.openxmlformats.org/drawingml/2006/main" noGrp="1"/>
          </p:cNvSpPr>
          <p:nvPr/>
        </p:nvSpPr>
        <p:spPr>
          <a:xfrm xmlns:a="http://schemas.openxmlformats.org/drawingml/2006/main">
            <a:off x="4267200" y="21431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240 − 10w = −40 + 10w</a:t>
            </a:r>
          </a:p>
        </p:txBody>
      </p:sp>
      <p:sp>
        <p:nvSpPr>
          <p:cNvPr id="7" name="">
            <a:extLst xmlns:a="http://schemas.openxmlformats.org/drawingml/2006/main">
              <a:ext uri="{FF2B5EF4-FFF2-40B4-BE49-F238E27FC236}">
                <a16:creationId xmlns:a16="http://schemas.microsoft.com/office/drawing/2014/main" id="{8B8069CF-25A7-4AFF-98A5-A3096ADBB4AD}"/>
              </a:ext>
            </a:extLst>
          </p:cNvPr>
          <p:cNvSpPr>
            <a:spLocks xmlns:a="http://schemas.openxmlformats.org/drawingml/2006/main" noGrp="1"/>
          </p:cNvSpPr>
          <p:nvPr/>
        </p:nvSpPr>
        <p:spPr>
          <a:xfrm xmlns:a="http://schemas.openxmlformats.org/drawingml/2006/main">
            <a:off x="571500" y="3095625"/>
            <a:ext cx="14097000" cy="0"/>
          </a:xfrm>
          <a:prstGeom xmlns:a="http://schemas.openxmlformats.org/drawingml/2006/main" prst="line">
            <a:avLst/>
          </a:prstGeom>
          <a:ln xmlns:a="http://schemas.openxmlformats.org/drawingml/2006/main" w="19050">
            <a:solidFill>
              <a:srgbClr val="C6D2DB"/>
            </a:solidFill>
          </a:ln>
        </p:spPr>
      </p:sp>
      <p:sp>
        <p:nvSpPr>
          <p:cNvPr id="8" name="Oplossen">
            <a:extLst xmlns:a="http://schemas.openxmlformats.org/drawingml/2006/main">
              <a:ext uri="{FF2B5EF4-FFF2-40B4-BE49-F238E27FC236}">
                <a16:creationId xmlns:a16="http://schemas.microsoft.com/office/drawing/2014/main" id="{0A1B0CA7-8560-44D3-831E-E0DB070450CB}"/>
              </a:ext>
            </a:extLst>
          </p:cNvPr>
          <p:cNvSpPr>
            <a:spLocks xmlns:a="http://schemas.openxmlformats.org/drawingml/2006/main" noGrp="1"/>
          </p:cNvSpPr>
          <p:nvPr/>
        </p:nvSpPr>
        <p:spPr>
          <a:xfrm xmlns:a="http://schemas.openxmlformats.org/drawingml/2006/main">
            <a:off x="571500" y="34004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Oplossen</a:t>
            </a:r>
          </a:p>
        </p:txBody>
      </p:sp>
      <p:sp>
        <p:nvSpPr>
          <p:cNvPr id="9" name="280 = 20w, dus w = € 14 per uur">
            <a:extLst xmlns:a="http://schemas.openxmlformats.org/drawingml/2006/main">
              <a:ext uri="{FF2B5EF4-FFF2-40B4-BE49-F238E27FC236}">
                <a16:creationId xmlns:a16="http://schemas.microsoft.com/office/drawing/2014/main" id="{6E1BBDBD-A5F5-47BC-ACE8-0771ED1E3468}"/>
              </a:ext>
            </a:extLst>
          </p:cNvPr>
          <p:cNvSpPr>
            <a:spLocks xmlns:a="http://schemas.openxmlformats.org/drawingml/2006/main" noGrp="1"/>
          </p:cNvSpPr>
          <p:nvPr/>
        </p:nvSpPr>
        <p:spPr>
          <a:xfrm xmlns:a="http://schemas.openxmlformats.org/drawingml/2006/main">
            <a:off x="4267200" y="34004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280 = 20w, dus w = € 14 per uur</a:t>
            </a:r>
          </a:p>
        </p:txBody>
      </p:sp>
      <p:sp>
        <p:nvSpPr>
          <p:cNvPr id="10" name="">
            <a:extLst xmlns:a="http://schemas.openxmlformats.org/drawingml/2006/main">
              <a:ext uri="{FF2B5EF4-FFF2-40B4-BE49-F238E27FC236}">
                <a16:creationId xmlns:a16="http://schemas.microsoft.com/office/drawing/2014/main" id="{52CDDC2F-5006-4019-84B9-049FFC8EE573}"/>
              </a:ext>
            </a:extLst>
          </p:cNvPr>
          <p:cNvSpPr>
            <a:spLocks xmlns:a="http://schemas.openxmlformats.org/drawingml/2006/main" noGrp="1"/>
          </p:cNvSpPr>
          <p:nvPr/>
        </p:nvSpPr>
        <p:spPr>
          <a:xfrm xmlns:a="http://schemas.openxmlformats.org/drawingml/2006/main">
            <a:off x="571500" y="4352925"/>
            <a:ext cx="14097000" cy="0"/>
          </a:xfrm>
          <a:prstGeom xmlns:a="http://schemas.openxmlformats.org/drawingml/2006/main" prst="line">
            <a:avLst/>
          </a:prstGeom>
          <a:ln xmlns:a="http://schemas.openxmlformats.org/drawingml/2006/main" w="19050">
            <a:solidFill>
              <a:srgbClr val="C6D2DB"/>
            </a:solidFill>
          </a:ln>
        </p:spPr>
      </p:sp>
      <p:sp>
        <p:nvSpPr>
          <p:cNvPr id="11" name="Invullen">
            <a:extLst xmlns:a="http://schemas.openxmlformats.org/drawingml/2006/main">
              <a:ext uri="{FF2B5EF4-FFF2-40B4-BE49-F238E27FC236}">
                <a16:creationId xmlns:a16="http://schemas.microsoft.com/office/drawing/2014/main" id="{39FCCD87-E0A1-4071-BAB3-962FD7E18110}"/>
              </a:ext>
            </a:extLst>
          </p:cNvPr>
          <p:cNvSpPr>
            <a:spLocks xmlns:a="http://schemas.openxmlformats.org/drawingml/2006/main" noGrp="1"/>
          </p:cNvSpPr>
          <p:nvPr/>
        </p:nvSpPr>
        <p:spPr>
          <a:xfrm xmlns:a="http://schemas.openxmlformats.org/drawingml/2006/main">
            <a:off x="571500" y="46577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Invullen</a:t>
            </a:r>
          </a:p>
        </p:txBody>
      </p:sp>
      <p:sp>
        <p:nvSpPr>
          <p:cNvPr id="12" name="Lᵥ = 240 − 10 × 14 = 100 personen">
            <a:extLst xmlns:a="http://schemas.openxmlformats.org/drawingml/2006/main">
              <a:ext uri="{FF2B5EF4-FFF2-40B4-BE49-F238E27FC236}">
                <a16:creationId xmlns:a16="http://schemas.microsoft.com/office/drawing/2014/main" id="{52B6AC3B-2EA9-4878-90C1-B85202211E6F}"/>
              </a:ext>
            </a:extLst>
          </p:cNvPr>
          <p:cNvSpPr>
            <a:spLocks xmlns:a="http://schemas.openxmlformats.org/drawingml/2006/main" noGrp="1"/>
          </p:cNvSpPr>
          <p:nvPr/>
        </p:nvSpPr>
        <p:spPr>
          <a:xfrm xmlns:a="http://schemas.openxmlformats.org/drawingml/2006/main">
            <a:off x="4267200" y="46577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Lᵥ = 240 − 10 × 14 = 100 personen</a:t>
            </a:r>
          </a:p>
        </p:txBody>
      </p:sp>
      <p:sp>
        <p:nvSpPr>
          <p:cNvPr id="13" name="">
            <a:extLst xmlns:a="http://schemas.openxmlformats.org/drawingml/2006/main">
              <a:ext uri="{FF2B5EF4-FFF2-40B4-BE49-F238E27FC236}">
                <a16:creationId xmlns:a16="http://schemas.microsoft.com/office/drawing/2014/main" id="{4F70B81F-A737-43FB-A4D3-AA1590A626C3}"/>
              </a:ext>
            </a:extLst>
          </p:cNvPr>
          <p:cNvSpPr>
            <a:spLocks xmlns:a="http://schemas.openxmlformats.org/drawingml/2006/main" noGrp="1"/>
          </p:cNvSpPr>
          <p:nvPr/>
        </p:nvSpPr>
        <p:spPr>
          <a:xfrm xmlns:a="http://schemas.openxmlformats.org/drawingml/2006/main">
            <a:off x="571500" y="5610225"/>
            <a:ext cx="14097000" cy="0"/>
          </a:xfrm>
          <a:prstGeom xmlns:a="http://schemas.openxmlformats.org/drawingml/2006/main" prst="line">
            <a:avLst/>
          </a:prstGeom>
          <a:ln xmlns:a="http://schemas.openxmlformats.org/drawingml/2006/main" w="19050">
            <a:solidFill>
              <a:srgbClr val="C6D2DB"/>
            </a:solidFill>
          </a:ln>
        </p:spPr>
      </p:sp>
      <p:sp>
        <p:nvSpPr>
          <p:cNvPr id="14" name="Controleren">
            <a:extLst xmlns:a="http://schemas.openxmlformats.org/drawingml/2006/main">
              <a:ext uri="{FF2B5EF4-FFF2-40B4-BE49-F238E27FC236}">
                <a16:creationId xmlns:a16="http://schemas.microsoft.com/office/drawing/2014/main" id="{0CE4CC3D-B6B8-4C26-9837-76BE9006E3D7}"/>
              </a:ext>
            </a:extLst>
          </p:cNvPr>
          <p:cNvSpPr>
            <a:spLocks xmlns:a="http://schemas.openxmlformats.org/drawingml/2006/main" noGrp="1"/>
          </p:cNvSpPr>
          <p:nvPr/>
        </p:nvSpPr>
        <p:spPr>
          <a:xfrm xmlns:a="http://schemas.openxmlformats.org/drawingml/2006/main">
            <a:off x="571500" y="59150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A5276"/>
                </a:solidFill>
                <a:latin typeface="Arial"/>
                <a:ea typeface="Arial"/>
                <a:cs typeface="Arial"/>
              </a:defRPr>
            </a:pPr>
            <a:r>
              <a:rPr sz="2550" b="1">
                <a:solidFill>
                  <a:srgbClr val="1A5276"/>
                </a:solidFill>
                <a:latin typeface="Arial"/>
                <a:ea typeface="Arial"/>
                <a:cs typeface="Arial"/>
              </a:rPr>
              <a:t>Controleren</a:t>
            </a:r>
          </a:p>
        </p:txBody>
      </p:sp>
      <p:sp>
        <p:nvSpPr>
          <p:cNvPr id="15" name="Lₐ = −40 + 10 × 14 = 100 personen">
            <a:extLst xmlns:a="http://schemas.openxmlformats.org/drawingml/2006/main">
              <a:ext uri="{FF2B5EF4-FFF2-40B4-BE49-F238E27FC236}">
                <a16:creationId xmlns:a16="http://schemas.microsoft.com/office/drawing/2014/main" id="{10BCF1D9-EBAB-405C-8983-ADE12FDDCE03}"/>
              </a:ext>
            </a:extLst>
          </p:cNvPr>
          <p:cNvSpPr>
            <a:spLocks xmlns:a="http://schemas.openxmlformats.org/drawingml/2006/main" noGrp="1"/>
          </p:cNvSpPr>
          <p:nvPr/>
        </p:nvSpPr>
        <p:spPr>
          <a:xfrm xmlns:a="http://schemas.openxmlformats.org/drawingml/2006/main">
            <a:off x="4267200" y="59150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Lₐ = −40 + 10 × 14 = 100 personen</a:t>
            </a:r>
          </a:p>
        </p:txBody>
      </p:sp>
      <p:sp>
        <p:nvSpPr>
          <p:cNvPr id="16" name="€ 14 ligt binnen het domein van € 4 tot en met € 24.">
            <a:extLst xmlns:a="http://schemas.openxmlformats.org/drawingml/2006/main">
              <a:ext uri="{FF2B5EF4-FFF2-40B4-BE49-F238E27FC236}">
                <a16:creationId xmlns:a16="http://schemas.microsoft.com/office/drawing/2014/main" id="{20C8845D-69DF-4A53-AD67-F3C8E7709C26}"/>
              </a:ext>
            </a:extLst>
          </p:cNvPr>
          <p:cNvSpPr>
            <a:spLocks xmlns:a="http://schemas.openxmlformats.org/drawingml/2006/main" noGrp="1"/>
          </p:cNvSpPr>
          <p:nvPr/>
        </p:nvSpPr>
        <p:spPr>
          <a:xfrm xmlns:a="http://schemas.openxmlformats.org/drawingml/2006/main">
            <a:off x="571500" y="752475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€ 14 ligt binnen het domein van € 4 tot en met € 24.</a:t>
            </a:r>
          </a:p>
        </p:txBody>
      </p:sp>
    </p:spTree>
    <p:extLst>
      <p:ext uri="{BB962C8B-B14F-4D97-AF65-F5344CB8AC3E}">
        <p14:creationId xmlns:p14="http://schemas.microsoft.com/office/powerpoint/2010/main" val="1366139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6b · E in de grafiek">
            <a:extLst xmlns:a="http://schemas.openxmlformats.org/drawingml/2006/main">
              <a:ext uri="{FF2B5EF4-FFF2-40B4-BE49-F238E27FC236}">
                <a16:creationId xmlns:a16="http://schemas.microsoft.com/office/drawing/2014/main" id="{398438D1-5B5D-4917-A2CD-0C8BD60F7BA1}"/>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16b · E in de grafiek</a:t>
            </a:r>
          </a:p>
        </p:txBody>
      </p:sp>
      <p:sp>
        <p:nvSpPr>
          <p:cNvPr id="2" name="">
            <a:extLst xmlns:a="http://schemas.openxmlformats.org/drawingml/2006/main">
              <a:ext uri="{FF2B5EF4-FFF2-40B4-BE49-F238E27FC236}">
                <a16:creationId xmlns:a16="http://schemas.microsoft.com/office/drawing/2014/main" id="{E2982A6E-EB17-443B-80DC-2F35541C21E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E8983516-6933-4F50-AA5E-F579CB577EB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23">
            <a:extLst xmlns:a="http://schemas.openxmlformats.org/drawingml/2006/main">
              <a:ext uri="{FF2B5EF4-FFF2-40B4-BE49-F238E27FC236}">
                <a16:creationId xmlns:a16="http://schemas.microsoft.com/office/drawing/2014/main" id="{47BBA046-CD03-41F9-A2DE-9CC4784DE09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3" name="Chart"/>
          <p:cNvGraphicFramePr/>
          <p:nvPr/>
        </p:nvGraphicFramePr>
        <p:xfrm>
          <a:off xmlns:a="http://schemas.openxmlformats.org/drawingml/2006/main" x="571500" y="2238375"/>
          <a:ext xmlns:a="http://schemas.openxmlformats.org/drawingml/2006/main" cx="10001250" cy="5334000"/>
        </p:xfrm>
        <a:graphic xmlns:a="http://schemas.openxmlformats.org/drawingml/2006/main">
          <a:graphicData uri="http://schemas.openxmlformats.org/drawingml/2006/chart">
            <c:chart xmlns:r="http://schemas.openxmlformats.org/officeDocument/2006/relationships" xmlns:c="http://schemas.openxmlformats.org/drawingml/2006/chart" r:id="Rf399d2aa6e26443a"/>
          </a:graphicData>
        </a:graphic>
      </p:graphicFrame>
      <p:sp>
        <p:nvSpPr>
          <p:cNvPr id="6" name="E = (100; 14)">
            <a:extLst xmlns:a="http://schemas.openxmlformats.org/drawingml/2006/main">
              <a:ext uri="{FF2B5EF4-FFF2-40B4-BE49-F238E27FC236}">
                <a16:creationId xmlns:a16="http://schemas.microsoft.com/office/drawing/2014/main" id="{92FF403B-9EC8-473D-9193-5E9C552F28A9}"/>
              </a:ext>
            </a:extLst>
          </p:cNvPr>
          <p:cNvSpPr>
            <a:spLocks xmlns:a="http://schemas.openxmlformats.org/drawingml/2006/main" noGrp="1"/>
          </p:cNvSpPr>
          <p:nvPr/>
        </p:nvSpPr>
        <p:spPr>
          <a:xfrm xmlns:a="http://schemas.openxmlformats.org/drawingml/2006/main">
            <a:off x="10953750" y="2714625"/>
            <a:ext cx="3714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E = (100; 14)</a:t>
            </a:r>
          </a:p>
        </p:txBody>
      </p:sp>
      <p:sp>
        <p:nvSpPr>
          <p:cNvPr id="7" name="Werkgelegenheid&#10;100 personen&#10;&#10;Evenwichtsloon&#10;€ 14 per uur">
            <a:extLst xmlns:a="http://schemas.openxmlformats.org/drawingml/2006/main">
              <a:ext uri="{FF2B5EF4-FFF2-40B4-BE49-F238E27FC236}">
                <a16:creationId xmlns:a16="http://schemas.microsoft.com/office/drawing/2014/main" id="{483CDDFE-B6DA-459D-A8F5-90805A9637A3}"/>
              </a:ext>
            </a:extLst>
          </p:cNvPr>
          <p:cNvSpPr>
            <a:spLocks xmlns:a="http://schemas.openxmlformats.org/drawingml/2006/main" noGrp="1"/>
          </p:cNvSpPr>
          <p:nvPr/>
        </p:nvSpPr>
        <p:spPr>
          <a:xfrm xmlns:a="http://schemas.openxmlformats.org/drawingml/2006/main">
            <a:off x="10953750" y="3933825"/>
            <a:ext cx="37147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Werkgelegenheid</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100 personen</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Evenwichtsloon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€ 14 per uur</a:t>
            </a:r>
          </a:p>
        </p:txBody>
      </p:sp>
      <p:sp>
        <p:nvSpPr>
          <p:cNvPr id="8" name="Ieder 20 uur per week">
            <a:extLst xmlns:a="http://schemas.openxmlformats.org/drawingml/2006/main">
              <a:ext uri="{FF2B5EF4-FFF2-40B4-BE49-F238E27FC236}">
                <a16:creationId xmlns:a16="http://schemas.microsoft.com/office/drawing/2014/main" id="{7772AF1D-3627-4395-AB1B-744897046FE8}"/>
              </a:ext>
            </a:extLst>
          </p:cNvPr>
          <p:cNvSpPr>
            <a:spLocks xmlns:a="http://schemas.openxmlformats.org/drawingml/2006/main" noGrp="1"/>
          </p:cNvSpPr>
          <p:nvPr/>
        </p:nvSpPr>
        <p:spPr>
          <a:xfrm xmlns:a="http://schemas.openxmlformats.org/drawingml/2006/main">
            <a:off x="10953750" y="6991350"/>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Ieder 20 uur per week</a:t>
            </a:r>
          </a:p>
        </p:txBody>
      </p:sp>
    </p:spTree>
    <p:extLst>
      <p:ext uri="{BB962C8B-B14F-4D97-AF65-F5344CB8AC3E}">
        <p14:creationId xmlns:p14="http://schemas.microsoft.com/office/powerpoint/2010/main" val="150764216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6c · Wie vraagt en wie biedt aan?">
            <a:extLst xmlns:a="http://schemas.openxmlformats.org/drawingml/2006/main">
              <a:ext uri="{FF2B5EF4-FFF2-40B4-BE49-F238E27FC236}">
                <a16:creationId xmlns:a16="http://schemas.microsoft.com/office/drawing/2014/main" id="{7CE859A5-C7E0-4F52-A362-A3145CABF2E8}"/>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16c · Wie vraagt en wie biedt aan?</a:t>
            </a:r>
          </a:p>
        </p:txBody>
      </p:sp>
      <p:sp>
        <p:nvSpPr>
          <p:cNvPr id="2" name="">
            <a:extLst xmlns:a="http://schemas.openxmlformats.org/drawingml/2006/main">
              <a:ext uri="{FF2B5EF4-FFF2-40B4-BE49-F238E27FC236}">
                <a16:creationId xmlns:a16="http://schemas.microsoft.com/office/drawing/2014/main" id="{47BD75F5-3BA2-436C-8FEA-0E495B3A7F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EE7DF64B-55A0-4F32-B3D3-C51FBA8E5DB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24">
            <a:extLst xmlns:a="http://schemas.openxmlformats.org/drawingml/2006/main">
              <a:ext uri="{FF2B5EF4-FFF2-40B4-BE49-F238E27FC236}">
                <a16:creationId xmlns:a16="http://schemas.microsoft.com/office/drawing/2014/main" id="{46547C71-0AFA-4472-9B26-A9BF94A69ED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2" name=""/>
          <p:cNvGraphicFramePr/>
          <p:nvPr/>
        </p:nvGraphicFramePr>
        <p:xfrm>
          <a:off xmlns:a="http://schemas.openxmlformats.org/drawingml/2006/main" x="571500" y="2343150"/>
          <a:ext xmlns:a="http://schemas.openxmlformats.org/drawingml/2006/main" cx="14097000" cy="2962275"/>
        </p:xfrm>
        <a:graphic xmlns:a="http://schemas.openxmlformats.org/drawingml/2006/main">
          <a:graphicData uri="http://schemas.openxmlformats.org/drawingml/2006/table">
            <a:tbl>
              <a:tblPr/>
              <a:tblGrid>
                <a:gridCol w="7048500"/>
                <a:gridCol w="7048500"/>
              </a:tblGrid>
              <a:tr h="987425">
                <a:tc>
                  <a:txBody>
                    <a:bodyPr lIns="171450" tIns="95250" rIns="133350" bIns="95250"/>
                    <a:lstStyle/>
                    <a:p>
                      <a:r>
                        <a:rPr sz="2625" b="1">
                          <a:solidFill>
                            <a:srgbClr val="FFFFFF"/>
                          </a:solidFill>
                          <a:latin typeface="Arial"/>
                          <a:ea typeface="Arial"/>
                          <a:cs typeface="Arial"/>
                        </a:rPr>
                        <a:t>Werkgevers</a:t>
                      </a:r>
                    </a:p>
                  </a:txBody>
                  <a:tcPr marL="91440" marR="91440" marT="45720" marB="45720" anchor="ctr">
                    <a:solidFill>
                      <a:srgbClr val="183247"/>
                    </a:solidFill>
                  </a:tcPr>
                </a:tc>
                <a:tc>
                  <a:txBody>
                    <a:bodyPr lIns="171450" tIns="95250" rIns="133350" bIns="95250"/>
                    <a:lstStyle/>
                    <a:p>
                      <a:r>
                        <a:rPr sz="2625" b="1">
                          <a:solidFill>
                            <a:srgbClr val="FFFFFF"/>
                          </a:solidFill>
                          <a:latin typeface="Arial"/>
                          <a:ea typeface="Arial"/>
                          <a:cs typeface="Arial"/>
                        </a:rPr>
                        <a:t>Huishoudens</a:t>
                      </a:r>
                    </a:p>
                  </a:txBody>
                  <a:tcPr marL="91440" marR="91440" marT="45720" marB="45720" anchor="ctr">
                    <a:solidFill>
                      <a:srgbClr val="183247"/>
                    </a:solidFill>
                  </a:tcPr>
                </a:tc>
              </a:tr>
              <a:tr h="987425">
                <a:tc>
                  <a:txBody>
                    <a:bodyPr lIns="171450" tIns="95250" rIns="133350" bIns="95250"/>
                    <a:lstStyle/>
                    <a:p>
                      <a:r>
                        <a:rPr sz="2625" b="0">
                          <a:solidFill>
                            <a:srgbClr val="183247"/>
                          </a:solidFill>
                          <a:latin typeface="Arial"/>
                          <a:ea typeface="Arial"/>
                          <a:cs typeface="Arial"/>
                        </a:rPr>
                        <a:t>Vragen arbeid van 100 personen</a:t>
                      </a:r>
                    </a:p>
                  </a:txBody>
                  <a:tcPr marL="91440" marR="91440" marT="45720" marB="45720" anchor="ctr">
                    <a:solidFill>
                      <a:srgbClr val="FFFFFF"/>
                    </a:solidFill>
                  </a:tcPr>
                </a:tc>
                <a:tc>
                  <a:txBody>
                    <a:bodyPr lIns="171450" tIns="95250" rIns="133350" bIns="95250"/>
                    <a:lstStyle/>
                    <a:p>
                      <a:r>
                        <a:rPr sz="2625" b="0">
                          <a:solidFill>
                            <a:srgbClr val="183247"/>
                          </a:solidFill>
                          <a:latin typeface="Arial"/>
                          <a:ea typeface="Arial"/>
                          <a:cs typeface="Arial"/>
                        </a:rPr>
                        <a:t>Bieden arbeid van 100 personen aan</a:t>
                      </a:r>
                    </a:p>
                  </a:txBody>
                  <a:tcPr marL="91440" marR="91440" marT="45720" marB="45720" anchor="ctr">
                    <a:solidFill>
                      <a:srgbClr val="FFFFFF"/>
                    </a:solidFill>
                  </a:tcPr>
                </a:tc>
              </a:tr>
              <a:tr h="987425">
                <a:tc>
                  <a:txBody>
                    <a:bodyPr lIns="171450" tIns="95250" rIns="133350" bIns="95250"/>
                    <a:lstStyle/>
                    <a:p>
                      <a:r>
                        <a:rPr sz="2625" b="0">
                          <a:solidFill>
                            <a:srgbClr val="183247"/>
                          </a:solidFill>
                          <a:latin typeface="Arial"/>
                          <a:ea typeface="Arial"/>
                          <a:cs typeface="Arial"/>
                        </a:rPr>
                        <a:t>Betalen € 14 per gewerkt uur</a:t>
                      </a:r>
                    </a:p>
                  </a:txBody>
                  <a:tcPr marL="91440" marR="91440" marT="45720" marB="45720" anchor="ctr">
                    <a:solidFill>
                      <a:srgbClr val="EFF4F7"/>
                    </a:solidFill>
                  </a:tcPr>
                </a:tc>
                <a:tc>
                  <a:txBody>
                    <a:bodyPr lIns="171450" tIns="95250" rIns="133350" bIns="95250"/>
                    <a:lstStyle/>
                    <a:p>
                      <a:r>
                        <a:rPr sz="2625" b="0">
                          <a:solidFill>
                            <a:srgbClr val="183247"/>
                          </a:solidFill>
                          <a:latin typeface="Arial"/>
                          <a:ea typeface="Arial"/>
                          <a:cs typeface="Arial"/>
                        </a:rPr>
                        <a:t>Ontvangen € 14 per gewerkt uur</a:t>
                      </a:r>
                    </a:p>
                  </a:txBody>
                  <a:tcPr marL="91440" marR="91440" marT="45720" marB="45720" anchor="ctr">
                    <a:solidFill>
                      <a:srgbClr val="EFF4F7"/>
                    </a:solidFill>
                  </a:tcPr>
                </a:tc>
              </a:tr>
            </a:tbl>
          </a:graphicData>
        </a:graphic>
      </p:graphicFrame>
      <p:sp>
        <p:nvSpPr>
          <p:cNvPr id="6" name="Bron B: aparte sector onder vereenvoudigende aannamen">
            <a:extLst xmlns:a="http://schemas.openxmlformats.org/drawingml/2006/main">
              <a:ext uri="{FF2B5EF4-FFF2-40B4-BE49-F238E27FC236}">
                <a16:creationId xmlns:a16="http://schemas.microsoft.com/office/drawing/2014/main" id="{D30EAB80-831A-4EB0-979D-671486198AD6}"/>
              </a:ext>
            </a:extLst>
          </p:cNvPr>
          <p:cNvSpPr>
            <a:spLocks xmlns:a="http://schemas.openxmlformats.org/drawingml/2006/main" noGrp="1"/>
          </p:cNvSpPr>
          <p:nvPr/>
        </p:nvSpPr>
        <p:spPr>
          <a:xfrm xmlns:a="http://schemas.openxmlformats.org/drawingml/2006/main">
            <a:off x="571500" y="59245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Bron B: aparte sector onder vereenvoudigende aannamen</a:t>
            </a:r>
          </a:p>
        </p:txBody>
      </p:sp>
      <p:sp>
        <p:nvSpPr>
          <p:cNvPr id="7" name="Bron A: telling van alle inwoners binnen het leeftijdsbereik">
            <a:extLst xmlns:a="http://schemas.openxmlformats.org/drawingml/2006/main">
              <a:ext uri="{FF2B5EF4-FFF2-40B4-BE49-F238E27FC236}">
                <a16:creationId xmlns:a16="http://schemas.microsoft.com/office/drawing/2014/main" id="{2F3BE003-38B9-4BCD-A70C-147E152F141C}"/>
              </a:ext>
            </a:extLst>
          </p:cNvPr>
          <p:cNvSpPr>
            <a:spLocks xmlns:a="http://schemas.openxmlformats.org/drawingml/2006/main" noGrp="1"/>
          </p:cNvSpPr>
          <p:nvPr/>
        </p:nvSpPr>
        <p:spPr>
          <a:xfrm xmlns:a="http://schemas.openxmlformats.org/drawingml/2006/main">
            <a:off x="571500" y="6991350"/>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E7449"/>
                </a:solidFill>
                <a:latin typeface="Arial"/>
                <a:ea typeface="Arial"/>
                <a:cs typeface="Arial"/>
              </a:defRPr>
            </a:pPr>
            <a:r>
              <a:rPr sz="2925" b="1">
                <a:solidFill>
                  <a:srgbClr val="1E7449"/>
                </a:solidFill>
                <a:latin typeface="Arial"/>
                <a:ea typeface="Arial"/>
                <a:cs typeface="Arial"/>
              </a:rPr>
              <a:t>Bron A: telling van alle inwoners binnen het leeftijdsbereik</a:t>
            </a:r>
          </a:p>
        </p:txBody>
      </p:sp>
    </p:spTree>
    <p:extLst>
      <p:ext uri="{BB962C8B-B14F-4D97-AF65-F5344CB8AC3E}">
        <p14:creationId xmlns:p14="http://schemas.microsoft.com/office/powerpoint/2010/main" val="183012108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2 Arbeidsaanbod, participatie en evenwicht">
            <a:extLst xmlns:a="http://schemas.openxmlformats.org/drawingml/2006/main">
              <a:ext uri="{FF2B5EF4-FFF2-40B4-BE49-F238E27FC236}">
                <a16:creationId xmlns:a16="http://schemas.microsoft.com/office/drawing/2014/main" id="{BE657871-FEEA-49AE-9875-9695C855CEEA}"/>
              </a:ext>
            </a:extLst>
          </p:cNvPr>
          <p:cNvSpPr>
            <a:spLocks xmlns:a="http://schemas.openxmlformats.org/drawingml/2006/main" noGrp="1"/>
          </p:cNvSpPr>
          <p:nvPr/>
        </p:nvSpPr>
        <p:spPr>
          <a:xfrm xmlns:a="http://schemas.openxmlformats.org/drawingml/2006/main">
            <a:off x="571500" y="40005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Deze les: §4.3.2 Arbeidsaanbod, participatie en evenwicht</a:t>
            </a:r>
          </a:p>
        </p:txBody>
      </p:sp>
      <p:sp>
        <p:nvSpPr>
          <p:cNvPr id="2" name="">
            <a:extLst xmlns:a="http://schemas.openxmlformats.org/drawingml/2006/main">
              <a:ext uri="{FF2B5EF4-FFF2-40B4-BE49-F238E27FC236}">
                <a16:creationId xmlns:a16="http://schemas.microsoft.com/office/drawing/2014/main" id="{779407B2-7450-4438-8F76-6200C1DE62E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2 Arbeidsaanbod, participatie en evenwicht">
            <a:extLst xmlns:a="http://schemas.openxmlformats.org/drawingml/2006/main">
              <a:ext uri="{FF2B5EF4-FFF2-40B4-BE49-F238E27FC236}">
                <a16:creationId xmlns:a16="http://schemas.microsoft.com/office/drawing/2014/main" id="{E7EEB0CC-1A57-4FEA-A563-47BD2645685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§4.3.2 Arbeidsaanbod, participatie en evenwicht</a:t>
            </a:r>
          </a:p>
        </p:txBody>
      </p:sp>
      <p:sp>
        <p:nvSpPr>
          <p:cNvPr id="4" name="25">
            <a:extLst xmlns:a="http://schemas.openxmlformats.org/drawingml/2006/main">
              <a:ext uri="{FF2B5EF4-FFF2-40B4-BE49-F238E27FC236}">
                <a16:creationId xmlns:a16="http://schemas.microsoft.com/office/drawing/2014/main" id="{868D204B-1B67-4237-AFFC-776642B5627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hase">
            <a:extLst xmlns:a="http://schemas.openxmlformats.org/drawingml/2006/main">
              <a:ext uri="{FF2B5EF4-FFF2-40B4-BE49-F238E27FC236}">
                <a16:creationId xmlns:a16="http://schemas.microsoft.com/office/drawing/2014/main" id="{D521AF6D-B75C-4CBE-8FFB-4B2F1FCB2323}"/>
              </a:ext>
            </a:extLst>
          </p:cNvPr>
          <p:cNvSpPr>
            <a:spLocks xmlns:a="http://schemas.openxmlformats.org/drawingml/2006/main" noGrp="1"/>
          </p:cNvSpPr>
          <p:nvPr/>
        </p:nvSpPr>
        <p:spPr>
          <a:xfrm xmlns:a="http://schemas.openxmlformats.org/drawingml/2006/main">
            <a:off x="571500" y="1066800"/>
            <a:ext cx="1390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CBC9FB86-E770-40C7-BD6A-32516E2EC3F0}"/>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2A1DEDC0-2980-43E2-B041-4204979D41E2}"/>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AC0DE67A-AEA7-42DE-857E-7502D7B7B2CD}"/>
              </a:ext>
            </a:extLst>
          </p:cNvPr>
          <p:cNvSpPr>
            <a:spLocks xmlns:a="http://schemas.openxmlformats.org/drawingml/2006/main" noGrp="1"/>
          </p:cNvSpPr>
          <p:nvPr/>
        </p:nvSpPr>
        <p:spPr>
          <a:xfrm xmlns:a="http://schemas.openxmlformats.org/drawingml/2006/main">
            <a:off x="1104900" y="2324100"/>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D2912E61-578B-4BF6-8944-1D3D82328AF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7E29BE47-15C8-4C1A-9636-DFCE19B407F1}"/>
              </a:ext>
            </a:extLst>
          </p:cNvPr>
          <p:cNvSpPr>
            <a:spLocks xmlns:a="http://schemas.openxmlformats.org/drawingml/2006/main" noGrp="1"/>
          </p:cNvSpPr>
          <p:nvPr/>
        </p:nvSpPr>
        <p:spPr>
          <a:xfrm xmlns:a="http://schemas.openxmlformats.org/drawingml/2006/main">
            <a:off x="1104900" y="32004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F359B3F4-C8F7-41D4-A66E-5D9F2C4B94A4}"/>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9C090225-6551-4A97-A226-1DB8C437DB14}"/>
              </a:ext>
            </a:extLst>
          </p:cNvPr>
          <p:cNvSpPr>
            <a:spLocks xmlns:a="http://schemas.openxmlformats.org/drawingml/2006/main" noGrp="1"/>
          </p:cNvSpPr>
          <p:nvPr/>
        </p:nvSpPr>
        <p:spPr>
          <a:xfrm xmlns:a="http://schemas.openxmlformats.org/drawingml/2006/main">
            <a:off x="1104900" y="37147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F815449E-49D9-4679-A34B-BC85EB235BF8}"/>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9468B6E0-8FCE-4DF7-9E7A-1DA8EC1ABBFB}"/>
              </a:ext>
            </a:extLst>
          </p:cNvPr>
          <p:cNvSpPr>
            <a:spLocks xmlns:a="http://schemas.openxmlformats.org/drawingml/2006/main" noGrp="1"/>
          </p:cNvSpPr>
          <p:nvPr/>
        </p:nvSpPr>
        <p:spPr>
          <a:xfrm xmlns:a="http://schemas.openxmlformats.org/drawingml/2006/main">
            <a:off x="1104900" y="4248150"/>
            <a:ext cx="7524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A2C3FAFB-A175-4B4C-9210-18321AA1AC25}"/>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6B36F73C-02DA-4355-BBA5-2E6EAB3E0D3E}"/>
              </a:ext>
            </a:extLst>
          </p:cNvPr>
          <p:cNvSpPr>
            <a:spLocks xmlns:a="http://schemas.openxmlformats.org/drawingml/2006/main" noGrp="1"/>
          </p:cNvSpPr>
          <p:nvPr/>
        </p:nvSpPr>
        <p:spPr>
          <a:xfrm xmlns:a="http://schemas.openxmlformats.org/drawingml/2006/main">
            <a:off x="1104900" y="60579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1DBF512A-CFD8-4B85-82E0-0773CD475C08}"/>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ECABE667-DAB6-4026-A9B1-137ADCD2F6FA}"/>
              </a:ext>
            </a:extLst>
          </p:cNvPr>
          <p:cNvSpPr>
            <a:spLocks xmlns:a="http://schemas.openxmlformats.org/drawingml/2006/main" noGrp="1"/>
          </p:cNvSpPr>
          <p:nvPr/>
        </p:nvSpPr>
        <p:spPr>
          <a:xfrm xmlns:a="http://schemas.openxmlformats.org/drawingml/2006/main">
            <a:off x="1104900" y="68199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16.</a:t>
            </a:r>
          </a:p>
        </p:txBody>
      </p:sp>
      <p:sp>
        <p:nvSpPr>
          <p:cNvPr id="19" name="route-number-6">
            <a:extLst xmlns:a="http://schemas.openxmlformats.org/drawingml/2006/main">
              <a:ext uri="{FF2B5EF4-FFF2-40B4-BE49-F238E27FC236}">
                <a16:creationId xmlns:a16="http://schemas.microsoft.com/office/drawing/2014/main" id="{2972BB2D-BC7C-43F0-BE72-08A6D84F7C7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0EDD9476-9562-4985-B573-308442BE1C59}"/>
              </a:ext>
            </a:extLst>
          </p:cNvPr>
          <p:cNvSpPr>
            <a:spLocks xmlns:a="http://schemas.openxmlformats.org/drawingml/2006/main" noGrp="1"/>
          </p:cNvSpPr>
          <p:nvPr/>
        </p:nvSpPr>
        <p:spPr>
          <a:xfrm xmlns:a="http://schemas.openxmlformats.org/drawingml/2006/main">
            <a:off x="1104900" y="7372350"/>
            <a:ext cx="752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C0602D4-86D9-42AB-9313-0E73ACD02D59}"/>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C6A36DB-B889-4357-9AB9-BB71B4F089DD}"/>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Groepen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Bruto en netto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Loon en werkgelegenheid vinden.</a:t>
            </a:r>
          </a:p>
        </p:txBody>
      </p:sp>
      <p:sp>
        <p:nvSpPr>
          <p:cNvPr id="23" name="">
            <a:extLst xmlns:a="http://schemas.openxmlformats.org/drawingml/2006/main">
              <a:ext uri="{FF2B5EF4-FFF2-40B4-BE49-F238E27FC236}">
                <a16:creationId xmlns:a16="http://schemas.microsoft.com/office/drawing/2014/main" id="{A2D58D16-A752-424C-A1E5-EA8FD4CE4AD3}"/>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A21D569-137D-4DB6-B0F8-F3764526B864}"/>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E527F701-5238-43B8-9DA9-8F502137E73F}"/>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128 · Opgaven 10 en 11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11: verkennen, theorie p. 124</a:t>
            </a:r>
          </a:p>
        </p:txBody>
      </p:sp>
      <p:sp>
        <p:nvSpPr>
          <p:cNvPr id="26" name="">
            <a:extLst xmlns:a="http://schemas.openxmlformats.org/drawingml/2006/main">
              <a:ext uri="{FF2B5EF4-FFF2-40B4-BE49-F238E27FC236}">
                <a16:creationId xmlns:a16="http://schemas.microsoft.com/office/drawing/2014/main" id="{A4AB937E-02D6-4358-B6F1-000CAF216C40}"/>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5198EA90-D713-4DC3-8998-5BEF343B51A7}"/>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0DDE09A8-A1C6-42DF-8DA9-75CAF1F16A17}"/>
              </a:ext>
            </a:extLst>
          </p:cNvPr>
          <p:cNvSpPr>
            <a:spLocks xmlns:a="http://schemas.openxmlformats.org/drawingml/2006/main" noGrp="1"/>
          </p:cNvSpPr>
          <p:nvPr/>
        </p:nvSpPr>
        <p:spPr>
          <a:xfrm xmlns:a="http://schemas.openxmlformats.org/drawingml/2006/main">
            <a:off x="9258300" y="6229350"/>
            <a:ext cx="53816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§4.3.2 · Opgaven 12 t/m 16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12 en 13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14 en 15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16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1999106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2026-10-01T18:27:08.9830000Z</dcterms:created>
  <dcterms:modified xsi:type="dcterms:W3CDTF">2026-10-01T18:27:08.9830000Z</dcterms:modified>
</coreProperties>
</file>