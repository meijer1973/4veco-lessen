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slides/charts/chart1.xml" ContentType="application/vnd.openxmlformats-officedocument.drawingml.chart+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95ddbc95ef664b23" /><Relationship Type="http://schemas.openxmlformats.org/officeDocument/2006/relationships/extended-properties" Target="/docProps/app.xml" Id="Rc84b7f04b2614af3" /><Relationship Type="http://schemas.openxmlformats.org/officeDocument/2006/relationships/officeDocument" Target="/ppt/presentation.xml" Id="R5a249f5347ae4970" /></Relationships>
</file>

<file path=ppt/presentation.xml><?xml version="1.0" encoding="utf-8"?>
<p:presentation xmlns:p="http://schemas.openxmlformats.org/presentationml/2006/main">
  <p:sldMasterIdLst>
    <p:sldMasterId xmlns:r="http://schemas.openxmlformats.org/officeDocument/2006/relationships" id="2147483648" r:id="Rab6d892bd461441d"/>
  </p:sldMasterIdLst>
  <p:notesMasterIdLst>
    <p:notesMasterId xmlns:r="http://schemas.openxmlformats.org/officeDocument/2006/relationships" r:id="R84f0a4a604a94ac9"/>
  </p:notesMasterIdLst>
  <p:sldIdLst>
    <p:sldId xmlns:r="http://schemas.openxmlformats.org/officeDocument/2006/relationships" id="256" r:id="R12938faeca774e27"/>
    <p:sldId xmlns:r="http://schemas.openxmlformats.org/officeDocument/2006/relationships" id="257" r:id="Ra6c42c45889a4000"/>
    <p:sldId xmlns:r="http://schemas.openxmlformats.org/officeDocument/2006/relationships" id="258" r:id="R59559bbe24fd498f"/>
    <p:sldId xmlns:r="http://schemas.openxmlformats.org/officeDocument/2006/relationships" id="259" r:id="Re2178e2f9e0346af"/>
    <p:sldId xmlns:r="http://schemas.openxmlformats.org/officeDocument/2006/relationships" id="260" r:id="R2b2941efda184f17"/>
    <p:sldId xmlns:r="http://schemas.openxmlformats.org/officeDocument/2006/relationships" id="261" r:id="Rda8063c9e30845b1"/>
    <p:sldId xmlns:r="http://schemas.openxmlformats.org/officeDocument/2006/relationships" id="262" r:id="Rcd9f49fd8f7e4e8e"/>
    <p:sldId xmlns:r="http://schemas.openxmlformats.org/officeDocument/2006/relationships" id="263" r:id="R659796a4db91401c"/>
    <p:sldId xmlns:r="http://schemas.openxmlformats.org/officeDocument/2006/relationships" id="264" r:id="R0ec10056fffb45fd"/>
    <p:sldId xmlns:r="http://schemas.openxmlformats.org/officeDocument/2006/relationships" id="265" r:id="R9a0f60bf96ae40d4"/>
    <p:sldId xmlns:r="http://schemas.openxmlformats.org/officeDocument/2006/relationships" id="266" r:id="R6ccf503327994d33"/>
    <p:sldId xmlns:r="http://schemas.openxmlformats.org/officeDocument/2006/relationships" id="267" r:id="R9acaf24a74a24e73"/>
    <p:sldId xmlns:r="http://schemas.openxmlformats.org/officeDocument/2006/relationships" id="268" r:id="R022aed77f5e742e0"/>
    <p:sldId xmlns:r="http://schemas.openxmlformats.org/officeDocument/2006/relationships" id="269" r:id="R49eec061da7246e5"/>
    <p:sldId xmlns:r="http://schemas.openxmlformats.org/officeDocument/2006/relationships" id="270" r:id="R0cb3e75ea9d9499f"/>
    <p:sldId xmlns:r="http://schemas.openxmlformats.org/officeDocument/2006/relationships" id="271" r:id="R10107e61b4644356"/>
    <p:sldId xmlns:r="http://schemas.openxmlformats.org/officeDocument/2006/relationships" id="272" r:id="Rd55fcc7b6f514faf"/>
    <p:sldId xmlns:r="http://schemas.openxmlformats.org/officeDocument/2006/relationships" id="273" r:id="R1d06f4a53c454aac"/>
    <p:sldId xmlns:r="http://schemas.openxmlformats.org/officeDocument/2006/relationships" id="274" r:id="R79edbe1db13b4033"/>
    <p:sldId xmlns:r="http://schemas.openxmlformats.org/officeDocument/2006/relationships" id="275" r:id="R93ea59e69a7d41c4"/>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6275a5da39a49b8" /><Relationship Type="http://schemas.openxmlformats.org/officeDocument/2006/relationships/slideMaster" Target="/ppt/slideMasters/slideMaster1.xml" Id="Rab6d892bd461441d" /><Relationship Type="http://schemas.openxmlformats.org/officeDocument/2006/relationships/notesMaster" Target="/ppt/notesMasters/notesMaster1.xml" Id="R84f0a4a604a94ac9" /><Relationship Type="http://schemas.openxmlformats.org/officeDocument/2006/relationships/presProps" Target="/ppt/presProps.xml" Id="R10048fb7c19c4512" /><Relationship Type="http://schemas.openxmlformats.org/officeDocument/2006/relationships/tableStyles" Target="/ppt/tableStyles.xml" Id="R8fd6ee4c008f46c9" /><Relationship Type="http://schemas.openxmlformats.org/officeDocument/2006/relationships/slide" Target="/ppt/slides/slide1.xml" Id="R12938faeca774e27" /><Relationship Type="http://schemas.openxmlformats.org/officeDocument/2006/relationships/slide" Target="/ppt/slides/slide2.xml" Id="Ra6c42c45889a4000" /><Relationship Type="http://schemas.openxmlformats.org/officeDocument/2006/relationships/slide" Target="/ppt/slides/slide3.xml" Id="R59559bbe24fd498f" /><Relationship Type="http://schemas.openxmlformats.org/officeDocument/2006/relationships/slide" Target="/ppt/slides/slide4.xml" Id="Re2178e2f9e0346af" /><Relationship Type="http://schemas.openxmlformats.org/officeDocument/2006/relationships/slide" Target="/ppt/slides/slide5.xml" Id="R2b2941efda184f17" /><Relationship Type="http://schemas.openxmlformats.org/officeDocument/2006/relationships/slide" Target="/ppt/slides/slide6.xml" Id="Rda8063c9e30845b1" /><Relationship Type="http://schemas.openxmlformats.org/officeDocument/2006/relationships/slide" Target="/ppt/slides/slide7.xml" Id="Rcd9f49fd8f7e4e8e" /><Relationship Type="http://schemas.openxmlformats.org/officeDocument/2006/relationships/slide" Target="/ppt/slides/slide8.xml" Id="R659796a4db91401c" /><Relationship Type="http://schemas.openxmlformats.org/officeDocument/2006/relationships/slide" Target="/ppt/slides/slide9.xml" Id="R0ec10056fffb45fd" /><Relationship Type="http://schemas.openxmlformats.org/officeDocument/2006/relationships/slide" Target="/ppt/slides/slide10.xml" Id="R9a0f60bf96ae40d4" /><Relationship Type="http://schemas.openxmlformats.org/officeDocument/2006/relationships/slide" Target="/ppt/slides/slide11.xml" Id="R6ccf503327994d33" /><Relationship Type="http://schemas.openxmlformats.org/officeDocument/2006/relationships/slide" Target="/ppt/slides/slide12.xml" Id="R9acaf24a74a24e73" /><Relationship Type="http://schemas.openxmlformats.org/officeDocument/2006/relationships/slide" Target="/ppt/slides/slide13.xml" Id="R022aed77f5e742e0" /><Relationship Type="http://schemas.openxmlformats.org/officeDocument/2006/relationships/slide" Target="/ppt/slides/slide14.xml" Id="R49eec061da7246e5" /><Relationship Type="http://schemas.openxmlformats.org/officeDocument/2006/relationships/slide" Target="/ppt/slides/slide15.xml" Id="R0cb3e75ea9d9499f" /><Relationship Type="http://schemas.openxmlformats.org/officeDocument/2006/relationships/slide" Target="/ppt/slides/slide16.xml" Id="R10107e61b4644356" /><Relationship Type="http://schemas.openxmlformats.org/officeDocument/2006/relationships/slide" Target="/ppt/slides/slide17.xml" Id="Rd55fcc7b6f514faf" /><Relationship Type="http://schemas.openxmlformats.org/officeDocument/2006/relationships/slide" Target="/ppt/slides/slide18.xml" Id="R1d06f4a53c454aac" /><Relationship Type="http://schemas.openxmlformats.org/officeDocument/2006/relationships/slide" Target="/ppt/slides/slide19.xml" Id="R79edbe1db13b4033" /><Relationship Type="http://schemas.openxmlformats.org/officeDocument/2006/relationships/slide" Target="/ppt/slides/slide20.xml" Id="R93ea59e69a7d41c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63485a01fba426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4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26f3413ee29460a" /><Relationship Type="http://schemas.openxmlformats.org/officeDocument/2006/relationships/notesMaster" Target="/ppt/notesMasters/notesMaster1.xml" Id="R41ff0c335686463e" /></Relationships>
</file>

<file path=ppt/notesSlides/_rels/notesSlide2.xml.rels>&#65279;<?xml version="1.0" encoding="utf-8"?><Relationships xmlns="http://schemas.openxmlformats.org/package/2006/relationships"><Relationship Type="http://schemas.openxmlformats.org/officeDocument/2006/relationships/slide" Target="/ppt/slides/slide2.xml" Id="R5326a50537354ac1" /><Relationship Type="http://schemas.openxmlformats.org/officeDocument/2006/relationships/notesMaster" Target="/ppt/notesMasters/notesMaster1.xml" Id="R2fe5028c38064352" /></Relationships>
</file>

<file path=ppt/notesSlides/_rels/notesSlide3.xml.rels>&#65279;<?xml version="1.0" encoding="utf-8"?><Relationships xmlns="http://schemas.openxmlformats.org/package/2006/relationships"><Relationship Type="http://schemas.openxmlformats.org/officeDocument/2006/relationships/slide" Target="/ppt/slides/slide3.xml" Id="R2deff586f8654420" /><Relationship Type="http://schemas.openxmlformats.org/officeDocument/2006/relationships/notesMaster" Target="/ppt/notesMasters/notesMaster1.xml" Id="Rc25e24003da14a1b" /></Relationships>
</file>

<file path=ppt/notesSlides/_rels/notesSlide4.xml.rels>&#65279;<?xml version="1.0" encoding="utf-8"?><Relationships xmlns="http://schemas.openxmlformats.org/package/2006/relationships"><Relationship Type="http://schemas.openxmlformats.org/officeDocument/2006/relationships/slide" Target="/ppt/slides/slide4.xml" Id="Rf059e94632d04120" /><Relationship Type="http://schemas.openxmlformats.org/officeDocument/2006/relationships/notesMaster" Target="/ppt/notesMasters/notesMaster1.xml" Id="R8aa66b6369b3481e" /></Relationships>
</file>

<file path=ppt/notesSlides/_rels/notesSlide5.xml.rels>&#65279;<?xml version="1.0" encoding="utf-8"?><Relationships xmlns="http://schemas.openxmlformats.org/package/2006/relationships"><Relationship Type="http://schemas.openxmlformats.org/officeDocument/2006/relationships/slide" Target="/ppt/slides/slide5.xml" Id="Rf57023faa2a14236" /><Relationship Type="http://schemas.openxmlformats.org/officeDocument/2006/relationships/notesMaster" Target="/ppt/notesMasters/notesMaster1.xml" Id="R68b238f574b44204" /></Relationships>
</file>

<file path=ppt/notesSlides/_rels/notesSlide6.xml.rels>&#65279;<?xml version="1.0" encoding="utf-8"?><Relationships xmlns="http://schemas.openxmlformats.org/package/2006/relationships"><Relationship Type="http://schemas.openxmlformats.org/officeDocument/2006/relationships/slide" Target="/ppt/slides/slide6.xml" Id="R048f6835952c43d6" /><Relationship Type="http://schemas.openxmlformats.org/officeDocument/2006/relationships/notesMaster" Target="/ppt/notesMasters/notesMaster1.xml" Id="R4d991b3047fd4d93" /></Relationships>
</file>

<file path=ppt/notesSlides/_rels/notesSlide7.xml.rels>&#65279;<?xml version="1.0" encoding="utf-8"?><Relationships xmlns="http://schemas.openxmlformats.org/package/2006/relationships"><Relationship Type="http://schemas.openxmlformats.org/officeDocument/2006/relationships/slide" Target="/ppt/slides/slide7.xml" Id="Rfe73e4b314314685" /><Relationship Type="http://schemas.openxmlformats.org/officeDocument/2006/relationships/notesMaster" Target="/ppt/notesMasters/notesMaster1.xml" Id="R2da0adcaebbb46e4" /></Relationships>
</file>

<file path=ppt/notesSlides/_rels/notesSlide8.xml.rels>&#65279;<?xml version="1.0" encoding="utf-8"?><Relationships xmlns="http://schemas.openxmlformats.org/package/2006/relationships"><Relationship Type="http://schemas.openxmlformats.org/officeDocument/2006/relationships/slide" Target="/ppt/slides/slide8.xml" Id="R856aea66409647d3" /><Relationship Type="http://schemas.openxmlformats.org/officeDocument/2006/relationships/notesMaster" Target="/ppt/notesMasters/notesMaster1.xml" Id="R76bfabc90a7f4156" /></Relationships>
</file>

<file path=ppt/notesSlides/_rels/notesSlide9.xml.rels>&#65279;<?xml version="1.0" encoding="utf-8"?><Relationships xmlns="http://schemas.openxmlformats.org/package/2006/relationships"><Relationship Type="http://schemas.openxmlformats.org/officeDocument/2006/relationships/slide" Target="/ppt/slides/slide9.xml" Id="Rafbfe07cc35b4d5d" /><Relationship Type="http://schemas.openxmlformats.org/officeDocument/2006/relationships/notesMaster" Target="/ppt/notesMasters/notesMaster1.xml" Id="R705dd29a3bfd4a5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353f20e1657405b" /><Relationship Type="http://schemas.openxmlformats.org/officeDocument/2006/relationships/notesMaster" Target="/ppt/notesMasters/notesMaster1.xml" Id="R61fb794d1cf14d1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37633702eb34366" /><Relationship Type="http://schemas.openxmlformats.org/officeDocument/2006/relationships/notesMaster" Target="/ppt/notesMasters/notesMaster1.xml" Id="R8badd581db7d4cb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89adc2d2b514d26" /><Relationship Type="http://schemas.openxmlformats.org/officeDocument/2006/relationships/notesMaster" Target="/ppt/notesMasters/notesMaster1.xml" Id="R6f71b4978fcf4fa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96c664cd2274a6d" /><Relationship Type="http://schemas.openxmlformats.org/officeDocument/2006/relationships/notesMaster" Target="/ppt/notesMasters/notesMaster1.xml" Id="Rcd97e75172bf469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0b6210a886e4235" /><Relationship Type="http://schemas.openxmlformats.org/officeDocument/2006/relationships/notesMaster" Target="/ppt/notesMasters/notesMaster1.xml" Id="Rd9ac46ffcb8545b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2a1e0c952c6438e" /><Relationship Type="http://schemas.openxmlformats.org/officeDocument/2006/relationships/notesMaster" Target="/ppt/notesMasters/notesMaster1.xml" Id="R8ce3fa5b5dae4dc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7092a2ec7fa4e51" /><Relationship Type="http://schemas.openxmlformats.org/officeDocument/2006/relationships/notesMaster" Target="/ppt/notesMasters/notesMaster1.xml" Id="R7e643be2b2d24518"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55b2b0ca18a947dd" /><Relationship Type="http://schemas.openxmlformats.org/officeDocument/2006/relationships/notesMaster" Target="/ppt/notesMasters/notesMaster1.xml" Id="R74cd432749494e5a"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8033e9320fd04de7" /><Relationship Type="http://schemas.openxmlformats.org/officeDocument/2006/relationships/notesMaster" Target="/ppt/notesMasters/notesMaster1.xml" Id="R5bc3edaf9f83418b"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daf359f3d98242fb" /><Relationship Type="http://schemas.openxmlformats.org/officeDocument/2006/relationships/notesMaster" Target="/ppt/notesMasters/notesMaster1.xml" Id="Rf03f0f593a8c4c08"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b93fd7b0c5544416" /><Relationship Type="http://schemas.openxmlformats.org/officeDocument/2006/relationships/notesMaster" Target="/ppt/notesMasters/notesMaster1.xml" Id="R6646c4d879fc41a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eenheid of noemer helpt je bij de drie uitspraken?</a:t>
            </a:r>
          </a:p>
          <a:p xmlns:a="http://schemas.openxmlformats.org/drawingml/2006/main">
            <a:r>
              <a:rPr sz="1400"/>
              <a:t/>
            </a:r>
          </a:p>
          <a:p xmlns:a="http://schemas.openxmlformats.org/drawingml/2006/main">
            <a:r>
              <a:rPr sz="1400"/>
              <a:t>Uitleg: Laat dit overzicht staan tijdens startopdracht. Start is de eerste echte gemengde opgave 37. Alle bewerkingen zijn eerder uitgelegd: fte in §4.3.1 p.115; kosten per product p.116; beroepsbevolking §4.3.2 p.124; werkloosheid en vacatures §4.3.3 p.132. Haal zo nodig de methode op, zonder beheersing te veronderstellen. Er is geen nieuwe theorie en geen aparte basissectie. Voorbereiding 37–39, doel 40, bonus 41. Volgens de classroom-route zijn alle gemengde opgaven 37–41 huiswerk; 41 houdt zijn bonuslabel. Dat is een expliciete opdracht, ook al is de bonus in de algemene boekroute optioneel. Geen gemeten claim dat alles in één les past. Opgave 40 is gekozen omdat bronkeuze, twee noemers, marktvergelijkingen, grafiek, oorzaak en een begrensde bedrijfsconclusie samenkomen.</a:t>
            </a:r>
          </a:p>
          <a:p xmlns:a="http://schemas.openxmlformats.org/drawingml/2006/main">
            <a:r>
              <a:rPr sz="1400"/>
              <a:t/>
            </a:r>
          </a:p>
          <a:p xmlns:a="http://schemas.openxmlformats.org/drawingml/2006/main">
            <a:r>
              <a:rPr sz="1400"/>
              <a:t>Misvatting: Fte is geen personentelling. Vacatures mag je niet aftrekken van werklozen.</a:t>
            </a:r>
          </a:p>
          <a:p xmlns:a="http://schemas.openxmlformats.org/drawingml/2006/main">
            <a:r>
              <a:rPr sz="1400"/>
              <a:t/>
            </a:r>
          </a:p>
          <a:p xmlns:a="http://schemas.openxmlformats.org/drawingml/2006/main">
            <a:r>
              <a:rPr sz="1400"/>
              <a:t>Overgang: Na de start: korte herhaling; na de uitleg: verder met 38–40 en bonus 41; bij afsluiting: agenda.</a:t>
            </a:r>
          </a:p>
          <a:p xmlns:a="http://schemas.openxmlformats.org/drawingml/2006/main">
            <a:r>
              <a:rPr sz="1400"/>
              <a:t/>
            </a:r>
          </a:p>
          <a:p xmlns:a="http://schemas.openxmlformats.org/drawingml/2006/main">
            <a:r>
              <a:rPr sz="1400"/>
              <a:t>Bron: Boek 4, books34-v3, broncommit 0356afb6cac2dd43adbe9f63b872aaf423efc914. Gedrukte boekpagina 150: start. Opgave 40: bronnen p.152 en vragen p.153. https://github.com/meijer1973/4veco-lessen/blob/0356afb6cac2dd43adbe9f63b872aaf423efc914/edities/books34-v3/books/book-4/output/Boek_4_Compleet_v3.pdf</a:t>
            </a:r>
          </a:p>
          <a:p xmlns:a="http://schemas.openxmlformats.org/drawingml/2006/main">
            <a:r>
              <a:rPr sz="1400"/>
              <a:t>Manuscript: https://github.com/meijer1973/4veco-lessen/blob/0356afb6cac2dd43adbe9f63b872aaf423efc914/edities/books34-v3/books/book-4/chapters/4.3/4.3.5%20manuscript.md</a:t>
            </a:r>
          </a:p>
          <a:p xmlns:a="http://schemas.openxmlformats.org/drawingml/2006/main">
            <a:r>
              <a:rPr sz="1400"/>
              <a:t>Antwoordmodel: https://github.com/meijer1973/4veco-lessen/blob/0356afb6cac2dd43adbe9f63b872aaf423efc914/edities/books34-v3/books/book-4/chapters/4.3/Antwoorden.md</a:t>
            </a:r>
          </a:p>
          <a:p xmlns:a="http://schemas.openxmlformats.org/drawingml/2006/main">
            <a:r>
              <a:rPr sz="1400"/>
              <a:t>Docenteninformatie: https://github.com/meijer1973/4veco-lessen/blob/0356afb6cac2dd43adbe9f63b872aaf423efc914/edities/books34-v3/books/book-4/chapters/4.3/Docenteninformatie.md</a:t>
            </a:r>
          </a:p>
          <a:p xmlns:a="http://schemas.openxmlformats.org/drawingml/2006/main">
            <a:r>
              <a:rPr sz="1400"/>
              <a:t>Alleen voor feedback ná de start: 37a 4 fte, 8 personen; 37b 40/(960+40) × 100% = 4%; 37c hogere productiviteit kan de hogere uurkosten overtreffen. Bespreek twijfel kort. De drie overzichten hebben één bron en dezelfde geometrie.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noemer hoort bij het aandeel werklozen?</a:t>
            </a:r>
          </a:p>
          <a:p xmlns:a="http://schemas.openxmlformats.org/drawingml/2006/main">
            <a:r>
              <a:rPr sz="1400"/>
              <a:t/>
            </a:r>
          </a:p>
          <a:p xmlns:a="http://schemas.openxmlformats.org/drawingml/2006/main">
            <a:r>
              <a:rPr sz="1400"/>
              <a:t>Uitleg: Korte herhaling van eerder onderwezen methoden. Bij participatie en werkloosheid vermenigvuldig je de verhouding met 100%. Werklozen hebben geen betaald werk, hebben recent gezocht en zijn direct beschikbaar. Personen, uren en fte zijn verschillende maten; fte = uren per week / voltijduren per week. Een minimumloon vraagt nog een toets van bindendheid, straks op dia 4. Laat leerlingen bij een bron eerst de eenheid onderstrepen.</a:t>
            </a:r>
          </a:p>
          <a:p xmlns:a="http://schemas.openxmlformats.org/drawingml/2006/main">
            <a:r>
              <a:rPr sz="1400"/>
              <a:t/>
            </a:r>
          </a:p>
          <a:p xmlns:a="http://schemas.openxmlformats.org/drawingml/2006/main">
            <a:r>
              <a:rPr sz="1400"/>
              <a:t>Misvatting: Een aparte sectorfunctie telt niet dezelfde groep als een regionale bevolking.</a:t>
            </a:r>
          </a:p>
          <a:p xmlns:a="http://schemas.openxmlformats.org/drawingml/2006/main">
            <a:r>
              <a:rPr sz="1400"/>
              <a:t/>
            </a:r>
          </a:p>
          <a:p xmlns:a="http://schemas.openxmlformats.org/drawingml/2006/main">
            <a:r>
              <a:rPr sz="1400"/>
              <a:t>Overgang: Oefen één bedrijfsberekening met een ander voorbeeld.</a:t>
            </a:r>
          </a:p>
          <a:p xmlns:a="http://schemas.openxmlformats.org/drawingml/2006/main">
            <a:r>
              <a:rPr sz="1400"/>
              <a:t/>
            </a:r>
          </a:p>
          <a:p xmlns:a="http://schemas.openxmlformats.org/drawingml/2006/main">
            <a:r>
              <a:rPr sz="1400"/>
              <a:t>Bron: Boek 4, books34-v3, broncommit 0356afb6cac2dd43adbe9f63b872aaf423efc914. Gedrukte boekpagina’s 115–118, 124–126 en 132–135; overzicht op p.149. https://github.com/meijer1973/4veco-lessen/blob/0356afb6cac2dd43adbe9f63b872aaf423efc914/edities/books34-v3/books/book-4/output/Boek_4_Compleet_v3.pdf</a:t>
            </a:r>
          </a:p>
          <a:p xmlns:a="http://schemas.openxmlformats.org/drawingml/2006/main">
            <a:r>
              <a:rPr sz="1400"/>
              <a:t>Manuscript: https://github.com/meijer1973/4veco-lessen/blob/0356afb6cac2dd43adbe9f63b872aaf423efc914/edities/books34-v3/books/book-4/chapters/4.3/4.3.5%20manuscript.md</a:t>
            </a:r>
          </a:p>
          <a:p xmlns:a="http://schemas.openxmlformats.org/drawingml/2006/main">
            <a:r>
              <a:rPr sz="1400"/>
              <a:t>Antwoordmodel: https://github.com/meijer1973/4veco-lessen/blob/0356afb6cac2dd43adbe9f63b872aaf423efc914/edities/books34-v3/books/book-4/chapters/4.3/Antwoorden.md</a:t>
            </a:r>
          </a:p>
          <a:p xmlns:a="http://schemas.openxmlformats.org/drawingml/2006/main">
            <a:r>
              <a:rPr sz="1400"/>
              <a:t>Docenteninformatie: https://github.com/meijer1973/4veco-lessen/blob/0356afb6cac2dd43adbe9f63b872aaf423efc914/edities/books34-v3/books/book-4/chapters/4.3/Docenteninformatie.md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Kunnen hogere uurkosten samengaan met lagere kosten per poster?</a:t>
            </a:r>
          </a:p>
          <a:p xmlns:a="http://schemas.openxmlformats.org/drawingml/2006/main">
            <a:r>
              <a:rPr sz="1400"/>
              <a:t/>
            </a:r>
          </a:p>
          <a:p xmlns:a="http://schemas.openxmlformats.org/drawingml/2006/main">
            <a:r>
              <a:rPr sz="1400"/>
              <a:t>Uitleg: Eigen fictieve drukkerijgegevens, geen boekopgave. Producten en uren hebben dezelfde weekperiode. Productiviteit wordt gegeven, maar controleer: 2400/200=12 en 2400/160=15. Kosten per poster = volledige uurkosten / posters per uur. Kostenverandering = (2,20−2,50)/2,50 ×100% = −12%. De orders blijven hier gelijk, anders moet ook de nieuwe productie in de urenformule. Winst hangt daarnaast af van opbrengsten en andere kosten. Dit herhaalt de methode zonder een toegewezen opgave uit te werken.</a:t>
            </a:r>
          </a:p>
          <a:p xmlns:a="http://schemas.openxmlformats.org/drawingml/2006/main">
            <a:r>
              <a:rPr sz="1400"/>
              <a:t/>
            </a:r>
          </a:p>
          <a:p xmlns:a="http://schemas.openxmlformats.org/drawingml/2006/main">
            <a:r>
              <a:rPr sz="1400"/>
              <a:t>Misvatting: Een lager aantal uren bewijst zonder arbeidsduur per persoon geen bepaald aantal ontslagen.</a:t>
            </a:r>
          </a:p>
          <a:p xmlns:a="http://schemas.openxmlformats.org/drawingml/2006/main">
            <a:r>
              <a:rPr sz="1400"/>
              <a:t/>
            </a:r>
          </a:p>
          <a:p xmlns:a="http://schemas.openxmlformats.org/drawingml/2006/main">
            <a:r>
              <a:rPr sz="1400"/>
              <a:t>Overgang: Herhaal kort de minimumloonroute voor de gemengde oefening.</a:t>
            </a:r>
          </a:p>
          <a:p xmlns:a="http://schemas.openxmlformats.org/drawingml/2006/main">
            <a:r>
              <a:rPr sz="1400"/>
              <a:t/>
            </a:r>
          </a:p>
          <a:p xmlns:a="http://schemas.openxmlformats.org/drawingml/2006/main">
            <a:r>
              <a:rPr sz="1400"/>
              <a:t>Bron: Boek 4, books34-v3, broncommit 0356afb6cac2dd43adbe9f63b872aaf423efc914. Methode: §4.3.1, gedrukte boekpagina’s 115–118. https://github.com/meijer1973/4veco-lessen/blob/0356afb6cac2dd43adbe9f63b872aaf423efc914/edities/books34-v3/books/book-4/output/Boek_4_Compleet_v3.pdf</a:t>
            </a:r>
          </a:p>
          <a:p xmlns:a="http://schemas.openxmlformats.org/drawingml/2006/main">
            <a:r>
              <a:rPr sz="1400"/>
              <a:t>Manuscript: https://github.com/meijer1973/4veco-lessen/blob/0356afb6cac2dd43adbe9f63b872aaf423efc914/edities/books34-v3/books/book-4/chapters/4.3/4.3.5%20manuscript.md</a:t>
            </a:r>
          </a:p>
          <a:p xmlns:a="http://schemas.openxmlformats.org/drawingml/2006/main">
            <a:r>
              <a:rPr sz="1400"/>
              <a:t>Antwoordmodel: https://github.com/meijer1973/4veco-lessen/blob/0356afb6cac2dd43adbe9f63b872aaf423efc914/edities/books34-v3/books/book-4/chapters/4.3/Antwoorden.md</a:t>
            </a:r>
          </a:p>
          <a:p xmlns:a="http://schemas.openxmlformats.org/drawingml/2006/main">
            <a:r>
              <a:rPr sz="1400"/>
              <a:t>Docenteninformatie: https://github.com/meijer1973/4veco-lessen/blob/0356afb6cac2dd43adbe9f63b872aaf423efc914/edities/books34-v3/books/book-4/chapters/4.3/Docenteninformatie.md</a:t>
            </a:r>
          </a:p>
          <a:p xmlns:a="http://schemas.openxmlformats.org/drawingml/2006/main">
            <a:r>
              <a:rPr sz="1400"/>
              <a:t>Uitlegvoorbeeld — niet uit het boek. De boekpagina’s onderbouwen de methode, niet deze context of cijfers.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gebruik je in de loonsom alleen werkenden?</a:t>
            </a:r>
          </a:p>
          <a:p xmlns:a="http://schemas.openxmlformats.org/drawingml/2006/main">
            <a:r>
              <a:rPr sz="1400"/>
              <a:t/>
            </a:r>
          </a:p>
          <a:p xmlns:a="http://schemas.openxmlformats.org/drawingml/2006/main">
            <a:r>
              <a:rPr sz="1400"/>
              <a:t>Uitleg: Korte procedureherhaling voor opgave 39, zonder de opgegeven getallen uit te werken. Gebruik de bronvoorwaarden: concurrerende werkgevers, nageleefde vloer, alle gevraagde plaatsen gevuld, geen vacatures of zoekproblemen. Bij een bindende vloer bepaalt de gevraagde hoeveelheid het betaalde werk. Onderscheid minder werkenden en extra aanbieders. De werkelijke effecten van wettelijk beleid zijn hiermee niet voorspeld.</a:t>
            </a:r>
          </a:p>
          <a:p xmlns:a="http://schemas.openxmlformats.org/drawingml/2006/main">
            <a:r>
              <a:rPr sz="1400"/>
              <a:t/>
            </a:r>
          </a:p>
          <a:p xmlns:a="http://schemas.openxmlformats.org/drawingml/2006/main">
            <a:r>
              <a:rPr sz="1400"/>
              <a:t>Misvatting: Aanbodoverschot is niet hetzelfde als het aantal mensen dat zijn baan verloor.</a:t>
            </a:r>
          </a:p>
          <a:p xmlns:a="http://schemas.openxmlformats.org/drawingml/2006/main">
            <a:r>
              <a:rPr sz="1400"/>
              <a:t/>
            </a:r>
          </a:p>
          <a:p xmlns:a="http://schemas.openxmlformats.org/drawingml/2006/main">
            <a:r>
              <a:rPr sz="1400"/>
              <a:t>Overgang: Ga zelf verder met de gemengde opgaven.</a:t>
            </a:r>
          </a:p>
          <a:p xmlns:a="http://schemas.openxmlformats.org/drawingml/2006/main">
            <a:r>
              <a:rPr sz="1400"/>
              <a:t/>
            </a:r>
          </a:p>
          <a:p xmlns:a="http://schemas.openxmlformats.org/drawingml/2006/main">
            <a:r>
              <a:rPr sz="1400"/>
              <a:t>Bron: Boek 4, books34-v3, broncommit 0356afb6cac2dd43adbe9f63b872aaf423efc914. §4.3.4, gedrukte boekpagina’s 141–144. https://github.com/meijer1973/4veco-lessen/blob/0356afb6cac2dd43adbe9f63b872aaf423efc914/edities/books34-v3/books/book-4/output/Boek_4_Compleet_v3.pdf</a:t>
            </a:r>
          </a:p>
          <a:p xmlns:a="http://schemas.openxmlformats.org/drawingml/2006/main">
            <a:r>
              <a:rPr sz="1400"/>
              <a:t>Manuscript: https://github.com/meijer1973/4veco-lessen/blob/0356afb6cac2dd43adbe9f63b872aaf423efc914/edities/books34-v3/books/book-4/chapters/4.3/4.3.5%20manuscript.md</a:t>
            </a:r>
          </a:p>
          <a:p xmlns:a="http://schemas.openxmlformats.org/drawingml/2006/main">
            <a:r>
              <a:rPr sz="1400"/>
              <a:t>Antwoordmodel: https://github.com/meijer1973/4veco-lessen/blob/0356afb6cac2dd43adbe9f63b872aaf423efc914/edities/books34-v3/books/book-4/chapters/4.3/Antwoorden.md</a:t>
            </a:r>
          </a:p>
          <a:p xmlns:a="http://schemas.openxmlformats.org/drawingml/2006/main">
            <a:r>
              <a:rPr sz="1400"/>
              <a:t>Docenteninformatie: https://github.com/meijer1973/4veco-lessen/blob/0356afb6cac2dd43adbe9f63b872aaf423efc914/edities/books34-v3/books/book-4/chapters/4.3/Docenteninformatie.md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stap kun je al uitleggen en waar heb je hulp nodig?</a:t>
            </a:r>
          </a:p>
          <a:p xmlns:a="http://schemas.openxmlformats.org/drawingml/2006/main">
            <a:r>
              <a:rPr sz="1400"/>
              <a:t/>
            </a:r>
          </a:p>
          <a:p xmlns:a="http://schemas.openxmlformats.org/drawingml/2006/main">
            <a:r>
              <a:rPr sz="1400"/>
              <a:t>Uitleg: Laat dit overzicht staan tijdens zelfstandig werken. Start is de eerste echte gemengde opgave 37. Alle bewerkingen zijn eerder uitgelegd: fte in §4.3.1 p.115; kosten per product p.116; beroepsbevolking §4.3.2 p.124; werkloosheid en vacatures §4.3.3 p.132. Haal zo nodig de methode op, zonder beheersing te veronderstellen. Er is geen nieuwe theorie en geen aparte basissectie. Voorbereiding 37–39, doel 40, bonus 41. Volgens de classroom-route zijn alle gemengde opgaven 37–41 huiswerk; 41 houdt zijn bonuslabel. Dat is een expliciete opdracht, ook al is de bonus in de algemene boekroute optioneel. Geen gemeten claim dat alles in één les past. Opgave 40 is gekozen omdat bronkeuze, twee noemers, marktvergelijkingen, grafiek, oorzaak en een begrensde bedrijfsconclusie samenkomen.</a:t>
            </a:r>
          </a:p>
          <a:p xmlns:a="http://schemas.openxmlformats.org/drawingml/2006/main">
            <a:r>
              <a:rPr sz="1400"/>
              <a:t/>
            </a:r>
          </a:p>
          <a:p xmlns:a="http://schemas.openxmlformats.org/drawingml/2006/main">
            <a:r>
              <a:rPr sz="1400"/>
              <a:t>Misvatting: Fte is geen personentelling. Vacatures mag je niet aftrekken van werklozen.</a:t>
            </a:r>
          </a:p>
          <a:p xmlns:a="http://schemas.openxmlformats.org/drawingml/2006/main">
            <a:r>
              <a:rPr sz="1400"/>
              <a:t/>
            </a:r>
          </a:p>
          <a:p xmlns:a="http://schemas.openxmlformats.org/drawingml/2006/main">
            <a:r>
              <a:rPr sz="1400"/>
              <a:t>Overgang: Na de start: korte herhaling; na de uitleg: verder met 38–40 en bonus 41; bij afsluiting: agenda.</a:t>
            </a:r>
          </a:p>
          <a:p xmlns:a="http://schemas.openxmlformats.org/drawingml/2006/main">
            <a:r>
              <a:rPr sz="1400"/>
              <a:t/>
            </a:r>
          </a:p>
          <a:p xmlns:a="http://schemas.openxmlformats.org/drawingml/2006/main">
            <a:r>
              <a:rPr sz="1400"/>
              <a:t>Bron: Boek 4, books34-v3, broncommit 0356afb6cac2dd43adbe9f63b872aaf423efc914. Gedrukte boekpagina 150: start. Opgave 40: bronnen p.152 en vragen p.153. https://github.com/meijer1973/4veco-lessen/blob/0356afb6cac2dd43adbe9f63b872aaf423efc914/edities/books34-v3/books/book-4/output/Boek_4_Compleet_v3.pdf</a:t>
            </a:r>
          </a:p>
          <a:p xmlns:a="http://schemas.openxmlformats.org/drawingml/2006/main">
            <a:r>
              <a:rPr sz="1400"/>
              <a:t>Manuscript: https://github.com/meijer1973/4veco-lessen/blob/0356afb6cac2dd43adbe9f63b872aaf423efc914/edities/books34-v3/books/book-4/chapters/4.3/4.3.5%20manuscript.md</a:t>
            </a:r>
          </a:p>
          <a:p xmlns:a="http://schemas.openxmlformats.org/drawingml/2006/main">
            <a:r>
              <a:rPr sz="1400"/>
              <a:t>Antwoordmodel: https://github.com/meijer1973/4veco-lessen/blob/0356afb6cac2dd43adbe9f63b872aaf423efc914/edities/books34-v3/books/book-4/chapters/4.3/Antwoorden.md</a:t>
            </a:r>
          </a:p>
          <a:p xmlns:a="http://schemas.openxmlformats.org/drawingml/2006/main">
            <a:r>
              <a:rPr sz="1400"/>
              <a:t>Docenteninformatie: https://github.com/meijer1973/4veco-lessen/blob/0356afb6cac2dd43adbe9f63b872aaf423efc914/edities/books34-v3/books/book-4/chapters/4.3/Docenteninformatie.md</a:t>
            </a:r>
          </a:p>
          <a:p xmlns:a="http://schemas.openxmlformats.org/drawingml/2006/main">
            <a:r>
              <a:rPr sz="1400"/>
              <a:t>Alleen voor feedback ná de start: 37a 4 fte, 8 personen; 37b 40/(960+40) × 100% = 4%; 37c hogere productiviteit kan de hogere uurkosten overtreffen. Bespreek twijfel kort. De drie overzichten hebben één bron en dezelfde geometrie.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groep zoekt en kan direct beginnen?</a:t>
            </a:r>
          </a:p>
          <a:p xmlns:a="http://schemas.openxmlformats.org/drawingml/2006/main">
            <a:r>
              <a:rPr sz="1400"/>
              <a:t/>
            </a:r>
          </a:p>
          <a:p xmlns:a="http://schemas.openxmlformats.org/drawingml/2006/main">
            <a:r>
              <a:rPr sz="1400"/>
              <a:t>Uitleg: Volledige bron A en de bronafbakening. Deze bronnen horen bij de zes vragen die hierna verschijnen. Onthul nog geen berekeningen. De boekbron staat op het blad direct vóór de vragen op p.153.</a:t>
            </a:r>
          </a:p>
          <a:p xmlns:a="http://schemas.openxmlformats.org/drawingml/2006/main">
            <a:r>
              <a:rPr sz="1400"/>
              <a:t/>
            </a:r>
          </a:p>
          <a:p xmlns:a="http://schemas.openxmlformats.org/drawingml/2006/main">
            <a:r>
              <a:rPr sz="1400"/>
              <a:t>Misvatting: De inwoners uit A zijn niet automatisch de deelnemers uit model B.</a:t>
            </a:r>
          </a:p>
          <a:p xmlns:a="http://schemas.openxmlformats.org/drawingml/2006/main">
            <a:r>
              <a:rPr sz="1400"/>
              <a:t/>
            </a:r>
          </a:p>
          <a:p xmlns:a="http://schemas.openxmlformats.org/drawingml/2006/main">
            <a:r>
              <a:rPr sz="1400"/>
              <a:t>Overgang: Lees ook het sectormodel.</a:t>
            </a:r>
          </a:p>
          <a:p xmlns:a="http://schemas.openxmlformats.org/drawingml/2006/main">
            <a:r>
              <a:rPr sz="1400"/>
              <a:t/>
            </a:r>
          </a:p>
          <a:p xmlns:a="http://schemas.openxmlformats.org/drawingml/2006/main">
            <a:r>
              <a:rPr sz="1400"/>
              <a:t>Bron: Boek 4, books34-v3, broncommit 0356afb6cac2dd43adbe9f63b872aaf423efc914. Gedrukte boekpagina’s 152–153 (hoofdstukpagina’s 40–41). https://github.com/meijer1973/4veco-lessen/blob/0356afb6cac2dd43adbe9f63b872aaf423efc914/edities/books34-v3/books/book-4/output/Boek_4_Compleet_v3.pdf</a:t>
            </a:r>
          </a:p>
          <a:p xmlns:a="http://schemas.openxmlformats.org/drawingml/2006/main">
            <a:r>
              <a:rPr sz="1400"/>
              <a:t>Manuscript: https://github.com/meijer1973/4veco-lessen/blob/0356afb6cac2dd43adbe9f63b872aaf423efc914/edities/books34-v3/books/book-4/chapters/4.3/4.3.5%20manuscript.md</a:t>
            </a:r>
          </a:p>
          <a:p xmlns:a="http://schemas.openxmlformats.org/drawingml/2006/main">
            <a:r>
              <a:rPr sz="1400"/>
              <a:t>Antwoordmodel: https://github.com/meijer1973/4veco-lessen/blob/0356afb6cac2dd43adbe9f63b872aaf423efc914/edities/books34-v3/books/book-4/chapters/4.3/Antwoorden.md</a:t>
            </a:r>
          </a:p>
          <a:p xmlns:a="http://schemas.openxmlformats.org/drawingml/2006/main">
            <a:r>
              <a:rPr sz="1400"/>
              <a:t>Docenteninformatie: https://github.com/meijer1973/4veco-lessen/blob/0356afb6cac2dd43adbe9f63b872aaf423efc914/edities/books34-v3/books/book-4/chapters/4.3/Docenteninformatie.md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grootheid blijft in de twee situaties gelijk?</a:t>
            </a:r>
          </a:p>
          <a:p xmlns:a="http://schemas.openxmlformats.org/drawingml/2006/main">
            <a:r>
              <a:rPr sz="1400"/>
              <a:t/>
            </a:r>
          </a:p>
          <a:p xmlns:a="http://schemas.openxmlformats.org/drawingml/2006/main">
            <a:r>
              <a:rPr sz="1400"/>
              <a:t>Uitleg: Volledige tekst en alle aannamen uit bron B. De functie geldt alleen binnen het gegeven looninterval. Bereken nog geen evenwichten.</a:t>
            </a:r>
          </a:p>
          <a:p xmlns:a="http://schemas.openxmlformats.org/drawingml/2006/main">
            <a:r>
              <a:rPr sz="1400"/>
              <a:t/>
            </a:r>
          </a:p>
          <a:p xmlns:a="http://schemas.openxmlformats.org/drawingml/2006/main">
            <a:r>
              <a:rPr sz="1400"/>
              <a:t>Misvatting: Gebruik geen minimumloon uit opgave 39 in deze nieuwe bron.</a:t>
            </a:r>
          </a:p>
          <a:p xmlns:a="http://schemas.openxmlformats.org/drawingml/2006/main">
            <a:r>
              <a:rPr sz="1400"/>
              <a:t/>
            </a:r>
          </a:p>
          <a:p xmlns:a="http://schemas.openxmlformats.org/drawingml/2006/main">
            <a:r>
              <a:rPr sz="1400"/>
              <a:t>Overgang: Bekijk de gegeven basisgrafiek.</a:t>
            </a:r>
          </a:p>
          <a:p xmlns:a="http://schemas.openxmlformats.org/drawingml/2006/main">
            <a:r>
              <a:rPr sz="1400"/>
              <a:t/>
            </a:r>
          </a:p>
          <a:p xmlns:a="http://schemas.openxmlformats.org/drawingml/2006/main">
            <a:r>
              <a:rPr sz="1400"/>
              <a:t>Bron: Boek 4, books34-v3, broncommit 0356afb6cac2dd43adbe9f63b872aaf423efc914. Gedrukte boekpagina’s 152–153 (hoofdstukpagina’s 40–41). https://github.com/meijer1973/4veco-lessen/blob/0356afb6cac2dd43adbe9f63b872aaf423efc914/edities/books34-v3/books/book-4/output/Boek_4_Compleet_v3.pdf</a:t>
            </a:r>
          </a:p>
          <a:p xmlns:a="http://schemas.openxmlformats.org/drawingml/2006/main">
            <a:r>
              <a:rPr sz="1400"/>
              <a:t>Manuscript: https://github.com/meijer1973/4veco-lessen/blob/0356afb6cac2dd43adbe9f63b872aaf423efc914/edities/books34-v3/books/book-4/chapters/4.3/4.3.5%20manuscript.md</a:t>
            </a:r>
          </a:p>
          <a:p xmlns:a="http://schemas.openxmlformats.org/drawingml/2006/main">
            <a:r>
              <a:rPr sz="1400"/>
              <a:t>Antwoordmodel: https://github.com/meijer1973/4veco-lessen/blob/0356afb6cac2dd43adbe9f63b872aaf423efc914/edities/books34-v3/books/book-4/chapters/4.3/Antwoorden.md</a:t>
            </a:r>
          </a:p>
          <a:p xmlns:a="http://schemas.openxmlformats.org/drawingml/2006/main">
            <a:r>
              <a:rPr sz="1400"/>
              <a:t>Docenteninformatie: https://github.com/meijer1973/4veco-lessen/blob/0356afb6cac2dd43adbe9f63b872aaf423efc914/edities/books34-v3/books/book-4/chapters/4.3/Docenteninformatie.md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as toont personen en welke euro per uur?</a:t>
            </a:r>
          </a:p>
          <a:p xmlns:a="http://schemas.openxmlformats.org/drawingml/2006/main">
            <a:r>
              <a:rPr sz="1400"/>
              <a:t/>
            </a:r>
          </a:p>
          <a:p xmlns:a="http://schemas.openxmlformats.org/drawingml/2006/main">
            <a:r>
              <a:rPr sz="1400"/>
              <a:t>Uitleg: Actuele figuur 24 overgenomen uit mixed_base.svg, met lijnstukken binnen de modelgrenzen. De verschuiving is gegeven; de evenwichten zijn nog niet gemarkeerd. De boekfiguur en de latere bewerkbare antwoordgrafiek gebruiken hetzelfde geldige bereik €4–€24. Benoem de modelgrenzen op de dia; de antwoordgrafiek markeert daarna beide evenwichten.</a:t>
            </a:r>
          </a:p>
          <a:p xmlns:a="http://schemas.openxmlformats.org/drawingml/2006/main">
            <a:r>
              <a:rPr sz="1400"/>
              <a:t/>
            </a:r>
          </a:p>
          <a:p xmlns:a="http://schemas.openxmlformats.org/drawingml/2006/main">
            <a:r>
              <a:rPr sz="1400"/>
              <a:t>Misvatting: De getekende verlenging van een lijn verruimt de geldigheid van het model niet.</a:t>
            </a:r>
          </a:p>
          <a:p xmlns:a="http://schemas.openxmlformats.org/drawingml/2006/main">
            <a:r>
              <a:rPr sz="1400"/>
              <a:t/>
            </a:r>
          </a:p>
          <a:p xmlns:a="http://schemas.openxmlformats.org/drawingml/2006/main">
            <a:r>
              <a:rPr sz="1400"/>
              <a:t>Overgang: Lees het afzonderlijke bedrijf in bron C.</a:t>
            </a:r>
          </a:p>
          <a:p xmlns:a="http://schemas.openxmlformats.org/drawingml/2006/main">
            <a:r>
              <a:rPr sz="1400"/>
              <a:t/>
            </a:r>
          </a:p>
          <a:p xmlns:a="http://schemas.openxmlformats.org/drawingml/2006/main">
            <a:r>
              <a:rPr sz="1400"/>
              <a:t>Bron: Boek 4, books34-v3, broncommit 0356afb6cac2dd43adbe9f63b872aaf423efc914. Gedrukte boekpagina’s 152–153 (hoofdstukpagina’s 40–41). https://github.com/meijer1973/4veco-lessen/blob/0356afb6cac2dd43adbe9f63b872aaf423efc914/edities/books34-v3/books/book-4/output/Boek_4_Compleet_v3.pdf</a:t>
            </a:r>
          </a:p>
          <a:p xmlns:a="http://schemas.openxmlformats.org/drawingml/2006/main">
            <a:r>
              <a:rPr sz="1400"/>
              <a:t>Manuscript: https://github.com/meijer1973/4veco-lessen/blob/0356afb6cac2dd43adbe9f63b872aaf423efc914/edities/books34-v3/books/book-4/chapters/4.3/4.3.5%20manuscript.md</a:t>
            </a:r>
          </a:p>
          <a:p xmlns:a="http://schemas.openxmlformats.org/drawingml/2006/main">
            <a:r>
              <a:rPr sz="1400"/>
              <a:t>Antwoordmodel: https://github.com/meijer1973/4veco-lessen/blob/0356afb6cac2dd43adbe9f63b872aaf423efc914/edities/books34-v3/books/book-4/chapters/4.3/Antwoorden.md</a:t>
            </a:r>
          </a:p>
          <a:p xmlns:a="http://schemas.openxmlformats.org/drawingml/2006/main">
            <a:r>
              <a:rPr sz="1400"/>
              <a:t>Docenteninformatie: https://github.com/meijer1973/4veco-lessen/blob/0356afb6cac2dd43adbe9f63b872aaf423efc914/edities/books34-v3/books/book-4/chapters/4.3/Docenteninformatie.md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twee gegevens veranderen en welke gegevens ontbreken?</a:t>
            </a:r>
          </a:p>
          <a:p xmlns:a="http://schemas.openxmlformats.org/drawingml/2006/main">
            <a:r>
              <a:rPr sz="1400"/>
              <a:t/>
            </a:r>
          </a:p>
          <a:p xmlns:a="http://schemas.openxmlformats.org/drawingml/2006/main">
            <a:r>
              <a:rPr sz="1400"/>
              <a:t>Uitleg: Volledige bron C, inclusief het voorwaardelijke karakter, de onbekende gegevens en de uitspraak. Geef de beoordeling pas na alle vragen.</a:t>
            </a:r>
          </a:p>
          <a:p xmlns:a="http://schemas.openxmlformats.org/drawingml/2006/main">
            <a:r>
              <a:rPr sz="1400"/>
              <a:t/>
            </a:r>
          </a:p>
          <a:p xmlns:a="http://schemas.openxmlformats.org/drawingml/2006/main">
            <a:r>
              <a:rPr sz="1400"/>
              <a:t>Misvatting: De sectorlonen uit B zijn niet de volledige uurkosten van dit bedrijf.</a:t>
            </a:r>
          </a:p>
          <a:p xmlns:a="http://schemas.openxmlformats.org/drawingml/2006/main">
            <a:r>
              <a:rPr sz="1400"/>
              <a:t/>
            </a:r>
          </a:p>
          <a:p xmlns:a="http://schemas.openxmlformats.org/drawingml/2006/main">
            <a:r>
              <a:rPr sz="1400"/>
              <a:t>Overgang: Toon eerst de hele vraagstelling.</a:t>
            </a:r>
          </a:p>
          <a:p xmlns:a="http://schemas.openxmlformats.org/drawingml/2006/main">
            <a:r>
              <a:rPr sz="1400"/>
              <a:t/>
            </a:r>
          </a:p>
          <a:p xmlns:a="http://schemas.openxmlformats.org/drawingml/2006/main">
            <a:r>
              <a:rPr sz="1400"/>
              <a:t>Bron: Boek 4, books34-v3, broncommit 0356afb6cac2dd43adbe9f63b872aaf423efc914. Gedrukte boekpagina’s 152–153 (hoofdstukpagina’s 40–41). https://github.com/meijer1973/4veco-lessen/blob/0356afb6cac2dd43adbe9f63b872aaf423efc914/edities/books34-v3/books/book-4/output/Boek_4_Compleet_v3.pdf</a:t>
            </a:r>
          </a:p>
          <a:p xmlns:a="http://schemas.openxmlformats.org/drawingml/2006/main">
            <a:r>
              <a:rPr sz="1400"/>
              <a:t>Manuscript: https://github.com/meijer1973/4veco-lessen/blob/0356afb6cac2dd43adbe9f63b872aaf423efc914/edities/books34-v3/books/book-4/chapters/4.3/4.3.5%20manuscript.md</a:t>
            </a:r>
          </a:p>
          <a:p xmlns:a="http://schemas.openxmlformats.org/drawingml/2006/main">
            <a:r>
              <a:rPr sz="1400"/>
              <a:t>Antwoordmodel: https://github.com/meijer1973/4veco-lessen/blob/0356afb6cac2dd43adbe9f63b872aaf423efc914/edities/books34-v3/books/book-4/chapters/4.3/Antwoorden.md</a:t>
            </a:r>
          </a:p>
          <a:p xmlns:a="http://schemas.openxmlformats.org/drawingml/2006/main">
            <a:r>
              <a:rPr sz="1400"/>
              <a:t>Docenteninformatie: https://github.com/meijer1973/4veco-lessen/blob/0356afb6cac2dd43adbe9f63b872aaf423efc914/edities/books34-v3/books/book-4/chapters/4.3/Docenteninformatie.md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bron hoort bij a en welke bij b en c?</a:t>
            </a:r>
          </a:p>
          <a:p xmlns:a="http://schemas.openxmlformats.org/drawingml/2006/main">
            <a:r>
              <a:rPr sz="1400"/>
              <a:t/>
            </a:r>
          </a:p>
          <a:p xmlns:a="http://schemas.openxmlformats.org/drawingml/2006/main">
            <a:r>
              <a:rPr sz="1400"/>
              <a:t>Uitleg: Alle opdrachten a–c zijn volledig. Alleen de boekverwijzing naar de linkerpagina is vervangen door de relevante bronnen die zojuist zijn getoond. De andere drie deelvragen volgen vóór enige oplossing.</a:t>
            </a:r>
          </a:p>
          <a:p xmlns:a="http://schemas.openxmlformats.org/drawingml/2006/main">
            <a:r>
              <a:rPr sz="1400"/>
              <a:t/>
            </a:r>
          </a:p>
          <a:p xmlns:a="http://schemas.openxmlformats.org/drawingml/2006/main">
            <a:r>
              <a:rPr sz="1400"/>
              <a:t>Misvatting: Alleen het loon noemen is geen compleet evenwicht.</a:t>
            </a:r>
          </a:p>
          <a:p xmlns:a="http://schemas.openxmlformats.org/drawingml/2006/main">
            <a:r>
              <a:rPr sz="1400"/>
              <a:t/>
            </a:r>
          </a:p>
          <a:p xmlns:a="http://schemas.openxmlformats.org/drawingml/2006/main">
            <a:r>
              <a:rPr sz="1400"/>
              <a:t>Overgang: Toon ook d, e en f.</a:t>
            </a:r>
          </a:p>
          <a:p xmlns:a="http://schemas.openxmlformats.org/drawingml/2006/main">
            <a:r>
              <a:rPr sz="1400"/>
              <a:t/>
            </a:r>
          </a:p>
          <a:p xmlns:a="http://schemas.openxmlformats.org/drawingml/2006/main">
            <a:r>
              <a:rPr sz="1400"/>
              <a:t>Bron: Boek 4, books34-v3, broncommit 0356afb6cac2dd43adbe9f63b872aaf423efc914. Gedrukte boekpagina’s 152–153 (hoofdstukpagina’s 40–41). https://github.com/meijer1973/4veco-lessen/blob/0356afb6cac2dd43adbe9f63b872aaf423efc914/edities/books34-v3/books/book-4/output/Boek_4_Compleet_v3.pdf</a:t>
            </a:r>
          </a:p>
          <a:p xmlns:a="http://schemas.openxmlformats.org/drawingml/2006/main">
            <a:r>
              <a:rPr sz="1400"/>
              <a:t>Manuscript: https://github.com/meijer1973/4veco-lessen/blob/0356afb6cac2dd43adbe9f63b872aaf423efc914/edities/books34-v3/books/book-4/chapters/4.3/4.3.5%20manuscript.md</a:t>
            </a:r>
          </a:p>
          <a:p xmlns:a="http://schemas.openxmlformats.org/drawingml/2006/main">
            <a:r>
              <a:rPr sz="1400"/>
              <a:t>Antwoordmodel: https://github.com/meijer1973/4veco-lessen/blob/0356afb6cac2dd43adbe9f63b872aaf423efc914/edities/books34-v3/books/book-4/chapters/4.3/Antwoorden.md</a:t>
            </a:r>
          </a:p>
          <a:p xmlns:a="http://schemas.openxmlformats.org/drawingml/2006/main">
            <a:r>
              <a:rPr sz="1400"/>
              <a:t>Docenteninformatie: https://github.com/meijer1973/4veco-lessen/blob/0356afb6cac2dd43adbe9f63b872aaf423efc914/edities/books34-v3/books/book-4/chapters/4.3/Docenteninformatie.md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vraag vraagt een oordeel dat verder gaat dan een berekening?</a:t>
            </a:r>
          </a:p>
          <a:p xmlns:a="http://schemas.openxmlformats.org/drawingml/2006/main">
            <a:r>
              <a:rPr sz="1400"/>
              <a:t/>
            </a:r>
          </a:p>
          <a:p xmlns:a="http://schemas.openxmlformats.org/drawingml/2006/main">
            <a:r>
              <a:rPr sz="1400"/>
              <a:t>Uitleg: Volledige opdrachten d–f. Alle context, brongegevens, figuur en alle zes deelvragen zijn nu getoond zonder oplossingen. Laat leerlingen hun eigen poging erbij houden voordat de bespreking begint.</a:t>
            </a:r>
          </a:p>
          <a:p xmlns:a="http://schemas.openxmlformats.org/drawingml/2006/main">
            <a:r>
              <a:rPr sz="1400"/>
              <a:t/>
            </a:r>
          </a:p>
          <a:p xmlns:a="http://schemas.openxmlformats.org/drawingml/2006/main">
            <a:r>
              <a:rPr sz="1400"/>
              <a:t>Misvatting: Lagere kosten per product bewijzen geen gegarandeerde banengroei.</a:t>
            </a:r>
          </a:p>
          <a:p xmlns:a="http://schemas.openxmlformats.org/drawingml/2006/main">
            <a:r>
              <a:rPr sz="1400"/>
              <a:t/>
            </a:r>
          </a:p>
          <a:p xmlns:a="http://schemas.openxmlformats.org/drawingml/2006/main">
            <a:r>
              <a:rPr sz="1400"/>
              <a:t>Overgang: Begin met de groepen en de twee noemers.</a:t>
            </a:r>
          </a:p>
          <a:p xmlns:a="http://schemas.openxmlformats.org/drawingml/2006/main">
            <a:r>
              <a:rPr sz="1400"/>
              <a:t/>
            </a:r>
          </a:p>
          <a:p xmlns:a="http://schemas.openxmlformats.org/drawingml/2006/main">
            <a:r>
              <a:rPr sz="1400"/>
              <a:t>Bron: Boek 4, books34-v3, broncommit 0356afb6cac2dd43adbe9f63b872aaf423efc914. Gedrukte boekpagina’s 152–153 (hoofdstukpagina’s 40–41). https://github.com/meijer1973/4veco-lessen/blob/0356afb6cac2dd43adbe9f63b872aaf423efc914/edities/books34-v3/books/book-4/output/Boek_4_Compleet_v3.pdf</a:t>
            </a:r>
          </a:p>
          <a:p xmlns:a="http://schemas.openxmlformats.org/drawingml/2006/main">
            <a:r>
              <a:rPr sz="1400"/>
              <a:t>Manuscript: https://github.com/meijer1973/4veco-lessen/blob/0356afb6cac2dd43adbe9f63b872aaf423efc914/edities/books34-v3/books/book-4/chapters/4.3/4.3.5%20manuscript.md</a:t>
            </a:r>
          </a:p>
          <a:p xmlns:a="http://schemas.openxmlformats.org/drawingml/2006/main">
            <a:r>
              <a:rPr sz="1400"/>
              <a:t>Antwoordmodel: https://github.com/meijer1973/4veco-lessen/blob/0356afb6cac2dd43adbe9f63b872aaf423efc914/edities/books34-v3/books/book-4/chapters/4.3/Antwoorden.md</a:t>
            </a:r>
          </a:p>
          <a:p xmlns:a="http://schemas.openxmlformats.org/drawingml/2006/main">
            <a:r>
              <a:rPr sz="1400"/>
              <a:t>Docenteninformatie: https://github.com/meijer1973/4veco-lessen/blob/0356afb6cac2dd43adbe9f63b872aaf423efc914/edities/books34-v3/books/book-4/chapters/4.3/Docenteninformatie.md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zijn 70% en 10% niet delen van dezelfde 100%?</a:t>
            </a:r>
          </a:p>
          <a:p xmlns:a="http://schemas.openxmlformats.org/drawingml/2006/main">
            <a:r>
              <a:rPr sz="1400"/>
              <a:t/>
            </a:r>
          </a:p>
          <a:p xmlns:a="http://schemas.openxmlformats.org/drawingml/2006/main">
            <a:r>
              <a:rPr sz="1400"/>
              <a:t>Uitleg: Werkloos is hier de groep zonder betaald werk, recent gezocht en direct beschikbaar. Eerst 12600+1400=14000, daarna bevolking 20000. Controle: beroepsbevolking + niet-beroepsbevolking = bevolking. Noemers 20000 en 14000 beantwoorden verschillende vragen.</a:t>
            </a:r>
          </a:p>
          <a:p xmlns:a="http://schemas.openxmlformats.org/drawingml/2006/main">
            <a:r>
              <a:rPr sz="1400"/>
              <a:t/>
            </a:r>
          </a:p>
          <a:p xmlns:a="http://schemas.openxmlformats.org/drawingml/2006/main">
            <a:r>
              <a:rPr sz="1400"/>
              <a:t>Misvatting: De werklozen zitten al in de beroepsbevolking. Tel hen niet dubbel.</a:t>
            </a:r>
          </a:p>
          <a:p xmlns:a="http://schemas.openxmlformats.org/drawingml/2006/main">
            <a:r>
              <a:rPr sz="1400"/>
              <a:t/>
            </a:r>
          </a:p>
          <a:p xmlns:a="http://schemas.openxmlformats.org/drawingml/2006/main">
            <a:r>
              <a:rPr sz="1400"/>
              <a:t>Overgang: Schakel expliciet van regio A naar sector B.</a:t>
            </a:r>
          </a:p>
          <a:p xmlns:a="http://schemas.openxmlformats.org/drawingml/2006/main">
            <a:r>
              <a:rPr sz="1400"/>
              <a:t/>
            </a:r>
          </a:p>
          <a:p xmlns:a="http://schemas.openxmlformats.org/drawingml/2006/main">
            <a:r>
              <a:rPr sz="1400"/>
              <a:t>Bron: Boek 4, books34-v3, broncommit 0356afb6cac2dd43adbe9f63b872aaf423efc914. Gedrukte boekpagina’s 152–153 (hoofdstukpagina’s 40–41). https://github.com/meijer1973/4veco-lessen/blob/0356afb6cac2dd43adbe9f63b872aaf423efc914/edities/books34-v3/books/book-4/output/Boek_4_Compleet_v3.pdf</a:t>
            </a:r>
          </a:p>
          <a:p xmlns:a="http://schemas.openxmlformats.org/drawingml/2006/main">
            <a:r>
              <a:rPr sz="1400"/>
              <a:t>Manuscript: https://github.com/meijer1973/4veco-lessen/blob/0356afb6cac2dd43adbe9f63b872aaf423efc914/edities/books34-v3/books/book-4/chapters/4.3/4.3.5%20manuscript.md</a:t>
            </a:r>
          </a:p>
          <a:p xmlns:a="http://schemas.openxmlformats.org/drawingml/2006/main">
            <a:r>
              <a:rPr sz="1400"/>
              <a:t>Antwoordmodel: https://github.com/meijer1973/4veco-lessen/blob/0356afb6cac2dd43adbe9f63b872aaf423efc914/edities/books34-v3/books/book-4/chapters/4.3/Antwoorden.md</a:t>
            </a:r>
          </a:p>
          <a:p xmlns:a="http://schemas.openxmlformats.org/drawingml/2006/main">
            <a:r>
              <a:rPr sz="1400"/>
              <a:t>Docenteninformatie: https://github.com/meijer1973/4veco-lessen/blob/0356afb6cac2dd43adbe9f63b872aaf423efc914/edities/books34-v3/books/book-4/chapters/4.3/Docenteninformatie.md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is 100 hier de werkgelegenheid?</a:t>
            </a:r>
          </a:p>
          <a:p xmlns:a="http://schemas.openxmlformats.org/drawingml/2006/main">
            <a:r>
              <a:rPr sz="1400"/>
              <a:t/>
            </a:r>
          </a:p>
          <a:p xmlns:a="http://schemas.openxmlformats.org/drawingml/2006/main">
            <a:r>
              <a:rPr sz="1400"/>
              <a:t>Uitleg: Breng de w-termen naar rechts en de constante termen naar links. Deel 280 door 20. Vul het loon vervolgens in beide functies in. Alle 100 gevraagde plaatsen worden gevuld in dit model; ieder werkt 20 uur per week.</a:t>
            </a:r>
          </a:p>
          <a:p xmlns:a="http://schemas.openxmlformats.org/drawingml/2006/main">
            <a:r>
              <a:rPr sz="1400"/>
              <a:t/>
            </a:r>
          </a:p>
          <a:p xmlns:a="http://schemas.openxmlformats.org/drawingml/2006/main">
            <a:r>
              <a:rPr sz="1400"/>
              <a:t>Misvatting: 100 personen is geen 100 arbeidsuren en geen regiotelling.</a:t>
            </a:r>
          </a:p>
          <a:p xmlns:a="http://schemas.openxmlformats.org/drawingml/2006/main">
            <a:r>
              <a:rPr sz="1400"/>
              <a:t/>
            </a:r>
          </a:p>
          <a:p xmlns:a="http://schemas.openxmlformats.org/drawingml/2006/main">
            <a:r>
              <a:rPr sz="1400"/>
              <a:t>Overgang: Gebruik de gewijzigde vraagfunctie voor de nieuwe situatie.</a:t>
            </a:r>
          </a:p>
          <a:p xmlns:a="http://schemas.openxmlformats.org/drawingml/2006/main">
            <a:r>
              <a:rPr sz="1400"/>
              <a:t/>
            </a:r>
          </a:p>
          <a:p xmlns:a="http://schemas.openxmlformats.org/drawingml/2006/main">
            <a:r>
              <a:rPr sz="1400"/>
              <a:t>Bron: Boek 4, books34-v3, broncommit 0356afb6cac2dd43adbe9f63b872aaf423efc914. Gedrukte boekpagina’s 152–153 (hoofdstukpagina’s 40–41). https://github.com/meijer1973/4veco-lessen/blob/0356afb6cac2dd43adbe9f63b872aaf423efc914/edities/books34-v3/books/book-4/output/Boek_4_Compleet_v3.pdf</a:t>
            </a:r>
          </a:p>
          <a:p xmlns:a="http://schemas.openxmlformats.org/drawingml/2006/main">
            <a:r>
              <a:rPr sz="1400"/>
              <a:t>Manuscript: https://github.com/meijer1973/4veco-lessen/blob/0356afb6cac2dd43adbe9f63b872aaf423efc914/edities/books34-v3/books/book-4/chapters/4.3/4.3.5%20manuscript.md</a:t>
            </a:r>
          </a:p>
          <a:p xmlns:a="http://schemas.openxmlformats.org/drawingml/2006/main">
            <a:r>
              <a:rPr sz="1400"/>
              <a:t>Antwoordmodel: https://github.com/meijer1973/4veco-lessen/blob/0356afb6cac2dd43adbe9f63b872aaf423efc914/edities/books34-v3/books/book-4/chapters/4.3/Antwoorden.md</a:t>
            </a:r>
          </a:p>
          <a:p xmlns:a="http://schemas.openxmlformats.org/drawingml/2006/main">
            <a:r>
              <a:rPr sz="1400"/>
              <a:t>Docenteninformatie: https://github.com/meijer1973/4veco-lessen/blob/0356afb6cac2dd43adbe9f63b872aaf423efc914/edities/books34-v3/books/book-4/chapters/4.3/Docenteninformatie.md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functie moet je vervangen voor deze berekening?</a:t>
            </a:r>
          </a:p>
          <a:p xmlns:a="http://schemas.openxmlformats.org/drawingml/2006/main">
            <a:r>
              <a:rPr sz="1400"/>
              <a:t/>
            </a:r>
          </a:p>
          <a:p xmlns:a="http://schemas.openxmlformats.org/drawingml/2006/main">
            <a:r>
              <a:rPr sz="1400"/>
              <a:t>Uitleg: Het aanbod blijft gelijk. Gebruik 280, niet 240, als constante in de nieuwe arbeidsvraag. Het verschil tussen de vraagfuncties is bij elk gelijk loon 40 personen, maar de uiteindelijke werkgelegenheid stijgt met 20 door loonaanpassing.</a:t>
            </a:r>
          </a:p>
          <a:p xmlns:a="http://schemas.openxmlformats.org/drawingml/2006/main">
            <a:r>
              <a:rPr sz="1400"/>
              <a:t/>
            </a:r>
          </a:p>
          <a:p xmlns:a="http://schemas.openxmlformats.org/drawingml/2006/main">
            <a:r>
              <a:rPr sz="1400"/>
              <a:t>Misvatting: Een verschuiving van 40 bij gelijk loon is geen toename van de evenwichtshoeveelheid met 40.</a:t>
            </a:r>
          </a:p>
          <a:p xmlns:a="http://schemas.openxmlformats.org/drawingml/2006/main">
            <a:r>
              <a:rPr sz="1400"/>
              <a:t/>
            </a:r>
          </a:p>
          <a:p xmlns:a="http://schemas.openxmlformats.org/drawingml/2006/main">
            <a:r>
              <a:rPr sz="1400"/>
              <a:t>Overgang: Markeer beide berekende punten in de grafiek.</a:t>
            </a:r>
          </a:p>
          <a:p xmlns:a="http://schemas.openxmlformats.org/drawingml/2006/main">
            <a:r>
              <a:rPr sz="1400"/>
              <a:t/>
            </a:r>
          </a:p>
          <a:p xmlns:a="http://schemas.openxmlformats.org/drawingml/2006/main">
            <a:r>
              <a:rPr sz="1400"/>
              <a:t>Bron: Boek 4, books34-v3, broncommit 0356afb6cac2dd43adbe9f63b872aaf423efc914. Gedrukte boekpagina’s 152–153 (hoofdstukpagina’s 40–41). https://github.com/meijer1973/4veco-lessen/blob/0356afb6cac2dd43adbe9f63b872aaf423efc914/edities/books34-v3/books/book-4/output/Boek_4_Compleet_v3.pdf</a:t>
            </a:r>
          </a:p>
          <a:p xmlns:a="http://schemas.openxmlformats.org/drawingml/2006/main">
            <a:r>
              <a:rPr sz="1400"/>
              <a:t>Manuscript: https://github.com/meijer1973/4veco-lessen/blob/0356afb6cac2dd43adbe9f63b872aaf423efc914/edities/books34-v3/books/book-4/chapters/4.3/4.3.5%20manuscript.md</a:t>
            </a:r>
          </a:p>
          <a:p xmlns:a="http://schemas.openxmlformats.org/drawingml/2006/main">
            <a:r>
              <a:rPr sz="1400"/>
              <a:t>Antwoordmodel: https://github.com/meijer1973/4veco-lessen/blob/0356afb6cac2dd43adbe9f63b872aaf423efc914/edities/books34-v3/books/book-4/chapters/4.3/Antwoorden.md</a:t>
            </a:r>
          </a:p>
          <a:p xmlns:a="http://schemas.openxmlformats.org/drawingml/2006/main">
            <a:r>
              <a:rPr sz="1400"/>
              <a:t>Docenteninformatie: https://github.com/meijer1973/4veco-lessen/blob/0356afb6cac2dd43adbe9f63b872aaf423efc914/edities/books34-v3/books/book-4/chapters/4.3/Docenteninformatie.md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blijft de aanbodlijn op dezelfde plaats?</a:t>
            </a:r>
          </a:p>
          <a:p xmlns:a="http://schemas.openxmlformats.org/drawingml/2006/main">
            <a:r>
              <a:rPr sz="1400"/>
              <a:t/>
            </a:r>
          </a:p>
          <a:p xmlns:a="http://schemas.openxmlformats.org/drawingml/2006/main">
            <a:r>
              <a:rPr sz="1400"/>
              <a:t>Uitleg: E0=(100,14), E1=(120,16), dus horizontaal personen en verticaal euro per uur. Geleidelijnen sluiten op de punten aan. De juiste hoeveelheid en prijs volgen uit de berekeningen. De boekfiguur en deze bewerkbare antwoordgrafiek beperken de lijnstukken tot €4–€24. Functies en assenschalen blijven gelijk: de hoeveelheidsgrens is 280 en de loongrens 32.</a:t>
            </a:r>
          </a:p>
          <a:p xmlns:a="http://schemas.openxmlformats.org/drawingml/2006/main">
            <a:r>
              <a:rPr sz="1400"/>
              <a:t/>
            </a:r>
          </a:p>
          <a:p xmlns:a="http://schemas.openxmlformats.org/drawingml/2006/main">
            <a:r>
              <a:rPr sz="1400"/>
              <a:t>Misvatting: Een ander snijpunt op de aanbodlijn betekent geen verschuiving van die lijn.</a:t>
            </a:r>
          </a:p>
          <a:p xmlns:a="http://schemas.openxmlformats.org/drawingml/2006/main">
            <a:r>
              <a:rPr sz="1400"/>
              <a:t/>
            </a:r>
          </a:p>
          <a:p xmlns:a="http://schemas.openxmlformats.org/drawingml/2006/main">
            <a:r>
              <a:rPr sz="1400"/>
              <a:t>Overgang: Verklaar welke verandering de oorzaak is.</a:t>
            </a:r>
          </a:p>
          <a:p xmlns:a="http://schemas.openxmlformats.org/drawingml/2006/main">
            <a:r>
              <a:rPr sz="1400"/>
              <a:t/>
            </a:r>
          </a:p>
          <a:p xmlns:a="http://schemas.openxmlformats.org/drawingml/2006/main">
            <a:r>
              <a:rPr sz="1400"/>
              <a:t>Bron: Boek 4, books34-v3, broncommit 0356afb6cac2dd43adbe9f63b872aaf423efc914. Gedrukte boekpagina’s 152–153 (hoofdstukpagina’s 40–41). https://github.com/meijer1973/4veco-lessen/blob/0356afb6cac2dd43adbe9f63b872aaf423efc914/edities/books34-v3/books/book-4/output/Boek_4_Compleet_v3.pdf</a:t>
            </a:r>
          </a:p>
          <a:p xmlns:a="http://schemas.openxmlformats.org/drawingml/2006/main">
            <a:r>
              <a:rPr sz="1400"/>
              <a:t>Manuscript: https://github.com/meijer1973/4veco-lessen/blob/0356afb6cac2dd43adbe9f63b872aaf423efc914/edities/books34-v3/books/book-4/chapters/4.3/4.3.5%20manuscript.md</a:t>
            </a:r>
          </a:p>
          <a:p xmlns:a="http://schemas.openxmlformats.org/drawingml/2006/main">
            <a:r>
              <a:rPr sz="1400"/>
              <a:t>Antwoordmodel: https://github.com/meijer1973/4veco-lessen/blob/0356afb6cac2dd43adbe9f63b872aaf423efc914/edities/books34-v3/books/book-4/chapters/4.3/Antwoorden.md</a:t>
            </a:r>
          </a:p>
          <a:p xmlns:a="http://schemas.openxmlformats.org/drawingml/2006/main">
            <a:r>
              <a:rPr sz="1400"/>
              <a:t>Docenteninformatie: https://github.com/meijer1973/4veco-lessen/blob/0356afb6cac2dd43adbe9f63b872aaf423efc914/edities/books34-v3/books/book-4/chapters/4.3/Docenteninformatie.md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Wat verandert eerst in de bron: het loon of de orders?</a:t>
            </a:r>
          </a:p>
          <a:p xmlns:a="http://schemas.openxmlformats.org/drawingml/2006/main">
            <a:r>
              <a:rPr sz="1400"/>
              <a:t/>
            </a:r>
          </a:p>
          <a:p xmlns:a="http://schemas.openxmlformats.org/drawingml/2006/main">
            <a:r>
              <a:rPr sz="1400"/>
              <a:t>Uitleg: Verbeter de uitspraak in twee stappen: orders veroorzaken de verschuiving; het hogere loon is een uitkomst van de nieuwe verhouding tussen vraag en aanbod. Een loonverandering veroorzaakt bij verder gelijke omstandigheden een beweging langs een lijn. Bij w=14 zou de nieuwe vraag 140 zijn versus 100 oud; de stijging van het loon naar 16 brengt vraag en aanbod op 120.</a:t>
            </a:r>
          </a:p>
          <a:p xmlns:a="http://schemas.openxmlformats.org/drawingml/2006/main">
            <a:r>
              <a:rPr sz="1400"/>
              <a:t/>
            </a:r>
          </a:p>
          <a:p xmlns:a="http://schemas.openxmlformats.org/drawingml/2006/main">
            <a:r>
              <a:rPr sz="1400"/>
              <a:t>Misvatting: De loonstijging is geen oorzaak van de vraagverschuiving in deze bron.</a:t>
            </a:r>
          </a:p>
          <a:p xmlns:a="http://schemas.openxmlformats.org/drawingml/2006/main">
            <a:r>
              <a:rPr sz="1400"/>
              <a:t/>
            </a:r>
          </a:p>
          <a:p xmlns:a="http://schemas.openxmlformats.org/drawingml/2006/main">
            <a:r>
              <a:rPr sz="1400"/>
              <a:t>Overgang: Schakel nu van het sectormodel naar bedrijf C.</a:t>
            </a:r>
          </a:p>
          <a:p xmlns:a="http://schemas.openxmlformats.org/drawingml/2006/main">
            <a:r>
              <a:rPr sz="1400"/>
              <a:t/>
            </a:r>
          </a:p>
          <a:p xmlns:a="http://schemas.openxmlformats.org/drawingml/2006/main">
            <a:r>
              <a:rPr sz="1400"/>
              <a:t>Bron: Boek 4, books34-v3, broncommit 0356afb6cac2dd43adbe9f63b872aaf423efc914. Gedrukte boekpagina’s 152–153 (hoofdstukpagina’s 40–41). https://github.com/meijer1973/4veco-lessen/blob/0356afb6cac2dd43adbe9f63b872aaf423efc914/edities/books34-v3/books/book-4/output/Boek_4_Compleet_v3.pdf</a:t>
            </a:r>
          </a:p>
          <a:p xmlns:a="http://schemas.openxmlformats.org/drawingml/2006/main">
            <a:r>
              <a:rPr sz="1400"/>
              <a:t>Manuscript: https://github.com/meijer1973/4veco-lessen/blob/0356afb6cac2dd43adbe9f63b872aaf423efc914/edities/books34-v3/books/book-4/chapters/4.3/4.3.5%20manuscript.md</a:t>
            </a:r>
          </a:p>
          <a:p xmlns:a="http://schemas.openxmlformats.org/drawingml/2006/main">
            <a:r>
              <a:rPr sz="1400"/>
              <a:t>Antwoordmodel: https://github.com/meijer1973/4veco-lessen/blob/0356afb6cac2dd43adbe9f63b872aaf423efc914/edities/books34-v3/books/book-4/chapters/4.3/Antwoorden.md</a:t>
            </a:r>
          </a:p>
          <a:p xmlns:a="http://schemas.openxmlformats.org/drawingml/2006/main">
            <a:r>
              <a:rPr sz="1400"/>
              <a:t>Docenteninformatie: https://github.com/meijer1973/4veco-lessen/blob/0356afb6cac2dd43adbe9f63b872aaf423efc914/edities/books34-v3/books/book-4/chapters/4.3/Docenteninformatie.md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deel je door de productiviteit?</a:t>
            </a:r>
          </a:p>
          <a:p xmlns:a="http://schemas.openxmlformats.org/drawingml/2006/main">
            <a:r>
              <a:rPr sz="1400"/>
              <a:t/>
            </a:r>
          </a:p>
          <a:p xmlns:a="http://schemas.openxmlformats.org/drawingml/2006/main">
            <a:r>
              <a:rPr sz="1400"/>
              <a:t>Uitleg: Gebruik de volledige uurkosten uit C en de productie per arbeidsuur. De uren vallen weg bij delen, zodat euro per product overblijft. Reken door met 25,20/8,8; rond het tussenresultaat niet af voor de procentuele verandering.</a:t>
            </a:r>
          </a:p>
          <a:p xmlns:a="http://schemas.openxmlformats.org/drawingml/2006/main">
            <a:r>
              <a:rPr sz="1400"/>
              <a:t/>
            </a:r>
          </a:p>
          <a:p xmlns:a="http://schemas.openxmlformats.org/drawingml/2006/main">
            <a:r>
              <a:rPr sz="1400"/>
              <a:t>Misvatting: €25,20 is geen kostprijs per product.</a:t>
            </a:r>
          </a:p>
          <a:p xmlns:a="http://schemas.openxmlformats.org/drawingml/2006/main">
            <a:r>
              <a:rPr sz="1400"/>
              <a:t/>
            </a:r>
          </a:p>
          <a:p xmlns:a="http://schemas.openxmlformats.org/drawingml/2006/main">
            <a:r>
              <a:rPr sz="1400"/>
              <a:t>Overgang: Bereken de procentuele verandering vanuit het oude bedrag.</a:t>
            </a:r>
          </a:p>
          <a:p xmlns:a="http://schemas.openxmlformats.org/drawingml/2006/main">
            <a:r>
              <a:rPr sz="1400"/>
              <a:t/>
            </a:r>
          </a:p>
          <a:p xmlns:a="http://schemas.openxmlformats.org/drawingml/2006/main">
            <a:r>
              <a:rPr sz="1400"/>
              <a:t>Bron: Boek 4, books34-v3, broncommit 0356afb6cac2dd43adbe9f63b872aaf423efc914. Gedrukte boekpagina’s 152–153 (hoofdstukpagina’s 40–41). https://github.com/meijer1973/4veco-lessen/blob/0356afb6cac2dd43adbe9f63b872aaf423efc914/edities/books34-v3/books/book-4/output/Boek_4_Compleet_v3.pdf</a:t>
            </a:r>
          </a:p>
          <a:p xmlns:a="http://schemas.openxmlformats.org/drawingml/2006/main">
            <a:r>
              <a:rPr sz="1400"/>
              <a:t>Manuscript: https://github.com/meijer1973/4veco-lessen/blob/0356afb6cac2dd43adbe9f63b872aaf423efc914/edities/books34-v3/books/book-4/chapters/4.3/4.3.5%20manuscript.md</a:t>
            </a:r>
          </a:p>
          <a:p xmlns:a="http://schemas.openxmlformats.org/drawingml/2006/main">
            <a:r>
              <a:rPr sz="1400"/>
              <a:t>Antwoordmodel: https://github.com/meijer1973/4veco-lessen/blob/0356afb6cac2dd43adbe9f63b872aaf423efc914/edities/books34-v3/books/book-4/chapters/4.3/Antwoorden.md</a:t>
            </a:r>
          </a:p>
          <a:p xmlns:a="http://schemas.openxmlformats.org/drawingml/2006/main">
            <a:r>
              <a:rPr sz="1400"/>
              <a:t>Docenteninformatie: https://github.com/meijer1973/4veco-lessen/blob/0356afb6cac2dd43adbe9f63b872aaf423efc914/edities/books34-v3/books/book-4/chapters/4.3/Docenteninformatie.md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 bedrag hoort onder de breuk bij procentuele verandering?</a:t>
            </a:r>
          </a:p>
          <a:p xmlns:a="http://schemas.openxmlformats.org/drawingml/2006/main">
            <a:r>
              <a:rPr sz="1400"/>
              <a:t/>
            </a:r>
          </a:p>
          <a:p xmlns:a="http://schemas.openxmlformats.org/drawingml/2006/main">
            <a:r>
              <a:rPr sz="1400"/>
              <a:t>Uitleg: Uurkosten stijgen 5%, productiviteit 10%. De verhouding van groeifactoren is 1,05/1,10, niet het verschil 5−10. Reken exact met 25,20/8,8 = 63/22 euro per product en vergelijk met 3. Ronden van 2,86 vóór de procentberekening zou een afwijkend percentage opleveren.</a:t>
            </a:r>
          </a:p>
          <a:p xmlns:a="http://schemas.openxmlformats.org/drawingml/2006/main">
            <a:r>
              <a:rPr sz="1400"/>
              <a:t/>
            </a:r>
          </a:p>
          <a:p xmlns:a="http://schemas.openxmlformats.org/drawingml/2006/main">
            <a:r>
              <a:rPr sz="1400"/>
              <a:t>Misvatting: De daling is niet precies 5%. Procentuele veranderingen in teller en noemer trek je niet eenvoudig af.</a:t>
            </a:r>
          </a:p>
          <a:p xmlns:a="http://schemas.openxmlformats.org/drawingml/2006/main">
            <a:r>
              <a:rPr sz="1400"/>
              <a:t/>
            </a:r>
          </a:p>
          <a:p xmlns:a="http://schemas.openxmlformats.org/drawingml/2006/main">
            <a:r>
              <a:rPr sz="1400"/>
              <a:t>Overgang: Beoordeel nu de uitspraak over banen.</a:t>
            </a:r>
          </a:p>
          <a:p xmlns:a="http://schemas.openxmlformats.org/drawingml/2006/main">
            <a:r>
              <a:rPr sz="1400"/>
              <a:t/>
            </a:r>
          </a:p>
          <a:p xmlns:a="http://schemas.openxmlformats.org/drawingml/2006/main">
            <a:r>
              <a:rPr sz="1400"/>
              <a:t>Bron: Boek 4, books34-v3, broncommit 0356afb6cac2dd43adbe9f63b872aaf423efc914. Gedrukte boekpagina’s 152–153 (hoofdstukpagina’s 40–41). https://github.com/meijer1973/4veco-lessen/blob/0356afb6cac2dd43adbe9f63b872aaf423efc914/edities/books34-v3/books/book-4/output/Boek_4_Compleet_v3.pdf</a:t>
            </a:r>
          </a:p>
          <a:p xmlns:a="http://schemas.openxmlformats.org/drawingml/2006/main">
            <a:r>
              <a:rPr sz="1400"/>
              <a:t>Manuscript: https://github.com/meijer1973/4veco-lessen/blob/0356afb6cac2dd43adbe9f63b872aaf423efc914/edities/books34-v3/books/book-4/chapters/4.3/4.3.5%20manuscript.md</a:t>
            </a:r>
          </a:p>
          <a:p xmlns:a="http://schemas.openxmlformats.org/drawingml/2006/main">
            <a:r>
              <a:rPr sz="1400"/>
              <a:t>Antwoordmodel: https://github.com/meijer1973/4veco-lessen/blob/0356afb6cac2dd43adbe9f63b872aaf423efc914/edities/books34-v3/books/book-4/chapters/4.3/Antwoorden.md</a:t>
            </a:r>
          </a:p>
          <a:p xmlns:a="http://schemas.openxmlformats.org/drawingml/2006/main">
            <a:r>
              <a:rPr sz="1400"/>
              <a:t>Docenteninformatie: https://github.com/meijer1973/4veco-lessen/blob/0356afb6cac2dd43adbe9f63b872aaf423efc914/edities/books34-v3/books/book-4/chapters/4.3/Docenteninformatie.md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 gegeven heb je nodig om de benodigde uren te berekenen?</a:t>
            </a:r>
          </a:p>
          <a:p xmlns:a="http://schemas.openxmlformats.org/drawingml/2006/main">
            <a:r>
              <a:rPr sz="1400"/>
              <a:t/>
            </a:r>
          </a:p>
          <a:p xmlns:a="http://schemas.openxmlformats.org/drawingml/2006/main">
            <a:r>
              <a:rPr sz="1400"/>
              <a:t>Uitleg: De garantie is onjuist. Eén ondersteunde uitkomst is een lagere loonkost per product. Eén ontbrekend gegeven is het toekomstige order- of productievolume. Andere kosten ontbreken eveneens voor een winstuitspraak. De uitspraak over dezelfde productie is voorwaardelijk, geen voorspelling van de gegeven onbekende toekomst. Voor personen is ook de arbeidsduur relevant. Laat elke leerling één onvolledige conclusie verbeteren.</a:t>
            </a:r>
          </a:p>
          <a:p xmlns:a="http://schemas.openxmlformats.org/drawingml/2006/main">
            <a:r>
              <a:rPr sz="1400"/>
              <a:t/>
            </a:r>
          </a:p>
          <a:p xmlns:a="http://schemas.openxmlformats.org/drawingml/2006/main">
            <a:r>
              <a:rPr sz="1400"/>
              <a:t>Misvatting: Lagere loonkosten per product garanderen noch meer banen noch hogere totale winst.</a:t>
            </a:r>
          </a:p>
          <a:p xmlns:a="http://schemas.openxmlformats.org/drawingml/2006/main">
            <a:r>
              <a:rPr sz="1400"/>
              <a:t/>
            </a:r>
          </a:p>
          <a:p xmlns:a="http://schemas.openxmlformats.org/drawingml/2006/main">
            <a:r>
              <a:rPr sz="1400"/>
              <a:t>Overgang: Laat het huiswerk in de agenda zetten.</a:t>
            </a:r>
          </a:p>
          <a:p xmlns:a="http://schemas.openxmlformats.org/drawingml/2006/main">
            <a:r>
              <a:rPr sz="1400"/>
              <a:t/>
            </a:r>
          </a:p>
          <a:p xmlns:a="http://schemas.openxmlformats.org/drawingml/2006/main">
            <a:r>
              <a:rPr sz="1400"/>
              <a:t>Bron: Boek 4, books34-v3, broncommit 0356afb6cac2dd43adbe9f63b872aaf423efc914. Gedrukte boekpagina’s 152–153 (hoofdstukpagina’s 40–41). https://github.com/meijer1973/4veco-lessen/blob/0356afb6cac2dd43adbe9f63b872aaf423efc914/edities/books34-v3/books/book-4/output/Boek_4_Compleet_v3.pdf</a:t>
            </a:r>
          </a:p>
          <a:p xmlns:a="http://schemas.openxmlformats.org/drawingml/2006/main">
            <a:r>
              <a:rPr sz="1400"/>
              <a:t>Manuscript: https://github.com/meijer1973/4veco-lessen/blob/0356afb6cac2dd43adbe9f63b872aaf423efc914/edities/books34-v3/books/book-4/chapters/4.3/4.3.5%20manuscript.md</a:t>
            </a:r>
          </a:p>
          <a:p xmlns:a="http://schemas.openxmlformats.org/drawingml/2006/main">
            <a:r>
              <a:rPr sz="1400"/>
              <a:t>Antwoordmodel: https://github.com/meijer1973/4veco-lessen/blob/0356afb6cac2dd43adbe9f63b872aaf423efc914/edities/books34-v3/books/book-4/chapters/4.3/Antwoorden.md</a:t>
            </a:r>
          </a:p>
          <a:p xmlns:a="http://schemas.openxmlformats.org/drawingml/2006/main">
            <a:r>
              <a:rPr sz="1400"/>
              <a:t>Docenteninformatie: https://github.com/meijer1973/4veco-lessen/blob/0356afb6cac2dd43adbe9f63b872aaf423efc914/edities/books34-v3/books/book-4/chapters/4.3/Docenteninformatie.md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stap kun je al uitleggen en waar heb je hulp nodig?</a:t>
            </a:r>
          </a:p>
          <a:p xmlns:a="http://schemas.openxmlformats.org/drawingml/2006/main">
            <a:r>
              <a:rPr sz="1400"/>
              <a:t/>
            </a:r>
          </a:p>
          <a:p xmlns:a="http://schemas.openxmlformats.org/drawingml/2006/main">
            <a:r>
              <a:rPr sz="1400"/>
              <a:t>Uitleg: Laat dit overzicht staan tijdens afsluiting / huiswerk. Start is de eerste echte gemengde opgave 37. Alle bewerkingen zijn eerder uitgelegd: fte in §4.3.1 p.115; kosten per product p.116; beroepsbevolking §4.3.2 p.124; werkloosheid en vacatures §4.3.3 p.132. Haal zo nodig de methode op, zonder beheersing te veronderstellen. Er is geen nieuwe theorie en geen aparte basissectie. Voorbereiding 37–39, doel 40, bonus 41. Volgens de classroom-route zijn alle gemengde opgaven 37–41 huiswerk; 41 houdt zijn bonuslabel. Dat is een expliciete opdracht, ook al is de bonus in de algemene boekroute optioneel. Geen gemeten claim dat alles in één les past. Opgave 40 is gekozen omdat bronkeuze, twee noemers, marktvergelijkingen, grafiek, oorzaak en een begrensde bedrijfsconclusie samenkomen.</a:t>
            </a:r>
          </a:p>
          <a:p xmlns:a="http://schemas.openxmlformats.org/drawingml/2006/main">
            <a:r>
              <a:rPr sz="1400"/>
              <a:t/>
            </a:r>
          </a:p>
          <a:p xmlns:a="http://schemas.openxmlformats.org/drawingml/2006/main">
            <a:r>
              <a:rPr sz="1400"/>
              <a:t>Misvatting: Fte is geen personentelling. Vacatures mag je niet aftrekken van werklozen.</a:t>
            </a:r>
          </a:p>
          <a:p xmlns:a="http://schemas.openxmlformats.org/drawingml/2006/main">
            <a:r>
              <a:rPr sz="1400"/>
              <a:t/>
            </a:r>
          </a:p>
          <a:p xmlns:a="http://schemas.openxmlformats.org/drawingml/2006/main">
            <a:r>
              <a:rPr sz="1400"/>
              <a:t>Overgang: Na de start: korte herhaling; na de uitleg: verder met 38–40 en bonus 41; bij afsluiting: agenda.</a:t>
            </a:r>
          </a:p>
          <a:p xmlns:a="http://schemas.openxmlformats.org/drawingml/2006/main">
            <a:r>
              <a:rPr sz="1400"/>
              <a:t/>
            </a:r>
          </a:p>
          <a:p xmlns:a="http://schemas.openxmlformats.org/drawingml/2006/main">
            <a:r>
              <a:rPr sz="1400"/>
              <a:t>Bron: Boek 4, books34-v3, broncommit 0356afb6cac2dd43adbe9f63b872aaf423efc914. Gedrukte boekpagina 150: start. Opgave 40: bronnen p.152 en vragen p.153. https://github.com/meijer1973/4veco-lessen/blob/0356afb6cac2dd43adbe9f63b872aaf423efc914/edities/books34-v3/books/book-4/output/Boek_4_Compleet_v3.pdf</a:t>
            </a:r>
          </a:p>
          <a:p xmlns:a="http://schemas.openxmlformats.org/drawingml/2006/main">
            <a:r>
              <a:rPr sz="1400"/>
              <a:t>Manuscript: https://github.com/meijer1973/4veco-lessen/blob/0356afb6cac2dd43adbe9f63b872aaf423efc914/edities/books34-v3/books/book-4/chapters/4.3/4.3.5%20manuscript.md</a:t>
            </a:r>
          </a:p>
          <a:p xmlns:a="http://schemas.openxmlformats.org/drawingml/2006/main">
            <a:r>
              <a:rPr sz="1400"/>
              <a:t>Antwoordmodel: https://github.com/meijer1973/4veco-lessen/blob/0356afb6cac2dd43adbe9f63b872aaf423efc914/edities/books34-v3/books/book-4/chapters/4.3/Antwoorden.md</a:t>
            </a:r>
          </a:p>
          <a:p xmlns:a="http://schemas.openxmlformats.org/drawingml/2006/main">
            <a:r>
              <a:rPr sz="1400"/>
              <a:t>Docenteninformatie: https://github.com/meijer1973/4veco-lessen/blob/0356afb6cac2dd43adbe9f63b872aaf423efc914/edities/books34-v3/books/book-4/chapters/4.3/Docenteninformatie.md</a:t>
            </a:r>
          </a:p>
          <a:p xmlns:a="http://schemas.openxmlformats.org/drawingml/2006/main">
            <a:r>
              <a:rPr sz="1400"/>
              <a:t>Alleen voor feedback ná de start: 37a 4 fte, 8 personen; 37b 40/(960+40) × 100% = 4%; 37c hogere productiviteit kan de hogere uurkosten overtreffen. Bespreek twijfel kort. De drie overzichten hebben één bron en dezelfde geometrie.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dc050a9a217412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3b0d2331d4949b8" /><Relationship Type="http://schemas.openxmlformats.org/officeDocument/2006/relationships/slideLayout" Target="/ppt/slideLayouts/slideLayout1.xml" Id="R42f7ecef82074bf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2f7ecef82074bf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8eb81145db345c0" /><Relationship Type="http://schemas.openxmlformats.org/officeDocument/2006/relationships/notesSlide" Target="/ppt/notesSlides/notesSlide1.xml" Id="R370acce7325244d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7443c11a9d74077" /><Relationship Type="http://schemas.openxmlformats.org/officeDocument/2006/relationships/notesSlide" Target="/ppt/notesSlides/notesSlide2.xml" Id="R6f84f704697b480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fb62957ff9543bc" /><Relationship Type="http://schemas.openxmlformats.org/officeDocument/2006/relationships/notesSlide" Target="/ppt/notesSlides/notesSlide3.xml" Id="Ra8465ee69f69408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a273ef2288e4747" /><Relationship Type="http://schemas.openxmlformats.org/officeDocument/2006/relationships/notesSlide" Target="/ppt/notesSlides/notesSlide4.xml" Id="R90781b0ec7274ad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a5178bec92b4400" /><Relationship Type="http://schemas.openxmlformats.org/officeDocument/2006/relationships/notesSlide" Target="/ppt/notesSlides/notesSlide5.xml" Id="Rcb1d40463217451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9690ba545ce4380" /><Relationship Type="http://schemas.openxmlformats.org/officeDocument/2006/relationships/notesSlide" Target="/ppt/notesSlides/notesSlide6.xml" Id="R4a6dd4f80ff2417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dccca6c30404dc6" /><Relationship Type="http://schemas.openxmlformats.org/officeDocument/2006/relationships/notesSlide" Target="/ppt/notesSlides/notesSlide7.xml" Id="R2cbce418cdcf49c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0349ad5922f4db2" /><Relationship Type="http://schemas.openxmlformats.org/officeDocument/2006/relationships/image" Target="/ppt/media/image.png" Id="Rae0b383b81a14230" /><Relationship Type="http://schemas.openxmlformats.org/officeDocument/2006/relationships/notesSlide" Target="/ppt/notesSlides/notesSlide8.xml" Id="R8ea87e265ca24cd4"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1eb5689e2bb4aba" /><Relationship Type="http://schemas.openxmlformats.org/officeDocument/2006/relationships/notesSlide" Target="/ppt/notesSlides/notesSlide9.xml" Id="R1e6aea1ad0f243f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f733c6553cc34d6b" /><Relationship Type="http://schemas.openxmlformats.org/officeDocument/2006/relationships/notesSlide" Target="/ppt/notesSlides/notesSlide10.xml" Id="Rb0de7c16b4de40e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54d28e73f4e14736" /><Relationship Type="http://schemas.openxmlformats.org/officeDocument/2006/relationships/notesSlide" Target="/ppt/notesSlides/notesSlide11.xml" Id="Rf8190e331e124fc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911c0378a8b248cc" /><Relationship Type="http://schemas.openxmlformats.org/officeDocument/2006/relationships/notesSlide" Target="/ppt/notesSlides/notesSlide12.xml" Id="Rad6ab3e2bd3a4bc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6c5ef5a3f3fe43e0" /><Relationship Type="http://schemas.openxmlformats.org/officeDocument/2006/relationships/notesSlide" Target="/ppt/notesSlides/notesSlide13.xml" Id="R520db5c4c4174e2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f11d43635f644b0f" /><Relationship Type="http://schemas.openxmlformats.org/officeDocument/2006/relationships/notesSlide" Target="/ppt/notesSlides/notesSlide14.xml" Id="Rbe46f56a60194e2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9f9a5cc9265b4665" /><Relationship Type="http://schemas.openxmlformats.org/officeDocument/2006/relationships/chart" Target="/ppt/slides/charts/chart1.xml" Id="R1ae0fb7811784e3e" /><Relationship Type="http://schemas.openxmlformats.org/officeDocument/2006/relationships/notesSlide" Target="/ppt/notesSlides/notesSlide15.xml" Id="Ra61257f701d34ad2"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01e7552a70564585" /><Relationship Type="http://schemas.openxmlformats.org/officeDocument/2006/relationships/notesSlide" Target="/ppt/notesSlides/notesSlide16.xml" Id="R43235260c90b4405"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97d7b47df12348bf" /><Relationship Type="http://schemas.openxmlformats.org/officeDocument/2006/relationships/notesSlide" Target="/ppt/notesSlides/notesSlide17.xml" Id="Rf35dd88201544412"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10dd2e0e6c40439d" /><Relationship Type="http://schemas.openxmlformats.org/officeDocument/2006/relationships/notesSlide" Target="/ppt/notesSlides/notesSlide18.xml" Id="R6ffac40204f646bc"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87967a4f9dc04aca" /><Relationship Type="http://schemas.openxmlformats.org/officeDocument/2006/relationships/notesSlide" Target="/ppt/notesSlides/notesSlide19.xml" Id="Rcc1219e9c3a44ae2"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edaa8086bcb1400c" /><Relationship Type="http://schemas.openxmlformats.org/officeDocument/2006/relationships/notesSlide" Target="/ppt/notesSlides/notesSlide20.xml" Id="R40dd8db7f70c42b2"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scatterChart>
        <c:scatterStyle val="line"/>
        <c:ser>
          <c:idx val="0"/>
          <c:order val="0"/>
          <c:tx>
            <c:v>Lᵥ oud</c:v>
          </c:tx>
          <c:spPr>
            <a:ln xmlns:a="http://schemas.openxmlformats.org/drawingml/2006/main" w="38100">
              <a:solidFill>
                <a:srgbClr val="17658A"/>
              </a:solidFill>
              <a:prstDash val="solid"/>
            </a:ln>
          </c:spPr>
          <c:marker>
            <c:symbol val="none"/>
          </c:marker>
          <c:xVal>
            <c:numRef>
              <c:f>'Chart Data'!$A$2:$A$4</c:f>
              <c:numCache>
                <c:formatCode>General</c:formatCode>
                <c:ptCount val="3"/>
                <c:pt idx="0">
                  <c:v>0</c:v>
                </c:pt>
                <c:pt idx="1">
                  <c:v>180</c:v>
                </c:pt>
                <c:pt idx="2">
                  <c:v>200</c:v>
                </c:pt>
              </c:numCache>
            </c:numRef>
          </c:xVal>
          <c:yVal>
            <c:numRef>
              <c:f>'Chart Data'!$B$2:$B$4</c:f>
              <c:numCache>
                <c:formatCode>General</c:formatCode>
                <c:ptCount val="3"/>
                <c:pt idx="0">
                  <c:v>24</c:v>
                </c:pt>
                <c:pt idx="1">
                  <c:v>6</c:v>
                </c:pt>
                <c:pt idx="2">
                  <c:v>4</c:v>
                </c:pt>
              </c:numCache>
            </c:numRef>
          </c:yVal>
          <c:smooth val="0"/>
        </c:ser>
        <c:ser>
          <c:idx val="1"/>
          <c:order val="1"/>
          <c:tx>
            <c:v>Lᵥ nieuw</c:v>
          </c:tx>
          <c:spPr>
            <a:ln xmlns:a="http://schemas.openxmlformats.org/drawingml/2006/main" w="38100">
              <a:solidFill>
                <a:srgbClr val="A94D16"/>
              </a:solidFill>
              <a:prstDash val="dash"/>
            </a:ln>
          </c:spPr>
          <c:marker>
            <c:symbol val="none"/>
          </c:marker>
          <c:xVal>
            <c:numRef>
              <c:f>'Chart Data'!$C$2:$C$4</c:f>
              <c:numCache>
                <c:formatCode>General</c:formatCode>
                <c:ptCount val="3"/>
                <c:pt idx="0">
                  <c:v>40</c:v>
                </c:pt>
                <c:pt idx="1">
                  <c:v>220</c:v>
                </c:pt>
                <c:pt idx="2">
                  <c:v>240</c:v>
                </c:pt>
              </c:numCache>
            </c:numRef>
          </c:xVal>
          <c:yVal>
            <c:numRef>
              <c:f>'Chart Data'!$D$2:$D$4</c:f>
              <c:numCache>
                <c:formatCode>General</c:formatCode>
                <c:ptCount val="3"/>
                <c:pt idx="0">
                  <c:v>24</c:v>
                </c:pt>
                <c:pt idx="1">
                  <c:v>6</c:v>
                </c:pt>
                <c:pt idx="2">
                  <c:v>4</c:v>
                </c:pt>
              </c:numCache>
            </c:numRef>
          </c:yVal>
          <c:smooth val="0"/>
        </c:ser>
        <c:ser>
          <c:idx val="2"/>
          <c:order val="2"/>
          <c:tx>
            <c:v>Lₐ</c:v>
          </c:tx>
          <c:spPr>
            <a:ln xmlns:a="http://schemas.openxmlformats.org/drawingml/2006/main" w="38100">
              <a:solidFill>
                <a:srgbClr val="20665B"/>
              </a:solidFill>
              <a:prstDash val="solid"/>
            </a:ln>
          </c:spPr>
          <c:marker>
            <c:symbol val="none"/>
          </c:marker>
          <c:xVal>
            <c:numRef>
              <c:f>'Chart Data'!$E$2:$E$4</c:f>
              <c:numCache>
                <c:formatCode>General</c:formatCode>
                <c:ptCount val="3"/>
                <c:pt idx="0">
                  <c:v>0</c:v>
                </c:pt>
                <c:pt idx="1">
                  <c:v>180</c:v>
                </c:pt>
                <c:pt idx="2">
                  <c:v>200</c:v>
                </c:pt>
              </c:numCache>
            </c:numRef>
          </c:xVal>
          <c:yVal>
            <c:numRef>
              <c:f>'Chart Data'!$F$2:$F$4</c:f>
              <c:numCache>
                <c:formatCode>General</c:formatCode>
                <c:ptCount val="3"/>
                <c:pt idx="0">
                  <c:v>4</c:v>
                </c:pt>
                <c:pt idx="1">
                  <c:v>22</c:v>
                </c:pt>
                <c:pt idx="2">
                  <c:v>24</c:v>
                </c:pt>
              </c:numCache>
            </c:numRef>
          </c:yVal>
          <c:smooth val="0"/>
        </c:ser>
        <c:ser>
          <c:idx val="3"/>
          <c:order val="3"/>
          <c:tx>
            <c:v>E₀ horizontale hulplijn</c:v>
          </c:tx>
          <c:spPr>
            <a:ln xmlns:a="http://schemas.openxmlformats.org/drawingml/2006/main" w="14288">
              <a:solidFill>
                <a:srgbClr val="445B6B"/>
              </a:solidFill>
              <a:prstDash val="dash"/>
            </a:ln>
          </c:spPr>
          <c:marker>
            <c:symbol val="none"/>
          </c:marker>
          <c:xVal>
            <c:numRef>
              <c:f>'Chart Data'!$G$2:$G$3</c:f>
              <c:numCache>
                <c:formatCode>General</c:formatCode>
                <c:ptCount val="2"/>
                <c:pt idx="0">
                  <c:v>0</c:v>
                </c:pt>
                <c:pt idx="1">
                  <c:v>100</c:v>
                </c:pt>
              </c:numCache>
            </c:numRef>
          </c:xVal>
          <c:yVal>
            <c:numRef>
              <c:f>'Chart Data'!$H$2:$H$3</c:f>
              <c:numCache>
                <c:formatCode>General</c:formatCode>
                <c:ptCount val="2"/>
                <c:pt idx="0">
                  <c:v>14</c:v>
                </c:pt>
                <c:pt idx="1">
                  <c:v>14</c:v>
                </c:pt>
              </c:numCache>
            </c:numRef>
          </c:yVal>
          <c:smooth val="0"/>
        </c:ser>
        <c:ser>
          <c:idx val="4"/>
          <c:order val="4"/>
          <c:tx>
            <c:v>E₀ verticale hulplijn</c:v>
          </c:tx>
          <c:spPr>
            <a:ln xmlns:a="http://schemas.openxmlformats.org/drawingml/2006/main" w="14288">
              <a:solidFill>
                <a:srgbClr val="445B6B"/>
              </a:solidFill>
              <a:prstDash val="dash"/>
            </a:ln>
          </c:spPr>
          <c:marker>
            <c:symbol val="none"/>
          </c:marker>
          <c:xVal>
            <c:numRef>
              <c:f>'Chart Data'!$I$2:$I$3</c:f>
              <c:numCache>
                <c:formatCode>General</c:formatCode>
                <c:ptCount val="2"/>
                <c:pt idx="0">
                  <c:v>100</c:v>
                </c:pt>
                <c:pt idx="1">
                  <c:v>100</c:v>
                </c:pt>
              </c:numCache>
            </c:numRef>
          </c:xVal>
          <c:yVal>
            <c:numRef>
              <c:f>'Chart Data'!$J$2:$J$3</c:f>
              <c:numCache>
                <c:formatCode>General</c:formatCode>
                <c:ptCount val="2"/>
                <c:pt idx="0">
                  <c:v>0</c:v>
                </c:pt>
                <c:pt idx="1">
                  <c:v>14</c:v>
                </c:pt>
              </c:numCache>
            </c:numRef>
          </c:yVal>
          <c:smooth val="0"/>
        </c:ser>
        <c:ser>
          <c:idx val="5"/>
          <c:order val="5"/>
          <c:tx>
            <c:v>E₀</c:v>
          </c:tx>
          <c:spPr>
            <a:ln xmlns:a="http://schemas.openxmlformats.org/drawingml/2006/main" w="0">
              <a:solidFill>
                <a:srgbClr val="17658A"/>
              </a:solidFill>
            </a:ln>
          </c:spPr>
          <c:marker>
            <c:symbol val="circle"/>
            <c:size val="9"/>
            <c:spPr>
              <a:solidFill xmlns:a="http://schemas.openxmlformats.org/drawingml/2006/main">
                <a:srgbClr val="17658A"/>
              </a:solidFill>
            </c:spPr>
          </c:marker>
          <c:xVal>
            <c:numRef>
              <c:f>'Chart Data'!$K$2:$K$2</c:f>
              <c:numCache>
                <c:formatCode>General</c:formatCode>
                <c:ptCount val="1"/>
                <c:pt idx="0">
                  <c:v>100</c:v>
                </c:pt>
              </c:numCache>
            </c:numRef>
          </c:xVal>
          <c:yVal>
            <c:numRef>
              <c:f>'Chart Data'!$L$2:$L$2</c:f>
              <c:numCache>
                <c:formatCode>General</c:formatCode>
                <c:ptCount val="1"/>
                <c:pt idx="0">
                  <c:v>14</c:v>
                </c:pt>
              </c:numCache>
            </c:numRef>
          </c:yVal>
          <c:smooth val="0"/>
        </c:ser>
        <c:ser>
          <c:idx val="6"/>
          <c:order val="6"/>
          <c:tx>
            <c:v>E₁ horizontale hulplijn</c:v>
          </c:tx>
          <c:spPr>
            <a:ln xmlns:a="http://schemas.openxmlformats.org/drawingml/2006/main" w="14288">
              <a:solidFill>
                <a:srgbClr val="445B6B"/>
              </a:solidFill>
              <a:prstDash val="dash"/>
            </a:ln>
          </c:spPr>
          <c:marker>
            <c:symbol val="none"/>
          </c:marker>
          <c:xVal>
            <c:numRef>
              <c:f>'Chart Data'!$M$2:$M$3</c:f>
              <c:numCache>
                <c:formatCode>General</c:formatCode>
                <c:ptCount val="2"/>
                <c:pt idx="0">
                  <c:v>0</c:v>
                </c:pt>
                <c:pt idx="1">
                  <c:v>120</c:v>
                </c:pt>
              </c:numCache>
            </c:numRef>
          </c:xVal>
          <c:yVal>
            <c:numRef>
              <c:f>'Chart Data'!$N$2:$N$3</c:f>
              <c:numCache>
                <c:formatCode>General</c:formatCode>
                <c:ptCount val="2"/>
                <c:pt idx="0">
                  <c:v>16</c:v>
                </c:pt>
                <c:pt idx="1">
                  <c:v>16</c:v>
                </c:pt>
              </c:numCache>
            </c:numRef>
          </c:yVal>
          <c:smooth val="0"/>
        </c:ser>
        <c:ser>
          <c:idx val="7"/>
          <c:order val="7"/>
          <c:tx>
            <c:v>E₁ verticale hulplijn</c:v>
          </c:tx>
          <c:spPr>
            <a:ln xmlns:a="http://schemas.openxmlformats.org/drawingml/2006/main" w="14288">
              <a:solidFill>
                <a:srgbClr val="445B6B"/>
              </a:solidFill>
              <a:prstDash val="dash"/>
            </a:ln>
          </c:spPr>
          <c:marker>
            <c:symbol val="none"/>
          </c:marker>
          <c:xVal>
            <c:numRef>
              <c:f>'Chart Data'!$O$2:$O$3</c:f>
              <c:numCache>
                <c:formatCode>General</c:formatCode>
                <c:ptCount val="2"/>
                <c:pt idx="0">
                  <c:v>120</c:v>
                </c:pt>
                <c:pt idx="1">
                  <c:v>120</c:v>
                </c:pt>
              </c:numCache>
            </c:numRef>
          </c:xVal>
          <c:yVal>
            <c:numRef>
              <c:f>'Chart Data'!$P$2:$P$3</c:f>
              <c:numCache>
                <c:formatCode>General</c:formatCode>
                <c:ptCount val="2"/>
                <c:pt idx="0">
                  <c:v>0</c:v>
                </c:pt>
                <c:pt idx="1">
                  <c:v>16</c:v>
                </c:pt>
              </c:numCache>
            </c:numRef>
          </c:yVal>
          <c:smooth val="0"/>
        </c:ser>
        <c:ser>
          <c:idx val="8"/>
          <c:order val="8"/>
          <c:tx>
            <c:v>E₁</c:v>
          </c:tx>
          <c:spPr>
            <a:ln xmlns:a="http://schemas.openxmlformats.org/drawingml/2006/main" w="0">
              <a:solidFill>
                <a:srgbClr val="A94D16"/>
              </a:solidFill>
            </a:ln>
          </c:spPr>
          <c:marker>
            <c:symbol val="circle"/>
            <c:size val="9"/>
            <c:spPr>
              <a:solidFill xmlns:a="http://schemas.openxmlformats.org/drawingml/2006/main">
                <a:srgbClr val="A94D16"/>
              </a:solidFill>
            </c:spPr>
          </c:marker>
          <c:dLbls>
            <c:dLbl>
              <c:idx val="0"/>
              <c:tx>
                <c:rich>
                  <a:bodyPr xmlns:a="http://schemas.openxmlformats.org/drawingml/2006/main"/>
                  <a:lstStyle xmlns:a="http://schemas.openxmlformats.org/drawingml/2006/main"/>
                  <a:p xmlns:a="http://schemas.openxmlformats.org/drawingml/2006/main">
                    <a:r>
                      <a:rPr sz="2025">
                        <a:solidFill>
                          <a:srgbClr val="A94D16"/>
                        </a:solidFill>
                        <a:latin typeface="Arial"/>
                        <a:ea typeface="Arial"/>
                        <a:cs typeface="Arial"/>
                      </a:rPr>
                      <a:t>E₁</a:t>
                    </a:r>
                  </a:p>
                </c:rich>
              </c:tx>
              <c:txPr>
                <a:bodyPr xmlns:a="http://schemas.openxmlformats.org/drawingml/2006/main" anchorCtr="1"/>
                <a:lstStyle xmlns:a="http://schemas.openxmlformats.org/drawingml/2006/main"/>
                <a:p xmlns:a="http://schemas.openxmlformats.org/drawingml/2006/main">
                  <a:pPr>
                    <a:defRPr sz="2025">
                      <a:solidFill>
                        <a:srgbClr val="A94D16"/>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Data'!$Q$2:$Q$2</c:f>
              <c:numCache>
                <c:formatCode>General</c:formatCode>
                <c:ptCount val="1"/>
                <c:pt idx="0">
                  <c:v>120</c:v>
                </c:pt>
              </c:numCache>
            </c:numRef>
          </c:xVal>
          <c:yVal>
            <c:numRef>
              <c:f>'Chart Data'!$R$2:$R$2</c:f>
              <c:numCache>
                <c:formatCode>General</c:formatCode>
                <c:ptCount val="1"/>
                <c:pt idx="0">
                  <c:v>16</c:v>
                </c:pt>
              </c:numCache>
            </c:numRef>
          </c:yVal>
          <c:smooth val="0"/>
        </c:ser>
        <c:ser>
          <c:idx val="9"/>
          <c:order val="9"/>
          <c:tx>
            <c:v>Label E₀</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2025">
                        <a:solidFill>
                          <a:srgbClr val="17658A"/>
                        </a:solidFill>
                        <a:latin typeface="Arial"/>
                        <a:ea typeface="Arial"/>
                        <a:cs typeface="Arial"/>
                      </a:rPr>
                      <a:t>E₀</a:t>
                    </a:r>
                  </a:p>
                </c:rich>
              </c:tx>
              <c:txPr>
                <a:bodyPr xmlns:a="http://schemas.openxmlformats.org/drawingml/2006/main" anchorCtr="1"/>
                <a:lstStyle xmlns:a="http://schemas.openxmlformats.org/drawingml/2006/main"/>
                <a:p xmlns:a="http://schemas.openxmlformats.org/drawingml/2006/main">
                  <a:pPr>
                    <a:defRPr sz="2025">
                      <a:solidFill>
                        <a:srgbClr val="17658A"/>
                      </a:solidFill>
                      <a:latin typeface="Arial"/>
                      <a:ea typeface="Arial"/>
                      <a:cs typeface="Arial"/>
                    </a:defRPr>
                  </a:pPr>
                </a:p>
              </c:txPr>
              <c:dLblPos val="b"/>
              <c:showLegendKey val="0"/>
              <c:showVal val="0"/>
              <c:showCatName val="0"/>
              <c:showSerName val="0"/>
              <c:showPercent val="0"/>
              <c:showBubbleSize val="0"/>
            </c:dLbl>
            <c:showLegendKey val="0"/>
            <c:showVal val="0"/>
            <c:showCatName val="0"/>
            <c:showSerName val="0"/>
            <c:showPercent val="0"/>
            <c:showBubbleSize val="0"/>
          </c:dLbls>
          <c:xVal>
            <c:numRef>
              <c:f>'Chart Data'!$S$2:$S$2</c:f>
              <c:numCache>
                <c:formatCode>General</c:formatCode>
                <c:ptCount val="1"/>
                <c:pt idx="0">
                  <c:v>86</c:v>
                </c:pt>
              </c:numCache>
            </c:numRef>
          </c:xVal>
          <c:yVal>
            <c:numRef>
              <c:f>'Chart Data'!$T$2:$T$2</c:f>
              <c:numCache>
                <c:formatCode>General</c:formatCode>
                <c:ptCount val="1"/>
                <c:pt idx="0">
                  <c:v>11.5</c:v>
                </c:pt>
              </c:numCache>
            </c:numRef>
          </c:yVal>
          <c:smooth val="0"/>
        </c:ser>
        <c:ser>
          <c:idx val="10"/>
          <c:order val="10"/>
          <c:tx>
            <c:v>Label Lᵥ oud</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875">
                        <a:solidFill>
                          <a:srgbClr val="17658A"/>
                        </a:solidFill>
                        <a:latin typeface="Arial"/>
                        <a:ea typeface="Arial"/>
                        <a:cs typeface="Arial"/>
                      </a:rPr>
                      <a:t>Lᵥ oud</a:t>
                    </a:r>
                  </a:p>
                </c:rich>
              </c:tx>
              <c:txPr>
                <a:bodyPr xmlns:a="http://schemas.openxmlformats.org/drawingml/2006/main" anchorCtr="1"/>
                <a:lstStyle xmlns:a="http://schemas.openxmlformats.org/drawingml/2006/main"/>
                <a:p xmlns:a="http://schemas.openxmlformats.org/drawingml/2006/main">
                  <a:pPr>
                    <a:defRPr sz="1875">
                      <a:solidFill>
                        <a:srgbClr val="17658A"/>
                      </a:solidFill>
                      <a:latin typeface="Arial"/>
                      <a:ea typeface="Arial"/>
                      <a:cs typeface="Arial"/>
                    </a:defRPr>
                  </a:pPr>
                </a:p>
              </c:txPr>
              <c:dLblPos val="b"/>
              <c:showLegendKey val="0"/>
              <c:showVal val="0"/>
              <c:showCatName val="0"/>
              <c:showSerName val="0"/>
              <c:showPercent val="0"/>
              <c:showBubbleSize val="0"/>
            </c:dLbl>
            <c:showLegendKey val="0"/>
            <c:showVal val="0"/>
            <c:showCatName val="0"/>
            <c:showSerName val="0"/>
            <c:showPercent val="0"/>
            <c:showBubbleSize val="0"/>
          </c:dLbls>
          <c:xVal>
            <c:numRef>
              <c:f>'Chart Data'!$U$2:$U$2</c:f>
              <c:numCache>
                <c:formatCode>General</c:formatCode>
                <c:ptCount val="1"/>
                <c:pt idx="0">
                  <c:v>177</c:v>
                </c:pt>
              </c:numCache>
            </c:numRef>
          </c:xVal>
          <c:yVal>
            <c:numRef>
              <c:f>'Chart Data'!$V$2:$V$2</c:f>
              <c:numCache>
                <c:formatCode>General</c:formatCode>
                <c:ptCount val="1"/>
                <c:pt idx="0">
                  <c:v>4.8</c:v>
                </c:pt>
              </c:numCache>
            </c:numRef>
          </c:yVal>
          <c:smooth val="0"/>
        </c:ser>
        <c:ser>
          <c:idx val="11"/>
          <c:order val="11"/>
          <c:tx>
            <c:v>Label Lᵥ nieuw</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875">
                        <a:solidFill>
                          <a:srgbClr val="A94D16"/>
                        </a:solidFill>
                        <a:latin typeface="Arial"/>
                        <a:ea typeface="Arial"/>
                        <a:cs typeface="Arial"/>
                      </a:rPr>
                      <a:t>Lᵥ nieuw</a:t>
                    </a:r>
                  </a:p>
                </c:rich>
              </c:tx>
              <c:txPr>
                <a:bodyPr xmlns:a="http://schemas.openxmlformats.org/drawingml/2006/main" anchorCtr="1"/>
                <a:lstStyle xmlns:a="http://schemas.openxmlformats.org/drawingml/2006/main"/>
                <a:p xmlns:a="http://schemas.openxmlformats.org/drawingml/2006/main">
                  <a:pPr>
                    <a:defRPr sz="1875">
                      <a:solidFill>
                        <a:srgbClr val="A94D16"/>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Data'!$W$2:$W$2</c:f>
              <c:numCache>
                <c:formatCode>General</c:formatCode>
                <c:ptCount val="1"/>
                <c:pt idx="0">
                  <c:v>225</c:v>
                </c:pt>
              </c:numCache>
            </c:numRef>
          </c:xVal>
          <c:yVal>
            <c:numRef>
              <c:f>'Chart Data'!$X$2:$X$2</c:f>
              <c:numCache>
                <c:formatCode>General</c:formatCode>
                <c:ptCount val="1"/>
                <c:pt idx="0">
                  <c:v>8.5</c:v>
                </c:pt>
              </c:numCache>
            </c:numRef>
          </c:yVal>
          <c:smooth val="0"/>
        </c:ser>
        <c:ser>
          <c:idx val="12"/>
          <c:order val="12"/>
          <c:tx>
            <c:v>Label Lₐ</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875">
                        <a:solidFill>
                          <a:srgbClr val="20665B"/>
                        </a:solidFill>
                        <a:latin typeface="Arial"/>
                        <a:ea typeface="Arial"/>
                        <a:cs typeface="Arial"/>
                      </a:rPr>
                      <a:t>Lₐ</a:t>
                    </a:r>
                  </a:p>
                </c:rich>
              </c:tx>
              <c:txPr>
                <a:bodyPr xmlns:a="http://schemas.openxmlformats.org/drawingml/2006/main" anchorCtr="1"/>
                <a:lstStyle xmlns:a="http://schemas.openxmlformats.org/drawingml/2006/main"/>
                <a:p xmlns:a="http://schemas.openxmlformats.org/drawingml/2006/main">
                  <a:pPr>
                    <a:defRPr sz="1875">
                      <a:solidFill>
                        <a:srgbClr val="20665B"/>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Data'!$Y$2:$Y$2</c:f>
              <c:numCache>
                <c:formatCode>General</c:formatCode>
                <c:ptCount val="1"/>
                <c:pt idx="0">
                  <c:v>177</c:v>
                </c:pt>
              </c:numCache>
            </c:numRef>
          </c:xVal>
          <c:yVal>
            <c:numRef>
              <c:f>'Chart Data'!$Z$2:$Z$2</c:f>
              <c:numCache>
                <c:formatCode>General</c:formatCode>
                <c:ptCount val="1"/>
                <c:pt idx="0">
                  <c:v>24.8</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32"/>
          <c:min val="0"/>
        </c:scaling>
        <c:delete val="0"/>
        <c:axPos val="l"/>
        <c:majorGridlines>
          <c:spPr>
            <a:ln xmlns:a="http://schemas.openxmlformats.org/drawingml/2006/main" w="4763">
              <a:solidFill>
                <a:srgbClr val="C6D2DB"/>
              </a:solidFill>
            </a:ln>
          </c:spPr>
        </c:majorGridlines>
        <c:title>
          <c:tx>
            <c:rich>
              <a:bodyPr xmlns:a="http://schemas.openxmlformats.org/drawingml/2006/main"/>
              <a:lstStyle xmlns:a="http://schemas.openxmlformats.org/drawingml/2006/main"/>
              <a:p xmlns:a="http://schemas.openxmlformats.org/drawingml/2006/main">
                <a:r>
                  <a:rPr sz="1875">
                    <a:latin typeface="Arial"/>
                    <a:ea typeface="Arial"/>
                    <a:cs typeface="Arial"/>
                  </a:rPr>
                  <a:t>w (€ per uur)</a:t>
                </a:r>
              </a:p>
            </c:rich>
          </c:tx>
          <c:overlay val="0"/>
          <c:txPr>
            <a:bodyPr xmlns:a="http://schemas.openxmlformats.org/drawingml/2006/main" anchorCtr="1"/>
            <a:lstStyle xmlns:a="http://schemas.openxmlformats.org/drawingml/2006/main"/>
            <a:p xmlns:a="http://schemas.openxmlformats.org/drawingml/2006/main">
              <a:pPr>
                <a:defRPr sz="1875">
                  <a:latin typeface="Arial"/>
                  <a:ea typeface="Arial"/>
                  <a:cs typeface="Arial"/>
                </a:defRPr>
              </a:pPr>
            </a:p>
          </c:txPr>
        </c:title>
        <c:numFmt formatCode="General"/>
        <c:majorTickMark val="none"/>
        <c:minorTickMark val="none"/>
        <c:spPr>
          <a:ln xmlns:a="http://schemas.openxmlformats.org/drawingml/2006/main" w="9525">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666666"/>
                </a:solidFill>
                <a:latin typeface="Arial"/>
                <a:ea typeface="Arial"/>
                <a:cs typeface="Arial"/>
              </a:defRPr>
            </a:pPr>
          </a:p>
        </c:txPr>
        <c:crossAx val="48650112"/>
        <c:majorUnit val="4"/>
      </c:valAx>
      <c:valAx>
        <c:axId val="48650112"/>
        <c:scaling>
          <c:orientation val="minMax"/>
          <c:max val="280"/>
          <c:min val="0"/>
        </c:scaling>
        <c:delete val="0"/>
        <c:axPos val="b"/>
        <c:majorGridlines>
          <c:spPr>
            <a:ln xmlns:a="http://schemas.openxmlformats.org/drawingml/2006/main" w="4763">
              <a:solidFill>
                <a:srgbClr val="C6D2DB"/>
              </a:solidFill>
            </a:ln>
          </c:spPr>
        </c:majorGridlines>
        <c:title>
          <c:tx>
            <c:rich>
              <a:bodyPr xmlns:a="http://schemas.openxmlformats.org/drawingml/2006/main"/>
              <a:lstStyle xmlns:a="http://schemas.openxmlformats.org/drawingml/2006/main"/>
              <a:p xmlns:a="http://schemas.openxmlformats.org/drawingml/2006/main">
                <a:r>
                  <a:rPr sz="1875">
                    <a:latin typeface="Arial"/>
                    <a:ea typeface="Arial"/>
                    <a:cs typeface="Arial"/>
                  </a:rPr>
                  <a:t>L (personen, ieder 20 uur per week)</a:t>
                </a:r>
              </a:p>
            </c:rich>
          </c:tx>
          <c:overlay val="0"/>
          <c:txPr>
            <a:bodyPr xmlns:a="http://schemas.openxmlformats.org/drawingml/2006/main" anchorCtr="1"/>
            <a:lstStyle xmlns:a="http://schemas.openxmlformats.org/drawingml/2006/main"/>
            <a:p xmlns:a="http://schemas.openxmlformats.org/drawingml/2006/main">
              <a:pPr>
                <a:defRPr sz="1875">
                  <a:latin typeface="Arial"/>
                  <a:ea typeface="Arial"/>
                  <a:cs typeface="Arial"/>
                </a:defRPr>
              </a:pPr>
            </a:p>
          </c:txPr>
        </c:title>
        <c:numFmt formatCode="General"/>
        <c:majorTickMark val="none"/>
        <c:minorTickMark val="none"/>
        <c:spPr>
          <a:ln xmlns:a="http://schemas.openxmlformats.org/drawingml/2006/main" w="9525">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666666"/>
                </a:solidFill>
                <a:latin typeface="Arial"/>
                <a:ea typeface="Arial"/>
                <a:cs typeface="Arial"/>
              </a:defRPr>
            </a:pPr>
          </a:p>
        </c:txPr>
        <c:crossAx val="48672768"/>
        <c:majorUnit val="40"/>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overview-title">
            <a:extLst xmlns:a="http://schemas.openxmlformats.org/drawingml/2006/main">
              <a:ext uri="{FF2B5EF4-FFF2-40B4-BE49-F238E27FC236}">
                <a16:creationId xmlns:a16="http://schemas.microsoft.com/office/drawing/2014/main" id="{AC13CD2D-1834-4887-A4D0-1197ECD6546D}"/>
              </a:ext>
            </a:extLst>
          </p:cNvPr>
          <p:cNvSpPr>
            <a:spLocks xmlns:a="http://schemas.openxmlformats.org/drawingml/2006/main" noGrp="1"/>
          </p:cNvSpPr>
          <p:nvPr/>
        </p:nvSpPr>
        <p:spPr>
          <a:xfrm xmlns:a="http://schemas.openxmlformats.org/drawingml/2006/main">
            <a:off x="571500" y="323850"/>
            <a:ext cx="14097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525" b="1">
                <a:solidFill>
                  <a:srgbClr val="183247"/>
                </a:solidFill>
                <a:latin typeface="Arial"/>
                <a:ea typeface="Arial"/>
                <a:cs typeface="Arial"/>
              </a:defRPr>
            </a:pPr>
            <a:r>
              <a:rPr sz="3525" b="1">
                <a:solidFill>
                  <a:srgbClr val="183247"/>
                </a:solidFill>
                <a:latin typeface="Arial"/>
                <a:ea typeface="Arial"/>
                <a:cs typeface="Arial"/>
              </a:rPr>
              <a:t>Deze les: §4.3.5 Gemengde opgaven: arbeidsmarkt</a:t>
            </a:r>
          </a:p>
        </p:txBody>
      </p:sp>
      <p:sp>
        <p:nvSpPr>
          <p:cNvPr id="2" name="phase">
            <a:extLst xmlns:a="http://schemas.openxmlformats.org/drawingml/2006/main">
              <a:ext uri="{FF2B5EF4-FFF2-40B4-BE49-F238E27FC236}">
                <a16:creationId xmlns:a16="http://schemas.microsoft.com/office/drawing/2014/main" id="{E1D87900-5786-4A3E-A8C7-1C088B5EEDBC}"/>
              </a:ext>
            </a:extLst>
          </p:cNvPr>
          <p:cNvSpPr>
            <a:spLocks xmlns:a="http://schemas.openxmlformats.org/drawingml/2006/main" noGrp="1"/>
          </p:cNvSpPr>
          <p:nvPr/>
        </p:nvSpPr>
        <p:spPr>
          <a:xfrm xmlns:a="http://schemas.openxmlformats.org/drawingml/2006/main">
            <a:off x="571500" y="1076325"/>
            <a:ext cx="1409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Nu: Startopdracht</a:t>
            </a:r>
          </a:p>
        </p:txBody>
      </p:sp>
      <p:sp>
        <p:nvSpPr>
          <p:cNvPr id="3" name="">
            <a:extLst xmlns:a="http://schemas.openxmlformats.org/drawingml/2006/main">
              <a:ext uri="{FF2B5EF4-FFF2-40B4-BE49-F238E27FC236}">
                <a16:creationId xmlns:a16="http://schemas.microsoft.com/office/drawing/2014/main" id="{358EFC1B-C0A5-444B-BA2C-A3D5A32603B2}"/>
              </a:ext>
            </a:extLst>
          </p:cNvPr>
          <p:cNvSpPr>
            <a:spLocks xmlns:a="http://schemas.openxmlformats.org/drawingml/2006/main" noGrp="1"/>
          </p:cNvSpPr>
          <p:nvPr/>
        </p:nvSpPr>
        <p:spPr>
          <a:xfrm xmlns:a="http://schemas.openxmlformats.org/drawingml/2006/main">
            <a:off x="571500" y="1571625"/>
            <a:ext cx="14097000" cy="0"/>
          </a:xfrm>
          <a:prstGeom xmlns:a="http://schemas.openxmlformats.org/drawingml/2006/main" prst="line">
            <a:avLst/>
          </a:prstGeom>
          <a:ln xmlns:a="http://schemas.openxmlformats.org/drawingml/2006/main" w="19050">
            <a:solidFill>
              <a:srgbClr val="C6D2DB"/>
            </a:solidFill>
          </a:ln>
        </p:spPr>
      </p:sp>
      <p:sp>
        <p:nvSpPr>
          <p:cNvPr id="4" name="Lesroute">
            <a:extLst xmlns:a="http://schemas.openxmlformats.org/drawingml/2006/main">
              <a:ext uri="{FF2B5EF4-FFF2-40B4-BE49-F238E27FC236}">
                <a16:creationId xmlns:a16="http://schemas.microsoft.com/office/drawing/2014/main" id="{276FC311-AF38-48B0-834A-0CD3E4E255FA}"/>
              </a:ext>
            </a:extLst>
          </p:cNvPr>
          <p:cNvSpPr>
            <a:spLocks xmlns:a="http://schemas.openxmlformats.org/drawingml/2006/main" noGrp="1"/>
          </p:cNvSpPr>
          <p:nvPr/>
        </p:nvSpPr>
        <p:spPr>
          <a:xfrm xmlns:a="http://schemas.openxmlformats.org/drawingml/2006/main">
            <a:off x="571500" y="1866900"/>
            <a:ext cx="7953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Lesroute</a:t>
            </a:r>
          </a:p>
        </p:txBody>
      </p:sp>
      <p:sp>
        <p:nvSpPr>
          <p:cNvPr id="5" name="route-number-1">
            <a:extLst xmlns:a="http://schemas.openxmlformats.org/drawingml/2006/main">
              <a:ext uri="{FF2B5EF4-FFF2-40B4-BE49-F238E27FC236}">
                <a16:creationId xmlns:a16="http://schemas.microsoft.com/office/drawing/2014/main" id="{01503A06-93AA-4971-BC2A-05C57218977D}"/>
              </a:ext>
            </a:extLst>
          </p:cNvPr>
          <p:cNvSpPr>
            <a:spLocks xmlns:a="http://schemas.openxmlformats.org/drawingml/2006/main" noGrp="1"/>
          </p:cNvSpPr>
          <p:nvPr/>
        </p:nvSpPr>
        <p:spPr>
          <a:xfrm xmlns:a="http://schemas.openxmlformats.org/drawingml/2006/main">
            <a:off x="571500" y="2409825"/>
            <a:ext cx="4572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1.</a:t>
            </a:r>
          </a:p>
        </p:txBody>
      </p:sp>
      <p:sp>
        <p:nvSpPr>
          <p:cNvPr id="6" name="route-1">
            <a:extLst xmlns:a="http://schemas.openxmlformats.org/drawingml/2006/main">
              <a:ext uri="{FF2B5EF4-FFF2-40B4-BE49-F238E27FC236}">
                <a16:creationId xmlns:a16="http://schemas.microsoft.com/office/drawing/2014/main" id="{42D967FB-8EE7-4F98-8DC7-8F1A05A40FBB}"/>
              </a:ext>
            </a:extLst>
          </p:cNvPr>
          <p:cNvSpPr>
            <a:spLocks xmlns:a="http://schemas.openxmlformats.org/drawingml/2006/main" noGrp="1"/>
          </p:cNvSpPr>
          <p:nvPr/>
        </p:nvSpPr>
        <p:spPr>
          <a:xfrm xmlns:a="http://schemas.openxmlformats.org/drawingml/2006/main">
            <a:off x="1104900" y="2409825"/>
            <a:ext cx="74199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Jas in de kluis of aan de kapstok. Pak agenda, schrift, pen en rekenmachine.</a:t>
            </a:r>
          </a:p>
        </p:txBody>
      </p:sp>
      <p:sp>
        <p:nvSpPr>
          <p:cNvPr id="7" name="route-number-2">
            <a:extLst xmlns:a="http://schemas.openxmlformats.org/drawingml/2006/main">
              <a:ext uri="{FF2B5EF4-FFF2-40B4-BE49-F238E27FC236}">
                <a16:creationId xmlns:a16="http://schemas.microsoft.com/office/drawing/2014/main" id="{5307BE2E-E05A-4B8F-B3B7-E5DB1B75AE40}"/>
              </a:ext>
            </a:extLst>
          </p:cNvPr>
          <p:cNvSpPr>
            <a:spLocks xmlns:a="http://schemas.openxmlformats.org/drawingml/2006/main" noGrp="1"/>
          </p:cNvSpPr>
          <p:nvPr/>
        </p:nvSpPr>
        <p:spPr>
          <a:xfrm xmlns:a="http://schemas.openxmlformats.org/drawingml/2006/main">
            <a:off x="571500" y="3305175"/>
            <a:ext cx="4572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2.</a:t>
            </a:r>
          </a:p>
        </p:txBody>
      </p:sp>
      <p:sp>
        <p:nvSpPr>
          <p:cNvPr id="8" name="route-2">
            <a:extLst xmlns:a="http://schemas.openxmlformats.org/drawingml/2006/main">
              <a:ext uri="{FF2B5EF4-FFF2-40B4-BE49-F238E27FC236}">
                <a16:creationId xmlns:a16="http://schemas.microsoft.com/office/drawing/2014/main" id="{E32FCA07-184E-4E86-9170-435C91B39746}"/>
              </a:ext>
            </a:extLst>
          </p:cNvPr>
          <p:cNvSpPr>
            <a:spLocks xmlns:a="http://schemas.openxmlformats.org/drawingml/2006/main" noGrp="1"/>
          </p:cNvSpPr>
          <p:nvPr/>
        </p:nvSpPr>
        <p:spPr>
          <a:xfrm xmlns:a="http://schemas.openxmlformats.org/drawingml/2006/main">
            <a:off x="1104900" y="3305175"/>
            <a:ext cx="74199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Maak de startopdracht.</a:t>
            </a:r>
          </a:p>
        </p:txBody>
      </p:sp>
      <p:sp>
        <p:nvSpPr>
          <p:cNvPr id="9" name="route-number-3">
            <a:extLst xmlns:a="http://schemas.openxmlformats.org/drawingml/2006/main">
              <a:ext uri="{FF2B5EF4-FFF2-40B4-BE49-F238E27FC236}">
                <a16:creationId xmlns:a16="http://schemas.microsoft.com/office/drawing/2014/main" id="{09F85461-D013-4F49-9527-22FC298FF220}"/>
              </a:ext>
            </a:extLst>
          </p:cNvPr>
          <p:cNvSpPr>
            <a:spLocks xmlns:a="http://schemas.openxmlformats.org/drawingml/2006/main" noGrp="1"/>
          </p:cNvSpPr>
          <p:nvPr/>
        </p:nvSpPr>
        <p:spPr>
          <a:xfrm xmlns:a="http://schemas.openxmlformats.org/drawingml/2006/main">
            <a:off x="571500" y="3895725"/>
            <a:ext cx="457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3.</a:t>
            </a:r>
          </a:p>
        </p:txBody>
      </p:sp>
      <p:sp>
        <p:nvSpPr>
          <p:cNvPr id="10" name="route-3">
            <a:extLst xmlns:a="http://schemas.openxmlformats.org/drawingml/2006/main">
              <a:ext uri="{FF2B5EF4-FFF2-40B4-BE49-F238E27FC236}">
                <a16:creationId xmlns:a16="http://schemas.microsoft.com/office/drawing/2014/main" id="{B8EDD8AC-F0FD-4179-BC1E-158C98B4F911}"/>
              </a:ext>
            </a:extLst>
          </p:cNvPr>
          <p:cNvSpPr>
            <a:spLocks xmlns:a="http://schemas.openxmlformats.org/drawingml/2006/main" noGrp="1"/>
          </p:cNvSpPr>
          <p:nvPr/>
        </p:nvSpPr>
        <p:spPr>
          <a:xfrm xmlns:a="http://schemas.openxmlformats.org/drawingml/2006/main">
            <a:off x="1104900" y="3895725"/>
            <a:ext cx="74199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Korte herhaling en aanpak.</a:t>
            </a:r>
          </a:p>
        </p:txBody>
      </p:sp>
      <p:sp>
        <p:nvSpPr>
          <p:cNvPr id="11" name="route-number-4">
            <a:extLst xmlns:a="http://schemas.openxmlformats.org/drawingml/2006/main">
              <a:ext uri="{FF2B5EF4-FFF2-40B4-BE49-F238E27FC236}">
                <a16:creationId xmlns:a16="http://schemas.microsoft.com/office/drawing/2014/main" id="{00EE7048-FA64-42FA-A5F0-04855E5915AF}"/>
              </a:ext>
            </a:extLst>
          </p:cNvPr>
          <p:cNvSpPr>
            <a:spLocks xmlns:a="http://schemas.openxmlformats.org/drawingml/2006/main" noGrp="1"/>
          </p:cNvSpPr>
          <p:nvPr/>
        </p:nvSpPr>
        <p:spPr>
          <a:xfrm xmlns:a="http://schemas.openxmlformats.org/drawingml/2006/main">
            <a:off x="571500" y="4495800"/>
            <a:ext cx="4572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4.</a:t>
            </a:r>
          </a:p>
        </p:txBody>
      </p:sp>
      <p:sp>
        <p:nvSpPr>
          <p:cNvPr id="12" name="route-4">
            <a:extLst xmlns:a="http://schemas.openxmlformats.org/drawingml/2006/main">
              <a:ext uri="{FF2B5EF4-FFF2-40B4-BE49-F238E27FC236}">
                <a16:creationId xmlns:a16="http://schemas.microsoft.com/office/drawing/2014/main" id="{182B7290-3F22-4B26-914C-67AB1F19A5D1}"/>
              </a:ext>
            </a:extLst>
          </p:cNvPr>
          <p:cNvSpPr>
            <a:spLocks xmlns:a="http://schemas.openxmlformats.org/drawingml/2006/main" noGrp="1"/>
          </p:cNvSpPr>
          <p:nvPr/>
        </p:nvSpPr>
        <p:spPr>
          <a:xfrm xmlns:a="http://schemas.openxmlformats.org/drawingml/2006/main">
            <a:off x="1104900" y="4495800"/>
            <a:ext cx="74199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Werk verder aan de gemengde opgaven, stel vragen en kijk je antwoorden na.</a:t>
            </a:r>
          </a:p>
        </p:txBody>
      </p:sp>
      <p:sp>
        <p:nvSpPr>
          <p:cNvPr id="13" name="route-number-5">
            <a:extLst xmlns:a="http://schemas.openxmlformats.org/drawingml/2006/main">
              <a:ext uri="{FF2B5EF4-FFF2-40B4-BE49-F238E27FC236}">
                <a16:creationId xmlns:a16="http://schemas.microsoft.com/office/drawing/2014/main" id="{4991B02A-F41F-4C98-A738-37E011F317B0}"/>
              </a:ext>
            </a:extLst>
          </p:cNvPr>
          <p:cNvSpPr>
            <a:spLocks xmlns:a="http://schemas.openxmlformats.org/drawingml/2006/main" noGrp="1"/>
          </p:cNvSpPr>
          <p:nvPr/>
        </p:nvSpPr>
        <p:spPr>
          <a:xfrm xmlns:a="http://schemas.openxmlformats.org/drawingml/2006/main">
            <a:off x="571500" y="5562600"/>
            <a:ext cx="4572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5.</a:t>
            </a:r>
          </a:p>
        </p:txBody>
      </p:sp>
      <p:sp>
        <p:nvSpPr>
          <p:cNvPr id="14" name="route-5">
            <a:extLst xmlns:a="http://schemas.openxmlformats.org/drawingml/2006/main">
              <a:ext uri="{FF2B5EF4-FFF2-40B4-BE49-F238E27FC236}">
                <a16:creationId xmlns:a16="http://schemas.microsoft.com/office/drawing/2014/main" id="{7327D505-78E6-4A34-BA17-FCCE7EAC6A94}"/>
              </a:ext>
            </a:extLst>
          </p:cNvPr>
          <p:cNvSpPr>
            <a:spLocks xmlns:a="http://schemas.openxmlformats.org/drawingml/2006/main" noGrp="1"/>
          </p:cNvSpPr>
          <p:nvPr/>
        </p:nvSpPr>
        <p:spPr>
          <a:xfrm xmlns:a="http://schemas.openxmlformats.org/drawingml/2006/main">
            <a:off x="1104900" y="5562600"/>
            <a:ext cx="74199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Klaar? Werk aan een ander vak. Geen devices.</a:t>
            </a:r>
          </a:p>
        </p:txBody>
      </p:sp>
      <p:sp>
        <p:nvSpPr>
          <p:cNvPr id="15" name="route-number-6">
            <a:extLst xmlns:a="http://schemas.openxmlformats.org/drawingml/2006/main">
              <a:ext uri="{FF2B5EF4-FFF2-40B4-BE49-F238E27FC236}">
                <a16:creationId xmlns:a16="http://schemas.microsoft.com/office/drawing/2014/main" id="{B4D6C0AC-A4F0-45CB-8CB6-1AE88B6F463B}"/>
              </a:ext>
            </a:extLst>
          </p:cNvPr>
          <p:cNvSpPr>
            <a:spLocks xmlns:a="http://schemas.openxmlformats.org/drawingml/2006/main" noGrp="1"/>
          </p:cNvSpPr>
          <p:nvPr/>
        </p:nvSpPr>
        <p:spPr>
          <a:xfrm xmlns:a="http://schemas.openxmlformats.org/drawingml/2006/main">
            <a:off x="571500" y="6486525"/>
            <a:ext cx="457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6.</a:t>
            </a:r>
          </a:p>
        </p:txBody>
      </p:sp>
      <p:sp>
        <p:nvSpPr>
          <p:cNvPr id="16" name="route-6">
            <a:extLst xmlns:a="http://schemas.openxmlformats.org/drawingml/2006/main">
              <a:ext uri="{FF2B5EF4-FFF2-40B4-BE49-F238E27FC236}">
                <a16:creationId xmlns:a16="http://schemas.microsoft.com/office/drawing/2014/main" id="{F77CEBE3-9125-4E60-A02F-399B86B56722}"/>
              </a:ext>
            </a:extLst>
          </p:cNvPr>
          <p:cNvSpPr>
            <a:spLocks xmlns:a="http://schemas.openxmlformats.org/drawingml/2006/main" noGrp="1"/>
          </p:cNvSpPr>
          <p:nvPr/>
        </p:nvSpPr>
        <p:spPr>
          <a:xfrm xmlns:a="http://schemas.openxmlformats.org/drawingml/2006/main">
            <a:off x="1104900" y="6486525"/>
            <a:ext cx="74199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Bespreken van de doelopgave: opgave 40.</a:t>
            </a:r>
          </a:p>
        </p:txBody>
      </p:sp>
      <p:sp>
        <p:nvSpPr>
          <p:cNvPr id="17" name="route-number-7">
            <a:extLst xmlns:a="http://schemas.openxmlformats.org/drawingml/2006/main">
              <a:ext uri="{FF2B5EF4-FFF2-40B4-BE49-F238E27FC236}">
                <a16:creationId xmlns:a16="http://schemas.microsoft.com/office/drawing/2014/main" id="{D465758C-68C6-4519-8040-2A27FF80A28E}"/>
              </a:ext>
            </a:extLst>
          </p:cNvPr>
          <p:cNvSpPr>
            <a:spLocks xmlns:a="http://schemas.openxmlformats.org/drawingml/2006/main" noGrp="1"/>
          </p:cNvSpPr>
          <p:nvPr/>
        </p:nvSpPr>
        <p:spPr>
          <a:xfrm xmlns:a="http://schemas.openxmlformats.org/drawingml/2006/main">
            <a:off x="571500" y="7334250"/>
            <a:ext cx="4572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7.</a:t>
            </a:r>
          </a:p>
        </p:txBody>
      </p:sp>
      <p:sp>
        <p:nvSpPr>
          <p:cNvPr id="18" name="route-7">
            <a:extLst xmlns:a="http://schemas.openxmlformats.org/drawingml/2006/main">
              <a:ext uri="{FF2B5EF4-FFF2-40B4-BE49-F238E27FC236}">
                <a16:creationId xmlns:a16="http://schemas.microsoft.com/office/drawing/2014/main" id="{DC9D5B78-38D8-431F-A0D8-04158863CD83}"/>
              </a:ext>
            </a:extLst>
          </p:cNvPr>
          <p:cNvSpPr>
            <a:spLocks xmlns:a="http://schemas.openxmlformats.org/drawingml/2006/main" noGrp="1"/>
          </p:cNvSpPr>
          <p:nvPr/>
        </p:nvSpPr>
        <p:spPr>
          <a:xfrm xmlns:a="http://schemas.openxmlformats.org/drawingml/2006/main">
            <a:off x="1104900" y="7334250"/>
            <a:ext cx="74199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Zet je huiswerk in je agenda.</a:t>
            </a:r>
          </a:p>
        </p:txBody>
      </p:sp>
      <p:sp>
        <p:nvSpPr>
          <p:cNvPr id="19" name="Lesdoelen">
            <a:extLst xmlns:a="http://schemas.openxmlformats.org/drawingml/2006/main">
              <a:ext uri="{FF2B5EF4-FFF2-40B4-BE49-F238E27FC236}">
                <a16:creationId xmlns:a16="http://schemas.microsoft.com/office/drawing/2014/main" id="{02DA5CC4-4B63-423E-872A-F3A86F9FFAE5}"/>
              </a:ext>
            </a:extLst>
          </p:cNvPr>
          <p:cNvSpPr>
            <a:spLocks xmlns:a="http://schemas.openxmlformats.org/drawingml/2006/main" noGrp="1"/>
          </p:cNvSpPr>
          <p:nvPr/>
        </p:nvSpPr>
        <p:spPr>
          <a:xfrm xmlns:a="http://schemas.openxmlformats.org/drawingml/2006/main">
            <a:off x="9258300" y="1866900"/>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Lesdoelen</a:t>
            </a:r>
          </a:p>
        </p:txBody>
      </p:sp>
      <p:sp>
        <p:nvSpPr>
          <p:cNvPr id="20" name="overview-goals">
            <a:extLst xmlns:a="http://schemas.openxmlformats.org/drawingml/2006/main">
              <a:ext uri="{FF2B5EF4-FFF2-40B4-BE49-F238E27FC236}">
                <a16:creationId xmlns:a16="http://schemas.microsoft.com/office/drawing/2014/main" id="{6841B847-D606-4200-B9E4-BC86C5636D0B}"/>
              </a:ext>
            </a:extLst>
          </p:cNvPr>
          <p:cNvSpPr>
            <a:spLocks xmlns:a="http://schemas.openxmlformats.org/drawingml/2006/main" noGrp="1"/>
          </p:cNvSpPr>
          <p:nvPr/>
        </p:nvSpPr>
        <p:spPr>
          <a:xfrm xmlns:a="http://schemas.openxmlformats.org/drawingml/2006/main">
            <a:off x="9258300" y="2409825"/>
            <a:ext cx="54102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Bronnen en eenheden kiezen.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Percentages en evenwicht berekenen.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Kosten en werkgelegenheid verklaren.</a:t>
            </a:r>
          </a:p>
        </p:txBody>
      </p:sp>
      <p:sp>
        <p:nvSpPr>
          <p:cNvPr id="21" name="">
            <a:extLst xmlns:a="http://schemas.openxmlformats.org/drawingml/2006/main">
              <a:ext uri="{FF2B5EF4-FFF2-40B4-BE49-F238E27FC236}">
                <a16:creationId xmlns:a16="http://schemas.microsoft.com/office/drawing/2014/main" id="{70878508-CDA6-4AD6-B756-CB41F125EB5E}"/>
              </a:ext>
            </a:extLst>
          </p:cNvPr>
          <p:cNvSpPr>
            <a:spLocks xmlns:a="http://schemas.openxmlformats.org/drawingml/2006/main" noGrp="1"/>
          </p:cNvSpPr>
          <p:nvPr/>
        </p:nvSpPr>
        <p:spPr>
          <a:xfrm xmlns:a="http://schemas.openxmlformats.org/drawingml/2006/main">
            <a:off x="9258300" y="3790950"/>
            <a:ext cx="5410200" cy="0"/>
          </a:xfrm>
          <a:prstGeom xmlns:a="http://schemas.openxmlformats.org/drawingml/2006/main" prst="line">
            <a:avLst/>
          </a:prstGeom>
          <a:ln xmlns:a="http://schemas.openxmlformats.org/drawingml/2006/main" w="19050">
            <a:solidFill>
              <a:srgbClr val="C6D2DB"/>
            </a:solidFill>
          </a:ln>
        </p:spPr>
      </p:sp>
      <p:sp>
        <p:nvSpPr>
          <p:cNvPr id="22" name="Startopdracht">
            <a:extLst xmlns:a="http://schemas.openxmlformats.org/drawingml/2006/main">
              <a:ext uri="{FF2B5EF4-FFF2-40B4-BE49-F238E27FC236}">
                <a16:creationId xmlns:a16="http://schemas.microsoft.com/office/drawing/2014/main" id="{20E3864E-B242-41A3-BC99-9B49D9341F0D}"/>
              </a:ext>
            </a:extLst>
          </p:cNvPr>
          <p:cNvSpPr>
            <a:spLocks xmlns:a="http://schemas.openxmlformats.org/drawingml/2006/main" noGrp="1"/>
          </p:cNvSpPr>
          <p:nvPr/>
        </p:nvSpPr>
        <p:spPr>
          <a:xfrm xmlns:a="http://schemas.openxmlformats.org/drawingml/2006/main">
            <a:off x="9258300" y="404812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7658A"/>
                </a:solidFill>
                <a:latin typeface="Arial"/>
                <a:ea typeface="Arial"/>
                <a:cs typeface="Arial"/>
              </a:defRPr>
            </a:pPr>
            <a:r>
              <a:rPr sz="2625" b="1">
                <a:solidFill>
                  <a:srgbClr val="17658A"/>
                </a:solidFill>
                <a:latin typeface="Arial"/>
                <a:ea typeface="Arial"/>
                <a:cs typeface="Arial"/>
              </a:rPr>
              <a:t>Startopdracht</a:t>
            </a:r>
          </a:p>
        </p:txBody>
      </p:sp>
      <p:sp>
        <p:nvSpPr>
          <p:cNvPr id="23" name="overview-start">
            <a:extLst xmlns:a="http://schemas.openxmlformats.org/drawingml/2006/main">
              <a:ext uri="{FF2B5EF4-FFF2-40B4-BE49-F238E27FC236}">
                <a16:creationId xmlns:a16="http://schemas.microsoft.com/office/drawing/2014/main" id="{0A986E98-E31E-4B5D-B77D-6F47C06485E5}"/>
              </a:ext>
            </a:extLst>
          </p:cNvPr>
          <p:cNvSpPr>
            <a:spLocks xmlns:a="http://schemas.openxmlformats.org/drawingml/2006/main" noGrp="1"/>
          </p:cNvSpPr>
          <p:nvPr/>
        </p:nvSpPr>
        <p:spPr>
          <a:xfrm xmlns:a="http://schemas.openxmlformats.org/drawingml/2006/main">
            <a:off x="9258300" y="4600575"/>
            <a:ext cx="538162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Pagina 150 · Opgave 37</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Terugblik op §§4.3.1–4.3.3</a:t>
            </a:r>
          </a:p>
        </p:txBody>
      </p:sp>
      <p:sp>
        <p:nvSpPr>
          <p:cNvPr id="24" name="">
            <a:extLst xmlns:a="http://schemas.openxmlformats.org/drawingml/2006/main">
              <a:ext uri="{FF2B5EF4-FFF2-40B4-BE49-F238E27FC236}">
                <a16:creationId xmlns:a16="http://schemas.microsoft.com/office/drawing/2014/main" id="{A2076301-F92C-45B0-93C8-774DD1C6C1BB}"/>
              </a:ext>
            </a:extLst>
          </p:cNvPr>
          <p:cNvSpPr>
            <a:spLocks xmlns:a="http://schemas.openxmlformats.org/drawingml/2006/main" noGrp="1"/>
          </p:cNvSpPr>
          <p:nvPr/>
        </p:nvSpPr>
        <p:spPr>
          <a:xfrm xmlns:a="http://schemas.openxmlformats.org/drawingml/2006/main">
            <a:off x="9258300" y="5657850"/>
            <a:ext cx="5410200" cy="0"/>
          </a:xfrm>
          <a:prstGeom xmlns:a="http://schemas.openxmlformats.org/drawingml/2006/main" prst="line">
            <a:avLst/>
          </a:prstGeom>
          <a:ln xmlns:a="http://schemas.openxmlformats.org/drawingml/2006/main" w="19050">
            <a:solidFill>
              <a:srgbClr val="C6D2DB"/>
            </a:solidFill>
          </a:ln>
        </p:spPr>
      </p:sp>
      <p:sp>
        <p:nvSpPr>
          <p:cNvPr id="25" name="Huiswerk">
            <a:extLst xmlns:a="http://schemas.openxmlformats.org/drawingml/2006/main">
              <a:ext uri="{FF2B5EF4-FFF2-40B4-BE49-F238E27FC236}">
                <a16:creationId xmlns:a16="http://schemas.microsoft.com/office/drawing/2014/main" id="{F3EF8B29-48E7-4DDF-80BC-11C13FA6E45F}"/>
              </a:ext>
            </a:extLst>
          </p:cNvPr>
          <p:cNvSpPr>
            <a:spLocks xmlns:a="http://schemas.openxmlformats.org/drawingml/2006/main" noGrp="1"/>
          </p:cNvSpPr>
          <p:nvPr/>
        </p:nvSpPr>
        <p:spPr>
          <a:xfrm xmlns:a="http://schemas.openxmlformats.org/drawingml/2006/main">
            <a:off x="9258300" y="587692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Huiswerk</a:t>
            </a:r>
          </a:p>
        </p:txBody>
      </p:sp>
      <p:sp>
        <p:nvSpPr>
          <p:cNvPr id="26" name="overview-homework">
            <a:extLst xmlns:a="http://schemas.openxmlformats.org/drawingml/2006/main">
              <a:ext uri="{FF2B5EF4-FFF2-40B4-BE49-F238E27FC236}">
                <a16:creationId xmlns:a16="http://schemas.microsoft.com/office/drawing/2014/main" id="{84374548-7012-4C69-BCE0-BF506242FEDF}"/>
              </a:ext>
            </a:extLst>
          </p:cNvPr>
          <p:cNvSpPr>
            <a:spLocks xmlns:a="http://schemas.openxmlformats.org/drawingml/2006/main" noGrp="1"/>
          </p:cNvSpPr>
          <p:nvPr/>
        </p:nvSpPr>
        <p:spPr>
          <a:xfrm xmlns:a="http://schemas.openxmlformats.org/drawingml/2006/main">
            <a:off x="9258300" y="6419850"/>
            <a:ext cx="538162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§4.3.5 · Opgaven 37–41</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Voorbereiding: 37–39</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Doelopgave: 40 · Bonus: 41</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Maken en nakijken</a:t>
            </a:r>
          </a:p>
        </p:txBody>
      </p:sp>
      <p:sp>
        <p:nvSpPr>
          <p:cNvPr id="27" name="§4.3.5 · Gemengde opgaven: arbeidsmarkt">
            <a:extLst xmlns:a="http://schemas.openxmlformats.org/drawingml/2006/main">
              <a:ext uri="{FF2B5EF4-FFF2-40B4-BE49-F238E27FC236}">
                <a16:creationId xmlns:a16="http://schemas.microsoft.com/office/drawing/2014/main" id="{0C6C101C-B973-4BCE-A7B2-1909CAAED13E}"/>
              </a:ext>
            </a:extLst>
          </p:cNvPr>
          <p:cNvSpPr>
            <a:spLocks xmlns:a="http://schemas.openxmlformats.org/drawingml/2006/main" noGrp="1"/>
          </p:cNvSpPr>
          <p:nvPr/>
        </p:nvSpPr>
        <p:spPr>
          <a:xfrm xmlns:a="http://schemas.openxmlformats.org/drawingml/2006/main">
            <a:off x="571500" y="8077200"/>
            <a:ext cx="1285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§4.3.5 · Gemengde opgaven: arbeidsmarkt</a:t>
            </a:r>
          </a:p>
        </p:txBody>
      </p:sp>
      <p:sp>
        <p:nvSpPr>
          <p:cNvPr id="28" name="1">
            <a:extLst xmlns:a="http://schemas.openxmlformats.org/drawingml/2006/main">
              <a:ext uri="{FF2B5EF4-FFF2-40B4-BE49-F238E27FC236}">
                <a16:creationId xmlns:a16="http://schemas.microsoft.com/office/drawing/2014/main" id="{66281969-6BA4-4972-BC14-BF9EAA09CEB0}"/>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a:t>
            </a:r>
          </a:p>
        </p:txBody>
      </p:sp>
    </p:spTree>
    <p:extLst>
      <p:ext uri="{BB962C8B-B14F-4D97-AF65-F5344CB8AC3E}">
        <p14:creationId xmlns:p14="http://schemas.microsoft.com/office/powerpoint/2010/main" val="61829815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De bron bepaalt de berekening">
            <a:extLst xmlns:a="http://schemas.openxmlformats.org/drawingml/2006/main">
              <a:ext uri="{FF2B5EF4-FFF2-40B4-BE49-F238E27FC236}">
                <a16:creationId xmlns:a16="http://schemas.microsoft.com/office/drawing/2014/main" id="{5D950ABD-53E7-452C-BC36-2C839B94FD2D}"/>
              </a:ext>
            </a:extLst>
          </p:cNvPr>
          <p:cNvSpPr>
            <a:spLocks xmlns:a="http://schemas.openxmlformats.org/drawingml/2006/main" noGrp="1"/>
          </p:cNvSpPr>
          <p:nvPr/>
        </p:nvSpPr>
        <p:spPr>
          <a:xfrm xmlns:a="http://schemas.openxmlformats.org/drawingml/2006/main">
            <a:off x="571500" y="400050"/>
            <a:ext cx="14097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De bron bepaalt de berekening</a:t>
            </a:r>
          </a:p>
        </p:txBody>
      </p:sp>
      <p:sp>
        <p:nvSpPr>
          <p:cNvPr id="2" name="">
            <a:extLst xmlns:a="http://schemas.openxmlformats.org/drawingml/2006/main">
              <a:ext uri="{FF2B5EF4-FFF2-40B4-BE49-F238E27FC236}">
                <a16:creationId xmlns:a16="http://schemas.microsoft.com/office/drawing/2014/main" id="{5A3A29E0-9474-4480-B8C5-987D21E81283}"/>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3.5 Gemengde opgaven: arbeidsmarkt">
            <a:extLst xmlns:a="http://schemas.openxmlformats.org/drawingml/2006/main">
              <a:ext uri="{FF2B5EF4-FFF2-40B4-BE49-F238E27FC236}">
                <a16:creationId xmlns:a16="http://schemas.microsoft.com/office/drawing/2014/main" id="{6EEE950E-3F79-4733-A7E2-D9D551D23C24}"/>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§4.3.5 Gemengde opgaven: arbeidsmarkt</a:t>
            </a:r>
          </a:p>
        </p:txBody>
      </p:sp>
      <p:sp>
        <p:nvSpPr>
          <p:cNvPr id="4" name="2">
            <a:extLst xmlns:a="http://schemas.openxmlformats.org/drawingml/2006/main">
              <a:ext uri="{FF2B5EF4-FFF2-40B4-BE49-F238E27FC236}">
                <a16:creationId xmlns:a16="http://schemas.microsoft.com/office/drawing/2014/main" id="{63084EDE-11A0-4A67-846F-B16635EA2878}"/>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a:t>
            </a:r>
          </a:p>
        </p:txBody>
      </p:sp>
      <p:graphicFrame>
        <p:nvGraphicFramePr>
          <p:cNvPr id="11" name=""/>
          <p:cNvGraphicFramePr/>
          <p:nvPr/>
        </p:nvGraphicFramePr>
        <p:xfrm>
          <a:off xmlns:a="http://schemas.openxmlformats.org/drawingml/2006/main" x="571500" y="1981200"/>
          <a:ext xmlns:a="http://schemas.openxmlformats.org/drawingml/2006/main" cx="14097000" cy="4953000"/>
        </p:xfrm>
        <a:graphic xmlns:a="http://schemas.openxmlformats.org/drawingml/2006/main">
          <a:graphicData uri="http://schemas.openxmlformats.org/drawingml/2006/table">
            <a:tbl>
              <a:tblPr/>
              <a:tblGrid>
                <a:gridCol w="3905250"/>
                <a:gridCol w="10191750"/>
              </a:tblGrid>
              <a:tr h="1238250">
                <a:tc>
                  <a:txBody>
                    <a:bodyPr lIns="171450" tIns="95250" rIns="152400" bIns="95250"/>
                    <a:lstStyle/>
                    <a:p>
                      <a:r>
                        <a:rPr sz="2400" b="1">
                          <a:solidFill>
                            <a:srgbClr val="FFFFFF"/>
                          </a:solidFill>
                          <a:latin typeface="Arial"/>
                          <a:ea typeface="Arial"/>
                          <a:cs typeface="Arial"/>
                        </a:rPr>
                        <a:t>Soort bron</a:t>
                      </a:r>
                    </a:p>
                  </a:txBody>
                  <a:tcPr marL="91440" marR="91440" marT="45720" marB="45720" anchor="ctr">
                    <a:solidFill>
                      <a:srgbClr val="183247"/>
                    </a:solidFill>
                  </a:tcPr>
                </a:tc>
                <a:tc>
                  <a:txBody>
                    <a:bodyPr lIns="171450" tIns="95250" rIns="152400" bIns="95250"/>
                    <a:lstStyle/>
                    <a:p>
                      <a:r>
                        <a:rPr sz="2400" b="1">
                          <a:solidFill>
                            <a:srgbClr val="FFFFFF"/>
                          </a:solidFill>
                          <a:latin typeface="Arial"/>
                          <a:ea typeface="Arial"/>
                          <a:cs typeface="Arial"/>
                        </a:rPr>
                        <a:t>Passende aanpak</a:t>
                      </a:r>
                    </a:p>
                  </a:txBody>
                  <a:tcPr marL="91440" marR="91440" marT="45720" marB="45720" anchor="ctr">
                    <a:solidFill>
                      <a:srgbClr val="183247"/>
                    </a:solidFill>
                  </a:tcPr>
                </a:tc>
              </a:tr>
              <a:tr h="1238250">
                <a:tc>
                  <a:txBody>
                    <a:bodyPr lIns="171450" tIns="95250" rIns="152400" bIns="95250"/>
                    <a:lstStyle/>
                    <a:p>
                      <a:r>
                        <a:rPr sz="2400" b="0">
                          <a:solidFill>
                            <a:srgbClr val="183247"/>
                          </a:solidFill>
                          <a:latin typeface="Arial"/>
                          <a:ea typeface="Arial"/>
                          <a:cs typeface="Arial"/>
                        </a:rPr>
                        <a:t>Bevolking</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Beroepsbevolking = werkenden + werklozen</a:t>
                      </a:r>
                    </a:p>
                    <a:p>
                      <a:r>
                        <a:rPr sz="2400" b="0">
                          <a:solidFill>
                            <a:srgbClr val="183247"/>
                          </a:solidFill>
                          <a:latin typeface="Arial"/>
                          <a:ea typeface="Arial"/>
                          <a:cs typeface="Arial"/>
                        </a:rPr>
                        <a:t>Bruto = beroepsbevolking / bevolking × 100%</a:t>
                      </a:r>
                    </a:p>
                    <a:p>
                      <a:r>
                        <a:rPr sz="2400" b="0">
                          <a:solidFill>
                            <a:srgbClr val="183247"/>
                          </a:solidFill>
                          <a:latin typeface="Arial"/>
                          <a:ea typeface="Arial"/>
                          <a:cs typeface="Arial"/>
                        </a:rPr>
                        <a:t>Werkloosheid = werklozen / beroepsbevolking × 100%</a:t>
                      </a:r>
                    </a:p>
                  </a:txBody>
                  <a:tcPr marL="91440" marR="91440" marT="45720" marB="45720" anchor="ctr">
                    <a:solidFill>
                      <a:srgbClr val="FFFFFF"/>
                    </a:solidFill>
                  </a:tcPr>
                </a:tc>
              </a:tr>
              <a:tr h="1238250">
                <a:tc>
                  <a:txBody>
                    <a:bodyPr lIns="171450" tIns="95250" rIns="152400" bIns="95250"/>
                    <a:lstStyle/>
                    <a:p>
                      <a:r>
                        <a:rPr sz="2400" b="0">
                          <a:solidFill>
                            <a:srgbClr val="183247"/>
                          </a:solidFill>
                          <a:latin typeface="Arial"/>
                          <a:ea typeface="Arial"/>
                          <a:cs typeface="Arial"/>
                        </a:rPr>
                        <a:t>Bedrijf</a:t>
                      </a:r>
                    </a:p>
                  </a:txBody>
                  <a:tcPr marL="91440" marR="91440" marT="45720" marB="45720" anchor="ctr">
                    <a:solidFill>
                      <a:srgbClr val="EFF4F7"/>
                    </a:solidFill>
                  </a:tcPr>
                </a:tc>
                <a:tc>
                  <a:txBody>
                    <a:bodyPr lIns="171450" tIns="95250" rIns="152400" bIns="95250"/>
                    <a:lstStyle/>
                    <a:p>
                      <a:r>
                        <a:rPr sz="2400" b="0">
                          <a:solidFill>
                            <a:srgbClr val="183247"/>
                          </a:solidFill>
                          <a:latin typeface="Arial"/>
                          <a:ea typeface="Arial"/>
                          <a:cs typeface="Arial"/>
                        </a:rPr>
                        <a:t>Uren = productie / productiviteit</a:t>
                      </a:r>
                    </a:p>
                    <a:p>
                      <a:r>
                        <a:rPr sz="2400" b="0">
                          <a:solidFill>
                            <a:srgbClr val="183247"/>
                          </a:solidFill>
                          <a:latin typeface="Arial"/>
                          <a:ea typeface="Arial"/>
                          <a:cs typeface="Arial"/>
                        </a:rPr>
                        <a:t>Loonkosten per product = uurkosten / productiviteit</a:t>
                      </a:r>
                    </a:p>
                  </a:txBody>
                  <a:tcPr marL="91440" marR="91440" marT="45720" marB="45720" anchor="ctr">
                    <a:solidFill>
                      <a:srgbClr val="EFF4F7"/>
                    </a:solidFill>
                  </a:tcPr>
                </a:tc>
              </a:tr>
              <a:tr h="1238250">
                <a:tc>
                  <a:txBody>
                    <a:bodyPr lIns="171450" tIns="95250" rIns="152400" bIns="95250"/>
                    <a:lstStyle/>
                    <a:p>
                      <a:r>
                        <a:rPr sz="2400" b="0">
                          <a:solidFill>
                            <a:srgbClr val="183247"/>
                          </a:solidFill>
                          <a:latin typeface="Arial"/>
                          <a:ea typeface="Arial"/>
                          <a:cs typeface="Arial"/>
                        </a:rPr>
                        <a:t>Sectormodel</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Vrij evenwicht: Lᵥ = Lₐ, daarna invullen</a:t>
                      </a:r>
                    </a:p>
                    <a:p>
                      <a:r>
                        <a:rPr sz="2400" b="0">
                          <a:solidFill>
                            <a:srgbClr val="183247"/>
                          </a:solidFill>
                          <a:latin typeface="Arial"/>
                          <a:ea typeface="Arial"/>
                          <a:cs typeface="Arial"/>
                        </a:rPr>
                        <a:t>Andere vraagfactor: nieuwe vraaglijn gebruiken</a:t>
                      </a:r>
                    </a:p>
                  </a:txBody>
                  <a:tcPr marL="91440" marR="91440" marT="45720" marB="45720" anchor="ctr">
                    <a:solidFill>
                      <a:srgbClr val="FFFFFF"/>
                    </a:solidFill>
                  </a:tcPr>
                </a:tc>
              </a:tr>
            </a:tbl>
          </a:graphicData>
        </a:graphic>
      </p:graphicFrame>
      <p:sp>
        <p:nvSpPr>
          <p:cNvPr id="6" name="Eerst groep, periode en eenheid. Dan de formule.">
            <a:extLst xmlns:a="http://schemas.openxmlformats.org/drawingml/2006/main">
              <a:ext uri="{FF2B5EF4-FFF2-40B4-BE49-F238E27FC236}">
                <a16:creationId xmlns:a16="http://schemas.microsoft.com/office/drawing/2014/main" id="{C3E010E6-8BD6-421D-8FF1-D2EBA9BFD919}"/>
              </a:ext>
            </a:extLst>
          </p:cNvPr>
          <p:cNvSpPr>
            <a:spLocks xmlns:a="http://schemas.openxmlformats.org/drawingml/2006/main" noGrp="1"/>
          </p:cNvSpPr>
          <p:nvPr/>
        </p:nvSpPr>
        <p:spPr>
          <a:xfrm xmlns:a="http://schemas.openxmlformats.org/drawingml/2006/main">
            <a:off x="571500" y="7353300"/>
            <a:ext cx="1409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7658A"/>
                </a:solidFill>
                <a:latin typeface="Arial"/>
                <a:ea typeface="Arial"/>
                <a:cs typeface="Arial"/>
              </a:defRPr>
            </a:pPr>
            <a:r>
              <a:rPr sz="3000" b="1">
                <a:solidFill>
                  <a:srgbClr val="17658A"/>
                </a:solidFill>
                <a:latin typeface="Arial"/>
                <a:ea typeface="Arial"/>
                <a:cs typeface="Arial"/>
              </a:rPr>
              <a:t>Eerst groep, periode en eenheid. Dan de formule.</a:t>
            </a:r>
          </a:p>
        </p:txBody>
      </p:sp>
    </p:spTree>
    <p:extLst>
      <p:ext uri="{BB962C8B-B14F-4D97-AF65-F5344CB8AC3E}">
        <p14:creationId xmlns:p14="http://schemas.microsoft.com/office/powerpoint/2010/main" val="40313334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Een nieuw werkproces bij een drukkerij">
            <a:extLst xmlns:a="http://schemas.openxmlformats.org/drawingml/2006/main">
              <a:ext uri="{FF2B5EF4-FFF2-40B4-BE49-F238E27FC236}">
                <a16:creationId xmlns:a16="http://schemas.microsoft.com/office/drawing/2014/main" id="{36723A42-F7FB-4262-9294-6CBE8DD1C367}"/>
              </a:ext>
            </a:extLst>
          </p:cNvPr>
          <p:cNvSpPr>
            <a:spLocks xmlns:a="http://schemas.openxmlformats.org/drawingml/2006/main" noGrp="1"/>
          </p:cNvSpPr>
          <p:nvPr/>
        </p:nvSpPr>
        <p:spPr>
          <a:xfrm xmlns:a="http://schemas.openxmlformats.org/drawingml/2006/main">
            <a:off x="571500" y="400050"/>
            <a:ext cx="14097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Een nieuw werkproces bij een drukkerij</a:t>
            </a:r>
          </a:p>
        </p:txBody>
      </p:sp>
      <p:sp>
        <p:nvSpPr>
          <p:cNvPr id="2" name="">
            <a:extLst xmlns:a="http://schemas.openxmlformats.org/drawingml/2006/main">
              <a:ext uri="{FF2B5EF4-FFF2-40B4-BE49-F238E27FC236}">
                <a16:creationId xmlns:a16="http://schemas.microsoft.com/office/drawing/2014/main" id="{960CD3F6-0368-4323-AEEC-10A47D34005D}"/>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3.5 Gemengde opgaven: arbeidsmarkt">
            <a:extLst xmlns:a="http://schemas.openxmlformats.org/drawingml/2006/main">
              <a:ext uri="{FF2B5EF4-FFF2-40B4-BE49-F238E27FC236}">
                <a16:creationId xmlns:a16="http://schemas.microsoft.com/office/drawing/2014/main" id="{CE5E811A-FE0C-4182-9B34-324F8BB6A4FE}"/>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§4.3.5 Gemengde opgaven: arbeidsmarkt</a:t>
            </a:r>
          </a:p>
        </p:txBody>
      </p:sp>
      <p:sp>
        <p:nvSpPr>
          <p:cNvPr id="4" name="3">
            <a:extLst xmlns:a="http://schemas.openxmlformats.org/drawingml/2006/main">
              <a:ext uri="{FF2B5EF4-FFF2-40B4-BE49-F238E27FC236}">
                <a16:creationId xmlns:a16="http://schemas.microsoft.com/office/drawing/2014/main" id="{F2F42A6D-3924-4A04-9531-C939671CE64C}"/>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3</a:t>
            </a:r>
          </a:p>
        </p:txBody>
      </p:sp>
      <p:sp>
        <p:nvSpPr>
          <p:cNvPr id="5" name="Uitlegvoorbeeld — niet uit het boek">
            <a:extLst xmlns:a="http://schemas.openxmlformats.org/drawingml/2006/main">
              <a:ext uri="{FF2B5EF4-FFF2-40B4-BE49-F238E27FC236}">
                <a16:creationId xmlns:a16="http://schemas.microsoft.com/office/drawing/2014/main" id="{B644EB77-3350-4971-A8FC-0924202D9093}"/>
              </a:ext>
            </a:extLst>
          </p:cNvPr>
          <p:cNvSpPr>
            <a:spLocks xmlns:a="http://schemas.openxmlformats.org/drawingml/2006/main" noGrp="1"/>
          </p:cNvSpPr>
          <p:nvPr/>
        </p:nvSpPr>
        <p:spPr>
          <a:xfrm xmlns:a="http://schemas.openxmlformats.org/drawingml/2006/main">
            <a:off x="571500" y="1676400"/>
            <a:ext cx="14097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7658A"/>
                </a:solidFill>
                <a:latin typeface="Arial"/>
                <a:ea typeface="Arial"/>
                <a:cs typeface="Arial"/>
              </a:defRPr>
            </a:pPr>
            <a:r>
              <a:rPr sz="2175" b="1">
                <a:solidFill>
                  <a:srgbClr val="17658A"/>
                </a:solidFill>
                <a:latin typeface="Arial"/>
                <a:ea typeface="Arial"/>
                <a:cs typeface="Arial"/>
              </a:rPr>
              <a:t>Uitlegvoorbeeld — niet uit het boek</a:t>
            </a:r>
          </a:p>
        </p:txBody>
      </p:sp>
      <p:graphicFrame>
        <p:nvGraphicFramePr>
          <p:cNvPr id="15" name=""/>
          <p:cNvGraphicFramePr/>
          <p:nvPr/>
        </p:nvGraphicFramePr>
        <p:xfrm>
          <a:off xmlns:a="http://schemas.openxmlformats.org/drawingml/2006/main" x="571500" y="2324100"/>
          <a:ext xmlns:a="http://schemas.openxmlformats.org/drawingml/2006/main" cx="14097000" cy="2857500"/>
        </p:xfrm>
        <a:graphic xmlns:a="http://schemas.openxmlformats.org/drawingml/2006/main">
          <a:graphicData uri="http://schemas.openxmlformats.org/drawingml/2006/table">
            <a:tbl>
              <a:tblPr/>
              <a:tblGrid>
                <a:gridCol w="6191250"/>
                <a:gridCol w="3952875"/>
                <a:gridCol w="3952875"/>
              </a:tblGrid>
              <a:tr h="714375">
                <a:tc>
                  <a:txBody>
                    <a:bodyPr lIns="171450" tIns="95250" rIns="152400" bIns="95250"/>
                    <a:lstStyle/>
                    <a:p>
                      <a:r>
                        <a:rPr sz="2400" b="1">
                          <a:solidFill>
                            <a:srgbClr val="FFFFFF"/>
                          </a:solidFill>
                          <a:latin typeface="Arial"/>
                          <a:ea typeface="Arial"/>
                          <a:cs typeface="Arial"/>
                        </a:rPr>
                        <a:t>Per week</a:t>
                      </a:r>
                    </a:p>
                  </a:txBody>
                  <a:tcPr marL="91440" marR="91440" marT="45720" marB="45720" anchor="ctr">
                    <a:solidFill>
                      <a:srgbClr val="183247"/>
                    </a:solidFill>
                  </a:tcPr>
                </a:tc>
                <a:tc>
                  <a:txBody>
                    <a:bodyPr lIns="171450" tIns="95250" rIns="152400" bIns="95250"/>
                    <a:lstStyle/>
                    <a:p>
                      <a:r>
                        <a:rPr sz="2400" b="1">
                          <a:solidFill>
                            <a:srgbClr val="FFFFFF"/>
                          </a:solidFill>
                          <a:latin typeface="Arial"/>
                          <a:ea typeface="Arial"/>
                          <a:cs typeface="Arial"/>
                        </a:rPr>
                        <a:t>Eerst</a:t>
                      </a:r>
                    </a:p>
                  </a:txBody>
                  <a:tcPr marL="91440" marR="91440" marT="45720" marB="45720" anchor="ctr">
                    <a:solidFill>
                      <a:srgbClr val="183247"/>
                    </a:solidFill>
                  </a:tcPr>
                </a:tc>
                <a:tc>
                  <a:txBody>
                    <a:bodyPr lIns="171450" tIns="95250" rIns="152400" bIns="95250"/>
                    <a:lstStyle/>
                    <a:p>
                      <a:r>
                        <a:rPr sz="2400" b="1">
                          <a:solidFill>
                            <a:srgbClr val="FFFFFF"/>
                          </a:solidFill>
                          <a:latin typeface="Arial"/>
                          <a:ea typeface="Arial"/>
                          <a:cs typeface="Arial"/>
                        </a:rPr>
                        <a:t>Na de verandering</a:t>
                      </a:r>
                    </a:p>
                  </a:txBody>
                  <a:tcPr marL="91440" marR="91440" marT="45720" marB="45720" anchor="ctr">
                    <a:solidFill>
                      <a:srgbClr val="183247"/>
                    </a:solidFill>
                  </a:tcPr>
                </a:tc>
              </a:tr>
              <a:tr h="714375">
                <a:tc>
                  <a:txBody>
                    <a:bodyPr lIns="171450" tIns="95250" rIns="152400" bIns="95250"/>
                    <a:lstStyle/>
                    <a:p>
                      <a:r>
                        <a:rPr sz="2400" b="0">
                          <a:solidFill>
                            <a:srgbClr val="183247"/>
                          </a:solidFill>
                          <a:latin typeface="Arial"/>
                          <a:ea typeface="Arial"/>
                          <a:cs typeface="Arial"/>
                        </a:rPr>
                        <a:t>Orders (posters)</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2.400</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2.400</a:t>
                      </a:r>
                    </a:p>
                  </a:txBody>
                  <a:tcPr marL="91440" marR="91440" marT="45720" marB="45720" anchor="ctr">
                    <a:solidFill>
                      <a:srgbClr val="FFFFFF"/>
                    </a:solidFill>
                  </a:tcPr>
                </a:tc>
              </a:tr>
              <a:tr h="714375">
                <a:tc>
                  <a:txBody>
                    <a:bodyPr lIns="171450" tIns="95250" rIns="152400" bIns="95250"/>
                    <a:lstStyle/>
                    <a:p>
                      <a:r>
                        <a:rPr sz="2400" b="0">
                          <a:solidFill>
                            <a:srgbClr val="183247"/>
                          </a:solidFill>
                          <a:latin typeface="Arial"/>
                          <a:ea typeface="Arial"/>
                          <a:cs typeface="Arial"/>
                        </a:rPr>
                        <a:t>Productiviteit (posters per uur)</a:t>
                      </a:r>
                    </a:p>
                  </a:txBody>
                  <a:tcPr marL="91440" marR="91440" marT="45720" marB="45720" anchor="ctr">
                    <a:solidFill>
                      <a:srgbClr val="EFF4F7"/>
                    </a:solidFill>
                  </a:tcPr>
                </a:tc>
                <a:tc>
                  <a:txBody>
                    <a:bodyPr lIns="171450" tIns="95250" rIns="152400" bIns="95250"/>
                    <a:lstStyle/>
                    <a:p>
                      <a:r>
                        <a:rPr sz="2400" b="0">
                          <a:solidFill>
                            <a:srgbClr val="183247"/>
                          </a:solidFill>
                          <a:latin typeface="Arial"/>
                          <a:ea typeface="Arial"/>
                          <a:cs typeface="Arial"/>
                        </a:rPr>
                        <a:t>12</a:t>
                      </a:r>
                    </a:p>
                  </a:txBody>
                  <a:tcPr marL="91440" marR="91440" marT="45720" marB="45720" anchor="ctr">
                    <a:solidFill>
                      <a:srgbClr val="EFF4F7"/>
                    </a:solidFill>
                  </a:tcPr>
                </a:tc>
                <a:tc>
                  <a:txBody>
                    <a:bodyPr lIns="171450" tIns="95250" rIns="152400" bIns="95250"/>
                    <a:lstStyle/>
                    <a:p>
                      <a:r>
                        <a:rPr sz="2400" b="0">
                          <a:solidFill>
                            <a:srgbClr val="183247"/>
                          </a:solidFill>
                          <a:latin typeface="Arial"/>
                          <a:ea typeface="Arial"/>
                          <a:cs typeface="Arial"/>
                        </a:rPr>
                        <a:t>15</a:t>
                      </a:r>
                    </a:p>
                  </a:txBody>
                  <a:tcPr marL="91440" marR="91440" marT="45720" marB="45720" anchor="ctr">
                    <a:solidFill>
                      <a:srgbClr val="EFF4F7"/>
                    </a:solidFill>
                  </a:tcPr>
                </a:tc>
              </a:tr>
              <a:tr h="714375">
                <a:tc>
                  <a:txBody>
                    <a:bodyPr lIns="171450" tIns="95250" rIns="152400" bIns="95250"/>
                    <a:lstStyle/>
                    <a:p>
                      <a:r>
                        <a:rPr sz="2400" b="0">
                          <a:solidFill>
                            <a:srgbClr val="183247"/>
                          </a:solidFill>
                          <a:latin typeface="Arial"/>
                          <a:ea typeface="Arial"/>
                          <a:cs typeface="Arial"/>
                        </a:rPr>
                        <a:t>Volledige uurkosten</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€ 30</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€ 33</a:t>
                      </a:r>
                    </a:p>
                  </a:txBody>
                  <a:tcPr marL="91440" marR="91440" marT="45720" marB="45720" anchor="ctr">
                    <a:solidFill>
                      <a:srgbClr val="FFFFFF"/>
                    </a:solidFill>
                  </a:tcPr>
                </a:tc>
              </a:tr>
            </a:tbl>
          </a:graphicData>
        </a:graphic>
      </p:graphicFrame>
      <p:sp>
        <p:nvSpPr>
          <p:cNvPr id="7" name="Uren: 2.400 / 12 = 200; daarna 2.400 / 15 = 160">
            <a:extLst xmlns:a="http://schemas.openxmlformats.org/drawingml/2006/main">
              <a:ext uri="{FF2B5EF4-FFF2-40B4-BE49-F238E27FC236}">
                <a16:creationId xmlns:a16="http://schemas.microsoft.com/office/drawing/2014/main" id="{0C101764-28E2-4F92-8023-F71F5459D4C5}"/>
              </a:ext>
            </a:extLst>
          </p:cNvPr>
          <p:cNvSpPr>
            <a:spLocks xmlns:a="http://schemas.openxmlformats.org/drawingml/2006/main" noGrp="1"/>
          </p:cNvSpPr>
          <p:nvPr/>
        </p:nvSpPr>
        <p:spPr>
          <a:xfrm xmlns:a="http://schemas.openxmlformats.org/drawingml/2006/main">
            <a:off x="571500" y="5553075"/>
            <a:ext cx="14097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183247"/>
                </a:solidFill>
                <a:latin typeface="Arial"/>
                <a:ea typeface="Arial"/>
                <a:cs typeface="Arial"/>
              </a:defRPr>
            </a:pPr>
            <a:r>
              <a:rPr sz="2775" b="1">
                <a:solidFill>
                  <a:srgbClr val="183247"/>
                </a:solidFill>
                <a:latin typeface="Arial"/>
                <a:ea typeface="Arial"/>
                <a:cs typeface="Arial"/>
              </a:rPr>
              <a:t>Uren: 2.400 / 12 = 200; daarna 2.400 / 15 = 160</a:t>
            </a:r>
          </a:p>
        </p:txBody>
      </p:sp>
      <p:sp>
        <p:nvSpPr>
          <p:cNvPr id="8" name="Kosten per poster: 30 / 12 = € 2,50; 33 / 15 = € 2,20">
            <a:extLst xmlns:a="http://schemas.openxmlformats.org/drawingml/2006/main">
              <a:ext uri="{FF2B5EF4-FFF2-40B4-BE49-F238E27FC236}">
                <a16:creationId xmlns:a16="http://schemas.microsoft.com/office/drawing/2014/main" id="{FD622AE9-B98D-4192-B26E-03CA1C0DE78B}"/>
              </a:ext>
            </a:extLst>
          </p:cNvPr>
          <p:cNvSpPr>
            <a:spLocks xmlns:a="http://schemas.openxmlformats.org/drawingml/2006/main" noGrp="1"/>
          </p:cNvSpPr>
          <p:nvPr/>
        </p:nvSpPr>
        <p:spPr>
          <a:xfrm xmlns:a="http://schemas.openxmlformats.org/drawingml/2006/main">
            <a:off x="571500" y="6315075"/>
            <a:ext cx="1409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20665B"/>
                </a:solidFill>
                <a:latin typeface="Arial"/>
                <a:ea typeface="Arial"/>
                <a:cs typeface="Arial"/>
              </a:defRPr>
            </a:pPr>
            <a:r>
              <a:rPr sz="2775" b="1">
                <a:solidFill>
                  <a:srgbClr val="20665B"/>
                </a:solidFill>
                <a:latin typeface="Arial"/>
                <a:ea typeface="Arial"/>
                <a:cs typeface="Arial"/>
              </a:rPr>
              <a:t>Kosten per poster: 30 / 12 = € 2,50; 33 / 15 = € 2,20</a:t>
            </a:r>
          </a:p>
        </p:txBody>
      </p:sp>
      <p:sp>
        <p:nvSpPr>
          <p:cNvPr id="9" name="Bij gelijkblijvende orders zijn minder uren nodig.&#10;Het aanta">
            <a:extLst xmlns:a="http://schemas.openxmlformats.org/drawingml/2006/main">
              <a:ext uri="{FF2B5EF4-FFF2-40B4-BE49-F238E27FC236}">
                <a16:creationId xmlns:a16="http://schemas.microsoft.com/office/drawing/2014/main" id="{D665C913-DD1B-474B-A908-6B7AE83940AF}"/>
              </a:ext>
            </a:extLst>
          </p:cNvPr>
          <p:cNvSpPr>
            <a:spLocks xmlns:a="http://schemas.openxmlformats.org/drawingml/2006/main" noGrp="1"/>
          </p:cNvSpPr>
          <p:nvPr/>
        </p:nvSpPr>
        <p:spPr>
          <a:xfrm xmlns:a="http://schemas.openxmlformats.org/drawingml/2006/main">
            <a:off x="571500" y="7134225"/>
            <a:ext cx="14097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183247"/>
                </a:solidFill>
                <a:latin typeface="Arial"/>
                <a:ea typeface="Arial"/>
                <a:cs typeface="Arial"/>
              </a:defRPr>
            </a:pPr>
            <a:r>
              <a:rPr sz="2400" b="0">
                <a:solidFill>
                  <a:srgbClr val="183247"/>
                </a:solidFill>
                <a:latin typeface="Arial"/>
                <a:ea typeface="Arial"/>
                <a:cs typeface="Arial"/>
              </a:rPr>
              <a:t>Bij gelijkblijvende orders zijn minder uren nodig.</a:t>
            </a:r>
          </a:p>
          <a:p xmlns:a="http://schemas.openxmlformats.org/drawingml/2006/main">
            <a:pPr algn="l">
              <a:defRPr sz="2400" b="0">
                <a:solidFill>
                  <a:srgbClr val="183247"/>
                </a:solidFill>
                <a:latin typeface="Arial"/>
                <a:ea typeface="Arial"/>
                <a:cs typeface="Arial"/>
              </a:defRPr>
            </a:pPr>
            <a:r>
              <a:rPr sz="2400" b="0">
                <a:solidFill>
                  <a:srgbClr val="183247"/>
                </a:solidFill>
                <a:latin typeface="Arial"/>
                <a:ea typeface="Arial"/>
                <a:cs typeface="Arial"/>
              </a:rPr>
              <a:t>Het aantal personen hangt ook af van de uren per persoon.</a:t>
            </a:r>
          </a:p>
        </p:txBody>
      </p:sp>
    </p:spTree>
    <p:extLst>
      <p:ext uri="{BB962C8B-B14F-4D97-AF65-F5344CB8AC3E}">
        <p14:creationId xmlns:p14="http://schemas.microsoft.com/office/powerpoint/2010/main" val="96916532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Een minimumloon: eerst de bindendheid">
            <a:extLst xmlns:a="http://schemas.openxmlformats.org/drawingml/2006/main">
              <a:ext uri="{FF2B5EF4-FFF2-40B4-BE49-F238E27FC236}">
                <a16:creationId xmlns:a16="http://schemas.microsoft.com/office/drawing/2014/main" id="{76AF0879-1E47-4D40-8683-67B1BD8919CE}"/>
              </a:ext>
            </a:extLst>
          </p:cNvPr>
          <p:cNvSpPr>
            <a:spLocks xmlns:a="http://schemas.openxmlformats.org/drawingml/2006/main" noGrp="1"/>
          </p:cNvSpPr>
          <p:nvPr/>
        </p:nvSpPr>
        <p:spPr>
          <a:xfrm xmlns:a="http://schemas.openxmlformats.org/drawingml/2006/main">
            <a:off x="571500" y="400050"/>
            <a:ext cx="14097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Een minimumloon: eerst de bindendheid</a:t>
            </a:r>
          </a:p>
        </p:txBody>
      </p:sp>
      <p:sp>
        <p:nvSpPr>
          <p:cNvPr id="2" name="">
            <a:extLst xmlns:a="http://schemas.openxmlformats.org/drawingml/2006/main">
              <a:ext uri="{FF2B5EF4-FFF2-40B4-BE49-F238E27FC236}">
                <a16:creationId xmlns:a16="http://schemas.microsoft.com/office/drawing/2014/main" id="{33A11843-3C5C-407B-AFFE-01A2C18F46DE}"/>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3.5 Gemengde opgaven: arbeidsmarkt">
            <a:extLst xmlns:a="http://schemas.openxmlformats.org/drawingml/2006/main">
              <a:ext uri="{FF2B5EF4-FFF2-40B4-BE49-F238E27FC236}">
                <a16:creationId xmlns:a16="http://schemas.microsoft.com/office/drawing/2014/main" id="{A2734170-487B-4743-944F-91A8591736BE}"/>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§4.3.5 Gemengde opgaven: arbeidsmarkt</a:t>
            </a:r>
          </a:p>
        </p:txBody>
      </p:sp>
      <p:sp>
        <p:nvSpPr>
          <p:cNvPr id="4" name="4">
            <a:extLst xmlns:a="http://schemas.openxmlformats.org/drawingml/2006/main">
              <a:ext uri="{FF2B5EF4-FFF2-40B4-BE49-F238E27FC236}">
                <a16:creationId xmlns:a16="http://schemas.microsoft.com/office/drawing/2014/main" id="{2C931B9E-A638-4CFC-9528-6633501AF129}"/>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4</a:t>
            </a:r>
          </a:p>
        </p:txBody>
      </p:sp>
      <p:sp>
        <p:nvSpPr>
          <p:cNvPr id="5" name="Vrij evenwicht">
            <a:extLst xmlns:a="http://schemas.openxmlformats.org/drawingml/2006/main">
              <a:ext uri="{FF2B5EF4-FFF2-40B4-BE49-F238E27FC236}">
                <a16:creationId xmlns:a16="http://schemas.microsoft.com/office/drawing/2014/main" id="{2B455094-0829-4F19-88C3-C0E327367923}"/>
              </a:ext>
            </a:extLst>
          </p:cNvPr>
          <p:cNvSpPr>
            <a:spLocks xmlns:a="http://schemas.openxmlformats.org/drawingml/2006/main" noGrp="1"/>
          </p:cNvSpPr>
          <p:nvPr/>
        </p:nvSpPr>
        <p:spPr>
          <a:xfrm xmlns:a="http://schemas.openxmlformats.org/drawingml/2006/main">
            <a:off x="571500" y="1952625"/>
            <a:ext cx="4286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7658A"/>
                </a:solidFill>
                <a:latin typeface="Arial"/>
                <a:ea typeface="Arial"/>
                <a:cs typeface="Arial"/>
              </a:defRPr>
            </a:pPr>
            <a:r>
              <a:rPr sz="2700" b="1">
                <a:solidFill>
                  <a:srgbClr val="17658A"/>
                </a:solidFill>
                <a:latin typeface="Arial"/>
                <a:ea typeface="Arial"/>
                <a:cs typeface="Arial"/>
              </a:rPr>
              <a:t>Vrij evenwicht</a:t>
            </a:r>
          </a:p>
        </p:txBody>
      </p:sp>
      <p:sp>
        <p:nvSpPr>
          <p:cNvPr id="6" name="Stel Lᵥ = Lₐ. Bereken w en L.">
            <a:extLst xmlns:a="http://schemas.openxmlformats.org/drawingml/2006/main">
              <a:ext uri="{FF2B5EF4-FFF2-40B4-BE49-F238E27FC236}">
                <a16:creationId xmlns:a16="http://schemas.microsoft.com/office/drawing/2014/main" id="{D35F1262-6E1F-40D3-9863-43F766C2F8E9}"/>
              </a:ext>
            </a:extLst>
          </p:cNvPr>
          <p:cNvSpPr>
            <a:spLocks xmlns:a="http://schemas.openxmlformats.org/drawingml/2006/main" noGrp="1"/>
          </p:cNvSpPr>
          <p:nvPr/>
        </p:nvSpPr>
        <p:spPr>
          <a:xfrm xmlns:a="http://schemas.openxmlformats.org/drawingml/2006/main">
            <a:off x="5238750" y="1952625"/>
            <a:ext cx="9429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Stel Lᵥ = Lₐ. Bereken w en L.</a:t>
            </a:r>
          </a:p>
        </p:txBody>
      </p:sp>
      <p:sp>
        <p:nvSpPr>
          <p:cNvPr id="7" name="">
            <a:extLst xmlns:a="http://schemas.openxmlformats.org/drawingml/2006/main">
              <a:ext uri="{FF2B5EF4-FFF2-40B4-BE49-F238E27FC236}">
                <a16:creationId xmlns:a16="http://schemas.microsoft.com/office/drawing/2014/main" id="{BC321C75-A4BA-4036-896A-AFF481D52B68}"/>
              </a:ext>
            </a:extLst>
          </p:cNvPr>
          <p:cNvSpPr>
            <a:spLocks xmlns:a="http://schemas.openxmlformats.org/drawingml/2006/main" noGrp="1"/>
          </p:cNvSpPr>
          <p:nvPr/>
        </p:nvSpPr>
        <p:spPr>
          <a:xfrm xmlns:a="http://schemas.openxmlformats.org/drawingml/2006/main">
            <a:off x="571500" y="3352800"/>
            <a:ext cx="14097000" cy="0"/>
          </a:xfrm>
          <a:prstGeom xmlns:a="http://schemas.openxmlformats.org/drawingml/2006/main" prst="line">
            <a:avLst/>
          </a:prstGeom>
          <a:ln xmlns:a="http://schemas.openxmlformats.org/drawingml/2006/main" w="19050">
            <a:solidFill>
              <a:srgbClr val="C6D2DB"/>
            </a:solidFill>
          </a:ln>
        </p:spPr>
      </p:sp>
      <p:sp>
        <p:nvSpPr>
          <p:cNvPr id="8" name="Minimum boven&#10;evenwichtsloon">
            <a:extLst xmlns:a="http://schemas.openxmlformats.org/drawingml/2006/main">
              <a:ext uri="{FF2B5EF4-FFF2-40B4-BE49-F238E27FC236}">
                <a16:creationId xmlns:a16="http://schemas.microsoft.com/office/drawing/2014/main" id="{7C256140-31EA-423C-9973-266BC9FD6F89}"/>
              </a:ext>
            </a:extLst>
          </p:cNvPr>
          <p:cNvSpPr>
            <a:spLocks xmlns:a="http://schemas.openxmlformats.org/drawingml/2006/main" noGrp="1"/>
          </p:cNvSpPr>
          <p:nvPr/>
        </p:nvSpPr>
        <p:spPr>
          <a:xfrm xmlns:a="http://schemas.openxmlformats.org/drawingml/2006/main">
            <a:off x="571500" y="3600450"/>
            <a:ext cx="4286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20665B"/>
                </a:solidFill>
                <a:latin typeface="Arial"/>
                <a:ea typeface="Arial"/>
                <a:cs typeface="Arial"/>
              </a:defRPr>
            </a:pPr>
            <a:r>
              <a:rPr sz="2700" b="1">
                <a:solidFill>
                  <a:srgbClr val="20665B"/>
                </a:solidFill>
                <a:latin typeface="Arial"/>
                <a:ea typeface="Arial"/>
                <a:cs typeface="Arial"/>
              </a:rPr>
              <a:t>Minimum boven</a:t>
            </a:r>
          </a:p>
          <a:p xmlns:a="http://schemas.openxmlformats.org/drawingml/2006/main">
            <a:pPr algn="l">
              <a:defRPr sz="2700" b="1">
                <a:solidFill>
                  <a:srgbClr val="20665B"/>
                </a:solidFill>
                <a:latin typeface="Arial"/>
                <a:ea typeface="Arial"/>
                <a:cs typeface="Arial"/>
              </a:defRPr>
            </a:pPr>
            <a:r>
              <a:rPr sz="2700" b="1">
                <a:solidFill>
                  <a:srgbClr val="20665B"/>
                </a:solidFill>
                <a:latin typeface="Arial"/>
                <a:ea typeface="Arial"/>
                <a:cs typeface="Arial"/>
              </a:rPr>
              <a:t>evenwichtsloon</a:t>
            </a:r>
          </a:p>
        </p:txBody>
      </p:sp>
      <p:sp>
        <p:nvSpPr>
          <p:cNvPr id="9" name="Bereken Lᵥ en Lₐ bij het minimum.&#10;Werkgelegenheid = Lᵥ; over">
            <a:extLst xmlns:a="http://schemas.openxmlformats.org/drawingml/2006/main">
              <a:ext uri="{FF2B5EF4-FFF2-40B4-BE49-F238E27FC236}">
                <a16:creationId xmlns:a16="http://schemas.microsoft.com/office/drawing/2014/main" id="{AA127A6D-20AE-4ECF-97AA-5ADBD98A01BF}"/>
              </a:ext>
            </a:extLst>
          </p:cNvPr>
          <p:cNvSpPr>
            <a:spLocks xmlns:a="http://schemas.openxmlformats.org/drawingml/2006/main" noGrp="1"/>
          </p:cNvSpPr>
          <p:nvPr/>
        </p:nvSpPr>
        <p:spPr>
          <a:xfrm xmlns:a="http://schemas.openxmlformats.org/drawingml/2006/main">
            <a:off x="5238750" y="3600450"/>
            <a:ext cx="9429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Bereken Lᵥ en Lₐ bij het minimum.</a:t>
            </a:r>
          </a:p>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Werkgelegenheid = Lᵥ; overschot = Lₐ − Lᵥ.</a:t>
            </a:r>
          </a:p>
        </p:txBody>
      </p:sp>
      <p:sp>
        <p:nvSpPr>
          <p:cNvPr id="10" name="">
            <a:extLst xmlns:a="http://schemas.openxmlformats.org/drawingml/2006/main">
              <a:ext uri="{FF2B5EF4-FFF2-40B4-BE49-F238E27FC236}">
                <a16:creationId xmlns:a16="http://schemas.microsoft.com/office/drawing/2014/main" id="{DEC67DC0-6766-433F-92A6-521EA2297D83}"/>
              </a:ext>
            </a:extLst>
          </p:cNvPr>
          <p:cNvSpPr>
            <a:spLocks xmlns:a="http://schemas.openxmlformats.org/drawingml/2006/main" noGrp="1"/>
          </p:cNvSpPr>
          <p:nvPr/>
        </p:nvSpPr>
        <p:spPr>
          <a:xfrm xmlns:a="http://schemas.openxmlformats.org/drawingml/2006/main">
            <a:off x="571500" y="5000625"/>
            <a:ext cx="14097000" cy="0"/>
          </a:xfrm>
          <a:prstGeom xmlns:a="http://schemas.openxmlformats.org/drawingml/2006/main" prst="line">
            <a:avLst/>
          </a:prstGeom>
          <a:ln xmlns:a="http://schemas.openxmlformats.org/drawingml/2006/main" w="19050">
            <a:solidFill>
              <a:srgbClr val="C6D2DB"/>
            </a:solidFill>
          </a:ln>
        </p:spPr>
      </p:sp>
      <p:sp>
        <p:nvSpPr>
          <p:cNvPr id="11" name="Loonsom per week">
            <a:extLst xmlns:a="http://schemas.openxmlformats.org/drawingml/2006/main">
              <a:ext uri="{FF2B5EF4-FFF2-40B4-BE49-F238E27FC236}">
                <a16:creationId xmlns:a16="http://schemas.microsoft.com/office/drawing/2014/main" id="{05C43DEC-3774-4B3A-AE0D-9E69001E73BD}"/>
              </a:ext>
            </a:extLst>
          </p:cNvPr>
          <p:cNvSpPr>
            <a:spLocks xmlns:a="http://schemas.openxmlformats.org/drawingml/2006/main" noGrp="1"/>
          </p:cNvSpPr>
          <p:nvPr/>
        </p:nvSpPr>
        <p:spPr>
          <a:xfrm xmlns:a="http://schemas.openxmlformats.org/drawingml/2006/main">
            <a:off x="571500" y="5248275"/>
            <a:ext cx="4286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A94D16"/>
                </a:solidFill>
                <a:latin typeface="Arial"/>
                <a:ea typeface="Arial"/>
                <a:cs typeface="Arial"/>
              </a:defRPr>
            </a:pPr>
            <a:r>
              <a:rPr sz="2700" b="1">
                <a:solidFill>
                  <a:srgbClr val="A94D16"/>
                </a:solidFill>
                <a:latin typeface="Arial"/>
                <a:ea typeface="Arial"/>
                <a:cs typeface="Arial"/>
              </a:rPr>
              <a:t>Loonsom per week</a:t>
            </a:r>
          </a:p>
        </p:txBody>
      </p:sp>
      <p:sp>
        <p:nvSpPr>
          <p:cNvPr id="12" name="Uurloon × uren per werknemer × werkenden.">
            <a:extLst xmlns:a="http://schemas.openxmlformats.org/drawingml/2006/main">
              <a:ext uri="{FF2B5EF4-FFF2-40B4-BE49-F238E27FC236}">
                <a16:creationId xmlns:a16="http://schemas.microsoft.com/office/drawing/2014/main" id="{FE7AD81E-36CB-4267-944C-39B02094FDDA}"/>
              </a:ext>
            </a:extLst>
          </p:cNvPr>
          <p:cNvSpPr>
            <a:spLocks xmlns:a="http://schemas.openxmlformats.org/drawingml/2006/main" noGrp="1"/>
          </p:cNvSpPr>
          <p:nvPr/>
        </p:nvSpPr>
        <p:spPr>
          <a:xfrm xmlns:a="http://schemas.openxmlformats.org/drawingml/2006/main">
            <a:off x="5238750" y="5248275"/>
            <a:ext cx="9429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Uurloon × uren per werknemer × werkenden.</a:t>
            </a:r>
          </a:p>
        </p:txBody>
      </p:sp>
      <p:sp>
        <p:nvSpPr>
          <p:cNvPr id="13" name="Een minimum onder het evenwicht verandert het loon niet.&#10;All">
            <a:extLst xmlns:a="http://schemas.openxmlformats.org/drawingml/2006/main">
              <a:ext uri="{FF2B5EF4-FFF2-40B4-BE49-F238E27FC236}">
                <a16:creationId xmlns:a16="http://schemas.microsoft.com/office/drawing/2014/main" id="{A82E14AC-7A7E-48FB-8032-7FAA71AEE4D0}"/>
              </a:ext>
            </a:extLst>
          </p:cNvPr>
          <p:cNvSpPr>
            <a:spLocks xmlns:a="http://schemas.openxmlformats.org/drawingml/2006/main" noGrp="1"/>
          </p:cNvSpPr>
          <p:nvPr/>
        </p:nvSpPr>
        <p:spPr>
          <a:xfrm xmlns:a="http://schemas.openxmlformats.org/drawingml/2006/main">
            <a:off x="571500" y="7124700"/>
            <a:ext cx="14097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7658A"/>
                </a:solidFill>
                <a:latin typeface="Arial"/>
                <a:ea typeface="Arial"/>
                <a:cs typeface="Arial"/>
              </a:defRPr>
            </a:pPr>
            <a:r>
              <a:rPr sz="2550" b="1">
                <a:solidFill>
                  <a:srgbClr val="17658A"/>
                </a:solidFill>
                <a:latin typeface="Arial"/>
                <a:ea typeface="Arial"/>
                <a:cs typeface="Arial"/>
              </a:rPr>
              <a:t>Een minimum onder het evenwicht verandert het loon niet.</a:t>
            </a:r>
          </a:p>
          <a:p xmlns:a="http://schemas.openxmlformats.org/drawingml/2006/main">
            <a:pPr algn="l">
              <a:defRPr sz="2550" b="1">
                <a:solidFill>
                  <a:srgbClr val="17658A"/>
                </a:solidFill>
                <a:latin typeface="Arial"/>
                <a:ea typeface="Arial"/>
                <a:cs typeface="Arial"/>
              </a:defRPr>
            </a:pPr>
            <a:r>
              <a:rPr sz="2550" b="1">
                <a:solidFill>
                  <a:srgbClr val="17658A"/>
                </a:solidFill>
                <a:latin typeface="Arial"/>
                <a:ea typeface="Arial"/>
                <a:cs typeface="Arial"/>
              </a:rPr>
              <a:t>Alleen een loonvloer verschuift de vraaglijn niet.</a:t>
            </a:r>
          </a:p>
        </p:txBody>
      </p:sp>
    </p:spTree>
    <p:extLst>
      <p:ext uri="{BB962C8B-B14F-4D97-AF65-F5344CB8AC3E}">
        <p14:creationId xmlns:p14="http://schemas.microsoft.com/office/powerpoint/2010/main" val="181571394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overview-title">
            <a:extLst xmlns:a="http://schemas.openxmlformats.org/drawingml/2006/main">
              <a:ext uri="{FF2B5EF4-FFF2-40B4-BE49-F238E27FC236}">
                <a16:creationId xmlns:a16="http://schemas.microsoft.com/office/drawing/2014/main" id="{455D8D3A-A74C-4139-8A4C-84CD3AF1E19E}"/>
              </a:ext>
            </a:extLst>
          </p:cNvPr>
          <p:cNvSpPr>
            <a:spLocks xmlns:a="http://schemas.openxmlformats.org/drawingml/2006/main" noGrp="1"/>
          </p:cNvSpPr>
          <p:nvPr/>
        </p:nvSpPr>
        <p:spPr>
          <a:xfrm xmlns:a="http://schemas.openxmlformats.org/drawingml/2006/main">
            <a:off x="571500" y="323850"/>
            <a:ext cx="14097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525" b="1">
                <a:solidFill>
                  <a:srgbClr val="183247"/>
                </a:solidFill>
                <a:latin typeface="Arial"/>
                <a:ea typeface="Arial"/>
                <a:cs typeface="Arial"/>
              </a:defRPr>
            </a:pPr>
            <a:r>
              <a:rPr sz="3525" b="1">
                <a:solidFill>
                  <a:srgbClr val="183247"/>
                </a:solidFill>
                <a:latin typeface="Arial"/>
                <a:ea typeface="Arial"/>
                <a:cs typeface="Arial"/>
              </a:rPr>
              <a:t>Deze les: §4.3.5 Gemengde opgaven: arbeidsmarkt</a:t>
            </a:r>
          </a:p>
        </p:txBody>
      </p:sp>
      <p:sp>
        <p:nvSpPr>
          <p:cNvPr id="2" name="phase">
            <a:extLst xmlns:a="http://schemas.openxmlformats.org/drawingml/2006/main">
              <a:ext uri="{FF2B5EF4-FFF2-40B4-BE49-F238E27FC236}">
                <a16:creationId xmlns:a16="http://schemas.microsoft.com/office/drawing/2014/main" id="{FA661FF9-EF2C-43FF-A43B-4E39D51BCD9B}"/>
              </a:ext>
            </a:extLst>
          </p:cNvPr>
          <p:cNvSpPr>
            <a:spLocks xmlns:a="http://schemas.openxmlformats.org/drawingml/2006/main" noGrp="1"/>
          </p:cNvSpPr>
          <p:nvPr/>
        </p:nvSpPr>
        <p:spPr>
          <a:xfrm xmlns:a="http://schemas.openxmlformats.org/drawingml/2006/main">
            <a:off x="571500" y="1076325"/>
            <a:ext cx="1409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Nu: Zelfstandig werken</a:t>
            </a:r>
          </a:p>
        </p:txBody>
      </p:sp>
      <p:sp>
        <p:nvSpPr>
          <p:cNvPr id="3" name="">
            <a:extLst xmlns:a="http://schemas.openxmlformats.org/drawingml/2006/main">
              <a:ext uri="{FF2B5EF4-FFF2-40B4-BE49-F238E27FC236}">
                <a16:creationId xmlns:a16="http://schemas.microsoft.com/office/drawing/2014/main" id="{7A28898A-EE80-4715-B024-629E02F474E1}"/>
              </a:ext>
            </a:extLst>
          </p:cNvPr>
          <p:cNvSpPr>
            <a:spLocks xmlns:a="http://schemas.openxmlformats.org/drawingml/2006/main" noGrp="1"/>
          </p:cNvSpPr>
          <p:nvPr/>
        </p:nvSpPr>
        <p:spPr>
          <a:xfrm xmlns:a="http://schemas.openxmlformats.org/drawingml/2006/main">
            <a:off x="571500" y="1571625"/>
            <a:ext cx="14097000" cy="0"/>
          </a:xfrm>
          <a:prstGeom xmlns:a="http://schemas.openxmlformats.org/drawingml/2006/main" prst="line">
            <a:avLst/>
          </a:prstGeom>
          <a:ln xmlns:a="http://schemas.openxmlformats.org/drawingml/2006/main" w="19050">
            <a:solidFill>
              <a:srgbClr val="C6D2DB"/>
            </a:solidFill>
          </a:ln>
        </p:spPr>
      </p:sp>
      <p:sp>
        <p:nvSpPr>
          <p:cNvPr id="4" name="Lesroute">
            <a:extLst xmlns:a="http://schemas.openxmlformats.org/drawingml/2006/main">
              <a:ext uri="{FF2B5EF4-FFF2-40B4-BE49-F238E27FC236}">
                <a16:creationId xmlns:a16="http://schemas.microsoft.com/office/drawing/2014/main" id="{B07154FA-8E26-4544-9B3D-7F246967EBD8}"/>
              </a:ext>
            </a:extLst>
          </p:cNvPr>
          <p:cNvSpPr>
            <a:spLocks xmlns:a="http://schemas.openxmlformats.org/drawingml/2006/main" noGrp="1"/>
          </p:cNvSpPr>
          <p:nvPr/>
        </p:nvSpPr>
        <p:spPr>
          <a:xfrm xmlns:a="http://schemas.openxmlformats.org/drawingml/2006/main">
            <a:off x="571500" y="1866900"/>
            <a:ext cx="7953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Lesroute</a:t>
            </a:r>
          </a:p>
        </p:txBody>
      </p:sp>
      <p:sp>
        <p:nvSpPr>
          <p:cNvPr id="5" name="route-number-1">
            <a:extLst xmlns:a="http://schemas.openxmlformats.org/drawingml/2006/main">
              <a:ext uri="{FF2B5EF4-FFF2-40B4-BE49-F238E27FC236}">
                <a16:creationId xmlns:a16="http://schemas.microsoft.com/office/drawing/2014/main" id="{D7656489-57F5-4595-A64F-87C90109126C}"/>
              </a:ext>
            </a:extLst>
          </p:cNvPr>
          <p:cNvSpPr>
            <a:spLocks xmlns:a="http://schemas.openxmlformats.org/drawingml/2006/main" noGrp="1"/>
          </p:cNvSpPr>
          <p:nvPr/>
        </p:nvSpPr>
        <p:spPr>
          <a:xfrm xmlns:a="http://schemas.openxmlformats.org/drawingml/2006/main">
            <a:off x="571500" y="2409825"/>
            <a:ext cx="4572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1.</a:t>
            </a:r>
          </a:p>
        </p:txBody>
      </p:sp>
      <p:sp>
        <p:nvSpPr>
          <p:cNvPr id="6" name="route-1">
            <a:extLst xmlns:a="http://schemas.openxmlformats.org/drawingml/2006/main">
              <a:ext uri="{FF2B5EF4-FFF2-40B4-BE49-F238E27FC236}">
                <a16:creationId xmlns:a16="http://schemas.microsoft.com/office/drawing/2014/main" id="{73EB812F-2568-41F5-BC53-0CD234D200CF}"/>
              </a:ext>
            </a:extLst>
          </p:cNvPr>
          <p:cNvSpPr>
            <a:spLocks xmlns:a="http://schemas.openxmlformats.org/drawingml/2006/main" noGrp="1"/>
          </p:cNvSpPr>
          <p:nvPr/>
        </p:nvSpPr>
        <p:spPr>
          <a:xfrm xmlns:a="http://schemas.openxmlformats.org/drawingml/2006/main">
            <a:off x="1104900" y="2409825"/>
            <a:ext cx="74199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Jas in de kluis of aan de kapstok. Pak agenda, schrift, pen en rekenmachine.</a:t>
            </a:r>
          </a:p>
        </p:txBody>
      </p:sp>
      <p:sp>
        <p:nvSpPr>
          <p:cNvPr id="7" name="route-number-2">
            <a:extLst xmlns:a="http://schemas.openxmlformats.org/drawingml/2006/main">
              <a:ext uri="{FF2B5EF4-FFF2-40B4-BE49-F238E27FC236}">
                <a16:creationId xmlns:a16="http://schemas.microsoft.com/office/drawing/2014/main" id="{F57CB714-8B90-4DB7-B2D6-E426773880BF}"/>
              </a:ext>
            </a:extLst>
          </p:cNvPr>
          <p:cNvSpPr>
            <a:spLocks xmlns:a="http://schemas.openxmlformats.org/drawingml/2006/main" noGrp="1"/>
          </p:cNvSpPr>
          <p:nvPr/>
        </p:nvSpPr>
        <p:spPr>
          <a:xfrm xmlns:a="http://schemas.openxmlformats.org/drawingml/2006/main">
            <a:off x="571500" y="3305175"/>
            <a:ext cx="4572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2.</a:t>
            </a:r>
          </a:p>
        </p:txBody>
      </p:sp>
      <p:sp>
        <p:nvSpPr>
          <p:cNvPr id="8" name="route-2">
            <a:extLst xmlns:a="http://schemas.openxmlformats.org/drawingml/2006/main">
              <a:ext uri="{FF2B5EF4-FFF2-40B4-BE49-F238E27FC236}">
                <a16:creationId xmlns:a16="http://schemas.microsoft.com/office/drawing/2014/main" id="{6EF58A57-BDC7-4D15-991A-3CE668FADC62}"/>
              </a:ext>
            </a:extLst>
          </p:cNvPr>
          <p:cNvSpPr>
            <a:spLocks xmlns:a="http://schemas.openxmlformats.org/drawingml/2006/main" noGrp="1"/>
          </p:cNvSpPr>
          <p:nvPr/>
        </p:nvSpPr>
        <p:spPr>
          <a:xfrm xmlns:a="http://schemas.openxmlformats.org/drawingml/2006/main">
            <a:off x="1104900" y="3305175"/>
            <a:ext cx="74199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Maak de startopdracht.</a:t>
            </a:r>
          </a:p>
        </p:txBody>
      </p:sp>
      <p:sp>
        <p:nvSpPr>
          <p:cNvPr id="9" name="route-number-3">
            <a:extLst xmlns:a="http://schemas.openxmlformats.org/drawingml/2006/main">
              <a:ext uri="{FF2B5EF4-FFF2-40B4-BE49-F238E27FC236}">
                <a16:creationId xmlns:a16="http://schemas.microsoft.com/office/drawing/2014/main" id="{4A0FC747-A94B-4A1D-9DBE-FAA5CA432810}"/>
              </a:ext>
            </a:extLst>
          </p:cNvPr>
          <p:cNvSpPr>
            <a:spLocks xmlns:a="http://schemas.openxmlformats.org/drawingml/2006/main" noGrp="1"/>
          </p:cNvSpPr>
          <p:nvPr/>
        </p:nvSpPr>
        <p:spPr>
          <a:xfrm xmlns:a="http://schemas.openxmlformats.org/drawingml/2006/main">
            <a:off x="571500" y="3895725"/>
            <a:ext cx="457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3.</a:t>
            </a:r>
          </a:p>
        </p:txBody>
      </p:sp>
      <p:sp>
        <p:nvSpPr>
          <p:cNvPr id="10" name="route-3">
            <a:extLst xmlns:a="http://schemas.openxmlformats.org/drawingml/2006/main">
              <a:ext uri="{FF2B5EF4-FFF2-40B4-BE49-F238E27FC236}">
                <a16:creationId xmlns:a16="http://schemas.microsoft.com/office/drawing/2014/main" id="{E5FD12ED-9BC9-40BB-ADFD-F55B49E0CBC4}"/>
              </a:ext>
            </a:extLst>
          </p:cNvPr>
          <p:cNvSpPr>
            <a:spLocks xmlns:a="http://schemas.openxmlformats.org/drawingml/2006/main" noGrp="1"/>
          </p:cNvSpPr>
          <p:nvPr/>
        </p:nvSpPr>
        <p:spPr>
          <a:xfrm xmlns:a="http://schemas.openxmlformats.org/drawingml/2006/main">
            <a:off x="1104900" y="3895725"/>
            <a:ext cx="74199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Korte herhaling en aanpak.</a:t>
            </a:r>
          </a:p>
        </p:txBody>
      </p:sp>
      <p:sp>
        <p:nvSpPr>
          <p:cNvPr id="11" name="route-number-4">
            <a:extLst xmlns:a="http://schemas.openxmlformats.org/drawingml/2006/main">
              <a:ext uri="{FF2B5EF4-FFF2-40B4-BE49-F238E27FC236}">
                <a16:creationId xmlns:a16="http://schemas.microsoft.com/office/drawing/2014/main" id="{1FD8336C-0227-4BF4-9FCA-34EA9FB90C81}"/>
              </a:ext>
            </a:extLst>
          </p:cNvPr>
          <p:cNvSpPr>
            <a:spLocks xmlns:a="http://schemas.openxmlformats.org/drawingml/2006/main" noGrp="1"/>
          </p:cNvSpPr>
          <p:nvPr/>
        </p:nvSpPr>
        <p:spPr>
          <a:xfrm xmlns:a="http://schemas.openxmlformats.org/drawingml/2006/main">
            <a:off x="571500" y="4495800"/>
            <a:ext cx="4572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4.</a:t>
            </a:r>
          </a:p>
        </p:txBody>
      </p:sp>
      <p:sp>
        <p:nvSpPr>
          <p:cNvPr id="12" name="route-4">
            <a:extLst xmlns:a="http://schemas.openxmlformats.org/drawingml/2006/main">
              <a:ext uri="{FF2B5EF4-FFF2-40B4-BE49-F238E27FC236}">
                <a16:creationId xmlns:a16="http://schemas.microsoft.com/office/drawing/2014/main" id="{41C8ACCE-A109-4920-9264-1DB47602B9D8}"/>
              </a:ext>
            </a:extLst>
          </p:cNvPr>
          <p:cNvSpPr>
            <a:spLocks xmlns:a="http://schemas.openxmlformats.org/drawingml/2006/main" noGrp="1"/>
          </p:cNvSpPr>
          <p:nvPr/>
        </p:nvSpPr>
        <p:spPr>
          <a:xfrm xmlns:a="http://schemas.openxmlformats.org/drawingml/2006/main">
            <a:off x="1104900" y="4495800"/>
            <a:ext cx="74199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Werk verder aan de gemengde opgaven, stel vragen en kijk je antwoorden na.</a:t>
            </a:r>
          </a:p>
        </p:txBody>
      </p:sp>
      <p:sp>
        <p:nvSpPr>
          <p:cNvPr id="13" name="route-number-5">
            <a:extLst xmlns:a="http://schemas.openxmlformats.org/drawingml/2006/main">
              <a:ext uri="{FF2B5EF4-FFF2-40B4-BE49-F238E27FC236}">
                <a16:creationId xmlns:a16="http://schemas.microsoft.com/office/drawing/2014/main" id="{CE9B75C4-1FAA-4329-8CDA-0035D555979B}"/>
              </a:ext>
            </a:extLst>
          </p:cNvPr>
          <p:cNvSpPr>
            <a:spLocks xmlns:a="http://schemas.openxmlformats.org/drawingml/2006/main" noGrp="1"/>
          </p:cNvSpPr>
          <p:nvPr/>
        </p:nvSpPr>
        <p:spPr>
          <a:xfrm xmlns:a="http://schemas.openxmlformats.org/drawingml/2006/main">
            <a:off x="571500" y="5562600"/>
            <a:ext cx="4572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5.</a:t>
            </a:r>
          </a:p>
        </p:txBody>
      </p:sp>
      <p:sp>
        <p:nvSpPr>
          <p:cNvPr id="14" name="route-5">
            <a:extLst xmlns:a="http://schemas.openxmlformats.org/drawingml/2006/main">
              <a:ext uri="{FF2B5EF4-FFF2-40B4-BE49-F238E27FC236}">
                <a16:creationId xmlns:a16="http://schemas.microsoft.com/office/drawing/2014/main" id="{7F7B3702-23AC-4D98-98CF-BC2241CD058D}"/>
              </a:ext>
            </a:extLst>
          </p:cNvPr>
          <p:cNvSpPr>
            <a:spLocks xmlns:a="http://schemas.openxmlformats.org/drawingml/2006/main" noGrp="1"/>
          </p:cNvSpPr>
          <p:nvPr/>
        </p:nvSpPr>
        <p:spPr>
          <a:xfrm xmlns:a="http://schemas.openxmlformats.org/drawingml/2006/main">
            <a:off x="1104900" y="5562600"/>
            <a:ext cx="74199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Klaar? Werk aan een ander vak. Geen devices.</a:t>
            </a:r>
          </a:p>
        </p:txBody>
      </p:sp>
      <p:sp>
        <p:nvSpPr>
          <p:cNvPr id="15" name="route-number-6">
            <a:extLst xmlns:a="http://schemas.openxmlformats.org/drawingml/2006/main">
              <a:ext uri="{FF2B5EF4-FFF2-40B4-BE49-F238E27FC236}">
                <a16:creationId xmlns:a16="http://schemas.microsoft.com/office/drawing/2014/main" id="{E7A0C7CF-9A73-4FA3-ABCF-6C57D607705B}"/>
              </a:ext>
            </a:extLst>
          </p:cNvPr>
          <p:cNvSpPr>
            <a:spLocks xmlns:a="http://schemas.openxmlformats.org/drawingml/2006/main" noGrp="1"/>
          </p:cNvSpPr>
          <p:nvPr/>
        </p:nvSpPr>
        <p:spPr>
          <a:xfrm xmlns:a="http://schemas.openxmlformats.org/drawingml/2006/main">
            <a:off x="571500" y="6486525"/>
            <a:ext cx="457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6.</a:t>
            </a:r>
          </a:p>
        </p:txBody>
      </p:sp>
      <p:sp>
        <p:nvSpPr>
          <p:cNvPr id="16" name="route-6">
            <a:extLst xmlns:a="http://schemas.openxmlformats.org/drawingml/2006/main">
              <a:ext uri="{FF2B5EF4-FFF2-40B4-BE49-F238E27FC236}">
                <a16:creationId xmlns:a16="http://schemas.microsoft.com/office/drawing/2014/main" id="{26F07AAE-3523-42FB-B121-AFDD09BF9F03}"/>
              </a:ext>
            </a:extLst>
          </p:cNvPr>
          <p:cNvSpPr>
            <a:spLocks xmlns:a="http://schemas.openxmlformats.org/drawingml/2006/main" noGrp="1"/>
          </p:cNvSpPr>
          <p:nvPr/>
        </p:nvSpPr>
        <p:spPr>
          <a:xfrm xmlns:a="http://schemas.openxmlformats.org/drawingml/2006/main">
            <a:off x="1104900" y="6486525"/>
            <a:ext cx="74199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Bespreken van de doelopgave: opgave 40.</a:t>
            </a:r>
          </a:p>
        </p:txBody>
      </p:sp>
      <p:sp>
        <p:nvSpPr>
          <p:cNvPr id="17" name="route-number-7">
            <a:extLst xmlns:a="http://schemas.openxmlformats.org/drawingml/2006/main">
              <a:ext uri="{FF2B5EF4-FFF2-40B4-BE49-F238E27FC236}">
                <a16:creationId xmlns:a16="http://schemas.microsoft.com/office/drawing/2014/main" id="{4481D68B-B063-41FF-A86D-A78714A3F5F1}"/>
              </a:ext>
            </a:extLst>
          </p:cNvPr>
          <p:cNvSpPr>
            <a:spLocks xmlns:a="http://schemas.openxmlformats.org/drawingml/2006/main" noGrp="1"/>
          </p:cNvSpPr>
          <p:nvPr/>
        </p:nvSpPr>
        <p:spPr>
          <a:xfrm xmlns:a="http://schemas.openxmlformats.org/drawingml/2006/main">
            <a:off x="571500" y="7334250"/>
            <a:ext cx="4572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7.</a:t>
            </a:r>
          </a:p>
        </p:txBody>
      </p:sp>
      <p:sp>
        <p:nvSpPr>
          <p:cNvPr id="18" name="route-7">
            <a:extLst xmlns:a="http://schemas.openxmlformats.org/drawingml/2006/main">
              <a:ext uri="{FF2B5EF4-FFF2-40B4-BE49-F238E27FC236}">
                <a16:creationId xmlns:a16="http://schemas.microsoft.com/office/drawing/2014/main" id="{081BE76D-F228-4EC9-86F8-45F482857AD4}"/>
              </a:ext>
            </a:extLst>
          </p:cNvPr>
          <p:cNvSpPr>
            <a:spLocks xmlns:a="http://schemas.openxmlformats.org/drawingml/2006/main" noGrp="1"/>
          </p:cNvSpPr>
          <p:nvPr/>
        </p:nvSpPr>
        <p:spPr>
          <a:xfrm xmlns:a="http://schemas.openxmlformats.org/drawingml/2006/main">
            <a:off x="1104900" y="7334250"/>
            <a:ext cx="74199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Zet je huiswerk in je agenda.</a:t>
            </a:r>
          </a:p>
        </p:txBody>
      </p:sp>
      <p:sp>
        <p:nvSpPr>
          <p:cNvPr id="19" name="Lesdoelen">
            <a:extLst xmlns:a="http://schemas.openxmlformats.org/drawingml/2006/main">
              <a:ext uri="{FF2B5EF4-FFF2-40B4-BE49-F238E27FC236}">
                <a16:creationId xmlns:a16="http://schemas.microsoft.com/office/drawing/2014/main" id="{FC5265FA-D8BF-402C-89AC-33C10805ABBF}"/>
              </a:ext>
            </a:extLst>
          </p:cNvPr>
          <p:cNvSpPr>
            <a:spLocks xmlns:a="http://schemas.openxmlformats.org/drawingml/2006/main" noGrp="1"/>
          </p:cNvSpPr>
          <p:nvPr/>
        </p:nvSpPr>
        <p:spPr>
          <a:xfrm xmlns:a="http://schemas.openxmlformats.org/drawingml/2006/main">
            <a:off x="9258300" y="1866900"/>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Lesdoelen</a:t>
            </a:r>
          </a:p>
        </p:txBody>
      </p:sp>
      <p:sp>
        <p:nvSpPr>
          <p:cNvPr id="20" name="overview-goals">
            <a:extLst xmlns:a="http://schemas.openxmlformats.org/drawingml/2006/main">
              <a:ext uri="{FF2B5EF4-FFF2-40B4-BE49-F238E27FC236}">
                <a16:creationId xmlns:a16="http://schemas.microsoft.com/office/drawing/2014/main" id="{E013F8E3-355F-4F7C-8C4E-968F35E78931}"/>
              </a:ext>
            </a:extLst>
          </p:cNvPr>
          <p:cNvSpPr>
            <a:spLocks xmlns:a="http://schemas.openxmlformats.org/drawingml/2006/main" noGrp="1"/>
          </p:cNvSpPr>
          <p:nvPr/>
        </p:nvSpPr>
        <p:spPr>
          <a:xfrm xmlns:a="http://schemas.openxmlformats.org/drawingml/2006/main">
            <a:off x="9258300" y="2409825"/>
            <a:ext cx="54102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Bronnen en eenheden kiezen.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Percentages en evenwicht berekenen.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Kosten en werkgelegenheid verklaren.</a:t>
            </a:r>
          </a:p>
        </p:txBody>
      </p:sp>
      <p:sp>
        <p:nvSpPr>
          <p:cNvPr id="21" name="">
            <a:extLst xmlns:a="http://schemas.openxmlformats.org/drawingml/2006/main">
              <a:ext uri="{FF2B5EF4-FFF2-40B4-BE49-F238E27FC236}">
                <a16:creationId xmlns:a16="http://schemas.microsoft.com/office/drawing/2014/main" id="{3889AA43-CE8A-48FB-A70B-9B66B16602C8}"/>
              </a:ext>
            </a:extLst>
          </p:cNvPr>
          <p:cNvSpPr>
            <a:spLocks xmlns:a="http://schemas.openxmlformats.org/drawingml/2006/main" noGrp="1"/>
          </p:cNvSpPr>
          <p:nvPr/>
        </p:nvSpPr>
        <p:spPr>
          <a:xfrm xmlns:a="http://schemas.openxmlformats.org/drawingml/2006/main">
            <a:off x="9258300" y="3790950"/>
            <a:ext cx="5410200" cy="0"/>
          </a:xfrm>
          <a:prstGeom xmlns:a="http://schemas.openxmlformats.org/drawingml/2006/main" prst="line">
            <a:avLst/>
          </a:prstGeom>
          <a:ln xmlns:a="http://schemas.openxmlformats.org/drawingml/2006/main" w="19050">
            <a:solidFill>
              <a:srgbClr val="C6D2DB"/>
            </a:solidFill>
          </a:ln>
        </p:spPr>
      </p:sp>
      <p:sp>
        <p:nvSpPr>
          <p:cNvPr id="22" name="Startopdracht">
            <a:extLst xmlns:a="http://schemas.openxmlformats.org/drawingml/2006/main">
              <a:ext uri="{FF2B5EF4-FFF2-40B4-BE49-F238E27FC236}">
                <a16:creationId xmlns:a16="http://schemas.microsoft.com/office/drawing/2014/main" id="{9841238A-36BE-4725-BE0C-C343E0282D81}"/>
              </a:ext>
            </a:extLst>
          </p:cNvPr>
          <p:cNvSpPr>
            <a:spLocks xmlns:a="http://schemas.openxmlformats.org/drawingml/2006/main" noGrp="1"/>
          </p:cNvSpPr>
          <p:nvPr/>
        </p:nvSpPr>
        <p:spPr>
          <a:xfrm xmlns:a="http://schemas.openxmlformats.org/drawingml/2006/main">
            <a:off x="9258300" y="404812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Startopdracht</a:t>
            </a:r>
          </a:p>
        </p:txBody>
      </p:sp>
      <p:sp>
        <p:nvSpPr>
          <p:cNvPr id="23" name="overview-start">
            <a:extLst xmlns:a="http://schemas.openxmlformats.org/drawingml/2006/main">
              <a:ext uri="{FF2B5EF4-FFF2-40B4-BE49-F238E27FC236}">
                <a16:creationId xmlns:a16="http://schemas.microsoft.com/office/drawing/2014/main" id="{3ACBC648-6401-40A9-9479-4630F131030C}"/>
              </a:ext>
            </a:extLst>
          </p:cNvPr>
          <p:cNvSpPr>
            <a:spLocks xmlns:a="http://schemas.openxmlformats.org/drawingml/2006/main" noGrp="1"/>
          </p:cNvSpPr>
          <p:nvPr/>
        </p:nvSpPr>
        <p:spPr>
          <a:xfrm xmlns:a="http://schemas.openxmlformats.org/drawingml/2006/main">
            <a:off x="9258300" y="4600575"/>
            <a:ext cx="538162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Pagina 150 · Opgave 37</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Terugblik op §§4.3.1–4.3.3</a:t>
            </a:r>
          </a:p>
        </p:txBody>
      </p:sp>
      <p:sp>
        <p:nvSpPr>
          <p:cNvPr id="24" name="">
            <a:extLst xmlns:a="http://schemas.openxmlformats.org/drawingml/2006/main">
              <a:ext uri="{FF2B5EF4-FFF2-40B4-BE49-F238E27FC236}">
                <a16:creationId xmlns:a16="http://schemas.microsoft.com/office/drawing/2014/main" id="{D5CF6084-D43B-41D3-A091-FB8755C29D02}"/>
              </a:ext>
            </a:extLst>
          </p:cNvPr>
          <p:cNvSpPr>
            <a:spLocks xmlns:a="http://schemas.openxmlformats.org/drawingml/2006/main" noGrp="1"/>
          </p:cNvSpPr>
          <p:nvPr/>
        </p:nvSpPr>
        <p:spPr>
          <a:xfrm xmlns:a="http://schemas.openxmlformats.org/drawingml/2006/main">
            <a:off x="9258300" y="5657850"/>
            <a:ext cx="5410200" cy="0"/>
          </a:xfrm>
          <a:prstGeom xmlns:a="http://schemas.openxmlformats.org/drawingml/2006/main" prst="line">
            <a:avLst/>
          </a:prstGeom>
          <a:ln xmlns:a="http://schemas.openxmlformats.org/drawingml/2006/main" w="19050">
            <a:solidFill>
              <a:srgbClr val="C6D2DB"/>
            </a:solidFill>
          </a:ln>
        </p:spPr>
      </p:sp>
      <p:sp>
        <p:nvSpPr>
          <p:cNvPr id="25" name="Huiswerk">
            <a:extLst xmlns:a="http://schemas.openxmlformats.org/drawingml/2006/main">
              <a:ext uri="{FF2B5EF4-FFF2-40B4-BE49-F238E27FC236}">
                <a16:creationId xmlns:a16="http://schemas.microsoft.com/office/drawing/2014/main" id="{3F819F93-DF5B-4110-97C5-B0C435B4FE65}"/>
              </a:ext>
            </a:extLst>
          </p:cNvPr>
          <p:cNvSpPr>
            <a:spLocks xmlns:a="http://schemas.openxmlformats.org/drawingml/2006/main" noGrp="1"/>
          </p:cNvSpPr>
          <p:nvPr/>
        </p:nvSpPr>
        <p:spPr>
          <a:xfrm xmlns:a="http://schemas.openxmlformats.org/drawingml/2006/main">
            <a:off x="9258300" y="587692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Huiswerk</a:t>
            </a:r>
          </a:p>
        </p:txBody>
      </p:sp>
      <p:sp>
        <p:nvSpPr>
          <p:cNvPr id="26" name="overview-homework">
            <a:extLst xmlns:a="http://schemas.openxmlformats.org/drawingml/2006/main">
              <a:ext uri="{FF2B5EF4-FFF2-40B4-BE49-F238E27FC236}">
                <a16:creationId xmlns:a16="http://schemas.microsoft.com/office/drawing/2014/main" id="{1BF6BCBF-9598-4CEC-A3F4-18A7B11C9199}"/>
              </a:ext>
            </a:extLst>
          </p:cNvPr>
          <p:cNvSpPr>
            <a:spLocks xmlns:a="http://schemas.openxmlformats.org/drawingml/2006/main" noGrp="1"/>
          </p:cNvSpPr>
          <p:nvPr/>
        </p:nvSpPr>
        <p:spPr>
          <a:xfrm xmlns:a="http://schemas.openxmlformats.org/drawingml/2006/main">
            <a:off x="9258300" y="6419850"/>
            <a:ext cx="538162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§4.3.5 · Opgaven 37–41</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Voorbereiding: 37–39</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Doelopgave: 40 · Bonus: 41</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Maken en nakijken</a:t>
            </a:r>
          </a:p>
        </p:txBody>
      </p:sp>
      <p:sp>
        <p:nvSpPr>
          <p:cNvPr id="27" name="§4.3.5 · Gemengde opgaven: arbeidsmarkt">
            <a:extLst xmlns:a="http://schemas.openxmlformats.org/drawingml/2006/main">
              <a:ext uri="{FF2B5EF4-FFF2-40B4-BE49-F238E27FC236}">
                <a16:creationId xmlns:a16="http://schemas.microsoft.com/office/drawing/2014/main" id="{19FD4A5A-64FE-4A4A-A187-C36F5C2F3B11}"/>
              </a:ext>
            </a:extLst>
          </p:cNvPr>
          <p:cNvSpPr>
            <a:spLocks xmlns:a="http://schemas.openxmlformats.org/drawingml/2006/main" noGrp="1"/>
          </p:cNvSpPr>
          <p:nvPr/>
        </p:nvSpPr>
        <p:spPr>
          <a:xfrm xmlns:a="http://schemas.openxmlformats.org/drawingml/2006/main">
            <a:off x="571500" y="8077200"/>
            <a:ext cx="1285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§4.3.5 · Gemengde opgaven: arbeidsmarkt</a:t>
            </a:r>
          </a:p>
        </p:txBody>
      </p:sp>
      <p:sp>
        <p:nvSpPr>
          <p:cNvPr id="28" name="5">
            <a:extLst xmlns:a="http://schemas.openxmlformats.org/drawingml/2006/main">
              <a:ext uri="{FF2B5EF4-FFF2-40B4-BE49-F238E27FC236}">
                <a16:creationId xmlns:a16="http://schemas.microsoft.com/office/drawing/2014/main" id="{5D753D9F-B1F2-477E-B51F-2CB5F1F8995B}"/>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5</a:t>
            </a:r>
          </a:p>
        </p:txBody>
      </p:sp>
    </p:spTree>
    <p:extLst>
      <p:ext uri="{BB962C8B-B14F-4D97-AF65-F5344CB8AC3E}">
        <p14:creationId xmlns:p14="http://schemas.microsoft.com/office/powerpoint/2010/main" val="210399112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Opgave 40 · Bron A: inwoners van 15 tot 75 jaar">
            <a:extLst xmlns:a="http://schemas.openxmlformats.org/drawingml/2006/main">
              <a:ext uri="{FF2B5EF4-FFF2-40B4-BE49-F238E27FC236}">
                <a16:creationId xmlns:a16="http://schemas.microsoft.com/office/drawing/2014/main" id="{238B1AB8-B201-4173-BC2D-64868F72795B}"/>
              </a:ext>
            </a:extLst>
          </p:cNvPr>
          <p:cNvSpPr>
            <a:spLocks xmlns:a="http://schemas.openxmlformats.org/drawingml/2006/main" noGrp="1"/>
          </p:cNvSpPr>
          <p:nvPr/>
        </p:nvSpPr>
        <p:spPr>
          <a:xfrm xmlns:a="http://schemas.openxmlformats.org/drawingml/2006/main">
            <a:off x="571500" y="400050"/>
            <a:ext cx="14097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40 · Bron A: inwoners van 15 tot 75 jaar</a:t>
            </a:r>
          </a:p>
        </p:txBody>
      </p:sp>
      <p:sp>
        <p:nvSpPr>
          <p:cNvPr id="2" name="">
            <a:extLst xmlns:a="http://schemas.openxmlformats.org/drawingml/2006/main">
              <a:ext uri="{FF2B5EF4-FFF2-40B4-BE49-F238E27FC236}">
                <a16:creationId xmlns:a16="http://schemas.microsoft.com/office/drawing/2014/main" id="{0E09F98B-4033-4F3A-AABB-2C03FAF87ACA}"/>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Opgave 40 · Bronnen p. 152 · Vragen p. 153">
            <a:extLst xmlns:a="http://schemas.openxmlformats.org/drawingml/2006/main">
              <a:ext uri="{FF2B5EF4-FFF2-40B4-BE49-F238E27FC236}">
                <a16:creationId xmlns:a16="http://schemas.microsoft.com/office/drawing/2014/main" id="{E2FDA5DE-ABC3-4384-BCF5-2BD260AE8EFB}"/>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Opgave 40 · Bronnen p. 152 · Vragen p. 153</a:t>
            </a:r>
          </a:p>
        </p:txBody>
      </p:sp>
      <p:sp>
        <p:nvSpPr>
          <p:cNvPr id="4" name="6">
            <a:extLst xmlns:a="http://schemas.openxmlformats.org/drawingml/2006/main">
              <a:ext uri="{FF2B5EF4-FFF2-40B4-BE49-F238E27FC236}">
                <a16:creationId xmlns:a16="http://schemas.microsoft.com/office/drawing/2014/main" id="{C67BDAAA-4D48-41AF-8CB1-B263FFD2913C}"/>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6</a:t>
            </a:r>
          </a:p>
        </p:txBody>
      </p:sp>
      <p:sp>
        <p:nvSpPr>
          <p:cNvPr id="5" name="Werk in Havenregio">
            <a:extLst xmlns:a="http://schemas.openxmlformats.org/drawingml/2006/main">
              <a:ext uri="{FF2B5EF4-FFF2-40B4-BE49-F238E27FC236}">
                <a16:creationId xmlns:a16="http://schemas.microsoft.com/office/drawing/2014/main" id="{B8DDABCC-8BE2-4EF7-A3B0-C121182FE3A7}"/>
              </a:ext>
            </a:extLst>
          </p:cNvPr>
          <p:cNvSpPr>
            <a:spLocks xmlns:a="http://schemas.openxmlformats.org/drawingml/2006/main" noGrp="1"/>
          </p:cNvSpPr>
          <p:nvPr/>
        </p:nvSpPr>
        <p:spPr>
          <a:xfrm xmlns:a="http://schemas.openxmlformats.org/drawingml/2006/main">
            <a:off x="571500" y="1771650"/>
            <a:ext cx="140970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7658A"/>
                </a:solidFill>
                <a:latin typeface="Arial"/>
                <a:ea typeface="Arial"/>
                <a:cs typeface="Arial"/>
              </a:defRPr>
            </a:pPr>
            <a:r>
              <a:rPr sz="2925" b="1">
                <a:solidFill>
                  <a:srgbClr val="17658A"/>
                </a:solidFill>
                <a:latin typeface="Arial"/>
                <a:ea typeface="Arial"/>
                <a:cs typeface="Arial"/>
              </a:rPr>
              <a:t>Werk in Havenregio</a:t>
            </a:r>
          </a:p>
        </p:txBody>
      </p:sp>
      <p:sp>
        <p:nvSpPr>
          <p:cNvPr id="6" name="Bron A is een regiotelling. Bron B is een apart vereenvoudig">
            <a:extLst xmlns:a="http://schemas.openxmlformats.org/drawingml/2006/main">
              <a:ext uri="{FF2B5EF4-FFF2-40B4-BE49-F238E27FC236}">
                <a16:creationId xmlns:a16="http://schemas.microsoft.com/office/drawing/2014/main" id="{01D402AA-5699-4C04-B701-499A6F9EB256}"/>
              </a:ext>
            </a:extLst>
          </p:cNvPr>
          <p:cNvSpPr>
            <a:spLocks xmlns:a="http://schemas.openxmlformats.org/drawingml/2006/main" noGrp="1"/>
          </p:cNvSpPr>
          <p:nvPr/>
        </p:nvSpPr>
        <p:spPr>
          <a:xfrm xmlns:a="http://schemas.openxmlformats.org/drawingml/2006/main">
            <a:off x="571500" y="2581275"/>
            <a:ext cx="14097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0">
                <a:solidFill>
                  <a:srgbClr val="183247"/>
                </a:solidFill>
                <a:latin typeface="Arial"/>
                <a:ea typeface="Arial"/>
                <a:cs typeface="Arial"/>
              </a:defRPr>
            </a:pPr>
            <a:r>
              <a:rPr sz="2775" b="0">
                <a:solidFill>
                  <a:srgbClr val="183247"/>
                </a:solidFill>
                <a:latin typeface="Arial"/>
                <a:ea typeface="Arial"/>
                <a:cs typeface="Arial"/>
              </a:rPr>
              <a:t>Bron A is een regiotelling. Bron B is een apart vereenvoudigd</a:t>
            </a:r>
          </a:p>
          <a:p xmlns:a="http://schemas.openxmlformats.org/drawingml/2006/main">
            <a:pPr algn="l">
              <a:defRPr sz="2775" b="0">
                <a:solidFill>
                  <a:srgbClr val="183247"/>
                </a:solidFill>
                <a:latin typeface="Arial"/>
                <a:ea typeface="Arial"/>
                <a:cs typeface="Arial"/>
              </a:defRPr>
            </a:pPr>
            <a:r>
              <a:rPr sz="2775" b="0">
                <a:solidFill>
                  <a:srgbClr val="183247"/>
                </a:solidFill>
                <a:latin typeface="Arial"/>
                <a:ea typeface="Arial"/>
                <a:cs typeface="Arial"/>
              </a:rPr>
              <a:t>sectormodel. Bron C beschrijft een afzonderlijk bedrijf.</a:t>
            </a:r>
          </a:p>
        </p:txBody>
      </p:sp>
      <p:graphicFrame>
        <p:nvGraphicFramePr>
          <p:cNvPr id="14" name=""/>
          <p:cNvGraphicFramePr/>
          <p:nvPr/>
        </p:nvGraphicFramePr>
        <p:xfrm>
          <a:off xmlns:a="http://schemas.openxmlformats.org/drawingml/2006/main" x="571500" y="4114800"/>
          <a:ext xmlns:a="http://schemas.openxmlformats.org/drawingml/2006/main" cx="14097000" cy="3086100"/>
        </p:xfrm>
        <a:graphic xmlns:a="http://schemas.openxmlformats.org/drawingml/2006/main">
          <a:graphicData uri="http://schemas.openxmlformats.org/drawingml/2006/table">
            <a:tbl>
              <a:tblPr/>
              <a:tblGrid>
                <a:gridCol w="11049000"/>
                <a:gridCol w="3048000"/>
              </a:tblGrid>
              <a:tr h="771525">
                <a:tc>
                  <a:txBody>
                    <a:bodyPr lIns="171450" tIns="95250" rIns="152400" bIns="95250"/>
                    <a:lstStyle/>
                    <a:p>
                      <a:r>
                        <a:rPr sz="2400" b="1">
                          <a:solidFill>
                            <a:srgbClr val="FFFFFF"/>
                          </a:solidFill>
                          <a:latin typeface="Arial"/>
                          <a:ea typeface="Arial"/>
                          <a:cs typeface="Arial"/>
                        </a:rPr>
                        <a:t>Groep</a:t>
                      </a:r>
                    </a:p>
                  </a:txBody>
                  <a:tcPr marL="91440" marR="91440" marT="45720" marB="45720" anchor="ctr">
                    <a:solidFill>
                      <a:srgbClr val="183247"/>
                    </a:solidFill>
                  </a:tcPr>
                </a:tc>
                <a:tc>
                  <a:txBody>
                    <a:bodyPr lIns="171450" tIns="95250" rIns="152400" bIns="95250"/>
                    <a:lstStyle/>
                    <a:p>
                      <a:r>
                        <a:rPr sz="2400" b="1">
                          <a:solidFill>
                            <a:srgbClr val="FFFFFF"/>
                          </a:solidFill>
                          <a:latin typeface="Arial"/>
                          <a:ea typeface="Arial"/>
                          <a:cs typeface="Arial"/>
                        </a:rPr>
                        <a:t>Personen</a:t>
                      </a:r>
                    </a:p>
                  </a:txBody>
                  <a:tcPr marL="91440" marR="91440" marT="45720" marB="45720" anchor="ctr">
                    <a:solidFill>
                      <a:srgbClr val="183247"/>
                    </a:solidFill>
                  </a:tcPr>
                </a:tc>
              </a:tr>
              <a:tr h="771525">
                <a:tc>
                  <a:txBody>
                    <a:bodyPr lIns="171450" tIns="95250" rIns="152400" bIns="95250"/>
                    <a:lstStyle/>
                    <a:p>
                      <a:r>
                        <a:rPr sz="2400" b="0">
                          <a:solidFill>
                            <a:srgbClr val="183247"/>
                          </a:solidFill>
                          <a:latin typeface="Arial"/>
                          <a:ea typeface="Arial"/>
                          <a:cs typeface="Arial"/>
                        </a:rPr>
                        <a:t>Betaald werk</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12.600</a:t>
                      </a:r>
                    </a:p>
                  </a:txBody>
                  <a:tcPr marL="91440" marR="91440" marT="45720" marB="45720" anchor="ctr">
                    <a:solidFill>
                      <a:srgbClr val="FFFFFF"/>
                    </a:solidFill>
                  </a:tcPr>
                </a:tc>
              </a:tr>
              <a:tr h="771525">
                <a:tc>
                  <a:txBody>
                    <a:bodyPr lIns="171450" tIns="95250" rIns="152400" bIns="95250"/>
                    <a:lstStyle/>
                    <a:p>
                      <a:r>
                        <a:rPr sz="2400" b="0">
                          <a:solidFill>
                            <a:srgbClr val="183247"/>
                          </a:solidFill>
                          <a:latin typeface="Arial"/>
                          <a:ea typeface="Arial"/>
                          <a:cs typeface="Arial"/>
                        </a:rPr>
                        <a:t>Geen betaald werk, recent gezocht en direct beschikbaar</a:t>
                      </a:r>
                    </a:p>
                  </a:txBody>
                  <a:tcPr marL="91440" marR="91440" marT="45720" marB="45720" anchor="ctr">
                    <a:solidFill>
                      <a:srgbClr val="EFF4F7"/>
                    </a:solidFill>
                  </a:tcPr>
                </a:tc>
                <a:tc>
                  <a:txBody>
                    <a:bodyPr lIns="171450" tIns="95250" rIns="152400" bIns="95250"/>
                    <a:lstStyle/>
                    <a:p>
                      <a:r>
                        <a:rPr sz="2400" b="0">
                          <a:solidFill>
                            <a:srgbClr val="183247"/>
                          </a:solidFill>
                          <a:latin typeface="Arial"/>
                          <a:ea typeface="Arial"/>
                          <a:cs typeface="Arial"/>
                        </a:rPr>
                        <a:t>1.400</a:t>
                      </a:r>
                    </a:p>
                  </a:txBody>
                  <a:tcPr marL="91440" marR="91440" marT="45720" marB="45720" anchor="ctr">
                    <a:solidFill>
                      <a:srgbClr val="EFF4F7"/>
                    </a:solidFill>
                  </a:tcPr>
                </a:tc>
              </a:tr>
              <a:tr h="771525">
                <a:tc>
                  <a:txBody>
                    <a:bodyPr lIns="171450" tIns="95250" rIns="152400" bIns="95250"/>
                    <a:lstStyle/>
                    <a:p>
                      <a:r>
                        <a:rPr sz="2400" b="0">
                          <a:solidFill>
                            <a:srgbClr val="183247"/>
                          </a:solidFill>
                          <a:latin typeface="Arial"/>
                          <a:ea typeface="Arial"/>
                          <a:cs typeface="Arial"/>
                        </a:rPr>
                        <a:t>Niet-beroepsbevolking</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6.000</a:t>
                      </a:r>
                    </a:p>
                  </a:txBody>
                  <a:tcPr marL="91440" marR="91440" marT="45720" marB="45720" anchor="ctr">
                    <a:solidFill>
                      <a:srgbClr val="FFFFFF"/>
                    </a:solidFill>
                  </a:tcPr>
                </a:tc>
              </a:tr>
            </a:tbl>
          </a:graphicData>
        </a:graphic>
      </p:graphicFrame>
    </p:spTree>
    <p:extLst>
      <p:ext uri="{BB962C8B-B14F-4D97-AF65-F5344CB8AC3E}">
        <p14:creationId xmlns:p14="http://schemas.microsoft.com/office/powerpoint/2010/main" val="141835815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Opgave 40 · Bron B: verpakkingssector">
            <a:extLst xmlns:a="http://schemas.openxmlformats.org/drawingml/2006/main">
              <a:ext uri="{FF2B5EF4-FFF2-40B4-BE49-F238E27FC236}">
                <a16:creationId xmlns:a16="http://schemas.microsoft.com/office/drawing/2014/main" id="{FAE7BED1-2D46-45F0-8163-01203D9122C7}"/>
              </a:ext>
            </a:extLst>
          </p:cNvPr>
          <p:cNvSpPr>
            <a:spLocks xmlns:a="http://schemas.openxmlformats.org/drawingml/2006/main" noGrp="1"/>
          </p:cNvSpPr>
          <p:nvPr/>
        </p:nvSpPr>
        <p:spPr>
          <a:xfrm xmlns:a="http://schemas.openxmlformats.org/drawingml/2006/main">
            <a:off x="571500" y="400050"/>
            <a:ext cx="14097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40 · Bron B: verpakkingssector</a:t>
            </a:r>
          </a:p>
        </p:txBody>
      </p:sp>
      <p:sp>
        <p:nvSpPr>
          <p:cNvPr id="2" name="">
            <a:extLst xmlns:a="http://schemas.openxmlformats.org/drawingml/2006/main">
              <a:ext uri="{FF2B5EF4-FFF2-40B4-BE49-F238E27FC236}">
                <a16:creationId xmlns:a16="http://schemas.microsoft.com/office/drawing/2014/main" id="{0BFF37FC-F6AE-404F-8B01-E793B01EB90F}"/>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Opgave 40 · Bronnen p. 152 · Vragen p. 153">
            <a:extLst xmlns:a="http://schemas.openxmlformats.org/drawingml/2006/main">
              <a:ext uri="{FF2B5EF4-FFF2-40B4-BE49-F238E27FC236}">
                <a16:creationId xmlns:a16="http://schemas.microsoft.com/office/drawing/2014/main" id="{508DAAA5-8035-4933-AD6D-6F22390A0C8D}"/>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Opgave 40 · Bronnen p. 152 · Vragen p. 153</a:t>
            </a:r>
          </a:p>
        </p:txBody>
      </p:sp>
      <p:sp>
        <p:nvSpPr>
          <p:cNvPr id="4" name="7">
            <a:extLst xmlns:a="http://schemas.openxmlformats.org/drawingml/2006/main">
              <a:ext uri="{FF2B5EF4-FFF2-40B4-BE49-F238E27FC236}">
                <a16:creationId xmlns:a16="http://schemas.microsoft.com/office/drawing/2014/main" id="{BB8A108C-124B-4417-8566-48B27E23A14B}"/>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7</a:t>
            </a:r>
          </a:p>
        </p:txBody>
      </p:sp>
      <p:sp>
        <p:nvSpPr>
          <p:cNvPr id="5" name="Oorspronkelijk: Lᵥ = 240 − 10w; Lₐ = −40 + 10w">
            <a:extLst xmlns:a="http://schemas.openxmlformats.org/drawingml/2006/main">
              <a:ext uri="{FF2B5EF4-FFF2-40B4-BE49-F238E27FC236}">
                <a16:creationId xmlns:a16="http://schemas.microsoft.com/office/drawing/2014/main" id="{F022F66F-FF4D-4821-8F94-888AD524730F}"/>
              </a:ext>
            </a:extLst>
          </p:cNvPr>
          <p:cNvSpPr>
            <a:spLocks xmlns:a="http://schemas.openxmlformats.org/drawingml/2006/main" noGrp="1"/>
          </p:cNvSpPr>
          <p:nvPr/>
        </p:nvSpPr>
        <p:spPr>
          <a:xfrm xmlns:a="http://schemas.openxmlformats.org/drawingml/2006/main">
            <a:off x="571500" y="1857375"/>
            <a:ext cx="14097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7658A"/>
                </a:solidFill>
                <a:latin typeface="Arial"/>
                <a:ea typeface="Arial"/>
                <a:cs typeface="Arial"/>
              </a:defRPr>
            </a:pPr>
            <a:r>
              <a:rPr sz="3150" b="1">
                <a:solidFill>
                  <a:srgbClr val="17658A"/>
                </a:solidFill>
                <a:latin typeface="Arial"/>
                <a:ea typeface="Arial"/>
                <a:cs typeface="Arial"/>
              </a:rPr>
              <a:t>Oorspronkelijk: Lᵥ = 240 − 10w; Lₐ = −40 + 10w</a:t>
            </a:r>
          </a:p>
        </p:txBody>
      </p:sp>
      <p:sp>
        <p:nvSpPr>
          <p:cNvPr id="6" name="Door extra buitenlandse orders wordt de vraag Lᵥ = 280 − 10w">
            <a:extLst xmlns:a="http://schemas.openxmlformats.org/drawingml/2006/main">
              <a:ext uri="{FF2B5EF4-FFF2-40B4-BE49-F238E27FC236}">
                <a16:creationId xmlns:a16="http://schemas.microsoft.com/office/drawing/2014/main" id="{8693D9F1-3D87-4305-A3B5-57C851FEC8A3}"/>
              </a:ext>
            </a:extLst>
          </p:cNvPr>
          <p:cNvSpPr>
            <a:spLocks xmlns:a="http://schemas.openxmlformats.org/drawingml/2006/main" noGrp="1"/>
          </p:cNvSpPr>
          <p:nvPr/>
        </p:nvSpPr>
        <p:spPr>
          <a:xfrm xmlns:a="http://schemas.openxmlformats.org/drawingml/2006/main">
            <a:off x="571500" y="3028950"/>
            <a:ext cx="140970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a:solidFill>
                  <a:srgbClr val="183247"/>
                </a:solidFill>
                <a:latin typeface="Arial"/>
                <a:ea typeface="Arial"/>
                <a:cs typeface="Arial"/>
              </a:defRPr>
            </a:pPr>
            <a:r>
              <a:rPr sz="2850" b="0">
                <a:solidFill>
                  <a:srgbClr val="183247"/>
                </a:solidFill>
                <a:latin typeface="Arial"/>
                <a:ea typeface="Arial"/>
                <a:cs typeface="Arial"/>
              </a:rPr>
              <a:t>Door extra buitenlandse orders wordt de vraag Lᵥ = 280 − 10w.</a:t>
            </a:r>
          </a:p>
          <a:p xmlns:a="http://schemas.openxmlformats.org/drawingml/2006/main">
            <a:pPr algn="l">
              <a:defRPr sz="2850" b="0">
                <a:solidFill>
                  <a:srgbClr val="183247"/>
                </a:solidFill>
                <a:latin typeface="Arial"/>
                <a:ea typeface="Arial"/>
                <a:cs typeface="Arial"/>
              </a:defRPr>
            </a:pPr>
            <a:r>
              <a:rPr sz="2850" b="0">
                <a:solidFill>
                  <a:srgbClr val="183247"/>
                </a:solidFill>
                <a:latin typeface="Arial"/>
                <a:ea typeface="Arial"/>
                <a:cs typeface="Arial"/>
              </a:rPr>
              <a:t>Het aanbod verandert niet.</a:t>
            </a:r>
          </a:p>
        </p:txBody>
      </p:sp>
      <p:sp>
        <p:nvSpPr>
          <p:cNvPr id="7" name="L is het aantal personen met ieder 20 uur per week.&#10;w is het">
            <a:extLst xmlns:a="http://schemas.openxmlformats.org/drawingml/2006/main">
              <a:ext uri="{FF2B5EF4-FFF2-40B4-BE49-F238E27FC236}">
                <a16:creationId xmlns:a16="http://schemas.microsoft.com/office/drawing/2014/main" id="{C65FDE5B-BFBB-4521-AC79-BC4B6DA7520A}"/>
              </a:ext>
            </a:extLst>
          </p:cNvPr>
          <p:cNvSpPr>
            <a:spLocks xmlns:a="http://schemas.openxmlformats.org/drawingml/2006/main" noGrp="1"/>
          </p:cNvSpPr>
          <p:nvPr/>
        </p:nvSpPr>
        <p:spPr>
          <a:xfrm xmlns:a="http://schemas.openxmlformats.org/drawingml/2006/main">
            <a:off x="571500" y="4724400"/>
            <a:ext cx="140970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a:solidFill>
                  <a:srgbClr val="183247"/>
                </a:solidFill>
                <a:latin typeface="Arial"/>
                <a:ea typeface="Arial"/>
                <a:cs typeface="Arial"/>
              </a:defRPr>
            </a:pPr>
            <a:r>
              <a:rPr sz="2850" b="0">
                <a:solidFill>
                  <a:srgbClr val="183247"/>
                </a:solidFill>
                <a:latin typeface="Arial"/>
                <a:ea typeface="Arial"/>
                <a:cs typeface="Arial"/>
              </a:rPr>
              <a:t>L is het aantal personen met ieder 20 uur per week.</a:t>
            </a:r>
          </a:p>
          <a:p xmlns:a="http://schemas.openxmlformats.org/drawingml/2006/main">
            <a:pPr algn="l">
              <a:defRPr sz="2850" b="0">
                <a:solidFill>
                  <a:srgbClr val="183247"/>
                </a:solidFill>
                <a:latin typeface="Arial"/>
                <a:ea typeface="Arial"/>
                <a:cs typeface="Arial"/>
              </a:defRPr>
            </a:pPr>
            <a:r>
              <a:rPr sz="2850" b="0">
                <a:solidFill>
                  <a:srgbClr val="183247"/>
                </a:solidFill>
                <a:latin typeface="Arial"/>
                <a:ea typeface="Arial"/>
                <a:cs typeface="Arial"/>
              </a:rPr>
              <a:t>w is het uurloon in euro. Gebruik € 4 ≤ w ≤ € 24.</a:t>
            </a:r>
          </a:p>
        </p:txBody>
      </p:sp>
      <p:sp>
        <p:nvSpPr>
          <p:cNvPr id="8" name="Werkgevers concurreren, het loon kan vrij aanpassen en alle&#10;">
            <a:extLst xmlns:a="http://schemas.openxmlformats.org/drawingml/2006/main">
              <a:ext uri="{FF2B5EF4-FFF2-40B4-BE49-F238E27FC236}">
                <a16:creationId xmlns:a16="http://schemas.microsoft.com/office/drawing/2014/main" id="{564BAFB4-C895-4E2C-BC80-A1699D9165C6}"/>
              </a:ext>
            </a:extLst>
          </p:cNvPr>
          <p:cNvSpPr>
            <a:spLocks xmlns:a="http://schemas.openxmlformats.org/drawingml/2006/main" noGrp="1"/>
          </p:cNvSpPr>
          <p:nvPr/>
        </p:nvSpPr>
        <p:spPr>
          <a:xfrm xmlns:a="http://schemas.openxmlformats.org/drawingml/2006/main">
            <a:off x="571500" y="6515100"/>
            <a:ext cx="14097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0">
                <a:solidFill>
                  <a:srgbClr val="183247"/>
                </a:solidFill>
                <a:latin typeface="Arial"/>
                <a:ea typeface="Arial"/>
                <a:cs typeface="Arial"/>
              </a:defRPr>
            </a:pPr>
            <a:r>
              <a:rPr sz="2625" b="0">
                <a:solidFill>
                  <a:srgbClr val="183247"/>
                </a:solidFill>
                <a:latin typeface="Arial"/>
                <a:ea typeface="Arial"/>
                <a:cs typeface="Arial"/>
              </a:rPr>
              <a:t>Werkgevers concurreren, het loon kan vrij aanpassen en alle</a:t>
            </a:r>
          </a:p>
          <a:p xmlns:a="http://schemas.openxmlformats.org/drawingml/2006/main">
            <a:pPr algn="l">
              <a:defRPr sz="2625" b="0">
                <a:solidFill>
                  <a:srgbClr val="183247"/>
                </a:solidFill>
                <a:latin typeface="Arial"/>
                <a:ea typeface="Arial"/>
                <a:cs typeface="Arial"/>
              </a:defRPr>
            </a:pPr>
            <a:r>
              <a:rPr sz="2625" b="0">
                <a:solidFill>
                  <a:srgbClr val="183247"/>
                </a:solidFill>
                <a:latin typeface="Arial"/>
                <a:ea typeface="Arial"/>
                <a:cs typeface="Arial"/>
              </a:rPr>
              <a:t>gevraagde plaatsen worden gevuld zonder vacatures of zoekproblemen.</a:t>
            </a:r>
          </a:p>
        </p:txBody>
      </p:sp>
    </p:spTree>
    <p:extLst>
      <p:ext uri="{BB962C8B-B14F-4D97-AF65-F5344CB8AC3E}">
        <p14:creationId xmlns:p14="http://schemas.microsoft.com/office/powerpoint/2010/main" val="137751909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Opgave 40 · Figuur 24: de basisgrafiek">
            <a:extLst xmlns:a="http://schemas.openxmlformats.org/drawingml/2006/main">
              <a:ext uri="{FF2B5EF4-FFF2-40B4-BE49-F238E27FC236}">
                <a16:creationId xmlns:a16="http://schemas.microsoft.com/office/drawing/2014/main" id="{2A3C735F-A7C3-467E-80B4-2EC0DC93A195}"/>
              </a:ext>
            </a:extLst>
          </p:cNvPr>
          <p:cNvSpPr>
            <a:spLocks xmlns:a="http://schemas.openxmlformats.org/drawingml/2006/main" noGrp="1"/>
          </p:cNvSpPr>
          <p:nvPr/>
        </p:nvSpPr>
        <p:spPr>
          <a:xfrm xmlns:a="http://schemas.openxmlformats.org/drawingml/2006/main">
            <a:off x="571500" y="400050"/>
            <a:ext cx="14097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40 · Figuur 24: de basisgrafiek</a:t>
            </a:r>
          </a:p>
        </p:txBody>
      </p:sp>
      <p:sp>
        <p:nvSpPr>
          <p:cNvPr id="2" name="">
            <a:extLst xmlns:a="http://schemas.openxmlformats.org/drawingml/2006/main">
              <a:ext uri="{FF2B5EF4-FFF2-40B4-BE49-F238E27FC236}">
                <a16:creationId xmlns:a16="http://schemas.microsoft.com/office/drawing/2014/main" id="{23949A1E-81D1-420E-B141-132FDEA72651}"/>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Opgave 40 · Bronnen p. 152 · Vragen p. 153">
            <a:extLst xmlns:a="http://schemas.openxmlformats.org/drawingml/2006/main">
              <a:ext uri="{FF2B5EF4-FFF2-40B4-BE49-F238E27FC236}">
                <a16:creationId xmlns:a16="http://schemas.microsoft.com/office/drawing/2014/main" id="{81772799-78DC-4EC7-8727-F5968C303889}"/>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Opgave 40 · Bronnen p. 152 · Vragen p. 153</a:t>
            </a:r>
          </a:p>
        </p:txBody>
      </p:sp>
      <p:sp>
        <p:nvSpPr>
          <p:cNvPr id="4" name="8">
            <a:extLst xmlns:a="http://schemas.openxmlformats.org/drawingml/2006/main">
              <a:ext uri="{FF2B5EF4-FFF2-40B4-BE49-F238E27FC236}">
                <a16:creationId xmlns:a16="http://schemas.microsoft.com/office/drawing/2014/main" id="{423B115C-BF65-4A13-9390-2B2E64BB7E18}"/>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8</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ae0b383b81a14230"/>
          <a:stretch xmlns:a="http://schemas.openxmlformats.org/drawingml/2006/main"/>
        </p:blipFill>
        <p:spPr>
          <a:xfrm xmlns:a="http://schemas.openxmlformats.org/drawingml/2006/main">
            <a:off x="1666875" y="1698372"/>
            <a:ext cx="11906250" cy="5785355"/>
          </a:xfrm>
          <a:prstGeom xmlns:a="http://schemas.openxmlformats.org/drawingml/2006/main" prst="rect">
            <a:avLst/>
          </a:prstGeom>
        </p:spPr>
      </p:pic>
      <p:sp>
        <p:nvSpPr>
          <p:cNvPr id="6" name="Markeer beide evenwichten. Gebruik alleen het bereik € 4 ≤ w">
            <a:extLst xmlns:a="http://schemas.openxmlformats.org/drawingml/2006/main">
              <a:ext uri="{FF2B5EF4-FFF2-40B4-BE49-F238E27FC236}">
                <a16:creationId xmlns:a16="http://schemas.microsoft.com/office/drawing/2014/main" id="{22609C1B-3F1B-44B4-AB5D-AEBD78D753D9}"/>
              </a:ext>
            </a:extLst>
          </p:cNvPr>
          <p:cNvSpPr>
            <a:spLocks xmlns:a="http://schemas.openxmlformats.org/drawingml/2006/main" noGrp="1"/>
          </p:cNvSpPr>
          <p:nvPr/>
        </p:nvSpPr>
        <p:spPr>
          <a:xfrm xmlns:a="http://schemas.openxmlformats.org/drawingml/2006/main">
            <a:off x="571500" y="7553325"/>
            <a:ext cx="1409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Markeer beide evenwichten. Gebruik alleen het bereik € 4 ≤ w ≤ € 24.</a:t>
            </a:r>
          </a:p>
        </p:txBody>
      </p:sp>
    </p:spTree>
    <p:extLst>
      <p:ext uri="{BB962C8B-B14F-4D97-AF65-F5344CB8AC3E}">
        <p14:creationId xmlns:p14="http://schemas.microsoft.com/office/powerpoint/2010/main" val="1557719731"/>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Opgave 40 · Bron C: een nieuw werkproces">
            <a:extLst xmlns:a="http://schemas.openxmlformats.org/drawingml/2006/main">
              <a:ext uri="{FF2B5EF4-FFF2-40B4-BE49-F238E27FC236}">
                <a16:creationId xmlns:a16="http://schemas.microsoft.com/office/drawing/2014/main" id="{387E16F4-E94F-48EC-BD30-3E2A8E133A7E}"/>
              </a:ext>
            </a:extLst>
          </p:cNvPr>
          <p:cNvSpPr>
            <a:spLocks xmlns:a="http://schemas.openxmlformats.org/drawingml/2006/main" noGrp="1"/>
          </p:cNvSpPr>
          <p:nvPr/>
        </p:nvSpPr>
        <p:spPr>
          <a:xfrm xmlns:a="http://schemas.openxmlformats.org/drawingml/2006/main">
            <a:off x="571500" y="400050"/>
            <a:ext cx="14097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40 · Bron C: een nieuw werkproces</a:t>
            </a:r>
          </a:p>
        </p:txBody>
      </p:sp>
      <p:sp>
        <p:nvSpPr>
          <p:cNvPr id="2" name="">
            <a:extLst xmlns:a="http://schemas.openxmlformats.org/drawingml/2006/main">
              <a:ext uri="{FF2B5EF4-FFF2-40B4-BE49-F238E27FC236}">
                <a16:creationId xmlns:a16="http://schemas.microsoft.com/office/drawing/2014/main" id="{BA0EB88B-A3C0-4722-983C-1C0B13826A7F}"/>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Opgave 40 · Bronnen p. 152 · Vragen p. 153">
            <a:extLst xmlns:a="http://schemas.openxmlformats.org/drawingml/2006/main">
              <a:ext uri="{FF2B5EF4-FFF2-40B4-BE49-F238E27FC236}">
                <a16:creationId xmlns:a16="http://schemas.microsoft.com/office/drawing/2014/main" id="{A6322665-7B97-48B6-B233-8623D5FA72E5}"/>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Opgave 40 · Bronnen p. 152 · Vragen p. 153</a:t>
            </a:r>
          </a:p>
        </p:txBody>
      </p:sp>
      <p:sp>
        <p:nvSpPr>
          <p:cNvPr id="4" name="9">
            <a:extLst xmlns:a="http://schemas.openxmlformats.org/drawingml/2006/main">
              <a:ext uri="{FF2B5EF4-FFF2-40B4-BE49-F238E27FC236}">
                <a16:creationId xmlns:a16="http://schemas.microsoft.com/office/drawing/2014/main" id="{E19534D1-371D-4B2B-955B-124753C9A862}"/>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9</a:t>
            </a:r>
          </a:p>
        </p:txBody>
      </p:sp>
      <p:sp>
        <p:nvSpPr>
          <p:cNvPr id="5" name="In een afzonderlijk bedrijf zouden de volledige uurkosten&#10;st">
            <a:extLst xmlns:a="http://schemas.openxmlformats.org/drawingml/2006/main">
              <a:ext uri="{FF2B5EF4-FFF2-40B4-BE49-F238E27FC236}">
                <a16:creationId xmlns:a16="http://schemas.microsoft.com/office/drawing/2014/main" id="{FCB56178-D9A1-4222-86B4-3990D51432AA}"/>
              </a:ext>
            </a:extLst>
          </p:cNvPr>
          <p:cNvSpPr>
            <a:spLocks xmlns:a="http://schemas.openxmlformats.org/drawingml/2006/main" noGrp="1"/>
          </p:cNvSpPr>
          <p:nvPr/>
        </p:nvSpPr>
        <p:spPr>
          <a:xfrm xmlns:a="http://schemas.openxmlformats.org/drawingml/2006/main">
            <a:off x="571500" y="1943100"/>
            <a:ext cx="140970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0">
                <a:solidFill>
                  <a:srgbClr val="183247"/>
                </a:solidFill>
                <a:latin typeface="Arial"/>
                <a:ea typeface="Arial"/>
                <a:cs typeface="Arial"/>
              </a:defRPr>
            </a:pPr>
            <a:r>
              <a:rPr sz="3075" b="0">
                <a:solidFill>
                  <a:srgbClr val="183247"/>
                </a:solidFill>
                <a:latin typeface="Arial"/>
                <a:ea typeface="Arial"/>
                <a:cs typeface="Arial"/>
              </a:rPr>
              <a:t>In een afzonderlijk bedrijf zouden de volledige uurkosten</a:t>
            </a:r>
          </a:p>
          <a:p xmlns:a="http://schemas.openxmlformats.org/drawingml/2006/main">
            <a:pPr algn="l">
              <a:defRPr sz="3075" b="0">
                <a:solidFill>
                  <a:srgbClr val="183247"/>
                </a:solidFill>
                <a:latin typeface="Arial"/>
                <a:ea typeface="Arial"/>
                <a:cs typeface="Arial"/>
              </a:defRPr>
            </a:pPr>
            <a:r>
              <a:rPr sz="3075" b="0">
                <a:solidFill>
                  <a:srgbClr val="183247"/>
                </a:solidFill>
                <a:latin typeface="Arial"/>
                <a:ea typeface="Arial"/>
                <a:cs typeface="Arial"/>
              </a:rPr>
              <a:t>stijgen van € 24 naar € 25,20.</a:t>
            </a:r>
          </a:p>
        </p:txBody>
      </p:sp>
      <p:sp>
        <p:nvSpPr>
          <p:cNvPr id="6" name="De productiviteit zou stijgen van 8 naar 8,8 producten per u">
            <a:extLst xmlns:a="http://schemas.openxmlformats.org/drawingml/2006/main">
              <a:ext uri="{FF2B5EF4-FFF2-40B4-BE49-F238E27FC236}">
                <a16:creationId xmlns:a16="http://schemas.microsoft.com/office/drawing/2014/main" id="{F035C900-E332-42DC-9E97-802EC39B2C44}"/>
              </a:ext>
            </a:extLst>
          </p:cNvPr>
          <p:cNvSpPr>
            <a:spLocks xmlns:a="http://schemas.openxmlformats.org/drawingml/2006/main" noGrp="1"/>
          </p:cNvSpPr>
          <p:nvPr/>
        </p:nvSpPr>
        <p:spPr>
          <a:xfrm xmlns:a="http://schemas.openxmlformats.org/drawingml/2006/main">
            <a:off x="571500" y="3705225"/>
            <a:ext cx="140970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a:solidFill>
                  <a:srgbClr val="183247"/>
                </a:solidFill>
                <a:latin typeface="Arial"/>
                <a:ea typeface="Arial"/>
                <a:cs typeface="Arial"/>
              </a:defRPr>
            </a:pPr>
            <a:r>
              <a:rPr sz="2850" b="0">
                <a:solidFill>
                  <a:srgbClr val="183247"/>
                </a:solidFill>
                <a:latin typeface="Arial"/>
                <a:ea typeface="Arial"/>
                <a:cs typeface="Arial"/>
              </a:rPr>
              <a:t>De productiviteit zou stijgen van 8 naar 8,8 producten per uur.</a:t>
            </a:r>
          </a:p>
          <a:p xmlns:a="http://schemas.openxmlformats.org/drawingml/2006/main">
            <a:pPr algn="l">
              <a:defRPr sz="2850" b="0">
                <a:solidFill>
                  <a:srgbClr val="183247"/>
                </a:solidFill>
                <a:latin typeface="Arial"/>
                <a:ea typeface="Arial"/>
                <a:cs typeface="Arial"/>
              </a:defRPr>
            </a:pPr>
            <a:r>
              <a:rPr sz="2850" b="0">
                <a:solidFill>
                  <a:srgbClr val="183247"/>
                </a:solidFill>
                <a:latin typeface="Arial"/>
                <a:ea typeface="Arial"/>
                <a:cs typeface="Arial"/>
              </a:rPr>
              <a:t>De omvang van de toekomstige orders en de overige</a:t>
            </a:r>
          </a:p>
          <a:p xmlns:a="http://schemas.openxmlformats.org/drawingml/2006/main">
            <a:pPr algn="l">
              <a:defRPr sz="2850" b="0">
                <a:solidFill>
                  <a:srgbClr val="183247"/>
                </a:solidFill>
                <a:latin typeface="Arial"/>
                <a:ea typeface="Arial"/>
                <a:cs typeface="Arial"/>
              </a:defRPr>
            </a:pPr>
            <a:r>
              <a:rPr sz="2850" b="0">
                <a:solidFill>
                  <a:srgbClr val="183247"/>
                </a:solidFill>
                <a:latin typeface="Arial"/>
                <a:ea typeface="Arial"/>
                <a:cs typeface="Arial"/>
              </a:rPr>
              <a:t>productiekosten zijn nog onbekend.</a:t>
            </a:r>
          </a:p>
        </p:txBody>
      </p:sp>
      <p:sp>
        <p:nvSpPr>
          <p:cNvPr id="7" name="Een woordvoerder zegt:">
            <a:extLst xmlns:a="http://schemas.openxmlformats.org/drawingml/2006/main">
              <a:ext uri="{FF2B5EF4-FFF2-40B4-BE49-F238E27FC236}">
                <a16:creationId xmlns:a16="http://schemas.microsoft.com/office/drawing/2014/main" id="{97610753-646F-435D-B561-3D313036FAA1}"/>
              </a:ext>
            </a:extLst>
          </p:cNvPr>
          <p:cNvSpPr>
            <a:spLocks xmlns:a="http://schemas.openxmlformats.org/drawingml/2006/main" noGrp="1"/>
          </p:cNvSpPr>
          <p:nvPr/>
        </p:nvSpPr>
        <p:spPr>
          <a:xfrm xmlns:a="http://schemas.openxmlformats.org/drawingml/2006/main">
            <a:off x="571500" y="5943600"/>
            <a:ext cx="14097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Een woordvoerder zegt:</a:t>
            </a:r>
          </a:p>
        </p:txBody>
      </p:sp>
      <p:sp>
        <p:nvSpPr>
          <p:cNvPr id="8" name="“Deze hogere productiviteit levert gegarandeerd meer banen o">
            <a:extLst xmlns:a="http://schemas.openxmlformats.org/drawingml/2006/main">
              <a:ext uri="{FF2B5EF4-FFF2-40B4-BE49-F238E27FC236}">
                <a16:creationId xmlns:a16="http://schemas.microsoft.com/office/drawing/2014/main" id="{D5434347-A482-4FFB-9F40-4ADDB6326BA8}"/>
              </a:ext>
            </a:extLst>
          </p:cNvPr>
          <p:cNvSpPr>
            <a:spLocks xmlns:a="http://schemas.openxmlformats.org/drawingml/2006/main" noGrp="1"/>
          </p:cNvSpPr>
          <p:nvPr/>
        </p:nvSpPr>
        <p:spPr>
          <a:xfrm xmlns:a="http://schemas.openxmlformats.org/drawingml/2006/main">
            <a:off x="571500" y="6705600"/>
            <a:ext cx="1409700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658A"/>
                </a:solidFill>
                <a:latin typeface="Arial"/>
                <a:ea typeface="Arial"/>
                <a:cs typeface="Arial"/>
              </a:defRPr>
            </a:pPr>
            <a:r>
              <a:rPr sz="3300" b="1">
                <a:solidFill>
                  <a:srgbClr val="17658A"/>
                </a:solidFill>
                <a:latin typeface="Arial"/>
                <a:ea typeface="Arial"/>
                <a:cs typeface="Arial"/>
              </a:rPr>
              <a:t>“Deze hogere productiviteit levert gegarandeerd meer banen op.”</a:t>
            </a:r>
          </a:p>
        </p:txBody>
      </p:sp>
    </p:spTree>
    <p:extLst>
      <p:ext uri="{BB962C8B-B14F-4D97-AF65-F5344CB8AC3E}">
        <p14:creationId xmlns:p14="http://schemas.microsoft.com/office/powerpoint/2010/main" val="569032286"/>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Opgave 40 · Deelvragen a, b en c">
            <a:extLst xmlns:a="http://schemas.openxmlformats.org/drawingml/2006/main">
              <a:ext uri="{FF2B5EF4-FFF2-40B4-BE49-F238E27FC236}">
                <a16:creationId xmlns:a16="http://schemas.microsoft.com/office/drawing/2014/main" id="{50203F3F-21AA-467A-96BA-52271C73831F}"/>
              </a:ext>
            </a:extLst>
          </p:cNvPr>
          <p:cNvSpPr>
            <a:spLocks xmlns:a="http://schemas.openxmlformats.org/drawingml/2006/main" noGrp="1"/>
          </p:cNvSpPr>
          <p:nvPr/>
        </p:nvSpPr>
        <p:spPr>
          <a:xfrm xmlns:a="http://schemas.openxmlformats.org/drawingml/2006/main">
            <a:off x="571500" y="400050"/>
            <a:ext cx="14097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40 · Deelvragen a, b en c</a:t>
            </a:r>
          </a:p>
        </p:txBody>
      </p:sp>
      <p:sp>
        <p:nvSpPr>
          <p:cNvPr id="2" name="">
            <a:extLst xmlns:a="http://schemas.openxmlformats.org/drawingml/2006/main">
              <a:ext uri="{FF2B5EF4-FFF2-40B4-BE49-F238E27FC236}">
                <a16:creationId xmlns:a16="http://schemas.microsoft.com/office/drawing/2014/main" id="{C3665E6F-2058-41AF-8DDB-C41E2FF4DA9C}"/>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Opgave 40 · Bronnen p. 152 · Vragen p. 153">
            <a:extLst xmlns:a="http://schemas.openxmlformats.org/drawingml/2006/main">
              <a:ext uri="{FF2B5EF4-FFF2-40B4-BE49-F238E27FC236}">
                <a16:creationId xmlns:a16="http://schemas.microsoft.com/office/drawing/2014/main" id="{17CBCBDF-9161-44CF-8B96-1C1B2B44561A}"/>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Opgave 40 · Bronnen p. 152 · Vragen p. 153</a:t>
            </a:r>
          </a:p>
        </p:txBody>
      </p:sp>
      <p:sp>
        <p:nvSpPr>
          <p:cNvPr id="4" name="10">
            <a:extLst xmlns:a="http://schemas.openxmlformats.org/drawingml/2006/main">
              <a:ext uri="{FF2B5EF4-FFF2-40B4-BE49-F238E27FC236}">
                <a16:creationId xmlns:a16="http://schemas.microsoft.com/office/drawing/2014/main" id="{0205694D-B734-4B13-95AE-97CAAF7F7C3C}"/>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10</a:t>
            </a:r>
          </a:p>
        </p:txBody>
      </p:sp>
      <p:sp>
        <p:nvSpPr>
          <p:cNvPr id="5" name="Gebruik uitsluitend de relevante bronnen. Geef bij elke bere">
            <a:extLst xmlns:a="http://schemas.openxmlformats.org/drawingml/2006/main">
              <a:ext uri="{FF2B5EF4-FFF2-40B4-BE49-F238E27FC236}">
                <a16:creationId xmlns:a16="http://schemas.microsoft.com/office/drawing/2014/main" id="{D0ABFFA7-3B19-40BF-9D41-6AE6CBED8781}"/>
              </a:ext>
            </a:extLst>
          </p:cNvPr>
          <p:cNvSpPr>
            <a:spLocks xmlns:a="http://schemas.openxmlformats.org/drawingml/2006/main" noGrp="1"/>
          </p:cNvSpPr>
          <p:nvPr/>
        </p:nvSpPr>
        <p:spPr>
          <a:xfrm xmlns:a="http://schemas.openxmlformats.org/drawingml/2006/main">
            <a:off x="571500" y="1762125"/>
            <a:ext cx="14097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83247"/>
                </a:solidFill>
                <a:latin typeface="Arial"/>
                <a:ea typeface="Arial"/>
                <a:cs typeface="Arial"/>
              </a:defRPr>
            </a:pPr>
            <a:r>
              <a:rPr sz="2400" b="1">
                <a:solidFill>
                  <a:srgbClr val="183247"/>
                </a:solidFill>
                <a:latin typeface="Arial"/>
                <a:ea typeface="Arial"/>
                <a:cs typeface="Arial"/>
              </a:rPr>
              <a:t>Gebruik uitsluitend de relevante bronnen. Geef bij elke berekening de eenheid.</a:t>
            </a:r>
          </a:p>
          <a:p xmlns:a="http://schemas.openxmlformats.org/drawingml/2006/main">
            <a:pPr algn="l">
              <a:defRPr sz="2400" b="1">
                <a:solidFill>
                  <a:srgbClr val="183247"/>
                </a:solidFill>
                <a:latin typeface="Arial"/>
                <a:ea typeface="Arial"/>
                <a:cs typeface="Arial"/>
              </a:defRPr>
            </a:pPr>
            <a:r>
              <a:rPr sz="2400" b="1">
                <a:solidFill>
                  <a:srgbClr val="183247"/>
                </a:solidFill>
                <a:latin typeface="Arial"/>
                <a:ea typeface="Arial"/>
                <a:cs typeface="Arial"/>
              </a:rPr>
              <a:t>Schrijf verklaringen in volledige zinnen.</a:t>
            </a:r>
          </a:p>
        </p:txBody>
      </p:sp>
      <p:sp>
        <p:nvSpPr>
          <p:cNvPr id="6" name="a (3p)">
            <a:extLst xmlns:a="http://schemas.openxmlformats.org/drawingml/2006/main">
              <a:ext uri="{FF2B5EF4-FFF2-40B4-BE49-F238E27FC236}">
                <a16:creationId xmlns:a16="http://schemas.microsoft.com/office/drawing/2014/main" id="{214BF5E9-9D82-47C5-B4B6-680A6D7B3C80}"/>
              </a:ext>
            </a:extLst>
          </p:cNvPr>
          <p:cNvSpPr>
            <a:spLocks xmlns:a="http://schemas.openxmlformats.org/drawingml/2006/main" noGrp="1"/>
          </p:cNvSpPr>
          <p:nvPr/>
        </p:nvSpPr>
        <p:spPr>
          <a:xfrm xmlns:a="http://schemas.openxmlformats.org/drawingml/2006/main">
            <a:off x="571500" y="3133725"/>
            <a:ext cx="147637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7658A"/>
                </a:solidFill>
                <a:latin typeface="Arial"/>
                <a:ea typeface="Arial"/>
                <a:cs typeface="Arial"/>
              </a:defRPr>
            </a:pPr>
            <a:r>
              <a:rPr sz="2700" b="1">
                <a:solidFill>
                  <a:srgbClr val="17658A"/>
                </a:solidFill>
                <a:latin typeface="Arial"/>
                <a:ea typeface="Arial"/>
                <a:cs typeface="Arial"/>
              </a:rPr>
              <a:t>a (3p)</a:t>
            </a:r>
          </a:p>
        </p:txBody>
      </p:sp>
      <p:sp>
        <p:nvSpPr>
          <p:cNvPr id="7" name="Bereken met bron A de beroepsbevolking, bruto-participatie e">
            <a:extLst xmlns:a="http://schemas.openxmlformats.org/drawingml/2006/main">
              <a:ext uri="{FF2B5EF4-FFF2-40B4-BE49-F238E27FC236}">
                <a16:creationId xmlns:a16="http://schemas.microsoft.com/office/drawing/2014/main" id="{073CFAFF-25D4-42E3-AAEB-919E955E1128}"/>
              </a:ext>
            </a:extLst>
          </p:cNvPr>
          <p:cNvSpPr>
            <a:spLocks xmlns:a="http://schemas.openxmlformats.org/drawingml/2006/main" noGrp="1"/>
          </p:cNvSpPr>
          <p:nvPr/>
        </p:nvSpPr>
        <p:spPr>
          <a:xfrm xmlns:a="http://schemas.openxmlformats.org/drawingml/2006/main">
            <a:off x="2428875" y="3133725"/>
            <a:ext cx="1223962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Bereken met bron A de beroepsbevolking, bruto-participatie en het werkloosheidspercentage.</a:t>
            </a:r>
          </a:p>
        </p:txBody>
      </p:sp>
      <p:sp>
        <p:nvSpPr>
          <p:cNvPr id="8" name="">
            <a:extLst xmlns:a="http://schemas.openxmlformats.org/drawingml/2006/main">
              <a:ext uri="{FF2B5EF4-FFF2-40B4-BE49-F238E27FC236}">
                <a16:creationId xmlns:a16="http://schemas.microsoft.com/office/drawing/2014/main" id="{6FBE4427-7F1F-404F-BDD7-7CEC8BBA1BFB}"/>
              </a:ext>
            </a:extLst>
          </p:cNvPr>
          <p:cNvSpPr>
            <a:spLocks xmlns:a="http://schemas.openxmlformats.org/drawingml/2006/main" noGrp="1"/>
          </p:cNvSpPr>
          <p:nvPr/>
        </p:nvSpPr>
        <p:spPr>
          <a:xfrm xmlns:a="http://schemas.openxmlformats.org/drawingml/2006/main">
            <a:off x="571500" y="4505325"/>
            <a:ext cx="14097000" cy="0"/>
          </a:xfrm>
          <a:prstGeom xmlns:a="http://schemas.openxmlformats.org/drawingml/2006/main" prst="line">
            <a:avLst/>
          </a:prstGeom>
          <a:ln xmlns:a="http://schemas.openxmlformats.org/drawingml/2006/main" w="19050">
            <a:solidFill>
              <a:srgbClr val="C6D2DB"/>
            </a:solidFill>
          </a:ln>
        </p:spPr>
      </p:sp>
      <p:sp>
        <p:nvSpPr>
          <p:cNvPr id="9" name="b (2p)">
            <a:extLst xmlns:a="http://schemas.openxmlformats.org/drawingml/2006/main">
              <a:ext uri="{FF2B5EF4-FFF2-40B4-BE49-F238E27FC236}">
                <a16:creationId xmlns:a16="http://schemas.microsoft.com/office/drawing/2014/main" id="{71DC0121-ABB7-4AB0-A0CC-3A97E75ABE98}"/>
              </a:ext>
            </a:extLst>
          </p:cNvPr>
          <p:cNvSpPr>
            <a:spLocks xmlns:a="http://schemas.openxmlformats.org/drawingml/2006/main" noGrp="1"/>
          </p:cNvSpPr>
          <p:nvPr/>
        </p:nvSpPr>
        <p:spPr>
          <a:xfrm xmlns:a="http://schemas.openxmlformats.org/drawingml/2006/main">
            <a:off x="571500" y="4752975"/>
            <a:ext cx="147637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20665B"/>
                </a:solidFill>
                <a:latin typeface="Arial"/>
                <a:ea typeface="Arial"/>
                <a:cs typeface="Arial"/>
              </a:defRPr>
            </a:pPr>
            <a:r>
              <a:rPr sz="2700" b="1">
                <a:solidFill>
                  <a:srgbClr val="20665B"/>
                </a:solidFill>
                <a:latin typeface="Arial"/>
                <a:ea typeface="Arial"/>
                <a:cs typeface="Arial"/>
              </a:rPr>
              <a:t>b (2p)</a:t>
            </a:r>
          </a:p>
        </p:txBody>
      </p:sp>
      <p:sp>
        <p:nvSpPr>
          <p:cNvPr id="10" name="Bereken met bron B zelfstandig het oorspronkelijke evenwicht">
            <a:extLst xmlns:a="http://schemas.openxmlformats.org/drawingml/2006/main">
              <a:ext uri="{FF2B5EF4-FFF2-40B4-BE49-F238E27FC236}">
                <a16:creationId xmlns:a16="http://schemas.microsoft.com/office/drawing/2014/main" id="{336C6C66-3E94-4707-929D-CF725BDF91AB}"/>
              </a:ext>
            </a:extLst>
          </p:cNvPr>
          <p:cNvSpPr>
            <a:spLocks xmlns:a="http://schemas.openxmlformats.org/drawingml/2006/main" noGrp="1"/>
          </p:cNvSpPr>
          <p:nvPr/>
        </p:nvSpPr>
        <p:spPr>
          <a:xfrm xmlns:a="http://schemas.openxmlformats.org/drawingml/2006/main">
            <a:off x="2428875" y="4752975"/>
            <a:ext cx="1223962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Bereken met bron B zelfstandig het oorspronkelijke evenwichtsloon en de werkgelegenheid.</a:t>
            </a:r>
          </a:p>
        </p:txBody>
      </p:sp>
      <p:sp>
        <p:nvSpPr>
          <p:cNvPr id="11" name="">
            <a:extLst xmlns:a="http://schemas.openxmlformats.org/drawingml/2006/main">
              <a:ext uri="{FF2B5EF4-FFF2-40B4-BE49-F238E27FC236}">
                <a16:creationId xmlns:a16="http://schemas.microsoft.com/office/drawing/2014/main" id="{B8F10F12-8E5D-4782-8A3E-645464AA324B}"/>
              </a:ext>
            </a:extLst>
          </p:cNvPr>
          <p:cNvSpPr>
            <a:spLocks xmlns:a="http://schemas.openxmlformats.org/drawingml/2006/main" noGrp="1"/>
          </p:cNvSpPr>
          <p:nvPr/>
        </p:nvSpPr>
        <p:spPr>
          <a:xfrm xmlns:a="http://schemas.openxmlformats.org/drawingml/2006/main">
            <a:off x="571500" y="6124575"/>
            <a:ext cx="14097000" cy="0"/>
          </a:xfrm>
          <a:prstGeom xmlns:a="http://schemas.openxmlformats.org/drawingml/2006/main" prst="line">
            <a:avLst/>
          </a:prstGeom>
          <a:ln xmlns:a="http://schemas.openxmlformats.org/drawingml/2006/main" w="19050">
            <a:solidFill>
              <a:srgbClr val="C6D2DB"/>
            </a:solidFill>
          </a:ln>
        </p:spPr>
      </p:sp>
      <p:sp>
        <p:nvSpPr>
          <p:cNvPr id="12" name="c (2p)">
            <a:extLst xmlns:a="http://schemas.openxmlformats.org/drawingml/2006/main">
              <a:ext uri="{FF2B5EF4-FFF2-40B4-BE49-F238E27FC236}">
                <a16:creationId xmlns:a16="http://schemas.microsoft.com/office/drawing/2014/main" id="{ACD9C707-25AF-4C26-A08A-0754F03E820C}"/>
              </a:ext>
            </a:extLst>
          </p:cNvPr>
          <p:cNvSpPr>
            <a:spLocks xmlns:a="http://schemas.openxmlformats.org/drawingml/2006/main" noGrp="1"/>
          </p:cNvSpPr>
          <p:nvPr/>
        </p:nvSpPr>
        <p:spPr>
          <a:xfrm xmlns:a="http://schemas.openxmlformats.org/drawingml/2006/main">
            <a:off x="571500" y="6372225"/>
            <a:ext cx="147637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A94D16"/>
                </a:solidFill>
                <a:latin typeface="Arial"/>
                <a:ea typeface="Arial"/>
                <a:cs typeface="Arial"/>
              </a:defRPr>
            </a:pPr>
            <a:r>
              <a:rPr sz="2700" b="1">
                <a:solidFill>
                  <a:srgbClr val="A94D16"/>
                </a:solidFill>
                <a:latin typeface="Arial"/>
                <a:ea typeface="Arial"/>
                <a:cs typeface="Arial"/>
              </a:rPr>
              <a:t>c (2p)</a:t>
            </a:r>
          </a:p>
        </p:txBody>
      </p:sp>
      <p:sp>
        <p:nvSpPr>
          <p:cNvPr id="13" name="Bereken het nieuwe evenwicht na de extra orders. Markeer bei">
            <a:extLst xmlns:a="http://schemas.openxmlformats.org/drawingml/2006/main">
              <a:ext uri="{FF2B5EF4-FFF2-40B4-BE49-F238E27FC236}">
                <a16:creationId xmlns:a16="http://schemas.microsoft.com/office/drawing/2014/main" id="{DBCBDB83-C7D2-4972-9905-791357682448}"/>
              </a:ext>
            </a:extLst>
          </p:cNvPr>
          <p:cNvSpPr>
            <a:spLocks xmlns:a="http://schemas.openxmlformats.org/drawingml/2006/main" noGrp="1"/>
          </p:cNvSpPr>
          <p:nvPr/>
        </p:nvSpPr>
        <p:spPr>
          <a:xfrm xmlns:a="http://schemas.openxmlformats.org/drawingml/2006/main">
            <a:off x="2428875" y="6372225"/>
            <a:ext cx="1223962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Bereken het nieuwe evenwicht na de extra orders. Markeer beide evenwichten in de basisgrafiek.</a:t>
            </a:r>
          </a:p>
        </p:txBody>
      </p:sp>
    </p:spTree>
    <p:extLst>
      <p:ext uri="{BB962C8B-B14F-4D97-AF65-F5344CB8AC3E}">
        <p14:creationId xmlns:p14="http://schemas.microsoft.com/office/powerpoint/2010/main" val="727577772"/>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Opgave 40 · Deelvragen d, e en f">
            <a:extLst xmlns:a="http://schemas.openxmlformats.org/drawingml/2006/main">
              <a:ext uri="{FF2B5EF4-FFF2-40B4-BE49-F238E27FC236}">
                <a16:creationId xmlns:a16="http://schemas.microsoft.com/office/drawing/2014/main" id="{4ABDFF3A-C0BB-42C2-8E75-3600155416E4}"/>
              </a:ext>
            </a:extLst>
          </p:cNvPr>
          <p:cNvSpPr>
            <a:spLocks xmlns:a="http://schemas.openxmlformats.org/drawingml/2006/main" noGrp="1"/>
          </p:cNvSpPr>
          <p:nvPr/>
        </p:nvSpPr>
        <p:spPr>
          <a:xfrm xmlns:a="http://schemas.openxmlformats.org/drawingml/2006/main">
            <a:off x="571500" y="400050"/>
            <a:ext cx="14097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40 · Deelvragen d, e en f</a:t>
            </a:r>
          </a:p>
        </p:txBody>
      </p:sp>
      <p:sp>
        <p:nvSpPr>
          <p:cNvPr id="2" name="">
            <a:extLst xmlns:a="http://schemas.openxmlformats.org/drawingml/2006/main">
              <a:ext uri="{FF2B5EF4-FFF2-40B4-BE49-F238E27FC236}">
                <a16:creationId xmlns:a16="http://schemas.microsoft.com/office/drawing/2014/main" id="{A26CC5B7-05E6-4AE3-9392-758BB995158A}"/>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Opgave 40 · Bronnen p. 152 · Vragen p. 153">
            <a:extLst xmlns:a="http://schemas.openxmlformats.org/drawingml/2006/main">
              <a:ext uri="{FF2B5EF4-FFF2-40B4-BE49-F238E27FC236}">
                <a16:creationId xmlns:a16="http://schemas.microsoft.com/office/drawing/2014/main" id="{E4416DB9-C4B4-4DE2-8202-95944E1278A4}"/>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Opgave 40 · Bronnen p. 152 · Vragen p. 153</a:t>
            </a:r>
          </a:p>
        </p:txBody>
      </p:sp>
      <p:sp>
        <p:nvSpPr>
          <p:cNvPr id="4" name="11">
            <a:extLst xmlns:a="http://schemas.openxmlformats.org/drawingml/2006/main">
              <a:ext uri="{FF2B5EF4-FFF2-40B4-BE49-F238E27FC236}">
                <a16:creationId xmlns:a16="http://schemas.microsoft.com/office/drawing/2014/main" id="{4A128A15-1ED6-4710-A56E-3AFBE6CA81E2}"/>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11</a:t>
            </a:r>
          </a:p>
        </p:txBody>
      </p:sp>
      <p:sp>
        <p:nvSpPr>
          <p:cNvPr id="5" name="d (2p)">
            <a:extLst xmlns:a="http://schemas.openxmlformats.org/drawingml/2006/main">
              <a:ext uri="{FF2B5EF4-FFF2-40B4-BE49-F238E27FC236}">
                <a16:creationId xmlns:a16="http://schemas.microsoft.com/office/drawing/2014/main" id="{090DAFE8-16C4-438C-B6D6-1A995F2E8DF7}"/>
              </a:ext>
            </a:extLst>
          </p:cNvPr>
          <p:cNvSpPr>
            <a:spLocks xmlns:a="http://schemas.openxmlformats.org/drawingml/2006/main" noGrp="1"/>
          </p:cNvSpPr>
          <p:nvPr/>
        </p:nvSpPr>
        <p:spPr>
          <a:xfrm xmlns:a="http://schemas.openxmlformats.org/drawingml/2006/main">
            <a:off x="571500" y="2019300"/>
            <a:ext cx="147637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7658A"/>
                </a:solidFill>
                <a:latin typeface="Arial"/>
                <a:ea typeface="Arial"/>
                <a:cs typeface="Arial"/>
              </a:defRPr>
            </a:pPr>
            <a:r>
              <a:rPr sz="2700" b="1">
                <a:solidFill>
                  <a:srgbClr val="17658A"/>
                </a:solidFill>
                <a:latin typeface="Arial"/>
                <a:ea typeface="Arial"/>
                <a:cs typeface="Arial"/>
              </a:rPr>
              <a:t>d (2p)</a:t>
            </a:r>
          </a:p>
        </p:txBody>
      </p:sp>
      <p:sp>
        <p:nvSpPr>
          <p:cNvPr id="6" name="Een leerling zegt: “De loonstijging verschuift de arbeidsvra">
            <a:extLst xmlns:a="http://schemas.openxmlformats.org/drawingml/2006/main">
              <a:ext uri="{FF2B5EF4-FFF2-40B4-BE49-F238E27FC236}">
                <a16:creationId xmlns:a16="http://schemas.microsoft.com/office/drawing/2014/main" id="{C74B82E2-A1DE-481C-A16F-057D1F3EA542}"/>
              </a:ext>
            </a:extLst>
          </p:cNvPr>
          <p:cNvSpPr>
            <a:spLocks xmlns:a="http://schemas.openxmlformats.org/drawingml/2006/main" noGrp="1"/>
          </p:cNvSpPr>
          <p:nvPr/>
        </p:nvSpPr>
        <p:spPr>
          <a:xfrm xmlns:a="http://schemas.openxmlformats.org/drawingml/2006/main">
            <a:off x="2428875" y="2019300"/>
            <a:ext cx="1223962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Een leerling zegt: “De loonstijging verschuift de arbeidsvraag naar rechts.” Verbeter dit met bron B en benoem wat langs de aanbodlijn gebeurt.</a:t>
            </a:r>
          </a:p>
        </p:txBody>
      </p:sp>
      <p:sp>
        <p:nvSpPr>
          <p:cNvPr id="7" name="">
            <a:extLst xmlns:a="http://schemas.openxmlformats.org/drawingml/2006/main">
              <a:ext uri="{FF2B5EF4-FFF2-40B4-BE49-F238E27FC236}">
                <a16:creationId xmlns:a16="http://schemas.microsoft.com/office/drawing/2014/main" id="{C4E6B07F-DB7E-4BD8-A1AE-F2B0329716BD}"/>
              </a:ext>
            </a:extLst>
          </p:cNvPr>
          <p:cNvSpPr>
            <a:spLocks xmlns:a="http://schemas.openxmlformats.org/drawingml/2006/main" noGrp="1"/>
          </p:cNvSpPr>
          <p:nvPr/>
        </p:nvSpPr>
        <p:spPr>
          <a:xfrm xmlns:a="http://schemas.openxmlformats.org/drawingml/2006/main">
            <a:off x="571500" y="3771900"/>
            <a:ext cx="14097000" cy="0"/>
          </a:xfrm>
          <a:prstGeom xmlns:a="http://schemas.openxmlformats.org/drawingml/2006/main" prst="line">
            <a:avLst/>
          </a:prstGeom>
          <a:ln xmlns:a="http://schemas.openxmlformats.org/drawingml/2006/main" w="19050">
            <a:solidFill>
              <a:srgbClr val="C6D2DB"/>
            </a:solidFill>
          </a:ln>
        </p:spPr>
      </p:sp>
      <p:sp>
        <p:nvSpPr>
          <p:cNvPr id="8" name="e (3p)">
            <a:extLst xmlns:a="http://schemas.openxmlformats.org/drawingml/2006/main">
              <a:ext uri="{FF2B5EF4-FFF2-40B4-BE49-F238E27FC236}">
                <a16:creationId xmlns:a16="http://schemas.microsoft.com/office/drawing/2014/main" id="{348B9839-EA46-4EA9-8F9E-6B6C7B864B8E}"/>
              </a:ext>
            </a:extLst>
          </p:cNvPr>
          <p:cNvSpPr>
            <a:spLocks xmlns:a="http://schemas.openxmlformats.org/drawingml/2006/main" noGrp="1"/>
          </p:cNvSpPr>
          <p:nvPr/>
        </p:nvSpPr>
        <p:spPr>
          <a:xfrm xmlns:a="http://schemas.openxmlformats.org/drawingml/2006/main">
            <a:off x="571500" y="4019550"/>
            <a:ext cx="147637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20665B"/>
                </a:solidFill>
                <a:latin typeface="Arial"/>
                <a:ea typeface="Arial"/>
                <a:cs typeface="Arial"/>
              </a:defRPr>
            </a:pPr>
            <a:r>
              <a:rPr sz="2700" b="1">
                <a:solidFill>
                  <a:srgbClr val="20665B"/>
                </a:solidFill>
                <a:latin typeface="Arial"/>
                <a:ea typeface="Arial"/>
                <a:cs typeface="Arial"/>
              </a:rPr>
              <a:t>e (3p)</a:t>
            </a:r>
          </a:p>
        </p:txBody>
      </p:sp>
      <p:sp>
        <p:nvSpPr>
          <p:cNvPr id="9" name="Bereken met bron C de loonkosten per product vóór en na het ">
            <a:extLst xmlns:a="http://schemas.openxmlformats.org/drawingml/2006/main">
              <a:ext uri="{FF2B5EF4-FFF2-40B4-BE49-F238E27FC236}">
                <a16:creationId xmlns:a16="http://schemas.microsoft.com/office/drawing/2014/main" id="{C632F722-3456-40F9-8DB1-7B344508BBFD}"/>
              </a:ext>
            </a:extLst>
          </p:cNvPr>
          <p:cNvSpPr>
            <a:spLocks xmlns:a="http://schemas.openxmlformats.org/drawingml/2006/main" noGrp="1"/>
          </p:cNvSpPr>
          <p:nvPr/>
        </p:nvSpPr>
        <p:spPr>
          <a:xfrm xmlns:a="http://schemas.openxmlformats.org/drawingml/2006/main">
            <a:off x="2428875" y="4019550"/>
            <a:ext cx="1223962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Bereken met bron C de loonkosten per product vóór en na het nieuwe werkproces en de procentuele verandering.</a:t>
            </a:r>
          </a:p>
        </p:txBody>
      </p:sp>
      <p:sp>
        <p:nvSpPr>
          <p:cNvPr id="10" name="">
            <a:extLst xmlns:a="http://schemas.openxmlformats.org/drawingml/2006/main">
              <a:ext uri="{FF2B5EF4-FFF2-40B4-BE49-F238E27FC236}">
                <a16:creationId xmlns:a16="http://schemas.microsoft.com/office/drawing/2014/main" id="{1C82DF49-6280-440F-8D29-B88BD2E6273F}"/>
              </a:ext>
            </a:extLst>
          </p:cNvPr>
          <p:cNvSpPr>
            <a:spLocks xmlns:a="http://schemas.openxmlformats.org/drawingml/2006/main" noGrp="1"/>
          </p:cNvSpPr>
          <p:nvPr/>
        </p:nvSpPr>
        <p:spPr>
          <a:xfrm xmlns:a="http://schemas.openxmlformats.org/drawingml/2006/main">
            <a:off x="571500" y="5772150"/>
            <a:ext cx="14097000" cy="0"/>
          </a:xfrm>
          <a:prstGeom xmlns:a="http://schemas.openxmlformats.org/drawingml/2006/main" prst="line">
            <a:avLst/>
          </a:prstGeom>
          <a:ln xmlns:a="http://schemas.openxmlformats.org/drawingml/2006/main" w="19050">
            <a:solidFill>
              <a:srgbClr val="C6D2DB"/>
            </a:solidFill>
          </a:ln>
        </p:spPr>
      </p:sp>
      <p:sp>
        <p:nvSpPr>
          <p:cNvPr id="11" name="f (2p)">
            <a:extLst xmlns:a="http://schemas.openxmlformats.org/drawingml/2006/main">
              <a:ext uri="{FF2B5EF4-FFF2-40B4-BE49-F238E27FC236}">
                <a16:creationId xmlns:a16="http://schemas.microsoft.com/office/drawing/2014/main" id="{1E87DF8A-6046-4E6E-AB4D-8A1660F88A78}"/>
              </a:ext>
            </a:extLst>
          </p:cNvPr>
          <p:cNvSpPr>
            <a:spLocks xmlns:a="http://schemas.openxmlformats.org/drawingml/2006/main" noGrp="1"/>
          </p:cNvSpPr>
          <p:nvPr/>
        </p:nvSpPr>
        <p:spPr>
          <a:xfrm xmlns:a="http://schemas.openxmlformats.org/drawingml/2006/main">
            <a:off x="571500" y="6019800"/>
            <a:ext cx="147637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A94D16"/>
                </a:solidFill>
                <a:latin typeface="Arial"/>
                <a:ea typeface="Arial"/>
                <a:cs typeface="Arial"/>
              </a:defRPr>
            </a:pPr>
            <a:r>
              <a:rPr sz="2700" b="1">
                <a:solidFill>
                  <a:srgbClr val="A94D16"/>
                </a:solidFill>
                <a:latin typeface="Arial"/>
                <a:ea typeface="Arial"/>
                <a:cs typeface="Arial"/>
              </a:rPr>
              <a:t>f (2p)</a:t>
            </a:r>
          </a:p>
        </p:txBody>
      </p:sp>
      <p:sp>
        <p:nvSpPr>
          <p:cNvPr id="12" name="Beoordeel de garantie van meer banen in bron C. Noem één ond">
            <a:extLst xmlns:a="http://schemas.openxmlformats.org/drawingml/2006/main">
              <a:ext uri="{FF2B5EF4-FFF2-40B4-BE49-F238E27FC236}">
                <a16:creationId xmlns:a16="http://schemas.microsoft.com/office/drawing/2014/main" id="{13C4F727-CB83-4EF0-B4F4-6331BA3C9F64}"/>
              </a:ext>
            </a:extLst>
          </p:cNvPr>
          <p:cNvSpPr>
            <a:spLocks xmlns:a="http://schemas.openxmlformats.org/drawingml/2006/main" noGrp="1"/>
          </p:cNvSpPr>
          <p:nvPr/>
        </p:nvSpPr>
        <p:spPr>
          <a:xfrm xmlns:a="http://schemas.openxmlformats.org/drawingml/2006/main">
            <a:off x="2428875" y="6019800"/>
            <a:ext cx="1223962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Beoordeel de garantie van meer banen in bron C. Noem één ondersteunde uitkomst en één ontbrekend gegeven dat de werkgelegenheid kan beïnvloeden.</a:t>
            </a:r>
          </a:p>
        </p:txBody>
      </p:sp>
    </p:spTree>
    <p:extLst>
      <p:ext uri="{BB962C8B-B14F-4D97-AF65-F5344CB8AC3E}">
        <p14:creationId xmlns:p14="http://schemas.microsoft.com/office/powerpoint/2010/main" val="812904821"/>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Opgave 40a · Beroepsbevolking en twee noemers">
            <a:extLst xmlns:a="http://schemas.openxmlformats.org/drawingml/2006/main">
              <a:ext uri="{FF2B5EF4-FFF2-40B4-BE49-F238E27FC236}">
                <a16:creationId xmlns:a16="http://schemas.microsoft.com/office/drawing/2014/main" id="{BD01DCC9-3649-456F-99DE-624CF356CFF3}"/>
              </a:ext>
            </a:extLst>
          </p:cNvPr>
          <p:cNvSpPr>
            <a:spLocks xmlns:a="http://schemas.openxmlformats.org/drawingml/2006/main" noGrp="1"/>
          </p:cNvSpPr>
          <p:nvPr/>
        </p:nvSpPr>
        <p:spPr>
          <a:xfrm xmlns:a="http://schemas.openxmlformats.org/drawingml/2006/main">
            <a:off x="571500" y="400050"/>
            <a:ext cx="14097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40a · Beroepsbevolking en twee noemers</a:t>
            </a:r>
          </a:p>
        </p:txBody>
      </p:sp>
      <p:sp>
        <p:nvSpPr>
          <p:cNvPr id="2" name="">
            <a:extLst xmlns:a="http://schemas.openxmlformats.org/drawingml/2006/main">
              <a:ext uri="{FF2B5EF4-FFF2-40B4-BE49-F238E27FC236}">
                <a16:creationId xmlns:a16="http://schemas.microsoft.com/office/drawing/2014/main" id="{710DD1D8-DDB2-48AA-AAA0-ADE7AD4E6DC4}"/>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Opgave 40 · Bronnen p. 152 · Vragen p. 153">
            <a:extLst xmlns:a="http://schemas.openxmlformats.org/drawingml/2006/main">
              <a:ext uri="{FF2B5EF4-FFF2-40B4-BE49-F238E27FC236}">
                <a16:creationId xmlns:a16="http://schemas.microsoft.com/office/drawing/2014/main" id="{1B41B0A0-359E-4A94-AC3F-7CED3676E265}"/>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Opgave 40 · Bronnen p. 152 · Vragen p. 153</a:t>
            </a:r>
          </a:p>
        </p:txBody>
      </p:sp>
      <p:sp>
        <p:nvSpPr>
          <p:cNvPr id="4" name="12">
            <a:extLst xmlns:a="http://schemas.openxmlformats.org/drawingml/2006/main">
              <a:ext uri="{FF2B5EF4-FFF2-40B4-BE49-F238E27FC236}">
                <a16:creationId xmlns:a16="http://schemas.microsoft.com/office/drawing/2014/main" id="{6ADD15CC-75D8-4DD3-AEDF-3834F9417ACA}"/>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12</a:t>
            </a:r>
          </a:p>
        </p:txBody>
      </p:sp>
      <p:sp>
        <p:nvSpPr>
          <p:cNvPr id="5" name="Beroepsbevolking = werkenden + werklozen">
            <a:extLst xmlns:a="http://schemas.openxmlformats.org/drawingml/2006/main">
              <a:ext uri="{FF2B5EF4-FFF2-40B4-BE49-F238E27FC236}">
                <a16:creationId xmlns:a16="http://schemas.microsoft.com/office/drawing/2014/main" id="{C77B08A5-0CA7-4E9E-B23F-679B2688E5AB}"/>
              </a:ext>
            </a:extLst>
          </p:cNvPr>
          <p:cNvSpPr>
            <a:spLocks xmlns:a="http://schemas.openxmlformats.org/drawingml/2006/main" noGrp="1"/>
          </p:cNvSpPr>
          <p:nvPr/>
        </p:nvSpPr>
        <p:spPr>
          <a:xfrm xmlns:a="http://schemas.openxmlformats.org/drawingml/2006/main">
            <a:off x="571500" y="1819275"/>
            <a:ext cx="1409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7658A"/>
                </a:solidFill>
                <a:latin typeface="Arial"/>
                <a:ea typeface="Arial"/>
                <a:cs typeface="Arial"/>
              </a:defRPr>
            </a:pPr>
            <a:r>
              <a:rPr sz="2850" b="1">
                <a:solidFill>
                  <a:srgbClr val="17658A"/>
                </a:solidFill>
                <a:latin typeface="Arial"/>
                <a:ea typeface="Arial"/>
                <a:cs typeface="Arial"/>
              </a:rPr>
              <a:t>Beroepsbevolking = werkenden + werklozen</a:t>
            </a:r>
          </a:p>
        </p:txBody>
      </p:sp>
      <p:sp>
        <p:nvSpPr>
          <p:cNvPr id="6" name="12.600 + 1.400 = 14.000 personen">
            <a:extLst xmlns:a="http://schemas.openxmlformats.org/drawingml/2006/main">
              <a:ext uri="{FF2B5EF4-FFF2-40B4-BE49-F238E27FC236}">
                <a16:creationId xmlns:a16="http://schemas.microsoft.com/office/drawing/2014/main" id="{296176FC-DD8C-4328-9EDD-906FC3856FC4}"/>
              </a:ext>
            </a:extLst>
          </p:cNvPr>
          <p:cNvSpPr>
            <a:spLocks xmlns:a="http://schemas.openxmlformats.org/drawingml/2006/main" noGrp="1"/>
          </p:cNvSpPr>
          <p:nvPr/>
        </p:nvSpPr>
        <p:spPr>
          <a:xfrm xmlns:a="http://schemas.openxmlformats.org/drawingml/2006/main">
            <a:off x="571500" y="2524125"/>
            <a:ext cx="1409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83247"/>
                </a:solidFill>
                <a:latin typeface="Arial"/>
                <a:ea typeface="Arial"/>
                <a:cs typeface="Arial"/>
              </a:defRPr>
            </a:pPr>
            <a:r>
              <a:rPr sz="3300" b="1">
                <a:solidFill>
                  <a:srgbClr val="183247"/>
                </a:solidFill>
                <a:latin typeface="Arial"/>
                <a:ea typeface="Arial"/>
                <a:cs typeface="Arial"/>
              </a:rPr>
              <a:t>12.600 + 1.400 = 14.000 personen</a:t>
            </a:r>
          </a:p>
        </p:txBody>
      </p:sp>
      <p:sp>
        <p:nvSpPr>
          <p:cNvPr id="7" name="Bevolking = 14.000 + 6.000 = 20.000 personen">
            <a:extLst xmlns:a="http://schemas.openxmlformats.org/drawingml/2006/main">
              <a:ext uri="{FF2B5EF4-FFF2-40B4-BE49-F238E27FC236}">
                <a16:creationId xmlns:a16="http://schemas.microsoft.com/office/drawing/2014/main" id="{66A7E43A-4AEB-4E77-8451-64966DC956C3}"/>
              </a:ext>
            </a:extLst>
          </p:cNvPr>
          <p:cNvSpPr>
            <a:spLocks xmlns:a="http://schemas.openxmlformats.org/drawingml/2006/main" noGrp="1"/>
          </p:cNvSpPr>
          <p:nvPr/>
        </p:nvSpPr>
        <p:spPr>
          <a:xfrm xmlns:a="http://schemas.openxmlformats.org/drawingml/2006/main">
            <a:off x="571500" y="3476625"/>
            <a:ext cx="1409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0">
                <a:solidFill>
                  <a:srgbClr val="183247"/>
                </a:solidFill>
                <a:latin typeface="Arial"/>
                <a:ea typeface="Arial"/>
                <a:cs typeface="Arial"/>
              </a:defRPr>
            </a:pPr>
            <a:r>
              <a:rPr sz="2925" b="0">
                <a:solidFill>
                  <a:srgbClr val="183247"/>
                </a:solidFill>
                <a:latin typeface="Arial"/>
                <a:ea typeface="Arial"/>
                <a:cs typeface="Arial"/>
              </a:rPr>
              <a:t>Bevolking = 14.000 + 6.000 = 20.000 personen</a:t>
            </a:r>
          </a:p>
        </p:txBody>
      </p:sp>
      <p:sp>
        <p:nvSpPr>
          <p:cNvPr id="8" name="">
            <a:extLst xmlns:a="http://schemas.openxmlformats.org/drawingml/2006/main">
              <a:ext uri="{FF2B5EF4-FFF2-40B4-BE49-F238E27FC236}">
                <a16:creationId xmlns:a16="http://schemas.microsoft.com/office/drawing/2014/main" id="{9E353076-17F9-49A1-A73E-92CF55D23B21}"/>
              </a:ext>
            </a:extLst>
          </p:cNvPr>
          <p:cNvSpPr>
            <a:spLocks xmlns:a="http://schemas.openxmlformats.org/drawingml/2006/main" noGrp="1"/>
          </p:cNvSpPr>
          <p:nvPr/>
        </p:nvSpPr>
        <p:spPr>
          <a:xfrm xmlns:a="http://schemas.openxmlformats.org/drawingml/2006/main">
            <a:off x="571500" y="4343400"/>
            <a:ext cx="14097000" cy="0"/>
          </a:xfrm>
          <a:prstGeom xmlns:a="http://schemas.openxmlformats.org/drawingml/2006/main" prst="line">
            <a:avLst/>
          </a:prstGeom>
          <a:ln xmlns:a="http://schemas.openxmlformats.org/drawingml/2006/main" w="19050">
            <a:solidFill>
              <a:srgbClr val="C6D2DB"/>
            </a:solidFill>
          </a:ln>
        </p:spPr>
      </p:sp>
      <p:sp>
        <p:nvSpPr>
          <p:cNvPr id="9" name="Bruto-participatie = beroepsbevolking / bevolking × 100%">
            <a:extLst xmlns:a="http://schemas.openxmlformats.org/drawingml/2006/main">
              <a:ext uri="{FF2B5EF4-FFF2-40B4-BE49-F238E27FC236}">
                <a16:creationId xmlns:a16="http://schemas.microsoft.com/office/drawing/2014/main" id="{8DC2867D-3D15-4006-B851-2EE05AFACFC5}"/>
              </a:ext>
            </a:extLst>
          </p:cNvPr>
          <p:cNvSpPr>
            <a:spLocks xmlns:a="http://schemas.openxmlformats.org/drawingml/2006/main" noGrp="1"/>
          </p:cNvSpPr>
          <p:nvPr/>
        </p:nvSpPr>
        <p:spPr>
          <a:xfrm xmlns:a="http://schemas.openxmlformats.org/drawingml/2006/main">
            <a:off x="571500" y="4686300"/>
            <a:ext cx="14097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Bruto-participatie = beroepsbevolking / bevolking × 100%</a:t>
            </a:r>
          </a:p>
        </p:txBody>
      </p:sp>
      <p:sp>
        <p:nvSpPr>
          <p:cNvPr id="10" name="14.000 / 20.000 × 100% = 70%">
            <a:extLst xmlns:a="http://schemas.openxmlformats.org/drawingml/2006/main">
              <a:ext uri="{FF2B5EF4-FFF2-40B4-BE49-F238E27FC236}">
                <a16:creationId xmlns:a16="http://schemas.microsoft.com/office/drawing/2014/main" id="{B17BD9AB-15AF-43C6-994C-30A4693EA634}"/>
              </a:ext>
            </a:extLst>
          </p:cNvPr>
          <p:cNvSpPr>
            <a:spLocks xmlns:a="http://schemas.openxmlformats.org/drawingml/2006/main" noGrp="1"/>
          </p:cNvSpPr>
          <p:nvPr/>
        </p:nvSpPr>
        <p:spPr>
          <a:xfrm xmlns:a="http://schemas.openxmlformats.org/drawingml/2006/main">
            <a:off x="571500" y="5343525"/>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1">
                <a:solidFill>
                  <a:srgbClr val="20665B"/>
                </a:solidFill>
                <a:latin typeface="Arial"/>
                <a:ea typeface="Arial"/>
                <a:cs typeface="Arial"/>
              </a:defRPr>
            </a:pPr>
            <a:r>
              <a:rPr sz="3375" b="1">
                <a:solidFill>
                  <a:srgbClr val="20665B"/>
                </a:solidFill>
                <a:latin typeface="Arial"/>
                <a:ea typeface="Arial"/>
                <a:cs typeface="Arial"/>
              </a:rPr>
              <a:t>14.000 / 20.000 × 100% = 70%</a:t>
            </a:r>
          </a:p>
        </p:txBody>
      </p:sp>
      <p:sp>
        <p:nvSpPr>
          <p:cNvPr id="11" name="Werkloosheid = werklozen / beroepsbevolking × 100%">
            <a:extLst xmlns:a="http://schemas.openxmlformats.org/drawingml/2006/main">
              <a:ext uri="{FF2B5EF4-FFF2-40B4-BE49-F238E27FC236}">
                <a16:creationId xmlns:a16="http://schemas.microsoft.com/office/drawing/2014/main" id="{A3BAAC26-D32B-4AB1-9F2E-8848D5AAE477}"/>
              </a:ext>
            </a:extLst>
          </p:cNvPr>
          <p:cNvSpPr>
            <a:spLocks xmlns:a="http://schemas.openxmlformats.org/drawingml/2006/main" noGrp="1"/>
          </p:cNvSpPr>
          <p:nvPr/>
        </p:nvSpPr>
        <p:spPr>
          <a:xfrm xmlns:a="http://schemas.openxmlformats.org/drawingml/2006/main">
            <a:off x="571500" y="6477000"/>
            <a:ext cx="14097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Werkloosheid = werklozen / beroepsbevolking × 100%</a:t>
            </a:r>
          </a:p>
        </p:txBody>
      </p:sp>
      <p:sp>
        <p:nvSpPr>
          <p:cNvPr id="12" name="1.400 / 14.000 × 100% = 10%">
            <a:extLst xmlns:a="http://schemas.openxmlformats.org/drawingml/2006/main">
              <a:ext uri="{FF2B5EF4-FFF2-40B4-BE49-F238E27FC236}">
                <a16:creationId xmlns:a16="http://schemas.microsoft.com/office/drawing/2014/main" id="{DDF3BB78-FF5A-4B34-85AE-B654679D1E11}"/>
              </a:ext>
            </a:extLst>
          </p:cNvPr>
          <p:cNvSpPr>
            <a:spLocks xmlns:a="http://schemas.openxmlformats.org/drawingml/2006/main" noGrp="1"/>
          </p:cNvSpPr>
          <p:nvPr/>
        </p:nvSpPr>
        <p:spPr>
          <a:xfrm xmlns:a="http://schemas.openxmlformats.org/drawingml/2006/main">
            <a:off x="571500" y="7172325"/>
            <a:ext cx="14097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1">
                <a:solidFill>
                  <a:srgbClr val="A94D16"/>
                </a:solidFill>
                <a:latin typeface="Arial"/>
                <a:ea typeface="Arial"/>
                <a:cs typeface="Arial"/>
              </a:defRPr>
            </a:pPr>
            <a:r>
              <a:rPr sz="3375" b="1">
                <a:solidFill>
                  <a:srgbClr val="A94D16"/>
                </a:solidFill>
                <a:latin typeface="Arial"/>
                <a:ea typeface="Arial"/>
                <a:cs typeface="Arial"/>
              </a:rPr>
              <a:t>1.400 / 14.000 × 100% = 10%</a:t>
            </a:r>
          </a:p>
        </p:txBody>
      </p:sp>
    </p:spTree>
    <p:extLst>
      <p:ext uri="{BB962C8B-B14F-4D97-AF65-F5344CB8AC3E}">
        <p14:creationId xmlns:p14="http://schemas.microsoft.com/office/powerpoint/2010/main" val="1678804733"/>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Opgave 40b · Het oorspronkelijke evenwicht">
            <a:extLst xmlns:a="http://schemas.openxmlformats.org/drawingml/2006/main">
              <a:ext uri="{FF2B5EF4-FFF2-40B4-BE49-F238E27FC236}">
                <a16:creationId xmlns:a16="http://schemas.microsoft.com/office/drawing/2014/main" id="{05E35DB3-48E9-4612-9FDA-5BFF471170E6}"/>
              </a:ext>
            </a:extLst>
          </p:cNvPr>
          <p:cNvSpPr>
            <a:spLocks xmlns:a="http://schemas.openxmlformats.org/drawingml/2006/main" noGrp="1"/>
          </p:cNvSpPr>
          <p:nvPr/>
        </p:nvSpPr>
        <p:spPr>
          <a:xfrm xmlns:a="http://schemas.openxmlformats.org/drawingml/2006/main">
            <a:off x="571500" y="400050"/>
            <a:ext cx="14097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40b · Het oorspronkelijke evenwicht</a:t>
            </a:r>
          </a:p>
        </p:txBody>
      </p:sp>
      <p:sp>
        <p:nvSpPr>
          <p:cNvPr id="2" name="">
            <a:extLst xmlns:a="http://schemas.openxmlformats.org/drawingml/2006/main">
              <a:ext uri="{FF2B5EF4-FFF2-40B4-BE49-F238E27FC236}">
                <a16:creationId xmlns:a16="http://schemas.microsoft.com/office/drawing/2014/main" id="{C4613697-0217-44BD-90A1-90B45488B065}"/>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Opgave 40 · Bronnen p. 152 · Vragen p. 153">
            <a:extLst xmlns:a="http://schemas.openxmlformats.org/drawingml/2006/main">
              <a:ext uri="{FF2B5EF4-FFF2-40B4-BE49-F238E27FC236}">
                <a16:creationId xmlns:a16="http://schemas.microsoft.com/office/drawing/2014/main" id="{AE6E8F3E-BD53-48BE-9FC9-EC9191FB6477}"/>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Opgave 40 · Bronnen p. 152 · Vragen p. 153</a:t>
            </a:r>
          </a:p>
        </p:txBody>
      </p:sp>
      <p:sp>
        <p:nvSpPr>
          <p:cNvPr id="4" name="13">
            <a:extLst xmlns:a="http://schemas.openxmlformats.org/drawingml/2006/main">
              <a:ext uri="{FF2B5EF4-FFF2-40B4-BE49-F238E27FC236}">
                <a16:creationId xmlns:a16="http://schemas.microsoft.com/office/drawing/2014/main" id="{3F994C7D-97E3-484A-B131-2B4FDB69FAEA}"/>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13</a:t>
            </a:r>
          </a:p>
        </p:txBody>
      </p:sp>
      <p:sp>
        <p:nvSpPr>
          <p:cNvPr id="5" name="Bron B: Lᵥ = Lₐ">
            <a:extLst xmlns:a="http://schemas.openxmlformats.org/drawingml/2006/main">
              <a:ext uri="{FF2B5EF4-FFF2-40B4-BE49-F238E27FC236}">
                <a16:creationId xmlns:a16="http://schemas.microsoft.com/office/drawing/2014/main" id="{7AB9BABD-6D0C-4772-B15D-AB5228B2329F}"/>
              </a:ext>
            </a:extLst>
          </p:cNvPr>
          <p:cNvSpPr>
            <a:spLocks xmlns:a="http://schemas.openxmlformats.org/drawingml/2006/main" noGrp="1"/>
          </p:cNvSpPr>
          <p:nvPr/>
        </p:nvSpPr>
        <p:spPr>
          <a:xfrm xmlns:a="http://schemas.openxmlformats.org/drawingml/2006/main">
            <a:off x="571500" y="1790700"/>
            <a:ext cx="140970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7658A"/>
                </a:solidFill>
                <a:latin typeface="Arial"/>
                <a:ea typeface="Arial"/>
                <a:cs typeface="Arial"/>
              </a:defRPr>
            </a:pPr>
            <a:r>
              <a:rPr sz="2700" b="1">
                <a:solidFill>
                  <a:srgbClr val="17658A"/>
                </a:solidFill>
                <a:latin typeface="Arial"/>
                <a:ea typeface="Arial"/>
                <a:cs typeface="Arial"/>
              </a:rPr>
              <a:t>Bron B: Lᵥ = Lₐ</a:t>
            </a:r>
          </a:p>
        </p:txBody>
      </p:sp>
      <p:sp>
        <p:nvSpPr>
          <p:cNvPr id="6" name="240 − 10w = −40 + 10w&#10;280 = 20w&#10;w = € 14 per uur">
            <a:extLst xmlns:a="http://schemas.openxmlformats.org/drawingml/2006/main">
              <a:ext uri="{FF2B5EF4-FFF2-40B4-BE49-F238E27FC236}">
                <a16:creationId xmlns:a16="http://schemas.microsoft.com/office/drawing/2014/main" id="{5B8FDC98-0E27-4BF1-9F06-1B8285A4CEBD}"/>
              </a:ext>
            </a:extLst>
          </p:cNvPr>
          <p:cNvSpPr>
            <a:spLocks xmlns:a="http://schemas.openxmlformats.org/drawingml/2006/main" noGrp="1"/>
          </p:cNvSpPr>
          <p:nvPr/>
        </p:nvSpPr>
        <p:spPr>
          <a:xfrm xmlns:a="http://schemas.openxmlformats.org/drawingml/2006/main">
            <a:off x="571500" y="2619375"/>
            <a:ext cx="14097000"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83247"/>
                </a:solidFill>
                <a:latin typeface="Arial"/>
                <a:ea typeface="Arial"/>
                <a:cs typeface="Arial"/>
              </a:defRPr>
            </a:pPr>
            <a:r>
              <a:rPr sz="3600" b="1">
                <a:solidFill>
                  <a:srgbClr val="183247"/>
                </a:solidFill>
                <a:latin typeface="Arial"/>
                <a:ea typeface="Arial"/>
                <a:cs typeface="Arial"/>
              </a:rPr>
              <a:t>240 − 10w = −40 + 10w</a:t>
            </a:r>
          </a:p>
          <a:p xmlns:a="http://schemas.openxmlformats.org/drawingml/2006/main">
            <a:pPr algn="l">
              <a:defRPr sz="3600" b="1">
                <a:solidFill>
                  <a:srgbClr val="183247"/>
                </a:solidFill>
                <a:latin typeface="Arial"/>
                <a:ea typeface="Arial"/>
                <a:cs typeface="Arial"/>
              </a:defRPr>
            </a:pPr>
            <a:r>
              <a:rPr sz="3600" b="1">
                <a:solidFill>
                  <a:srgbClr val="183247"/>
                </a:solidFill>
                <a:latin typeface="Arial"/>
                <a:ea typeface="Arial"/>
                <a:cs typeface="Arial"/>
              </a:rPr>
              <a:t>280 = 20w</a:t>
            </a:r>
          </a:p>
          <a:p xmlns:a="http://schemas.openxmlformats.org/drawingml/2006/main">
            <a:pPr algn="l">
              <a:defRPr sz="3600" b="1">
                <a:solidFill>
                  <a:srgbClr val="183247"/>
                </a:solidFill>
                <a:latin typeface="Arial"/>
                <a:ea typeface="Arial"/>
                <a:cs typeface="Arial"/>
              </a:defRPr>
            </a:pPr>
            <a:r>
              <a:rPr sz="3600" b="1">
                <a:solidFill>
                  <a:srgbClr val="183247"/>
                </a:solidFill>
                <a:latin typeface="Arial"/>
                <a:ea typeface="Arial"/>
                <a:cs typeface="Arial"/>
              </a:rPr>
              <a:t>w = € 14 per uur</a:t>
            </a:r>
          </a:p>
        </p:txBody>
      </p:sp>
      <p:sp>
        <p:nvSpPr>
          <p:cNvPr id="7" name="L = 240 − 10 × 14 = 100 personen">
            <a:extLst xmlns:a="http://schemas.openxmlformats.org/drawingml/2006/main">
              <a:ext uri="{FF2B5EF4-FFF2-40B4-BE49-F238E27FC236}">
                <a16:creationId xmlns:a16="http://schemas.microsoft.com/office/drawing/2014/main" id="{A10B693F-83F3-47BA-90A0-9FC3C1C3A40C}"/>
              </a:ext>
            </a:extLst>
          </p:cNvPr>
          <p:cNvSpPr>
            <a:spLocks xmlns:a="http://schemas.openxmlformats.org/drawingml/2006/main" noGrp="1"/>
          </p:cNvSpPr>
          <p:nvPr/>
        </p:nvSpPr>
        <p:spPr>
          <a:xfrm xmlns:a="http://schemas.openxmlformats.org/drawingml/2006/main">
            <a:off x="571500" y="5200650"/>
            <a:ext cx="14097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1">
                <a:solidFill>
                  <a:srgbClr val="20665B"/>
                </a:solidFill>
                <a:latin typeface="Arial"/>
                <a:ea typeface="Arial"/>
                <a:cs typeface="Arial"/>
              </a:defRPr>
            </a:pPr>
            <a:r>
              <a:rPr sz="3375" b="1">
                <a:solidFill>
                  <a:srgbClr val="20665B"/>
                </a:solidFill>
                <a:latin typeface="Arial"/>
                <a:ea typeface="Arial"/>
                <a:cs typeface="Arial"/>
              </a:rPr>
              <a:t>L = 240 − 10 × 14 = 100 personen</a:t>
            </a:r>
          </a:p>
        </p:txBody>
      </p:sp>
      <p:sp>
        <p:nvSpPr>
          <p:cNvPr id="8" name="Controle in het aanbod: −40 + 10 × 14 = 100 personen&#10;€ 14 li">
            <a:extLst xmlns:a="http://schemas.openxmlformats.org/drawingml/2006/main">
              <a:ext uri="{FF2B5EF4-FFF2-40B4-BE49-F238E27FC236}">
                <a16:creationId xmlns:a16="http://schemas.microsoft.com/office/drawing/2014/main" id="{5C1AE388-B473-4517-962E-91653A9447A6}"/>
              </a:ext>
            </a:extLst>
          </p:cNvPr>
          <p:cNvSpPr>
            <a:spLocks xmlns:a="http://schemas.openxmlformats.org/drawingml/2006/main" noGrp="1"/>
          </p:cNvSpPr>
          <p:nvPr/>
        </p:nvSpPr>
        <p:spPr>
          <a:xfrm xmlns:a="http://schemas.openxmlformats.org/drawingml/2006/main">
            <a:off x="571500" y="6667500"/>
            <a:ext cx="14097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0">
                <a:solidFill>
                  <a:srgbClr val="183247"/>
                </a:solidFill>
                <a:latin typeface="Arial"/>
                <a:ea typeface="Arial"/>
                <a:cs typeface="Arial"/>
              </a:defRPr>
            </a:pPr>
            <a:r>
              <a:rPr sz="2625" b="0">
                <a:solidFill>
                  <a:srgbClr val="183247"/>
                </a:solidFill>
                <a:latin typeface="Arial"/>
                <a:ea typeface="Arial"/>
                <a:cs typeface="Arial"/>
              </a:rPr>
              <a:t>Controle in het aanbod: −40 + 10 × 14 = 100 personen</a:t>
            </a:r>
          </a:p>
          <a:p xmlns:a="http://schemas.openxmlformats.org/drawingml/2006/main">
            <a:pPr algn="l">
              <a:defRPr sz="2625" b="0">
                <a:solidFill>
                  <a:srgbClr val="183247"/>
                </a:solidFill>
                <a:latin typeface="Arial"/>
                <a:ea typeface="Arial"/>
                <a:cs typeface="Arial"/>
              </a:defRPr>
            </a:pPr>
            <a:r>
              <a:rPr sz="2625" b="0">
                <a:solidFill>
                  <a:srgbClr val="183247"/>
                </a:solidFill>
                <a:latin typeface="Arial"/>
                <a:ea typeface="Arial"/>
                <a:cs typeface="Arial"/>
              </a:rPr>
              <a:t>€ 14 ligt binnen het bereik € 4–€ 24.</a:t>
            </a:r>
          </a:p>
        </p:txBody>
      </p:sp>
    </p:spTree>
    <p:extLst>
      <p:ext uri="{BB962C8B-B14F-4D97-AF65-F5344CB8AC3E}">
        <p14:creationId xmlns:p14="http://schemas.microsoft.com/office/powerpoint/2010/main" val="886732225"/>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Opgave 40c · Het nieuwe evenwicht">
            <a:extLst xmlns:a="http://schemas.openxmlformats.org/drawingml/2006/main">
              <a:ext uri="{FF2B5EF4-FFF2-40B4-BE49-F238E27FC236}">
                <a16:creationId xmlns:a16="http://schemas.microsoft.com/office/drawing/2014/main" id="{6EECB23C-3D84-4238-A0F8-0C0E99C8B2A3}"/>
              </a:ext>
            </a:extLst>
          </p:cNvPr>
          <p:cNvSpPr>
            <a:spLocks xmlns:a="http://schemas.openxmlformats.org/drawingml/2006/main" noGrp="1"/>
          </p:cNvSpPr>
          <p:nvPr/>
        </p:nvSpPr>
        <p:spPr>
          <a:xfrm xmlns:a="http://schemas.openxmlformats.org/drawingml/2006/main">
            <a:off x="571500" y="400050"/>
            <a:ext cx="14097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40c · Het nieuwe evenwicht</a:t>
            </a:r>
          </a:p>
        </p:txBody>
      </p:sp>
      <p:sp>
        <p:nvSpPr>
          <p:cNvPr id="2" name="">
            <a:extLst xmlns:a="http://schemas.openxmlformats.org/drawingml/2006/main">
              <a:ext uri="{FF2B5EF4-FFF2-40B4-BE49-F238E27FC236}">
                <a16:creationId xmlns:a16="http://schemas.microsoft.com/office/drawing/2014/main" id="{9E087297-FB99-4916-B8A8-1BAE21E5F1E8}"/>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Opgave 40 · Bronnen p. 152 · Vragen p. 153">
            <a:extLst xmlns:a="http://schemas.openxmlformats.org/drawingml/2006/main">
              <a:ext uri="{FF2B5EF4-FFF2-40B4-BE49-F238E27FC236}">
                <a16:creationId xmlns:a16="http://schemas.microsoft.com/office/drawing/2014/main" id="{48F2A355-B433-449E-8C61-7A1EB0011302}"/>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Opgave 40 · Bronnen p. 152 · Vragen p. 153</a:t>
            </a:r>
          </a:p>
        </p:txBody>
      </p:sp>
      <p:sp>
        <p:nvSpPr>
          <p:cNvPr id="4" name="14">
            <a:extLst xmlns:a="http://schemas.openxmlformats.org/drawingml/2006/main">
              <a:ext uri="{FF2B5EF4-FFF2-40B4-BE49-F238E27FC236}">
                <a16:creationId xmlns:a16="http://schemas.microsoft.com/office/drawing/2014/main" id="{B320FAB8-6888-4D6A-A0D2-0585BCDC8D59}"/>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14</a:t>
            </a:r>
          </a:p>
        </p:txBody>
      </p:sp>
      <p:sp>
        <p:nvSpPr>
          <p:cNvPr id="5" name="Nieuwe vraag: Lᵥ = 280 − 10w; aanbod blijft Lₐ = −40 + 10w">
            <a:extLst xmlns:a="http://schemas.openxmlformats.org/drawingml/2006/main">
              <a:ext uri="{FF2B5EF4-FFF2-40B4-BE49-F238E27FC236}">
                <a16:creationId xmlns:a16="http://schemas.microsoft.com/office/drawing/2014/main" id="{F53101F2-D070-4E5A-A808-B8D4BDFE2B05}"/>
              </a:ext>
            </a:extLst>
          </p:cNvPr>
          <p:cNvSpPr>
            <a:spLocks xmlns:a="http://schemas.openxmlformats.org/drawingml/2006/main" noGrp="1"/>
          </p:cNvSpPr>
          <p:nvPr/>
        </p:nvSpPr>
        <p:spPr>
          <a:xfrm xmlns:a="http://schemas.openxmlformats.org/drawingml/2006/main">
            <a:off x="571500" y="1790700"/>
            <a:ext cx="14097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7658A"/>
                </a:solidFill>
                <a:latin typeface="Arial"/>
                <a:ea typeface="Arial"/>
                <a:cs typeface="Arial"/>
              </a:defRPr>
            </a:pPr>
            <a:r>
              <a:rPr sz="2700" b="1">
                <a:solidFill>
                  <a:srgbClr val="17658A"/>
                </a:solidFill>
                <a:latin typeface="Arial"/>
                <a:ea typeface="Arial"/>
                <a:cs typeface="Arial"/>
              </a:rPr>
              <a:t>Nieuwe vraag: Lᵥ = 280 − 10w; aanbod blijft Lₐ = −40 + 10w</a:t>
            </a:r>
          </a:p>
        </p:txBody>
      </p:sp>
      <p:sp>
        <p:nvSpPr>
          <p:cNvPr id="6" name="280 − 10w = −40 + 10w&#10;320 = 20w&#10;w = € 16 per uur">
            <a:extLst xmlns:a="http://schemas.openxmlformats.org/drawingml/2006/main">
              <a:ext uri="{FF2B5EF4-FFF2-40B4-BE49-F238E27FC236}">
                <a16:creationId xmlns:a16="http://schemas.microsoft.com/office/drawing/2014/main" id="{5E3C202C-1DDF-4D1F-93DD-062D95CE1D9E}"/>
              </a:ext>
            </a:extLst>
          </p:cNvPr>
          <p:cNvSpPr>
            <a:spLocks xmlns:a="http://schemas.openxmlformats.org/drawingml/2006/main" noGrp="1"/>
          </p:cNvSpPr>
          <p:nvPr/>
        </p:nvSpPr>
        <p:spPr>
          <a:xfrm xmlns:a="http://schemas.openxmlformats.org/drawingml/2006/main">
            <a:off x="571500" y="2838450"/>
            <a:ext cx="14097000"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83247"/>
                </a:solidFill>
                <a:latin typeface="Arial"/>
                <a:ea typeface="Arial"/>
                <a:cs typeface="Arial"/>
              </a:defRPr>
            </a:pPr>
            <a:r>
              <a:rPr sz="3600" b="1">
                <a:solidFill>
                  <a:srgbClr val="183247"/>
                </a:solidFill>
                <a:latin typeface="Arial"/>
                <a:ea typeface="Arial"/>
                <a:cs typeface="Arial"/>
              </a:rPr>
              <a:t>280 − 10w = −40 + 10w</a:t>
            </a:r>
          </a:p>
          <a:p xmlns:a="http://schemas.openxmlformats.org/drawingml/2006/main">
            <a:pPr algn="l">
              <a:defRPr sz="3600" b="1">
                <a:solidFill>
                  <a:srgbClr val="183247"/>
                </a:solidFill>
                <a:latin typeface="Arial"/>
                <a:ea typeface="Arial"/>
                <a:cs typeface="Arial"/>
              </a:defRPr>
            </a:pPr>
            <a:r>
              <a:rPr sz="3600" b="1">
                <a:solidFill>
                  <a:srgbClr val="183247"/>
                </a:solidFill>
                <a:latin typeface="Arial"/>
                <a:ea typeface="Arial"/>
                <a:cs typeface="Arial"/>
              </a:rPr>
              <a:t>320 = 20w</a:t>
            </a:r>
          </a:p>
          <a:p xmlns:a="http://schemas.openxmlformats.org/drawingml/2006/main">
            <a:pPr algn="l">
              <a:defRPr sz="3600" b="1">
                <a:solidFill>
                  <a:srgbClr val="183247"/>
                </a:solidFill>
                <a:latin typeface="Arial"/>
                <a:ea typeface="Arial"/>
                <a:cs typeface="Arial"/>
              </a:defRPr>
            </a:pPr>
            <a:r>
              <a:rPr sz="3600" b="1">
                <a:solidFill>
                  <a:srgbClr val="183247"/>
                </a:solidFill>
                <a:latin typeface="Arial"/>
                <a:ea typeface="Arial"/>
                <a:cs typeface="Arial"/>
              </a:rPr>
              <a:t>w = € 16 per uur</a:t>
            </a:r>
          </a:p>
        </p:txBody>
      </p:sp>
      <p:sp>
        <p:nvSpPr>
          <p:cNvPr id="7" name="L = 280 − 10 × 16 = 120 personen">
            <a:extLst xmlns:a="http://schemas.openxmlformats.org/drawingml/2006/main">
              <a:ext uri="{FF2B5EF4-FFF2-40B4-BE49-F238E27FC236}">
                <a16:creationId xmlns:a16="http://schemas.microsoft.com/office/drawing/2014/main" id="{4B8F17AD-BBDA-4137-BD30-BE3B42C68270}"/>
              </a:ext>
            </a:extLst>
          </p:cNvPr>
          <p:cNvSpPr>
            <a:spLocks xmlns:a="http://schemas.openxmlformats.org/drawingml/2006/main" noGrp="1"/>
          </p:cNvSpPr>
          <p:nvPr/>
        </p:nvSpPr>
        <p:spPr>
          <a:xfrm xmlns:a="http://schemas.openxmlformats.org/drawingml/2006/main">
            <a:off x="571500" y="5372100"/>
            <a:ext cx="14097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1">
                <a:solidFill>
                  <a:srgbClr val="20665B"/>
                </a:solidFill>
                <a:latin typeface="Arial"/>
                <a:ea typeface="Arial"/>
                <a:cs typeface="Arial"/>
              </a:defRPr>
            </a:pPr>
            <a:r>
              <a:rPr sz="3375" b="1">
                <a:solidFill>
                  <a:srgbClr val="20665B"/>
                </a:solidFill>
                <a:latin typeface="Arial"/>
                <a:ea typeface="Arial"/>
                <a:cs typeface="Arial"/>
              </a:rPr>
              <a:t>L = 280 − 10 × 16 = 120 personen</a:t>
            </a:r>
          </a:p>
        </p:txBody>
      </p:sp>
      <p:sp>
        <p:nvSpPr>
          <p:cNvPr id="8" name="Controle: −40 + 10 × 16 = 120 personen&#10;€ 16 ligt binnen € 4–">
            <a:extLst xmlns:a="http://schemas.openxmlformats.org/drawingml/2006/main">
              <a:ext uri="{FF2B5EF4-FFF2-40B4-BE49-F238E27FC236}">
                <a16:creationId xmlns:a16="http://schemas.microsoft.com/office/drawing/2014/main" id="{28B4CB5B-1E62-4A12-8852-A80167F4E3D1}"/>
              </a:ext>
            </a:extLst>
          </p:cNvPr>
          <p:cNvSpPr>
            <a:spLocks xmlns:a="http://schemas.openxmlformats.org/drawingml/2006/main" noGrp="1"/>
          </p:cNvSpPr>
          <p:nvPr/>
        </p:nvSpPr>
        <p:spPr>
          <a:xfrm xmlns:a="http://schemas.openxmlformats.org/drawingml/2006/main">
            <a:off x="571500" y="6743700"/>
            <a:ext cx="14097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Controle: −40 + 10 × 16 = 120 personen</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€ 16 ligt binnen € 4–€ 24. Het loon én de werkgelegenheid stijgen.</a:t>
            </a:r>
          </a:p>
        </p:txBody>
      </p:sp>
    </p:spTree>
    <p:extLst>
      <p:ext uri="{BB962C8B-B14F-4D97-AF65-F5344CB8AC3E}">
        <p14:creationId xmlns:p14="http://schemas.microsoft.com/office/powerpoint/2010/main" val="586614500"/>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Opgave 40c · Beide evenwichten in de grafiek">
            <a:extLst xmlns:a="http://schemas.openxmlformats.org/drawingml/2006/main">
              <a:ext uri="{FF2B5EF4-FFF2-40B4-BE49-F238E27FC236}">
                <a16:creationId xmlns:a16="http://schemas.microsoft.com/office/drawing/2014/main" id="{4D954E74-C8D5-4E58-814D-3A4E4A741C7B}"/>
              </a:ext>
            </a:extLst>
          </p:cNvPr>
          <p:cNvSpPr>
            <a:spLocks xmlns:a="http://schemas.openxmlformats.org/drawingml/2006/main" noGrp="1"/>
          </p:cNvSpPr>
          <p:nvPr/>
        </p:nvSpPr>
        <p:spPr>
          <a:xfrm xmlns:a="http://schemas.openxmlformats.org/drawingml/2006/main">
            <a:off x="571500" y="400050"/>
            <a:ext cx="14097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40c · Beide evenwichten in de grafiek</a:t>
            </a:r>
          </a:p>
        </p:txBody>
      </p:sp>
      <p:sp>
        <p:nvSpPr>
          <p:cNvPr id="2" name="">
            <a:extLst xmlns:a="http://schemas.openxmlformats.org/drawingml/2006/main">
              <a:ext uri="{FF2B5EF4-FFF2-40B4-BE49-F238E27FC236}">
                <a16:creationId xmlns:a16="http://schemas.microsoft.com/office/drawing/2014/main" id="{7F4EAA23-4AA1-4881-86CB-9CF7BEC41846}"/>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Opgave 40 · Bronnen p. 152 · Vragen p. 153">
            <a:extLst xmlns:a="http://schemas.openxmlformats.org/drawingml/2006/main">
              <a:ext uri="{FF2B5EF4-FFF2-40B4-BE49-F238E27FC236}">
                <a16:creationId xmlns:a16="http://schemas.microsoft.com/office/drawing/2014/main" id="{098A4039-D1FE-4655-9FEB-5C229EEB84DA}"/>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Opgave 40 · Bronnen p. 152 · Vragen p. 153</a:t>
            </a:r>
          </a:p>
        </p:txBody>
      </p:sp>
      <p:sp>
        <p:nvSpPr>
          <p:cNvPr id="4" name="15">
            <a:extLst xmlns:a="http://schemas.openxmlformats.org/drawingml/2006/main">
              <a:ext uri="{FF2B5EF4-FFF2-40B4-BE49-F238E27FC236}">
                <a16:creationId xmlns:a16="http://schemas.microsoft.com/office/drawing/2014/main" id="{C933BA14-92C3-471C-B803-B6BA9FB4D8D3}"/>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15</a:t>
            </a:r>
          </a:p>
        </p:txBody>
      </p:sp>
      <p:sp>
        <p:nvSpPr>
          <p:cNvPr id="5" name="Lijnstukken binnen het gegeven bereik € 4 ≤ w ≤ € 24">
            <a:extLst xmlns:a="http://schemas.openxmlformats.org/drawingml/2006/main">
              <a:ext uri="{FF2B5EF4-FFF2-40B4-BE49-F238E27FC236}">
                <a16:creationId xmlns:a16="http://schemas.microsoft.com/office/drawing/2014/main" id="{ED87D096-82F6-441E-92C9-304E0D3C94F1}"/>
              </a:ext>
            </a:extLst>
          </p:cNvPr>
          <p:cNvSpPr>
            <a:spLocks xmlns:a="http://schemas.openxmlformats.org/drawingml/2006/main" noGrp="1"/>
          </p:cNvSpPr>
          <p:nvPr/>
        </p:nvSpPr>
        <p:spPr>
          <a:xfrm xmlns:a="http://schemas.openxmlformats.org/drawingml/2006/main">
            <a:off x="571500" y="1666875"/>
            <a:ext cx="14097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7658A"/>
                </a:solidFill>
                <a:latin typeface="Arial"/>
                <a:ea typeface="Arial"/>
                <a:cs typeface="Arial"/>
              </a:defRPr>
            </a:pPr>
            <a:r>
              <a:rPr sz="2325" b="1">
                <a:solidFill>
                  <a:srgbClr val="17658A"/>
                </a:solidFill>
                <a:latin typeface="Arial"/>
                <a:ea typeface="Arial"/>
                <a:cs typeface="Arial"/>
              </a:rPr>
              <a:t>Lijnstukken binnen het gegeven bereik € 4 ≤ w ≤ € 24</a:t>
            </a:r>
          </a:p>
        </p:txBody>
      </p:sp>
      <p:graphicFrame>
        <p:nvGraphicFramePr>
          <p:cNvPr id="15" name="Chart"/>
          <p:cNvGraphicFramePr/>
          <p:nvPr/>
        </p:nvGraphicFramePr>
        <p:xfrm>
          <a:off xmlns:a="http://schemas.openxmlformats.org/drawingml/2006/main" x="619125" y="2171700"/>
          <a:ext xmlns:a="http://schemas.openxmlformats.org/drawingml/2006/main" cx="10191750" cy="5524500"/>
        </p:xfrm>
        <a:graphic xmlns:a="http://schemas.openxmlformats.org/drawingml/2006/main">
          <a:graphicData uri="http://schemas.openxmlformats.org/drawingml/2006/chart">
            <c:chart xmlns:r="http://schemas.openxmlformats.org/officeDocument/2006/relationships" xmlns:c="http://schemas.openxmlformats.org/drawingml/2006/chart" r:id="R1ae0fb7811784e3e"/>
          </a:graphicData>
        </a:graphic>
      </p:graphicFrame>
      <p:sp>
        <p:nvSpPr>
          <p:cNvPr id="7" name="E₀ = (100; 14)&#10;E₁ = (120; 16)">
            <a:extLst xmlns:a="http://schemas.openxmlformats.org/drawingml/2006/main">
              <a:ext uri="{FF2B5EF4-FFF2-40B4-BE49-F238E27FC236}">
                <a16:creationId xmlns:a16="http://schemas.microsoft.com/office/drawing/2014/main" id="{5070CBD3-99F6-4D4C-AE34-E2737F018F57}"/>
              </a:ext>
            </a:extLst>
          </p:cNvPr>
          <p:cNvSpPr>
            <a:spLocks xmlns:a="http://schemas.openxmlformats.org/drawingml/2006/main" noGrp="1"/>
          </p:cNvSpPr>
          <p:nvPr/>
        </p:nvSpPr>
        <p:spPr>
          <a:xfrm xmlns:a="http://schemas.openxmlformats.org/drawingml/2006/main">
            <a:off x="11096625" y="3038475"/>
            <a:ext cx="3571875"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83247"/>
                </a:solidFill>
                <a:latin typeface="Arial"/>
                <a:ea typeface="Arial"/>
                <a:cs typeface="Arial"/>
              </a:defRPr>
            </a:pPr>
            <a:r>
              <a:rPr sz="2700" b="1">
                <a:solidFill>
                  <a:srgbClr val="183247"/>
                </a:solidFill>
                <a:latin typeface="Arial"/>
                <a:ea typeface="Arial"/>
                <a:cs typeface="Arial"/>
              </a:rPr>
              <a:t>E₀ = (100; 14)</a:t>
            </a:r>
          </a:p>
          <a:p xmlns:a="http://schemas.openxmlformats.org/drawingml/2006/main">
            <a:pPr algn="l">
              <a:defRPr sz="2700" b="1">
                <a:solidFill>
                  <a:srgbClr val="183247"/>
                </a:solidFill>
                <a:latin typeface="Arial"/>
                <a:ea typeface="Arial"/>
                <a:cs typeface="Arial"/>
              </a:defRPr>
            </a:pPr>
            <a:r>
              <a:rPr sz="2700" b="1">
                <a:solidFill>
                  <a:srgbClr val="183247"/>
                </a:solidFill>
                <a:latin typeface="Arial"/>
                <a:ea typeface="Arial"/>
                <a:cs typeface="Arial"/>
              </a:rPr>
              <a:t>E₁ = (120; 16)</a:t>
            </a:r>
          </a:p>
        </p:txBody>
      </p:sp>
      <p:sp>
        <p:nvSpPr>
          <p:cNvPr id="8" name="Horizontaal: personen&#10;Verticaal: € per uur">
            <a:extLst xmlns:a="http://schemas.openxmlformats.org/drawingml/2006/main">
              <a:ext uri="{FF2B5EF4-FFF2-40B4-BE49-F238E27FC236}">
                <a16:creationId xmlns:a16="http://schemas.microsoft.com/office/drawing/2014/main" id="{72A1DE81-668F-42B4-84F6-316409C166ED}"/>
              </a:ext>
            </a:extLst>
          </p:cNvPr>
          <p:cNvSpPr>
            <a:spLocks xmlns:a="http://schemas.openxmlformats.org/drawingml/2006/main" noGrp="1"/>
          </p:cNvSpPr>
          <p:nvPr/>
        </p:nvSpPr>
        <p:spPr>
          <a:xfrm xmlns:a="http://schemas.openxmlformats.org/drawingml/2006/main">
            <a:off x="11096625" y="4667250"/>
            <a:ext cx="3571875"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83247"/>
                </a:solidFill>
                <a:latin typeface="Arial"/>
                <a:ea typeface="Arial"/>
                <a:cs typeface="Arial"/>
              </a:defRPr>
            </a:pPr>
            <a:r>
              <a:rPr sz="2175" b="0">
                <a:solidFill>
                  <a:srgbClr val="183247"/>
                </a:solidFill>
                <a:latin typeface="Arial"/>
                <a:ea typeface="Arial"/>
                <a:cs typeface="Arial"/>
              </a:rPr>
              <a:t>Horizontaal: personen</a:t>
            </a:r>
          </a:p>
          <a:p xmlns:a="http://schemas.openxmlformats.org/drawingml/2006/main">
            <a:pPr algn="l">
              <a:defRPr sz="2175" b="0">
                <a:solidFill>
                  <a:srgbClr val="183247"/>
                </a:solidFill>
                <a:latin typeface="Arial"/>
                <a:ea typeface="Arial"/>
                <a:cs typeface="Arial"/>
              </a:defRPr>
            </a:pPr>
            <a:r>
              <a:rPr sz="2175" b="0">
                <a:solidFill>
                  <a:srgbClr val="183247"/>
                </a:solidFill>
                <a:latin typeface="Arial"/>
                <a:ea typeface="Arial"/>
                <a:cs typeface="Arial"/>
              </a:rPr>
              <a:t>Verticaal: € per uur</a:t>
            </a:r>
          </a:p>
        </p:txBody>
      </p:sp>
      <p:sp>
        <p:nvSpPr>
          <p:cNvPr id="9" name="Lₐ blijft gelijk.&#10;Beide punten liggen&#10;op de aanbodlijn.">
            <a:extLst xmlns:a="http://schemas.openxmlformats.org/drawingml/2006/main">
              <a:ext uri="{FF2B5EF4-FFF2-40B4-BE49-F238E27FC236}">
                <a16:creationId xmlns:a16="http://schemas.microsoft.com/office/drawing/2014/main" id="{0866CA68-2E49-4325-924B-31FC8198760B}"/>
              </a:ext>
            </a:extLst>
          </p:cNvPr>
          <p:cNvSpPr>
            <a:spLocks xmlns:a="http://schemas.openxmlformats.org/drawingml/2006/main" noGrp="1"/>
          </p:cNvSpPr>
          <p:nvPr/>
        </p:nvSpPr>
        <p:spPr>
          <a:xfrm xmlns:a="http://schemas.openxmlformats.org/drawingml/2006/main">
            <a:off x="11096625" y="6296025"/>
            <a:ext cx="3571875" cy="1228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20665B"/>
                </a:solidFill>
                <a:latin typeface="Arial"/>
                <a:ea typeface="Arial"/>
                <a:cs typeface="Arial"/>
              </a:defRPr>
            </a:pPr>
            <a:r>
              <a:rPr sz="2400" b="1">
                <a:solidFill>
                  <a:srgbClr val="20665B"/>
                </a:solidFill>
                <a:latin typeface="Arial"/>
                <a:ea typeface="Arial"/>
                <a:cs typeface="Arial"/>
              </a:rPr>
              <a:t>Lₐ blijft gelijk.</a:t>
            </a:r>
          </a:p>
          <a:p xmlns:a="http://schemas.openxmlformats.org/drawingml/2006/main">
            <a:pPr algn="l">
              <a:defRPr sz="2400" b="1">
                <a:solidFill>
                  <a:srgbClr val="20665B"/>
                </a:solidFill>
                <a:latin typeface="Arial"/>
                <a:ea typeface="Arial"/>
                <a:cs typeface="Arial"/>
              </a:defRPr>
            </a:pPr>
            <a:r>
              <a:rPr sz="2400" b="1">
                <a:solidFill>
                  <a:srgbClr val="20665B"/>
                </a:solidFill>
                <a:latin typeface="Arial"/>
                <a:ea typeface="Arial"/>
                <a:cs typeface="Arial"/>
              </a:rPr>
              <a:t>Beide punten liggen</a:t>
            </a:r>
          </a:p>
          <a:p xmlns:a="http://schemas.openxmlformats.org/drawingml/2006/main">
            <a:pPr algn="l">
              <a:defRPr sz="2400" b="1">
                <a:solidFill>
                  <a:srgbClr val="20665B"/>
                </a:solidFill>
                <a:latin typeface="Arial"/>
                <a:ea typeface="Arial"/>
                <a:cs typeface="Arial"/>
              </a:defRPr>
            </a:pPr>
            <a:r>
              <a:rPr sz="2400" b="1">
                <a:solidFill>
                  <a:srgbClr val="20665B"/>
                </a:solidFill>
                <a:latin typeface="Arial"/>
                <a:ea typeface="Arial"/>
                <a:cs typeface="Arial"/>
              </a:rPr>
              <a:t>op de aanbodlijn.</a:t>
            </a:r>
          </a:p>
        </p:txBody>
      </p:sp>
    </p:spTree>
    <p:extLst>
      <p:ext uri="{BB962C8B-B14F-4D97-AF65-F5344CB8AC3E}">
        <p14:creationId xmlns:p14="http://schemas.microsoft.com/office/powerpoint/2010/main" val="1818862579"/>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Opgave 40d · Extra orders verschuiven de vraag">
            <a:extLst xmlns:a="http://schemas.openxmlformats.org/drawingml/2006/main">
              <a:ext uri="{FF2B5EF4-FFF2-40B4-BE49-F238E27FC236}">
                <a16:creationId xmlns:a16="http://schemas.microsoft.com/office/drawing/2014/main" id="{C9EA7A16-FD65-44F2-881B-22EFDA1A156D}"/>
              </a:ext>
            </a:extLst>
          </p:cNvPr>
          <p:cNvSpPr>
            <a:spLocks xmlns:a="http://schemas.openxmlformats.org/drawingml/2006/main" noGrp="1"/>
          </p:cNvSpPr>
          <p:nvPr/>
        </p:nvSpPr>
        <p:spPr>
          <a:xfrm xmlns:a="http://schemas.openxmlformats.org/drawingml/2006/main">
            <a:off x="571500" y="400050"/>
            <a:ext cx="14097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40d · Extra orders verschuiven de vraag</a:t>
            </a:r>
          </a:p>
        </p:txBody>
      </p:sp>
      <p:sp>
        <p:nvSpPr>
          <p:cNvPr id="2" name="">
            <a:extLst xmlns:a="http://schemas.openxmlformats.org/drawingml/2006/main">
              <a:ext uri="{FF2B5EF4-FFF2-40B4-BE49-F238E27FC236}">
                <a16:creationId xmlns:a16="http://schemas.microsoft.com/office/drawing/2014/main" id="{E115CF41-9DD0-435F-B45D-2F74F5E7BEF5}"/>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Opgave 40 · Bronnen p. 152 · Vragen p. 153">
            <a:extLst xmlns:a="http://schemas.openxmlformats.org/drawingml/2006/main">
              <a:ext uri="{FF2B5EF4-FFF2-40B4-BE49-F238E27FC236}">
                <a16:creationId xmlns:a16="http://schemas.microsoft.com/office/drawing/2014/main" id="{86441A0D-33CF-4393-B255-7EFFA9CE42DE}"/>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Opgave 40 · Bronnen p. 152 · Vragen p. 153</a:t>
            </a:r>
          </a:p>
        </p:txBody>
      </p:sp>
      <p:sp>
        <p:nvSpPr>
          <p:cNvPr id="4" name="16">
            <a:extLst xmlns:a="http://schemas.openxmlformats.org/drawingml/2006/main">
              <a:ext uri="{FF2B5EF4-FFF2-40B4-BE49-F238E27FC236}">
                <a16:creationId xmlns:a16="http://schemas.microsoft.com/office/drawing/2014/main" id="{C6CDBDF1-F965-4A78-AD97-3C73D53A14B1}"/>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16</a:t>
            </a:r>
          </a:p>
        </p:txBody>
      </p:sp>
      <p:sp>
        <p:nvSpPr>
          <p:cNvPr id="5" name="Oorzaak">
            <a:extLst xmlns:a="http://schemas.openxmlformats.org/drawingml/2006/main">
              <a:ext uri="{FF2B5EF4-FFF2-40B4-BE49-F238E27FC236}">
                <a16:creationId xmlns:a16="http://schemas.microsoft.com/office/drawing/2014/main" id="{3912F4DB-DC00-4A2A-99F4-15C571270690}"/>
              </a:ext>
            </a:extLst>
          </p:cNvPr>
          <p:cNvSpPr>
            <a:spLocks xmlns:a="http://schemas.openxmlformats.org/drawingml/2006/main" noGrp="1"/>
          </p:cNvSpPr>
          <p:nvPr/>
        </p:nvSpPr>
        <p:spPr>
          <a:xfrm xmlns:a="http://schemas.openxmlformats.org/drawingml/2006/main">
            <a:off x="571500" y="2066925"/>
            <a:ext cx="3619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17658A"/>
                </a:solidFill>
                <a:latin typeface="Arial"/>
                <a:ea typeface="Arial"/>
                <a:cs typeface="Arial"/>
              </a:defRPr>
            </a:pPr>
            <a:r>
              <a:rPr sz="2775" b="1">
                <a:solidFill>
                  <a:srgbClr val="17658A"/>
                </a:solidFill>
                <a:latin typeface="Arial"/>
                <a:ea typeface="Arial"/>
                <a:cs typeface="Arial"/>
              </a:rPr>
              <a:t>Oorzaak</a:t>
            </a:r>
          </a:p>
        </p:txBody>
      </p:sp>
      <p:sp>
        <p:nvSpPr>
          <p:cNvPr id="6" name="Extra buitenlandse orders vergroten de arbeidsvraag bij iede">
            <a:extLst xmlns:a="http://schemas.openxmlformats.org/drawingml/2006/main">
              <a:ext uri="{FF2B5EF4-FFF2-40B4-BE49-F238E27FC236}">
                <a16:creationId xmlns:a16="http://schemas.microsoft.com/office/drawing/2014/main" id="{82EC1DCD-007C-4FC4-8D48-3B3204421B30}"/>
              </a:ext>
            </a:extLst>
          </p:cNvPr>
          <p:cNvSpPr>
            <a:spLocks xmlns:a="http://schemas.openxmlformats.org/drawingml/2006/main" noGrp="1"/>
          </p:cNvSpPr>
          <p:nvPr/>
        </p:nvSpPr>
        <p:spPr>
          <a:xfrm xmlns:a="http://schemas.openxmlformats.org/drawingml/2006/main">
            <a:off x="4572000" y="2066925"/>
            <a:ext cx="100965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0">
                <a:solidFill>
                  <a:srgbClr val="183247"/>
                </a:solidFill>
                <a:latin typeface="Arial"/>
                <a:ea typeface="Arial"/>
                <a:cs typeface="Arial"/>
              </a:defRPr>
            </a:pPr>
            <a:r>
              <a:rPr sz="2775" b="0">
                <a:solidFill>
                  <a:srgbClr val="183247"/>
                </a:solidFill>
                <a:latin typeface="Arial"/>
                <a:ea typeface="Arial"/>
                <a:cs typeface="Arial"/>
              </a:rPr>
              <a:t>Extra buitenlandse orders vergroten de arbeidsvraag bij ieder gelijk loon. De vraaglijn verschuift naar rechts.</a:t>
            </a:r>
          </a:p>
        </p:txBody>
      </p:sp>
      <p:sp>
        <p:nvSpPr>
          <p:cNvPr id="7" name="">
            <a:extLst xmlns:a="http://schemas.openxmlformats.org/drawingml/2006/main">
              <a:ext uri="{FF2B5EF4-FFF2-40B4-BE49-F238E27FC236}">
                <a16:creationId xmlns:a16="http://schemas.microsoft.com/office/drawing/2014/main" id="{6FDAFA55-FAD6-4AC8-9E4A-DB071C0D17CB}"/>
              </a:ext>
            </a:extLst>
          </p:cNvPr>
          <p:cNvSpPr>
            <a:spLocks xmlns:a="http://schemas.openxmlformats.org/drawingml/2006/main" noGrp="1"/>
          </p:cNvSpPr>
          <p:nvPr/>
        </p:nvSpPr>
        <p:spPr>
          <a:xfrm xmlns:a="http://schemas.openxmlformats.org/drawingml/2006/main">
            <a:off x="571500" y="3629025"/>
            <a:ext cx="14097000" cy="0"/>
          </a:xfrm>
          <a:prstGeom xmlns:a="http://schemas.openxmlformats.org/drawingml/2006/main" prst="line">
            <a:avLst/>
          </a:prstGeom>
          <a:ln xmlns:a="http://schemas.openxmlformats.org/drawingml/2006/main" w="19050">
            <a:solidFill>
              <a:srgbClr val="C6D2DB"/>
            </a:solidFill>
          </a:ln>
        </p:spPr>
      </p:sp>
      <p:sp>
        <p:nvSpPr>
          <p:cNvPr id="8" name="Uitkomst">
            <a:extLst xmlns:a="http://schemas.openxmlformats.org/drawingml/2006/main">
              <a:ext uri="{FF2B5EF4-FFF2-40B4-BE49-F238E27FC236}">
                <a16:creationId xmlns:a16="http://schemas.microsoft.com/office/drawing/2014/main" id="{D16894DA-D6D5-4B22-99D7-AECFED03F3CF}"/>
              </a:ext>
            </a:extLst>
          </p:cNvPr>
          <p:cNvSpPr>
            <a:spLocks xmlns:a="http://schemas.openxmlformats.org/drawingml/2006/main" noGrp="1"/>
          </p:cNvSpPr>
          <p:nvPr/>
        </p:nvSpPr>
        <p:spPr>
          <a:xfrm xmlns:a="http://schemas.openxmlformats.org/drawingml/2006/main">
            <a:off x="571500" y="3876675"/>
            <a:ext cx="3619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20665B"/>
                </a:solidFill>
                <a:latin typeface="Arial"/>
                <a:ea typeface="Arial"/>
                <a:cs typeface="Arial"/>
              </a:defRPr>
            </a:pPr>
            <a:r>
              <a:rPr sz="2775" b="1">
                <a:solidFill>
                  <a:srgbClr val="20665B"/>
                </a:solidFill>
                <a:latin typeface="Arial"/>
                <a:ea typeface="Arial"/>
                <a:cs typeface="Arial"/>
              </a:rPr>
              <a:t>Uitkomst</a:t>
            </a:r>
          </a:p>
        </p:txBody>
      </p:sp>
      <p:sp>
        <p:nvSpPr>
          <p:cNvPr id="9" name="Het evenwichtsloon stijgt van € 14 naar € 16 per uur.">
            <a:extLst xmlns:a="http://schemas.openxmlformats.org/drawingml/2006/main">
              <a:ext uri="{FF2B5EF4-FFF2-40B4-BE49-F238E27FC236}">
                <a16:creationId xmlns:a16="http://schemas.microsoft.com/office/drawing/2014/main" id="{BAC5FA54-9E2E-4BBB-B52B-E940D39E9919}"/>
              </a:ext>
            </a:extLst>
          </p:cNvPr>
          <p:cNvSpPr>
            <a:spLocks xmlns:a="http://schemas.openxmlformats.org/drawingml/2006/main" noGrp="1"/>
          </p:cNvSpPr>
          <p:nvPr/>
        </p:nvSpPr>
        <p:spPr>
          <a:xfrm xmlns:a="http://schemas.openxmlformats.org/drawingml/2006/main">
            <a:off x="4572000" y="3876675"/>
            <a:ext cx="100965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0">
                <a:solidFill>
                  <a:srgbClr val="183247"/>
                </a:solidFill>
                <a:latin typeface="Arial"/>
                <a:ea typeface="Arial"/>
                <a:cs typeface="Arial"/>
              </a:defRPr>
            </a:pPr>
            <a:r>
              <a:rPr sz="2775" b="0">
                <a:solidFill>
                  <a:srgbClr val="183247"/>
                </a:solidFill>
                <a:latin typeface="Arial"/>
                <a:ea typeface="Arial"/>
                <a:cs typeface="Arial"/>
              </a:rPr>
              <a:t>Het evenwichtsloon stijgt van € 14 naar € 16 per uur.</a:t>
            </a:r>
          </a:p>
        </p:txBody>
      </p:sp>
      <p:sp>
        <p:nvSpPr>
          <p:cNvPr id="10" name="">
            <a:extLst xmlns:a="http://schemas.openxmlformats.org/drawingml/2006/main">
              <a:ext uri="{FF2B5EF4-FFF2-40B4-BE49-F238E27FC236}">
                <a16:creationId xmlns:a16="http://schemas.microsoft.com/office/drawing/2014/main" id="{8B3CBB63-FFE8-434F-A653-2BF148B68AAD}"/>
              </a:ext>
            </a:extLst>
          </p:cNvPr>
          <p:cNvSpPr>
            <a:spLocks xmlns:a="http://schemas.openxmlformats.org/drawingml/2006/main" noGrp="1"/>
          </p:cNvSpPr>
          <p:nvPr/>
        </p:nvSpPr>
        <p:spPr>
          <a:xfrm xmlns:a="http://schemas.openxmlformats.org/drawingml/2006/main">
            <a:off x="571500" y="5438775"/>
            <a:ext cx="14097000" cy="0"/>
          </a:xfrm>
          <a:prstGeom xmlns:a="http://schemas.openxmlformats.org/drawingml/2006/main" prst="line">
            <a:avLst/>
          </a:prstGeom>
          <a:ln xmlns:a="http://schemas.openxmlformats.org/drawingml/2006/main" w="19050">
            <a:solidFill>
              <a:srgbClr val="C6D2DB"/>
            </a:solidFill>
          </a:ln>
        </p:spPr>
      </p:sp>
      <p:sp>
        <p:nvSpPr>
          <p:cNvPr id="11" name="Langs het aanbod">
            <a:extLst xmlns:a="http://schemas.openxmlformats.org/drawingml/2006/main">
              <a:ext uri="{FF2B5EF4-FFF2-40B4-BE49-F238E27FC236}">
                <a16:creationId xmlns:a16="http://schemas.microsoft.com/office/drawing/2014/main" id="{B8453552-1F1E-45C6-B2E9-70176F817936}"/>
              </a:ext>
            </a:extLst>
          </p:cNvPr>
          <p:cNvSpPr>
            <a:spLocks xmlns:a="http://schemas.openxmlformats.org/drawingml/2006/main" noGrp="1"/>
          </p:cNvSpPr>
          <p:nvPr/>
        </p:nvSpPr>
        <p:spPr>
          <a:xfrm xmlns:a="http://schemas.openxmlformats.org/drawingml/2006/main">
            <a:off x="571500" y="5686425"/>
            <a:ext cx="3619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A94D16"/>
                </a:solidFill>
                <a:latin typeface="Arial"/>
                <a:ea typeface="Arial"/>
                <a:cs typeface="Arial"/>
              </a:defRPr>
            </a:pPr>
            <a:r>
              <a:rPr sz="2775" b="1">
                <a:solidFill>
                  <a:srgbClr val="A94D16"/>
                </a:solidFill>
                <a:latin typeface="Arial"/>
                <a:ea typeface="Arial"/>
                <a:cs typeface="Arial"/>
              </a:rPr>
              <a:t>Langs het aanbod</a:t>
            </a:r>
          </a:p>
        </p:txBody>
      </p:sp>
      <p:sp>
        <p:nvSpPr>
          <p:cNvPr id="12" name="Bij het hogere loon stijgt de aangeboden hoeveelheid van 100">
            <a:extLst xmlns:a="http://schemas.openxmlformats.org/drawingml/2006/main">
              <a:ext uri="{FF2B5EF4-FFF2-40B4-BE49-F238E27FC236}">
                <a16:creationId xmlns:a16="http://schemas.microsoft.com/office/drawing/2014/main" id="{DD832084-786B-4E95-BBF2-E04DD98E07B8}"/>
              </a:ext>
            </a:extLst>
          </p:cNvPr>
          <p:cNvSpPr>
            <a:spLocks xmlns:a="http://schemas.openxmlformats.org/drawingml/2006/main" noGrp="1"/>
          </p:cNvSpPr>
          <p:nvPr/>
        </p:nvSpPr>
        <p:spPr>
          <a:xfrm xmlns:a="http://schemas.openxmlformats.org/drawingml/2006/main">
            <a:off x="4572000" y="5686425"/>
            <a:ext cx="100965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0">
                <a:solidFill>
                  <a:srgbClr val="183247"/>
                </a:solidFill>
                <a:latin typeface="Arial"/>
                <a:ea typeface="Arial"/>
                <a:cs typeface="Arial"/>
              </a:defRPr>
            </a:pPr>
            <a:r>
              <a:rPr sz="2775" b="0">
                <a:solidFill>
                  <a:srgbClr val="183247"/>
                </a:solidFill>
                <a:latin typeface="Arial"/>
                <a:ea typeface="Arial"/>
                <a:cs typeface="Arial"/>
              </a:rPr>
              <a:t>Bij het hogere loon stijgt de aangeboden hoeveelheid van 100 naar 120 personen. De aanbodlijn blijft gelijk.</a:t>
            </a:r>
          </a:p>
        </p:txBody>
      </p:sp>
    </p:spTree>
    <p:extLst>
      <p:ext uri="{BB962C8B-B14F-4D97-AF65-F5344CB8AC3E}">
        <p14:creationId xmlns:p14="http://schemas.microsoft.com/office/powerpoint/2010/main" val="1137101979"/>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Opgave 40e · Loonkosten per product">
            <a:extLst xmlns:a="http://schemas.openxmlformats.org/drawingml/2006/main">
              <a:ext uri="{FF2B5EF4-FFF2-40B4-BE49-F238E27FC236}">
                <a16:creationId xmlns:a16="http://schemas.microsoft.com/office/drawing/2014/main" id="{D5F5C6CB-614C-4738-8FE2-A12F0ABC626F}"/>
              </a:ext>
            </a:extLst>
          </p:cNvPr>
          <p:cNvSpPr>
            <a:spLocks xmlns:a="http://schemas.openxmlformats.org/drawingml/2006/main" noGrp="1"/>
          </p:cNvSpPr>
          <p:nvPr/>
        </p:nvSpPr>
        <p:spPr>
          <a:xfrm xmlns:a="http://schemas.openxmlformats.org/drawingml/2006/main">
            <a:off x="571500" y="400050"/>
            <a:ext cx="14097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40e · Loonkosten per product</a:t>
            </a:r>
          </a:p>
        </p:txBody>
      </p:sp>
      <p:sp>
        <p:nvSpPr>
          <p:cNvPr id="2" name="">
            <a:extLst xmlns:a="http://schemas.openxmlformats.org/drawingml/2006/main">
              <a:ext uri="{FF2B5EF4-FFF2-40B4-BE49-F238E27FC236}">
                <a16:creationId xmlns:a16="http://schemas.microsoft.com/office/drawing/2014/main" id="{81C790CA-828A-4000-8D82-54811E432802}"/>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Opgave 40 · Bronnen p. 152 · Vragen p. 153">
            <a:extLst xmlns:a="http://schemas.openxmlformats.org/drawingml/2006/main">
              <a:ext uri="{FF2B5EF4-FFF2-40B4-BE49-F238E27FC236}">
                <a16:creationId xmlns:a16="http://schemas.microsoft.com/office/drawing/2014/main" id="{928F23F8-FE51-4F75-8FDC-3CC5482E1CC9}"/>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Opgave 40 · Bronnen p. 152 · Vragen p. 153</a:t>
            </a:r>
          </a:p>
        </p:txBody>
      </p:sp>
      <p:sp>
        <p:nvSpPr>
          <p:cNvPr id="4" name="17">
            <a:extLst xmlns:a="http://schemas.openxmlformats.org/drawingml/2006/main">
              <a:ext uri="{FF2B5EF4-FFF2-40B4-BE49-F238E27FC236}">
                <a16:creationId xmlns:a16="http://schemas.microsoft.com/office/drawing/2014/main" id="{2EF16319-40B8-47EE-B8F2-2CE1833F5CDF}"/>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17</a:t>
            </a:r>
          </a:p>
        </p:txBody>
      </p:sp>
      <p:sp>
        <p:nvSpPr>
          <p:cNvPr id="5" name="Loonkosten per product = volledige uurkosten / productivitei">
            <a:extLst xmlns:a="http://schemas.openxmlformats.org/drawingml/2006/main">
              <a:ext uri="{FF2B5EF4-FFF2-40B4-BE49-F238E27FC236}">
                <a16:creationId xmlns:a16="http://schemas.microsoft.com/office/drawing/2014/main" id="{C8C904D4-03F8-45AC-98B2-1420C3D0E1A7}"/>
              </a:ext>
            </a:extLst>
          </p:cNvPr>
          <p:cNvSpPr>
            <a:spLocks xmlns:a="http://schemas.openxmlformats.org/drawingml/2006/main" noGrp="1"/>
          </p:cNvSpPr>
          <p:nvPr/>
        </p:nvSpPr>
        <p:spPr>
          <a:xfrm xmlns:a="http://schemas.openxmlformats.org/drawingml/2006/main">
            <a:off x="571500" y="1828800"/>
            <a:ext cx="140970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7658A"/>
                </a:solidFill>
                <a:latin typeface="Arial"/>
                <a:ea typeface="Arial"/>
                <a:cs typeface="Arial"/>
              </a:defRPr>
            </a:pPr>
            <a:r>
              <a:rPr sz="2925" b="1">
                <a:solidFill>
                  <a:srgbClr val="17658A"/>
                </a:solidFill>
                <a:latin typeface="Arial"/>
                <a:ea typeface="Arial"/>
                <a:cs typeface="Arial"/>
              </a:rPr>
              <a:t>Loonkosten per product = volledige uurkosten / productiviteit</a:t>
            </a:r>
          </a:p>
        </p:txBody>
      </p:sp>
      <p:graphicFrame>
        <p:nvGraphicFramePr>
          <p:cNvPr id="13" name=""/>
          <p:cNvGraphicFramePr/>
          <p:nvPr/>
        </p:nvGraphicFramePr>
        <p:xfrm>
          <a:off xmlns:a="http://schemas.openxmlformats.org/drawingml/2006/main" x="571500" y="3238500"/>
          <a:ext xmlns:a="http://schemas.openxmlformats.org/drawingml/2006/main" cx="14097000" cy="3295650"/>
        </p:xfrm>
        <a:graphic xmlns:a="http://schemas.openxmlformats.org/drawingml/2006/main">
          <a:graphicData uri="http://schemas.openxmlformats.org/drawingml/2006/table">
            <a:tbl>
              <a:tblPr/>
              <a:tblGrid>
                <a:gridCol w="4572000"/>
                <a:gridCol w="4381500"/>
                <a:gridCol w="5143500"/>
              </a:tblGrid>
              <a:tr h="823913">
                <a:tc>
                  <a:txBody>
                    <a:bodyPr lIns="171450" tIns="95250" rIns="152400" bIns="95250"/>
                    <a:lstStyle/>
                    <a:p>
                      <a:r>
                        <a:rPr sz="2325" b="1">
                          <a:solidFill>
                            <a:srgbClr val="FFFFFF"/>
                          </a:solidFill>
                          <a:latin typeface="Arial"/>
                          <a:ea typeface="Arial"/>
                          <a:cs typeface="Arial"/>
                        </a:rPr>
                        <a:t/>
                      </a:r>
                    </a:p>
                  </a:txBody>
                  <a:tcPr marL="91440" marR="91440" marT="45720" marB="45720" anchor="ctr">
                    <a:solidFill>
                      <a:srgbClr val="183247"/>
                    </a:solidFill>
                  </a:tcPr>
                </a:tc>
                <a:tc>
                  <a:txBody>
                    <a:bodyPr lIns="171450" tIns="95250" rIns="152400" bIns="95250"/>
                    <a:lstStyle/>
                    <a:p>
                      <a:r>
                        <a:rPr sz="2325" b="1">
                          <a:solidFill>
                            <a:srgbClr val="FFFFFF"/>
                          </a:solidFill>
                          <a:latin typeface="Arial"/>
                          <a:ea typeface="Arial"/>
                          <a:cs typeface="Arial"/>
                        </a:rPr>
                        <a:t>Vóór het werkproces</a:t>
                      </a:r>
                    </a:p>
                  </a:txBody>
                  <a:tcPr marL="91440" marR="91440" marT="45720" marB="45720" anchor="ctr">
                    <a:solidFill>
                      <a:srgbClr val="183247"/>
                    </a:solidFill>
                  </a:tcPr>
                </a:tc>
                <a:tc>
                  <a:txBody>
                    <a:bodyPr lIns="171450" tIns="95250" rIns="152400" bIns="95250"/>
                    <a:lstStyle/>
                    <a:p>
                      <a:r>
                        <a:rPr sz="2325" b="1">
                          <a:solidFill>
                            <a:srgbClr val="FFFFFF"/>
                          </a:solidFill>
                          <a:latin typeface="Arial"/>
                          <a:ea typeface="Arial"/>
                          <a:cs typeface="Arial"/>
                        </a:rPr>
                        <a:t>Na het werkproces</a:t>
                      </a:r>
                    </a:p>
                  </a:txBody>
                  <a:tcPr marL="91440" marR="91440" marT="45720" marB="45720" anchor="ctr">
                    <a:solidFill>
                      <a:srgbClr val="183247"/>
                    </a:solidFill>
                  </a:tcPr>
                </a:tc>
              </a:tr>
              <a:tr h="823913">
                <a:tc>
                  <a:txBody>
                    <a:bodyPr lIns="171450" tIns="95250" rIns="152400" bIns="95250"/>
                    <a:lstStyle/>
                    <a:p>
                      <a:r>
                        <a:rPr sz="2325" b="0">
                          <a:solidFill>
                            <a:srgbClr val="183247"/>
                          </a:solidFill>
                          <a:latin typeface="Arial"/>
                          <a:ea typeface="Arial"/>
                          <a:cs typeface="Arial"/>
                        </a:rPr>
                        <a:t>Uurkosten</a:t>
                      </a:r>
                    </a:p>
                  </a:txBody>
                  <a:tcPr marL="91440" marR="91440" marT="45720" marB="45720" anchor="ctr">
                    <a:solidFill>
                      <a:srgbClr val="FFFFFF"/>
                    </a:solidFill>
                  </a:tcPr>
                </a:tc>
                <a:tc>
                  <a:txBody>
                    <a:bodyPr lIns="171450" tIns="95250" rIns="152400" bIns="95250"/>
                    <a:lstStyle/>
                    <a:p>
                      <a:r>
                        <a:rPr sz="2325" b="0">
                          <a:solidFill>
                            <a:srgbClr val="183247"/>
                          </a:solidFill>
                          <a:latin typeface="Arial"/>
                          <a:ea typeface="Arial"/>
                          <a:cs typeface="Arial"/>
                        </a:rPr>
                        <a:t>€ 24</a:t>
                      </a:r>
                    </a:p>
                  </a:txBody>
                  <a:tcPr marL="91440" marR="91440" marT="45720" marB="45720" anchor="ctr">
                    <a:solidFill>
                      <a:srgbClr val="FFFFFF"/>
                    </a:solidFill>
                  </a:tcPr>
                </a:tc>
                <a:tc>
                  <a:txBody>
                    <a:bodyPr lIns="171450" tIns="95250" rIns="152400" bIns="95250"/>
                    <a:lstStyle/>
                    <a:p>
                      <a:r>
                        <a:rPr sz="2325" b="0">
                          <a:solidFill>
                            <a:srgbClr val="183247"/>
                          </a:solidFill>
                          <a:latin typeface="Arial"/>
                          <a:ea typeface="Arial"/>
                          <a:cs typeface="Arial"/>
                        </a:rPr>
                        <a:t>€ 25,20</a:t>
                      </a:r>
                    </a:p>
                  </a:txBody>
                  <a:tcPr marL="91440" marR="91440" marT="45720" marB="45720" anchor="ctr">
                    <a:solidFill>
                      <a:srgbClr val="FFFFFF"/>
                    </a:solidFill>
                  </a:tcPr>
                </a:tc>
              </a:tr>
              <a:tr h="823913">
                <a:tc>
                  <a:txBody>
                    <a:bodyPr lIns="171450" tIns="95250" rIns="152400" bIns="95250"/>
                    <a:lstStyle/>
                    <a:p>
                      <a:r>
                        <a:rPr sz="2325" b="0">
                          <a:solidFill>
                            <a:srgbClr val="183247"/>
                          </a:solidFill>
                          <a:latin typeface="Arial"/>
                          <a:ea typeface="Arial"/>
                          <a:cs typeface="Arial"/>
                        </a:rPr>
                        <a:t>Productiviteit</a:t>
                      </a:r>
                    </a:p>
                  </a:txBody>
                  <a:tcPr marL="91440" marR="91440" marT="45720" marB="45720" anchor="ctr">
                    <a:solidFill>
                      <a:srgbClr val="EFF4F7"/>
                    </a:solidFill>
                  </a:tcPr>
                </a:tc>
                <a:tc>
                  <a:txBody>
                    <a:bodyPr lIns="171450" tIns="95250" rIns="152400" bIns="95250"/>
                    <a:lstStyle/>
                    <a:p>
                      <a:r>
                        <a:rPr sz="2325" b="0">
                          <a:solidFill>
                            <a:srgbClr val="183247"/>
                          </a:solidFill>
                          <a:latin typeface="Arial"/>
                          <a:ea typeface="Arial"/>
                          <a:cs typeface="Arial"/>
                        </a:rPr>
                        <a:t>8 producten per uur</a:t>
                      </a:r>
                    </a:p>
                  </a:txBody>
                  <a:tcPr marL="91440" marR="91440" marT="45720" marB="45720" anchor="ctr">
                    <a:solidFill>
                      <a:srgbClr val="EFF4F7"/>
                    </a:solidFill>
                  </a:tcPr>
                </a:tc>
                <a:tc>
                  <a:txBody>
                    <a:bodyPr lIns="171450" tIns="95250" rIns="152400" bIns="95250"/>
                    <a:lstStyle/>
                    <a:p>
                      <a:r>
                        <a:rPr sz="2325" b="0">
                          <a:solidFill>
                            <a:srgbClr val="183247"/>
                          </a:solidFill>
                          <a:latin typeface="Arial"/>
                          <a:ea typeface="Arial"/>
                          <a:cs typeface="Arial"/>
                        </a:rPr>
                        <a:t>8,8 producten per uur</a:t>
                      </a:r>
                    </a:p>
                  </a:txBody>
                  <a:tcPr marL="91440" marR="91440" marT="45720" marB="45720" anchor="ctr">
                    <a:solidFill>
                      <a:srgbClr val="EFF4F7"/>
                    </a:solidFill>
                  </a:tcPr>
                </a:tc>
              </a:tr>
              <a:tr h="823913">
                <a:tc>
                  <a:txBody>
                    <a:bodyPr lIns="171450" tIns="95250" rIns="152400" bIns="95250"/>
                    <a:lstStyle/>
                    <a:p>
                      <a:r>
                        <a:rPr sz="2325" b="0">
                          <a:solidFill>
                            <a:srgbClr val="183247"/>
                          </a:solidFill>
                          <a:latin typeface="Arial"/>
                          <a:ea typeface="Arial"/>
                          <a:cs typeface="Arial"/>
                        </a:rPr>
                        <a:t>Loonkosten per product</a:t>
                      </a:r>
                    </a:p>
                  </a:txBody>
                  <a:tcPr marL="91440" marR="91440" marT="45720" marB="45720" anchor="ctr">
                    <a:solidFill>
                      <a:srgbClr val="FFFFFF"/>
                    </a:solidFill>
                  </a:tcPr>
                </a:tc>
                <a:tc>
                  <a:txBody>
                    <a:bodyPr lIns="171450" tIns="95250" rIns="152400" bIns="95250"/>
                    <a:lstStyle/>
                    <a:p>
                      <a:r>
                        <a:rPr sz="2325" b="0">
                          <a:solidFill>
                            <a:srgbClr val="183247"/>
                          </a:solidFill>
                          <a:latin typeface="Arial"/>
                          <a:ea typeface="Arial"/>
                          <a:cs typeface="Arial"/>
                        </a:rPr>
                        <a:t>24 / 8 = € 3</a:t>
                      </a:r>
                    </a:p>
                  </a:txBody>
                  <a:tcPr marL="91440" marR="91440" marT="45720" marB="45720" anchor="ctr">
                    <a:solidFill>
                      <a:srgbClr val="FFFFFF"/>
                    </a:solidFill>
                  </a:tcPr>
                </a:tc>
                <a:tc>
                  <a:txBody>
                    <a:bodyPr lIns="171450" tIns="95250" rIns="152400" bIns="95250"/>
                    <a:lstStyle/>
                    <a:p>
                      <a:r>
                        <a:rPr sz="2325" b="0">
                          <a:solidFill>
                            <a:srgbClr val="183247"/>
                          </a:solidFill>
                          <a:latin typeface="Arial"/>
                          <a:ea typeface="Arial"/>
                          <a:cs typeface="Arial"/>
                        </a:rPr>
                        <a:t>25,20 / 8,8 = € 2,863636…</a:t>
                      </a:r>
                    </a:p>
                  </a:txBody>
                  <a:tcPr marL="91440" marR="91440" marT="45720" marB="45720" anchor="ctr">
                    <a:solidFill>
                      <a:srgbClr val="FFFFFF"/>
                    </a:solidFill>
                  </a:tcPr>
                </a:tc>
              </a:tr>
            </a:tbl>
          </a:graphicData>
        </a:graphic>
      </p:graphicFrame>
      <p:sp>
        <p:nvSpPr>
          <p:cNvPr id="7" name="Afgerond: € 2,86 per product. Bewaar de ongeronde uitkomst.">
            <a:extLst xmlns:a="http://schemas.openxmlformats.org/drawingml/2006/main">
              <a:ext uri="{FF2B5EF4-FFF2-40B4-BE49-F238E27FC236}">
                <a16:creationId xmlns:a16="http://schemas.microsoft.com/office/drawing/2014/main" id="{293DE32D-D327-4E5E-A9DB-D6B0F81FF215}"/>
              </a:ext>
            </a:extLst>
          </p:cNvPr>
          <p:cNvSpPr>
            <a:spLocks xmlns:a="http://schemas.openxmlformats.org/drawingml/2006/main" noGrp="1"/>
          </p:cNvSpPr>
          <p:nvPr/>
        </p:nvSpPr>
        <p:spPr>
          <a:xfrm xmlns:a="http://schemas.openxmlformats.org/drawingml/2006/main">
            <a:off x="571500" y="7172325"/>
            <a:ext cx="140970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20665B"/>
                </a:solidFill>
                <a:latin typeface="Arial"/>
                <a:ea typeface="Arial"/>
                <a:cs typeface="Arial"/>
              </a:defRPr>
            </a:pPr>
            <a:r>
              <a:rPr sz="2850" b="1">
                <a:solidFill>
                  <a:srgbClr val="20665B"/>
                </a:solidFill>
                <a:latin typeface="Arial"/>
                <a:ea typeface="Arial"/>
                <a:cs typeface="Arial"/>
              </a:rPr>
              <a:t>Afgerond: € 2,86 per product. Bewaar de ongeronde uitkomst.</a:t>
            </a:r>
          </a:p>
        </p:txBody>
      </p:sp>
    </p:spTree>
    <p:extLst>
      <p:ext uri="{BB962C8B-B14F-4D97-AF65-F5344CB8AC3E}">
        <p14:creationId xmlns:p14="http://schemas.microsoft.com/office/powerpoint/2010/main" val="908349228"/>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Opgave 40e · De procentuele verandering">
            <a:extLst xmlns:a="http://schemas.openxmlformats.org/drawingml/2006/main">
              <a:ext uri="{FF2B5EF4-FFF2-40B4-BE49-F238E27FC236}">
                <a16:creationId xmlns:a16="http://schemas.microsoft.com/office/drawing/2014/main" id="{7DF8BC7D-3638-48EC-B1B6-4CE738815D45}"/>
              </a:ext>
            </a:extLst>
          </p:cNvPr>
          <p:cNvSpPr>
            <a:spLocks xmlns:a="http://schemas.openxmlformats.org/drawingml/2006/main" noGrp="1"/>
          </p:cNvSpPr>
          <p:nvPr/>
        </p:nvSpPr>
        <p:spPr>
          <a:xfrm xmlns:a="http://schemas.openxmlformats.org/drawingml/2006/main">
            <a:off x="571500" y="400050"/>
            <a:ext cx="14097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40e · De procentuele verandering</a:t>
            </a:r>
          </a:p>
        </p:txBody>
      </p:sp>
      <p:sp>
        <p:nvSpPr>
          <p:cNvPr id="2" name="">
            <a:extLst xmlns:a="http://schemas.openxmlformats.org/drawingml/2006/main">
              <a:ext uri="{FF2B5EF4-FFF2-40B4-BE49-F238E27FC236}">
                <a16:creationId xmlns:a16="http://schemas.microsoft.com/office/drawing/2014/main" id="{160C42EE-C4DE-4247-9775-7EDABC30C483}"/>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Opgave 40 · Bronnen p. 152 · Vragen p. 153">
            <a:extLst xmlns:a="http://schemas.openxmlformats.org/drawingml/2006/main">
              <a:ext uri="{FF2B5EF4-FFF2-40B4-BE49-F238E27FC236}">
                <a16:creationId xmlns:a16="http://schemas.microsoft.com/office/drawing/2014/main" id="{EC083987-4C94-4581-854F-2D2BE7EA665A}"/>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Opgave 40 · Bronnen p. 152 · Vragen p. 153</a:t>
            </a:r>
          </a:p>
        </p:txBody>
      </p:sp>
      <p:sp>
        <p:nvSpPr>
          <p:cNvPr id="4" name="18">
            <a:extLst xmlns:a="http://schemas.openxmlformats.org/drawingml/2006/main">
              <a:ext uri="{FF2B5EF4-FFF2-40B4-BE49-F238E27FC236}">
                <a16:creationId xmlns:a16="http://schemas.microsoft.com/office/drawing/2014/main" id="{FF97EB2E-D772-4B44-9B28-365758A6EB46}"/>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18</a:t>
            </a:r>
          </a:p>
        </p:txBody>
      </p:sp>
      <p:sp>
        <p:nvSpPr>
          <p:cNvPr id="5" name="Verandering = (nieuw − oud) / oud × 100%">
            <a:extLst xmlns:a="http://schemas.openxmlformats.org/drawingml/2006/main">
              <a:ext uri="{FF2B5EF4-FFF2-40B4-BE49-F238E27FC236}">
                <a16:creationId xmlns:a16="http://schemas.microsoft.com/office/drawing/2014/main" id="{7B636FB8-050B-43C1-8742-0864426905A8}"/>
              </a:ext>
            </a:extLst>
          </p:cNvPr>
          <p:cNvSpPr>
            <a:spLocks xmlns:a="http://schemas.openxmlformats.org/drawingml/2006/main" noGrp="1"/>
          </p:cNvSpPr>
          <p:nvPr/>
        </p:nvSpPr>
        <p:spPr>
          <a:xfrm xmlns:a="http://schemas.openxmlformats.org/drawingml/2006/main">
            <a:off x="571500" y="1962150"/>
            <a:ext cx="14097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658A"/>
                </a:solidFill>
                <a:latin typeface="Arial"/>
                <a:ea typeface="Arial"/>
                <a:cs typeface="Arial"/>
              </a:defRPr>
            </a:pPr>
            <a:r>
              <a:rPr sz="3300" b="1">
                <a:solidFill>
                  <a:srgbClr val="17658A"/>
                </a:solidFill>
                <a:latin typeface="Arial"/>
                <a:ea typeface="Arial"/>
                <a:cs typeface="Arial"/>
              </a:rPr>
              <a:t>Verandering = (nieuw − oud) / oud × 100%</a:t>
            </a:r>
          </a:p>
        </p:txBody>
      </p:sp>
      <p:sp>
        <p:nvSpPr>
          <p:cNvPr id="6" name="((25,20 / 8,8) − 3) / 3 × 100% ≈ −4,55%">
            <a:extLst xmlns:a="http://schemas.openxmlformats.org/drawingml/2006/main">
              <a:ext uri="{FF2B5EF4-FFF2-40B4-BE49-F238E27FC236}">
                <a16:creationId xmlns:a16="http://schemas.microsoft.com/office/drawing/2014/main" id="{5CE12531-7CD8-427D-9635-0940CAEC9F12}"/>
              </a:ext>
            </a:extLst>
          </p:cNvPr>
          <p:cNvSpPr>
            <a:spLocks xmlns:a="http://schemas.openxmlformats.org/drawingml/2006/main" noGrp="1"/>
          </p:cNvSpPr>
          <p:nvPr/>
        </p:nvSpPr>
        <p:spPr>
          <a:xfrm xmlns:a="http://schemas.openxmlformats.org/drawingml/2006/main">
            <a:off x="571500" y="3390900"/>
            <a:ext cx="14097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525" b="1">
                <a:solidFill>
                  <a:srgbClr val="183247"/>
                </a:solidFill>
                <a:latin typeface="Arial"/>
                <a:ea typeface="Arial"/>
                <a:cs typeface="Arial"/>
              </a:defRPr>
            </a:pPr>
            <a:r>
              <a:rPr sz="3525" b="1">
                <a:solidFill>
                  <a:srgbClr val="183247"/>
                </a:solidFill>
                <a:latin typeface="Arial"/>
                <a:ea typeface="Arial"/>
                <a:cs typeface="Arial"/>
              </a:rPr>
              <a:t>((25,20 / 8,8) − 3) / 3 × 100% ≈ −4,55%</a:t>
            </a:r>
          </a:p>
        </p:txBody>
      </p:sp>
      <p:sp>
        <p:nvSpPr>
          <p:cNvPr id="7" name="De loonkosten per product dalen met ongeveer 4,55%.">
            <a:extLst xmlns:a="http://schemas.openxmlformats.org/drawingml/2006/main">
              <a:ext uri="{FF2B5EF4-FFF2-40B4-BE49-F238E27FC236}">
                <a16:creationId xmlns:a16="http://schemas.microsoft.com/office/drawing/2014/main" id="{7B2AB81C-229A-4E42-83AD-34FCA6DB2B9E}"/>
              </a:ext>
            </a:extLst>
          </p:cNvPr>
          <p:cNvSpPr>
            <a:spLocks xmlns:a="http://schemas.openxmlformats.org/drawingml/2006/main" noGrp="1"/>
          </p:cNvSpPr>
          <p:nvPr/>
        </p:nvSpPr>
        <p:spPr>
          <a:xfrm xmlns:a="http://schemas.openxmlformats.org/drawingml/2006/main">
            <a:off x="571500" y="4933950"/>
            <a:ext cx="14097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20665B"/>
                </a:solidFill>
                <a:latin typeface="Arial"/>
                <a:ea typeface="Arial"/>
                <a:cs typeface="Arial"/>
              </a:defRPr>
            </a:pPr>
            <a:r>
              <a:rPr sz="3150" b="1">
                <a:solidFill>
                  <a:srgbClr val="20665B"/>
                </a:solidFill>
                <a:latin typeface="Arial"/>
                <a:ea typeface="Arial"/>
                <a:cs typeface="Arial"/>
              </a:rPr>
              <a:t>De loonkosten per product dalen met ongeveer 4,55%.</a:t>
            </a:r>
          </a:p>
        </p:txBody>
      </p:sp>
      <p:sp>
        <p:nvSpPr>
          <p:cNvPr id="8" name="Controle met groeifactoren: 1,05 / 1,10 ≈ 0,954545&#10;De produc">
            <a:extLst xmlns:a="http://schemas.openxmlformats.org/drawingml/2006/main">
              <a:ext uri="{FF2B5EF4-FFF2-40B4-BE49-F238E27FC236}">
                <a16:creationId xmlns:a16="http://schemas.microsoft.com/office/drawing/2014/main" id="{A626E7F2-B9FA-44EF-8DAD-633D9B36F045}"/>
              </a:ext>
            </a:extLst>
          </p:cNvPr>
          <p:cNvSpPr>
            <a:spLocks xmlns:a="http://schemas.openxmlformats.org/drawingml/2006/main" noGrp="1"/>
          </p:cNvSpPr>
          <p:nvPr/>
        </p:nvSpPr>
        <p:spPr>
          <a:xfrm xmlns:a="http://schemas.openxmlformats.org/drawingml/2006/main">
            <a:off x="571500" y="6705600"/>
            <a:ext cx="140970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Controle met groeifactoren: 1,05 / 1,10 ≈ 0,954545</a:t>
            </a:r>
          </a:p>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De productiviteit stijgt sterker dan de uurkosten.</a:t>
            </a:r>
          </a:p>
        </p:txBody>
      </p:sp>
    </p:spTree>
    <p:extLst>
      <p:ext uri="{BB962C8B-B14F-4D97-AF65-F5344CB8AC3E}">
        <p14:creationId xmlns:p14="http://schemas.microsoft.com/office/powerpoint/2010/main" val="1359941961"/>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Opgave 40f · Meer banen zijn niet gegarandeerd">
            <a:extLst xmlns:a="http://schemas.openxmlformats.org/drawingml/2006/main">
              <a:ext uri="{FF2B5EF4-FFF2-40B4-BE49-F238E27FC236}">
                <a16:creationId xmlns:a16="http://schemas.microsoft.com/office/drawing/2014/main" id="{E573DCC0-3F6D-4E71-9EB0-B7CA959E4175}"/>
              </a:ext>
            </a:extLst>
          </p:cNvPr>
          <p:cNvSpPr>
            <a:spLocks xmlns:a="http://schemas.openxmlformats.org/drawingml/2006/main" noGrp="1"/>
          </p:cNvSpPr>
          <p:nvPr/>
        </p:nvSpPr>
        <p:spPr>
          <a:xfrm xmlns:a="http://schemas.openxmlformats.org/drawingml/2006/main">
            <a:off x="571500" y="400050"/>
            <a:ext cx="14097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40f · Meer banen zijn niet gegarandeerd</a:t>
            </a:r>
          </a:p>
        </p:txBody>
      </p:sp>
      <p:sp>
        <p:nvSpPr>
          <p:cNvPr id="2" name="">
            <a:extLst xmlns:a="http://schemas.openxmlformats.org/drawingml/2006/main">
              <a:ext uri="{FF2B5EF4-FFF2-40B4-BE49-F238E27FC236}">
                <a16:creationId xmlns:a16="http://schemas.microsoft.com/office/drawing/2014/main" id="{DD496A24-AE87-464F-BE63-C87FF4DC5BCA}"/>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Opgave 40 · Bronnen p. 152 · Vragen p. 153">
            <a:extLst xmlns:a="http://schemas.openxmlformats.org/drawingml/2006/main">
              <a:ext uri="{FF2B5EF4-FFF2-40B4-BE49-F238E27FC236}">
                <a16:creationId xmlns:a16="http://schemas.microsoft.com/office/drawing/2014/main" id="{DD7DBE81-0BA2-4289-B390-4BEEFD132F5B}"/>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Opgave 40 · Bronnen p. 152 · Vragen p. 153</a:t>
            </a:r>
          </a:p>
        </p:txBody>
      </p:sp>
      <p:sp>
        <p:nvSpPr>
          <p:cNvPr id="4" name="19">
            <a:extLst xmlns:a="http://schemas.openxmlformats.org/drawingml/2006/main">
              <a:ext uri="{FF2B5EF4-FFF2-40B4-BE49-F238E27FC236}">
                <a16:creationId xmlns:a16="http://schemas.microsoft.com/office/drawing/2014/main" id="{A291D078-4CD6-4F33-AD79-92C6B3126BA5}"/>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19</a:t>
            </a:r>
          </a:p>
        </p:txBody>
      </p:sp>
      <p:sp>
        <p:nvSpPr>
          <p:cNvPr id="5" name="Wel ondersteund">
            <a:extLst xmlns:a="http://schemas.openxmlformats.org/drawingml/2006/main">
              <a:ext uri="{FF2B5EF4-FFF2-40B4-BE49-F238E27FC236}">
                <a16:creationId xmlns:a16="http://schemas.microsoft.com/office/drawing/2014/main" id="{73EE59F5-CAF6-4C56-A7D2-7E39F8B74750}"/>
              </a:ext>
            </a:extLst>
          </p:cNvPr>
          <p:cNvSpPr>
            <a:spLocks xmlns:a="http://schemas.openxmlformats.org/drawingml/2006/main" noGrp="1"/>
          </p:cNvSpPr>
          <p:nvPr/>
        </p:nvSpPr>
        <p:spPr>
          <a:xfrm xmlns:a="http://schemas.openxmlformats.org/drawingml/2006/main">
            <a:off x="571500" y="2076450"/>
            <a:ext cx="4095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7658A"/>
                </a:solidFill>
                <a:latin typeface="Arial"/>
                <a:ea typeface="Arial"/>
                <a:cs typeface="Arial"/>
              </a:defRPr>
            </a:pPr>
            <a:r>
              <a:rPr sz="2700" b="1">
                <a:solidFill>
                  <a:srgbClr val="17658A"/>
                </a:solidFill>
                <a:latin typeface="Arial"/>
                <a:ea typeface="Arial"/>
                <a:cs typeface="Arial"/>
              </a:rPr>
              <a:t>Wel ondersteund</a:t>
            </a:r>
          </a:p>
        </p:txBody>
      </p:sp>
      <p:sp>
        <p:nvSpPr>
          <p:cNvPr id="6" name="Onder de veronderstelde veranderingen dalen de loonkosten pe">
            <a:extLst xmlns:a="http://schemas.openxmlformats.org/drawingml/2006/main">
              <a:ext uri="{FF2B5EF4-FFF2-40B4-BE49-F238E27FC236}">
                <a16:creationId xmlns:a16="http://schemas.microsoft.com/office/drawing/2014/main" id="{159D5ED2-D918-404C-A060-43EF2FAC1DF9}"/>
              </a:ext>
            </a:extLst>
          </p:cNvPr>
          <p:cNvSpPr>
            <a:spLocks xmlns:a="http://schemas.openxmlformats.org/drawingml/2006/main" noGrp="1"/>
          </p:cNvSpPr>
          <p:nvPr/>
        </p:nvSpPr>
        <p:spPr>
          <a:xfrm xmlns:a="http://schemas.openxmlformats.org/drawingml/2006/main">
            <a:off x="5048250" y="2076450"/>
            <a:ext cx="96202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Onder de veronderstelde veranderingen dalen de loonkosten per product.</a:t>
            </a:r>
          </a:p>
        </p:txBody>
      </p:sp>
      <p:sp>
        <p:nvSpPr>
          <p:cNvPr id="7" name="">
            <a:extLst xmlns:a="http://schemas.openxmlformats.org/drawingml/2006/main">
              <a:ext uri="{FF2B5EF4-FFF2-40B4-BE49-F238E27FC236}">
                <a16:creationId xmlns:a16="http://schemas.microsoft.com/office/drawing/2014/main" id="{AF806349-BBF0-4BE4-8CBA-E59A3B076C98}"/>
              </a:ext>
            </a:extLst>
          </p:cNvPr>
          <p:cNvSpPr>
            <a:spLocks xmlns:a="http://schemas.openxmlformats.org/drawingml/2006/main" noGrp="1"/>
          </p:cNvSpPr>
          <p:nvPr/>
        </p:nvSpPr>
        <p:spPr>
          <a:xfrm xmlns:a="http://schemas.openxmlformats.org/drawingml/2006/main">
            <a:off x="571500" y="3581400"/>
            <a:ext cx="14097000" cy="0"/>
          </a:xfrm>
          <a:prstGeom xmlns:a="http://schemas.openxmlformats.org/drawingml/2006/main" prst="line">
            <a:avLst/>
          </a:prstGeom>
          <a:ln xmlns:a="http://schemas.openxmlformats.org/drawingml/2006/main" w="19050">
            <a:solidFill>
              <a:srgbClr val="C6D2DB"/>
            </a:solidFill>
          </a:ln>
        </p:spPr>
      </p:sp>
      <p:sp>
        <p:nvSpPr>
          <p:cNvPr id="8" name="Ontbrekend gegeven">
            <a:extLst xmlns:a="http://schemas.openxmlformats.org/drawingml/2006/main">
              <a:ext uri="{FF2B5EF4-FFF2-40B4-BE49-F238E27FC236}">
                <a16:creationId xmlns:a16="http://schemas.microsoft.com/office/drawing/2014/main" id="{6373713B-4853-4137-B88D-D1ED51292576}"/>
              </a:ext>
            </a:extLst>
          </p:cNvPr>
          <p:cNvSpPr>
            <a:spLocks xmlns:a="http://schemas.openxmlformats.org/drawingml/2006/main" noGrp="1"/>
          </p:cNvSpPr>
          <p:nvPr/>
        </p:nvSpPr>
        <p:spPr>
          <a:xfrm xmlns:a="http://schemas.openxmlformats.org/drawingml/2006/main">
            <a:off x="571500" y="3829050"/>
            <a:ext cx="4095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20665B"/>
                </a:solidFill>
                <a:latin typeface="Arial"/>
                <a:ea typeface="Arial"/>
                <a:cs typeface="Arial"/>
              </a:defRPr>
            </a:pPr>
            <a:r>
              <a:rPr sz="2700" b="1">
                <a:solidFill>
                  <a:srgbClr val="20665B"/>
                </a:solidFill>
                <a:latin typeface="Arial"/>
                <a:ea typeface="Arial"/>
                <a:cs typeface="Arial"/>
              </a:rPr>
              <a:t>Ontbrekend gegeven</a:t>
            </a:r>
          </a:p>
        </p:txBody>
      </p:sp>
      <p:sp>
        <p:nvSpPr>
          <p:cNvPr id="9" name="De toekomstige orders bepalen mede&#10;hoeveel het bedrijf moet ">
            <a:extLst xmlns:a="http://schemas.openxmlformats.org/drawingml/2006/main">
              <a:ext uri="{FF2B5EF4-FFF2-40B4-BE49-F238E27FC236}">
                <a16:creationId xmlns:a16="http://schemas.microsoft.com/office/drawing/2014/main" id="{AED3195C-624B-4A07-977B-3E3124BF91E9}"/>
              </a:ext>
            </a:extLst>
          </p:cNvPr>
          <p:cNvSpPr>
            <a:spLocks xmlns:a="http://schemas.openxmlformats.org/drawingml/2006/main" noGrp="1"/>
          </p:cNvSpPr>
          <p:nvPr/>
        </p:nvSpPr>
        <p:spPr>
          <a:xfrm xmlns:a="http://schemas.openxmlformats.org/drawingml/2006/main">
            <a:off x="5048250" y="3829050"/>
            <a:ext cx="96202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De toekomstige orders bepalen mede</a:t>
            </a:r>
          </a:p>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hoeveel het bedrijf moet produceren.</a:t>
            </a:r>
          </a:p>
        </p:txBody>
      </p:sp>
      <p:sp>
        <p:nvSpPr>
          <p:cNvPr id="10" name="">
            <a:extLst xmlns:a="http://schemas.openxmlformats.org/drawingml/2006/main">
              <a:ext uri="{FF2B5EF4-FFF2-40B4-BE49-F238E27FC236}">
                <a16:creationId xmlns:a16="http://schemas.microsoft.com/office/drawing/2014/main" id="{0F078C3A-CBD1-4490-9803-AE26B2822A43}"/>
              </a:ext>
            </a:extLst>
          </p:cNvPr>
          <p:cNvSpPr>
            <a:spLocks xmlns:a="http://schemas.openxmlformats.org/drawingml/2006/main" noGrp="1"/>
          </p:cNvSpPr>
          <p:nvPr/>
        </p:nvSpPr>
        <p:spPr>
          <a:xfrm xmlns:a="http://schemas.openxmlformats.org/drawingml/2006/main">
            <a:off x="571500" y="5334000"/>
            <a:ext cx="14097000" cy="0"/>
          </a:xfrm>
          <a:prstGeom xmlns:a="http://schemas.openxmlformats.org/drawingml/2006/main" prst="line">
            <a:avLst/>
          </a:prstGeom>
          <a:ln xmlns:a="http://schemas.openxmlformats.org/drawingml/2006/main" w="19050">
            <a:solidFill>
              <a:srgbClr val="C6D2DB"/>
            </a:solidFill>
          </a:ln>
        </p:spPr>
      </p:sp>
      <p:sp>
        <p:nvSpPr>
          <p:cNvPr id="11" name="Economische uitleg">
            <a:extLst xmlns:a="http://schemas.openxmlformats.org/drawingml/2006/main">
              <a:ext uri="{FF2B5EF4-FFF2-40B4-BE49-F238E27FC236}">
                <a16:creationId xmlns:a16="http://schemas.microsoft.com/office/drawing/2014/main" id="{631F2CB8-6B27-45DF-BF0E-75A11098881A}"/>
              </a:ext>
            </a:extLst>
          </p:cNvPr>
          <p:cNvSpPr>
            <a:spLocks xmlns:a="http://schemas.openxmlformats.org/drawingml/2006/main" noGrp="1"/>
          </p:cNvSpPr>
          <p:nvPr/>
        </p:nvSpPr>
        <p:spPr>
          <a:xfrm xmlns:a="http://schemas.openxmlformats.org/drawingml/2006/main">
            <a:off x="571500" y="5581650"/>
            <a:ext cx="4095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A94D16"/>
                </a:solidFill>
                <a:latin typeface="Arial"/>
                <a:ea typeface="Arial"/>
                <a:cs typeface="Arial"/>
              </a:defRPr>
            </a:pPr>
            <a:r>
              <a:rPr sz="2700" b="1">
                <a:solidFill>
                  <a:srgbClr val="A94D16"/>
                </a:solidFill>
                <a:latin typeface="Arial"/>
                <a:ea typeface="Arial"/>
                <a:cs typeface="Arial"/>
              </a:rPr>
              <a:t>Economische uitleg</a:t>
            </a:r>
          </a:p>
        </p:txBody>
      </p:sp>
      <p:sp>
        <p:nvSpPr>
          <p:cNvPr id="12" name="Uren = productie / productiviteit. Bij dezelfde productie vr">
            <a:extLst xmlns:a="http://schemas.openxmlformats.org/drawingml/2006/main">
              <a:ext uri="{FF2B5EF4-FFF2-40B4-BE49-F238E27FC236}">
                <a16:creationId xmlns:a16="http://schemas.microsoft.com/office/drawing/2014/main" id="{686D56EF-F0E9-43CC-9A07-C4AC09A682E0}"/>
              </a:ext>
            </a:extLst>
          </p:cNvPr>
          <p:cNvSpPr>
            <a:spLocks xmlns:a="http://schemas.openxmlformats.org/drawingml/2006/main" noGrp="1"/>
          </p:cNvSpPr>
          <p:nvPr/>
        </p:nvSpPr>
        <p:spPr>
          <a:xfrm xmlns:a="http://schemas.openxmlformats.org/drawingml/2006/main">
            <a:off x="5048250" y="5581650"/>
            <a:ext cx="96202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Uren = productie / productiviteit. Bij dezelfde productie vraagt de hogere productiviteit juist minder uren.</a:t>
            </a:r>
          </a:p>
        </p:txBody>
      </p:sp>
      <p:sp>
        <p:nvSpPr>
          <p:cNvPr id="13" name="Het aantal personen hangt bovendien af van de arbeidsduur pe">
            <a:extLst xmlns:a="http://schemas.openxmlformats.org/drawingml/2006/main">
              <a:ext uri="{FF2B5EF4-FFF2-40B4-BE49-F238E27FC236}">
                <a16:creationId xmlns:a16="http://schemas.microsoft.com/office/drawing/2014/main" id="{A740FB9E-37C9-4F66-B730-9AA16D9EFD64}"/>
              </a:ext>
            </a:extLst>
          </p:cNvPr>
          <p:cNvSpPr>
            <a:spLocks xmlns:a="http://schemas.openxmlformats.org/drawingml/2006/main" noGrp="1"/>
          </p:cNvSpPr>
          <p:nvPr/>
        </p:nvSpPr>
        <p:spPr>
          <a:xfrm xmlns:a="http://schemas.openxmlformats.org/drawingml/2006/main">
            <a:off x="571500" y="7429500"/>
            <a:ext cx="14097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7658A"/>
                </a:solidFill>
                <a:latin typeface="Arial"/>
                <a:ea typeface="Arial"/>
                <a:cs typeface="Arial"/>
              </a:defRPr>
            </a:pPr>
            <a:r>
              <a:rPr sz="2400" b="1">
                <a:solidFill>
                  <a:srgbClr val="17658A"/>
                </a:solidFill>
                <a:latin typeface="Arial"/>
                <a:ea typeface="Arial"/>
                <a:cs typeface="Arial"/>
              </a:rPr>
              <a:t>Het aantal personen hangt bovendien af van de arbeidsduur per persoon.</a:t>
            </a:r>
          </a:p>
        </p:txBody>
      </p:sp>
    </p:spTree>
    <p:extLst>
      <p:ext uri="{BB962C8B-B14F-4D97-AF65-F5344CB8AC3E}">
        <p14:creationId xmlns:p14="http://schemas.microsoft.com/office/powerpoint/2010/main" val="1164071492"/>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overview-title">
            <a:extLst xmlns:a="http://schemas.openxmlformats.org/drawingml/2006/main">
              <a:ext uri="{FF2B5EF4-FFF2-40B4-BE49-F238E27FC236}">
                <a16:creationId xmlns:a16="http://schemas.microsoft.com/office/drawing/2014/main" id="{1B4FF588-0416-452A-B989-34F161B81E41}"/>
              </a:ext>
            </a:extLst>
          </p:cNvPr>
          <p:cNvSpPr>
            <a:spLocks xmlns:a="http://schemas.openxmlformats.org/drawingml/2006/main" noGrp="1"/>
          </p:cNvSpPr>
          <p:nvPr/>
        </p:nvSpPr>
        <p:spPr>
          <a:xfrm xmlns:a="http://schemas.openxmlformats.org/drawingml/2006/main">
            <a:off x="571500" y="323850"/>
            <a:ext cx="14097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525" b="1">
                <a:solidFill>
                  <a:srgbClr val="183247"/>
                </a:solidFill>
                <a:latin typeface="Arial"/>
                <a:ea typeface="Arial"/>
                <a:cs typeface="Arial"/>
              </a:defRPr>
            </a:pPr>
            <a:r>
              <a:rPr sz="3525" b="1">
                <a:solidFill>
                  <a:srgbClr val="183247"/>
                </a:solidFill>
                <a:latin typeface="Arial"/>
                <a:ea typeface="Arial"/>
                <a:cs typeface="Arial"/>
              </a:rPr>
              <a:t>Deze les: §4.3.5 Gemengde opgaven: arbeidsmarkt</a:t>
            </a:r>
          </a:p>
        </p:txBody>
      </p:sp>
      <p:sp>
        <p:nvSpPr>
          <p:cNvPr id="2" name="phase">
            <a:extLst xmlns:a="http://schemas.openxmlformats.org/drawingml/2006/main">
              <a:ext uri="{FF2B5EF4-FFF2-40B4-BE49-F238E27FC236}">
                <a16:creationId xmlns:a16="http://schemas.microsoft.com/office/drawing/2014/main" id="{1734F5C8-BAA6-4AF0-993D-63FA90900D74}"/>
              </a:ext>
            </a:extLst>
          </p:cNvPr>
          <p:cNvSpPr>
            <a:spLocks xmlns:a="http://schemas.openxmlformats.org/drawingml/2006/main" noGrp="1"/>
          </p:cNvSpPr>
          <p:nvPr/>
        </p:nvSpPr>
        <p:spPr>
          <a:xfrm xmlns:a="http://schemas.openxmlformats.org/drawingml/2006/main">
            <a:off x="571500" y="1076325"/>
            <a:ext cx="1409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Nu: Afsluiting / huiswerk</a:t>
            </a:r>
          </a:p>
        </p:txBody>
      </p:sp>
      <p:sp>
        <p:nvSpPr>
          <p:cNvPr id="3" name="">
            <a:extLst xmlns:a="http://schemas.openxmlformats.org/drawingml/2006/main">
              <a:ext uri="{FF2B5EF4-FFF2-40B4-BE49-F238E27FC236}">
                <a16:creationId xmlns:a16="http://schemas.microsoft.com/office/drawing/2014/main" id="{BDE4C622-C9AF-4AF7-8F28-7758B0D997EE}"/>
              </a:ext>
            </a:extLst>
          </p:cNvPr>
          <p:cNvSpPr>
            <a:spLocks xmlns:a="http://schemas.openxmlformats.org/drawingml/2006/main" noGrp="1"/>
          </p:cNvSpPr>
          <p:nvPr/>
        </p:nvSpPr>
        <p:spPr>
          <a:xfrm xmlns:a="http://schemas.openxmlformats.org/drawingml/2006/main">
            <a:off x="571500" y="1571625"/>
            <a:ext cx="14097000" cy="0"/>
          </a:xfrm>
          <a:prstGeom xmlns:a="http://schemas.openxmlformats.org/drawingml/2006/main" prst="line">
            <a:avLst/>
          </a:prstGeom>
          <a:ln xmlns:a="http://schemas.openxmlformats.org/drawingml/2006/main" w="19050">
            <a:solidFill>
              <a:srgbClr val="C6D2DB"/>
            </a:solidFill>
          </a:ln>
        </p:spPr>
      </p:sp>
      <p:sp>
        <p:nvSpPr>
          <p:cNvPr id="4" name="Lesroute">
            <a:extLst xmlns:a="http://schemas.openxmlformats.org/drawingml/2006/main">
              <a:ext uri="{FF2B5EF4-FFF2-40B4-BE49-F238E27FC236}">
                <a16:creationId xmlns:a16="http://schemas.microsoft.com/office/drawing/2014/main" id="{9889BD8F-4E60-4100-A721-CD5B72D7E4C1}"/>
              </a:ext>
            </a:extLst>
          </p:cNvPr>
          <p:cNvSpPr>
            <a:spLocks xmlns:a="http://schemas.openxmlformats.org/drawingml/2006/main" noGrp="1"/>
          </p:cNvSpPr>
          <p:nvPr/>
        </p:nvSpPr>
        <p:spPr>
          <a:xfrm xmlns:a="http://schemas.openxmlformats.org/drawingml/2006/main">
            <a:off x="571500" y="1866900"/>
            <a:ext cx="7953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Lesroute</a:t>
            </a:r>
          </a:p>
        </p:txBody>
      </p:sp>
      <p:sp>
        <p:nvSpPr>
          <p:cNvPr id="5" name="route-number-1">
            <a:extLst xmlns:a="http://schemas.openxmlformats.org/drawingml/2006/main">
              <a:ext uri="{FF2B5EF4-FFF2-40B4-BE49-F238E27FC236}">
                <a16:creationId xmlns:a16="http://schemas.microsoft.com/office/drawing/2014/main" id="{79FA5ABB-AC1B-48A4-BED6-D512FCDE3E37}"/>
              </a:ext>
            </a:extLst>
          </p:cNvPr>
          <p:cNvSpPr>
            <a:spLocks xmlns:a="http://schemas.openxmlformats.org/drawingml/2006/main" noGrp="1"/>
          </p:cNvSpPr>
          <p:nvPr/>
        </p:nvSpPr>
        <p:spPr>
          <a:xfrm xmlns:a="http://schemas.openxmlformats.org/drawingml/2006/main">
            <a:off x="571500" y="2409825"/>
            <a:ext cx="4572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1.</a:t>
            </a:r>
          </a:p>
        </p:txBody>
      </p:sp>
      <p:sp>
        <p:nvSpPr>
          <p:cNvPr id="6" name="route-1">
            <a:extLst xmlns:a="http://schemas.openxmlformats.org/drawingml/2006/main">
              <a:ext uri="{FF2B5EF4-FFF2-40B4-BE49-F238E27FC236}">
                <a16:creationId xmlns:a16="http://schemas.microsoft.com/office/drawing/2014/main" id="{B8DB92F3-4848-4310-B864-4A4153BB3411}"/>
              </a:ext>
            </a:extLst>
          </p:cNvPr>
          <p:cNvSpPr>
            <a:spLocks xmlns:a="http://schemas.openxmlformats.org/drawingml/2006/main" noGrp="1"/>
          </p:cNvSpPr>
          <p:nvPr/>
        </p:nvSpPr>
        <p:spPr>
          <a:xfrm xmlns:a="http://schemas.openxmlformats.org/drawingml/2006/main">
            <a:off x="1104900" y="2409825"/>
            <a:ext cx="74199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Jas in de kluis of aan de kapstok. Pak agenda, schrift, pen en rekenmachine.</a:t>
            </a:r>
          </a:p>
        </p:txBody>
      </p:sp>
      <p:sp>
        <p:nvSpPr>
          <p:cNvPr id="7" name="route-number-2">
            <a:extLst xmlns:a="http://schemas.openxmlformats.org/drawingml/2006/main">
              <a:ext uri="{FF2B5EF4-FFF2-40B4-BE49-F238E27FC236}">
                <a16:creationId xmlns:a16="http://schemas.microsoft.com/office/drawing/2014/main" id="{300DB51B-B389-4CA2-AC3B-46B0214A1437}"/>
              </a:ext>
            </a:extLst>
          </p:cNvPr>
          <p:cNvSpPr>
            <a:spLocks xmlns:a="http://schemas.openxmlformats.org/drawingml/2006/main" noGrp="1"/>
          </p:cNvSpPr>
          <p:nvPr/>
        </p:nvSpPr>
        <p:spPr>
          <a:xfrm xmlns:a="http://schemas.openxmlformats.org/drawingml/2006/main">
            <a:off x="571500" y="3305175"/>
            <a:ext cx="4572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2.</a:t>
            </a:r>
          </a:p>
        </p:txBody>
      </p:sp>
      <p:sp>
        <p:nvSpPr>
          <p:cNvPr id="8" name="route-2">
            <a:extLst xmlns:a="http://schemas.openxmlformats.org/drawingml/2006/main">
              <a:ext uri="{FF2B5EF4-FFF2-40B4-BE49-F238E27FC236}">
                <a16:creationId xmlns:a16="http://schemas.microsoft.com/office/drawing/2014/main" id="{D10BE243-0BE1-4B98-B610-390E22F1CC82}"/>
              </a:ext>
            </a:extLst>
          </p:cNvPr>
          <p:cNvSpPr>
            <a:spLocks xmlns:a="http://schemas.openxmlformats.org/drawingml/2006/main" noGrp="1"/>
          </p:cNvSpPr>
          <p:nvPr/>
        </p:nvSpPr>
        <p:spPr>
          <a:xfrm xmlns:a="http://schemas.openxmlformats.org/drawingml/2006/main">
            <a:off x="1104900" y="3305175"/>
            <a:ext cx="74199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Maak de startopdracht.</a:t>
            </a:r>
          </a:p>
        </p:txBody>
      </p:sp>
      <p:sp>
        <p:nvSpPr>
          <p:cNvPr id="9" name="route-number-3">
            <a:extLst xmlns:a="http://schemas.openxmlformats.org/drawingml/2006/main">
              <a:ext uri="{FF2B5EF4-FFF2-40B4-BE49-F238E27FC236}">
                <a16:creationId xmlns:a16="http://schemas.microsoft.com/office/drawing/2014/main" id="{3B71EC2C-7E5D-4D22-BF38-180F8F049F53}"/>
              </a:ext>
            </a:extLst>
          </p:cNvPr>
          <p:cNvSpPr>
            <a:spLocks xmlns:a="http://schemas.openxmlformats.org/drawingml/2006/main" noGrp="1"/>
          </p:cNvSpPr>
          <p:nvPr/>
        </p:nvSpPr>
        <p:spPr>
          <a:xfrm xmlns:a="http://schemas.openxmlformats.org/drawingml/2006/main">
            <a:off x="571500" y="3895725"/>
            <a:ext cx="457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3.</a:t>
            </a:r>
          </a:p>
        </p:txBody>
      </p:sp>
      <p:sp>
        <p:nvSpPr>
          <p:cNvPr id="10" name="route-3">
            <a:extLst xmlns:a="http://schemas.openxmlformats.org/drawingml/2006/main">
              <a:ext uri="{FF2B5EF4-FFF2-40B4-BE49-F238E27FC236}">
                <a16:creationId xmlns:a16="http://schemas.microsoft.com/office/drawing/2014/main" id="{0D7E4F4D-3E4D-42EB-834B-98E0C6694CC0}"/>
              </a:ext>
            </a:extLst>
          </p:cNvPr>
          <p:cNvSpPr>
            <a:spLocks xmlns:a="http://schemas.openxmlformats.org/drawingml/2006/main" noGrp="1"/>
          </p:cNvSpPr>
          <p:nvPr/>
        </p:nvSpPr>
        <p:spPr>
          <a:xfrm xmlns:a="http://schemas.openxmlformats.org/drawingml/2006/main">
            <a:off x="1104900" y="3895725"/>
            <a:ext cx="74199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Korte herhaling en aanpak.</a:t>
            </a:r>
          </a:p>
        </p:txBody>
      </p:sp>
      <p:sp>
        <p:nvSpPr>
          <p:cNvPr id="11" name="route-number-4">
            <a:extLst xmlns:a="http://schemas.openxmlformats.org/drawingml/2006/main">
              <a:ext uri="{FF2B5EF4-FFF2-40B4-BE49-F238E27FC236}">
                <a16:creationId xmlns:a16="http://schemas.microsoft.com/office/drawing/2014/main" id="{8B3BD8A6-64E4-4A88-89EF-AE54D2798390}"/>
              </a:ext>
            </a:extLst>
          </p:cNvPr>
          <p:cNvSpPr>
            <a:spLocks xmlns:a="http://schemas.openxmlformats.org/drawingml/2006/main" noGrp="1"/>
          </p:cNvSpPr>
          <p:nvPr/>
        </p:nvSpPr>
        <p:spPr>
          <a:xfrm xmlns:a="http://schemas.openxmlformats.org/drawingml/2006/main">
            <a:off x="571500" y="4495800"/>
            <a:ext cx="4572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4.</a:t>
            </a:r>
          </a:p>
        </p:txBody>
      </p:sp>
      <p:sp>
        <p:nvSpPr>
          <p:cNvPr id="12" name="route-4">
            <a:extLst xmlns:a="http://schemas.openxmlformats.org/drawingml/2006/main">
              <a:ext uri="{FF2B5EF4-FFF2-40B4-BE49-F238E27FC236}">
                <a16:creationId xmlns:a16="http://schemas.microsoft.com/office/drawing/2014/main" id="{AE9C44C9-AFE1-4AF2-A800-F9D82D9160C3}"/>
              </a:ext>
            </a:extLst>
          </p:cNvPr>
          <p:cNvSpPr>
            <a:spLocks xmlns:a="http://schemas.openxmlformats.org/drawingml/2006/main" noGrp="1"/>
          </p:cNvSpPr>
          <p:nvPr/>
        </p:nvSpPr>
        <p:spPr>
          <a:xfrm xmlns:a="http://schemas.openxmlformats.org/drawingml/2006/main">
            <a:off x="1104900" y="4495800"/>
            <a:ext cx="74199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Werk verder aan de gemengde opgaven, stel vragen en kijk je antwoorden na.</a:t>
            </a:r>
          </a:p>
        </p:txBody>
      </p:sp>
      <p:sp>
        <p:nvSpPr>
          <p:cNvPr id="13" name="route-number-5">
            <a:extLst xmlns:a="http://schemas.openxmlformats.org/drawingml/2006/main">
              <a:ext uri="{FF2B5EF4-FFF2-40B4-BE49-F238E27FC236}">
                <a16:creationId xmlns:a16="http://schemas.microsoft.com/office/drawing/2014/main" id="{490852B0-8A60-4C9F-991A-66E0B0F8816A}"/>
              </a:ext>
            </a:extLst>
          </p:cNvPr>
          <p:cNvSpPr>
            <a:spLocks xmlns:a="http://schemas.openxmlformats.org/drawingml/2006/main" noGrp="1"/>
          </p:cNvSpPr>
          <p:nvPr/>
        </p:nvSpPr>
        <p:spPr>
          <a:xfrm xmlns:a="http://schemas.openxmlformats.org/drawingml/2006/main">
            <a:off x="571500" y="5562600"/>
            <a:ext cx="4572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5.</a:t>
            </a:r>
          </a:p>
        </p:txBody>
      </p:sp>
      <p:sp>
        <p:nvSpPr>
          <p:cNvPr id="14" name="route-5">
            <a:extLst xmlns:a="http://schemas.openxmlformats.org/drawingml/2006/main">
              <a:ext uri="{FF2B5EF4-FFF2-40B4-BE49-F238E27FC236}">
                <a16:creationId xmlns:a16="http://schemas.microsoft.com/office/drawing/2014/main" id="{CF36DC89-6689-4C92-95AF-BD4B7392502F}"/>
              </a:ext>
            </a:extLst>
          </p:cNvPr>
          <p:cNvSpPr>
            <a:spLocks xmlns:a="http://schemas.openxmlformats.org/drawingml/2006/main" noGrp="1"/>
          </p:cNvSpPr>
          <p:nvPr/>
        </p:nvSpPr>
        <p:spPr>
          <a:xfrm xmlns:a="http://schemas.openxmlformats.org/drawingml/2006/main">
            <a:off x="1104900" y="5562600"/>
            <a:ext cx="74199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Klaar? Werk aan een ander vak. Geen devices.</a:t>
            </a:r>
          </a:p>
        </p:txBody>
      </p:sp>
      <p:sp>
        <p:nvSpPr>
          <p:cNvPr id="15" name="route-number-6">
            <a:extLst xmlns:a="http://schemas.openxmlformats.org/drawingml/2006/main">
              <a:ext uri="{FF2B5EF4-FFF2-40B4-BE49-F238E27FC236}">
                <a16:creationId xmlns:a16="http://schemas.microsoft.com/office/drawing/2014/main" id="{3A87AAB8-C6C7-49D7-B1BA-CA2A82004114}"/>
              </a:ext>
            </a:extLst>
          </p:cNvPr>
          <p:cNvSpPr>
            <a:spLocks xmlns:a="http://schemas.openxmlformats.org/drawingml/2006/main" noGrp="1"/>
          </p:cNvSpPr>
          <p:nvPr/>
        </p:nvSpPr>
        <p:spPr>
          <a:xfrm xmlns:a="http://schemas.openxmlformats.org/drawingml/2006/main">
            <a:off x="571500" y="6486525"/>
            <a:ext cx="457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6.</a:t>
            </a:r>
          </a:p>
        </p:txBody>
      </p:sp>
      <p:sp>
        <p:nvSpPr>
          <p:cNvPr id="16" name="route-6">
            <a:extLst xmlns:a="http://schemas.openxmlformats.org/drawingml/2006/main">
              <a:ext uri="{FF2B5EF4-FFF2-40B4-BE49-F238E27FC236}">
                <a16:creationId xmlns:a16="http://schemas.microsoft.com/office/drawing/2014/main" id="{C55FD98F-3D45-4684-8AB3-D60CE7A69D28}"/>
              </a:ext>
            </a:extLst>
          </p:cNvPr>
          <p:cNvSpPr>
            <a:spLocks xmlns:a="http://schemas.openxmlformats.org/drawingml/2006/main" noGrp="1"/>
          </p:cNvSpPr>
          <p:nvPr/>
        </p:nvSpPr>
        <p:spPr>
          <a:xfrm xmlns:a="http://schemas.openxmlformats.org/drawingml/2006/main">
            <a:off x="1104900" y="6486525"/>
            <a:ext cx="74199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Bespreken van de doelopgave: opgave 40.</a:t>
            </a:r>
          </a:p>
        </p:txBody>
      </p:sp>
      <p:sp>
        <p:nvSpPr>
          <p:cNvPr id="17" name="route-number-7">
            <a:extLst xmlns:a="http://schemas.openxmlformats.org/drawingml/2006/main">
              <a:ext uri="{FF2B5EF4-FFF2-40B4-BE49-F238E27FC236}">
                <a16:creationId xmlns:a16="http://schemas.microsoft.com/office/drawing/2014/main" id="{8A01ABB0-546E-4BE9-A873-42FAFF32B46D}"/>
              </a:ext>
            </a:extLst>
          </p:cNvPr>
          <p:cNvSpPr>
            <a:spLocks xmlns:a="http://schemas.openxmlformats.org/drawingml/2006/main" noGrp="1"/>
          </p:cNvSpPr>
          <p:nvPr/>
        </p:nvSpPr>
        <p:spPr>
          <a:xfrm xmlns:a="http://schemas.openxmlformats.org/drawingml/2006/main">
            <a:off x="571500" y="7334250"/>
            <a:ext cx="4572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7.</a:t>
            </a:r>
          </a:p>
        </p:txBody>
      </p:sp>
      <p:sp>
        <p:nvSpPr>
          <p:cNvPr id="18" name="route-7">
            <a:extLst xmlns:a="http://schemas.openxmlformats.org/drawingml/2006/main">
              <a:ext uri="{FF2B5EF4-FFF2-40B4-BE49-F238E27FC236}">
                <a16:creationId xmlns:a16="http://schemas.microsoft.com/office/drawing/2014/main" id="{CFD84A6F-B29C-4195-A5A0-97049504AF63}"/>
              </a:ext>
            </a:extLst>
          </p:cNvPr>
          <p:cNvSpPr>
            <a:spLocks xmlns:a="http://schemas.openxmlformats.org/drawingml/2006/main" noGrp="1"/>
          </p:cNvSpPr>
          <p:nvPr/>
        </p:nvSpPr>
        <p:spPr>
          <a:xfrm xmlns:a="http://schemas.openxmlformats.org/drawingml/2006/main">
            <a:off x="1104900" y="7334250"/>
            <a:ext cx="74199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Zet je huiswerk in je agenda.</a:t>
            </a:r>
          </a:p>
        </p:txBody>
      </p:sp>
      <p:sp>
        <p:nvSpPr>
          <p:cNvPr id="19" name="Lesdoelen">
            <a:extLst xmlns:a="http://schemas.openxmlformats.org/drawingml/2006/main">
              <a:ext uri="{FF2B5EF4-FFF2-40B4-BE49-F238E27FC236}">
                <a16:creationId xmlns:a16="http://schemas.microsoft.com/office/drawing/2014/main" id="{3CDD108E-53BF-493F-8988-70CB73CC3E74}"/>
              </a:ext>
            </a:extLst>
          </p:cNvPr>
          <p:cNvSpPr>
            <a:spLocks xmlns:a="http://schemas.openxmlformats.org/drawingml/2006/main" noGrp="1"/>
          </p:cNvSpPr>
          <p:nvPr/>
        </p:nvSpPr>
        <p:spPr>
          <a:xfrm xmlns:a="http://schemas.openxmlformats.org/drawingml/2006/main">
            <a:off x="9258300" y="1866900"/>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Lesdoelen</a:t>
            </a:r>
          </a:p>
        </p:txBody>
      </p:sp>
      <p:sp>
        <p:nvSpPr>
          <p:cNvPr id="20" name="overview-goals">
            <a:extLst xmlns:a="http://schemas.openxmlformats.org/drawingml/2006/main">
              <a:ext uri="{FF2B5EF4-FFF2-40B4-BE49-F238E27FC236}">
                <a16:creationId xmlns:a16="http://schemas.microsoft.com/office/drawing/2014/main" id="{4322DE18-CD81-4666-A6BA-E65211A9E659}"/>
              </a:ext>
            </a:extLst>
          </p:cNvPr>
          <p:cNvSpPr>
            <a:spLocks xmlns:a="http://schemas.openxmlformats.org/drawingml/2006/main" noGrp="1"/>
          </p:cNvSpPr>
          <p:nvPr/>
        </p:nvSpPr>
        <p:spPr>
          <a:xfrm xmlns:a="http://schemas.openxmlformats.org/drawingml/2006/main">
            <a:off x="9258300" y="2409825"/>
            <a:ext cx="54102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Bronnen en eenheden kiezen.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Percentages en evenwicht berekenen.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Kosten en werkgelegenheid verklaren.</a:t>
            </a:r>
          </a:p>
        </p:txBody>
      </p:sp>
      <p:sp>
        <p:nvSpPr>
          <p:cNvPr id="21" name="">
            <a:extLst xmlns:a="http://schemas.openxmlformats.org/drawingml/2006/main">
              <a:ext uri="{FF2B5EF4-FFF2-40B4-BE49-F238E27FC236}">
                <a16:creationId xmlns:a16="http://schemas.microsoft.com/office/drawing/2014/main" id="{5466B182-FCB2-4EAF-9E42-40BA42DC98B0}"/>
              </a:ext>
            </a:extLst>
          </p:cNvPr>
          <p:cNvSpPr>
            <a:spLocks xmlns:a="http://schemas.openxmlformats.org/drawingml/2006/main" noGrp="1"/>
          </p:cNvSpPr>
          <p:nvPr/>
        </p:nvSpPr>
        <p:spPr>
          <a:xfrm xmlns:a="http://schemas.openxmlformats.org/drawingml/2006/main">
            <a:off x="9258300" y="3790950"/>
            <a:ext cx="5410200" cy="0"/>
          </a:xfrm>
          <a:prstGeom xmlns:a="http://schemas.openxmlformats.org/drawingml/2006/main" prst="line">
            <a:avLst/>
          </a:prstGeom>
          <a:ln xmlns:a="http://schemas.openxmlformats.org/drawingml/2006/main" w="19050">
            <a:solidFill>
              <a:srgbClr val="C6D2DB"/>
            </a:solidFill>
          </a:ln>
        </p:spPr>
      </p:sp>
      <p:sp>
        <p:nvSpPr>
          <p:cNvPr id="22" name="Startopdracht">
            <a:extLst xmlns:a="http://schemas.openxmlformats.org/drawingml/2006/main">
              <a:ext uri="{FF2B5EF4-FFF2-40B4-BE49-F238E27FC236}">
                <a16:creationId xmlns:a16="http://schemas.microsoft.com/office/drawing/2014/main" id="{80060343-AD06-4C39-A710-D010E57CA209}"/>
              </a:ext>
            </a:extLst>
          </p:cNvPr>
          <p:cNvSpPr>
            <a:spLocks xmlns:a="http://schemas.openxmlformats.org/drawingml/2006/main" noGrp="1"/>
          </p:cNvSpPr>
          <p:nvPr/>
        </p:nvSpPr>
        <p:spPr>
          <a:xfrm xmlns:a="http://schemas.openxmlformats.org/drawingml/2006/main">
            <a:off x="9258300" y="404812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Startopdracht</a:t>
            </a:r>
          </a:p>
        </p:txBody>
      </p:sp>
      <p:sp>
        <p:nvSpPr>
          <p:cNvPr id="23" name="overview-start">
            <a:extLst xmlns:a="http://schemas.openxmlformats.org/drawingml/2006/main">
              <a:ext uri="{FF2B5EF4-FFF2-40B4-BE49-F238E27FC236}">
                <a16:creationId xmlns:a16="http://schemas.microsoft.com/office/drawing/2014/main" id="{F085D645-29D7-40EB-9FEF-6199564BA786}"/>
              </a:ext>
            </a:extLst>
          </p:cNvPr>
          <p:cNvSpPr>
            <a:spLocks xmlns:a="http://schemas.openxmlformats.org/drawingml/2006/main" noGrp="1"/>
          </p:cNvSpPr>
          <p:nvPr/>
        </p:nvSpPr>
        <p:spPr>
          <a:xfrm xmlns:a="http://schemas.openxmlformats.org/drawingml/2006/main">
            <a:off x="9258300" y="4600575"/>
            <a:ext cx="538162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Pagina 150 · Opgave 37</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Terugblik op §§4.3.1–4.3.3</a:t>
            </a:r>
          </a:p>
        </p:txBody>
      </p:sp>
      <p:sp>
        <p:nvSpPr>
          <p:cNvPr id="24" name="">
            <a:extLst xmlns:a="http://schemas.openxmlformats.org/drawingml/2006/main">
              <a:ext uri="{FF2B5EF4-FFF2-40B4-BE49-F238E27FC236}">
                <a16:creationId xmlns:a16="http://schemas.microsoft.com/office/drawing/2014/main" id="{EA75FBBC-04AC-4F53-9ACF-3781552176FD}"/>
              </a:ext>
            </a:extLst>
          </p:cNvPr>
          <p:cNvSpPr>
            <a:spLocks xmlns:a="http://schemas.openxmlformats.org/drawingml/2006/main" noGrp="1"/>
          </p:cNvSpPr>
          <p:nvPr/>
        </p:nvSpPr>
        <p:spPr>
          <a:xfrm xmlns:a="http://schemas.openxmlformats.org/drawingml/2006/main">
            <a:off x="9258300" y="5657850"/>
            <a:ext cx="5410200" cy="0"/>
          </a:xfrm>
          <a:prstGeom xmlns:a="http://schemas.openxmlformats.org/drawingml/2006/main" prst="line">
            <a:avLst/>
          </a:prstGeom>
          <a:ln xmlns:a="http://schemas.openxmlformats.org/drawingml/2006/main" w="19050">
            <a:solidFill>
              <a:srgbClr val="C6D2DB"/>
            </a:solidFill>
          </a:ln>
        </p:spPr>
      </p:sp>
      <p:sp>
        <p:nvSpPr>
          <p:cNvPr id="25" name="Huiswerk">
            <a:extLst xmlns:a="http://schemas.openxmlformats.org/drawingml/2006/main">
              <a:ext uri="{FF2B5EF4-FFF2-40B4-BE49-F238E27FC236}">
                <a16:creationId xmlns:a16="http://schemas.microsoft.com/office/drawing/2014/main" id="{40BE190E-AB28-4B98-AE21-9C79CD4D945A}"/>
              </a:ext>
            </a:extLst>
          </p:cNvPr>
          <p:cNvSpPr>
            <a:spLocks xmlns:a="http://schemas.openxmlformats.org/drawingml/2006/main" noGrp="1"/>
          </p:cNvSpPr>
          <p:nvPr/>
        </p:nvSpPr>
        <p:spPr>
          <a:xfrm xmlns:a="http://schemas.openxmlformats.org/drawingml/2006/main">
            <a:off x="9258300" y="587692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7658A"/>
                </a:solidFill>
                <a:latin typeface="Arial"/>
                <a:ea typeface="Arial"/>
                <a:cs typeface="Arial"/>
              </a:defRPr>
            </a:pPr>
            <a:r>
              <a:rPr sz="2625" b="1">
                <a:solidFill>
                  <a:srgbClr val="17658A"/>
                </a:solidFill>
                <a:latin typeface="Arial"/>
                <a:ea typeface="Arial"/>
                <a:cs typeface="Arial"/>
              </a:rPr>
              <a:t>Huiswerk</a:t>
            </a:r>
          </a:p>
        </p:txBody>
      </p:sp>
      <p:sp>
        <p:nvSpPr>
          <p:cNvPr id="26" name="overview-homework">
            <a:extLst xmlns:a="http://schemas.openxmlformats.org/drawingml/2006/main">
              <a:ext uri="{FF2B5EF4-FFF2-40B4-BE49-F238E27FC236}">
                <a16:creationId xmlns:a16="http://schemas.microsoft.com/office/drawing/2014/main" id="{53A9C2C5-45A1-4579-AD86-7B7D9A92703E}"/>
              </a:ext>
            </a:extLst>
          </p:cNvPr>
          <p:cNvSpPr>
            <a:spLocks xmlns:a="http://schemas.openxmlformats.org/drawingml/2006/main" noGrp="1"/>
          </p:cNvSpPr>
          <p:nvPr/>
        </p:nvSpPr>
        <p:spPr>
          <a:xfrm xmlns:a="http://schemas.openxmlformats.org/drawingml/2006/main">
            <a:off x="9258300" y="6419850"/>
            <a:ext cx="538162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§4.3.5 · Opgaven 37–41</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Voorbereiding: 37–39</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Doelopgave: 40 · Bonus: 41</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Maken en nakijken</a:t>
            </a:r>
          </a:p>
        </p:txBody>
      </p:sp>
      <p:sp>
        <p:nvSpPr>
          <p:cNvPr id="27" name="§4.3.5 · Gemengde opgaven: arbeidsmarkt">
            <a:extLst xmlns:a="http://schemas.openxmlformats.org/drawingml/2006/main">
              <a:ext uri="{FF2B5EF4-FFF2-40B4-BE49-F238E27FC236}">
                <a16:creationId xmlns:a16="http://schemas.microsoft.com/office/drawing/2014/main" id="{C004B11B-00B1-45CC-A2EC-D328C28C6350}"/>
              </a:ext>
            </a:extLst>
          </p:cNvPr>
          <p:cNvSpPr>
            <a:spLocks xmlns:a="http://schemas.openxmlformats.org/drawingml/2006/main" noGrp="1"/>
          </p:cNvSpPr>
          <p:nvPr/>
        </p:nvSpPr>
        <p:spPr>
          <a:xfrm xmlns:a="http://schemas.openxmlformats.org/drawingml/2006/main">
            <a:off x="571500" y="8077200"/>
            <a:ext cx="1285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§4.3.5 · Gemengde opgaven: arbeidsmarkt</a:t>
            </a:r>
          </a:p>
        </p:txBody>
      </p:sp>
      <p:sp>
        <p:nvSpPr>
          <p:cNvPr id="28" name="20">
            <a:extLst xmlns:a="http://schemas.openxmlformats.org/drawingml/2006/main">
              <a:ext uri="{FF2B5EF4-FFF2-40B4-BE49-F238E27FC236}">
                <a16:creationId xmlns:a16="http://schemas.microsoft.com/office/drawing/2014/main" id="{F5B6FAF4-FD1B-42CB-AC42-FCC74ED86DA3}"/>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20</a:t>
            </a:r>
          </a:p>
        </p:txBody>
      </p:sp>
    </p:spTree>
    <p:extLst>
      <p:ext uri="{BB962C8B-B14F-4D97-AF65-F5344CB8AC3E}">
        <p14:creationId xmlns:p14="http://schemas.microsoft.com/office/powerpoint/2010/main" val="58587505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2026-10-01T18:41:48.3040000Z</dcterms:created>
  <dcterms:modified xsi:type="dcterms:W3CDTF">2026-10-01T18:41:48.3040000Z</dcterms:modified>
</coreProperties>
</file>