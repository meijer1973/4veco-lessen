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6df4355284146fc" /><Relationship Type="http://schemas.openxmlformats.org/officeDocument/2006/relationships/extended-properties" Target="/docProps/app.xml" Id="Rfe2c42a225994950" /><Relationship Type="http://schemas.openxmlformats.org/officeDocument/2006/relationships/officeDocument" Target="/ppt/presentation.xml" Id="R14b44cc42c3341e5" /></Relationships>
</file>

<file path=ppt/presentation.xml><?xml version="1.0" encoding="utf-8"?>
<p:presentation xmlns:p="http://schemas.openxmlformats.org/presentationml/2006/main">
  <p:sldMasterIdLst>
    <p:sldMasterId xmlns:r="http://schemas.openxmlformats.org/officeDocument/2006/relationships" id="2147483648" r:id="R5aaceab4872f4046"/>
  </p:sldMasterIdLst>
  <p:notesMasterIdLst>
    <p:notesMasterId xmlns:r="http://schemas.openxmlformats.org/officeDocument/2006/relationships" r:id="R5d956db2d68c4c04"/>
  </p:notesMasterIdLst>
  <p:sldIdLst>
    <p:sldId xmlns:r="http://schemas.openxmlformats.org/officeDocument/2006/relationships" id="256" r:id="Rc28f561ce4194bda"/>
    <p:sldId xmlns:r="http://schemas.openxmlformats.org/officeDocument/2006/relationships" id="257" r:id="R1c98899274b84090"/>
    <p:sldId xmlns:r="http://schemas.openxmlformats.org/officeDocument/2006/relationships" id="258" r:id="Rc2feca2f4af541da"/>
    <p:sldId xmlns:r="http://schemas.openxmlformats.org/officeDocument/2006/relationships" id="259" r:id="R187dd7e7501845fe"/>
    <p:sldId xmlns:r="http://schemas.openxmlformats.org/officeDocument/2006/relationships" id="260" r:id="R67eb14c6453c44b3"/>
    <p:sldId xmlns:r="http://schemas.openxmlformats.org/officeDocument/2006/relationships" id="261" r:id="Radb53ac507ab4012"/>
    <p:sldId xmlns:r="http://schemas.openxmlformats.org/officeDocument/2006/relationships" id="262" r:id="R6db660114cc3464f"/>
    <p:sldId xmlns:r="http://schemas.openxmlformats.org/officeDocument/2006/relationships" id="263" r:id="R159b304118934459"/>
    <p:sldId xmlns:r="http://schemas.openxmlformats.org/officeDocument/2006/relationships" id="264" r:id="R08dd5a52a49145e0"/>
    <p:sldId xmlns:r="http://schemas.openxmlformats.org/officeDocument/2006/relationships" id="265" r:id="R9a9772bcf2844f6d"/>
    <p:sldId xmlns:r="http://schemas.openxmlformats.org/officeDocument/2006/relationships" id="266" r:id="Rff7fa323b2074764"/>
    <p:sldId xmlns:r="http://schemas.openxmlformats.org/officeDocument/2006/relationships" id="267" r:id="R33feeb3233e0421b"/>
    <p:sldId xmlns:r="http://schemas.openxmlformats.org/officeDocument/2006/relationships" id="268" r:id="R1eed56c3f008437e"/>
    <p:sldId xmlns:r="http://schemas.openxmlformats.org/officeDocument/2006/relationships" id="269" r:id="R07cd082585a848b5"/>
    <p:sldId xmlns:r="http://schemas.openxmlformats.org/officeDocument/2006/relationships" id="270" r:id="R57c8342ddbcb40d4"/>
    <p:sldId xmlns:r="http://schemas.openxmlformats.org/officeDocument/2006/relationships" id="271" r:id="R9ee5d5e382fe4be6"/>
    <p:sldId xmlns:r="http://schemas.openxmlformats.org/officeDocument/2006/relationships" id="272" r:id="R5b87cf3566434262"/>
    <p:sldId xmlns:r="http://schemas.openxmlformats.org/officeDocument/2006/relationships" id="273" r:id="R4e1fdc1d21fb491c"/>
    <p:sldId xmlns:r="http://schemas.openxmlformats.org/officeDocument/2006/relationships" id="274" r:id="R91ee5f2986364ae1"/>
    <p:sldId xmlns:r="http://schemas.openxmlformats.org/officeDocument/2006/relationships" id="275" r:id="R3f1e5e823cc44abb"/>
    <p:sldId xmlns:r="http://schemas.openxmlformats.org/officeDocument/2006/relationships" id="276" r:id="R140481f615f441da"/>
    <p:sldId xmlns:r="http://schemas.openxmlformats.org/officeDocument/2006/relationships" id="277" r:id="R20e16c706f814b77"/>
    <p:sldId xmlns:r="http://schemas.openxmlformats.org/officeDocument/2006/relationships" id="278" r:id="Rcb07ecdb92214cf0"/>
    <p:sldId xmlns:r="http://schemas.openxmlformats.org/officeDocument/2006/relationships" id="279" r:id="R7eb97177facf4f10"/>
    <p:sldId xmlns:r="http://schemas.openxmlformats.org/officeDocument/2006/relationships" id="280" r:id="R707deba1fa42492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b237f7f8a843ea" /><Relationship Type="http://schemas.openxmlformats.org/officeDocument/2006/relationships/slideMaster" Target="/ppt/slideMasters/slideMaster1.xml" Id="R5aaceab4872f4046" /><Relationship Type="http://schemas.openxmlformats.org/officeDocument/2006/relationships/notesMaster" Target="/ppt/notesMasters/notesMaster1.xml" Id="R5d956db2d68c4c04" /><Relationship Type="http://schemas.openxmlformats.org/officeDocument/2006/relationships/presProps" Target="/ppt/presProps.xml" Id="Rc0d3c6caf9704876" /><Relationship Type="http://schemas.openxmlformats.org/officeDocument/2006/relationships/tableStyles" Target="/ppt/tableStyles.xml" Id="Rb616f9ce9fed4a76" /><Relationship Type="http://schemas.openxmlformats.org/officeDocument/2006/relationships/slide" Target="/ppt/slides/slide1.xml" Id="Rc28f561ce4194bda" /><Relationship Type="http://schemas.openxmlformats.org/officeDocument/2006/relationships/slide" Target="/ppt/slides/slide2.xml" Id="R1c98899274b84090" /><Relationship Type="http://schemas.openxmlformats.org/officeDocument/2006/relationships/slide" Target="/ppt/slides/slide3.xml" Id="Rc2feca2f4af541da" /><Relationship Type="http://schemas.openxmlformats.org/officeDocument/2006/relationships/slide" Target="/ppt/slides/slide4.xml" Id="R187dd7e7501845fe" /><Relationship Type="http://schemas.openxmlformats.org/officeDocument/2006/relationships/slide" Target="/ppt/slides/slide5.xml" Id="R67eb14c6453c44b3" /><Relationship Type="http://schemas.openxmlformats.org/officeDocument/2006/relationships/slide" Target="/ppt/slides/slide6.xml" Id="Radb53ac507ab4012" /><Relationship Type="http://schemas.openxmlformats.org/officeDocument/2006/relationships/slide" Target="/ppt/slides/slide7.xml" Id="R6db660114cc3464f" /><Relationship Type="http://schemas.openxmlformats.org/officeDocument/2006/relationships/slide" Target="/ppt/slides/slide8.xml" Id="R159b304118934459" /><Relationship Type="http://schemas.openxmlformats.org/officeDocument/2006/relationships/slide" Target="/ppt/slides/slide9.xml" Id="R08dd5a52a49145e0" /><Relationship Type="http://schemas.openxmlformats.org/officeDocument/2006/relationships/slide" Target="/ppt/slides/slide10.xml" Id="R9a9772bcf2844f6d" /><Relationship Type="http://schemas.openxmlformats.org/officeDocument/2006/relationships/slide" Target="/ppt/slides/slide11.xml" Id="Rff7fa323b2074764" /><Relationship Type="http://schemas.openxmlformats.org/officeDocument/2006/relationships/slide" Target="/ppt/slides/slide12.xml" Id="R33feeb3233e0421b" /><Relationship Type="http://schemas.openxmlformats.org/officeDocument/2006/relationships/slide" Target="/ppt/slides/slide13.xml" Id="R1eed56c3f008437e" /><Relationship Type="http://schemas.openxmlformats.org/officeDocument/2006/relationships/slide" Target="/ppt/slides/slide14.xml" Id="R07cd082585a848b5" /><Relationship Type="http://schemas.openxmlformats.org/officeDocument/2006/relationships/slide" Target="/ppt/slides/slide15.xml" Id="R57c8342ddbcb40d4" /><Relationship Type="http://schemas.openxmlformats.org/officeDocument/2006/relationships/slide" Target="/ppt/slides/slide16.xml" Id="R9ee5d5e382fe4be6" /><Relationship Type="http://schemas.openxmlformats.org/officeDocument/2006/relationships/slide" Target="/ppt/slides/slide17.xml" Id="R5b87cf3566434262" /><Relationship Type="http://schemas.openxmlformats.org/officeDocument/2006/relationships/slide" Target="/ppt/slides/slide18.xml" Id="R4e1fdc1d21fb491c" /><Relationship Type="http://schemas.openxmlformats.org/officeDocument/2006/relationships/slide" Target="/ppt/slides/slide19.xml" Id="R91ee5f2986364ae1" /><Relationship Type="http://schemas.openxmlformats.org/officeDocument/2006/relationships/slide" Target="/ppt/slides/slide20.xml" Id="R3f1e5e823cc44abb" /><Relationship Type="http://schemas.openxmlformats.org/officeDocument/2006/relationships/slide" Target="/ppt/slides/slide21.xml" Id="R140481f615f441da" /><Relationship Type="http://schemas.openxmlformats.org/officeDocument/2006/relationships/slide" Target="/ppt/slides/slide22.xml" Id="R20e16c706f814b77" /><Relationship Type="http://schemas.openxmlformats.org/officeDocument/2006/relationships/slide" Target="/ppt/slides/slide23.xml" Id="Rcb07ecdb92214cf0" /><Relationship Type="http://schemas.openxmlformats.org/officeDocument/2006/relationships/slide" Target="/ppt/slides/slide24.xml" Id="R7eb97177facf4f10" /><Relationship Type="http://schemas.openxmlformats.org/officeDocument/2006/relationships/slide" Target="/ppt/slides/slide25.xml" Id="R707deba1fa4249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a980892b9247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61d4f49b0846ef" /><Relationship Type="http://schemas.openxmlformats.org/officeDocument/2006/relationships/notesMaster" Target="/ppt/notesMasters/notesMaster1.xml" Id="R394be124757a44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e3c38ce40e4c4c" /><Relationship Type="http://schemas.openxmlformats.org/officeDocument/2006/relationships/notesMaster" Target="/ppt/notesMasters/notesMaster1.xml" Id="R78fc3c3cc30a4e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663515365f481e" /><Relationship Type="http://schemas.openxmlformats.org/officeDocument/2006/relationships/notesMaster" Target="/ppt/notesMasters/notesMaster1.xml" Id="R238e14542f7c4b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f6212596624c99" /><Relationship Type="http://schemas.openxmlformats.org/officeDocument/2006/relationships/notesMaster" Target="/ppt/notesMasters/notesMaster1.xml" Id="Rdb1987a98ee640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36804b220f43f8" /><Relationship Type="http://schemas.openxmlformats.org/officeDocument/2006/relationships/notesMaster" Target="/ppt/notesMasters/notesMaster1.xml" Id="Rc4cda73fb1a449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70bb5e6de64664" /><Relationship Type="http://schemas.openxmlformats.org/officeDocument/2006/relationships/notesMaster" Target="/ppt/notesMasters/notesMaster1.xml" Id="R92f2ebbbac114b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d3e72e44f74e61" /><Relationship Type="http://schemas.openxmlformats.org/officeDocument/2006/relationships/notesMaster" Target="/ppt/notesMasters/notesMaster1.xml" Id="R5bcdf7f8d38c4a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c081733f0f48d0" /><Relationship Type="http://schemas.openxmlformats.org/officeDocument/2006/relationships/notesMaster" Target="/ppt/notesMasters/notesMaster1.xml" Id="R174cfd25600146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1ebc93fcc140d3" /><Relationship Type="http://schemas.openxmlformats.org/officeDocument/2006/relationships/notesMaster" Target="/ppt/notesMasters/notesMaster1.xml" Id="R52bdf2ccdab243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bff9432ede4e48" /><Relationship Type="http://schemas.openxmlformats.org/officeDocument/2006/relationships/notesMaster" Target="/ppt/notesMasters/notesMaster1.xml" Id="R8ce0fc02ab9b42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00d660ceb647b6" /><Relationship Type="http://schemas.openxmlformats.org/officeDocument/2006/relationships/notesMaster" Target="/ppt/notesMasters/notesMaster1.xml" Id="R4f917773859247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9865042201406f" /><Relationship Type="http://schemas.openxmlformats.org/officeDocument/2006/relationships/notesMaster" Target="/ppt/notesMasters/notesMaster1.xml" Id="R8485c5a45c304d2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fa8ba146b34e7a" /><Relationship Type="http://schemas.openxmlformats.org/officeDocument/2006/relationships/notesMaster" Target="/ppt/notesMasters/notesMaster1.xml" Id="Rdde1db5c852345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045b6057a5494c" /><Relationship Type="http://schemas.openxmlformats.org/officeDocument/2006/relationships/notesMaster" Target="/ppt/notesMasters/notesMaster1.xml" Id="Rb6e6d84595de413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1d9300fb40945bc" /><Relationship Type="http://schemas.openxmlformats.org/officeDocument/2006/relationships/notesMaster" Target="/ppt/notesMasters/notesMaster1.xml" Id="R6877510287ec4d0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03955749ec43a8" /><Relationship Type="http://schemas.openxmlformats.org/officeDocument/2006/relationships/notesMaster" Target="/ppt/notesMasters/notesMaster1.xml" Id="R2214d72808a342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c53324e88e4118" /><Relationship Type="http://schemas.openxmlformats.org/officeDocument/2006/relationships/notesMaster" Target="/ppt/notesMasters/notesMaster1.xml" Id="R3dcd69508c4a448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b8ee7a0d5704c9a" /><Relationship Type="http://schemas.openxmlformats.org/officeDocument/2006/relationships/notesMaster" Target="/ppt/notesMasters/notesMaster1.xml" Id="Rd8307c63643e42a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ac12f98253544ff" /><Relationship Type="http://schemas.openxmlformats.org/officeDocument/2006/relationships/notesMaster" Target="/ppt/notesMasters/notesMaster1.xml" Id="R2a7344ce0ba6405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23624b597894915" /><Relationship Type="http://schemas.openxmlformats.org/officeDocument/2006/relationships/notesMaster" Target="/ppt/notesMasters/notesMaster1.xml" Id="Rf47aeb1d4fa044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ec9151665044e86" /><Relationship Type="http://schemas.openxmlformats.org/officeDocument/2006/relationships/notesMaster" Target="/ppt/notesMasters/notesMaster1.xml" Id="R6ee15b0be4a7445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5f3b8ee4f864c97" /><Relationship Type="http://schemas.openxmlformats.org/officeDocument/2006/relationships/notesMaster" Target="/ppt/notesMasters/notesMaster1.xml" Id="R7b8c61ce04a440b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3ef32e0435d40cc" /><Relationship Type="http://schemas.openxmlformats.org/officeDocument/2006/relationships/notesMaster" Target="/ppt/notesMasters/notesMaster1.xml" Id="Rb9687bc7d09741d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2a0c7e075b441b4" /><Relationship Type="http://schemas.openxmlformats.org/officeDocument/2006/relationships/notesMaster" Target="/ppt/notesMasters/notesMaster1.xml" Id="Rc5517d9f0ae543f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aceba2aa9c7446a" /><Relationship Type="http://schemas.openxmlformats.org/officeDocument/2006/relationships/notesMaster" Target="/ppt/notesMasters/notesMaster1.xml" Id="Rd0ba59e729914b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vind je steun voor de rolverdeling bij opgave 2?</a:t>
            </a:r>
          </a:p>
          <a:p xmlns:a="http://schemas.openxmlformats.org/drawingml/2006/main">
            <a:r>
              <a:rPr sz="1400"/>
              <a:t/>
            </a:r>
          </a:p>
          <a:p xmlns:a="http://schemas.openxmlformats.org/drawingml/2006/main">
            <a:r>
              <a:rPr sz="1400"/>
              <a:t>Uitleg: Laat de dia staan tijdens startopdracht. Start 1–2: p. 119. Basis 3: p. 119 en 4: p. 120. Zelfstandig 5: p. 120 en 6: p. 121. Doel 7: p. 122. Huiswerk 3 tot en met 7 maken en nakijken. Bonus 8 en herhaling 9 zijn extra. Opgave 1 herhaalt gemiddelde kosten en procentuele verandering uit Boek 2. De rolwisseling bij opgave 2 is nieuw: laat leerlingen de definitie en figuur op p. 114 gebruiken, hun keuze proberen te verklaren en twijfel noteren. Verwacht nog geen zelfstandige beheersing. Keer vóór basiswerk terug naar opgave 2 na de uitleg, laat opnieuw beantwoorden en bespreek de rollen. Startantwoorden voor feedback na de poging: 1a 2700/900 = 3 euro per poster; 1b (1080−900)/900 × 100% = 20%; 2 restaurant vraagt arbeid, kok biedt arbeid aan. De volledige route kan over meerdere lessen worden afgerond; de handleiding adviseert voorlopig twee lessen van 55 minuten, zonder gemeten tijdsfit.</a:t>
            </a:r>
          </a:p>
          <a:p xmlns:a="http://schemas.openxmlformats.org/drawingml/2006/main">
            <a:r>
              <a:rPr sz="1400"/>
              <a:t/>
            </a:r>
          </a:p>
          <a:p xmlns:a="http://schemas.openxmlformats.org/drawingml/2006/main">
            <a:r>
              <a:rPr sz="1400"/>
              <a:t>Misvatting: De hoofdstukhandleiding gebruikt lokale paginanummers 2–11. Hier staan de gedrukte complete-boekpagina’s 114–123.</a:t>
            </a:r>
          </a:p>
          <a:p xmlns:a="http://schemas.openxmlformats.org/drawingml/2006/main">
            <a:r>
              <a:rPr sz="1400"/>
              <a:t/>
            </a:r>
          </a:p>
          <a:p xmlns:a="http://schemas.openxmlformats.org/drawingml/2006/main">
            <a:r>
              <a:rPr sz="1400"/>
              <a:t>Overgang: Ga verder wanneer de klas klaar is voor de volgende fase.</a:t>
            </a:r>
          </a:p>
          <a:p xmlns:a="http://schemas.openxmlformats.org/drawingml/2006/main">
            <a:r>
              <a:rPr sz="1400"/>
              <a:t/>
            </a:r>
          </a:p>
          <a:p xmlns:a="http://schemas.openxmlformats.org/drawingml/2006/main">
            <a:r>
              <a:rPr sz="1400"/>
              <a:t>Bron: Boek 4, editie books34-v3, §4.3.1, gedrukte boekpagina 114, 119–122.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levert een werknemer aan een werkgever?</a:t>
            </a:r>
          </a:p>
          <a:p xmlns:a="http://schemas.openxmlformats.org/drawingml/2006/main">
            <a:r>
              <a:rPr sz="1400"/>
              <a:t/>
            </a:r>
          </a:p>
          <a:p xmlns:a="http://schemas.openxmlformats.org/drawingml/2006/main">
            <a:r>
              <a:rPr sz="1400"/>
              <a:t>Uitleg: Een werknemer levert werktijd, de werkgever betaalt daarvoor loon. Arbeidsvraag is de hoeveelheid arbeid die werkgevers bij een bepaald loon willen inzetten. Een vacature is een nog niet vervulde arbeidsplaats. Verbind goederenverkoop met de behoefte aan personeel: meer vraag naar mokken kan meer vraag naar arbeid geven. Laat leerlingen nu hun verkennende antwoord op startopgave 2 opnieuw overwegen.</a:t>
            </a:r>
          </a:p>
          <a:p xmlns:a="http://schemas.openxmlformats.org/drawingml/2006/main">
            <a:r>
              <a:rPr sz="1400"/>
              <a:t/>
            </a:r>
          </a:p>
          <a:p xmlns:a="http://schemas.openxmlformats.org/drawingml/2006/main">
            <a:r>
              <a:rPr sz="1400"/>
              <a:t>Misvatting: In alledaagse taal biedt een bedrijf een baan aan. Op de arbeidsmarkt vraagt het bedrijf arbeid.</a:t>
            </a:r>
          </a:p>
          <a:p xmlns:a="http://schemas.openxmlformats.org/drawingml/2006/main">
            <a:r>
              <a:rPr sz="1400"/>
              <a:t/>
            </a:r>
          </a:p>
          <a:p xmlns:a="http://schemas.openxmlformats.org/drawingml/2006/main">
            <a:r>
              <a:rPr sz="1400"/>
              <a:t>Overgang: Fris eerst twee bekende verhoudingen op.</a:t>
            </a:r>
          </a:p>
          <a:p xmlns:a="http://schemas.openxmlformats.org/drawingml/2006/main">
            <a:r>
              <a:rPr sz="1400"/>
              <a:t/>
            </a:r>
          </a:p>
          <a:p xmlns:a="http://schemas.openxmlformats.org/drawingml/2006/main">
            <a:r>
              <a:rPr sz="1400"/>
              <a:t>Bron: Boek 4, editie books34-v3, §4.3.1, gedrukte boekpagina 114.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getal is de noemer bij een procentuele verandering?</a:t>
            </a:r>
          </a:p>
          <a:p xmlns:a="http://schemas.openxmlformats.org/drawingml/2006/main">
            <a:r>
              <a:rPr sz="1400"/>
              <a:t/>
            </a:r>
          </a:p>
          <a:p xmlns:a="http://schemas.openxmlformats.org/drawingml/2006/main">
            <a:r>
              <a:rPr sz="1400"/>
              <a:t>Uitleg: Herhaal de bewerkingen uit start 1 zonder die opgave uit te werken. Gemiddelde kosten zijn totale kosten gedeeld door productie. De oude waarde is de basis bij procentuele verandering. Dit losse verkoopvoorbeeld staat apart van het productieplan op de volgende dia’s. Voorkennisbronnen: Boek 2 §2.1.1, Gemiddelde totale kosten, en §2.2.1, Rekenen met de oude waarde.</a:t>
            </a:r>
          </a:p>
          <a:p xmlns:a="http://schemas.openxmlformats.org/drawingml/2006/main">
            <a:r>
              <a:rPr sz="1400"/>
              <a:t/>
            </a:r>
          </a:p>
          <a:p xmlns:a="http://schemas.openxmlformats.org/drawingml/2006/main">
            <a:r>
              <a:rPr sz="1400"/>
              <a:t>Misvatting: Een verschil van 20 mokken is geen stijging van 20 procent.</a:t>
            </a:r>
          </a:p>
          <a:p xmlns:a="http://schemas.openxmlformats.org/drawingml/2006/main">
            <a:r>
              <a:rPr sz="1400"/>
              <a:t/>
            </a:r>
          </a:p>
          <a:p xmlns:a="http://schemas.openxmlformats.org/drawingml/2006/main">
            <a:r>
              <a:rPr sz="1400"/>
              <a:t>Overgang: Vertaal de hoeveelheid arbeid eerst naar de juiste eenheid.</a:t>
            </a:r>
          </a:p>
          <a:p xmlns:a="http://schemas.openxmlformats.org/drawingml/2006/main">
            <a:r>
              <a:rPr sz="1400"/>
              <a:t/>
            </a:r>
          </a:p>
          <a:p xmlns:a="http://schemas.openxmlformats.org/drawingml/2006/main">
            <a:r>
              <a:rPr sz="1400"/>
              <a:t>Bron: Boek 4, editie books34-v3, §4.3.1, gedrukte boekpagina 119.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Uitlegvoorbeeld — niet uit het boek. MokStudio en de getallen zijn voor deze les gemaakt. De boekverwijzing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kunnen 10 personen samen 7,5 fte werken?</a:t>
            </a:r>
          </a:p>
          <a:p xmlns:a="http://schemas.openxmlformats.org/drawingml/2006/main">
            <a:r>
              <a:rPr sz="1400"/>
              <a:t/>
            </a:r>
          </a:p>
          <a:p xmlns:a="http://schemas.openxmlformats.org/drawingml/2006/main">
            <a:r>
              <a:rPr sz="1400"/>
              <a:t>Uitleg: Een fulltime-equivalent drukt arbeidsduur uit. In dit eigen voorbeeld is voltijd 40 uur per week. Alle 10 medewerkers blijven personen, ook als hun uren samen 7,5 fte zijn. Gebruik de voltijdduur uit de bron, niet altijd automatisch 40. Vergelijk productie per persoon alleen wanneer periode en arbeidsduur duidelijk zijn.</a:t>
            </a:r>
          </a:p>
          <a:p xmlns:a="http://schemas.openxmlformats.org/drawingml/2006/main">
            <a:r>
              <a:rPr sz="1400"/>
              <a:t/>
            </a:r>
          </a:p>
          <a:p xmlns:a="http://schemas.openxmlformats.org/drawingml/2006/main">
            <a:r>
              <a:rPr sz="1400"/>
              <a:t>Misvatting: Uren, personen en fte zijn verschillende grootheden.</a:t>
            </a:r>
          </a:p>
          <a:p xmlns:a="http://schemas.openxmlformats.org/drawingml/2006/main">
            <a:r>
              <a:rPr sz="1400"/>
              <a:t/>
            </a:r>
          </a:p>
          <a:p xmlns:a="http://schemas.openxmlformats.org/drawingml/2006/main">
            <a:r>
              <a:rPr sz="1400"/>
              <a:t>Overgang: Gebruik de 300 arbeidsuren in het productieplan.</a:t>
            </a:r>
          </a:p>
          <a:p xmlns:a="http://schemas.openxmlformats.org/drawingml/2006/main">
            <a:r>
              <a:rPr sz="1400"/>
              <a:t/>
            </a:r>
          </a:p>
          <a:p xmlns:a="http://schemas.openxmlformats.org/drawingml/2006/main">
            <a:r>
              <a:rPr sz="1400"/>
              <a:t>Bron: Boek 4, editie books34-v3, §4.3.1, gedrukte boekpagina 115.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Uitlegvoorbeeld — niet uit het boek. MokStudio en de getallen zijn voor deze les gemaakt. De boekverwijzing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grootheden zijn gegeven en welke ontbreken?</a:t>
            </a:r>
          </a:p>
          <a:p xmlns:a="http://schemas.openxmlformats.org/drawingml/2006/main">
            <a:r>
              <a:rPr sz="1400"/>
              <a:t/>
            </a:r>
          </a:p>
          <a:p xmlns:a="http://schemas.openxmlformats.org/drawingml/2006/main">
            <a:r>
              <a:rPr sz="1400"/>
              <a:t>Uitleg: MokStudio neemt meer orders aan en gebruikt een ander werkproces. Productie, productiviteit en volledige uurkosten veranderen samen. De gegevens staan hier gegeven, zoals in een rekenplan. Het plan voorspelt niet hoe elke verandering afzonderlijk werkt. Uurkosten zijn alle loonkosten van de werkgever per arbeidsuur, en hoeven niet gelijk te zijn aan het brutoloon.</a:t>
            </a:r>
          </a:p>
          <a:p xmlns:a="http://schemas.openxmlformats.org/drawingml/2006/main">
            <a:r>
              <a:rPr sz="1400"/>
              <a:t/>
            </a:r>
          </a:p>
          <a:p xmlns:a="http://schemas.openxmlformats.org/drawingml/2006/main">
            <a:r>
              <a:rPr sz="1400"/>
              <a:t>Misvatting: Voeg geen onbekende werkgeverskosten aan de volledige uurkosten toe.</a:t>
            </a:r>
          </a:p>
          <a:p xmlns:a="http://schemas.openxmlformats.org/drawingml/2006/main">
            <a:r>
              <a:rPr sz="1400"/>
              <a:t/>
            </a:r>
          </a:p>
          <a:p xmlns:a="http://schemas.openxmlformats.org/drawingml/2006/main">
            <a:r>
              <a:rPr sz="1400"/>
              <a:t>Overgang: Bereken eerst hoeveel mokken één arbeidsuur opleverde.</a:t>
            </a:r>
          </a:p>
          <a:p xmlns:a="http://schemas.openxmlformats.org/drawingml/2006/main">
            <a:r>
              <a:rPr sz="1400"/>
              <a:t/>
            </a:r>
          </a:p>
          <a:p xmlns:a="http://schemas.openxmlformats.org/drawingml/2006/main">
            <a:r>
              <a:rPr sz="1400"/>
              <a:t>Bron: Boek 4, editie books34-v3, §4.3.1, gedrukte boekpagina 115–116.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Uitlegvoorbeeld — niet uit het boek. MokStudio en de getallen zijn voor deze les gemaakt. De boekverwijzing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delen we hier door uren en niet door personen?</a:t>
            </a:r>
          </a:p>
          <a:p xmlns:a="http://schemas.openxmlformats.org/drawingml/2006/main">
            <a:r>
              <a:rPr sz="1400"/>
              <a:t/>
            </a:r>
          </a:p>
          <a:p xmlns:a="http://schemas.openxmlformats.org/drawingml/2006/main">
            <a:r>
              <a:rPr sz="1400"/>
              <a:t>Uitleg: Deel productie per week door arbeidsuren per week. De week valt in de verhouding weg en de uitkomst is mokken per arbeidsuur. De eenheid vertelt wat het gemiddelde betekent. Schrijf deze uitkomst in de oude kolom van het plan.</a:t>
            </a:r>
          </a:p>
          <a:p xmlns:a="http://schemas.openxmlformats.org/drawingml/2006/main">
            <a:r>
              <a:rPr sz="1400"/>
              <a:t/>
            </a:r>
          </a:p>
          <a:p xmlns:a="http://schemas.openxmlformats.org/drawingml/2006/main">
            <a:r>
              <a:rPr sz="1400"/>
              <a:t>Misvatting: Productie per week en uren per maand mogen niet ongemerkt worden gecombineerd.</a:t>
            </a:r>
          </a:p>
          <a:p xmlns:a="http://schemas.openxmlformats.org/drawingml/2006/main">
            <a:r>
              <a:rPr sz="1400"/>
              <a:t/>
            </a:r>
          </a:p>
          <a:p xmlns:a="http://schemas.openxmlformats.org/drawingml/2006/main">
            <a:r>
              <a:rPr sz="1400"/>
              <a:t>Overgang: Draai de verhouding om om de nieuwe arbeidsuren te vinden.</a:t>
            </a:r>
          </a:p>
          <a:p xmlns:a="http://schemas.openxmlformats.org/drawingml/2006/main">
            <a:r>
              <a:rPr sz="1400"/>
              <a:t/>
            </a:r>
          </a:p>
          <a:p xmlns:a="http://schemas.openxmlformats.org/drawingml/2006/main">
            <a:r>
              <a:rPr sz="1400"/>
              <a:t>Bron: Boek 4, editie books34-v3, §4.3.1, gedrukte boekpagina 115.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Uitlegvoorbeeld — niet uit het boek. MokStudio en de getallen zijn voor deze les gemaakt. De boekverwijzing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controleer je of 350 uur genoeg is?</a:t>
            </a:r>
          </a:p>
          <a:p xmlns:a="http://schemas.openxmlformats.org/drawingml/2006/main">
            <a:r>
              <a:rPr sz="1400"/>
              <a:t/>
            </a:r>
          </a:p>
          <a:p xmlns:a="http://schemas.openxmlformats.org/drawingml/2006/main">
            <a:r>
              <a:rPr sz="1400"/>
              <a:t>Uitleg: De oorspronkelijke 300 uren worden 350. De productie stijgt sterker dan de productiviteit, dus in dit plan zijn meer uren nodig. Controleer de nieuwe uren door met de nieuwe productiviteit te vermenigvuldigen. Rond het percentage pas aan het einde af. Er is nog geen informatie om 350 uren in een nieuw aantal personen te vertalen.</a:t>
            </a:r>
          </a:p>
          <a:p xmlns:a="http://schemas.openxmlformats.org/drawingml/2006/main">
            <a:r>
              <a:rPr sz="1400"/>
              <a:t/>
            </a:r>
          </a:p>
          <a:p xmlns:a="http://schemas.openxmlformats.org/drawingml/2006/main">
            <a:r>
              <a:rPr sz="1400"/>
              <a:t>Misvatting: Meer productiviteit betekent alleen bij gelijkblijvende productie zeker minder benodigde uren.</a:t>
            </a:r>
          </a:p>
          <a:p xmlns:a="http://schemas.openxmlformats.org/drawingml/2006/main">
            <a:r>
              <a:rPr sz="1400"/>
              <a:t/>
            </a:r>
          </a:p>
          <a:p xmlns:a="http://schemas.openxmlformats.org/drawingml/2006/main">
            <a:r>
              <a:rPr sz="1400"/>
              <a:t>Overgang: Bereken nu het loonbedrag dat op één mok drukt.</a:t>
            </a:r>
          </a:p>
          <a:p xmlns:a="http://schemas.openxmlformats.org/drawingml/2006/main">
            <a:r>
              <a:rPr sz="1400"/>
              <a:t/>
            </a:r>
          </a:p>
          <a:p xmlns:a="http://schemas.openxmlformats.org/drawingml/2006/main">
            <a:r>
              <a:rPr sz="1400"/>
              <a:t>Bron: Boek 4, editie books34-v3, §4.3.1, gedrukte boekpagina 115–116.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Uitlegvoorbeeld — niet uit het boek. MokStudio en de getallen zijn voor deze les gemaakt. De boekverwijzing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Kan het totale loonbedrag stijgen terwijl het bedrag per mok daalt?</a:t>
            </a:r>
          </a:p>
          <a:p xmlns:a="http://schemas.openxmlformats.org/drawingml/2006/main">
            <a:r>
              <a:rPr sz="1400"/>
              <a:t/>
            </a:r>
          </a:p>
          <a:p xmlns:a="http://schemas.openxmlformats.org/drawingml/2006/main">
            <a:r>
              <a:rPr sz="1400"/>
              <a:t>Uitleg: Het uurbedrag stijgt, maar de productie per uur stijgt sterker. Daarom daalt de loonkost per mok. Controle via totalen: oud 300 × 27 = 8100 euro en 8100/1800 = 4,50. Nieuw 350 × 28,80 = 10080 euro en 10080/2800 = 3,60. Loonkosten per product zijn totale loonkosten gedeeld door productie. Lagere loonkosten per product bewijzen geen lagere totale kostprijs: machines, energie en materiaal kunnen veranderen.</a:t>
            </a:r>
          </a:p>
          <a:p xmlns:a="http://schemas.openxmlformats.org/drawingml/2006/main">
            <a:r>
              <a:rPr sz="1400"/>
              <a:t/>
            </a:r>
          </a:p>
          <a:p xmlns:a="http://schemas.openxmlformats.org/drawingml/2006/main">
            <a:r>
              <a:rPr sz="1400"/>
              <a:t>Misvatting: Uurkosten, loon per werknemer en loonkosten per product zijn geen verwisselbare begrippen.</a:t>
            </a:r>
          </a:p>
          <a:p xmlns:a="http://schemas.openxmlformats.org/drawingml/2006/main">
            <a:r>
              <a:rPr sz="1400"/>
              <a:t/>
            </a:r>
          </a:p>
          <a:p xmlns:a="http://schemas.openxmlformats.org/drawingml/2006/main">
            <a:r>
              <a:rPr sz="1400"/>
              <a:t>Overgang: Controleer wat productiviteit bij gelijkblijvende productie doet.</a:t>
            </a:r>
          </a:p>
          <a:p xmlns:a="http://schemas.openxmlformats.org/drawingml/2006/main">
            <a:r>
              <a:rPr sz="1400"/>
              <a:t/>
            </a:r>
          </a:p>
          <a:p xmlns:a="http://schemas.openxmlformats.org/drawingml/2006/main">
            <a:r>
              <a:rPr sz="1400"/>
              <a:t>Bron: Boek 4, editie books34-v3, §4.3.1, gedrukte boekpagina 116.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Uitlegvoorbeeld — niet uit het boek. MokStudio en de getallen zijn voor deze les gemaakt. De boekverwijzing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grootheid houden we hier gelijk?</a:t>
            </a:r>
          </a:p>
          <a:p xmlns:a="http://schemas.openxmlformats.org/drawingml/2006/main">
            <a:r>
              <a:rPr sz="1400"/>
              <a:t/>
            </a:r>
          </a:p>
          <a:p xmlns:a="http://schemas.openxmlformats.org/drawingml/2006/main">
            <a:r>
              <a:rPr sz="1400"/>
              <a:t>Uitleg: Laat iedereen kort zelfstandig rekenen. Dit zijn alternatieven binnen het eigen uitlegvoorbeeld, geen extra boekopgaven of huiswerk. Verwachte antwoorden na de poging: 1800/8 = 225 uur; 300 × 8 = 2400 mokken. De volgende dia vergelijkt deze alternatieven met het productieplan.</a:t>
            </a:r>
          </a:p>
          <a:p xmlns:a="http://schemas.openxmlformats.org/drawingml/2006/main">
            <a:r>
              <a:rPr sz="1400"/>
              <a:t/>
            </a:r>
          </a:p>
          <a:p xmlns:a="http://schemas.openxmlformats.org/drawingml/2006/main">
            <a:r>
              <a:rPr sz="1400"/>
              <a:t>Misvatting: Gebruik bij beide vragen de nieuwe productiviteit, niet de oude 6.</a:t>
            </a:r>
          </a:p>
          <a:p xmlns:a="http://schemas.openxmlformats.org/drawingml/2006/main">
            <a:r>
              <a:rPr sz="1400"/>
              <a:t/>
            </a:r>
          </a:p>
          <a:p xmlns:a="http://schemas.openxmlformats.org/drawingml/2006/main">
            <a:r>
              <a:rPr sz="1400"/>
              <a:t>Overgang: Vergelijk de alternatieven na het ophalen van antwoorden.</a:t>
            </a:r>
          </a:p>
          <a:p xmlns:a="http://schemas.openxmlformats.org/drawingml/2006/main">
            <a:r>
              <a:rPr sz="1400"/>
              <a:t/>
            </a:r>
          </a:p>
          <a:p xmlns:a="http://schemas.openxmlformats.org/drawingml/2006/main">
            <a:r>
              <a:rPr sz="1400"/>
              <a:t>Bron: Boek 4, editie books34-v3, §4.3.1, gedrukte boekpagina 115–116.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Uitlegvoorbeeld — niet uit het boek. MokStudio en de getallen zijn voor deze les gemaakt. De boekverwijzing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rij hoort bij het oorspronkelijke nieuwe productieplan?</a:t>
            </a:r>
          </a:p>
          <a:p xmlns:a="http://schemas.openxmlformats.org/drawingml/2006/main">
            <a:r>
              <a:rPr sz="1400"/>
              <a:t/>
            </a:r>
          </a:p>
          <a:p xmlns:a="http://schemas.openxmlformats.org/drawingml/2006/main">
            <a:r>
              <a:rPr sz="1400"/>
              <a:t>Uitleg: Bij gelijkblijvende productie dalen uren, bij evenredig groeiende productie blijven ze gelijk, bij sterker groeiende productie stijgen ze. Deze drie alternatieven geven geen voorspelling voor de hele economie. Techniek kan taken vervangen en tegelijk nieuwe taken of extra productie mogelijk maken.</a:t>
            </a:r>
          </a:p>
          <a:p xmlns:a="http://schemas.openxmlformats.org/drawingml/2006/main">
            <a:r>
              <a:rPr sz="1400"/>
              <a:t/>
            </a:r>
          </a:p>
          <a:p xmlns:a="http://schemas.openxmlformats.org/drawingml/2006/main">
            <a:r>
              <a:rPr sz="1400"/>
              <a:t>Misvatting: Uit alleen een productiviteitsstijging volgt niet de totale verandering van de arbeidsinzet.</a:t>
            </a:r>
          </a:p>
          <a:p xmlns:a="http://schemas.openxmlformats.org/drawingml/2006/main">
            <a:r>
              <a:rPr sz="1400"/>
              <a:t/>
            </a:r>
          </a:p>
          <a:p xmlns:a="http://schemas.openxmlformats.org/drawingml/2006/main">
            <a:r>
              <a:rPr sz="1400"/>
              <a:t>Overgang: Onderzoek loon en orders nu afzonderlijk in een grafiek.</a:t>
            </a:r>
          </a:p>
          <a:p xmlns:a="http://schemas.openxmlformats.org/drawingml/2006/main">
            <a:r>
              <a:rPr sz="1400"/>
              <a:t/>
            </a:r>
          </a:p>
          <a:p xmlns:a="http://schemas.openxmlformats.org/drawingml/2006/main">
            <a:r>
              <a:rPr sz="1400"/>
              <a:t>Bron: Boek 4, editie books34-v3, §4.3.1, gedrukte boekpagina 116.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Uitlegvoorbeeld — niet uit het boek. MokStudio en de getallen zijn voor deze les gemaakt. De boekverwijzing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lees je bij een gegeven loon de gevraagde uren af?</a:t>
            </a:r>
          </a:p>
          <a:p xmlns:a="http://schemas.openxmlformats.org/drawingml/2006/main">
            <a:r>
              <a:rPr sz="1400"/>
              <a:t/>
            </a:r>
          </a:p>
          <a:p xmlns:a="http://schemas.openxmlformats.org/drawingml/2006/main">
            <a:r>
              <a:rPr sz="1400"/>
              <a:t>Uitleg: Dit afzonderlijke, zelfgemaakte model heeft Lᵥ = 300 − 10w, of w = 30 − 0,1L. Lees vanuit 18 euro horizontaal naar A en verticaal naar 120 uren. Werkgevers vragen arbeid om te produceren. Bij een hoger loon wordt arbeid duurder ten opzichte van wat zij oplevert. De kromme blijft hier een rechte lijn. De cijfers horen niet bij het eerdere volledige productieplan.</a:t>
            </a:r>
          </a:p>
          <a:p xmlns:a="http://schemas.openxmlformats.org/drawingml/2006/main">
            <a:r>
              <a:rPr sz="1400"/>
              <a:t/>
            </a:r>
          </a:p>
          <a:p xmlns:a="http://schemas.openxmlformats.org/drawingml/2006/main">
            <a:r>
              <a:rPr sz="1400"/>
              <a:t>Misvatting: Een loonverandering verplaatst een punt langs een lijn. Een andere vraagbepalende factor kan de lijn verschuiven.</a:t>
            </a:r>
          </a:p>
          <a:p xmlns:a="http://schemas.openxmlformats.org/drawingml/2006/main">
            <a:r>
              <a:rPr sz="1400"/>
              <a:t/>
            </a:r>
          </a:p>
          <a:p xmlns:a="http://schemas.openxmlformats.org/drawingml/2006/main">
            <a:r>
              <a:rPr sz="1400"/>
              <a:t>Overgang: Verander nu alleen het loon.</a:t>
            </a:r>
          </a:p>
          <a:p xmlns:a="http://schemas.openxmlformats.org/drawingml/2006/main">
            <a:r>
              <a:rPr sz="1400"/>
              <a:t/>
            </a:r>
          </a:p>
          <a:p xmlns:a="http://schemas.openxmlformats.org/drawingml/2006/main">
            <a:r>
              <a:rPr sz="1400"/>
              <a:t>Bron: Boek 4, editie books34-v3, §4.3.1, gedrukte boekpagina 117.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Uitlegvoorbeeld — niet uit het boek. MokStudio en de getallen zijn voor deze les gemaakt. De boekverwijzing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er een nieuwe vraaglijn nodig als alleen het loon verandert?</a:t>
            </a:r>
          </a:p>
          <a:p xmlns:a="http://schemas.openxmlformats.org/drawingml/2006/main">
            <a:r>
              <a:rPr sz="1400"/>
              <a:t/>
            </a:r>
          </a:p>
          <a:p xmlns:a="http://schemas.openxmlformats.org/drawingml/2006/main">
            <a:r>
              <a:rPr sz="1400"/>
              <a:t>Uitleg: Alleen het loon stijgt van 18 naar 24 euro per uur. Orders, techniek en overige omstandigheden blijven gelijk. Lees 120 uren bij 18 euro en 60 uren bij 24 euro. Beide punten liggen op dezelfde vraaglijn: de gevraagde hoeveelheid arbeid daalt.</a:t>
            </a:r>
          </a:p>
          <a:p xmlns:a="http://schemas.openxmlformats.org/drawingml/2006/main">
            <a:r>
              <a:rPr sz="1400"/>
              <a:t/>
            </a:r>
          </a:p>
          <a:p xmlns:a="http://schemas.openxmlformats.org/drawingml/2006/main">
            <a:r>
              <a:rPr sz="1400"/>
              <a:t>Misvatting: Een loonverandering verplaatst een punt langs een lijn. Een andere vraagbepalende factor kan de lijn verschuiven.</a:t>
            </a:r>
          </a:p>
          <a:p xmlns:a="http://schemas.openxmlformats.org/drawingml/2006/main">
            <a:r>
              <a:rPr sz="1400"/>
              <a:t/>
            </a:r>
          </a:p>
          <a:p xmlns:a="http://schemas.openxmlformats.org/drawingml/2006/main">
            <a:r>
              <a:rPr sz="1400"/>
              <a:t>Overgang: Ga terug naar het oude loon en verander alleen de orders.</a:t>
            </a:r>
          </a:p>
          <a:p xmlns:a="http://schemas.openxmlformats.org/drawingml/2006/main">
            <a:r>
              <a:rPr sz="1400"/>
              <a:t/>
            </a:r>
          </a:p>
          <a:p xmlns:a="http://schemas.openxmlformats.org/drawingml/2006/main">
            <a:r>
              <a:rPr sz="1400"/>
              <a:t>Bron: Boek 4, editie books34-v3, §4.3.1, gedrukte boekpagina 117.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Uitlegvoorbeeld — niet uit het boek. MokStudio en de getallen zijn voor deze les gemaakt. De boekverwijzing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houden we gelijk om de verschuiving te zien?</a:t>
            </a:r>
          </a:p>
          <a:p xmlns:a="http://schemas.openxmlformats.org/drawingml/2006/main">
            <a:r>
              <a:rPr sz="1400"/>
              <a:t/>
            </a:r>
          </a:p>
          <a:p xmlns:a="http://schemas.openxmlformats.org/drawingml/2006/main">
            <a:r>
              <a:rPr sz="1400"/>
              <a:t>Uitleg: Start opnieuw bij A: 18 euro per uur, 120 uren. Alleen orders nemen toe, loon en techniek blijven gelijk. In dit eigen voorbeeld wordt de vraag Lᵥ = 360 − 10w. Bij 18 euro zijn nu 180 uren gewenst. Het verschil is 60 uren bij hetzelfde loon. De pijl verbindt de verandering horizontaal. De nieuwe lijn ligt rechts van de oude. Minder orders zouden bij verder gelijke omstandigheden naar links verschuiven.</a:t>
            </a:r>
          </a:p>
          <a:p xmlns:a="http://schemas.openxmlformats.org/drawingml/2006/main">
            <a:r>
              <a:rPr sz="1400"/>
              <a:t/>
            </a:r>
          </a:p>
          <a:p xmlns:a="http://schemas.openxmlformats.org/drawingml/2006/main">
            <a:r>
              <a:rPr sz="1400"/>
              <a:t>Misvatting: Een loonverandering verplaatst een punt langs een lijn. Een andere vraagbepalende factor kan de lijn verschuiven.</a:t>
            </a:r>
          </a:p>
          <a:p xmlns:a="http://schemas.openxmlformats.org/drawingml/2006/main">
            <a:r>
              <a:rPr sz="1400"/>
              <a:t/>
            </a:r>
          </a:p>
          <a:p xmlns:a="http://schemas.openxmlformats.org/drawingml/2006/main">
            <a:r>
              <a:rPr sz="1400"/>
              <a:t>Overgang: Zet de afzonderlijke effecten naast elkaar.</a:t>
            </a:r>
          </a:p>
          <a:p xmlns:a="http://schemas.openxmlformats.org/drawingml/2006/main">
            <a:r>
              <a:rPr sz="1400"/>
              <a:t/>
            </a:r>
          </a:p>
          <a:p xmlns:a="http://schemas.openxmlformats.org/drawingml/2006/main">
            <a:r>
              <a:rPr sz="1400"/>
              <a:t>Bron: Boek 4, editie books34-v3, §4.3.1, gedrukte boekpagina 117.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Uitlegvoorbeeld — niet uit het boek. MokStudio en de getallen zijn voor deze les gemaakt. De boekverwijzing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ontbrekende informatie heb je nodig voor een conclusie over het totaal?</a:t>
            </a:r>
          </a:p>
          <a:p xmlns:a="http://schemas.openxmlformats.org/drawingml/2006/main">
            <a:r>
              <a:rPr sz="1400"/>
              <a:t/>
            </a:r>
          </a:p>
          <a:p xmlns:a="http://schemas.openxmlformats.org/drawingml/2006/main">
            <a:r>
              <a:rPr sz="1400"/>
              <a:t>Uitleg: Deze kwalitatieve situatie geeft geen omvang van de orderverandering. Gebruik de vorige numerieke verschuiving dus niet als gegeven voor deze situatie. De effecten werken in tegengestelde richting. Meer, minder of evenveel uren zijn mogelijk. Het volledige rekenplan eerder bevatte wél concrete productie en productiviteit; dan kon je benodigde uren berekenen. Houd het rekenplan en de afzonderlijke vergelijkingen uit elkaar.</a:t>
            </a:r>
          </a:p>
          <a:p xmlns:a="http://schemas.openxmlformats.org/drawingml/2006/main">
            <a:r>
              <a:rPr sz="1400"/>
              <a:t/>
            </a:r>
          </a:p>
          <a:p xmlns:a="http://schemas.openxmlformats.org/drawingml/2006/main">
            <a:r>
              <a:rPr sz="1400"/>
              <a:t>Misvatting: Twee veranderingen betekenen niet automatisch twee lijnverschuivingen.</a:t>
            </a:r>
          </a:p>
          <a:p xmlns:a="http://schemas.openxmlformats.org/drawingml/2006/main">
            <a:r>
              <a:rPr sz="1400"/>
              <a:t/>
            </a:r>
          </a:p>
          <a:p xmlns:a="http://schemas.openxmlformats.org/drawingml/2006/main">
            <a:r>
              <a:rPr sz="1400"/>
              <a:t>Overgang: Keer terug naar start 2 en begin daarna bij de basisopgaven.</a:t>
            </a:r>
          </a:p>
          <a:p xmlns:a="http://schemas.openxmlformats.org/drawingml/2006/main">
            <a:r>
              <a:rPr sz="1400"/>
              <a:t/>
            </a:r>
          </a:p>
          <a:p xmlns:a="http://schemas.openxmlformats.org/drawingml/2006/main">
            <a:r>
              <a:rPr sz="1400"/>
              <a:t>Bron: Boek 4, editie books34-v3, §4.3.1, gedrukte boekpagina 117–118.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Uitlegvoorbeeld — niet uit het boek. MokStudio en de getallen zijn voor deze les gemaakt. De boekverwijzing onderbouwt de methode, niet deze voorbeeldgegevens.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in de route moet je nog afronden?</a:t>
            </a:r>
          </a:p>
          <a:p xmlns:a="http://schemas.openxmlformats.org/drawingml/2006/main">
            <a:r>
              <a:rPr sz="1400"/>
              <a:t/>
            </a:r>
          </a:p>
          <a:p xmlns:a="http://schemas.openxmlformats.org/drawingml/2006/main">
            <a:r>
              <a:rPr sz="1400"/>
              <a:t>Uitleg: Laat de dia staan tijdens zelfstandig werken. Start 1–2: p. 119. Basis 3: p. 119 en 4: p. 120. Zelfstandig 5: p. 120 en 6: p. 121. Doel 7: p. 122. Huiswerk 3 tot en met 7 maken en nakijken. Bonus 8 en herhaling 9 zijn extra. Opgave 1 herhaalt gemiddelde kosten en procentuele verandering uit Boek 2. De rolwisseling bij opgave 2 is nieuw: laat leerlingen de definitie en figuur op p. 114 gebruiken, hun keuze proberen te verklaren en twijfel noteren. Verwacht nog geen zelfstandige beheersing. Keer vóór basiswerk terug naar opgave 2 na de uitleg, laat opnieuw beantwoorden en bespreek de rollen. Startantwoorden voor feedback na de poging: 1a 2700/900 = 3 euro per poster; 1b (1080−900)/900 × 100% = 20%; 2 restaurant vraagt arbeid, kok biedt arbeid aan. De volledige route kan over meerdere lessen worden afgerond; de handleiding adviseert voorlopig twee lessen van 55 minuten, zonder gemeten tijdsfit.</a:t>
            </a:r>
          </a:p>
          <a:p xmlns:a="http://schemas.openxmlformats.org/drawingml/2006/main">
            <a:r>
              <a:rPr sz="1400"/>
              <a:t/>
            </a:r>
          </a:p>
          <a:p xmlns:a="http://schemas.openxmlformats.org/drawingml/2006/main">
            <a:r>
              <a:rPr sz="1400"/>
              <a:t>Misvatting: De hoofdstukhandleiding gebruikt lokale paginanummers 2–11. Hier staan de gedrukte complete-boekpagina’s 114–123.</a:t>
            </a:r>
          </a:p>
          <a:p xmlns:a="http://schemas.openxmlformats.org/drawingml/2006/main">
            <a:r>
              <a:rPr sz="1400"/>
              <a:t/>
            </a:r>
          </a:p>
          <a:p xmlns:a="http://schemas.openxmlformats.org/drawingml/2006/main">
            <a:r>
              <a:rPr sz="1400"/>
              <a:t>Overgang: Ga verder wanneer de klas klaar is voor de volgende fase.</a:t>
            </a:r>
          </a:p>
          <a:p xmlns:a="http://schemas.openxmlformats.org/drawingml/2006/main">
            <a:r>
              <a:rPr sz="1400"/>
              <a:t/>
            </a:r>
          </a:p>
          <a:p xmlns:a="http://schemas.openxmlformats.org/drawingml/2006/main">
            <a:r>
              <a:rPr sz="1400"/>
              <a:t>Bron: Boek 4, editie books34-v3, §4.3.1, gedrukte boekpagina 114, 119–122.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cellen moet je nog berekenen?</a:t>
            </a:r>
          </a:p>
          <a:p xmlns:a="http://schemas.openxmlformats.org/drawingml/2006/main">
            <a:r>
              <a:rPr sz="1400"/>
              <a:t/>
            </a:r>
          </a:p>
          <a:p xmlns:a="http://schemas.openxmlformats.org/drawingml/2006/main">
            <a:r>
              <a:rPr sz="1400"/>
              <a:t>Uitleg: Dit is de volledige context en gegeven tabel van de echte doeloefening, zonder oplossingen. Bespreek pas na de eigen poging. Toon eerst ook alle deelvragen op de volgende twee dia’s. De arbeidsuren gelden voor de desbetreffende week; uurkosten zijn volledige werkgeverskosten.</a:t>
            </a:r>
          </a:p>
          <a:p xmlns:a="http://schemas.openxmlformats.org/drawingml/2006/main">
            <a:r>
              <a:rPr sz="1400"/>
              <a:t/>
            </a:r>
          </a:p>
          <a:p xmlns:a="http://schemas.openxmlformats.org/drawingml/2006/main">
            <a:r>
              <a:rPr sz="1400"/>
              <a:t>Misvatting: De context geeft een volledig plan. Deelvraag d onderzoekt afzonderlijke veranderingen los van dat plan.</a:t>
            </a:r>
          </a:p>
          <a:p xmlns:a="http://schemas.openxmlformats.org/drawingml/2006/main">
            <a:r>
              <a:rPr sz="1400"/>
              <a:t/>
            </a:r>
          </a:p>
          <a:p xmlns:a="http://schemas.openxmlformats.org/drawingml/2006/main">
            <a:r>
              <a:rPr sz="1400"/>
              <a:t>Overgang: Toon a en b zonder hun uitwerking.</a:t>
            </a:r>
          </a:p>
          <a:p xmlns:a="http://schemas.openxmlformats.org/drawingml/2006/main">
            <a:r>
              <a:rPr sz="1400"/>
              <a:t/>
            </a:r>
          </a:p>
          <a:p xmlns:a="http://schemas.openxmlformats.org/drawingml/2006/main">
            <a:r>
              <a:rPr sz="1400"/>
              <a:t>Bron: Boek 4, editie books34-v3, §4.3.1, gedrukte boekpagina 122.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verschillende eenheden vraagt a?</a:t>
            </a:r>
          </a:p>
          <a:p xmlns:a="http://schemas.openxmlformats.org/drawingml/2006/main">
            <a:r>
              <a:rPr sz="1400"/>
              <a:t/>
            </a:r>
          </a:p>
          <a:p xmlns:a="http://schemas.openxmlformats.org/drawingml/2006/main">
            <a:r>
              <a:rPr sz="1400"/>
              <a:t>Uitleg: De vragen zijn volledig overgenomen, met de puntentelling. Laat leerlingen hun eigen antwoorden erbij houden. Nog geen berekeningen op het scherm voordat ook c en d getoond zijn.</a:t>
            </a:r>
          </a:p>
          <a:p xmlns:a="http://schemas.openxmlformats.org/drawingml/2006/main">
            <a:r>
              <a:rPr sz="1400"/>
              <a:t/>
            </a:r>
          </a:p>
          <a:p xmlns:a="http://schemas.openxmlformats.org/drawingml/2006/main">
            <a:r>
              <a:rPr sz="1400"/>
              <a:t>Misvatting: Een aantal producten per uur is iets anders dan een aantal uren per week.</a:t>
            </a:r>
          </a:p>
          <a:p xmlns:a="http://schemas.openxmlformats.org/drawingml/2006/main">
            <a:r>
              <a:rPr sz="1400"/>
              <a:t/>
            </a:r>
          </a:p>
          <a:p xmlns:a="http://schemas.openxmlformats.org/drawingml/2006/main">
            <a:r>
              <a:rPr sz="1400"/>
              <a:t>Overgang: Toon ook de verklaringsvragen.</a:t>
            </a:r>
          </a:p>
          <a:p xmlns:a="http://schemas.openxmlformats.org/drawingml/2006/main">
            <a:r>
              <a:rPr sz="1400"/>
              <a:t/>
            </a:r>
          </a:p>
          <a:p xmlns:a="http://schemas.openxmlformats.org/drawingml/2006/main">
            <a:r>
              <a:rPr sz="1400"/>
              <a:t>Bron: Boek 4, editie books34-v3, §4.3.1, gedrukte boekpagina 122.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moet jouw bewijs voor c vandaan komen?</a:t>
            </a:r>
          </a:p>
          <a:p xmlns:a="http://schemas.openxmlformats.org/drawingml/2006/main">
            <a:r>
              <a:rPr sz="1400"/>
              <a:t/>
            </a:r>
          </a:p>
          <a:p xmlns:a="http://schemas.openxmlformats.org/drawingml/2006/main">
            <a:r>
              <a:rPr sz="1400"/>
              <a:t>Uitleg: Dit zijn beide volledige verklaringsvragen. De uitspraak in c moet met het volledige plan worden beoordeeld. d vraagt niet om een nieuwe numerieke lijn: benoem telkens oorzaak, punt of lijn en betekenis. Alle deelvragen zijn nu zichtbaar geweest zonder antwoorden.</a:t>
            </a:r>
          </a:p>
          <a:p xmlns:a="http://schemas.openxmlformats.org/drawingml/2006/main">
            <a:r>
              <a:rPr sz="1400"/>
              <a:t/>
            </a:r>
          </a:p>
          <a:p xmlns:a="http://schemas.openxmlformats.org/drawingml/2006/main">
            <a:r>
              <a:rPr sz="1400"/>
              <a:t>Misvatting: Een algemeen antwoord over techniek zonder verwijzing naar deze tabel is onvoldoende.</a:t>
            </a:r>
          </a:p>
          <a:p xmlns:a="http://schemas.openxmlformats.org/drawingml/2006/main">
            <a:r>
              <a:rPr sz="1400"/>
              <a:t/>
            </a:r>
          </a:p>
          <a:p xmlns:a="http://schemas.openxmlformats.org/drawingml/2006/main">
            <a:r>
              <a:rPr sz="1400"/>
              <a:t>Overgang: Begin de uitwerking bij productiviteit en uren.</a:t>
            </a:r>
          </a:p>
          <a:p xmlns:a="http://schemas.openxmlformats.org/drawingml/2006/main">
            <a:r>
              <a:rPr sz="1400"/>
              <a:t/>
            </a:r>
          </a:p>
          <a:p xmlns:a="http://schemas.openxmlformats.org/drawingml/2006/main">
            <a:r>
              <a:rPr sz="1400"/>
              <a:t>Bron: Boek 4, editie books34-v3, §4.3.1, gedrukte boekpagina 122.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blijft de benodigde arbeidsinzet hier 600 uren?</a:t>
            </a:r>
          </a:p>
          <a:p xmlns:a="http://schemas.openxmlformats.org/drawingml/2006/main">
            <a:r>
              <a:rPr sz="1400"/>
              <a:t/>
            </a:r>
          </a:p>
          <a:p xmlns:a="http://schemas.openxmlformats.org/drawingml/2006/main">
            <a:r>
              <a:rPr sz="1400"/>
              <a:t>Uitleg: De oorspronkelijke productiviteit is 4 frames per arbeidsuur. Bij de nieuwe productiviteit van 5,5 frames per arbeidsuur zijn voor 3300 frames 600 uren per week nodig. Controleer oud ook: 600 × 4 = 2400. Vergelijk dezelfde periode.</a:t>
            </a:r>
          </a:p>
          <a:p xmlns:a="http://schemas.openxmlformats.org/drawingml/2006/main">
            <a:r>
              <a:rPr sz="1400"/>
              <a:t/>
            </a:r>
          </a:p>
          <a:p xmlns:a="http://schemas.openxmlformats.org/drawingml/2006/main">
            <a:r>
              <a:rPr sz="1400"/>
              <a:t>Misvatting: Gebruik de nieuwe productiviteit bij de nieuwe productie.</a:t>
            </a:r>
          </a:p>
          <a:p xmlns:a="http://schemas.openxmlformats.org/drawingml/2006/main">
            <a:r>
              <a:rPr sz="1400"/>
              <a:t/>
            </a:r>
          </a:p>
          <a:p xmlns:a="http://schemas.openxmlformats.org/drawingml/2006/main">
            <a:r>
              <a:rPr sz="1400"/>
              <a:t>Overgang: Deel nu in beide situaties de volledige uurkosten door de passende productiviteit.</a:t>
            </a:r>
          </a:p>
          <a:p xmlns:a="http://schemas.openxmlformats.org/drawingml/2006/main">
            <a:r>
              <a:rPr sz="1400"/>
              <a:t/>
            </a:r>
          </a:p>
          <a:p xmlns:a="http://schemas.openxmlformats.org/drawingml/2006/main">
            <a:r>
              <a:rPr sz="1400"/>
              <a:t>Bron: Boek 4, editie books34-v3, §4.3.1, gedrukte boekpagina 122.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wordt groter: de kosten van een uur of de productie in dat uur?</a:t>
            </a:r>
          </a:p>
          <a:p xmlns:a="http://schemas.openxmlformats.org/drawingml/2006/main">
            <a:r>
              <a:rPr sz="1400"/>
              <a:t/>
            </a:r>
          </a:p>
          <a:p xmlns:a="http://schemas.openxmlformats.org/drawingml/2006/main">
            <a:r>
              <a:rPr sz="1400"/>
              <a:t>Uitleg: Oud 6 euro per frame; nieuw 4,80 euro per frame. Controle met totalen: 600 × 24 = 14400 en gedeeld door 2400 geeft 6. Nieuw 600 × 26,40 = 15840 en gedeeld door 3300 geeft 4,80. Uurkosten stijgen 10%, productiviteit 37,5%; per frame dalen de loonkosten. De vraag gaat over loonkosten, niet alle productiekosten.</a:t>
            </a:r>
          </a:p>
          <a:p xmlns:a="http://schemas.openxmlformats.org/drawingml/2006/main">
            <a:r>
              <a:rPr sz="1400"/>
              <a:t/>
            </a:r>
          </a:p>
          <a:p xmlns:a="http://schemas.openxmlformats.org/drawingml/2006/main">
            <a:r>
              <a:rPr sz="1400"/>
              <a:t>Misvatting: Deel het uurbedrag niet direct door de volledige weekproductie.</a:t>
            </a:r>
          </a:p>
          <a:p xmlns:a="http://schemas.openxmlformats.org/drawingml/2006/main">
            <a:r>
              <a:rPr sz="1400"/>
              <a:t/>
            </a:r>
          </a:p>
          <a:p xmlns:a="http://schemas.openxmlformats.org/drawingml/2006/main">
            <a:r>
              <a:rPr sz="1400"/>
              <a:t>Overgang: Beoordeel nu de uitspraak van de directeur.</a:t>
            </a:r>
          </a:p>
          <a:p xmlns:a="http://schemas.openxmlformats.org/drawingml/2006/main">
            <a:r>
              <a:rPr sz="1400"/>
              <a:t/>
            </a:r>
          </a:p>
          <a:p xmlns:a="http://schemas.openxmlformats.org/drawingml/2006/main">
            <a:r>
              <a:rPr sz="1400"/>
              <a:t>Bron: Boek 4, editie books34-v3, §4.3.1, gedrukte boekpagina 122.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twee rijen verklaren waarom 600 uren genoeg blijven?</a:t>
            </a:r>
          </a:p>
          <a:p xmlns:a="http://schemas.openxmlformats.org/drawingml/2006/main">
            <a:r>
              <a:rPr sz="1400"/>
              <a:t/>
            </a:r>
          </a:p>
          <a:p xmlns:a="http://schemas.openxmlformats.org/drawingml/2006/main">
            <a:r>
              <a:rPr sz="1400"/>
              <a:t>Uitleg: Productie: (3300−2400)/2400 × 100% = 37,5%. Productiviteit: (5,5−4)/4 × 100% = 37,5%. Daarom blijft hun verhouding, benodigde arbeidsuren, gelijk. De uitkomsten uit a vormen al het gevraagde bewijs; percentages maken het verband expliciet. Alleen bij gelijkblijvende productie zou hogere productiviteit minder uren geven.</a:t>
            </a:r>
          </a:p>
          <a:p xmlns:a="http://schemas.openxmlformats.org/drawingml/2006/main">
            <a:r>
              <a:rPr sz="1400"/>
              <a:t/>
            </a:r>
          </a:p>
          <a:p xmlns:a="http://schemas.openxmlformats.org/drawingml/2006/main">
            <a:r>
              <a:rPr sz="1400"/>
              <a:t>Misvatting: Je kunt de conclusie niet baseren op uitsluitend de productiviteitsrij.</a:t>
            </a:r>
          </a:p>
          <a:p xmlns:a="http://schemas.openxmlformats.org/drawingml/2006/main">
            <a:r>
              <a:rPr sz="1400"/>
              <a:t/>
            </a:r>
          </a:p>
          <a:p xmlns:a="http://schemas.openxmlformats.org/drawingml/2006/main">
            <a:r>
              <a:rPr sz="1400"/>
              <a:t>Overgang: Onderzoek bij d twee losstaande oorzaken.</a:t>
            </a:r>
          </a:p>
          <a:p xmlns:a="http://schemas.openxmlformats.org/drawingml/2006/main">
            <a:r>
              <a:rPr sz="1400"/>
              <a:t/>
            </a:r>
          </a:p>
          <a:p xmlns:a="http://schemas.openxmlformats.org/drawingml/2006/main">
            <a:r>
              <a:rPr sz="1400"/>
              <a:t>Bron: Boek 4, editie books34-v3, §4.3.1, gedrukte boekpagina 122.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andere omstandigheden houden we hier gelijk?</a:t>
            </a:r>
          </a:p>
          <a:p xmlns:a="http://schemas.openxmlformats.org/drawingml/2006/main">
            <a:r>
              <a:rPr sz="1400"/>
              <a:t/>
            </a:r>
          </a:p>
          <a:p xmlns:a="http://schemas.openxmlformats.org/drawingml/2006/main">
            <a:r>
              <a:rPr sz="1400"/>
              <a:t>Uitleg: Dit is de eerste afzonderlijke vergelijking uit d, geen afleiding uit de stijging van de volledige uurkosten in de tabel. Orders en techniek blijven gelijk. Alleen de prijs van arbeid verandert. In het eenvoudige model daalt de gevraagde hoeveelheid langs dezelfde lijn. Er is geen numerieke functie voor FrameWerk gegeven, dus maak geen nieuwe aantallen.</a:t>
            </a:r>
          </a:p>
          <a:p xmlns:a="http://schemas.openxmlformats.org/drawingml/2006/main">
            <a:r>
              <a:rPr sz="1400"/>
              <a:t/>
            </a:r>
          </a:p>
          <a:p xmlns:a="http://schemas.openxmlformats.org/drawingml/2006/main">
            <a:r>
              <a:rPr sz="1400"/>
              <a:t>Misvatting: Volledige uurkosten uit het rekenplan zijn niet automatisch alleen het uurloon.</a:t>
            </a:r>
          </a:p>
          <a:p xmlns:a="http://schemas.openxmlformats.org/drawingml/2006/main">
            <a:r>
              <a:rPr sz="1400"/>
              <a:t/>
            </a:r>
          </a:p>
          <a:p xmlns:a="http://schemas.openxmlformats.org/drawingml/2006/main">
            <a:r>
              <a:rPr sz="1400"/>
              <a:t>Overgang: Houd bij de tweede vergelijking het loon gelijk.</a:t>
            </a:r>
          </a:p>
          <a:p xmlns:a="http://schemas.openxmlformats.org/drawingml/2006/main">
            <a:r>
              <a:rPr sz="1400"/>
              <a:t/>
            </a:r>
          </a:p>
          <a:p xmlns:a="http://schemas.openxmlformats.org/drawingml/2006/main">
            <a:r>
              <a:rPr sz="1400"/>
              <a:t>Bron: Boek 4, editie books34-v3, §4.3.1, gedrukte boekpagina 122.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vergelijken we bij hetzelfde loon?</a:t>
            </a:r>
          </a:p>
          <a:p xmlns:a="http://schemas.openxmlformats.org/drawingml/2006/main">
            <a:r>
              <a:rPr sz="1400"/>
              <a:t/>
            </a:r>
          </a:p>
          <a:p xmlns:a="http://schemas.openxmlformats.org/drawingml/2006/main">
            <a:r>
              <a:rPr sz="1400"/>
              <a:t>Uitleg: De vraag naar het eindproduct neemt toe. Bij dezelfde techniek vraagt extra productie meer arbeidsinzet. Bij hetzelfde loon willen werkgevers meer arbeid inzetten: de vraaglijn schuift naar rechts. Benoem oorzaak, verandering van de lijn en betekenis. Het antwoordmodel vraagt hier geen berekend netto-effect van beide oorzaken samen.</a:t>
            </a:r>
          </a:p>
          <a:p xmlns:a="http://schemas.openxmlformats.org/drawingml/2006/main">
            <a:r>
              <a:rPr sz="1400"/>
              <a:t/>
            </a:r>
          </a:p>
          <a:p xmlns:a="http://schemas.openxmlformats.org/drawingml/2006/main">
            <a:r>
              <a:rPr sz="1400"/>
              <a:t>Misvatting: Meer gevraagde arbeid door extra orders is niet alleen een beweging langs de oude lijn.</a:t>
            </a:r>
          </a:p>
          <a:p xmlns:a="http://schemas.openxmlformats.org/drawingml/2006/main">
            <a:r>
              <a:rPr sz="1400"/>
              <a:t/>
            </a:r>
          </a:p>
          <a:p xmlns:a="http://schemas.openxmlformats.org/drawingml/2006/main">
            <a:r>
              <a:rPr sz="1400"/>
              <a:t>Overgang: Controleer of alle onderdelen van de eigen antwoorden aanwezig zijn.</a:t>
            </a:r>
          </a:p>
          <a:p xmlns:a="http://schemas.openxmlformats.org/drawingml/2006/main">
            <a:r>
              <a:rPr sz="1400"/>
              <a:t/>
            </a:r>
          </a:p>
          <a:p xmlns:a="http://schemas.openxmlformats.org/drawingml/2006/main">
            <a:r>
              <a:rPr sz="1400"/>
              <a:t>Bron: Boek 4, editie books34-v3, §4.3.1, gedrukte boekpagina 122.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onderdeel van jouw antwoord moet nog worden aangevuld?</a:t>
            </a:r>
          </a:p>
          <a:p xmlns:a="http://schemas.openxmlformats.org/drawingml/2006/main">
            <a:r>
              <a:rPr sz="1400"/>
              <a:t/>
            </a:r>
          </a:p>
          <a:p xmlns:a="http://schemas.openxmlformats.org/drawingml/2006/main">
            <a:r>
              <a:rPr sz="1400"/>
              <a:t>Uitleg: Laat leerlingen eigen werk verbeteren. a heeft twee verschillende grootheden; b twee kostbedragen per product; c een bewijs tegen altijd; d twee afzonderlijke oorzaak-gevolgketens. Juiste losse eindgetallen vervangen geen gevraagde uitleg.</a:t>
            </a:r>
          </a:p>
          <a:p xmlns:a="http://schemas.openxmlformats.org/drawingml/2006/main">
            <a:r>
              <a:rPr sz="1400"/>
              <a:t/>
            </a:r>
          </a:p>
          <a:p xmlns:a="http://schemas.openxmlformats.org/drawingml/2006/main">
            <a:r>
              <a:rPr sz="1400"/>
              <a:t>Misvatting: Een juiste richting zonder oorzaak en modelonderscheid beantwoordt d niet volledig.</a:t>
            </a:r>
          </a:p>
          <a:p xmlns:a="http://schemas.openxmlformats.org/drawingml/2006/main">
            <a:r>
              <a:rPr sz="1400"/>
              <a:t/>
            </a:r>
          </a:p>
          <a:p xmlns:a="http://schemas.openxmlformats.org/drawingml/2006/main">
            <a:r>
              <a:rPr sz="1400"/>
              <a:t>Overgang: Zet het resterende huiswerk in de agenda.</a:t>
            </a:r>
          </a:p>
          <a:p xmlns:a="http://schemas.openxmlformats.org/drawingml/2006/main">
            <a:r>
              <a:rPr sz="1400"/>
              <a:t/>
            </a:r>
          </a:p>
          <a:p xmlns:a="http://schemas.openxmlformats.org/drawingml/2006/main">
            <a:r>
              <a:rPr sz="1400"/>
              <a:t>Bron: Boek 4, editie books34-v3, §4.3.1, gedrukte boekpagina 122.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in de route moet je nog afronden?</a:t>
            </a:r>
          </a:p>
          <a:p xmlns:a="http://schemas.openxmlformats.org/drawingml/2006/main">
            <a:r>
              <a:rPr sz="1400"/>
              <a:t/>
            </a:r>
          </a:p>
          <a:p xmlns:a="http://schemas.openxmlformats.org/drawingml/2006/main">
            <a:r>
              <a:rPr sz="1400"/>
              <a:t>Uitleg: Laat de dia staan tijdens afsluiting / huiswerk. Start 1–2: p. 119. Basis 3: p. 119 en 4: p. 120. Zelfstandig 5: p. 120 en 6: p. 121. Doel 7: p. 122. Huiswerk 3 tot en met 7 maken en nakijken. Bonus 8 en herhaling 9 zijn extra. Opgave 1 herhaalt gemiddelde kosten en procentuele verandering uit Boek 2. De rolwisseling bij opgave 2 is nieuw: laat leerlingen de definitie en figuur op p. 114 gebruiken, hun keuze proberen te verklaren en twijfel noteren. Verwacht nog geen zelfstandige beheersing. Keer vóór basiswerk terug naar opgave 2 na de uitleg, laat opnieuw beantwoorden en bespreek de rollen. Startantwoorden voor feedback na de poging: 1a 2700/900 = 3 euro per poster; 1b (1080−900)/900 × 100% = 20%; 2 restaurant vraagt arbeid, kok biedt arbeid aan. De volledige route kan over meerdere lessen worden afgerond; de handleiding adviseert voorlopig twee lessen van 55 minuten, zonder gemeten tijdsfit.</a:t>
            </a:r>
          </a:p>
          <a:p xmlns:a="http://schemas.openxmlformats.org/drawingml/2006/main">
            <a:r>
              <a:rPr sz="1400"/>
              <a:t/>
            </a:r>
          </a:p>
          <a:p xmlns:a="http://schemas.openxmlformats.org/drawingml/2006/main">
            <a:r>
              <a:rPr sz="1400"/>
              <a:t>Misvatting: De hoofdstukhandleiding gebruikt lokale paginanummers 2–11. Hier staan de gedrukte complete-boekpagina’s 114–123.</a:t>
            </a:r>
          </a:p>
          <a:p xmlns:a="http://schemas.openxmlformats.org/drawingml/2006/main">
            <a:r>
              <a:rPr sz="1400"/>
              <a:t/>
            </a:r>
          </a:p>
          <a:p xmlns:a="http://schemas.openxmlformats.org/drawingml/2006/main">
            <a:r>
              <a:rPr sz="1400"/>
              <a:t>Overgang: Laat het huiswerk noteren en herinner aan nakijken.</a:t>
            </a:r>
          </a:p>
          <a:p xmlns:a="http://schemas.openxmlformats.org/drawingml/2006/main">
            <a:r>
              <a:rPr sz="1400"/>
              <a:t/>
            </a:r>
          </a:p>
          <a:p xmlns:a="http://schemas.openxmlformats.org/drawingml/2006/main">
            <a:r>
              <a:rPr sz="1400"/>
              <a:t>Bron: Boek 4, editie books34-v3, §4.3.1, gedrukte boekpagina 114, 119–122. https://github.com/meijer1973/4veco-lessen/blob/e734532a42b27732ac25ce990fc9448b12309d28/edities/books34-v3/books/book-4/output/Boek_4_Compleet_v3.pdf</a:t>
            </a:r>
          </a:p>
          <a:p xmlns:a="http://schemas.openxmlformats.org/drawingml/2006/main">
            <a:r>
              <a:rPr sz="1400"/>
              <a:t>Antwoordmodel: https://github.com/meijer1973/4veco-lessen/blob/e734532a42b27732ac25ce990fc9448b12309d28/edities/books34-v3/books/book-4/chapters/4.3/Antwoorden.md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eb232e254f46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e31f12bc3c4daa" /><Relationship Type="http://schemas.openxmlformats.org/officeDocument/2006/relationships/slideLayout" Target="/ppt/slideLayouts/slideLayout1.xml" Id="R6429af8c616c4e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29af8c616c4e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a2f17c44ae41be" /><Relationship Type="http://schemas.openxmlformats.org/officeDocument/2006/relationships/notesSlide" Target="/ppt/notesSlides/notesSlide1.xml" Id="Rdba05918b43049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b810f712ef4d83" /><Relationship Type="http://schemas.openxmlformats.org/officeDocument/2006/relationships/notesSlide" Target="/ppt/notesSlides/notesSlide2.xml" Id="Ra0e002b1172048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c76014b608a47af" /><Relationship Type="http://schemas.openxmlformats.org/officeDocument/2006/relationships/notesSlide" Target="/ppt/notesSlides/notesSlide3.xml" Id="R195d0d9775c942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da9a1f454544a5a" /><Relationship Type="http://schemas.openxmlformats.org/officeDocument/2006/relationships/notesSlide" Target="/ppt/notesSlides/notesSlide4.xml" Id="R91a238a4cd2144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c13bcbeb084dee" /><Relationship Type="http://schemas.openxmlformats.org/officeDocument/2006/relationships/notesSlide" Target="/ppt/notesSlides/notesSlide5.xml" Id="R01b298a0000440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6f6e8ae58a4989" /><Relationship Type="http://schemas.openxmlformats.org/officeDocument/2006/relationships/notesSlide" Target="/ppt/notesSlides/notesSlide6.xml" Id="Rd4cf1e52207b48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f8c5b0b09e4768" /><Relationship Type="http://schemas.openxmlformats.org/officeDocument/2006/relationships/notesSlide" Target="/ppt/notesSlides/notesSlide7.xml" Id="Refc3997c40844e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900fe8a86784774" /><Relationship Type="http://schemas.openxmlformats.org/officeDocument/2006/relationships/notesSlide" Target="/ppt/notesSlides/notesSlide8.xml" Id="Re5ad47232fef41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fd032d41bc4910" /><Relationship Type="http://schemas.openxmlformats.org/officeDocument/2006/relationships/notesSlide" Target="/ppt/notesSlides/notesSlide9.xml" Id="Rdb699b99279444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ec17b9f0834aae" /><Relationship Type="http://schemas.openxmlformats.org/officeDocument/2006/relationships/notesSlide" Target="/ppt/notesSlides/notesSlide10.xml" Id="Rfbd6d8605a3f41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1af6d6bf4cd4536" /><Relationship Type="http://schemas.openxmlformats.org/officeDocument/2006/relationships/chart" Target="/ppt/slides/charts/chart1.xml" Id="Rc43e57aaca394d0a" /><Relationship Type="http://schemas.openxmlformats.org/officeDocument/2006/relationships/notesSlide" Target="/ppt/notesSlides/notesSlide11.xml" Id="R64f733750ba448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fc522d6782548c2" /><Relationship Type="http://schemas.openxmlformats.org/officeDocument/2006/relationships/chart" Target="/ppt/slides/charts/chart2.xml" Id="R73192f414db34cd9" /><Relationship Type="http://schemas.openxmlformats.org/officeDocument/2006/relationships/notesSlide" Target="/ppt/notesSlides/notesSlide12.xml" Id="Rdfbd40b65b314c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4f0b999d4ba4c65" /><Relationship Type="http://schemas.openxmlformats.org/officeDocument/2006/relationships/chart" Target="/ppt/slides/charts/chart3.xml" Id="R7b8a69ec6cb14c40" /><Relationship Type="http://schemas.openxmlformats.org/officeDocument/2006/relationships/notesSlide" Target="/ppt/notesSlides/notesSlide13.xml" Id="R25c172ecc10f4a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59a335bc60b41ec" /><Relationship Type="http://schemas.openxmlformats.org/officeDocument/2006/relationships/notesSlide" Target="/ppt/notesSlides/notesSlide14.xml" Id="R7aa21e2438ac4ab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ae08116f4b54a25" /><Relationship Type="http://schemas.openxmlformats.org/officeDocument/2006/relationships/notesSlide" Target="/ppt/notesSlides/notesSlide15.xml" Id="Rf7d46334f79d467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9a51bc6268440a1" /><Relationship Type="http://schemas.openxmlformats.org/officeDocument/2006/relationships/notesSlide" Target="/ppt/notesSlides/notesSlide16.xml" Id="R31f7c8c65a70426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9f1a491d863452d" /><Relationship Type="http://schemas.openxmlformats.org/officeDocument/2006/relationships/notesSlide" Target="/ppt/notesSlides/notesSlide17.xml" Id="R58bf5e0353f6435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f024526afc34cc3" /><Relationship Type="http://schemas.openxmlformats.org/officeDocument/2006/relationships/notesSlide" Target="/ppt/notesSlides/notesSlide18.xml" Id="R4d56d178a21f473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6be312676fa493f" /><Relationship Type="http://schemas.openxmlformats.org/officeDocument/2006/relationships/notesSlide" Target="/ppt/notesSlides/notesSlide19.xml" Id="R3bd4397b19be42f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56cc1172e7240df" /><Relationship Type="http://schemas.openxmlformats.org/officeDocument/2006/relationships/notesSlide" Target="/ppt/notesSlides/notesSlide20.xml" Id="R6fdd321548124bd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bce63044b3143f7" /><Relationship Type="http://schemas.openxmlformats.org/officeDocument/2006/relationships/notesSlide" Target="/ppt/notesSlides/notesSlide21.xml" Id="Ra4dbc693f6fc4a1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29bc2fda83e4aac" /><Relationship Type="http://schemas.openxmlformats.org/officeDocument/2006/relationships/notesSlide" Target="/ppt/notesSlides/notesSlide22.xml" Id="R19f7111c72f54ad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6451a62facf4945" /><Relationship Type="http://schemas.openxmlformats.org/officeDocument/2006/relationships/notesSlide" Target="/ppt/notesSlides/notesSlide23.xml" Id="R543e98aea8ee44b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c51f5f021ca4b0f" /><Relationship Type="http://schemas.openxmlformats.org/officeDocument/2006/relationships/notesSlide" Target="/ppt/notesSlides/notesSlide24.xml" Id="R6cd8164c1043490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54c7945027e475b" /><Relationship Type="http://schemas.openxmlformats.org/officeDocument/2006/relationships/notesSlide" Target="/ppt/notesSlides/notesSlide25.xml" Id="R203968542d0340b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Arbeidsvraag oud</c:v>
          </c:tx>
          <c:spPr>
            <a:ln xmlns:a="http://schemas.openxmlformats.org/drawingml/2006/main" w="38100">
              <a:solidFill>
                <a:srgbClr val="17658A"/>
              </a:solidFill>
            </a:ln>
          </c:spPr>
          <c:marker>
            <c:symbol val="none"/>
          </c:marker>
          <c:xVal>
            <c:numRef>
              <c:f>'Chart Data'!$A$2:$A$3</c:f>
              <c:numCache>
                <c:formatCode>General</c:formatCode>
                <c:ptCount val="2"/>
                <c:pt idx="0">
                  <c:v>0</c:v>
                </c:pt>
                <c:pt idx="1">
                  <c:v>300</c:v>
                </c:pt>
              </c:numCache>
            </c:numRef>
          </c:xVal>
          <c:yVal>
            <c:numRef>
              <c:f>'Chart Data'!$B$2:$B$3</c:f>
              <c:numCache>
                <c:formatCode>0</c:formatCode>
                <c:ptCount val="2"/>
                <c:pt idx="0">
                  <c:v>30</c:v>
                </c:pt>
                <c:pt idx="1">
                  <c:v>0</c:v>
                </c:pt>
              </c:numCache>
            </c:numRef>
          </c:yVal>
          <c:smooth val="0"/>
        </c:ser>
        <c:ser>
          <c:idx val="1"/>
          <c:order val="1"/>
          <c:tx>
            <c:v>Lᵥ oud</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7658A"/>
                        </a:solidFill>
                        <a:latin typeface="Arial"/>
                        <a:ea typeface="Arial"/>
                        <a:cs typeface="Arial"/>
                      </a:rPr>
                      <a:t>Lᵥ oud</a:t>
                    </a:r>
                  </a:p>
                </c:rich>
              </c:tx>
              <c:txPr>
                <a:bodyPr xmlns:a="http://schemas.openxmlformats.org/drawingml/2006/main" anchorCtr="1"/>
                <a:lstStyle xmlns:a="http://schemas.openxmlformats.org/drawingml/2006/main"/>
                <a:p xmlns:a="http://schemas.openxmlformats.org/drawingml/2006/main">
                  <a:pPr>
                    <a:defRPr sz="210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Data'!$C$2:$C$2</c:f>
              <c:numCache>
                <c:formatCode>General</c:formatCode>
                <c:ptCount val="1"/>
                <c:pt idx="0">
                  <c:v>210</c:v>
                </c:pt>
              </c:numCache>
            </c:numRef>
          </c:xVal>
          <c:yVal>
            <c:numRef>
              <c:f>'Chart Data'!$D$2:$D$2</c:f>
              <c:numCache>
                <c:formatCode>0</c:formatCode>
                <c:ptCount val="1"/>
                <c:pt idx="0">
                  <c:v>3.6</c:v>
                </c:pt>
              </c:numCache>
            </c:numRef>
          </c:yVal>
          <c:smooth val="0"/>
        </c:ser>
        <c:ser>
          <c:idx val="2"/>
          <c:order val="2"/>
          <c:tx>
            <c:v>Hulplijn A</c:v>
          </c:tx>
          <c:spPr>
            <a:ln xmlns:a="http://schemas.openxmlformats.org/drawingml/2006/main" w="14288">
              <a:solidFill>
                <a:srgbClr val="445B6B"/>
              </a:solidFill>
              <a:prstDash val="dash"/>
            </a:ln>
          </c:spPr>
          <c:marker>
            <c:symbol val="none"/>
          </c:marker>
          <c:xVal>
            <c:numRef>
              <c:f>'Chart Data'!$E$2:$E$4</c:f>
              <c:numCache>
                <c:formatCode>General</c:formatCode>
                <c:ptCount val="3"/>
                <c:pt idx="0">
                  <c:v>0</c:v>
                </c:pt>
                <c:pt idx="1">
                  <c:v>120</c:v>
                </c:pt>
                <c:pt idx="2">
                  <c:v>120</c:v>
                </c:pt>
              </c:numCache>
            </c:numRef>
          </c:xVal>
          <c:yVal>
            <c:numRef>
              <c:f>'Chart Data'!$F$2:$F$4</c:f>
              <c:numCache>
                <c:formatCode>0</c:formatCode>
                <c:ptCount val="3"/>
                <c:pt idx="0">
                  <c:v>18</c:v>
                </c:pt>
                <c:pt idx="1">
                  <c:v>18</c:v>
                </c:pt>
                <c:pt idx="2">
                  <c:v>0</c:v>
                </c:pt>
              </c:numCache>
            </c:numRef>
          </c:yVal>
          <c:smooth val="0"/>
        </c:ser>
        <c:ser>
          <c:idx val="3"/>
          <c:order val="3"/>
          <c:tx>
            <c:v>Punt A</c:v>
          </c:tx>
          <c:spPr>
            <a:ln xmlns:a="http://schemas.openxmlformats.org/drawingml/2006/main" w="0">
              <a:noFill/>
            </a:ln>
          </c:spPr>
          <c:marker>
            <c:symbol val="circle"/>
            <c:size val="9"/>
            <c:spPr>
              <a:solidFill xmlns:a="http://schemas.openxmlformats.org/drawingml/2006/main">
                <a:srgbClr val="183247"/>
              </a:solidFill>
            </c:spPr>
          </c:marker>
          <c:xVal>
            <c:numRef>
              <c:f>'Chart Data'!$G$2:$G$2</c:f>
              <c:numCache>
                <c:formatCode>General</c:formatCode>
                <c:ptCount val="1"/>
                <c:pt idx="0">
                  <c:v>120</c:v>
                </c:pt>
              </c:numCache>
            </c:numRef>
          </c:xVal>
          <c:yVal>
            <c:numRef>
              <c:f>'Chart Data'!$H$2:$H$2</c:f>
              <c:numCache>
                <c:formatCode>0</c:formatCode>
                <c:ptCount val="1"/>
                <c:pt idx="0">
                  <c:v>18</c:v>
                </c:pt>
              </c:numCache>
            </c:numRef>
          </c:yVal>
          <c:smooth val="0"/>
        </c:ser>
        <c:ser>
          <c:idx val="4"/>
          <c:order val="4"/>
          <c:tx>
            <c:v>A</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120</c:v>
                </c:pt>
              </c:numCache>
            </c:numRef>
          </c:xVal>
          <c:yVal>
            <c:numRef>
              <c:f>'Chart Data'!$J$2:$J$2</c:f>
              <c:numCache>
                <c:formatCode>0</c:formatCode>
                <c:ptCount val="1"/>
                <c:pt idx="0">
                  <c:v>20.6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6"/>
      </c:valAx>
      <c:valAx>
        <c:axId val="48650112"/>
        <c:scaling>
          <c:orientation val="minMax"/>
          <c:max val="3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L (arbeidsuren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6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Arbeidsvraag oud</c:v>
          </c:tx>
          <c:spPr>
            <a:ln xmlns:a="http://schemas.openxmlformats.org/drawingml/2006/main" w="38100">
              <a:solidFill>
                <a:srgbClr val="17658A"/>
              </a:solidFill>
            </a:ln>
          </c:spPr>
          <c:marker>
            <c:symbol val="none"/>
          </c:marker>
          <c:xVal>
            <c:numRef>
              <c:f>'Chart Data'!$A$2:$A$3</c:f>
              <c:numCache>
                <c:formatCode>General</c:formatCode>
                <c:ptCount val="2"/>
                <c:pt idx="0">
                  <c:v>0</c:v>
                </c:pt>
                <c:pt idx="1">
                  <c:v>300</c:v>
                </c:pt>
              </c:numCache>
            </c:numRef>
          </c:xVal>
          <c:yVal>
            <c:numRef>
              <c:f>'Chart Data'!$B$2:$B$3</c:f>
              <c:numCache>
                <c:formatCode>0</c:formatCode>
                <c:ptCount val="2"/>
                <c:pt idx="0">
                  <c:v>30</c:v>
                </c:pt>
                <c:pt idx="1">
                  <c:v>0</c:v>
                </c:pt>
              </c:numCache>
            </c:numRef>
          </c:yVal>
          <c:smooth val="0"/>
        </c:ser>
        <c:ser>
          <c:idx val="1"/>
          <c:order val="1"/>
          <c:tx>
            <c:v>Lᵥ oud</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7658A"/>
                        </a:solidFill>
                        <a:latin typeface="Arial"/>
                        <a:ea typeface="Arial"/>
                        <a:cs typeface="Arial"/>
                      </a:rPr>
                      <a:t>Lᵥ oud</a:t>
                    </a:r>
                  </a:p>
                </c:rich>
              </c:tx>
              <c:txPr>
                <a:bodyPr xmlns:a="http://schemas.openxmlformats.org/drawingml/2006/main" anchorCtr="1"/>
                <a:lstStyle xmlns:a="http://schemas.openxmlformats.org/drawingml/2006/main"/>
                <a:p xmlns:a="http://schemas.openxmlformats.org/drawingml/2006/main">
                  <a:pPr>
                    <a:defRPr sz="210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Data'!$C$2:$C$2</c:f>
              <c:numCache>
                <c:formatCode>General</c:formatCode>
                <c:ptCount val="1"/>
                <c:pt idx="0">
                  <c:v>210</c:v>
                </c:pt>
              </c:numCache>
            </c:numRef>
          </c:xVal>
          <c:yVal>
            <c:numRef>
              <c:f>'Chart Data'!$D$2:$D$2</c:f>
              <c:numCache>
                <c:formatCode>0</c:formatCode>
                <c:ptCount val="1"/>
                <c:pt idx="0">
                  <c:v>3.6</c:v>
                </c:pt>
              </c:numCache>
            </c:numRef>
          </c:yVal>
          <c:smooth val="0"/>
        </c:ser>
        <c:ser>
          <c:idx val="2"/>
          <c:order val="2"/>
          <c:tx>
            <c:v>Hulplijn A</c:v>
          </c:tx>
          <c:spPr>
            <a:ln xmlns:a="http://schemas.openxmlformats.org/drawingml/2006/main" w="14288">
              <a:solidFill>
                <a:srgbClr val="445B6B"/>
              </a:solidFill>
              <a:prstDash val="dash"/>
            </a:ln>
          </c:spPr>
          <c:marker>
            <c:symbol val="none"/>
          </c:marker>
          <c:xVal>
            <c:numRef>
              <c:f>'Chart Data'!$E$2:$E$4</c:f>
              <c:numCache>
                <c:formatCode>General</c:formatCode>
                <c:ptCount val="3"/>
                <c:pt idx="0">
                  <c:v>0</c:v>
                </c:pt>
                <c:pt idx="1">
                  <c:v>120</c:v>
                </c:pt>
                <c:pt idx="2">
                  <c:v>120</c:v>
                </c:pt>
              </c:numCache>
            </c:numRef>
          </c:xVal>
          <c:yVal>
            <c:numRef>
              <c:f>'Chart Data'!$F$2:$F$4</c:f>
              <c:numCache>
                <c:formatCode>0</c:formatCode>
                <c:ptCount val="3"/>
                <c:pt idx="0">
                  <c:v>18</c:v>
                </c:pt>
                <c:pt idx="1">
                  <c:v>18</c:v>
                </c:pt>
                <c:pt idx="2">
                  <c:v>0</c:v>
                </c:pt>
              </c:numCache>
            </c:numRef>
          </c:yVal>
          <c:smooth val="0"/>
        </c:ser>
        <c:ser>
          <c:idx val="3"/>
          <c:order val="3"/>
          <c:tx>
            <c:v>Punt A</c:v>
          </c:tx>
          <c:spPr>
            <a:ln xmlns:a="http://schemas.openxmlformats.org/drawingml/2006/main" w="0">
              <a:noFill/>
            </a:ln>
          </c:spPr>
          <c:marker>
            <c:symbol val="circle"/>
            <c:size val="9"/>
            <c:spPr>
              <a:solidFill xmlns:a="http://schemas.openxmlformats.org/drawingml/2006/main">
                <a:srgbClr val="183247"/>
              </a:solidFill>
            </c:spPr>
          </c:marker>
          <c:xVal>
            <c:numRef>
              <c:f>'Chart Data'!$G$2:$G$2</c:f>
              <c:numCache>
                <c:formatCode>General</c:formatCode>
                <c:ptCount val="1"/>
                <c:pt idx="0">
                  <c:v>120</c:v>
                </c:pt>
              </c:numCache>
            </c:numRef>
          </c:xVal>
          <c:yVal>
            <c:numRef>
              <c:f>'Chart Data'!$H$2:$H$2</c:f>
              <c:numCache>
                <c:formatCode>0</c:formatCode>
                <c:ptCount val="1"/>
                <c:pt idx="0">
                  <c:v>18</c:v>
                </c:pt>
              </c:numCache>
            </c:numRef>
          </c:yVal>
          <c:smooth val="0"/>
        </c:ser>
        <c:ser>
          <c:idx val="4"/>
          <c:order val="4"/>
          <c:tx>
            <c:v>A</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120</c:v>
                </c:pt>
              </c:numCache>
            </c:numRef>
          </c:xVal>
          <c:yVal>
            <c:numRef>
              <c:f>'Chart Data'!$J$2:$J$2</c:f>
              <c:numCache>
                <c:formatCode>0</c:formatCode>
                <c:ptCount val="1"/>
                <c:pt idx="0">
                  <c:v>20.6</c:v>
                </c:pt>
              </c:numCache>
            </c:numRef>
          </c:yVal>
          <c:smooth val="0"/>
        </c:ser>
        <c:ser>
          <c:idx val="5"/>
          <c:order val="5"/>
          <c:tx>
            <c:v>Hulplijn B</c:v>
          </c:tx>
          <c:spPr>
            <a:ln xmlns:a="http://schemas.openxmlformats.org/drawingml/2006/main" w="14288">
              <a:solidFill>
                <a:srgbClr val="445B6B"/>
              </a:solidFill>
              <a:prstDash val="dash"/>
            </a:ln>
          </c:spPr>
          <c:marker>
            <c:symbol val="none"/>
          </c:marker>
          <c:xVal>
            <c:numRef>
              <c:f>'Chart Data'!$K$2:$K$4</c:f>
              <c:numCache>
                <c:formatCode>General</c:formatCode>
                <c:ptCount val="3"/>
                <c:pt idx="0">
                  <c:v>0</c:v>
                </c:pt>
                <c:pt idx="1">
                  <c:v>60</c:v>
                </c:pt>
                <c:pt idx="2">
                  <c:v>60</c:v>
                </c:pt>
              </c:numCache>
            </c:numRef>
          </c:xVal>
          <c:yVal>
            <c:numRef>
              <c:f>'Chart Data'!$L$2:$L$4</c:f>
              <c:numCache>
                <c:formatCode>0</c:formatCode>
                <c:ptCount val="3"/>
                <c:pt idx="0">
                  <c:v>24</c:v>
                </c:pt>
                <c:pt idx="1">
                  <c:v>24</c:v>
                </c:pt>
                <c:pt idx="2">
                  <c:v>0</c:v>
                </c:pt>
              </c:numCache>
            </c:numRef>
          </c:yVal>
          <c:smooth val="0"/>
        </c:ser>
        <c:ser>
          <c:idx val="6"/>
          <c:order val="6"/>
          <c:tx>
            <c:v>Punt B</c:v>
          </c:tx>
          <c:spPr>
            <a:ln xmlns:a="http://schemas.openxmlformats.org/drawingml/2006/main" w="0">
              <a:noFill/>
            </a:ln>
          </c:spPr>
          <c:marker>
            <c:symbol val="circle"/>
            <c:size val="9"/>
            <c:spPr>
              <a:solidFill xmlns:a="http://schemas.openxmlformats.org/drawingml/2006/main">
                <a:srgbClr val="A94D16"/>
              </a:solidFill>
            </c:spPr>
          </c:marker>
          <c:xVal>
            <c:numRef>
              <c:f>'Chart Data'!$M$2:$M$2</c:f>
              <c:numCache>
                <c:formatCode>General</c:formatCode>
                <c:ptCount val="1"/>
                <c:pt idx="0">
                  <c:v>60</c:v>
                </c:pt>
              </c:numCache>
            </c:numRef>
          </c:xVal>
          <c:yVal>
            <c:numRef>
              <c:f>'Chart Data'!$N$2:$N$2</c:f>
              <c:numCache>
                <c:formatCode>0</c:formatCode>
                <c:ptCount val="1"/>
                <c:pt idx="0">
                  <c:v>24</c:v>
                </c:pt>
              </c:numCache>
            </c:numRef>
          </c:yVal>
          <c:smooth val="0"/>
        </c:ser>
        <c:ser>
          <c:idx val="7"/>
          <c:order val="7"/>
          <c:tx>
            <c:v>B</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B</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Data'!$O$2:$O$2</c:f>
              <c:numCache>
                <c:formatCode>General</c:formatCode>
                <c:ptCount val="1"/>
                <c:pt idx="0">
                  <c:v>60</c:v>
                </c:pt>
              </c:numCache>
            </c:numRef>
          </c:xVal>
          <c:yVal>
            <c:numRef>
              <c:f>'Chart Data'!$P$2:$P$2</c:f>
              <c:numCache>
                <c:formatCode>0</c:formatCode>
                <c:ptCount val="1"/>
                <c:pt idx="0">
                  <c:v>26.6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6"/>
      </c:valAx>
      <c:valAx>
        <c:axId val="48650112"/>
        <c:scaling>
          <c:orientation val="minMax"/>
          <c:max val="3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L (arbeidsuren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6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Arbeidsvraag oud</c:v>
          </c:tx>
          <c:spPr>
            <a:ln xmlns:a="http://schemas.openxmlformats.org/drawingml/2006/main" w="38100">
              <a:solidFill>
                <a:srgbClr val="17658A"/>
              </a:solidFill>
            </a:ln>
          </c:spPr>
          <c:marker>
            <c:symbol val="none"/>
          </c:marker>
          <c:xVal>
            <c:numRef>
              <c:f>'Chart Data'!$A$2:$A$3</c:f>
              <c:numCache>
                <c:formatCode>General</c:formatCode>
                <c:ptCount val="2"/>
                <c:pt idx="0">
                  <c:v>0</c:v>
                </c:pt>
                <c:pt idx="1">
                  <c:v>300</c:v>
                </c:pt>
              </c:numCache>
            </c:numRef>
          </c:xVal>
          <c:yVal>
            <c:numRef>
              <c:f>'Chart Data'!$B$2:$B$3</c:f>
              <c:numCache>
                <c:formatCode>0</c:formatCode>
                <c:ptCount val="2"/>
                <c:pt idx="0">
                  <c:v>30</c:v>
                </c:pt>
                <c:pt idx="1">
                  <c:v>0</c:v>
                </c:pt>
              </c:numCache>
            </c:numRef>
          </c:yVal>
          <c:smooth val="0"/>
        </c:ser>
        <c:ser>
          <c:idx val="1"/>
          <c:order val="1"/>
          <c:tx>
            <c:v>Lᵥ oud</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7658A"/>
                        </a:solidFill>
                        <a:latin typeface="Arial"/>
                        <a:ea typeface="Arial"/>
                        <a:cs typeface="Arial"/>
                      </a:rPr>
                      <a:t>Lᵥ oud</a:t>
                    </a:r>
                  </a:p>
                </c:rich>
              </c:tx>
              <c:txPr>
                <a:bodyPr xmlns:a="http://schemas.openxmlformats.org/drawingml/2006/main" anchorCtr="1"/>
                <a:lstStyle xmlns:a="http://schemas.openxmlformats.org/drawingml/2006/main"/>
                <a:p xmlns:a="http://schemas.openxmlformats.org/drawingml/2006/main">
                  <a:pPr>
                    <a:defRPr sz="2100" b="1">
                      <a:solidFill>
                        <a:srgbClr val="17658A"/>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Data'!$C$2:$C$2</c:f>
              <c:numCache>
                <c:formatCode>General</c:formatCode>
                <c:ptCount val="1"/>
                <c:pt idx="0">
                  <c:v>210</c:v>
                </c:pt>
              </c:numCache>
            </c:numRef>
          </c:xVal>
          <c:yVal>
            <c:numRef>
              <c:f>'Chart Data'!$D$2:$D$2</c:f>
              <c:numCache>
                <c:formatCode>0</c:formatCode>
                <c:ptCount val="1"/>
                <c:pt idx="0">
                  <c:v>3.6</c:v>
                </c:pt>
              </c:numCache>
            </c:numRef>
          </c:yVal>
          <c:smooth val="0"/>
        </c:ser>
        <c:ser>
          <c:idx val="2"/>
          <c:order val="2"/>
          <c:tx>
            <c:v>Hulplijn A</c:v>
          </c:tx>
          <c:spPr>
            <a:ln xmlns:a="http://schemas.openxmlformats.org/drawingml/2006/main" w="14288">
              <a:solidFill>
                <a:srgbClr val="445B6B"/>
              </a:solidFill>
              <a:prstDash val="dash"/>
            </a:ln>
          </c:spPr>
          <c:marker>
            <c:symbol val="none"/>
          </c:marker>
          <c:xVal>
            <c:numRef>
              <c:f>'Chart Data'!$E$2:$E$4</c:f>
              <c:numCache>
                <c:formatCode>General</c:formatCode>
                <c:ptCount val="3"/>
                <c:pt idx="0">
                  <c:v>0</c:v>
                </c:pt>
                <c:pt idx="1">
                  <c:v>120</c:v>
                </c:pt>
                <c:pt idx="2">
                  <c:v>120</c:v>
                </c:pt>
              </c:numCache>
            </c:numRef>
          </c:xVal>
          <c:yVal>
            <c:numRef>
              <c:f>'Chart Data'!$F$2:$F$4</c:f>
              <c:numCache>
                <c:formatCode>0</c:formatCode>
                <c:ptCount val="3"/>
                <c:pt idx="0">
                  <c:v>18</c:v>
                </c:pt>
                <c:pt idx="1">
                  <c:v>18</c:v>
                </c:pt>
                <c:pt idx="2">
                  <c:v>0</c:v>
                </c:pt>
              </c:numCache>
            </c:numRef>
          </c:yVal>
          <c:smooth val="0"/>
        </c:ser>
        <c:ser>
          <c:idx val="3"/>
          <c:order val="3"/>
          <c:tx>
            <c:v>Punt A</c:v>
          </c:tx>
          <c:spPr>
            <a:ln xmlns:a="http://schemas.openxmlformats.org/drawingml/2006/main" w="0">
              <a:noFill/>
            </a:ln>
          </c:spPr>
          <c:marker>
            <c:symbol val="circle"/>
            <c:size val="9"/>
            <c:spPr>
              <a:solidFill xmlns:a="http://schemas.openxmlformats.org/drawingml/2006/main">
                <a:srgbClr val="183247"/>
              </a:solidFill>
            </c:spPr>
          </c:marker>
          <c:xVal>
            <c:numRef>
              <c:f>'Chart Data'!$G$2:$G$2</c:f>
              <c:numCache>
                <c:formatCode>General</c:formatCode>
                <c:ptCount val="1"/>
                <c:pt idx="0">
                  <c:v>120</c:v>
                </c:pt>
              </c:numCache>
            </c:numRef>
          </c:xVal>
          <c:yVal>
            <c:numRef>
              <c:f>'Chart Data'!$H$2:$H$2</c:f>
              <c:numCache>
                <c:formatCode>0</c:formatCode>
                <c:ptCount val="1"/>
                <c:pt idx="0">
                  <c:v>18</c:v>
                </c:pt>
              </c:numCache>
            </c:numRef>
          </c:yVal>
          <c:smooth val="0"/>
        </c:ser>
        <c:ser>
          <c:idx val="4"/>
          <c:order val="4"/>
          <c:tx>
            <c:v>A</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183247"/>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2100" b="1">
                      <a:solidFill>
                        <a:srgbClr val="183247"/>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Data'!$I$2:$I$2</c:f>
              <c:numCache>
                <c:formatCode>General</c:formatCode>
                <c:ptCount val="1"/>
                <c:pt idx="0">
                  <c:v>120</c:v>
                </c:pt>
              </c:numCache>
            </c:numRef>
          </c:xVal>
          <c:yVal>
            <c:numRef>
              <c:f>'Chart Data'!$J$2:$J$2</c:f>
              <c:numCache>
                <c:formatCode>0</c:formatCode>
                <c:ptCount val="1"/>
                <c:pt idx="0">
                  <c:v>20.6</c:v>
                </c:pt>
              </c:numCache>
            </c:numRef>
          </c:yVal>
          <c:smooth val="0"/>
        </c:ser>
        <c:ser>
          <c:idx val="5"/>
          <c:order val="5"/>
          <c:tx>
            <c:v>Arbeidsvraag nieuw</c:v>
          </c:tx>
          <c:spPr>
            <a:ln xmlns:a="http://schemas.openxmlformats.org/drawingml/2006/main" w="38100">
              <a:solidFill>
                <a:srgbClr val="A94D16"/>
              </a:solidFill>
              <a:prstDash val="dash"/>
            </a:ln>
          </c:spPr>
          <c:marker>
            <c:symbol val="none"/>
          </c:marker>
          <c:xVal>
            <c:numRef>
              <c:f>'Chart Data'!$K$2:$K$3</c:f>
              <c:numCache>
                <c:formatCode>General</c:formatCode>
                <c:ptCount val="2"/>
                <c:pt idx="0">
                  <c:v>0</c:v>
                </c:pt>
                <c:pt idx="1">
                  <c:v>360</c:v>
                </c:pt>
              </c:numCache>
            </c:numRef>
          </c:xVal>
          <c:yVal>
            <c:numRef>
              <c:f>'Chart Data'!$L$2:$L$3</c:f>
              <c:numCache>
                <c:formatCode>0</c:formatCode>
                <c:ptCount val="2"/>
                <c:pt idx="0">
                  <c:v>36</c:v>
                </c:pt>
                <c:pt idx="1">
                  <c:v>0</c:v>
                </c:pt>
              </c:numCache>
            </c:numRef>
          </c:yVal>
          <c:smooth val="0"/>
        </c:ser>
        <c:ser>
          <c:idx val="6"/>
          <c:order val="6"/>
          <c:tx>
            <c:v>Lᵥ nieuw</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Lᵥ nieuw</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Data'!$M$2:$M$2</c:f>
              <c:numCache>
                <c:formatCode>General</c:formatCode>
                <c:ptCount val="1"/>
                <c:pt idx="0">
                  <c:v>297</c:v>
                </c:pt>
              </c:numCache>
            </c:numRef>
          </c:xVal>
          <c:yVal>
            <c:numRef>
              <c:f>'Chart Data'!$N$2:$N$2</c:f>
              <c:numCache>
                <c:formatCode>0</c:formatCode>
                <c:ptCount val="1"/>
                <c:pt idx="0">
                  <c:v>8.9</c:v>
                </c:pt>
              </c:numCache>
            </c:numRef>
          </c:yVal>
          <c:smooth val="0"/>
        </c:ser>
        <c:ser>
          <c:idx val="7"/>
          <c:order val="7"/>
          <c:tx>
            <c:v>Hulplijn C</c:v>
          </c:tx>
          <c:spPr>
            <a:ln xmlns:a="http://schemas.openxmlformats.org/drawingml/2006/main" w="14288">
              <a:solidFill>
                <a:srgbClr val="445B6B"/>
              </a:solidFill>
              <a:prstDash val="dash"/>
            </a:ln>
          </c:spPr>
          <c:marker>
            <c:symbol val="none"/>
          </c:marker>
          <c:xVal>
            <c:numRef>
              <c:f>'Chart Data'!$O$2:$O$4</c:f>
              <c:numCache>
                <c:formatCode>General</c:formatCode>
                <c:ptCount val="3"/>
                <c:pt idx="0">
                  <c:v>120</c:v>
                </c:pt>
                <c:pt idx="1">
                  <c:v>180</c:v>
                </c:pt>
                <c:pt idx="2">
                  <c:v>180</c:v>
                </c:pt>
              </c:numCache>
            </c:numRef>
          </c:xVal>
          <c:yVal>
            <c:numRef>
              <c:f>'Chart Data'!$P$2:$P$4</c:f>
              <c:numCache>
                <c:formatCode>0</c:formatCode>
                <c:ptCount val="3"/>
                <c:pt idx="0">
                  <c:v>18</c:v>
                </c:pt>
                <c:pt idx="1">
                  <c:v>18</c:v>
                </c:pt>
                <c:pt idx="2">
                  <c:v>0</c:v>
                </c:pt>
              </c:numCache>
            </c:numRef>
          </c:yVal>
          <c:smooth val="0"/>
        </c:ser>
        <c:ser>
          <c:idx val="8"/>
          <c:order val="8"/>
          <c:tx>
            <c:v>Punt C</c:v>
          </c:tx>
          <c:spPr>
            <a:ln xmlns:a="http://schemas.openxmlformats.org/drawingml/2006/main" w="0">
              <a:noFill/>
            </a:ln>
          </c:spPr>
          <c:marker>
            <c:symbol val="circle"/>
            <c:size val="9"/>
            <c:spPr>
              <a:solidFill xmlns:a="http://schemas.openxmlformats.org/drawingml/2006/main">
                <a:srgbClr val="A94D16"/>
              </a:solidFill>
            </c:spPr>
          </c:marker>
          <c:xVal>
            <c:numRef>
              <c:f>'Chart Data'!$Q$2:$Q$2</c:f>
              <c:numCache>
                <c:formatCode>General</c:formatCode>
                <c:ptCount val="1"/>
                <c:pt idx="0">
                  <c:v>180</c:v>
                </c:pt>
              </c:numCache>
            </c:numRef>
          </c:xVal>
          <c:yVal>
            <c:numRef>
              <c:f>'Chart Data'!$R$2:$R$2</c:f>
              <c:numCache>
                <c:formatCode>0</c:formatCode>
                <c:ptCount val="1"/>
                <c:pt idx="0">
                  <c:v>18</c:v>
                </c:pt>
              </c:numCache>
            </c:numRef>
          </c:yVal>
          <c:smooth val="0"/>
        </c:ser>
        <c:ser>
          <c:idx val="9"/>
          <c:order val="9"/>
          <c:tx>
            <c:v>C</c:v>
          </c:tx>
          <c:spPr>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2100" b="1">
                        <a:solidFill>
                          <a:srgbClr val="A94D16"/>
                        </a:solidFill>
                        <a:latin typeface="Arial"/>
                        <a:ea typeface="Arial"/>
                        <a:cs typeface="Arial"/>
                      </a:rPr>
                      <a:t>C</a:t>
                    </a:r>
                  </a:p>
                </c:rich>
              </c:tx>
              <c:txPr>
                <a:bodyPr xmlns:a="http://schemas.openxmlformats.org/drawingml/2006/main" anchorCtr="1"/>
                <a:lstStyle xmlns:a="http://schemas.openxmlformats.org/drawingml/2006/main"/>
                <a:p xmlns:a="http://schemas.openxmlformats.org/drawingml/2006/main">
                  <a:pPr>
                    <a:defRPr sz="2100" b="1">
                      <a:solidFill>
                        <a:srgbClr val="A94D16"/>
                      </a:solidFill>
                      <a:latin typeface="Arial"/>
                      <a:ea typeface="Arial"/>
                      <a:cs typeface="Arial"/>
                    </a:defRPr>
                  </a:pPr>
                </a:p>
              </c:txPr>
              <c:showLegendKey val="0"/>
              <c:showVal val="0"/>
              <c:showCatName val="0"/>
              <c:showSerName val="0"/>
              <c:showPercent val="0"/>
              <c:showBubbleSize val="0"/>
            </c:dLbl>
            <c:showLegendKey val="0"/>
            <c:showVal val="0"/>
            <c:showCatName val="0"/>
            <c:showSerName val="0"/>
            <c:showPercent val="0"/>
            <c:showBubbleSize val="0"/>
          </c:dLbls>
          <c:xVal>
            <c:numRef>
              <c:f>'Chart Data'!$S$2:$S$2</c:f>
              <c:numCache>
                <c:formatCode>General</c:formatCode>
                <c:ptCount val="1"/>
                <c:pt idx="0">
                  <c:v>180</c:v>
                </c:pt>
              </c:numCache>
            </c:numRef>
          </c:xVal>
          <c:yVal>
            <c:numRef>
              <c:f>'Chart Data'!$T$2:$T$2</c:f>
              <c:numCache>
                <c:formatCode>0</c:formatCode>
                <c:ptCount val="1"/>
                <c:pt idx="0">
                  <c:v>20.6</c:v>
                </c:pt>
              </c:numCache>
            </c:numRef>
          </c:yVal>
          <c:smooth val="0"/>
        </c:ser>
        <c:ser>
          <c:idx val="10"/>
          <c:order val="10"/>
          <c:tx>
            <c:v>Verschuiving</c:v>
          </c:tx>
          <c:spPr>
            <a:ln xmlns:a="http://schemas.openxmlformats.org/drawingml/2006/main" w="28575">
              <a:solidFill>
                <a:srgbClr val="A94D16"/>
              </a:solidFill>
            </a:ln>
          </c:spPr>
          <c:marker>
            <c:symbol val="none"/>
          </c:marker>
          <c:xVal>
            <c:numRef>
              <c:f>'Chart Data'!$U$2:$U$3</c:f>
              <c:numCache>
                <c:formatCode>General</c:formatCode>
                <c:ptCount val="2"/>
                <c:pt idx="0">
                  <c:v>120</c:v>
                </c:pt>
                <c:pt idx="1">
                  <c:v>180</c:v>
                </c:pt>
              </c:numCache>
            </c:numRef>
          </c:xVal>
          <c:yVal>
            <c:numRef>
              <c:f>'Chart Data'!$V$2:$V$3</c:f>
              <c:numCache>
                <c:formatCode>0</c:formatCode>
                <c:ptCount val="2"/>
                <c:pt idx="0">
                  <c:v>18</c:v>
                </c:pt>
                <c:pt idx="1">
                  <c:v>18</c:v>
                </c:pt>
              </c:numCache>
            </c:numRef>
          </c:yVal>
          <c:smooth val="0"/>
        </c:ser>
        <c:ser>
          <c:idx val="11"/>
          <c:order val="11"/>
          <c:tx>
            <c:v>Pijlpunt</c:v>
          </c:tx>
          <c:spPr>
            <a:ln xmlns:a="http://schemas.openxmlformats.org/drawingml/2006/main" w="28575">
              <a:solidFill>
                <a:srgbClr val="A94D16"/>
              </a:solidFill>
            </a:ln>
          </c:spPr>
          <c:marker>
            <c:symbol val="none"/>
          </c:marker>
          <c:xVal>
            <c:numRef>
              <c:f>'Chart Data'!$W$2:$W$4</c:f>
              <c:numCache>
                <c:formatCode>General</c:formatCode>
                <c:ptCount val="3"/>
                <c:pt idx="0">
                  <c:v>168</c:v>
                </c:pt>
                <c:pt idx="1">
                  <c:v>180</c:v>
                </c:pt>
                <c:pt idx="2">
                  <c:v>168</c:v>
                </c:pt>
              </c:numCache>
            </c:numRef>
          </c:xVal>
          <c:yVal>
            <c:numRef>
              <c:f>'Chart Data'!$X$2:$X$4</c:f>
              <c:numCache>
                <c:formatCode>0</c:formatCode>
                <c:ptCount val="3"/>
                <c:pt idx="0">
                  <c:v>18.8</c:v>
                </c:pt>
                <c:pt idx="1">
                  <c:v>18</c:v>
                </c:pt>
                <c:pt idx="2">
                  <c:v>17.2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w (€ per uur)</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50112"/>
        <c:majorUnit val="6"/>
      </c:valAx>
      <c:valAx>
        <c:axId val="48650112"/>
        <c:scaling>
          <c:orientation val="minMax"/>
          <c:max val="360"/>
          <c:min val="0"/>
        </c:scaling>
        <c:delete val="0"/>
        <c:axPos val="b"/>
        <c:title>
          <c:tx>
            <c:rich>
              <a:bodyPr xmlns:a="http://schemas.openxmlformats.org/drawingml/2006/main"/>
              <a:lstStyle xmlns:a="http://schemas.openxmlformats.org/drawingml/2006/main"/>
              <a:p xmlns:a="http://schemas.openxmlformats.org/drawingml/2006/main">
                <a:r>
                  <a:rPr sz="1950">
                    <a:solidFill>
                      <a:srgbClr val="183247"/>
                    </a:solidFill>
                    <a:latin typeface="Arial"/>
                    <a:ea typeface="Arial"/>
                    <a:cs typeface="Arial"/>
                  </a:rPr>
                  <a:t>L (arbeidsuren per week)</a:t>
                </a:r>
              </a:p>
            </c:rich>
          </c:tx>
          <c:overlay val="0"/>
          <c:txPr>
            <a:bodyPr xmlns:a="http://schemas.openxmlformats.org/drawingml/2006/main" anchorCtr="1"/>
            <a:lstStyle xmlns:a="http://schemas.openxmlformats.org/drawingml/2006/main"/>
            <a:p xmlns:a="http://schemas.openxmlformats.org/drawingml/2006/main">
              <a:pPr>
                <a:defRPr sz="1950">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crossAx val="48672768"/>
        <c:majorUnit val="6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3.1 Arbeidsvraag en arbeidsproductivi">
            <a:extLst xmlns:a="http://schemas.openxmlformats.org/drawingml/2006/main">
              <a:ext uri="{FF2B5EF4-FFF2-40B4-BE49-F238E27FC236}">
                <a16:creationId xmlns:a16="http://schemas.microsoft.com/office/drawing/2014/main" id="{59DE3B1D-CA2B-44BA-95BC-0AA6558531AB}"/>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§4.3.1 Arbeidsvraag en arbeidsproductiviteit</a:t>
            </a:r>
          </a:p>
        </p:txBody>
      </p:sp>
      <p:sp>
        <p:nvSpPr>
          <p:cNvPr id="2" name="">
            <a:extLst xmlns:a="http://schemas.openxmlformats.org/drawingml/2006/main">
              <a:ext uri="{FF2B5EF4-FFF2-40B4-BE49-F238E27FC236}">
                <a16:creationId xmlns:a16="http://schemas.microsoft.com/office/drawing/2014/main" id="{179C8BC4-BD99-432B-B170-C8A86587B74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D61AF3A7-AF6F-45B1-985A-0DE293550DD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1">
            <a:extLst xmlns:a="http://schemas.openxmlformats.org/drawingml/2006/main">
              <a:ext uri="{FF2B5EF4-FFF2-40B4-BE49-F238E27FC236}">
                <a16:creationId xmlns:a16="http://schemas.microsoft.com/office/drawing/2014/main" id="{42D1C808-0D56-46A2-B678-3223C8E9F6F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6688F305-806E-4A41-BE44-0EB0FB5893B5}"/>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0AD01044-48D3-498F-B2EF-E8665D03E6B7}"/>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7E66269E-9F0A-475F-917F-38D4A8ADC23B}"/>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EECFBB91-1159-4398-915E-6E667F8A205B}"/>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A7B46E0A-33D9-40D6-ACC3-370F9163AD4B}"/>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11EB5301-1723-44DB-A67E-0ED412BAF58B}"/>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377D9F10-F99B-410B-9EAF-A505C852E195}"/>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7ED16EB3-8730-4150-B5CD-CAE1FFB86432}"/>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799451E9-A5DE-4254-8533-E58A860F0C6B}"/>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20246FAA-7653-4867-9549-99F8805EA4C3}"/>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56E239AA-2775-4334-BD23-6C9E6270C3F8}"/>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54D2D0F3-55F8-434E-A065-0F3AEFECDDBC}"/>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E08BE389-2F26-4914-8267-2989D2E27593}"/>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F0783B10-8D00-4B99-B8E6-A0ADA371F60D}"/>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CFF4F8F1-F2C5-459B-B890-308E1ED5ABC0}"/>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206D9BBA-014F-46B3-A6B9-FF4CAABAB01E}"/>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B459C202-3260-4E2A-B65B-106432181F63}"/>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1E1F880A-9968-47B5-A1C5-219E7FA52EB9}"/>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Arbeidsmarktrollen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productiviteit, uren en kosten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berekenen; bewegen of verschuiven.</a:t>
            </a:r>
          </a:p>
        </p:txBody>
      </p:sp>
      <p:sp>
        <p:nvSpPr>
          <p:cNvPr id="23" name="">
            <a:extLst xmlns:a="http://schemas.openxmlformats.org/drawingml/2006/main">
              <a:ext uri="{FF2B5EF4-FFF2-40B4-BE49-F238E27FC236}">
                <a16:creationId xmlns:a16="http://schemas.microsoft.com/office/drawing/2014/main" id="{B57E82FD-1BA7-4E17-88E8-16446C424B61}"/>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F252DBFD-623E-442F-9FE1-2FD044519340}"/>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9534715D-7047-48F8-880D-7F2CC96B48E6}"/>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119 · Opgaven 1 en 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 verkennen, theorie p. 114</a:t>
            </a:r>
          </a:p>
        </p:txBody>
      </p:sp>
      <p:sp>
        <p:nvSpPr>
          <p:cNvPr id="26" name="">
            <a:extLst xmlns:a="http://schemas.openxmlformats.org/drawingml/2006/main">
              <a:ext uri="{FF2B5EF4-FFF2-40B4-BE49-F238E27FC236}">
                <a16:creationId xmlns:a16="http://schemas.microsoft.com/office/drawing/2014/main" id="{67757CB2-DC53-49EC-ADF0-8B1386718C36}"/>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63963D6E-3C9F-403B-8B87-CC2EBF09E645}"/>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4907AAA1-C3F1-4F75-A773-E39E2D5FE805}"/>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§4.3.1 · Opgaven 3 t/m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1291487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ie koopt arbeid?">
            <a:extLst xmlns:a="http://schemas.openxmlformats.org/drawingml/2006/main">
              <a:ext uri="{FF2B5EF4-FFF2-40B4-BE49-F238E27FC236}">
                <a16:creationId xmlns:a16="http://schemas.microsoft.com/office/drawing/2014/main" id="{93EACC98-0FD4-4299-8373-D8F2F94775B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Wie koopt arbeid?</a:t>
            </a:r>
          </a:p>
        </p:txBody>
      </p:sp>
      <p:sp>
        <p:nvSpPr>
          <p:cNvPr id="2" name="">
            <a:extLst xmlns:a="http://schemas.openxmlformats.org/drawingml/2006/main">
              <a:ext uri="{FF2B5EF4-FFF2-40B4-BE49-F238E27FC236}">
                <a16:creationId xmlns:a16="http://schemas.microsoft.com/office/drawing/2014/main" id="{5C2CC4E5-DAE8-4D72-AA04-8FF561913CE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24413605-3D61-47B2-BC4B-5321139A584F}"/>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2">
            <a:extLst xmlns:a="http://schemas.openxmlformats.org/drawingml/2006/main">
              <a:ext uri="{FF2B5EF4-FFF2-40B4-BE49-F238E27FC236}">
                <a16:creationId xmlns:a16="http://schemas.microsoft.com/office/drawing/2014/main" id="{877750CA-7A15-4261-BFC4-B2D922C4750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graphicFrame>
        <p:nvGraphicFramePr>
          <p:cNvPr id="12" name=""/>
          <p:cNvGraphicFramePr/>
          <p:nvPr/>
        </p:nvGraphicFramePr>
        <p:xfrm>
          <a:off xmlns:a="http://schemas.openxmlformats.org/drawingml/2006/main" x="571500" y="2200275"/>
          <a:ext xmlns:a="http://schemas.openxmlformats.org/drawingml/2006/main" cx="14097000" cy="3048000"/>
        </p:xfrm>
        <a:graphic xmlns:a="http://schemas.openxmlformats.org/drawingml/2006/main">
          <a:graphicData uri="http://schemas.openxmlformats.org/drawingml/2006/table">
            <a:tbl>
              <a:tblPr/>
              <a:tblGrid>
                <a:gridCol w="4000500"/>
                <a:gridCol w="5048250"/>
                <a:gridCol w="5048250"/>
              </a:tblGrid>
              <a:tr h="1016000">
                <a:tc>
                  <a:txBody>
                    <a:bodyPr lIns="171450" tIns="95250" rIns="152400" bIns="95250"/>
                    <a:lstStyle/>
                    <a:p>
                      <a:r>
                        <a:rPr sz="2700" b="1">
                          <a:solidFill>
                            <a:srgbClr val="FFFFFF"/>
                          </a:solidFill>
                          <a:latin typeface="Arial"/>
                          <a:ea typeface="Arial"/>
                          <a:cs typeface="Arial"/>
                        </a:rPr>
                        <a:t>Markt</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Huishoudens</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Bedrijven</a:t>
                      </a:r>
                    </a:p>
                  </a:txBody>
                  <a:tcPr marL="91440" marR="91440" marT="45720" marB="45720" anchor="ctr">
                    <a:solidFill>
                      <a:srgbClr val="183247"/>
                    </a:solidFill>
                  </a:tcPr>
                </a:tc>
              </a:tr>
              <a:tr h="1016000">
                <a:tc>
                  <a:txBody>
                    <a:bodyPr lIns="171450" tIns="95250" rIns="152400" bIns="95250"/>
                    <a:lstStyle/>
                    <a:p>
                      <a:r>
                        <a:rPr sz="2700" b="0">
                          <a:solidFill>
                            <a:srgbClr val="183247"/>
                          </a:solidFill>
                          <a:latin typeface="Arial"/>
                          <a:ea typeface="Arial"/>
                          <a:cs typeface="Arial"/>
                        </a:rPr>
                        <a:t>Goederenmarkt</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Vragen producten</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Bieden producten aan</a:t>
                      </a:r>
                    </a:p>
                  </a:txBody>
                  <a:tcPr marL="91440" marR="91440" marT="45720" marB="45720" anchor="ctr">
                    <a:solidFill>
                      <a:srgbClr val="FFFFFF"/>
                    </a:solidFill>
                  </a:tcPr>
                </a:tc>
              </a:tr>
              <a:tr h="1016000">
                <a:tc>
                  <a:txBody>
                    <a:bodyPr lIns="171450" tIns="95250" rIns="152400" bIns="95250"/>
                    <a:lstStyle/>
                    <a:p>
                      <a:r>
                        <a:rPr sz="2700" b="0">
                          <a:solidFill>
                            <a:srgbClr val="183247"/>
                          </a:solidFill>
                          <a:latin typeface="Arial"/>
                          <a:ea typeface="Arial"/>
                          <a:cs typeface="Arial"/>
                        </a:rPr>
                        <a:t>Arbeidsmarkt</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Bieden arbeid aan</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Vragen arbeid</a:t>
                      </a:r>
                    </a:p>
                  </a:txBody>
                  <a:tcPr marL="91440" marR="91440" marT="45720" marB="45720" anchor="ctr">
                    <a:solidFill>
                      <a:srgbClr val="EFF4F7"/>
                    </a:solidFill>
                  </a:tcPr>
                </a:tc>
              </a:tr>
            </a:tbl>
          </a:graphicData>
        </a:graphic>
      </p:graphicFrame>
      <p:sp>
        <p:nvSpPr>
          <p:cNvPr id="6" name="Loon is de prijs van arbeid.">
            <a:extLst xmlns:a="http://schemas.openxmlformats.org/drawingml/2006/main">
              <a:ext uri="{FF2B5EF4-FFF2-40B4-BE49-F238E27FC236}">
                <a16:creationId xmlns:a16="http://schemas.microsoft.com/office/drawing/2014/main" id="{2F65ECF7-9BED-4845-916D-B88BF85065FE}"/>
              </a:ext>
            </a:extLst>
          </p:cNvPr>
          <p:cNvSpPr>
            <a:spLocks xmlns:a="http://schemas.openxmlformats.org/drawingml/2006/main" noGrp="1"/>
          </p:cNvSpPr>
          <p:nvPr/>
        </p:nvSpPr>
        <p:spPr>
          <a:xfrm xmlns:a="http://schemas.openxmlformats.org/drawingml/2006/main">
            <a:off x="571500" y="5762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7658A"/>
                </a:solidFill>
                <a:latin typeface="Arial"/>
                <a:ea typeface="Arial"/>
                <a:cs typeface="Arial"/>
              </a:defRPr>
            </a:pPr>
            <a:r>
              <a:rPr sz="3450" b="1">
                <a:solidFill>
                  <a:srgbClr val="17658A"/>
                </a:solidFill>
                <a:latin typeface="Arial"/>
                <a:ea typeface="Arial"/>
                <a:cs typeface="Arial"/>
              </a:rPr>
              <a:t>Loon is de prijs van arbeid.</a:t>
            </a:r>
          </a:p>
        </p:txBody>
      </p:sp>
      <p:sp>
        <p:nvSpPr>
          <p:cNvPr id="7" name="w = loon per uur&#10;L = hoeveelheid arbeid, met eenhe">
            <a:extLst xmlns:a="http://schemas.openxmlformats.org/drawingml/2006/main">
              <a:ext uri="{FF2B5EF4-FFF2-40B4-BE49-F238E27FC236}">
                <a16:creationId xmlns:a16="http://schemas.microsoft.com/office/drawing/2014/main" id="{11408939-7B74-4F08-A3F4-445734796488}"/>
              </a:ext>
            </a:extLst>
          </p:cNvPr>
          <p:cNvSpPr>
            <a:spLocks xmlns:a="http://schemas.openxmlformats.org/drawingml/2006/main" noGrp="1"/>
          </p:cNvSpPr>
          <p:nvPr/>
        </p:nvSpPr>
        <p:spPr>
          <a:xfrm xmlns:a="http://schemas.openxmlformats.org/drawingml/2006/main">
            <a:off x="571500" y="6791325"/>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w = loon per uur</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L = hoeveelheid arbeid, met eenheid</a:t>
            </a:r>
          </a:p>
        </p:txBody>
      </p:sp>
    </p:spTree>
    <p:extLst>
      <p:ext uri="{BB962C8B-B14F-4D97-AF65-F5344CB8AC3E}">
        <p14:creationId xmlns:p14="http://schemas.microsoft.com/office/powerpoint/2010/main" val="19728122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pfrissen: per product en procenten">
            <a:extLst xmlns:a="http://schemas.openxmlformats.org/drawingml/2006/main">
              <a:ext uri="{FF2B5EF4-FFF2-40B4-BE49-F238E27FC236}">
                <a16:creationId xmlns:a16="http://schemas.microsoft.com/office/drawing/2014/main" id="{E7287B9B-1CB4-4D96-A088-6FB7495BED49}"/>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Opfrissen: per product en procenten</a:t>
            </a:r>
          </a:p>
        </p:txBody>
      </p:sp>
      <p:sp>
        <p:nvSpPr>
          <p:cNvPr id="2" name="">
            <a:extLst xmlns:a="http://schemas.openxmlformats.org/drawingml/2006/main">
              <a:ext uri="{FF2B5EF4-FFF2-40B4-BE49-F238E27FC236}">
                <a16:creationId xmlns:a16="http://schemas.microsoft.com/office/drawing/2014/main" id="{174A9131-4BD3-43CB-B8F8-51874569DAE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9F56BC87-D428-4996-9E6E-37ECF442E85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3">
            <a:extLst xmlns:a="http://schemas.openxmlformats.org/drawingml/2006/main">
              <a:ext uri="{FF2B5EF4-FFF2-40B4-BE49-F238E27FC236}">
                <a16:creationId xmlns:a16="http://schemas.microsoft.com/office/drawing/2014/main" id="{5CF46A62-AF8B-40FE-92AF-F4C63EB7B1B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62270122-891B-4641-BCC7-211C6611EF4C}"/>
              </a:ext>
            </a:extLst>
          </p:cNvPr>
          <p:cNvSpPr>
            <a:spLocks xmlns:a="http://schemas.openxmlformats.org/drawingml/2006/main" noGrp="1"/>
          </p:cNvSpPr>
          <p:nvPr/>
        </p:nvSpPr>
        <p:spPr>
          <a:xfrm xmlns:a="http://schemas.openxmlformats.org/drawingml/2006/main">
            <a:off x="571500" y="17145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MokStudio verkoopt eerst 80, daarna 100 mokken">
            <a:extLst xmlns:a="http://schemas.openxmlformats.org/drawingml/2006/main">
              <a:ext uri="{FF2B5EF4-FFF2-40B4-BE49-F238E27FC236}">
                <a16:creationId xmlns:a16="http://schemas.microsoft.com/office/drawing/2014/main" id="{6BB2A89B-17DA-4C3A-A559-2111FA9462BC}"/>
              </a:ext>
            </a:extLst>
          </p:cNvPr>
          <p:cNvSpPr>
            <a:spLocks xmlns:a="http://schemas.openxmlformats.org/drawingml/2006/main" noGrp="1"/>
          </p:cNvSpPr>
          <p:nvPr/>
        </p:nvSpPr>
        <p:spPr>
          <a:xfrm xmlns:a="http://schemas.openxmlformats.org/drawingml/2006/main">
            <a:off x="571500" y="22574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MokStudio verkoopt eerst 80, daarna 100 mokken</a:t>
            </a:r>
          </a:p>
        </p:txBody>
      </p:sp>
      <p:sp>
        <p:nvSpPr>
          <p:cNvPr id="7" name="€ 360 totale kosten bij 80 mokken">
            <a:extLst xmlns:a="http://schemas.openxmlformats.org/drawingml/2006/main">
              <a:ext uri="{FF2B5EF4-FFF2-40B4-BE49-F238E27FC236}">
                <a16:creationId xmlns:a16="http://schemas.microsoft.com/office/drawing/2014/main" id="{1811A825-58C8-4851-BBEC-42EA218BE7AD}"/>
              </a:ext>
            </a:extLst>
          </p:cNvPr>
          <p:cNvSpPr>
            <a:spLocks xmlns:a="http://schemas.openxmlformats.org/drawingml/2006/main" noGrp="1"/>
          </p:cNvSpPr>
          <p:nvPr/>
        </p:nvSpPr>
        <p:spPr>
          <a:xfrm xmlns:a="http://schemas.openxmlformats.org/drawingml/2006/main">
            <a:off x="571500" y="33337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€ 360 totale kosten bij 80 mokken</a:t>
            </a:r>
          </a:p>
        </p:txBody>
      </p:sp>
      <p:sp>
        <p:nvSpPr>
          <p:cNvPr id="8" name="Gemiddelde kosten = 360 / 80 = € 4,50 per mok">
            <a:extLst xmlns:a="http://schemas.openxmlformats.org/drawingml/2006/main">
              <a:ext uri="{FF2B5EF4-FFF2-40B4-BE49-F238E27FC236}">
                <a16:creationId xmlns:a16="http://schemas.microsoft.com/office/drawing/2014/main" id="{3D076356-6786-4B4C-8922-566D8AB9DA84}"/>
              </a:ext>
            </a:extLst>
          </p:cNvPr>
          <p:cNvSpPr>
            <a:spLocks xmlns:a="http://schemas.openxmlformats.org/drawingml/2006/main" noGrp="1"/>
          </p:cNvSpPr>
          <p:nvPr/>
        </p:nvSpPr>
        <p:spPr>
          <a:xfrm xmlns:a="http://schemas.openxmlformats.org/drawingml/2006/main">
            <a:off x="571500" y="41433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Gemiddelde kosten = 360 / 80 = € 4,50 per mok</a:t>
            </a:r>
          </a:p>
        </p:txBody>
      </p:sp>
      <p:sp>
        <p:nvSpPr>
          <p:cNvPr id="9" name="">
            <a:extLst xmlns:a="http://schemas.openxmlformats.org/drawingml/2006/main">
              <a:ext uri="{FF2B5EF4-FFF2-40B4-BE49-F238E27FC236}">
                <a16:creationId xmlns:a16="http://schemas.microsoft.com/office/drawing/2014/main" id="{4A5C3064-8179-4083-B2F3-3C5AC4CFA971}"/>
              </a:ext>
            </a:extLst>
          </p:cNvPr>
          <p:cNvSpPr>
            <a:spLocks xmlns:a="http://schemas.openxmlformats.org/drawingml/2006/main" noGrp="1"/>
          </p:cNvSpPr>
          <p:nvPr/>
        </p:nvSpPr>
        <p:spPr>
          <a:xfrm xmlns:a="http://schemas.openxmlformats.org/drawingml/2006/main">
            <a:off x="571500" y="5210175"/>
            <a:ext cx="14097000" cy="0"/>
          </a:xfrm>
          <a:prstGeom xmlns:a="http://schemas.openxmlformats.org/drawingml/2006/main" prst="line">
            <a:avLst/>
          </a:prstGeom>
          <a:ln xmlns:a="http://schemas.openxmlformats.org/drawingml/2006/main" w="19050">
            <a:solidFill>
              <a:srgbClr val="C6D2DB"/>
            </a:solidFill>
          </a:ln>
        </p:spPr>
      </p:sp>
      <p:sp>
        <p:nvSpPr>
          <p:cNvPr id="10" name="Procentuele verandering = (nieuw − oud) / oud × 10">
            <a:extLst xmlns:a="http://schemas.openxmlformats.org/drawingml/2006/main">
              <a:ext uri="{FF2B5EF4-FFF2-40B4-BE49-F238E27FC236}">
                <a16:creationId xmlns:a16="http://schemas.microsoft.com/office/drawing/2014/main" id="{2A090EFF-C790-4CF9-A848-2BB99BFD1F53}"/>
              </a:ext>
            </a:extLst>
          </p:cNvPr>
          <p:cNvSpPr>
            <a:spLocks xmlns:a="http://schemas.openxmlformats.org/drawingml/2006/main" noGrp="1"/>
          </p:cNvSpPr>
          <p:nvPr/>
        </p:nvSpPr>
        <p:spPr>
          <a:xfrm xmlns:a="http://schemas.openxmlformats.org/drawingml/2006/main">
            <a:off x="571500" y="56197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Procentuele verandering = (nieuw − oud) / oud × 100%</a:t>
            </a:r>
          </a:p>
        </p:txBody>
      </p:sp>
      <p:sp>
        <p:nvSpPr>
          <p:cNvPr id="11" name="(100 − 80) / 80 × 100% = 25% meer mokken">
            <a:extLst xmlns:a="http://schemas.openxmlformats.org/drawingml/2006/main">
              <a:ext uri="{FF2B5EF4-FFF2-40B4-BE49-F238E27FC236}">
                <a16:creationId xmlns:a16="http://schemas.microsoft.com/office/drawing/2014/main" id="{BE823525-C738-4384-8155-69F7F6DE6887}"/>
              </a:ext>
            </a:extLst>
          </p:cNvPr>
          <p:cNvSpPr>
            <a:spLocks xmlns:a="http://schemas.openxmlformats.org/drawingml/2006/main" noGrp="1"/>
          </p:cNvSpPr>
          <p:nvPr/>
        </p:nvSpPr>
        <p:spPr>
          <a:xfrm xmlns:a="http://schemas.openxmlformats.org/drawingml/2006/main">
            <a:off x="571500" y="6619875"/>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20665B"/>
                </a:solidFill>
                <a:latin typeface="Arial"/>
                <a:ea typeface="Arial"/>
                <a:cs typeface="Arial"/>
              </a:defRPr>
            </a:pPr>
            <a:r>
              <a:rPr sz="3300" b="1">
                <a:solidFill>
                  <a:srgbClr val="20665B"/>
                </a:solidFill>
                <a:latin typeface="Arial"/>
                <a:ea typeface="Arial"/>
                <a:cs typeface="Arial"/>
              </a:rPr>
              <a:t>(100 − 80) / 80 × 100% = 25% meer mokken</a:t>
            </a:r>
          </a:p>
        </p:txBody>
      </p:sp>
    </p:spTree>
    <p:extLst>
      <p:ext uri="{BB962C8B-B14F-4D97-AF65-F5344CB8AC3E}">
        <p14:creationId xmlns:p14="http://schemas.microsoft.com/office/powerpoint/2010/main" val="14946331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ersonen, arbeidsuren en fte">
            <a:extLst xmlns:a="http://schemas.openxmlformats.org/drawingml/2006/main">
              <a:ext uri="{FF2B5EF4-FFF2-40B4-BE49-F238E27FC236}">
                <a16:creationId xmlns:a16="http://schemas.microsoft.com/office/drawing/2014/main" id="{21F94CA5-A1D0-4AFE-92AE-73CDC2BBB3A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Personen, arbeidsuren en fte</a:t>
            </a:r>
          </a:p>
        </p:txBody>
      </p:sp>
      <p:sp>
        <p:nvSpPr>
          <p:cNvPr id="2" name="">
            <a:extLst xmlns:a="http://schemas.openxmlformats.org/drawingml/2006/main">
              <a:ext uri="{FF2B5EF4-FFF2-40B4-BE49-F238E27FC236}">
                <a16:creationId xmlns:a16="http://schemas.microsoft.com/office/drawing/2014/main" id="{32649A0E-364F-4985-8B39-AA5957DFAE2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C62BB353-E848-4C92-A52B-DAD3F9DD326C}"/>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4">
            <a:extLst xmlns:a="http://schemas.openxmlformats.org/drawingml/2006/main">
              <a:ext uri="{FF2B5EF4-FFF2-40B4-BE49-F238E27FC236}">
                <a16:creationId xmlns:a16="http://schemas.microsoft.com/office/drawing/2014/main" id="{89B10829-B769-4B5D-AC41-CBEA6EBCED0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8660514C-70A4-45DD-BFCC-D5A5172BD503}"/>
              </a:ext>
            </a:extLst>
          </p:cNvPr>
          <p:cNvSpPr>
            <a:spLocks xmlns:a="http://schemas.openxmlformats.org/drawingml/2006/main" noGrp="1"/>
          </p:cNvSpPr>
          <p:nvPr/>
        </p:nvSpPr>
        <p:spPr>
          <a:xfrm xmlns:a="http://schemas.openxmlformats.org/drawingml/2006/main">
            <a:off x="571500" y="17145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MokStudio: 10 medewerkers werken elk 30 uur per we">
            <a:extLst xmlns:a="http://schemas.openxmlformats.org/drawingml/2006/main">
              <a:ext uri="{FF2B5EF4-FFF2-40B4-BE49-F238E27FC236}">
                <a16:creationId xmlns:a16="http://schemas.microsoft.com/office/drawing/2014/main" id="{F17B5AC7-CD6B-4F92-805E-33542962A7B9}"/>
              </a:ext>
            </a:extLst>
          </p:cNvPr>
          <p:cNvSpPr>
            <a:spLocks xmlns:a="http://schemas.openxmlformats.org/drawingml/2006/main" noGrp="1"/>
          </p:cNvSpPr>
          <p:nvPr/>
        </p:nvSpPr>
        <p:spPr>
          <a:xfrm xmlns:a="http://schemas.openxmlformats.org/drawingml/2006/main">
            <a:off x="571500" y="22574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MokStudio: 10 medewerkers werken elk 30 uur per week</a:t>
            </a:r>
          </a:p>
        </p:txBody>
      </p:sp>
      <p:graphicFrame>
        <p:nvGraphicFramePr>
          <p:cNvPr id="15" name=""/>
          <p:cNvGraphicFramePr/>
          <p:nvPr/>
        </p:nvGraphicFramePr>
        <p:xfrm>
          <a:off xmlns:a="http://schemas.openxmlformats.org/drawingml/2006/main" x="571500" y="3295650"/>
          <a:ext xmlns:a="http://schemas.openxmlformats.org/drawingml/2006/main" cx="14097000" cy="3238500"/>
        </p:xfrm>
        <a:graphic xmlns:a="http://schemas.openxmlformats.org/drawingml/2006/main">
          <a:graphicData uri="http://schemas.openxmlformats.org/drawingml/2006/table">
            <a:tbl>
              <a:tblPr/>
              <a:tblGrid>
                <a:gridCol w="4762500"/>
                <a:gridCol w="4381500"/>
                <a:gridCol w="4953000"/>
              </a:tblGrid>
              <a:tr h="809625">
                <a:tc>
                  <a:txBody>
                    <a:bodyPr lIns="171450" tIns="95250" rIns="152400" bIns="95250"/>
                    <a:lstStyle/>
                    <a:p>
                      <a:r>
                        <a:rPr sz="255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Uitkomst</a:t>
                      </a:r>
                    </a:p>
                  </a:txBody>
                  <a:tcPr marL="91440" marR="91440" marT="45720" marB="45720" anchor="ctr">
                    <a:solidFill>
                      <a:srgbClr val="183247"/>
                    </a:solidFill>
                  </a:tcPr>
                </a:tc>
              </a:tr>
              <a:tr h="809625">
                <a:tc>
                  <a:txBody>
                    <a:bodyPr lIns="171450" tIns="95250" rIns="152400" bIns="95250"/>
                    <a:lstStyle/>
                    <a:p>
                      <a:r>
                        <a:rPr sz="2550" b="0">
                          <a:solidFill>
                            <a:srgbClr val="183247"/>
                          </a:solidFill>
                          <a:latin typeface="Arial"/>
                          <a:ea typeface="Arial"/>
                          <a:cs typeface="Arial"/>
                        </a:rPr>
                        <a:t>Personen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Medewerkers tellen</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10 personen</a:t>
                      </a:r>
                    </a:p>
                  </a:txBody>
                  <a:tcPr marL="91440" marR="91440" marT="45720" marB="45720" anchor="ctr">
                    <a:solidFill>
                      <a:srgbClr val="FFFFFF"/>
                    </a:solidFill>
                  </a:tcPr>
                </a:tc>
              </a:tr>
              <a:tr h="809625">
                <a:tc>
                  <a:txBody>
                    <a:bodyPr lIns="171450" tIns="95250" rIns="152400" bIns="95250"/>
                    <a:lstStyle/>
                    <a:p>
                      <a:r>
                        <a:rPr sz="2550" b="0">
                          <a:solidFill>
                            <a:srgbClr val="183247"/>
                          </a:solidFill>
                          <a:latin typeface="Arial"/>
                          <a:ea typeface="Arial"/>
                          <a:cs typeface="Arial"/>
                        </a:rPr>
                        <a:t>Arbeidsuren per week</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10 × 30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300 uur per week</a:t>
                      </a:r>
                    </a:p>
                  </a:txBody>
                  <a:tcPr marL="91440" marR="91440" marT="45720" marB="45720" anchor="ctr">
                    <a:solidFill>
                      <a:srgbClr val="EFF4F7"/>
                    </a:solidFill>
                  </a:tcPr>
                </a:tc>
              </a:tr>
              <a:tr h="809625">
                <a:tc>
                  <a:txBody>
                    <a:bodyPr lIns="171450" tIns="95250" rIns="152400" bIns="95250"/>
                    <a:lstStyle/>
                    <a:p>
                      <a:r>
                        <a:rPr sz="2550" b="0">
                          <a:solidFill>
                            <a:srgbClr val="183247"/>
                          </a:solidFill>
                          <a:latin typeface="Arial"/>
                          <a:ea typeface="Arial"/>
                          <a:cs typeface="Arial"/>
                        </a:rPr>
                        <a:t>Fte bij 40 uur voltijd</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300 / 40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7,5 fte</a:t>
                      </a:r>
                    </a:p>
                  </a:txBody>
                  <a:tcPr marL="91440" marR="91440" marT="45720" marB="45720" anchor="ctr">
                    <a:solidFill>
                      <a:srgbClr val="FFFFFF"/>
                    </a:solidFill>
                  </a:tcPr>
                </a:tc>
              </a:tr>
            </a:tbl>
          </a:graphicData>
        </a:graphic>
      </p:graphicFrame>
      <p:sp>
        <p:nvSpPr>
          <p:cNvPr id="8" name="Eén fte = de arbeidsduur van één voltijdbaan.">
            <a:extLst xmlns:a="http://schemas.openxmlformats.org/drawingml/2006/main">
              <a:ext uri="{FF2B5EF4-FFF2-40B4-BE49-F238E27FC236}">
                <a16:creationId xmlns:a16="http://schemas.microsoft.com/office/drawing/2014/main" id="{3E3A6A1D-048D-4F0C-B8D4-46B38BB06BA9}"/>
              </a:ext>
            </a:extLst>
          </p:cNvPr>
          <p:cNvSpPr>
            <a:spLocks xmlns:a="http://schemas.openxmlformats.org/drawingml/2006/main" noGrp="1"/>
          </p:cNvSpPr>
          <p:nvPr/>
        </p:nvSpPr>
        <p:spPr>
          <a:xfrm xmlns:a="http://schemas.openxmlformats.org/drawingml/2006/main">
            <a:off x="571500" y="7096125"/>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Eén fte = de arbeidsduur van één voltijdbaan.</a:t>
            </a:r>
          </a:p>
        </p:txBody>
      </p:sp>
    </p:spTree>
    <p:extLst>
      <p:ext uri="{BB962C8B-B14F-4D97-AF65-F5344CB8AC3E}">
        <p14:creationId xmlns:p14="http://schemas.microsoft.com/office/powerpoint/2010/main" val="13680227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roductieplan van MokStudio">
            <a:extLst xmlns:a="http://schemas.openxmlformats.org/drawingml/2006/main">
              <a:ext uri="{FF2B5EF4-FFF2-40B4-BE49-F238E27FC236}">
                <a16:creationId xmlns:a16="http://schemas.microsoft.com/office/drawing/2014/main" id="{C44A423D-378E-41E4-B820-2CABB49F7FA6}"/>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Productieplan van MokStudio</a:t>
            </a:r>
          </a:p>
        </p:txBody>
      </p:sp>
      <p:sp>
        <p:nvSpPr>
          <p:cNvPr id="2" name="">
            <a:extLst xmlns:a="http://schemas.openxmlformats.org/drawingml/2006/main">
              <a:ext uri="{FF2B5EF4-FFF2-40B4-BE49-F238E27FC236}">
                <a16:creationId xmlns:a16="http://schemas.microsoft.com/office/drawing/2014/main" id="{0B24722E-3807-4F62-89D7-84492A9653B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F2BC63A1-5399-4D95-94CE-6723A9E805ED}"/>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5">
            <a:extLst xmlns:a="http://schemas.openxmlformats.org/drawingml/2006/main">
              <a:ext uri="{FF2B5EF4-FFF2-40B4-BE49-F238E27FC236}">
                <a16:creationId xmlns:a16="http://schemas.microsoft.com/office/drawing/2014/main" id="{9CD8B42A-B10D-44A7-A103-8C2CDE5EFE2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63B86759-4E73-45C1-8FC4-36ECCF4B340F}"/>
              </a:ext>
            </a:extLst>
          </p:cNvPr>
          <p:cNvSpPr>
            <a:spLocks xmlns:a="http://schemas.openxmlformats.org/drawingml/2006/main" noGrp="1"/>
          </p:cNvSpPr>
          <p:nvPr/>
        </p:nvSpPr>
        <p:spPr>
          <a:xfrm xmlns:a="http://schemas.openxmlformats.org/drawingml/2006/main">
            <a:off x="571500" y="17145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MokStudio">
            <a:extLst xmlns:a="http://schemas.openxmlformats.org/drawingml/2006/main">
              <a:ext uri="{FF2B5EF4-FFF2-40B4-BE49-F238E27FC236}">
                <a16:creationId xmlns:a16="http://schemas.microsoft.com/office/drawing/2014/main" id="{804CE5D2-DEA7-4092-A4FA-33C662217877}"/>
              </a:ext>
            </a:extLst>
          </p:cNvPr>
          <p:cNvSpPr>
            <a:spLocks xmlns:a="http://schemas.openxmlformats.org/drawingml/2006/main" noGrp="1"/>
          </p:cNvSpPr>
          <p:nvPr/>
        </p:nvSpPr>
        <p:spPr>
          <a:xfrm xmlns:a="http://schemas.openxmlformats.org/drawingml/2006/main">
            <a:off x="571500" y="22574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MokStudio</a:t>
            </a:r>
          </a:p>
        </p:txBody>
      </p:sp>
      <p:graphicFrame>
        <p:nvGraphicFramePr>
          <p:cNvPr id="15" name=""/>
          <p:cNvGraphicFramePr/>
          <p:nvPr/>
        </p:nvGraphicFramePr>
        <p:xfrm>
          <a:off xmlns:a="http://schemas.openxmlformats.org/drawingml/2006/main" x="571500" y="3209925"/>
          <a:ext xmlns:a="http://schemas.openxmlformats.org/drawingml/2006/main" cx="14097000" cy="3619500"/>
        </p:xfrm>
        <a:graphic xmlns:a="http://schemas.openxmlformats.org/drawingml/2006/main">
          <a:graphicData uri="http://schemas.openxmlformats.org/drawingml/2006/table">
            <a:tbl>
              <a:tblPr/>
              <a:tblGrid>
                <a:gridCol w="7048500"/>
                <a:gridCol w="3524250"/>
                <a:gridCol w="3524250"/>
              </a:tblGrid>
              <a:tr h="723900">
                <a:tc>
                  <a:txBody>
                    <a:bodyPr lIns="171450" tIns="95250" rIns="152400" bIns="95250"/>
                    <a:lstStyle/>
                    <a:p>
                      <a:r>
                        <a:rPr sz="2475"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Oude week</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Nieuwe week</a:t>
                      </a:r>
                    </a:p>
                  </a:txBody>
                  <a:tcPr marL="91440" marR="91440" marT="45720" marB="45720" anchor="ctr">
                    <a:solidFill>
                      <a:srgbClr val="183247"/>
                    </a:solidFill>
                  </a:tcPr>
                </a:tc>
              </a:tr>
              <a:tr h="723900">
                <a:tc>
                  <a:txBody>
                    <a:bodyPr lIns="171450" tIns="95250" rIns="152400" bIns="95250"/>
                    <a:lstStyle/>
                    <a:p>
                      <a:r>
                        <a:rPr sz="2475" b="0">
                          <a:solidFill>
                            <a:srgbClr val="183247"/>
                          </a:solidFill>
                          <a:latin typeface="Arial"/>
                          <a:ea typeface="Arial"/>
                          <a:cs typeface="Arial"/>
                        </a:rPr>
                        <a:t>Productie (mokken)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1.800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2.800</a:t>
                      </a:r>
                    </a:p>
                  </a:txBody>
                  <a:tcPr marL="91440" marR="91440" marT="45720" marB="45720" anchor="ctr">
                    <a:solidFill>
                      <a:srgbClr val="FFFFFF"/>
                    </a:solidFill>
                  </a:tcPr>
                </a:tc>
              </a:tr>
              <a:tr h="723900">
                <a:tc>
                  <a:txBody>
                    <a:bodyPr lIns="171450" tIns="95250" rIns="152400" bIns="95250"/>
                    <a:lstStyle/>
                    <a:p>
                      <a:r>
                        <a:rPr sz="2475" b="0">
                          <a:solidFill>
                            <a:srgbClr val="183247"/>
                          </a:solidFill>
                          <a:latin typeface="Arial"/>
                          <a:ea typeface="Arial"/>
                          <a:cs typeface="Arial"/>
                        </a:rPr>
                        <a:t>Arbeidsuren per week</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300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Te berekenen</a:t>
                      </a:r>
                    </a:p>
                  </a:txBody>
                  <a:tcPr marL="91440" marR="91440" marT="45720" marB="45720" anchor="ctr">
                    <a:solidFill>
                      <a:srgbClr val="EFF4F7"/>
                    </a:solidFill>
                  </a:tcPr>
                </a:tc>
              </a:tr>
              <a:tr h="723900">
                <a:tc>
                  <a:txBody>
                    <a:bodyPr lIns="171450" tIns="95250" rIns="152400" bIns="95250"/>
                    <a:lstStyle/>
                    <a:p>
                      <a:r>
                        <a:rPr sz="2475" b="0">
                          <a:solidFill>
                            <a:srgbClr val="183247"/>
                          </a:solidFill>
                          <a:latin typeface="Arial"/>
                          <a:ea typeface="Arial"/>
                          <a:cs typeface="Arial"/>
                        </a:rPr>
                        <a:t>Productiviteit (mokken per uur)</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Te berekenen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8</a:t>
                      </a:r>
                    </a:p>
                  </a:txBody>
                  <a:tcPr marL="91440" marR="91440" marT="45720" marB="45720" anchor="ctr">
                    <a:solidFill>
                      <a:srgbClr val="FFFFFF"/>
                    </a:solidFill>
                  </a:tcPr>
                </a:tc>
              </a:tr>
              <a:tr h="723900">
                <a:tc>
                  <a:txBody>
                    <a:bodyPr lIns="171450" tIns="95250" rIns="152400" bIns="95250"/>
                    <a:lstStyle/>
                    <a:p>
                      <a:r>
                        <a:rPr sz="2475" b="0">
                          <a:solidFill>
                            <a:srgbClr val="183247"/>
                          </a:solidFill>
                          <a:latin typeface="Arial"/>
                          <a:ea typeface="Arial"/>
                          <a:cs typeface="Arial"/>
                        </a:rPr>
                        <a:t>Volledige uurkosten</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€ 27</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€ 28,80</a:t>
                      </a:r>
                    </a:p>
                  </a:txBody>
                  <a:tcPr marL="91440" marR="91440" marT="45720" marB="45720" anchor="ctr">
                    <a:solidFill>
                      <a:srgbClr val="EFF4F7"/>
                    </a:solidFill>
                  </a:tcPr>
                </a:tc>
              </a:tr>
            </a:tbl>
          </a:graphicData>
        </a:graphic>
      </p:graphicFrame>
      <p:sp>
        <p:nvSpPr>
          <p:cNvPr id="8" name="Elke kolom beschrijft één volledige week.">
            <a:extLst xmlns:a="http://schemas.openxmlformats.org/drawingml/2006/main">
              <a:ext uri="{FF2B5EF4-FFF2-40B4-BE49-F238E27FC236}">
                <a16:creationId xmlns:a16="http://schemas.microsoft.com/office/drawing/2014/main" id="{20049A8D-D4AE-493F-B692-4BD95E41CB24}"/>
              </a:ext>
            </a:extLst>
          </p:cNvPr>
          <p:cNvSpPr>
            <a:spLocks xmlns:a="http://schemas.openxmlformats.org/drawingml/2006/main" noGrp="1"/>
          </p:cNvSpPr>
          <p:nvPr/>
        </p:nvSpPr>
        <p:spPr>
          <a:xfrm xmlns:a="http://schemas.openxmlformats.org/drawingml/2006/main">
            <a:off x="571500" y="728662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7658A"/>
                </a:solidFill>
                <a:latin typeface="Arial"/>
                <a:ea typeface="Arial"/>
                <a:cs typeface="Arial"/>
              </a:defRPr>
            </a:pPr>
            <a:r>
              <a:rPr sz="2775" b="1">
                <a:solidFill>
                  <a:srgbClr val="17658A"/>
                </a:solidFill>
                <a:latin typeface="Arial"/>
                <a:ea typeface="Arial"/>
                <a:cs typeface="Arial"/>
              </a:rPr>
              <a:t>Elke kolom beschrijft één volledige week.</a:t>
            </a:r>
          </a:p>
        </p:txBody>
      </p:sp>
    </p:spTree>
    <p:extLst>
      <p:ext uri="{BB962C8B-B14F-4D97-AF65-F5344CB8AC3E}">
        <p14:creationId xmlns:p14="http://schemas.microsoft.com/office/powerpoint/2010/main" val="1682897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rbeidsproductiviteit berekenen">
            <a:extLst xmlns:a="http://schemas.openxmlformats.org/drawingml/2006/main">
              <a:ext uri="{FF2B5EF4-FFF2-40B4-BE49-F238E27FC236}">
                <a16:creationId xmlns:a16="http://schemas.microsoft.com/office/drawing/2014/main" id="{151E0621-1ACB-40B2-A19D-F73C70A9C6C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Arbeidsproductiviteit berekenen</a:t>
            </a:r>
          </a:p>
        </p:txBody>
      </p:sp>
      <p:sp>
        <p:nvSpPr>
          <p:cNvPr id="2" name="">
            <a:extLst xmlns:a="http://schemas.openxmlformats.org/drawingml/2006/main">
              <a:ext uri="{FF2B5EF4-FFF2-40B4-BE49-F238E27FC236}">
                <a16:creationId xmlns:a16="http://schemas.microsoft.com/office/drawing/2014/main" id="{F809C4A8-2886-454D-B89C-24126D249E3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0AC9E42C-D0F0-4FC3-BB45-D273AE500982}"/>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6">
            <a:extLst xmlns:a="http://schemas.openxmlformats.org/drawingml/2006/main">
              <a:ext uri="{FF2B5EF4-FFF2-40B4-BE49-F238E27FC236}">
                <a16:creationId xmlns:a16="http://schemas.microsoft.com/office/drawing/2014/main" id="{59D6AB00-C8FB-4757-A937-7B2E66D2931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7FDDE4E5-5AE5-4C31-90B1-79C95D88DE8E}"/>
              </a:ext>
            </a:extLst>
          </p:cNvPr>
          <p:cNvSpPr>
            <a:spLocks xmlns:a="http://schemas.openxmlformats.org/drawingml/2006/main" noGrp="1"/>
          </p:cNvSpPr>
          <p:nvPr/>
        </p:nvSpPr>
        <p:spPr>
          <a:xfrm xmlns:a="http://schemas.openxmlformats.org/drawingml/2006/main">
            <a:off x="571500" y="17145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Oude week: 1.800 mokken in 300 arbeidsuren">
            <a:extLst xmlns:a="http://schemas.openxmlformats.org/drawingml/2006/main">
              <a:ext uri="{FF2B5EF4-FFF2-40B4-BE49-F238E27FC236}">
                <a16:creationId xmlns:a16="http://schemas.microsoft.com/office/drawing/2014/main" id="{88427CBF-BB65-401A-A2E4-D307CA9027C2}"/>
              </a:ext>
            </a:extLst>
          </p:cNvPr>
          <p:cNvSpPr>
            <a:spLocks xmlns:a="http://schemas.openxmlformats.org/drawingml/2006/main" noGrp="1"/>
          </p:cNvSpPr>
          <p:nvPr/>
        </p:nvSpPr>
        <p:spPr>
          <a:xfrm xmlns:a="http://schemas.openxmlformats.org/drawingml/2006/main">
            <a:off x="571500" y="22574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Oude week: 1.800 mokken in 300 arbeidsuren</a:t>
            </a:r>
          </a:p>
        </p:txBody>
      </p:sp>
      <p:sp>
        <p:nvSpPr>
          <p:cNvPr id="7" name="Arbeidsproductiviteit = productie / arbeidsuren">
            <a:extLst xmlns:a="http://schemas.openxmlformats.org/drawingml/2006/main">
              <a:ext uri="{FF2B5EF4-FFF2-40B4-BE49-F238E27FC236}">
                <a16:creationId xmlns:a16="http://schemas.microsoft.com/office/drawing/2014/main" id="{5B675D97-8201-4424-86A5-6EB770671562}"/>
              </a:ext>
            </a:extLst>
          </p:cNvPr>
          <p:cNvSpPr>
            <a:spLocks xmlns:a="http://schemas.openxmlformats.org/drawingml/2006/main" noGrp="1"/>
          </p:cNvSpPr>
          <p:nvPr/>
        </p:nvSpPr>
        <p:spPr>
          <a:xfrm xmlns:a="http://schemas.openxmlformats.org/drawingml/2006/main">
            <a:off x="571500" y="3486150"/>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Arbeidsproductiviteit = productie / arbeidsuren</a:t>
            </a:r>
          </a:p>
        </p:txBody>
      </p:sp>
      <p:sp>
        <p:nvSpPr>
          <p:cNvPr id="8" name="1.800 / 300 = 6 mokken per arbeidsuur">
            <a:extLst xmlns:a="http://schemas.openxmlformats.org/drawingml/2006/main">
              <a:ext uri="{FF2B5EF4-FFF2-40B4-BE49-F238E27FC236}">
                <a16:creationId xmlns:a16="http://schemas.microsoft.com/office/drawing/2014/main" id="{E2665600-BC98-45D0-8DA9-41F750044A0B}"/>
              </a:ext>
            </a:extLst>
          </p:cNvPr>
          <p:cNvSpPr>
            <a:spLocks xmlns:a="http://schemas.openxmlformats.org/drawingml/2006/main" noGrp="1"/>
          </p:cNvSpPr>
          <p:nvPr/>
        </p:nvSpPr>
        <p:spPr>
          <a:xfrm xmlns:a="http://schemas.openxmlformats.org/drawingml/2006/main">
            <a:off x="571500" y="4695825"/>
            <a:ext cx="14097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58A"/>
                </a:solidFill>
                <a:latin typeface="Arial"/>
                <a:ea typeface="Arial"/>
                <a:cs typeface="Arial"/>
              </a:defRPr>
            </a:pPr>
            <a:r>
              <a:rPr sz="3900" b="1">
                <a:solidFill>
                  <a:srgbClr val="17658A"/>
                </a:solidFill>
                <a:latin typeface="Arial"/>
                <a:ea typeface="Arial"/>
                <a:cs typeface="Arial"/>
              </a:rPr>
              <a:t>1.800 / 300 = 6 mokken per arbeidsuur</a:t>
            </a:r>
          </a:p>
        </p:txBody>
      </p:sp>
      <p:sp>
        <p:nvSpPr>
          <p:cNvPr id="9" name="Controle: 300 uur × 6 mokken per uur = 1.800 mokke">
            <a:extLst xmlns:a="http://schemas.openxmlformats.org/drawingml/2006/main">
              <a:ext uri="{FF2B5EF4-FFF2-40B4-BE49-F238E27FC236}">
                <a16:creationId xmlns:a16="http://schemas.microsoft.com/office/drawing/2014/main" id="{E48192CE-74F9-4C69-A72D-C63280588AA8}"/>
              </a:ext>
            </a:extLst>
          </p:cNvPr>
          <p:cNvSpPr>
            <a:spLocks xmlns:a="http://schemas.openxmlformats.org/drawingml/2006/main" noGrp="1"/>
          </p:cNvSpPr>
          <p:nvPr/>
        </p:nvSpPr>
        <p:spPr>
          <a:xfrm xmlns:a="http://schemas.openxmlformats.org/drawingml/2006/main">
            <a:off x="571500" y="646747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Controle: 300 uur × 6 mokken per uur = 1.800 mokken</a:t>
            </a:r>
          </a:p>
        </p:txBody>
      </p:sp>
    </p:spTree>
    <p:extLst>
      <p:ext uri="{BB962C8B-B14F-4D97-AF65-F5344CB8AC3E}">
        <p14:creationId xmlns:p14="http://schemas.microsoft.com/office/powerpoint/2010/main" val="8058416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enodigde arbeidsuren berekenen">
            <a:extLst xmlns:a="http://schemas.openxmlformats.org/drawingml/2006/main">
              <a:ext uri="{FF2B5EF4-FFF2-40B4-BE49-F238E27FC236}">
                <a16:creationId xmlns:a16="http://schemas.microsoft.com/office/drawing/2014/main" id="{ABFF73B6-84A4-46B5-BF8E-509D351F8D9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Benodigde arbeidsuren berekenen</a:t>
            </a:r>
          </a:p>
        </p:txBody>
      </p:sp>
      <p:sp>
        <p:nvSpPr>
          <p:cNvPr id="2" name="">
            <a:extLst xmlns:a="http://schemas.openxmlformats.org/drawingml/2006/main">
              <a:ext uri="{FF2B5EF4-FFF2-40B4-BE49-F238E27FC236}">
                <a16:creationId xmlns:a16="http://schemas.microsoft.com/office/drawing/2014/main" id="{EE2A925C-1F3A-4B0F-AA48-514DFC42952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8BE04F89-CD75-4BB4-8D0F-453679F3534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7">
            <a:extLst xmlns:a="http://schemas.openxmlformats.org/drawingml/2006/main">
              <a:ext uri="{FF2B5EF4-FFF2-40B4-BE49-F238E27FC236}">
                <a16:creationId xmlns:a16="http://schemas.microsoft.com/office/drawing/2014/main" id="{B95F57D3-D21F-489D-9F61-1F89E60F92C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82683AFA-27E2-4A22-8B36-5FFF900AF4CC}"/>
              </a:ext>
            </a:extLst>
          </p:cNvPr>
          <p:cNvSpPr>
            <a:spLocks xmlns:a="http://schemas.openxmlformats.org/drawingml/2006/main" noGrp="1"/>
          </p:cNvSpPr>
          <p:nvPr/>
        </p:nvSpPr>
        <p:spPr>
          <a:xfrm xmlns:a="http://schemas.openxmlformats.org/drawingml/2006/main">
            <a:off x="571500" y="17145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Nieuwe week: 2.800 mokken, 8 mokken per arbeidsuur">
            <a:extLst xmlns:a="http://schemas.openxmlformats.org/drawingml/2006/main">
              <a:ext uri="{FF2B5EF4-FFF2-40B4-BE49-F238E27FC236}">
                <a16:creationId xmlns:a16="http://schemas.microsoft.com/office/drawing/2014/main" id="{67395075-C2AA-4D6A-86AB-FBB46ABAF2F5}"/>
              </a:ext>
            </a:extLst>
          </p:cNvPr>
          <p:cNvSpPr>
            <a:spLocks xmlns:a="http://schemas.openxmlformats.org/drawingml/2006/main" noGrp="1"/>
          </p:cNvSpPr>
          <p:nvPr/>
        </p:nvSpPr>
        <p:spPr>
          <a:xfrm xmlns:a="http://schemas.openxmlformats.org/drawingml/2006/main">
            <a:off x="571500" y="22574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Nieuwe week: 2.800 mokken, 8 mokken per arbeidsuur</a:t>
            </a:r>
          </a:p>
        </p:txBody>
      </p:sp>
      <p:sp>
        <p:nvSpPr>
          <p:cNvPr id="7" name="Arbeidsuren = productie / arbeidsproductiviteit">
            <a:extLst xmlns:a="http://schemas.openxmlformats.org/drawingml/2006/main">
              <a:ext uri="{FF2B5EF4-FFF2-40B4-BE49-F238E27FC236}">
                <a16:creationId xmlns:a16="http://schemas.microsoft.com/office/drawing/2014/main" id="{990AD508-5D8B-4FB2-BCB7-9FEBAD11F44A}"/>
              </a:ext>
            </a:extLst>
          </p:cNvPr>
          <p:cNvSpPr>
            <a:spLocks xmlns:a="http://schemas.openxmlformats.org/drawingml/2006/main" noGrp="1"/>
          </p:cNvSpPr>
          <p:nvPr/>
        </p:nvSpPr>
        <p:spPr>
          <a:xfrm xmlns:a="http://schemas.openxmlformats.org/drawingml/2006/main">
            <a:off x="571500" y="338137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Arbeidsuren = productie / arbeidsproductiviteit</a:t>
            </a:r>
          </a:p>
        </p:txBody>
      </p:sp>
      <p:sp>
        <p:nvSpPr>
          <p:cNvPr id="8" name="2.800 / 8 = 350 arbeidsuren per week">
            <a:extLst xmlns:a="http://schemas.openxmlformats.org/drawingml/2006/main">
              <a:ext uri="{FF2B5EF4-FFF2-40B4-BE49-F238E27FC236}">
                <a16:creationId xmlns:a16="http://schemas.microsoft.com/office/drawing/2014/main" id="{312BACCB-5DB9-412C-A464-F60D6303F15B}"/>
              </a:ext>
            </a:extLst>
          </p:cNvPr>
          <p:cNvSpPr>
            <a:spLocks xmlns:a="http://schemas.openxmlformats.org/drawingml/2006/main" noGrp="1"/>
          </p:cNvSpPr>
          <p:nvPr/>
        </p:nvSpPr>
        <p:spPr>
          <a:xfrm xmlns:a="http://schemas.openxmlformats.org/drawingml/2006/main">
            <a:off x="571500" y="4572000"/>
            <a:ext cx="1409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20665B"/>
                </a:solidFill>
                <a:latin typeface="Arial"/>
                <a:ea typeface="Arial"/>
                <a:cs typeface="Arial"/>
              </a:defRPr>
            </a:pPr>
            <a:r>
              <a:rPr sz="3825" b="1">
                <a:solidFill>
                  <a:srgbClr val="20665B"/>
                </a:solidFill>
                <a:latin typeface="Arial"/>
                <a:ea typeface="Arial"/>
                <a:cs typeface="Arial"/>
              </a:rPr>
              <a:t>2.800 / 8 = 350 arbeidsuren per week</a:t>
            </a:r>
          </a:p>
        </p:txBody>
      </p:sp>
      <p:sp>
        <p:nvSpPr>
          <p:cNvPr id="9" name="Controle: 350 × 8 = 2.800 mokken per week">
            <a:extLst xmlns:a="http://schemas.openxmlformats.org/drawingml/2006/main">
              <a:ext uri="{FF2B5EF4-FFF2-40B4-BE49-F238E27FC236}">
                <a16:creationId xmlns:a16="http://schemas.microsoft.com/office/drawing/2014/main" id="{935B4E14-1CFE-4008-B544-9D35A34B219F}"/>
              </a:ext>
            </a:extLst>
          </p:cNvPr>
          <p:cNvSpPr>
            <a:spLocks xmlns:a="http://schemas.openxmlformats.org/drawingml/2006/main" noGrp="1"/>
          </p:cNvSpPr>
          <p:nvPr/>
        </p:nvSpPr>
        <p:spPr>
          <a:xfrm xmlns:a="http://schemas.openxmlformats.org/drawingml/2006/main">
            <a:off x="571500" y="592455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Controle: 350 × 8 = 2.800 mokken per week</a:t>
            </a:r>
          </a:p>
        </p:txBody>
      </p:sp>
      <p:sp>
        <p:nvSpPr>
          <p:cNvPr id="10" name="Dat is 50 / 300 × 100% ≈ 16,7% meer uren.">
            <a:extLst xmlns:a="http://schemas.openxmlformats.org/drawingml/2006/main">
              <a:ext uri="{FF2B5EF4-FFF2-40B4-BE49-F238E27FC236}">
                <a16:creationId xmlns:a16="http://schemas.microsoft.com/office/drawing/2014/main" id="{FF31D87A-BD15-42E7-BA95-5C38F291D330}"/>
              </a:ext>
            </a:extLst>
          </p:cNvPr>
          <p:cNvSpPr>
            <a:spLocks xmlns:a="http://schemas.openxmlformats.org/drawingml/2006/main" noGrp="1"/>
          </p:cNvSpPr>
          <p:nvPr/>
        </p:nvSpPr>
        <p:spPr>
          <a:xfrm xmlns:a="http://schemas.openxmlformats.org/drawingml/2006/main">
            <a:off x="571500" y="6972300"/>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Dat is 50 / 300 × 100% ≈ 16,7% meer uren.</a:t>
            </a:r>
          </a:p>
        </p:txBody>
      </p:sp>
    </p:spTree>
    <p:extLst>
      <p:ext uri="{BB962C8B-B14F-4D97-AF65-F5344CB8AC3E}">
        <p14:creationId xmlns:p14="http://schemas.microsoft.com/office/powerpoint/2010/main" val="1679143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oonkosten per mok">
            <a:extLst xmlns:a="http://schemas.openxmlformats.org/drawingml/2006/main">
              <a:ext uri="{FF2B5EF4-FFF2-40B4-BE49-F238E27FC236}">
                <a16:creationId xmlns:a16="http://schemas.microsoft.com/office/drawing/2014/main" id="{D139A84C-43D0-4815-B53C-606B543C6A8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Loonkosten per mok</a:t>
            </a:r>
          </a:p>
        </p:txBody>
      </p:sp>
      <p:sp>
        <p:nvSpPr>
          <p:cNvPr id="2" name="">
            <a:extLst xmlns:a="http://schemas.openxmlformats.org/drawingml/2006/main">
              <a:ext uri="{FF2B5EF4-FFF2-40B4-BE49-F238E27FC236}">
                <a16:creationId xmlns:a16="http://schemas.microsoft.com/office/drawing/2014/main" id="{A5D8A1DB-75BC-422C-A41F-111C9360B2D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27A20AF3-587F-478F-B19A-16C3BB3E4A18}"/>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8">
            <a:extLst xmlns:a="http://schemas.openxmlformats.org/drawingml/2006/main">
              <a:ext uri="{FF2B5EF4-FFF2-40B4-BE49-F238E27FC236}">
                <a16:creationId xmlns:a16="http://schemas.microsoft.com/office/drawing/2014/main" id="{B4E4CB81-4C87-46AA-BE01-6C881E1DAD0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37D30AFB-EAEB-43A3-A5FD-6C232AB50828}"/>
              </a:ext>
            </a:extLst>
          </p:cNvPr>
          <p:cNvSpPr>
            <a:spLocks xmlns:a="http://schemas.openxmlformats.org/drawingml/2006/main" noGrp="1"/>
          </p:cNvSpPr>
          <p:nvPr/>
        </p:nvSpPr>
        <p:spPr>
          <a:xfrm xmlns:a="http://schemas.openxmlformats.org/drawingml/2006/main">
            <a:off x="571500" y="17145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MokStudio">
            <a:extLst xmlns:a="http://schemas.openxmlformats.org/drawingml/2006/main">
              <a:ext uri="{FF2B5EF4-FFF2-40B4-BE49-F238E27FC236}">
                <a16:creationId xmlns:a16="http://schemas.microsoft.com/office/drawing/2014/main" id="{DE61C2C2-D17F-4B9F-934E-1357AF267388}"/>
              </a:ext>
            </a:extLst>
          </p:cNvPr>
          <p:cNvSpPr>
            <a:spLocks xmlns:a="http://schemas.openxmlformats.org/drawingml/2006/main" noGrp="1"/>
          </p:cNvSpPr>
          <p:nvPr/>
        </p:nvSpPr>
        <p:spPr>
          <a:xfrm xmlns:a="http://schemas.openxmlformats.org/drawingml/2006/main">
            <a:off x="571500" y="22574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MokStudio</a:t>
            </a:r>
          </a:p>
        </p:txBody>
      </p:sp>
      <p:sp>
        <p:nvSpPr>
          <p:cNvPr id="7" name="Loonkosten per product = uurkosten / productie per">
            <a:extLst xmlns:a="http://schemas.openxmlformats.org/drawingml/2006/main">
              <a:ext uri="{FF2B5EF4-FFF2-40B4-BE49-F238E27FC236}">
                <a16:creationId xmlns:a16="http://schemas.microsoft.com/office/drawing/2014/main" id="{5E26F75C-97B9-4966-9839-39B4DA091488}"/>
              </a:ext>
            </a:extLst>
          </p:cNvPr>
          <p:cNvSpPr>
            <a:spLocks xmlns:a="http://schemas.openxmlformats.org/drawingml/2006/main" noGrp="1"/>
          </p:cNvSpPr>
          <p:nvPr/>
        </p:nvSpPr>
        <p:spPr>
          <a:xfrm xmlns:a="http://schemas.openxmlformats.org/drawingml/2006/main">
            <a:off x="571500" y="32385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Loonkosten per product = uurkosten / productie per uur</a:t>
            </a:r>
          </a:p>
        </p:txBody>
      </p:sp>
      <p:graphicFrame>
        <p:nvGraphicFramePr>
          <p:cNvPr id="17" name=""/>
          <p:cNvGraphicFramePr/>
          <p:nvPr/>
        </p:nvGraphicFramePr>
        <p:xfrm>
          <a:off xmlns:a="http://schemas.openxmlformats.org/drawingml/2006/main" x="571500" y="4257675"/>
          <a:ext xmlns:a="http://schemas.openxmlformats.org/drawingml/2006/main" cx="14097000" cy="2438400"/>
        </p:xfrm>
        <a:graphic xmlns:a="http://schemas.openxmlformats.org/drawingml/2006/main">
          <a:graphicData uri="http://schemas.openxmlformats.org/drawingml/2006/table">
            <a:tbl>
              <a:tblPr/>
              <a:tblGrid>
                <a:gridCol w="3429000"/>
                <a:gridCol w="5334000"/>
                <a:gridCol w="5334000"/>
              </a:tblGrid>
              <a:tr h="812800">
                <a:tc>
                  <a:txBody>
                    <a:bodyPr lIns="171450" tIns="95250" rIns="152400" bIns="95250"/>
                    <a:lstStyle/>
                    <a:p>
                      <a:r>
                        <a:rPr sz="2775" b="1">
                          <a:solidFill>
                            <a:srgbClr val="FFFFFF"/>
                          </a:solidFill>
                          <a:latin typeface="Arial"/>
                          <a:ea typeface="Arial"/>
                          <a:cs typeface="Arial"/>
                        </a:rPr>
                        <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775" b="1">
                          <a:solidFill>
                            <a:srgbClr val="FFFFFF"/>
                          </a:solidFill>
                          <a:latin typeface="Arial"/>
                          <a:ea typeface="Arial"/>
                          <a:cs typeface="Arial"/>
                        </a:rPr>
                        <a:t>Loonkosten per mok</a:t>
                      </a:r>
                    </a:p>
                  </a:txBody>
                  <a:tcPr marL="91440" marR="91440" marT="45720" marB="45720" anchor="ctr">
                    <a:solidFill>
                      <a:srgbClr val="183247"/>
                    </a:solidFill>
                  </a:tcPr>
                </a:tc>
              </a:tr>
              <a:tr h="812800">
                <a:tc>
                  <a:txBody>
                    <a:bodyPr lIns="171450" tIns="95250" rIns="152400" bIns="95250"/>
                    <a:lstStyle/>
                    <a:p>
                      <a:r>
                        <a:rPr sz="2775" b="0">
                          <a:solidFill>
                            <a:srgbClr val="183247"/>
                          </a:solidFill>
                          <a:latin typeface="Arial"/>
                          <a:ea typeface="Arial"/>
                          <a:cs typeface="Arial"/>
                        </a:rPr>
                        <a:t>Oude week</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€ 27 / 6</a:t>
                      </a:r>
                    </a:p>
                  </a:txBody>
                  <a:tcPr marL="91440" marR="91440" marT="45720" marB="45720" anchor="ctr">
                    <a:solidFill>
                      <a:srgbClr val="FFFFFF"/>
                    </a:solidFill>
                  </a:tcPr>
                </a:tc>
                <a:tc>
                  <a:txBody>
                    <a:bodyPr lIns="171450" tIns="95250" rIns="152400" bIns="95250"/>
                    <a:lstStyle/>
                    <a:p>
                      <a:r>
                        <a:rPr sz="2775" b="0">
                          <a:solidFill>
                            <a:srgbClr val="183247"/>
                          </a:solidFill>
                          <a:latin typeface="Arial"/>
                          <a:ea typeface="Arial"/>
                          <a:cs typeface="Arial"/>
                        </a:rPr>
                        <a:t>€ 4,50</a:t>
                      </a:r>
                    </a:p>
                  </a:txBody>
                  <a:tcPr marL="91440" marR="91440" marT="45720" marB="45720" anchor="ctr">
                    <a:solidFill>
                      <a:srgbClr val="FFFFFF"/>
                    </a:solidFill>
                  </a:tcPr>
                </a:tc>
              </a:tr>
              <a:tr h="812800">
                <a:tc>
                  <a:txBody>
                    <a:bodyPr lIns="171450" tIns="95250" rIns="152400" bIns="95250"/>
                    <a:lstStyle/>
                    <a:p>
                      <a:r>
                        <a:rPr sz="2775" b="0">
                          <a:solidFill>
                            <a:srgbClr val="183247"/>
                          </a:solidFill>
                          <a:latin typeface="Arial"/>
                          <a:ea typeface="Arial"/>
                          <a:cs typeface="Arial"/>
                        </a:rPr>
                        <a:t>Nieuwe week</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€ 28,80 / 8</a:t>
                      </a:r>
                    </a:p>
                  </a:txBody>
                  <a:tcPr marL="91440" marR="91440" marT="45720" marB="45720" anchor="ctr">
                    <a:solidFill>
                      <a:srgbClr val="EFF4F7"/>
                    </a:solidFill>
                  </a:tcPr>
                </a:tc>
                <a:tc>
                  <a:txBody>
                    <a:bodyPr lIns="171450" tIns="95250" rIns="152400" bIns="95250"/>
                    <a:lstStyle/>
                    <a:p>
                      <a:r>
                        <a:rPr sz="2775" b="0">
                          <a:solidFill>
                            <a:srgbClr val="183247"/>
                          </a:solidFill>
                          <a:latin typeface="Arial"/>
                          <a:ea typeface="Arial"/>
                          <a:cs typeface="Arial"/>
                        </a:rPr>
                        <a:t>€ 3,60</a:t>
                      </a:r>
                    </a:p>
                  </a:txBody>
                  <a:tcPr marL="91440" marR="91440" marT="45720" marB="45720" anchor="ctr">
                    <a:solidFill>
                      <a:srgbClr val="EFF4F7"/>
                    </a:solidFill>
                  </a:tcPr>
                </a:tc>
              </a:tr>
            </a:tbl>
          </a:graphicData>
        </a:graphic>
      </p:graphicFrame>
      <p:sp>
        <p:nvSpPr>
          <p:cNvPr id="9" name="Een duurder uur levert méér mokken op.">
            <a:extLst xmlns:a="http://schemas.openxmlformats.org/drawingml/2006/main">
              <a:ext uri="{FF2B5EF4-FFF2-40B4-BE49-F238E27FC236}">
                <a16:creationId xmlns:a16="http://schemas.microsoft.com/office/drawing/2014/main" id="{3F419BEF-A0B4-4753-A327-61D4417C6700}"/>
              </a:ext>
            </a:extLst>
          </p:cNvPr>
          <p:cNvSpPr>
            <a:spLocks xmlns:a="http://schemas.openxmlformats.org/drawingml/2006/main" noGrp="1"/>
          </p:cNvSpPr>
          <p:nvPr/>
        </p:nvSpPr>
        <p:spPr>
          <a:xfrm xmlns:a="http://schemas.openxmlformats.org/drawingml/2006/main">
            <a:off x="571500" y="72580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Een duurder uur levert méér mokken op.</a:t>
            </a:r>
          </a:p>
        </p:txBody>
      </p:sp>
    </p:spTree>
    <p:extLst>
      <p:ext uri="{BB962C8B-B14F-4D97-AF65-F5344CB8AC3E}">
        <p14:creationId xmlns:p14="http://schemas.microsoft.com/office/powerpoint/2010/main" val="18344879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hoeveel uren?">
            <a:extLst xmlns:a="http://schemas.openxmlformats.org/drawingml/2006/main">
              <a:ext uri="{FF2B5EF4-FFF2-40B4-BE49-F238E27FC236}">
                <a16:creationId xmlns:a16="http://schemas.microsoft.com/office/drawing/2014/main" id="{1A0B7A1C-95F1-4A3D-9783-49294AC6B37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Korte controle: hoeveel uren?</a:t>
            </a:r>
          </a:p>
        </p:txBody>
      </p:sp>
      <p:sp>
        <p:nvSpPr>
          <p:cNvPr id="2" name="">
            <a:extLst xmlns:a="http://schemas.openxmlformats.org/drawingml/2006/main">
              <a:ext uri="{FF2B5EF4-FFF2-40B4-BE49-F238E27FC236}">
                <a16:creationId xmlns:a16="http://schemas.microsoft.com/office/drawing/2014/main" id="{1DB72271-1DE7-48EC-9041-4AF35471CE2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5EE0C367-9B32-44D4-AA76-7E952A2D3CEC}"/>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9">
            <a:extLst xmlns:a="http://schemas.openxmlformats.org/drawingml/2006/main">
              <a:ext uri="{FF2B5EF4-FFF2-40B4-BE49-F238E27FC236}">
                <a16:creationId xmlns:a16="http://schemas.microsoft.com/office/drawing/2014/main" id="{D819FDE8-C4F0-44E0-8E94-375827D79A9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190E65BE-3E1D-4479-86C4-82B8CA5AC061}"/>
              </a:ext>
            </a:extLst>
          </p:cNvPr>
          <p:cNvSpPr>
            <a:spLocks xmlns:a="http://schemas.openxmlformats.org/drawingml/2006/main" noGrp="1"/>
          </p:cNvSpPr>
          <p:nvPr/>
        </p:nvSpPr>
        <p:spPr>
          <a:xfrm xmlns:a="http://schemas.openxmlformats.org/drawingml/2006/main">
            <a:off x="571500" y="17145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MokStudio produceert nu 8 mokken per arbeidsuur">
            <a:extLst xmlns:a="http://schemas.openxmlformats.org/drawingml/2006/main">
              <a:ext uri="{FF2B5EF4-FFF2-40B4-BE49-F238E27FC236}">
                <a16:creationId xmlns:a16="http://schemas.microsoft.com/office/drawing/2014/main" id="{C52ECA8E-DFB7-42D9-B056-5A89606840DE}"/>
              </a:ext>
            </a:extLst>
          </p:cNvPr>
          <p:cNvSpPr>
            <a:spLocks xmlns:a="http://schemas.openxmlformats.org/drawingml/2006/main" noGrp="1"/>
          </p:cNvSpPr>
          <p:nvPr/>
        </p:nvSpPr>
        <p:spPr>
          <a:xfrm xmlns:a="http://schemas.openxmlformats.org/drawingml/2006/main">
            <a:off x="571500" y="22574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MokStudio produceert nu 8 mokken per arbeidsuur</a:t>
            </a:r>
          </a:p>
        </p:txBody>
      </p:sp>
      <p:sp>
        <p:nvSpPr>
          <p:cNvPr id="7" name="De productie blijft 1.800 mokken per week.">
            <a:extLst xmlns:a="http://schemas.openxmlformats.org/drawingml/2006/main">
              <a:ext uri="{FF2B5EF4-FFF2-40B4-BE49-F238E27FC236}">
                <a16:creationId xmlns:a16="http://schemas.microsoft.com/office/drawing/2014/main" id="{CAABCC10-C774-47F0-8BE1-713D52157B7F}"/>
              </a:ext>
            </a:extLst>
          </p:cNvPr>
          <p:cNvSpPr>
            <a:spLocks xmlns:a="http://schemas.openxmlformats.org/drawingml/2006/main" noGrp="1"/>
          </p:cNvSpPr>
          <p:nvPr/>
        </p:nvSpPr>
        <p:spPr>
          <a:xfrm xmlns:a="http://schemas.openxmlformats.org/drawingml/2006/main">
            <a:off x="571500" y="3533775"/>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De productie blijft 1.800 mokken per week.</a:t>
            </a:r>
          </a:p>
        </p:txBody>
      </p:sp>
      <p:sp>
        <p:nvSpPr>
          <p:cNvPr id="8" name="Hoeveel arbeidsuren zijn dan nodig?&#10;En bij welke p">
            <a:extLst xmlns:a="http://schemas.openxmlformats.org/drawingml/2006/main">
              <a:ext uri="{FF2B5EF4-FFF2-40B4-BE49-F238E27FC236}">
                <a16:creationId xmlns:a16="http://schemas.microsoft.com/office/drawing/2014/main" id="{A872F110-63A8-44C7-B633-A143D5C456B7}"/>
              </a:ext>
            </a:extLst>
          </p:cNvPr>
          <p:cNvSpPr>
            <a:spLocks xmlns:a="http://schemas.openxmlformats.org/drawingml/2006/main" noGrp="1"/>
          </p:cNvSpPr>
          <p:nvPr/>
        </p:nvSpPr>
        <p:spPr>
          <a:xfrm xmlns:a="http://schemas.openxmlformats.org/drawingml/2006/main">
            <a:off x="571500" y="4991100"/>
            <a:ext cx="14097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7658A"/>
                </a:solidFill>
                <a:latin typeface="Arial"/>
                <a:ea typeface="Arial"/>
                <a:cs typeface="Arial"/>
              </a:defRPr>
            </a:pPr>
            <a:r>
              <a:rPr sz="3300" b="0">
                <a:solidFill>
                  <a:srgbClr val="17658A"/>
                </a:solidFill>
                <a:latin typeface="Arial"/>
                <a:ea typeface="Arial"/>
                <a:cs typeface="Arial"/>
              </a:rPr>
              <a:t>Hoeveel arbeidsuren zijn dan nodig?</a:t>
            </a:r>
          </a:p>
          <a:p xmlns:a="http://schemas.openxmlformats.org/drawingml/2006/main">
            <a:pPr algn="l">
              <a:defRPr sz="3300" b="0">
                <a:solidFill>
                  <a:srgbClr val="17658A"/>
                </a:solidFill>
                <a:latin typeface="Arial"/>
                <a:ea typeface="Arial"/>
                <a:cs typeface="Arial"/>
              </a:defRPr>
            </a:pPr>
            <a:r>
              <a:rPr sz="3300" b="0">
                <a:solidFill>
                  <a:srgbClr val="17658A"/>
                </a:solidFill>
                <a:latin typeface="Arial"/>
                <a:ea typeface="Arial"/>
                <a:cs typeface="Arial"/>
              </a:rPr>
              <a:t>En bij welke productie blijven 300 uren nodig?</a:t>
            </a:r>
          </a:p>
        </p:txBody>
      </p:sp>
    </p:spTree>
    <p:extLst>
      <p:ext uri="{BB962C8B-B14F-4D97-AF65-F5344CB8AC3E}">
        <p14:creationId xmlns:p14="http://schemas.microsoft.com/office/powerpoint/2010/main" val="5289991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roductie én productiviteit bepalen de uren">
            <a:extLst xmlns:a="http://schemas.openxmlformats.org/drawingml/2006/main">
              <a:ext uri="{FF2B5EF4-FFF2-40B4-BE49-F238E27FC236}">
                <a16:creationId xmlns:a16="http://schemas.microsoft.com/office/drawing/2014/main" id="{7BE18060-E79F-45DF-A7D0-14DF0B4636C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Productie én productiviteit bepalen de uren</a:t>
            </a:r>
          </a:p>
        </p:txBody>
      </p:sp>
      <p:sp>
        <p:nvSpPr>
          <p:cNvPr id="2" name="">
            <a:extLst xmlns:a="http://schemas.openxmlformats.org/drawingml/2006/main">
              <a:ext uri="{FF2B5EF4-FFF2-40B4-BE49-F238E27FC236}">
                <a16:creationId xmlns:a16="http://schemas.microsoft.com/office/drawing/2014/main" id="{EA085354-22AE-4CE7-AE10-F36BEA7312B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49E01D54-83A6-4997-ADC1-05708854B24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10">
            <a:extLst xmlns:a="http://schemas.openxmlformats.org/drawingml/2006/main">
              <a:ext uri="{FF2B5EF4-FFF2-40B4-BE49-F238E27FC236}">
                <a16:creationId xmlns:a16="http://schemas.microsoft.com/office/drawing/2014/main" id="{44A26DA3-2881-4820-BA53-DB093C8E5F3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C55BF8AC-A890-4763-8E8C-154A47C3FF1A}"/>
              </a:ext>
            </a:extLst>
          </p:cNvPr>
          <p:cNvSpPr>
            <a:spLocks xmlns:a="http://schemas.openxmlformats.org/drawingml/2006/main" noGrp="1"/>
          </p:cNvSpPr>
          <p:nvPr/>
        </p:nvSpPr>
        <p:spPr>
          <a:xfrm xmlns:a="http://schemas.openxmlformats.org/drawingml/2006/main">
            <a:off x="571500" y="17145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MokStudio: oude week 1.800 mokken, 6 per uur, 300 ">
            <a:extLst xmlns:a="http://schemas.openxmlformats.org/drawingml/2006/main">
              <a:ext uri="{FF2B5EF4-FFF2-40B4-BE49-F238E27FC236}">
                <a16:creationId xmlns:a16="http://schemas.microsoft.com/office/drawing/2014/main" id="{CD4572C4-C6B9-4697-82AE-7109E62F5385}"/>
              </a:ext>
            </a:extLst>
          </p:cNvPr>
          <p:cNvSpPr>
            <a:spLocks xmlns:a="http://schemas.openxmlformats.org/drawingml/2006/main" noGrp="1"/>
          </p:cNvSpPr>
          <p:nvPr/>
        </p:nvSpPr>
        <p:spPr>
          <a:xfrm xmlns:a="http://schemas.openxmlformats.org/drawingml/2006/main">
            <a:off x="571500" y="22574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MokStudio: oude week 1.800 mokken, 6 per uur, 300 uur</a:t>
            </a:r>
          </a:p>
        </p:txBody>
      </p:sp>
      <p:graphicFrame>
        <p:nvGraphicFramePr>
          <p:cNvPr id="15" name=""/>
          <p:cNvGraphicFramePr/>
          <p:nvPr/>
        </p:nvGraphicFramePr>
        <p:xfrm>
          <a:off xmlns:a="http://schemas.openxmlformats.org/drawingml/2006/main" x="571500" y="3457575"/>
          <a:ext xmlns:a="http://schemas.openxmlformats.org/drawingml/2006/main" cx="14097000" cy="3276600"/>
        </p:xfrm>
        <a:graphic xmlns:a="http://schemas.openxmlformats.org/drawingml/2006/main">
          <a:graphicData uri="http://schemas.openxmlformats.org/drawingml/2006/table">
            <a:tbl>
              <a:tblPr/>
              <a:tblGrid>
                <a:gridCol w="4953000"/>
                <a:gridCol w="4476750"/>
                <a:gridCol w="4667250"/>
              </a:tblGrid>
              <a:tr h="819150">
                <a:tc>
                  <a:txBody>
                    <a:bodyPr lIns="171450" tIns="95250" rIns="152400" bIns="95250"/>
                    <a:lstStyle/>
                    <a:p>
                      <a:r>
                        <a:rPr sz="2400" b="1">
                          <a:solidFill>
                            <a:srgbClr val="FFFFFF"/>
                          </a:solidFill>
                          <a:latin typeface="Arial"/>
                          <a:ea typeface="Arial"/>
                          <a:cs typeface="Arial"/>
                        </a:rPr>
                        <a:t>Nieuwe productie per week</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Nieuwe productiviteit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Benodigde uren per week</a:t>
                      </a:r>
                    </a:p>
                  </a:txBody>
                  <a:tcPr marL="91440" marR="91440" marT="45720" marB="45720" anchor="ctr">
                    <a:solidFill>
                      <a:srgbClr val="183247"/>
                    </a:solidFill>
                  </a:tcPr>
                </a:tc>
              </a:tr>
              <a:tr h="819150">
                <a:tc>
                  <a:txBody>
                    <a:bodyPr lIns="171450" tIns="95250" rIns="152400" bIns="95250"/>
                    <a:lstStyle/>
                    <a:p>
                      <a:r>
                        <a:rPr sz="2400" b="0">
                          <a:solidFill>
                            <a:srgbClr val="183247"/>
                          </a:solidFill>
                          <a:latin typeface="Arial"/>
                          <a:ea typeface="Arial"/>
                          <a:cs typeface="Arial"/>
                        </a:rPr>
                        <a:t>1.800 mokken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8 mokken per uur</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1.800 / 8 = 225</a:t>
                      </a:r>
                    </a:p>
                  </a:txBody>
                  <a:tcPr marL="91440" marR="91440" marT="45720" marB="45720" anchor="ctr">
                    <a:solidFill>
                      <a:srgbClr val="FFFFFF"/>
                    </a:solidFill>
                  </a:tcPr>
                </a:tc>
              </a:tr>
              <a:tr h="819150">
                <a:tc>
                  <a:txBody>
                    <a:bodyPr lIns="171450" tIns="95250" rIns="152400" bIns="95250"/>
                    <a:lstStyle/>
                    <a:p>
                      <a:r>
                        <a:rPr sz="2400" b="0">
                          <a:solidFill>
                            <a:srgbClr val="183247"/>
                          </a:solidFill>
                          <a:latin typeface="Arial"/>
                          <a:ea typeface="Arial"/>
                          <a:cs typeface="Arial"/>
                        </a:rPr>
                        <a:t>2.400 mokken</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8 mokken per uur</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2.400 / 8 = 300</a:t>
                      </a:r>
                    </a:p>
                  </a:txBody>
                  <a:tcPr marL="91440" marR="91440" marT="45720" marB="45720" anchor="ctr">
                    <a:solidFill>
                      <a:srgbClr val="EFF4F7"/>
                    </a:solidFill>
                  </a:tcPr>
                </a:tc>
              </a:tr>
              <a:tr h="819150">
                <a:tc>
                  <a:txBody>
                    <a:bodyPr lIns="171450" tIns="95250" rIns="152400" bIns="95250"/>
                    <a:lstStyle/>
                    <a:p>
                      <a:r>
                        <a:rPr sz="2400" b="0">
                          <a:solidFill>
                            <a:srgbClr val="183247"/>
                          </a:solidFill>
                          <a:latin typeface="Arial"/>
                          <a:ea typeface="Arial"/>
                          <a:cs typeface="Arial"/>
                        </a:rPr>
                        <a:t>2.800 mokken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8 mokken per uur</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2.800 / 8 = 350</a:t>
                      </a:r>
                    </a:p>
                  </a:txBody>
                  <a:tcPr marL="91440" marR="91440" marT="45720" marB="45720" anchor="ctr">
                    <a:solidFill>
                      <a:srgbClr val="FFFFFF"/>
                    </a:solidFill>
                  </a:tcPr>
                </a:tc>
              </a:tr>
            </a:tbl>
          </a:graphicData>
        </a:graphic>
      </p:graphicFrame>
      <p:sp>
        <p:nvSpPr>
          <p:cNvPr id="8" name="Dezelfde hogere productiviteit, drie mogelijke uit">
            <a:extLst xmlns:a="http://schemas.openxmlformats.org/drawingml/2006/main">
              <a:ext uri="{FF2B5EF4-FFF2-40B4-BE49-F238E27FC236}">
                <a16:creationId xmlns:a16="http://schemas.microsoft.com/office/drawing/2014/main" id="{3D201147-0DFC-4017-A723-C24B8A5F898D}"/>
              </a:ext>
            </a:extLst>
          </p:cNvPr>
          <p:cNvSpPr>
            <a:spLocks xmlns:a="http://schemas.openxmlformats.org/drawingml/2006/main" noGrp="1"/>
          </p:cNvSpPr>
          <p:nvPr/>
        </p:nvSpPr>
        <p:spPr>
          <a:xfrm xmlns:a="http://schemas.openxmlformats.org/drawingml/2006/main">
            <a:off x="571500" y="7248525"/>
            <a:ext cx="1409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A94D16"/>
                </a:solidFill>
                <a:latin typeface="Arial"/>
                <a:ea typeface="Arial"/>
                <a:cs typeface="Arial"/>
              </a:defRPr>
            </a:pPr>
            <a:r>
              <a:rPr sz="2850" b="1">
                <a:solidFill>
                  <a:srgbClr val="A94D16"/>
                </a:solidFill>
                <a:latin typeface="Arial"/>
                <a:ea typeface="Arial"/>
                <a:cs typeface="Arial"/>
              </a:rPr>
              <a:t>Dezelfde hogere productiviteit, drie mogelijke uitkomsten.</a:t>
            </a:r>
          </a:p>
        </p:txBody>
      </p:sp>
    </p:spTree>
    <p:extLst>
      <p:ext uri="{BB962C8B-B14F-4D97-AF65-F5344CB8AC3E}">
        <p14:creationId xmlns:p14="http://schemas.microsoft.com/office/powerpoint/2010/main" val="18545613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e arbeidsvraaglijn">
            <a:extLst xmlns:a="http://schemas.openxmlformats.org/drawingml/2006/main">
              <a:ext uri="{FF2B5EF4-FFF2-40B4-BE49-F238E27FC236}">
                <a16:creationId xmlns:a16="http://schemas.microsoft.com/office/drawing/2014/main" id="{262C365C-9B32-4402-8CE0-66F9742256B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De arbeidsvraaglijn</a:t>
            </a:r>
          </a:p>
        </p:txBody>
      </p:sp>
      <p:sp>
        <p:nvSpPr>
          <p:cNvPr id="2" name="">
            <a:extLst xmlns:a="http://schemas.openxmlformats.org/drawingml/2006/main">
              <a:ext uri="{FF2B5EF4-FFF2-40B4-BE49-F238E27FC236}">
                <a16:creationId xmlns:a16="http://schemas.microsoft.com/office/drawing/2014/main" id="{105AEA64-5D7E-4EC7-BC50-C2F7A9BFFF5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7F148FBB-AD3A-4E47-8FEF-1E3DE4C2A79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11">
            <a:extLst xmlns:a="http://schemas.openxmlformats.org/drawingml/2006/main">
              <a:ext uri="{FF2B5EF4-FFF2-40B4-BE49-F238E27FC236}">
                <a16:creationId xmlns:a16="http://schemas.microsoft.com/office/drawing/2014/main" id="{9F2A39BF-DCB3-4C40-88A0-95559C60998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BA794F83-CE62-4752-B723-E6F0110A4092}"/>
              </a:ext>
            </a:extLst>
          </p:cNvPr>
          <p:cNvSpPr>
            <a:spLocks xmlns:a="http://schemas.openxmlformats.org/drawingml/2006/main" noGrp="1"/>
          </p:cNvSpPr>
          <p:nvPr/>
        </p:nvSpPr>
        <p:spPr>
          <a:xfrm xmlns:a="http://schemas.openxmlformats.org/drawingml/2006/main">
            <a:off x="571500" y="17145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Apart model van MokStudio: andere omstandigheden b">
            <a:extLst xmlns:a="http://schemas.openxmlformats.org/drawingml/2006/main">
              <a:ext uri="{FF2B5EF4-FFF2-40B4-BE49-F238E27FC236}">
                <a16:creationId xmlns:a16="http://schemas.microsoft.com/office/drawing/2014/main" id="{37E834F6-D24F-4AA7-8897-799F08D53847}"/>
              </a:ext>
            </a:extLst>
          </p:cNvPr>
          <p:cNvSpPr>
            <a:spLocks xmlns:a="http://schemas.openxmlformats.org/drawingml/2006/main" noGrp="1"/>
          </p:cNvSpPr>
          <p:nvPr/>
        </p:nvSpPr>
        <p:spPr>
          <a:xfrm xmlns:a="http://schemas.openxmlformats.org/drawingml/2006/main">
            <a:off x="571500" y="22574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Apart model van MokStudio: andere omstandigheden blijven gelijk</a:t>
            </a:r>
          </a:p>
        </p:txBody>
      </p:sp>
      <p:graphicFrame>
        <p:nvGraphicFramePr>
          <p:cNvPr id="17" name="Chart"/>
          <p:cNvGraphicFramePr/>
          <p:nvPr/>
        </p:nvGraphicFramePr>
        <p:xfrm>
          <a:off xmlns:a="http://schemas.openxmlformats.org/drawingml/2006/main" x="571500" y="3133725"/>
          <a:ext xmlns:a="http://schemas.openxmlformats.org/drawingml/2006/main" cx="10001250" cy="4524375"/>
        </p:xfrm>
        <a:graphic xmlns:a="http://schemas.openxmlformats.org/drawingml/2006/main">
          <a:graphicData uri="http://schemas.openxmlformats.org/drawingml/2006/chart">
            <c:chart xmlns:r="http://schemas.openxmlformats.org/officeDocument/2006/relationships" xmlns:c="http://schemas.openxmlformats.org/drawingml/2006/chart" r:id="Rc43e57aaca394d0a"/>
          </a:graphicData>
        </a:graphic>
      </p:graphicFrame>
      <p:sp>
        <p:nvSpPr>
          <p:cNvPr id="8" name="Bij € 18 per uur">
            <a:extLst xmlns:a="http://schemas.openxmlformats.org/drawingml/2006/main">
              <a:ext uri="{FF2B5EF4-FFF2-40B4-BE49-F238E27FC236}">
                <a16:creationId xmlns:a16="http://schemas.microsoft.com/office/drawing/2014/main" id="{2FA0D5C3-C700-4816-8B25-444F2B70BB4B}"/>
              </a:ext>
            </a:extLst>
          </p:cNvPr>
          <p:cNvSpPr>
            <a:spLocks xmlns:a="http://schemas.openxmlformats.org/drawingml/2006/main" noGrp="1"/>
          </p:cNvSpPr>
          <p:nvPr/>
        </p:nvSpPr>
        <p:spPr>
          <a:xfrm xmlns:a="http://schemas.openxmlformats.org/drawingml/2006/main">
            <a:off x="11049000" y="3524250"/>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Bij € 18 per uur</a:t>
            </a:r>
          </a:p>
        </p:txBody>
      </p:sp>
      <p:sp>
        <p:nvSpPr>
          <p:cNvPr id="9" name="120 arbeidsuren&#10;per week">
            <a:extLst xmlns:a="http://schemas.openxmlformats.org/drawingml/2006/main">
              <a:ext uri="{FF2B5EF4-FFF2-40B4-BE49-F238E27FC236}">
                <a16:creationId xmlns:a16="http://schemas.microsoft.com/office/drawing/2014/main" id="{CA8899E5-BAC5-47A7-A410-3C9F46A72D4F}"/>
              </a:ext>
            </a:extLst>
          </p:cNvPr>
          <p:cNvSpPr>
            <a:spLocks xmlns:a="http://schemas.openxmlformats.org/drawingml/2006/main" noGrp="1"/>
          </p:cNvSpPr>
          <p:nvPr/>
        </p:nvSpPr>
        <p:spPr>
          <a:xfrm xmlns:a="http://schemas.openxmlformats.org/drawingml/2006/main">
            <a:off x="11049000" y="4629150"/>
            <a:ext cx="35718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120 arbeidsuren</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per week</a:t>
            </a:r>
          </a:p>
        </p:txBody>
      </p:sp>
      <p:sp>
        <p:nvSpPr>
          <p:cNvPr id="10" name="Een hoger loon maakt arbeid duurder.">
            <a:extLst xmlns:a="http://schemas.openxmlformats.org/drawingml/2006/main">
              <a:ext uri="{FF2B5EF4-FFF2-40B4-BE49-F238E27FC236}">
                <a16:creationId xmlns:a16="http://schemas.microsoft.com/office/drawing/2014/main" id="{159BAB5F-7B90-4C93-9CA7-D98C23BF48C0}"/>
              </a:ext>
            </a:extLst>
          </p:cNvPr>
          <p:cNvSpPr>
            <a:spLocks xmlns:a="http://schemas.openxmlformats.org/drawingml/2006/main" noGrp="1"/>
          </p:cNvSpPr>
          <p:nvPr/>
        </p:nvSpPr>
        <p:spPr>
          <a:xfrm xmlns:a="http://schemas.openxmlformats.org/drawingml/2006/main">
            <a:off x="11049000" y="6419850"/>
            <a:ext cx="35718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Een hoger loon maakt arbeid duurder.</a:t>
            </a:r>
          </a:p>
        </p:txBody>
      </p:sp>
    </p:spTree>
    <p:extLst>
      <p:ext uri="{BB962C8B-B14F-4D97-AF65-F5344CB8AC3E}">
        <p14:creationId xmlns:p14="http://schemas.microsoft.com/office/powerpoint/2010/main" val="14410069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lleen het uurloon verandert">
            <a:extLst xmlns:a="http://schemas.openxmlformats.org/drawingml/2006/main">
              <a:ext uri="{FF2B5EF4-FFF2-40B4-BE49-F238E27FC236}">
                <a16:creationId xmlns:a16="http://schemas.microsoft.com/office/drawing/2014/main" id="{1C790A69-A484-465A-AE59-6DD5453C8F3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Alleen het uurloon verandert</a:t>
            </a:r>
          </a:p>
        </p:txBody>
      </p:sp>
      <p:sp>
        <p:nvSpPr>
          <p:cNvPr id="2" name="">
            <a:extLst xmlns:a="http://schemas.openxmlformats.org/drawingml/2006/main">
              <a:ext uri="{FF2B5EF4-FFF2-40B4-BE49-F238E27FC236}">
                <a16:creationId xmlns:a16="http://schemas.microsoft.com/office/drawing/2014/main" id="{D03D59F1-6473-4AF9-A431-2355307A655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D25D5478-18C2-40F2-B5F8-45194374F857}"/>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12">
            <a:extLst xmlns:a="http://schemas.openxmlformats.org/drawingml/2006/main">
              <a:ext uri="{FF2B5EF4-FFF2-40B4-BE49-F238E27FC236}">
                <a16:creationId xmlns:a16="http://schemas.microsoft.com/office/drawing/2014/main" id="{0488EB64-0BB2-479F-9960-D3D53D1935C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E31EB892-B4F2-4A96-BD64-19591C010C30}"/>
              </a:ext>
            </a:extLst>
          </p:cNvPr>
          <p:cNvSpPr>
            <a:spLocks xmlns:a="http://schemas.openxmlformats.org/drawingml/2006/main" noGrp="1"/>
          </p:cNvSpPr>
          <p:nvPr/>
        </p:nvSpPr>
        <p:spPr>
          <a:xfrm xmlns:a="http://schemas.openxmlformats.org/drawingml/2006/main">
            <a:off x="571500" y="17145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Apart model van MokStudio: andere omstandigheden b">
            <a:extLst xmlns:a="http://schemas.openxmlformats.org/drawingml/2006/main">
              <a:ext uri="{FF2B5EF4-FFF2-40B4-BE49-F238E27FC236}">
                <a16:creationId xmlns:a16="http://schemas.microsoft.com/office/drawing/2014/main" id="{B51515EB-761C-428E-80FB-096506193782}"/>
              </a:ext>
            </a:extLst>
          </p:cNvPr>
          <p:cNvSpPr>
            <a:spLocks xmlns:a="http://schemas.openxmlformats.org/drawingml/2006/main" noGrp="1"/>
          </p:cNvSpPr>
          <p:nvPr/>
        </p:nvSpPr>
        <p:spPr>
          <a:xfrm xmlns:a="http://schemas.openxmlformats.org/drawingml/2006/main">
            <a:off x="571500" y="22574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Apart model van MokStudio: andere omstandigheden blijven gelijk</a:t>
            </a:r>
          </a:p>
        </p:txBody>
      </p:sp>
      <p:graphicFrame>
        <p:nvGraphicFramePr>
          <p:cNvPr id="17" name="Chart"/>
          <p:cNvGraphicFramePr/>
          <p:nvPr/>
        </p:nvGraphicFramePr>
        <p:xfrm>
          <a:off xmlns:a="http://schemas.openxmlformats.org/drawingml/2006/main" x="571500" y="3133725"/>
          <a:ext xmlns:a="http://schemas.openxmlformats.org/drawingml/2006/main" cx="10001250" cy="4524375"/>
        </p:xfrm>
        <a:graphic xmlns:a="http://schemas.openxmlformats.org/drawingml/2006/main">
          <a:graphicData uri="http://schemas.openxmlformats.org/drawingml/2006/chart">
            <c:chart xmlns:r="http://schemas.openxmlformats.org/officeDocument/2006/relationships" xmlns:c="http://schemas.openxmlformats.org/drawingml/2006/chart" r:id="R73192f414db34cd9"/>
          </a:graphicData>
        </a:graphic>
      </p:graphicFrame>
      <p:sp>
        <p:nvSpPr>
          <p:cNvPr id="8" name="Van A naar B">
            <a:extLst xmlns:a="http://schemas.openxmlformats.org/drawingml/2006/main">
              <a:ext uri="{FF2B5EF4-FFF2-40B4-BE49-F238E27FC236}">
                <a16:creationId xmlns:a16="http://schemas.microsoft.com/office/drawing/2014/main" id="{BCB0DBE6-10EE-44E5-A011-87C3CF833498}"/>
              </a:ext>
            </a:extLst>
          </p:cNvPr>
          <p:cNvSpPr>
            <a:spLocks xmlns:a="http://schemas.openxmlformats.org/drawingml/2006/main" noGrp="1"/>
          </p:cNvSpPr>
          <p:nvPr/>
        </p:nvSpPr>
        <p:spPr>
          <a:xfrm xmlns:a="http://schemas.openxmlformats.org/drawingml/2006/main">
            <a:off x="11049000" y="3524250"/>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Van A naar B</a:t>
            </a:r>
          </a:p>
        </p:txBody>
      </p:sp>
      <p:sp>
        <p:nvSpPr>
          <p:cNvPr id="9" name="w: € 18 naar € 24&#10;L: 120 naar 60 uur">
            <a:extLst xmlns:a="http://schemas.openxmlformats.org/drawingml/2006/main">
              <a:ext uri="{FF2B5EF4-FFF2-40B4-BE49-F238E27FC236}">
                <a16:creationId xmlns:a16="http://schemas.microsoft.com/office/drawing/2014/main" id="{28CE46FF-E0BA-4F6C-B7A1-609B3369D905}"/>
              </a:ext>
            </a:extLst>
          </p:cNvPr>
          <p:cNvSpPr>
            <a:spLocks xmlns:a="http://schemas.openxmlformats.org/drawingml/2006/main" noGrp="1"/>
          </p:cNvSpPr>
          <p:nvPr/>
        </p:nvSpPr>
        <p:spPr>
          <a:xfrm xmlns:a="http://schemas.openxmlformats.org/drawingml/2006/main">
            <a:off x="11049000" y="4629150"/>
            <a:ext cx="35718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w: € 18 naar € 24</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L: 120 naar 60 uur</a:t>
            </a:r>
          </a:p>
        </p:txBody>
      </p:sp>
      <p:sp>
        <p:nvSpPr>
          <p:cNvPr id="10" name="Beweging langs&#10;dezelfde lijn">
            <a:extLst xmlns:a="http://schemas.openxmlformats.org/drawingml/2006/main">
              <a:ext uri="{FF2B5EF4-FFF2-40B4-BE49-F238E27FC236}">
                <a16:creationId xmlns:a16="http://schemas.microsoft.com/office/drawing/2014/main" id="{E63CCD0C-AD9C-4405-95E4-6140DD35FAAD}"/>
              </a:ext>
            </a:extLst>
          </p:cNvPr>
          <p:cNvSpPr>
            <a:spLocks xmlns:a="http://schemas.openxmlformats.org/drawingml/2006/main" noGrp="1"/>
          </p:cNvSpPr>
          <p:nvPr/>
        </p:nvSpPr>
        <p:spPr>
          <a:xfrm xmlns:a="http://schemas.openxmlformats.org/drawingml/2006/main">
            <a:off x="11049000" y="6419850"/>
            <a:ext cx="35718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Beweging langs</a:t>
            </a:r>
          </a:p>
          <a:p xmlns:a="http://schemas.openxmlformats.org/drawingml/2006/main">
            <a:pPr algn="l">
              <a:defRPr sz="2550" b="1">
                <a:solidFill>
                  <a:srgbClr val="17658A"/>
                </a:solidFill>
                <a:latin typeface="Arial"/>
                <a:ea typeface="Arial"/>
                <a:cs typeface="Arial"/>
              </a:defRPr>
            </a:pPr>
            <a:r>
              <a:rPr sz="2550" b="1">
                <a:solidFill>
                  <a:srgbClr val="17658A"/>
                </a:solidFill>
                <a:latin typeface="Arial"/>
                <a:ea typeface="Arial"/>
                <a:cs typeface="Arial"/>
              </a:rPr>
              <a:t>dezelfde lijn</a:t>
            </a:r>
          </a:p>
        </p:txBody>
      </p:sp>
    </p:spTree>
    <p:extLst>
      <p:ext uri="{BB962C8B-B14F-4D97-AF65-F5344CB8AC3E}">
        <p14:creationId xmlns:p14="http://schemas.microsoft.com/office/powerpoint/2010/main" val="17954008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lleen de orders nemen toe">
            <a:extLst xmlns:a="http://schemas.openxmlformats.org/drawingml/2006/main">
              <a:ext uri="{FF2B5EF4-FFF2-40B4-BE49-F238E27FC236}">
                <a16:creationId xmlns:a16="http://schemas.microsoft.com/office/drawing/2014/main" id="{96FDBB6C-0DE8-4EB9-906A-8DDEB698C9C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Alleen de orders nemen toe</a:t>
            </a:r>
          </a:p>
        </p:txBody>
      </p:sp>
      <p:sp>
        <p:nvSpPr>
          <p:cNvPr id="2" name="">
            <a:extLst xmlns:a="http://schemas.openxmlformats.org/drawingml/2006/main">
              <a:ext uri="{FF2B5EF4-FFF2-40B4-BE49-F238E27FC236}">
                <a16:creationId xmlns:a16="http://schemas.microsoft.com/office/drawing/2014/main" id="{40EE4816-D963-4C82-AFF2-2048D7BEA39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BA7BB0D6-BAAA-47C9-A770-EEFA9A67C58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13">
            <a:extLst xmlns:a="http://schemas.openxmlformats.org/drawingml/2006/main">
              <a:ext uri="{FF2B5EF4-FFF2-40B4-BE49-F238E27FC236}">
                <a16:creationId xmlns:a16="http://schemas.microsoft.com/office/drawing/2014/main" id="{9DEF48E4-C2C7-47ED-8051-E676ACB181B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D0510A72-948E-4027-A069-085EFEDF77E0}"/>
              </a:ext>
            </a:extLst>
          </p:cNvPr>
          <p:cNvSpPr>
            <a:spLocks xmlns:a="http://schemas.openxmlformats.org/drawingml/2006/main" noGrp="1"/>
          </p:cNvSpPr>
          <p:nvPr/>
        </p:nvSpPr>
        <p:spPr>
          <a:xfrm xmlns:a="http://schemas.openxmlformats.org/drawingml/2006/main">
            <a:off x="571500" y="17145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Apart model van MokStudio: andere omstandigheden b">
            <a:extLst xmlns:a="http://schemas.openxmlformats.org/drawingml/2006/main">
              <a:ext uri="{FF2B5EF4-FFF2-40B4-BE49-F238E27FC236}">
                <a16:creationId xmlns:a16="http://schemas.microsoft.com/office/drawing/2014/main" id="{9F6990A4-5F4C-420D-99CF-C5A3E55BD186}"/>
              </a:ext>
            </a:extLst>
          </p:cNvPr>
          <p:cNvSpPr>
            <a:spLocks xmlns:a="http://schemas.openxmlformats.org/drawingml/2006/main" noGrp="1"/>
          </p:cNvSpPr>
          <p:nvPr/>
        </p:nvSpPr>
        <p:spPr>
          <a:xfrm xmlns:a="http://schemas.openxmlformats.org/drawingml/2006/main">
            <a:off x="571500" y="22574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Apart model van MokStudio: andere omstandigheden blijven gelijk</a:t>
            </a:r>
          </a:p>
        </p:txBody>
      </p:sp>
      <p:graphicFrame>
        <p:nvGraphicFramePr>
          <p:cNvPr id="17" name="Chart"/>
          <p:cNvGraphicFramePr/>
          <p:nvPr/>
        </p:nvGraphicFramePr>
        <p:xfrm>
          <a:off xmlns:a="http://schemas.openxmlformats.org/drawingml/2006/main" x="571500" y="3133725"/>
          <a:ext xmlns:a="http://schemas.openxmlformats.org/drawingml/2006/main" cx="10001250" cy="4524375"/>
        </p:xfrm>
        <a:graphic xmlns:a="http://schemas.openxmlformats.org/drawingml/2006/main">
          <a:graphicData uri="http://schemas.openxmlformats.org/drawingml/2006/chart">
            <c:chart xmlns:r="http://schemas.openxmlformats.org/officeDocument/2006/relationships" xmlns:c="http://schemas.openxmlformats.org/drawingml/2006/chart" r:id="R7b8a69ec6cb14c40"/>
          </a:graphicData>
        </a:graphic>
      </p:graphicFrame>
      <p:sp>
        <p:nvSpPr>
          <p:cNvPr id="8" name="Van A naar C">
            <a:extLst xmlns:a="http://schemas.openxmlformats.org/drawingml/2006/main">
              <a:ext uri="{FF2B5EF4-FFF2-40B4-BE49-F238E27FC236}">
                <a16:creationId xmlns:a16="http://schemas.microsoft.com/office/drawing/2014/main" id="{69D2892B-C77A-4018-8DE6-EABE516A2561}"/>
              </a:ext>
            </a:extLst>
          </p:cNvPr>
          <p:cNvSpPr>
            <a:spLocks xmlns:a="http://schemas.openxmlformats.org/drawingml/2006/main" noGrp="1"/>
          </p:cNvSpPr>
          <p:nvPr/>
        </p:nvSpPr>
        <p:spPr>
          <a:xfrm xmlns:a="http://schemas.openxmlformats.org/drawingml/2006/main">
            <a:off x="11049000" y="3524250"/>
            <a:ext cx="3571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658A"/>
                </a:solidFill>
                <a:latin typeface="Arial"/>
                <a:ea typeface="Arial"/>
                <a:cs typeface="Arial"/>
              </a:defRPr>
            </a:pPr>
            <a:r>
              <a:rPr sz="2700" b="1">
                <a:solidFill>
                  <a:srgbClr val="17658A"/>
                </a:solidFill>
                <a:latin typeface="Arial"/>
                <a:ea typeface="Arial"/>
                <a:cs typeface="Arial"/>
              </a:rPr>
              <a:t>Van A naar C</a:t>
            </a:r>
          </a:p>
        </p:txBody>
      </p:sp>
      <p:sp>
        <p:nvSpPr>
          <p:cNvPr id="9" name="w blijft € 18&#10;L: 120 naar 180 uur">
            <a:extLst xmlns:a="http://schemas.openxmlformats.org/drawingml/2006/main">
              <a:ext uri="{FF2B5EF4-FFF2-40B4-BE49-F238E27FC236}">
                <a16:creationId xmlns:a16="http://schemas.microsoft.com/office/drawing/2014/main" id="{0A95E5CA-5904-495B-86E9-5CA8052375D1}"/>
              </a:ext>
            </a:extLst>
          </p:cNvPr>
          <p:cNvSpPr>
            <a:spLocks xmlns:a="http://schemas.openxmlformats.org/drawingml/2006/main" noGrp="1"/>
          </p:cNvSpPr>
          <p:nvPr/>
        </p:nvSpPr>
        <p:spPr>
          <a:xfrm xmlns:a="http://schemas.openxmlformats.org/drawingml/2006/main">
            <a:off x="11049000" y="4629150"/>
            <a:ext cx="35718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w blijft € 18</a:t>
            </a:r>
          </a:p>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L: 120 naar 180 uur</a:t>
            </a:r>
          </a:p>
        </p:txBody>
      </p:sp>
      <p:sp>
        <p:nvSpPr>
          <p:cNvPr id="10" name="Verschuiving&#10;naar rechts">
            <a:extLst xmlns:a="http://schemas.openxmlformats.org/drawingml/2006/main">
              <a:ext uri="{FF2B5EF4-FFF2-40B4-BE49-F238E27FC236}">
                <a16:creationId xmlns:a16="http://schemas.microsoft.com/office/drawing/2014/main" id="{DCAD5ECE-61AF-4B1B-B9FA-56B4F7F0839A}"/>
              </a:ext>
            </a:extLst>
          </p:cNvPr>
          <p:cNvSpPr>
            <a:spLocks xmlns:a="http://schemas.openxmlformats.org/drawingml/2006/main" noGrp="1"/>
          </p:cNvSpPr>
          <p:nvPr/>
        </p:nvSpPr>
        <p:spPr>
          <a:xfrm xmlns:a="http://schemas.openxmlformats.org/drawingml/2006/main">
            <a:off x="11049000" y="6419850"/>
            <a:ext cx="35718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Verschuiving</a:t>
            </a:r>
          </a:p>
          <a:p xmlns:a="http://schemas.openxmlformats.org/drawingml/2006/main">
            <a:pPr algn="l">
              <a:defRPr sz="2550" b="1">
                <a:solidFill>
                  <a:srgbClr val="A94D16"/>
                </a:solidFill>
                <a:latin typeface="Arial"/>
                <a:ea typeface="Arial"/>
                <a:cs typeface="Arial"/>
              </a:defRPr>
            </a:pPr>
            <a:r>
              <a:rPr sz="2550" b="1">
                <a:solidFill>
                  <a:srgbClr val="A94D16"/>
                </a:solidFill>
                <a:latin typeface="Arial"/>
                <a:ea typeface="Arial"/>
                <a:cs typeface="Arial"/>
              </a:rPr>
              <a:t>naar rechts</a:t>
            </a:r>
          </a:p>
        </p:txBody>
      </p:sp>
    </p:spTree>
    <p:extLst>
      <p:ext uri="{BB962C8B-B14F-4D97-AF65-F5344CB8AC3E}">
        <p14:creationId xmlns:p14="http://schemas.microsoft.com/office/powerpoint/2010/main" val="1895052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Loon en orders veranderen tegelijk">
            <a:extLst xmlns:a="http://schemas.openxmlformats.org/drawingml/2006/main">
              <a:ext uri="{FF2B5EF4-FFF2-40B4-BE49-F238E27FC236}">
                <a16:creationId xmlns:a16="http://schemas.microsoft.com/office/drawing/2014/main" id="{17108429-53D5-4A5F-835D-6EE9A9222784}"/>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Loon en orders veranderen tegelijk</a:t>
            </a:r>
          </a:p>
        </p:txBody>
      </p:sp>
      <p:sp>
        <p:nvSpPr>
          <p:cNvPr id="2" name="">
            <a:extLst xmlns:a="http://schemas.openxmlformats.org/drawingml/2006/main">
              <a:ext uri="{FF2B5EF4-FFF2-40B4-BE49-F238E27FC236}">
                <a16:creationId xmlns:a16="http://schemas.microsoft.com/office/drawing/2014/main" id="{8875CBDC-9E6E-489B-B652-B354C1FAE78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8BA9DA16-B84D-46E4-8D94-69B9B7258F8F}"/>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14">
            <a:extLst xmlns:a="http://schemas.openxmlformats.org/drawingml/2006/main">
              <a:ext uri="{FF2B5EF4-FFF2-40B4-BE49-F238E27FC236}">
                <a16:creationId xmlns:a16="http://schemas.microsoft.com/office/drawing/2014/main" id="{D3D6ADA8-CFC2-4505-8F7E-9F30F51C3DB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Uitlegvoorbeeld — niet uit het boek">
            <a:extLst xmlns:a="http://schemas.openxmlformats.org/drawingml/2006/main">
              <a:ext uri="{FF2B5EF4-FFF2-40B4-BE49-F238E27FC236}">
                <a16:creationId xmlns:a16="http://schemas.microsoft.com/office/drawing/2014/main" id="{7B39DD8D-AB7E-418E-BD4F-248D16E8F0BD}"/>
              </a:ext>
            </a:extLst>
          </p:cNvPr>
          <p:cNvSpPr>
            <a:spLocks xmlns:a="http://schemas.openxmlformats.org/drawingml/2006/main" noGrp="1"/>
          </p:cNvSpPr>
          <p:nvPr/>
        </p:nvSpPr>
        <p:spPr>
          <a:xfrm xmlns:a="http://schemas.openxmlformats.org/drawingml/2006/main">
            <a:off x="571500" y="1714500"/>
            <a:ext cx="1409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45B6B"/>
                </a:solidFill>
                <a:latin typeface="Arial"/>
                <a:ea typeface="Arial"/>
                <a:cs typeface="Arial"/>
              </a:defRPr>
            </a:pPr>
            <a:r>
              <a:rPr sz="2100" b="0">
                <a:solidFill>
                  <a:srgbClr val="445B6B"/>
                </a:solidFill>
                <a:latin typeface="Arial"/>
                <a:ea typeface="Arial"/>
                <a:cs typeface="Arial"/>
              </a:rPr>
              <a:t>Uitlegvoorbeeld — niet uit het boek</a:t>
            </a:r>
          </a:p>
        </p:txBody>
      </p:sp>
      <p:sp>
        <p:nvSpPr>
          <p:cNvPr id="6" name="Nieuwe situatie: hoger loon en meer orders, omvang">
            <a:extLst xmlns:a="http://schemas.openxmlformats.org/drawingml/2006/main">
              <a:ext uri="{FF2B5EF4-FFF2-40B4-BE49-F238E27FC236}">
                <a16:creationId xmlns:a16="http://schemas.microsoft.com/office/drawing/2014/main" id="{B91C829A-6476-4D69-8CFE-7B6EDFA5BAB1}"/>
              </a:ext>
            </a:extLst>
          </p:cNvPr>
          <p:cNvSpPr>
            <a:spLocks xmlns:a="http://schemas.openxmlformats.org/drawingml/2006/main" noGrp="1"/>
          </p:cNvSpPr>
          <p:nvPr/>
        </p:nvSpPr>
        <p:spPr>
          <a:xfrm xmlns:a="http://schemas.openxmlformats.org/drawingml/2006/main">
            <a:off x="571500" y="22574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Nieuwe situatie: hoger loon en meer orders, omvang onbekend</a:t>
            </a:r>
          </a:p>
        </p:txBody>
      </p:sp>
      <p:graphicFrame>
        <p:nvGraphicFramePr>
          <p:cNvPr id="15" name=""/>
          <p:cNvGraphicFramePr/>
          <p:nvPr/>
        </p:nvGraphicFramePr>
        <p:xfrm>
          <a:off xmlns:a="http://schemas.openxmlformats.org/drawingml/2006/main" x="571500" y="3495675"/>
          <a:ext xmlns:a="http://schemas.openxmlformats.org/drawingml/2006/main" cx="14097000" cy="2847975"/>
        </p:xfrm>
        <a:graphic xmlns:a="http://schemas.openxmlformats.org/drawingml/2006/main">
          <a:graphicData uri="http://schemas.openxmlformats.org/drawingml/2006/table">
            <a:tbl>
              <a:tblPr/>
              <a:tblGrid>
                <a:gridCol w="4953000"/>
                <a:gridCol w="5048250"/>
                <a:gridCol w="4095750"/>
              </a:tblGrid>
              <a:tr h="949325">
                <a:tc>
                  <a:txBody>
                    <a:bodyPr lIns="171450" tIns="95250" rIns="152400" bIns="95250"/>
                    <a:lstStyle/>
                    <a:p>
                      <a:r>
                        <a:rPr sz="2400" b="1">
                          <a:solidFill>
                            <a:srgbClr val="FFFFFF"/>
                          </a:solidFill>
                          <a:latin typeface="Arial"/>
                          <a:ea typeface="Arial"/>
                          <a:cs typeface="Arial"/>
                        </a:rPr>
                        <a:t>Afzonderlijke oorzaak</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Wat verandert?</a:t>
                      </a:r>
                    </a:p>
                  </a:txBody>
                  <a:tcPr marL="91440" marR="91440" marT="45720" marB="45720" anchor="ctr">
                    <a:solidFill>
                      <a:srgbClr val="183247"/>
                    </a:solidFill>
                  </a:tcPr>
                </a:tc>
                <a:tc>
                  <a:txBody>
                    <a:bodyPr lIns="171450" tIns="95250" rIns="152400" bIns="95250"/>
                    <a:lstStyle/>
                    <a:p>
                      <a:r>
                        <a:rPr sz="2400" b="1">
                          <a:solidFill>
                            <a:srgbClr val="FFFFFF"/>
                          </a:solidFill>
                          <a:latin typeface="Arial"/>
                          <a:ea typeface="Arial"/>
                          <a:cs typeface="Arial"/>
                        </a:rPr>
                        <a:t>Effect op gevraagde uren</a:t>
                      </a:r>
                    </a:p>
                  </a:txBody>
                  <a:tcPr marL="91440" marR="91440" marT="45720" marB="45720" anchor="ctr">
                    <a:solidFill>
                      <a:srgbClr val="183247"/>
                    </a:solidFill>
                  </a:tcPr>
                </a:tc>
              </a:tr>
              <a:tr h="949325">
                <a:tc>
                  <a:txBody>
                    <a:bodyPr lIns="171450" tIns="95250" rIns="152400" bIns="95250"/>
                    <a:lstStyle/>
                    <a:p>
                      <a:r>
                        <a:rPr sz="2400" b="0">
                          <a:solidFill>
                            <a:srgbClr val="183247"/>
                          </a:solidFill>
                          <a:latin typeface="Arial"/>
                          <a:ea typeface="Arial"/>
                          <a:cs typeface="Arial"/>
                        </a:rPr>
                        <a:t>Alleen hoger loon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Punt langs de vraaglijn</a:t>
                      </a:r>
                    </a:p>
                  </a:txBody>
                  <a:tcPr marL="91440" marR="91440" marT="45720" marB="45720" anchor="ctr">
                    <a:solidFill>
                      <a:srgbClr val="FFFFFF"/>
                    </a:solidFill>
                  </a:tcPr>
                </a:tc>
                <a:tc>
                  <a:txBody>
                    <a:bodyPr lIns="171450" tIns="95250" rIns="152400" bIns="95250"/>
                    <a:lstStyle/>
                    <a:p>
                      <a:r>
                        <a:rPr sz="2400" b="0">
                          <a:solidFill>
                            <a:srgbClr val="183247"/>
                          </a:solidFill>
                          <a:latin typeface="Arial"/>
                          <a:ea typeface="Arial"/>
                          <a:cs typeface="Arial"/>
                        </a:rPr>
                        <a:t>Minder</a:t>
                      </a:r>
                    </a:p>
                  </a:txBody>
                  <a:tcPr marL="91440" marR="91440" marT="45720" marB="45720" anchor="ctr">
                    <a:solidFill>
                      <a:srgbClr val="FFFFFF"/>
                    </a:solidFill>
                  </a:tcPr>
                </a:tc>
              </a:tr>
              <a:tr h="949325">
                <a:tc>
                  <a:txBody>
                    <a:bodyPr lIns="171450" tIns="95250" rIns="152400" bIns="95250"/>
                    <a:lstStyle/>
                    <a:p>
                      <a:r>
                        <a:rPr sz="2400" b="0">
                          <a:solidFill>
                            <a:srgbClr val="183247"/>
                          </a:solidFill>
                          <a:latin typeface="Arial"/>
                          <a:ea typeface="Arial"/>
                          <a:cs typeface="Arial"/>
                        </a:rPr>
                        <a:t>Alleen extra orders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Vraaglijn naar rechts</a:t>
                      </a:r>
                    </a:p>
                  </a:txBody>
                  <a:tcPr marL="91440" marR="91440" marT="45720" marB="45720" anchor="ctr">
                    <a:solidFill>
                      <a:srgbClr val="EFF4F7"/>
                    </a:solidFill>
                  </a:tcPr>
                </a:tc>
                <a:tc>
                  <a:txBody>
                    <a:bodyPr lIns="171450" tIns="95250" rIns="152400" bIns="95250"/>
                    <a:lstStyle/>
                    <a:p>
                      <a:r>
                        <a:rPr sz="2400" b="0">
                          <a:solidFill>
                            <a:srgbClr val="183247"/>
                          </a:solidFill>
                          <a:latin typeface="Arial"/>
                          <a:ea typeface="Arial"/>
                          <a:cs typeface="Arial"/>
                        </a:rPr>
                        <a:t>Meer bij hetzelfde loon</a:t>
                      </a:r>
                    </a:p>
                  </a:txBody>
                  <a:tcPr marL="91440" marR="91440" marT="45720" marB="45720" anchor="ctr">
                    <a:solidFill>
                      <a:srgbClr val="EFF4F7"/>
                    </a:solidFill>
                  </a:tcPr>
                </a:tc>
              </a:tr>
            </a:tbl>
          </a:graphicData>
        </a:graphic>
      </p:graphicFrame>
      <p:sp>
        <p:nvSpPr>
          <p:cNvPr id="8" name="Zonder de omvang van beide effecten blijft het sal">
            <a:extLst xmlns:a="http://schemas.openxmlformats.org/drawingml/2006/main">
              <a:ext uri="{FF2B5EF4-FFF2-40B4-BE49-F238E27FC236}">
                <a16:creationId xmlns:a16="http://schemas.microsoft.com/office/drawing/2014/main" id="{DD48B85D-5921-4192-B359-B9B32CC04842}"/>
              </a:ext>
            </a:extLst>
          </p:cNvPr>
          <p:cNvSpPr>
            <a:spLocks xmlns:a="http://schemas.openxmlformats.org/drawingml/2006/main" noGrp="1"/>
          </p:cNvSpPr>
          <p:nvPr/>
        </p:nvSpPr>
        <p:spPr>
          <a:xfrm xmlns:a="http://schemas.openxmlformats.org/drawingml/2006/main">
            <a:off x="571500" y="6962775"/>
            <a:ext cx="1409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Zonder de omvang van beide effecten blijft het saldo onbekend.</a:t>
            </a:r>
          </a:p>
        </p:txBody>
      </p:sp>
    </p:spTree>
    <p:extLst>
      <p:ext uri="{BB962C8B-B14F-4D97-AF65-F5344CB8AC3E}">
        <p14:creationId xmlns:p14="http://schemas.microsoft.com/office/powerpoint/2010/main" val="3451274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3.1 Arbeidsvraag en arbeidsproductivi">
            <a:extLst xmlns:a="http://schemas.openxmlformats.org/drawingml/2006/main">
              <a:ext uri="{FF2B5EF4-FFF2-40B4-BE49-F238E27FC236}">
                <a16:creationId xmlns:a16="http://schemas.microsoft.com/office/drawing/2014/main" id="{DA052A00-7D75-4248-98FF-7ED09D49159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§4.3.1 Arbeidsvraag en arbeidsproductiviteit</a:t>
            </a:r>
          </a:p>
        </p:txBody>
      </p:sp>
      <p:sp>
        <p:nvSpPr>
          <p:cNvPr id="2" name="">
            <a:extLst xmlns:a="http://schemas.openxmlformats.org/drawingml/2006/main">
              <a:ext uri="{FF2B5EF4-FFF2-40B4-BE49-F238E27FC236}">
                <a16:creationId xmlns:a16="http://schemas.microsoft.com/office/drawing/2014/main" id="{EF5893FD-8452-4BD9-BBF1-76B1B02ACBF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DF8677EC-A35A-4D8E-AEA9-546031CBC529}"/>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15">
            <a:extLst xmlns:a="http://schemas.openxmlformats.org/drawingml/2006/main">
              <a:ext uri="{FF2B5EF4-FFF2-40B4-BE49-F238E27FC236}">
                <a16:creationId xmlns:a16="http://schemas.microsoft.com/office/drawing/2014/main" id="{B73F05F2-6C13-445C-BCE6-24A481D3784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phase">
            <a:extLst xmlns:a="http://schemas.openxmlformats.org/drawingml/2006/main">
              <a:ext uri="{FF2B5EF4-FFF2-40B4-BE49-F238E27FC236}">
                <a16:creationId xmlns:a16="http://schemas.microsoft.com/office/drawing/2014/main" id="{0D1761CD-B997-407A-96F4-4D1C780039E0}"/>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6B929C24-2E03-400C-B974-4675AF21254F}"/>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8A402F1F-7D9F-46CA-B448-5A68C079FB0A}"/>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7E42C314-0EC3-45D1-B219-C374189A86AB}"/>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95E573D8-2981-47C4-803D-095C90DA590E}"/>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2BFFB334-06A1-4EBE-98B7-F2D891819380}"/>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716F0FA1-A7CE-499B-9FA0-A1441010ECB3}"/>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0AFB1BD2-3EDB-4A8C-9B24-121791F2A2FF}"/>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D3B865A6-D6AE-404A-BADC-7220FE98D794}"/>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B90064E8-7C2A-4AE2-8031-EBA768415E0C}"/>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D2AD26CE-F64A-432D-825E-24B5C90D34B0}"/>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51584164-B2CD-43BF-B7E3-8C9FEEE06A20}"/>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B6AA016A-07D1-49FC-8964-F9B1F6F49EF9}"/>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B36E732B-90B1-44F7-8869-B59E49B4676E}"/>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E91917A1-1F7A-45EC-A334-D2031CA42607}"/>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3680E27F-116B-410F-830F-9FDF00C05B4F}"/>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3E92DE72-5D21-455D-8E30-6730030AD75D}"/>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0EABE53D-B261-48ED-AB01-685044A11919}"/>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Arbeidsmarktrollen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productiviteit, uren en kosten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berekenen; bewegen of verschuiven.</a:t>
            </a:r>
          </a:p>
        </p:txBody>
      </p:sp>
      <p:sp>
        <p:nvSpPr>
          <p:cNvPr id="23" name="">
            <a:extLst xmlns:a="http://schemas.openxmlformats.org/drawingml/2006/main">
              <a:ext uri="{FF2B5EF4-FFF2-40B4-BE49-F238E27FC236}">
                <a16:creationId xmlns:a16="http://schemas.microsoft.com/office/drawing/2014/main" id="{09D94CA1-DA82-4B7A-B6C6-3B7D6E4537D1}"/>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1C0C74BF-0F13-48FB-9917-3AAE3A52ACE4}"/>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2A3100AC-A2DA-42A2-9009-3B6CF36EF05C}"/>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119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114</a:t>
            </a:r>
          </a:p>
        </p:txBody>
      </p:sp>
      <p:sp>
        <p:nvSpPr>
          <p:cNvPr id="26" name="">
            <a:extLst xmlns:a="http://schemas.openxmlformats.org/drawingml/2006/main">
              <a:ext uri="{FF2B5EF4-FFF2-40B4-BE49-F238E27FC236}">
                <a16:creationId xmlns:a16="http://schemas.microsoft.com/office/drawing/2014/main" id="{15138A53-AD42-4FB9-ABA8-B2F92C285FC8}"/>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30165E6-7E60-416C-A515-FE3807E6F5B2}"/>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D9E97065-7D26-4443-A73C-B72BA70066F3}"/>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§4.3.1 · Opgaven 3 t/m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3 en 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5 en 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957304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 · FrameWerk groeit">
            <a:extLst xmlns:a="http://schemas.openxmlformats.org/drawingml/2006/main">
              <a:ext uri="{FF2B5EF4-FFF2-40B4-BE49-F238E27FC236}">
                <a16:creationId xmlns:a16="http://schemas.microsoft.com/office/drawing/2014/main" id="{00D58889-6D97-4792-8686-119FEC7EBD7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FrameWerk groeit</a:t>
            </a:r>
          </a:p>
        </p:txBody>
      </p:sp>
      <p:sp>
        <p:nvSpPr>
          <p:cNvPr id="2" name="">
            <a:extLst xmlns:a="http://schemas.openxmlformats.org/drawingml/2006/main">
              <a:ext uri="{FF2B5EF4-FFF2-40B4-BE49-F238E27FC236}">
                <a16:creationId xmlns:a16="http://schemas.microsoft.com/office/drawing/2014/main" id="{A272C26C-D18D-4087-B456-86850F3650B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 Opgave 7 · Boekpagina 122">
            <a:extLst xmlns:a="http://schemas.openxmlformats.org/drawingml/2006/main">
              <a:ext uri="{FF2B5EF4-FFF2-40B4-BE49-F238E27FC236}">
                <a16:creationId xmlns:a16="http://schemas.microsoft.com/office/drawing/2014/main" id="{30FFA807-892A-41DE-A077-E5EB9DBB820A}"/>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 Opgave 7 · Boekpagina 122</a:t>
            </a:r>
          </a:p>
        </p:txBody>
      </p:sp>
      <p:sp>
        <p:nvSpPr>
          <p:cNvPr id="4" name="16">
            <a:extLst xmlns:a="http://schemas.openxmlformats.org/drawingml/2006/main">
              <a:ext uri="{FF2B5EF4-FFF2-40B4-BE49-F238E27FC236}">
                <a16:creationId xmlns:a16="http://schemas.microsoft.com/office/drawing/2014/main" id="{3C572423-A1FC-492A-B8D1-6AFC90528FB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FrameWerk produceert fietsframes voor export.&#10;De t">
            <a:extLst xmlns:a="http://schemas.openxmlformats.org/drawingml/2006/main">
              <a:ext uri="{FF2B5EF4-FFF2-40B4-BE49-F238E27FC236}">
                <a16:creationId xmlns:a16="http://schemas.microsoft.com/office/drawing/2014/main" id="{DA2F86A8-8D34-4C5B-84DC-CB27F257E3C1}"/>
              </a:ext>
            </a:extLst>
          </p:cNvPr>
          <p:cNvSpPr>
            <a:spLocks xmlns:a="http://schemas.openxmlformats.org/drawingml/2006/main" noGrp="1"/>
          </p:cNvSpPr>
          <p:nvPr/>
        </p:nvSpPr>
        <p:spPr>
          <a:xfrm xmlns:a="http://schemas.openxmlformats.org/drawingml/2006/main">
            <a:off x="571500" y="1819275"/>
            <a:ext cx="1409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FrameWerk produceert fietsframes voor export.</a:t>
            </a:r>
          </a:p>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De tabel beschrijft het volledige productieplan.</a:t>
            </a:r>
          </a:p>
        </p:txBody>
      </p:sp>
      <p:graphicFrame>
        <p:nvGraphicFramePr>
          <p:cNvPr id="13" name=""/>
          <p:cNvGraphicFramePr/>
          <p:nvPr/>
        </p:nvGraphicFramePr>
        <p:xfrm>
          <a:off xmlns:a="http://schemas.openxmlformats.org/drawingml/2006/main" x="571500" y="3305175"/>
          <a:ext xmlns:a="http://schemas.openxmlformats.org/drawingml/2006/main" cx="14097000" cy="3476625"/>
        </p:xfrm>
        <a:graphic xmlns:a="http://schemas.openxmlformats.org/drawingml/2006/main">
          <a:graphicData uri="http://schemas.openxmlformats.org/drawingml/2006/table">
            <a:tbl>
              <a:tblPr/>
              <a:tblGrid>
                <a:gridCol w="7048500"/>
                <a:gridCol w="3524250"/>
                <a:gridCol w="3524250"/>
              </a:tblGrid>
              <a:tr h="695325">
                <a:tc>
                  <a:txBody>
                    <a:bodyPr lIns="171450" tIns="95250" rIns="152400" bIns="95250"/>
                    <a:lstStyle/>
                    <a:p>
                      <a:r>
                        <a:rPr sz="2475"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Oude week</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Nieuwe week</a:t>
                      </a:r>
                    </a:p>
                  </a:txBody>
                  <a:tcPr marL="91440" marR="91440" marT="45720" marB="45720" anchor="ctr">
                    <a:solidFill>
                      <a:srgbClr val="183247"/>
                    </a:solidFill>
                  </a:tcPr>
                </a:tc>
              </a:tr>
              <a:tr h="695325">
                <a:tc>
                  <a:txBody>
                    <a:bodyPr lIns="171450" tIns="95250" rIns="152400" bIns="95250"/>
                    <a:lstStyle/>
                    <a:p>
                      <a:r>
                        <a:rPr sz="2475" b="0">
                          <a:solidFill>
                            <a:srgbClr val="183247"/>
                          </a:solidFill>
                          <a:latin typeface="Arial"/>
                          <a:ea typeface="Arial"/>
                          <a:cs typeface="Arial"/>
                        </a:rPr>
                        <a:t>Productie (frames)</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2.400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3.300</a:t>
                      </a:r>
                    </a:p>
                  </a:txBody>
                  <a:tcPr marL="91440" marR="91440" marT="45720" marB="45720" anchor="ctr">
                    <a:solidFill>
                      <a:srgbClr val="FFFFFF"/>
                    </a:solidFill>
                  </a:tcPr>
                </a:tc>
              </a:tr>
              <a:tr h="695325">
                <a:tc>
                  <a:txBody>
                    <a:bodyPr lIns="171450" tIns="95250" rIns="152400" bIns="95250"/>
                    <a:lstStyle/>
                    <a:p>
                      <a:r>
                        <a:rPr sz="2475" b="0">
                          <a:solidFill>
                            <a:srgbClr val="183247"/>
                          </a:solidFill>
                          <a:latin typeface="Arial"/>
                          <a:ea typeface="Arial"/>
                          <a:cs typeface="Arial"/>
                        </a:rPr>
                        <a:t>Arbeidsuren</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600</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te berekenen</a:t>
                      </a:r>
                    </a:p>
                  </a:txBody>
                  <a:tcPr marL="91440" marR="91440" marT="45720" marB="45720" anchor="ctr">
                    <a:solidFill>
                      <a:srgbClr val="EFF4F7"/>
                    </a:solidFill>
                  </a:tcPr>
                </a:tc>
              </a:tr>
              <a:tr h="695325">
                <a:tc>
                  <a:txBody>
                    <a:bodyPr lIns="171450" tIns="95250" rIns="152400" bIns="95250"/>
                    <a:lstStyle/>
                    <a:p>
                      <a:r>
                        <a:rPr sz="2475" b="0">
                          <a:solidFill>
                            <a:srgbClr val="183247"/>
                          </a:solidFill>
                          <a:latin typeface="Arial"/>
                          <a:ea typeface="Arial"/>
                          <a:cs typeface="Arial"/>
                        </a:rPr>
                        <a:t>Productiviteit (frames/uur)</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te berekenen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5,5</a:t>
                      </a:r>
                    </a:p>
                  </a:txBody>
                  <a:tcPr marL="91440" marR="91440" marT="45720" marB="45720" anchor="ctr">
                    <a:solidFill>
                      <a:srgbClr val="FFFFFF"/>
                    </a:solidFill>
                  </a:tcPr>
                </a:tc>
              </a:tr>
              <a:tr h="695325">
                <a:tc>
                  <a:txBody>
                    <a:bodyPr lIns="171450" tIns="95250" rIns="152400" bIns="95250"/>
                    <a:lstStyle/>
                    <a:p>
                      <a:r>
                        <a:rPr sz="2475" b="0">
                          <a:solidFill>
                            <a:srgbClr val="183247"/>
                          </a:solidFill>
                          <a:latin typeface="Arial"/>
                          <a:ea typeface="Arial"/>
                          <a:cs typeface="Arial"/>
                        </a:rPr>
                        <a:t>Volledige uurkosten</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€ 24</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€ 26,40</a:t>
                      </a:r>
                    </a:p>
                  </a:txBody>
                  <a:tcPr marL="91440" marR="91440" marT="45720" marB="45720" anchor="ctr">
                    <a:solidFill>
                      <a:srgbClr val="EFF4F7"/>
                    </a:solidFill>
                  </a:tcPr>
                </a:tc>
              </a:tr>
            </a:tbl>
          </a:graphicData>
        </a:graphic>
      </p:graphicFrame>
      <p:sp>
        <p:nvSpPr>
          <p:cNvPr id="7" name="Los van dit rekenplan beoordeel je bij d twee afzo">
            <a:extLst xmlns:a="http://schemas.openxmlformats.org/drawingml/2006/main">
              <a:ext uri="{FF2B5EF4-FFF2-40B4-BE49-F238E27FC236}">
                <a16:creationId xmlns:a16="http://schemas.microsoft.com/office/drawing/2014/main" id="{CEA54872-48D8-4121-B8EB-4068E8C998DE}"/>
              </a:ext>
            </a:extLst>
          </p:cNvPr>
          <p:cNvSpPr>
            <a:spLocks xmlns:a="http://schemas.openxmlformats.org/drawingml/2006/main" noGrp="1"/>
          </p:cNvSpPr>
          <p:nvPr/>
        </p:nvSpPr>
        <p:spPr>
          <a:xfrm xmlns:a="http://schemas.openxmlformats.org/drawingml/2006/main">
            <a:off x="571500" y="7096125"/>
            <a:ext cx="1409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Los van dit rekenplan beoordeel je bij d twee afzonderlijke veranderingen.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Er worden geen huidige wettelijke loonbedragen gebruikt.</a:t>
            </a:r>
          </a:p>
        </p:txBody>
      </p:sp>
    </p:spTree>
    <p:extLst>
      <p:ext uri="{BB962C8B-B14F-4D97-AF65-F5344CB8AC3E}">
        <p14:creationId xmlns:p14="http://schemas.microsoft.com/office/powerpoint/2010/main" val="6783818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 · Deelvragen a en b">
            <a:extLst xmlns:a="http://schemas.openxmlformats.org/drawingml/2006/main">
              <a:ext uri="{FF2B5EF4-FFF2-40B4-BE49-F238E27FC236}">
                <a16:creationId xmlns:a16="http://schemas.microsoft.com/office/drawing/2014/main" id="{7D0ECA4E-EB65-4E85-B27A-B43F3B4E984D}"/>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Deelvragen a en b</a:t>
            </a:r>
          </a:p>
        </p:txBody>
      </p:sp>
      <p:sp>
        <p:nvSpPr>
          <p:cNvPr id="2" name="">
            <a:extLst xmlns:a="http://schemas.openxmlformats.org/drawingml/2006/main">
              <a:ext uri="{FF2B5EF4-FFF2-40B4-BE49-F238E27FC236}">
                <a16:creationId xmlns:a16="http://schemas.microsoft.com/office/drawing/2014/main" id="{5EF07C18-CFA7-4214-9BAD-18CBAB87B84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 Opgave 7 · Boekpagina 122">
            <a:extLst xmlns:a="http://schemas.openxmlformats.org/drawingml/2006/main">
              <a:ext uri="{FF2B5EF4-FFF2-40B4-BE49-F238E27FC236}">
                <a16:creationId xmlns:a16="http://schemas.microsoft.com/office/drawing/2014/main" id="{2648C8FB-4301-4FF3-AA8F-07089586EC25}"/>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 Opgave 7 · Boekpagina 122</a:t>
            </a:r>
          </a:p>
        </p:txBody>
      </p:sp>
      <p:sp>
        <p:nvSpPr>
          <p:cNvPr id="4" name="17">
            <a:extLst xmlns:a="http://schemas.openxmlformats.org/drawingml/2006/main">
              <a:ext uri="{FF2B5EF4-FFF2-40B4-BE49-F238E27FC236}">
                <a16:creationId xmlns:a16="http://schemas.microsoft.com/office/drawing/2014/main" id="{BE32C6CA-C379-4262-B4F2-A9E179DF3B7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a. (3p) Bereken de oorspronkelijke arbeidsproducti">
            <a:extLst xmlns:a="http://schemas.openxmlformats.org/drawingml/2006/main">
              <a:ext uri="{FF2B5EF4-FFF2-40B4-BE49-F238E27FC236}">
                <a16:creationId xmlns:a16="http://schemas.microsoft.com/office/drawing/2014/main" id="{BD813644-57EE-459B-80B5-8967914D4A3E}"/>
              </a:ext>
            </a:extLst>
          </p:cNvPr>
          <p:cNvSpPr>
            <a:spLocks xmlns:a="http://schemas.openxmlformats.org/drawingml/2006/main" noGrp="1"/>
          </p:cNvSpPr>
          <p:nvPr/>
        </p:nvSpPr>
        <p:spPr>
          <a:xfrm xmlns:a="http://schemas.openxmlformats.org/drawingml/2006/main">
            <a:off x="571500" y="2228850"/>
            <a:ext cx="140970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a. (3p) Bereken de oorspronkelijke arbeidsproductiviteit</a:t>
            </a:r>
          </a:p>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en de benodigde arbeidsuren in de nieuwe week.</a:t>
            </a:r>
          </a:p>
        </p:txBody>
      </p:sp>
      <p:sp>
        <p:nvSpPr>
          <p:cNvPr id="6" name="">
            <a:extLst xmlns:a="http://schemas.openxmlformats.org/drawingml/2006/main">
              <a:ext uri="{FF2B5EF4-FFF2-40B4-BE49-F238E27FC236}">
                <a16:creationId xmlns:a16="http://schemas.microsoft.com/office/drawing/2014/main" id="{31F99B24-841F-4FD5-BB4D-5890D406EDF3}"/>
              </a:ext>
            </a:extLst>
          </p:cNvPr>
          <p:cNvSpPr>
            <a:spLocks xmlns:a="http://schemas.openxmlformats.org/drawingml/2006/main" noGrp="1"/>
          </p:cNvSpPr>
          <p:nvPr/>
        </p:nvSpPr>
        <p:spPr>
          <a:xfrm xmlns:a="http://schemas.openxmlformats.org/drawingml/2006/main">
            <a:off x="571500" y="4533900"/>
            <a:ext cx="14097000" cy="0"/>
          </a:xfrm>
          <a:prstGeom xmlns:a="http://schemas.openxmlformats.org/drawingml/2006/main" prst="line">
            <a:avLst/>
          </a:prstGeom>
          <a:ln xmlns:a="http://schemas.openxmlformats.org/drawingml/2006/main" w="19050">
            <a:solidFill>
              <a:srgbClr val="C6D2DB"/>
            </a:solidFill>
          </a:ln>
        </p:spPr>
      </p:sp>
      <p:sp>
        <p:nvSpPr>
          <p:cNvPr id="7" name="b. (2p) Bereken de loonkosten per frame in beide w">
            <a:extLst xmlns:a="http://schemas.openxmlformats.org/drawingml/2006/main">
              <a:ext uri="{FF2B5EF4-FFF2-40B4-BE49-F238E27FC236}">
                <a16:creationId xmlns:a16="http://schemas.microsoft.com/office/drawing/2014/main" id="{F75C69C8-1E3F-4C70-B244-F8C03B20171A}"/>
              </a:ext>
            </a:extLst>
          </p:cNvPr>
          <p:cNvSpPr>
            <a:spLocks xmlns:a="http://schemas.openxmlformats.org/drawingml/2006/main" noGrp="1"/>
          </p:cNvSpPr>
          <p:nvPr/>
        </p:nvSpPr>
        <p:spPr>
          <a:xfrm xmlns:a="http://schemas.openxmlformats.org/drawingml/2006/main">
            <a:off x="571500" y="5181600"/>
            <a:ext cx="14097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0">
                <a:solidFill>
                  <a:srgbClr val="183247"/>
                </a:solidFill>
                <a:latin typeface="Arial"/>
                <a:ea typeface="Arial"/>
                <a:cs typeface="Arial"/>
              </a:defRPr>
            </a:pPr>
            <a:r>
              <a:rPr sz="3300" b="0">
                <a:solidFill>
                  <a:srgbClr val="183247"/>
                </a:solidFill>
                <a:latin typeface="Arial"/>
                <a:ea typeface="Arial"/>
                <a:cs typeface="Arial"/>
              </a:rPr>
              <a:t>b. (2p) Bereken de loonkosten per frame in beide weken.</a:t>
            </a:r>
          </a:p>
        </p:txBody>
      </p:sp>
    </p:spTree>
    <p:extLst>
      <p:ext uri="{BB962C8B-B14F-4D97-AF65-F5344CB8AC3E}">
        <p14:creationId xmlns:p14="http://schemas.microsoft.com/office/powerpoint/2010/main" val="62208626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7 · Deelvragen c en d">
            <a:extLst xmlns:a="http://schemas.openxmlformats.org/drawingml/2006/main">
              <a:ext uri="{FF2B5EF4-FFF2-40B4-BE49-F238E27FC236}">
                <a16:creationId xmlns:a16="http://schemas.microsoft.com/office/drawing/2014/main" id="{EF01E5A3-4442-4783-B392-BCFD9F4459DC}"/>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 · Deelvragen c en d</a:t>
            </a:r>
          </a:p>
        </p:txBody>
      </p:sp>
      <p:sp>
        <p:nvSpPr>
          <p:cNvPr id="2" name="">
            <a:extLst xmlns:a="http://schemas.openxmlformats.org/drawingml/2006/main">
              <a:ext uri="{FF2B5EF4-FFF2-40B4-BE49-F238E27FC236}">
                <a16:creationId xmlns:a16="http://schemas.microsoft.com/office/drawing/2014/main" id="{A92FE30F-D6AC-4A9E-9DDC-F8C5A8632E9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 Opgave 7 · Boekpagina 122">
            <a:extLst xmlns:a="http://schemas.openxmlformats.org/drawingml/2006/main">
              <a:ext uri="{FF2B5EF4-FFF2-40B4-BE49-F238E27FC236}">
                <a16:creationId xmlns:a16="http://schemas.microsoft.com/office/drawing/2014/main" id="{9C806F02-6B4F-4455-B1D5-BC18D858CB8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 Opgave 7 · Boekpagina 122</a:t>
            </a:r>
          </a:p>
        </p:txBody>
      </p:sp>
      <p:sp>
        <p:nvSpPr>
          <p:cNvPr id="4" name="18">
            <a:extLst xmlns:a="http://schemas.openxmlformats.org/drawingml/2006/main">
              <a:ext uri="{FF2B5EF4-FFF2-40B4-BE49-F238E27FC236}">
                <a16:creationId xmlns:a16="http://schemas.microsoft.com/office/drawing/2014/main" id="{36BC4EAF-9457-442D-844D-BFBD2DFCB2D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c. (2p) De directeur zegt: “Een hogere productivit">
            <a:extLst xmlns:a="http://schemas.openxmlformats.org/drawingml/2006/main">
              <a:ext uri="{FF2B5EF4-FFF2-40B4-BE49-F238E27FC236}">
                <a16:creationId xmlns:a16="http://schemas.microsoft.com/office/drawing/2014/main" id="{5013EFBC-1BF4-484D-A481-0729E8D7B83A}"/>
              </a:ext>
            </a:extLst>
          </p:cNvPr>
          <p:cNvSpPr>
            <a:spLocks xmlns:a="http://schemas.openxmlformats.org/drawingml/2006/main" noGrp="1"/>
          </p:cNvSpPr>
          <p:nvPr/>
        </p:nvSpPr>
        <p:spPr>
          <a:xfrm xmlns:a="http://schemas.openxmlformats.org/drawingml/2006/main">
            <a:off x="571500" y="1809750"/>
            <a:ext cx="140970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c. (2p) De directeur zegt: “Een hogere productiviteit betekent altijd minder arbeidsuren.” Beoordeel dit met de tabel.</a:t>
            </a:r>
          </a:p>
        </p:txBody>
      </p:sp>
      <p:sp>
        <p:nvSpPr>
          <p:cNvPr id="6" name="">
            <a:extLst xmlns:a="http://schemas.openxmlformats.org/drawingml/2006/main">
              <a:ext uri="{FF2B5EF4-FFF2-40B4-BE49-F238E27FC236}">
                <a16:creationId xmlns:a16="http://schemas.microsoft.com/office/drawing/2014/main" id="{744752DE-E789-4EC6-808D-B4F3940E42FA}"/>
              </a:ext>
            </a:extLst>
          </p:cNvPr>
          <p:cNvSpPr>
            <a:spLocks xmlns:a="http://schemas.openxmlformats.org/drawingml/2006/main" noGrp="1"/>
          </p:cNvSpPr>
          <p:nvPr/>
        </p:nvSpPr>
        <p:spPr>
          <a:xfrm xmlns:a="http://schemas.openxmlformats.org/drawingml/2006/main">
            <a:off x="571500" y="3714750"/>
            <a:ext cx="14097000" cy="0"/>
          </a:xfrm>
          <a:prstGeom xmlns:a="http://schemas.openxmlformats.org/drawingml/2006/main" prst="line">
            <a:avLst/>
          </a:prstGeom>
          <a:ln xmlns:a="http://schemas.openxmlformats.org/drawingml/2006/main" w="19050">
            <a:solidFill>
              <a:srgbClr val="C6D2DB"/>
            </a:solidFill>
          </a:ln>
        </p:spPr>
      </p:sp>
      <p:sp>
        <p:nvSpPr>
          <p:cNvPr id="7" name="d. (3p) Benoem en verklaar de verandering van de a">
            <a:extLst xmlns:a="http://schemas.openxmlformats.org/drawingml/2006/main">
              <a:ext uri="{FF2B5EF4-FFF2-40B4-BE49-F238E27FC236}">
                <a16:creationId xmlns:a16="http://schemas.microsoft.com/office/drawing/2014/main" id="{9FD29F2A-0EFD-47EC-BCB1-29953FD33F1F}"/>
              </a:ext>
            </a:extLst>
          </p:cNvPr>
          <p:cNvSpPr>
            <a:spLocks xmlns:a="http://schemas.openxmlformats.org/drawingml/2006/main" noGrp="1"/>
          </p:cNvSpPr>
          <p:nvPr/>
        </p:nvSpPr>
        <p:spPr>
          <a:xfrm xmlns:a="http://schemas.openxmlformats.org/drawingml/2006/main">
            <a:off x="571500" y="4114800"/>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d. (3p) Benoem en verklaar de verandering van de arbeidsvraag bij:</a:t>
            </a:r>
          </a:p>
        </p:txBody>
      </p:sp>
      <p:sp>
        <p:nvSpPr>
          <p:cNvPr id="8" name="(1) alleen een hoger uurloon&#10;(2) alleen extra expo">
            <a:extLst xmlns:a="http://schemas.openxmlformats.org/drawingml/2006/main">
              <a:ext uri="{FF2B5EF4-FFF2-40B4-BE49-F238E27FC236}">
                <a16:creationId xmlns:a16="http://schemas.microsoft.com/office/drawing/2014/main" id="{5B381958-3B52-41CF-B3AB-2E3D04202015}"/>
              </a:ext>
            </a:extLst>
          </p:cNvPr>
          <p:cNvSpPr>
            <a:spLocks xmlns:a="http://schemas.openxmlformats.org/drawingml/2006/main" noGrp="1"/>
          </p:cNvSpPr>
          <p:nvPr/>
        </p:nvSpPr>
        <p:spPr>
          <a:xfrm xmlns:a="http://schemas.openxmlformats.org/drawingml/2006/main">
            <a:off x="971550" y="5419725"/>
            <a:ext cx="136969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(1) alleen een hoger uurloon</a:t>
            </a:r>
          </a:p>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(2) alleen extra exportorders bij gelijk loon en gelijke techniek.</a:t>
            </a:r>
          </a:p>
        </p:txBody>
      </p:sp>
      <p:sp>
        <p:nvSpPr>
          <p:cNvPr id="9" name="Inleveren: berekeningen met eenheden en twee afzon">
            <a:extLst xmlns:a="http://schemas.openxmlformats.org/drawingml/2006/main">
              <a:ext uri="{FF2B5EF4-FFF2-40B4-BE49-F238E27FC236}">
                <a16:creationId xmlns:a16="http://schemas.microsoft.com/office/drawing/2014/main" id="{75BB9766-73FF-4621-9F7E-5978B07AF3D8}"/>
              </a:ext>
            </a:extLst>
          </p:cNvPr>
          <p:cNvSpPr>
            <a:spLocks xmlns:a="http://schemas.openxmlformats.org/drawingml/2006/main" noGrp="1"/>
          </p:cNvSpPr>
          <p:nvPr/>
        </p:nvSpPr>
        <p:spPr>
          <a:xfrm xmlns:a="http://schemas.openxmlformats.org/drawingml/2006/main">
            <a:off x="571500" y="7343775"/>
            <a:ext cx="1409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658A"/>
                </a:solidFill>
                <a:latin typeface="Arial"/>
                <a:ea typeface="Arial"/>
                <a:cs typeface="Arial"/>
              </a:defRPr>
            </a:pPr>
            <a:r>
              <a:rPr sz="2325" b="1">
                <a:solidFill>
                  <a:srgbClr val="17658A"/>
                </a:solidFill>
                <a:latin typeface="Arial"/>
                <a:ea typeface="Arial"/>
                <a:cs typeface="Arial"/>
              </a:rPr>
              <a:t>Inleveren: berekeningen met eenheden en twee afzonderlijke verklaringen.</a:t>
            </a:r>
          </a:p>
        </p:txBody>
      </p:sp>
    </p:spTree>
    <p:extLst>
      <p:ext uri="{BB962C8B-B14F-4D97-AF65-F5344CB8AC3E}">
        <p14:creationId xmlns:p14="http://schemas.microsoft.com/office/powerpoint/2010/main" val="44843371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7a · Productiviteit en arbeidsuren">
            <a:extLst xmlns:a="http://schemas.openxmlformats.org/drawingml/2006/main">
              <a:ext uri="{FF2B5EF4-FFF2-40B4-BE49-F238E27FC236}">
                <a16:creationId xmlns:a16="http://schemas.microsoft.com/office/drawing/2014/main" id="{0FF70472-2FE6-4EEE-BD3F-5BB704E72E45}"/>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7a · Productiviteit en arbeidsuren</a:t>
            </a:r>
          </a:p>
        </p:txBody>
      </p:sp>
      <p:sp>
        <p:nvSpPr>
          <p:cNvPr id="2" name="">
            <a:extLst xmlns:a="http://schemas.openxmlformats.org/drawingml/2006/main">
              <a:ext uri="{FF2B5EF4-FFF2-40B4-BE49-F238E27FC236}">
                <a16:creationId xmlns:a16="http://schemas.microsoft.com/office/drawing/2014/main" id="{001B4F11-11F9-4AA2-AF33-623D47A1141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 Opgave 7 · Boekpagina 122">
            <a:extLst xmlns:a="http://schemas.openxmlformats.org/drawingml/2006/main">
              <a:ext uri="{FF2B5EF4-FFF2-40B4-BE49-F238E27FC236}">
                <a16:creationId xmlns:a16="http://schemas.microsoft.com/office/drawing/2014/main" id="{AB7EF48C-830D-488D-972E-8CD00A4C4D4B}"/>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 Opgave 7 · Boekpagina 122</a:t>
            </a:r>
          </a:p>
        </p:txBody>
      </p:sp>
      <p:sp>
        <p:nvSpPr>
          <p:cNvPr id="4" name="19">
            <a:extLst xmlns:a="http://schemas.openxmlformats.org/drawingml/2006/main">
              <a:ext uri="{FF2B5EF4-FFF2-40B4-BE49-F238E27FC236}">
                <a16:creationId xmlns:a16="http://schemas.microsoft.com/office/drawing/2014/main" id="{7EE077C7-80BF-46AC-B304-E97FAA28AE4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Arbeidsproductiviteit = productie / arbeidsuren">
            <a:extLst xmlns:a="http://schemas.openxmlformats.org/drawingml/2006/main">
              <a:ext uri="{FF2B5EF4-FFF2-40B4-BE49-F238E27FC236}">
                <a16:creationId xmlns:a16="http://schemas.microsoft.com/office/drawing/2014/main" id="{99DAB704-42F0-4518-932C-88B1A4184EAF}"/>
              </a:ext>
            </a:extLst>
          </p:cNvPr>
          <p:cNvSpPr>
            <a:spLocks xmlns:a="http://schemas.openxmlformats.org/drawingml/2006/main" noGrp="1"/>
          </p:cNvSpPr>
          <p:nvPr/>
        </p:nvSpPr>
        <p:spPr>
          <a:xfrm xmlns:a="http://schemas.openxmlformats.org/drawingml/2006/main">
            <a:off x="571500" y="185737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Arbeidsproductiviteit = productie / arbeidsuren</a:t>
            </a:r>
          </a:p>
        </p:txBody>
      </p:sp>
      <p:sp>
        <p:nvSpPr>
          <p:cNvPr id="6" name="Oud: 2.400 / 600 = 4 frames per arbeidsuur">
            <a:extLst xmlns:a="http://schemas.openxmlformats.org/drawingml/2006/main">
              <a:ext uri="{FF2B5EF4-FFF2-40B4-BE49-F238E27FC236}">
                <a16:creationId xmlns:a16="http://schemas.microsoft.com/office/drawing/2014/main" id="{7440A66F-3DB0-48AB-BC57-434C90D74ACB}"/>
              </a:ext>
            </a:extLst>
          </p:cNvPr>
          <p:cNvSpPr>
            <a:spLocks xmlns:a="http://schemas.openxmlformats.org/drawingml/2006/main" noGrp="1"/>
          </p:cNvSpPr>
          <p:nvPr/>
        </p:nvSpPr>
        <p:spPr>
          <a:xfrm xmlns:a="http://schemas.openxmlformats.org/drawingml/2006/main">
            <a:off x="571500" y="2838450"/>
            <a:ext cx="14097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7658A"/>
                </a:solidFill>
                <a:latin typeface="Arial"/>
                <a:ea typeface="Arial"/>
                <a:cs typeface="Arial"/>
              </a:defRPr>
            </a:pPr>
            <a:r>
              <a:rPr sz="3600" b="1">
                <a:solidFill>
                  <a:srgbClr val="17658A"/>
                </a:solidFill>
                <a:latin typeface="Arial"/>
                <a:ea typeface="Arial"/>
                <a:cs typeface="Arial"/>
              </a:rPr>
              <a:t>Oud: 2.400 / 600 = 4 frames per arbeidsuur</a:t>
            </a:r>
          </a:p>
        </p:txBody>
      </p:sp>
      <p:sp>
        <p:nvSpPr>
          <p:cNvPr id="7" name="">
            <a:extLst xmlns:a="http://schemas.openxmlformats.org/drawingml/2006/main">
              <a:ext uri="{FF2B5EF4-FFF2-40B4-BE49-F238E27FC236}">
                <a16:creationId xmlns:a16="http://schemas.microsoft.com/office/drawing/2014/main" id="{64B1D16E-C537-4B9D-816E-C77891FC3DB5}"/>
              </a:ext>
            </a:extLst>
          </p:cNvPr>
          <p:cNvSpPr>
            <a:spLocks xmlns:a="http://schemas.openxmlformats.org/drawingml/2006/main" noGrp="1"/>
          </p:cNvSpPr>
          <p:nvPr/>
        </p:nvSpPr>
        <p:spPr>
          <a:xfrm xmlns:a="http://schemas.openxmlformats.org/drawingml/2006/main">
            <a:off x="571500" y="3924300"/>
            <a:ext cx="14097000" cy="0"/>
          </a:xfrm>
          <a:prstGeom xmlns:a="http://schemas.openxmlformats.org/drawingml/2006/main" prst="line">
            <a:avLst/>
          </a:prstGeom>
          <a:ln xmlns:a="http://schemas.openxmlformats.org/drawingml/2006/main" w="19050">
            <a:solidFill>
              <a:srgbClr val="C6D2DB"/>
            </a:solidFill>
          </a:ln>
        </p:spPr>
      </p:sp>
      <p:sp>
        <p:nvSpPr>
          <p:cNvPr id="8" name="Arbeidsuren = productie / arbeidsproductiviteit">
            <a:extLst xmlns:a="http://schemas.openxmlformats.org/drawingml/2006/main">
              <a:ext uri="{FF2B5EF4-FFF2-40B4-BE49-F238E27FC236}">
                <a16:creationId xmlns:a16="http://schemas.microsoft.com/office/drawing/2014/main" id="{E9E2AFA2-96D3-4FAA-A18D-0415FCE44765}"/>
              </a:ext>
            </a:extLst>
          </p:cNvPr>
          <p:cNvSpPr>
            <a:spLocks xmlns:a="http://schemas.openxmlformats.org/drawingml/2006/main" noGrp="1"/>
          </p:cNvSpPr>
          <p:nvPr/>
        </p:nvSpPr>
        <p:spPr>
          <a:xfrm xmlns:a="http://schemas.openxmlformats.org/drawingml/2006/main">
            <a:off x="571500" y="43624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Arbeidsuren = productie / arbeidsproductiviteit</a:t>
            </a:r>
          </a:p>
        </p:txBody>
      </p:sp>
      <p:sp>
        <p:nvSpPr>
          <p:cNvPr id="9" name="Nieuw: 3.300 / 5,5 = 600 uur per week">
            <a:extLst xmlns:a="http://schemas.openxmlformats.org/drawingml/2006/main">
              <a:ext uri="{FF2B5EF4-FFF2-40B4-BE49-F238E27FC236}">
                <a16:creationId xmlns:a16="http://schemas.microsoft.com/office/drawing/2014/main" id="{8DB9DAB2-C705-4218-970A-A4410C985D45}"/>
              </a:ext>
            </a:extLst>
          </p:cNvPr>
          <p:cNvSpPr>
            <a:spLocks xmlns:a="http://schemas.openxmlformats.org/drawingml/2006/main" noGrp="1"/>
          </p:cNvSpPr>
          <p:nvPr/>
        </p:nvSpPr>
        <p:spPr>
          <a:xfrm xmlns:a="http://schemas.openxmlformats.org/drawingml/2006/main">
            <a:off x="571500" y="5334000"/>
            <a:ext cx="14097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665B"/>
                </a:solidFill>
                <a:latin typeface="Arial"/>
                <a:ea typeface="Arial"/>
                <a:cs typeface="Arial"/>
              </a:defRPr>
            </a:pPr>
            <a:r>
              <a:rPr sz="3600" b="1">
                <a:solidFill>
                  <a:srgbClr val="20665B"/>
                </a:solidFill>
                <a:latin typeface="Arial"/>
                <a:ea typeface="Arial"/>
                <a:cs typeface="Arial"/>
              </a:rPr>
              <a:t>Nieuw: 3.300 / 5,5 = 600 uur per week</a:t>
            </a:r>
          </a:p>
        </p:txBody>
      </p:sp>
      <p:sp>
        <p:nvSpPr>
          <p:cNvPr id="10" name="Controle: 600 × 5,5 = 3.300 frames per week">
            <a:extLst xmlns:a="http://schemas.openxmlformats.org/drawingml/2006/main">
              <a:ext uri="{FF2B5EF4-FFF2-40B4-BE49-F238E27FC236}">
                <a16:creationId xmlns:a16="http://schemas.microsoft.com/office/drawing/2014/main" id="{2E082580-5C66-478C-BA9A-12CB4F6B8F82}"/>
              </a:ext>
            </a:extLst>
          </p:cNvPr>
          <p:cNvSpPr>
            <a:spLocks xmlns:a="http://schemas.openxmlformats.org/drawingml/2006/main" noGrp="1"/>
          </p:cNvSpPr>
          <p:nvPr/>
        </p:nvSpPr>
        <p:spPr>
          <a:xfrm xmlns:a="http://schemas.openxmlformats.org/drawingml/2006/main">
            <a:off x="571500" y="7086600"/>
            <a:ext cx="1409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Controle: 600 × 5,5 = 3.300 frames per week</a:t>
            </a:r>
          </a:p>
        </p:txBody>
      </p:sp>
    </p:spTree>
    <p:extLst>
      <p:ext uri="{BB962C8B-B14F-4D97-AF65-F5344CB8AC3E}">
        <p14:creationId xmlns:p14="http://schemas.microsoft.com/office/powerpoint/2010/main" val="147279304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b · Loonkosten per frame">
            <a:extLst xmlns:a="http://schemas.openxmlformats.org/drawingml/2006/main">
              <a:ext uri="{FF2B5EF4-FFF2-40B4-BE49-F238E27FC236}">
                <a16:creationId xmlns:a16="http://schemas.microsoft.com/office/drawing/2014/main" id="{79718127-BBC6-40A5-BDBC-5A2EFC612B2E}"/>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7b · Loonkosten per frame</a:t>
            </a:r>
          </a:p>
        </p:txBody>
      </p:sp>
      <p:sp>
        <p:nvSpPr>
          <p:cNvPr id="2" name="">
            <a:extLst xmlns:a="http://schemas.openxmlformats.org/drawingml/2006/main">
              <a:ext uri="{FF2B5EF4-FFF2-40B4-BE49-F238E27FC236}">
                <a16:creationId xmlns:a16="http://schemas.microsoft.com/office/drawing/2014/main" id="{07944550-D427-411F-9359-02BC828A6F9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 Opgave 7 · Boekpagina 122">
            <a:extLst xmlns:a="http://schemas.openxmlformats.org/drawingml/2006/main">
              <a:ext uri="{FF2B5EF4-FFF2-40B4-BE49-F238E27FC236}">
                <a16:creationId xmlns:a16="http://schemas.microsoft.com/office/drawing/2014/main" id="{46AF9F91-63DB-413C-969A-BDE05D403ECF}"/>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 Opgave 7 · Boekpagina 122</a:t>
            </a:r>
          </a:p>
        </p:txBody>
      </p:sp>
      <p:sp>
        <p:nvSpPr>
          <p:cNvPr id="4" name="20">
            <a:extLst xmlns:a="http://schemas.openxmlformats.org/drawingml/2006/main">
              <a:ext uri="{FF2B5EF4-FFF2-40B4-BE49-F238E27FC236}">
                <a16:creationId xmlns:a16="http://schemas.microsoft.com/office/drawing/2014/main" id="{88AD7983-214D-4F11-B5E7-9CC1E9662B1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Loonkosten per product = uurkosten / productie per">
            <a:extLst xmlns:a="http://schemas.openxmlformats.org/drawingml/2006/main">
              <a:ext uri="{FF2B5EF4-FFF2-40B4-BE49-F238E27FC236}">
                <a16:creationId xmlns:a16="http://schemas.microsoft.com/office/drawing/2014/main" id="{24B7A916-0FB3-49D7-BE31-C61FA9545E6E}"/>
              </a:ext>
            </a:extLst>
          </p:cNvPr>
          <p:cNvSpPr>
            <a:spLocks xmlns:a="http://schemas.openxmlformats.org/drawingml/2006/main" noGrp="1"/>
          </p:cNvSpPr>
          <p:nvPr/>
        </p:nvSpPr>
        <p:spPr>
          <a:xfrm xmlns:a="http://schemas.openxmlformats.org/drawingml/2006/main">
            <a:off x="571500" y="1905000"/>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Loonkosten per product = uurkosten / productie per uur</a:t>
            </a:r>
          </a:p>
        </p:txBody>
      </p:sp>
      <p:graphicFrame>
        <p:nvGraphicFramePr>
          <p:cNvPr id="13" name=""/>
          <p:cNvGraphicFramePr/>
          <p:nvPr/>
        </p:nvGraphicFramePr>
        <p:xfrm>
          <a:off xmlns:a="http://schemas.openxmlformats.org/drawingml/2006/main" x="571500" y="3400425"/>
          <a:ext xmlns:a="http://schemas.openxmlformats.org/drawingml/2006/main" cx="14097000" cy="2714625"/>
        </p:xfrm>
        <a:graphic xmlns:a="http://schemas.openxmlformats.org/drawingml/2006/main">
          <a:graphicData uri="http://schemas.openxmlformats.org/drawingml/2006/table">
            <a:tbl>
              <a:tblPr/>
              <a:tblGrid>
                <a:gridCol w="3238500"/>
                <a:gridCol w="5715000"/>
                <a:gridCol w="5143500"/>
              </a:tblGrid>
              <a:tr h="904875">
                <a:tc>
                  <a:txBody>
                    <a:bodyPr lIns="171450" tIns="95250" rIns="152400" bIns="95250"/>
                    <a:lstStyle/>
                    <a:p>
                      <a:r>
                        <a:rPr sz="2850" b="1">
                          <a:solidFill>
                            <a:srgbClr val="FFFFFF"/>
                          </a:solidFill>
                          <a:latin typeface="Arial"/>
                          <a:ea typeface="Arial"/>
                          <a:cs typeface="Arial"/>
                        </a:rPr>
                        <a:t>Week</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Berekening</a:t>
                      </a:r>
                    </a:p>
                  </a:txBody>
                  <a:tcPr marL="91440" marR="91440" marT="45720" marB="45720" anchor="ctr">
                    <a:solidFill>
                      <a:srgbClr val="183247"/>
                    </a:solidFill>
                  </a:tcPr>
                </a:tc>
                <a:tc>
                  <a:txBody>
                    <a:bodyPr lIns="171450" tIns="95250" rIns="152400" bIns="95250"/>
                    <a:lstStyle/>
                    <a:p>
                      <a:r>
                        <a:rPr sz="2850" b="1">
                          <a:solidFill>
                            <a:srgbClr val="FFFFFF"/>
                          </a:solidFill>
                          <a:latin typeface="Arial"/>
                          <a:ea typeface="Arial"/>
                          <a:cs typeface="Arial"/>
                        </a:rPr>
                        <a:t>Loonkosten per frame</a:t>
                      </a:r>
                    </a:p>
                  </a:txBody>
                  <a:tcPr marL="91440" marR="91440" marT="45720" marB="45720" anchor="ctr">
                    <a:solidFill>
                      <a:srgbClr val="183247"/>
                    </a:solidFill>
                  </a:tcPr>
                </a:tc>
              </a:tr>
              <a:tr h="904875">
                <a:tc>
                  <a:txBody>
                    <a:bodyPr lIns="171450" tIns="95250" rIns="152400" bIns="95250"/>
                    <a:lstStyle/>
                    <a:p>
                      <a:r>
                        <a:rPr sz="2850" b="0">
                          <a:solidFill>
                            <a:srgbClr val="183247"/>
                          </a:solidFill>
                          <a:latin typeface="Arial"/>
                          <a:ea typeface="Arial"/>
                          <a:cs typeface="Arial"/>
                        </a:rPr>
                        <a:t>Oud</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€ 24 / 4</a:t>
                      </a:r>
                    </a:p>
                  </a:txBody>
                  <a:tcPr marL="91440" marR="91440" marT="45720" marB="45720" anchor="ctr">
                    <a:solidFill>
                      <a:srgbClr val="FFFFFF"/>
                    </a:solidFill>
                  </a:tcPr>
                </a:tc>
                <a:tc>
                  <a:txBody>
                    <a:bodyPr lIns="171450" tIns="95250" rIns="152400" bIns="95250"/>
                    <a:lstStyle/>
                    <a:p>
                      <a:r>
                        <a:rPr sz="2850" b="0">
                          <a:solidFill>
                            <a:srgbClr val="183247"/>
                          </a:solidFill>
                          <a:latin typeface="Arial"/>
                          <a:ea typeface="Arial"/>
                          <a:cs typeface="Arial"/>
                        </a:rPr>
                        <a:t>€ 6</a:t>
                      </a:r>
                    </a:p>
                  </a:txBody>
                  <a:tcPr marL="91440" marR="91440" marT="45720" marB="45720" anchor="ctr">
                    <a:solidFill>
                      <a:srgbClr val="FFFFFF"/>
                    </a:solidFill>
                  </a:tcPr>
                </a:tc>
              </a:tr>
              <a:tr h="904875">
                <a:tc>
                  <a:txBody>
                    <a:bodyPr lIns="171450" tIns="95250" rIns="152400" bIns="95250"/>
                    <a:lstStyle/>
                    <a:p>
                      <a:r>
                        <a:rPr sz="2850" b="0">
                          <a:solidFill>
                            <a:srgbClr val="183247"/>
                          </a:solidFill>
                          <a:latin typeface="Arial"/>
                          <a:ea typeface="Arial"/>
                          <a:cs typeface="Arial"/>
                        </a:rPr>
                        <a:t>Nieuw</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€ 26,40 / 5,5</a:t>
                      </a:r>
                    </a:p>
                  </a:txBody>
                  <a:tcPr marL="91440" marR="91440" marT="45720" marB="45720" anchor="ctr">
                    <a:solidFill>
                      <a:srgbClr val="EFF4F7"/>
                    </a:solidFill>
                  </a:tcPr>
                </a:tc>
                <a:tc>
                  <a:txBody>
                    <a:bodyPr lIns="171450" tIns="95250" rIns="152400" bIns="95250"/>
                    <a:lstStyle/>
                    <a:p>
                      <a:r>
                        <a:rPr sz="2850" b="0">
                          <a:solidFill>
                            <a:srgbClr val="183247"/>
                          </a:solidFill>
                          <a:latin typeface="Arial"/>
                          <a:ea typeface="Arial"/>
                          <a:cs typeface="Arial"/>
                        </a:rPr>
                        <a:t>€ 4,80</a:t>
                      </a:r>
                    </a:p>
                  </a:txBody>
                  <a:tcPr marL="91440" marR="91440" marT="45720" marB="45720" anchor="ctr">
                    <a:solidFill>
                      <a:srgbClr val="EFF4F7"/>
                    </a:solidFill>
                  </a:tcPr>
                </a:tc>
              </a:tr>
            </a:tbl>
          </a:graphicData>
        </a:graphic>
      </p:graphicFrame>
      <p:sp>
        <p:nvSpPr>
          <p:cNvPr id="7" name="Het hogere uurbedrag wordt over meer frames verdee">
            <a:extLst xmlns:a="http://schemas.openxmlformats.org/drawingml/2006/main">
              <a:ext uri="{FF2B5EF4-FFF2-40B4-BE49-F238E27FC236}">
                <a16:creationId xmlns:a16="http://schemas.microsoft.com/office/drawing/2014/main" id="{6C8F4361-901A-4A35-AF3A-10B6C946BA46}"/>
              </a:ext>
            </a:extLst>
          </p:cNvPr>
          <p:cNvSpPr>
            <a:spLocks xmlns:a="http://schemas.openxmlformats.org/drawingml/2006/main" noGrp="1"/>
          </p:cNvSpPr>
          <p:nvPr/>
        </p:nvSpPr>
        <p:spPr>
          <a:xfrm xmlns:a="http://schemas.openxmlformats.org/drawingml/2006/main">
            <a:off x="571500" y="6858000"/>
            <a:ext cx="14097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Het hogere uurbedrag wordt over meer frames verdeeld.</a:t>
            </a:r>
          </a:p>
        </p:txBody>
      </p:sp>
    </p:spTree>
    <p:extLst>
      <p:ext uri="{BB962C8B-B14F-4D97-AF65-F5344CB8AC3E}">
        <p14:creationId xmlns:p14="http://schemas.microsoft.com/office/powerpoint/2010/main" val="108916252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7c · De uitspraak van de directeur">
            <a:extLst xmlns:a="http://schemas.openxmlformats.org/drawingml/2006/main">
              <a:ext uri="{FF2B5EF4-FFF2-40B4-BE49-F238E27FC236}">
                <a16:creationId xmlns:a16="http://schemas.microsoft.com/office/drawing/2014/main" id="{A848B34F-D0CF-4047-A193-17E0B8FA5303}"/>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7c · De uitspraak van de directeur</a:t>
            </a:r>
          </a:p>
        </p:txBody>
      </p:sp>
      <p:sp>
        <p:nvSpPr>
          <p:cNvPr id="2" name="">
            <a:extLst xmlns:a="http://schemas.openxmlformats.org/drawingml/2006/main">
              <a:ext uri="{FF2B5EF4-FFF2-40B4-BE49-F238E27FC236}">
                <a16:creationId xmlns:a16="http://schemas.microsoft.com/office/drawing/2014/main" id="{659D376E-4DE4-40B5-BBBB-58903562DA6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 Opgave 7 · Boekpagina 122">
            <a:extLst xmlns:a="http://schemas.openxmlformats.org/drawingml/2006/main">
              <a:ext uri="{FF2B5EF4-FFF2-40B4-BE49-F238E27FC236}">
                <a16:creationId xmlns:a16="http://schemas.microsoft.com/office/drawing/2014/main" id="{350A05F0-5A7A-44CD-9A2F-315AAFD804FC}"/>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 Opgave 7 · Boekpagina 122</a:t>
            </a:r>
          </a:p>
        </p:txBody>
      </p:sp>
      <p:sp>
        <p:nvSpPr>
          <p:cNvPr id="4" name="21">
            <a:extLst xmlns:a="http://schemas.openxmlformats.org/drawingml/2006/main">
              <a:ext uri="{FF2B5EF4-FFF2-40B4-BE49-F238E27FC236}">
                <a16:creationId xmlns:a16="http://schemas.microsoft.com/office/drawing/2014/main" id="{3B0AD659-2D7C-4280-B07A-1623DFE3C27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2" name=""/>
          <p:cNvGraphicFramePr/>
          <p:nvPr/>
        </p:nvGraphicFramePr>
        <p:xfrm>
          <a:off xmlns:a="http://schemas.openxmlformats.org/drawingml/2006/main" x="571500" y="1990725"/>
          <a:ext xmlns:a="http://schemas.openxmlformats.org/drawingml/2006/main" cx="14097000" cy="3048000"/>
        </p:xfrm>
        <a:graphic xmlns:a="http://schemas.openxmlformats.org/drawingml/2006/main">
          <a:graphicData uri="http://schemas.openxmlformats.org/drawingml/2006/table">
            <a:tbl>
              <a:tblPr/>
              <a:tblGrid>
                <a:gridCol w="7048500"/>
                <a:gridCol w="3524250"/>
                <a:gridCol w="3524250"/>
              </a:tblGrid>
              <a:tr h="762000">
                <a:tc>
                  <a:txBody>
                    <a:bodyPr lIns="171450" tIns="95250" rIns="152400" bIns="95250"/>
                    <a:lstStyle/>
                    <a:p>
                      <a:r>
                        <a:rPr sz="2550" b="1">
                          <a:solidFill>
                            <a:srgbClr val="FFFFFF"/>
                          </a:solidFill>
                          <a:latin typeface="Arial"/>
                          <a:ea typeface="Arial"/>
                          <a:cs typeface="Arial"/>
                        </a:rPr>
                        <a:t>Grootheid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Oud</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Nieuw</a:t>
                      </a:r>
                    </a:p>
                  </a:txBody>
                  <a:tcPr marL="91440" marR="91440" marT="45720" marB="45720" anchor="ctr">
                    <a:solidFill>
                      <a:srgbClr val="183247"/>
                    </a:solidFill>
                  </a:tcPr>
                </a:tc>
              </a:tr>
              <a:tr h="762000">
                <a:tc>
                  <a:txBody>
                    <a:bodyPr lIns="171450" tIns="95250" rIns="152400" bIns="95250"/>
                    <a:lstStyle/>
                    <a:p>
                      <a:r>
                        <a:rPr sz="2550" b="0">
                          <a:solidFill>
                            <a:srgbClr val="183247"/>
                          </a:solidFill>
                          <a:latin typeface="Arial"/>
                          <a:ea typeface="Arial"/>
                          <a:cs typeface="Arial"/>
                        </a:rPr>
                        <a:t>Productie (frames per week)</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2.400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3.300</a:t>
                      </a:r>
                    </a:p>
                  </a:txBody>
                  <a:tcPr marL="91440" marR="91440" marT="45720" marB="45720" anchor="ctr">
                    <a:solidFill>
                      <a:srgbClr val="FFFFFF"/>
                    </a:solidFill>
                  </a:tcPr>
                </a:tc>
              </a:tr>
              <a:tr h="762000">
                <a:tc>
                  <a:txBody>
                    <a:bodyPr lIns="171450" tIns="95250" rIns="152400" bIns="95250"/>
                    <a:lstStyle/>
                    <a:p>
                      <a:r>
                        <a:rPr sz="2550" b="0">
                          <a:solidFill>
                            <a:srgbClr val="183247"/>
                          </a:solidFill>
                          <a:latin typeface="Arial"/>
                          <a:ea typeface="Arial"/>
                          <a:cs typeface="Arial"/>
                        </a:rPr>
                        <a:t>Productiviteit (frames per uur)</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4</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5,5</a:t>
                      </a:r>
                    </a:p>
                  </a:txBody>
                  <a:tcPr marL="91440" marR="91440" marT="45720" marB="45720" anchor="ctr">
                    <a:solidFill>
                      <a:srgbClr val="EFF4F7"/>
                    </a:solidFill>
                  </a:tcPr>
                </a:tc>
              </a:tr>
              <a:tr h="762000">
                <a:tc>
                  <a:txBody>
                    <a:bodyPr lIns="171450" tIns="95250" rIns="152400" bIns="95250"/>
                    <a:lstStyle/>
                    <a:p>
                      <a:r>
                        <a:rPr sz="2550" b="0">
                          <a:solidFill>
                            <a:srgbClr val="183247"/>
                          </a:solidFill>
                          <a:latin typeface="Arial"/>
                          <a:ea typeface="Arial"/>
                          <a:cs typeface="Arial"/>
                        </a:rPr>
                        <a:t>Arbeidsuren per week</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600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600</a:t>
                      </a:r>
                    </a:p>
                  </a:txBody>
                  <a:tcPr marL="91440" marR="91440" marT="45720" marB="45720" anchor="ctr">
                    <a:solidFill>
                      <a:srgbClr val="FFFFFF"/>
                    </a:solidFill>
                  </a:tcPr>
                </a:tc>
              </a:tr>
            </a:tbl>
          </a:graphicData>
        </a:graphic>
      </p:graphicFrame>
      <p:sp>
        <p:nvSpPr>
          <p:cNvPr id="6" name="De uitspraak is onjuist: de productiviteit stijgt,">
            <a:extLst xmlns:a="http://schemas.openxmlformats.org/drawingml/2006/main">
              <a:ext uri="{FF2B5EF4-FFF2-40B4-BE49-F238E27FC236}">
                <a16:creationId xmlns:a16="http://schemas.microsoft.com/office/drawing/2014/main" id="{BA1A7583-2CFE-4FEE-BE24-55C50B5BA7B4}"/>
              </a:ext>
            </a:extLst>
          </p:cNvPr>
          <p:cNvSpPr>
            <a:spLocks xmlns:a="http://schemas.openxmlformats.org/drawingml/2006/main" noGrp="1"/>
          </p:cNvSpPr>
          <p:nvPr/>
        </p:nvSpPr>
        <p:spPr>
          <a:xfrm xmlns:a="http://schemas.openxmlformats.org/drawingml/2006/main">
            <a:off x="571500" y="5543550"/>
            <a:ext cx="14097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De uitspraak is onjuist: de productiviteit stijgt,</a:t>
            </a:r>
          </a:p>
          <a:p xmlns:a="http://schemas.openxmlformats.org/drawingml/2006/main">
            <a:pPr algn="l">
              <a:defRPr sz="3225" b="1">
                <a:solidFill>
                  <a:srgbClr val="A94D16"/>
                </a:solidFill>
                <a:latin typeface="Arial"/>
                <a:ea typeface="Arial"/>
                <a:cs typeface="Arial"/>
              </a:defRPr>
            </a:pPr>
            <a:r>
              <a:rPr sz="3225" b="1">
                <a:solidFill>
                  <a:srgbClr val="A94D16"/>
                </a:solidFill>
                <a:latin typeface="Arial"/>
                <a:ea typeface="Arial"/>
                <a:cs typeface="Arial"/>
              </a:rPr>
              <a:t>maar het plan vraagt evenveel arbeidsuren.</a:t>
            </a:r>
          </a:p>
        </p:txBody>
      </p:sp>
      <p:sp>
        <p:nvSpPr>
          <p:cNvPr id="7" name="Productie en productiviteit stijgen allebei met 37">
            <a:extLst xmlns:a="http://schemas.openxmlformats.org/drawingml/2006/main">
              <a:ext uri="{FF2B5EF4-FFF2-40B4-BE49-F238E27FC236}">
                <a16:creationId xmlns:a16="http://schemas.microsoft.com/office/drawing/2014/main" id="{6F2F29BE-4ACC-4192-BC1F-B2FB26DF724C}"/>
              </a:ext>
            </a:extLst>
          </p:cNvPr>
          <p:cNvSpPr>
            <a:spLocks xmlns:a="http://schemas.openxmlformats.org/drawingml/2006/main" noGrp="1"/>
          </p:cNvSpPr>
          <p:nvPr/>
        </p:nvSpPr>
        <p:spPr>
          <a:xfrm xmlns:a="http://schemas.openxmlformats.org/drawingml/2006/main">
            <a:off x="571500" y="718185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Productie en productiviteit stijgen allebei met 37,5%.</a:t>
            </a:r>
          </a:p>
        </p:txBody>
      </p:sp>
    </p:spTree>
    <p:extLst>
      <p:ext uri="{BB962C8B-B14F-4D97-AF65-F5344CB8AC3E}">
        <p14:creationId xmlns:p14="http://schemas.microsoft.com/office/powerpoint/2010/main" val="93288249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7d(1) · Alleen een hoger uurloon">
            <a:extLst xmlns:a="http://schemas.openxmlformats.org/drawingml/2006/main">
              <a:ext uri="{FF2B5EF4-FFF2-40B4-BE49-F238E27FC236}">
                <a16:creationId xmlns:a16="http://schemas.microsoft.com/office/drawing/2014/main" id="{9B263C2C-9E98-4FC6-B707-75538409B861}"/>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7d(1) · Alleen een hoger uurloon</a:t>
            </a:r>
          </a:p>
        </p:txBody>
      </p:sp>
      <p:sp>
        <p:nvSpPr>
          <p:cNvPr id="2" name="">
            <a:extLst xmlns:a="http://schemas.openxmlformats.org/drawingml/2006/main">
              <a:ext uri="{FF2B5EF4-FFF2-40B4-BE49-F238E27FC236}">
                <a16:creationId xmlns:a16="http://schemas.microsoft.com/office/drawing/2014/main" id="{E52A40DB-2B4F-4405-89FE-DD761D2190D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 Opgave 7 · Boekpagina 122">
            <a:extLst xmlns:a="http://schemas.openxmlformats.org/drawingml/2006/main">
              <a:ext uri="{FF2B5EF4-FFF2-40B4-BE49-F238E27FC236}">
                <a16:creationId xmlns:a16="http://schemas.microsoft.com/office/drawing/2014/main" id="{232B00A5-1320-4221-9BB6-CBA2D0C55CF0}"/>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 Opgave 7 · Boekpagina 122</a:t>
            </a:r>
          </a:p>
        </p:txBody>
      </p:sp>
      <p:sp>
        <p:nvSpPr>
          <p:cNvPr id="4" name="22">
            <a:extLst xmlns:a="http://schemas.openxmlformats.org/drawingml/2006/main">
              <a:ext uri="{FF2B5EF4-FFF2-40B4-BE49-F238E27FC236}">
                <a16:creationId xmlns:a16="http://schemas.microsoft.com/office/drawing/2014/main" id="{2FD89694-C311-420E-A193-676E2EAA46E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Oorzaak">
            <a:extLst xmlns:a="http://schemas.openxmlformats.org/drawingml/2006/main">
              <a:ext uri="{FF2B5EF4-FFF2-40B4-BE49-F238E27FC236}">
                <a16:creationId xmlns:a16="http://schemas.microsoft.com/office/drawing/2014/main" id="{5CE96533-013F-41C0-BFAE-0C0D975A3054}"/>
              </a:ext>
            </a:extLst>
          </p:cNvPr>
          <p:cNvSpPr>
            <a:spLocks xmlns:a="http://schemas.openxmlformats.org/drawingml/2006/main" noGrp="1"/>
          </p:cNvSpPr>
          <p:nvPr/>
        </p:nvSpPr>
        <p:spPr>
          <a:xfrm xmlns:a="http://schemas.openxmlformats.org/drawingml/2006/main">
            <a:off x="571500" y="213360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Oorzaak</a:t>
            </a:r>
          </a:p>
        </p:txBody>
      </p:sp>
      <p:sp>
        <p:nvSpPr>
          <p:cNvPr id="6" name="Het uurloon stijgt; andere omstandigheden blijven ">
            <a:extLst xmlns:a="http://schemas.openxmlformats.org/drawingml/2006/main">
              <a:ext uri="{FF2B5EF4-FFF2-40B4-BE49-F238E27FC236}">
                <a16:creationId xmlns:a16="http://schemas.microsoft.com/office/drawing/2014/main" id="{BDFC3A05-5D0E-4AE7-B7FF-83E6559514A4}"/>
              </a:ext>
            </a:extLst>
          </p:cNvPr>
          <p:cNvSpPr>
            <a:spLocks xmlns:a="http://schemas.openxmlformats.org/drawingml/2006/main" noGrp="1"/>
          </p:cNvSpPr>
          <p:nvPr/>
        </p:nvSpPr>
        <p:spPr>
          <a:xfrm xmlns:a="http://schemas.openxmlformats.org/drawingml/2006/main">
            <a:off x="4619625" y="2133600"/>
            <a:ext cx="100488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Het uurloon stijgt; andere omstandigheden blijven gelijk.</a:t>
            </a:r>
          </a:p>
        </p:txBody>
      </p:sp>
      <p:sp>
        <p:nvSpPr>
          <p:cNvPr id="7" name="">
            <a:extLst xmlns:a="http://schemas.openxmlformats.org/drawingml/2006/main">
              <a:ext uri="{FF2B5EF4-FFF2-40B4-BE49-F238E27FC236}">
                <a16:creationId xmlns:a16="http://schemas.microsoft.com/office/drawing/2014/main" id="{D3CD9A41-C234-4C65-94F4-15D2450B84AA}"/>
              </a:ext>
            </a:extLst>
          </p:cNvPr>
          <p:cNvSpPr>
            <a:spLocks xmlns:a="http://schemas.openxmlformats.org/drawingml/2006/main" noGrp="1"/>
          </p:cNvSpPr>
          <p:nvPr/>
        </p:nvSpPr>
        <p:spPr>
          <a:xfrm xmlns:a="http://schemas.openxmlformats.org/drawingml/2006/main">
            <a:off x="571500" y="3524250"/>
            <a:ext cx="14097000" cy="0"/>
          </a:xfrm>
          <a:prstGeom xmlns:a="http://schemas.openxmlformats.org/drawingml/2006/main" prst="line">
            <a:avLst/>
          </a:prstGeom>
          <a:ln xmlns:a="http://schemas.openxmlformats.org/drawingml/2006/main" w="19050">
            <a:solidFill>
              <a:srgbClr val="C6D2DB"/>
            </a:solidFill>
          </a:ln>
        </p:spPr>
      </p:sp>
      <p:sp>
        <p:nvSpPr>
          <p:cNvPr id="8" name="Model">
            <a:extLst xmlns:a="http://schemas.openxmlformats.org/drawingml/2006/main">
              <a:ext uri="{FF2B5EF4-FFF2-40B4-BE49-F238E27FC236}">
                <a16:creationId xmlns:a16="http://schemas.microsoft.com/office/drawing/2014/main" id="{922D65A2-F9DD-4BF8-A9C6-8EF465D4EA66}"/>
              </a:ext>
            </a:extLst>
          </p:cNvPr>
          <p:cNvSpPr>
            <a:spLocks xmlns:a="http://schemas.openxmlformats.org/drawingml/2006/main" noGrp="1"/>
          </p:cNvSpPr>
          <p:nvPr/>
        </p:nvSpPr>
        <p:spPr>
          <a:xfrm xmlns:a="http://schemas.openxmlformats.org/drawingml/2006/main">
            <a:off x="571500" y="394335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Model</a:t>
            </a:r>
          </a:p>
        </p:txBody>
      </p:sp>
      <p:sp>
        <p:nvSpPr>
          <p:cNvPr id="9" name="Beweging langs dezelfde arbeidsvraaglijn.">
            <a:extLst xmlns:a="http://schemas.openxmlformats.org/drawingml/2006/main">
              <a:ext uri="{FF2B5EF4-FFF2-40B4-BE49-F238E27FC236}">
                <a16:creationId xmlns:a16="http://schemas.microsoft.com/office/drawing/2014/main" id="{EF1E6068-7FDC-4484-9AF0-73CA2159135F}"/>
              </a:ext>
            </a:extLst>
          </p:cNvPr>
          <p:cNvSpPr>
            <a:spLocks xmlns:a="http://schemas.openxmlformats.org/drawingml/2006/main" noGrp="1"/>
          </p:cNvSpPr>
          <p:nvPr/>
        </p:nvSpPr>
        <p:spPr>
          <a:xfrm xmlns:a="http://schemas.openxmlformats.org/drawingml/2006/main">
            <a:off x="4619625" y="3943350"/>
            <a:ext cx="10048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Beweging langs dezelfde arbeidsvraaglijn.</a:t>
            </a:r>
          </a:p>
        </p:txBody>
      </p:sp>
      <p:sp>
        <p:nvSpPr>
          <p:cNvPr id="10" name="">
            <a:extLst xmlns:a="http://schemas.openxmlformats.org/drawingml/2006/main">
              <a:ext uri="{FF2B5EF4-FFF2-40B4-BE49-F238E27FC236}">
                <a16:creationId xmlns:a16="http://schemas.microsoft.com/office/drawing/2014/main" id="{FFF5721B-4AA0-4260-9B0D-328485168782}"/>
              </a:ext>
            </a:extLst>
          </p:cNvPr>
          <p:cNvSpPr>
            <a:spLocks xmlns:a="http://schemas.openxmlformats.org/drawingml/2006/main" noGrp="1"/>
          </p:cNvSpPr>
          <p:nvPr/>
        </p:nvSpPr>
        <p:spPr>
          <a:xfrm xmlns:a="http://schemas.openxmlformats.org/drawingml/2006/main">
            <a:off x="571500" y="5286375"/>
            <a:ext cx="14097000" cy="0"/>
          </a:xfrm>
          <a:prstGeom xmlns:a="http://schemas.openxmlformats.org/drawingml/2006/main" prst="line">
            <a:avLst/>
          </a:prstGeom>
          <a:ln xmlns:a="http://schemas.openxmlformats.org/drawingml/2006/main" w="19050">
            <a:solidFill>
              <a:srgbClr val="C6D2DB"/>
            </a:solidFill>
          </a:ln>
        </p:spPr>
      </p:sp>
      <p:sp>
        <p:nvSpPr>
          <p:cNvPr id="11" name="Betekenis">
            <a:extLst xmlns:a="http://schemas.openxmlformats.org/drawingml/2006/main">
              <a:ext uri="{FF2B5EF4-FFF2-40B4-BE49-F238E27FC236}">
                <a16:creationId xmlns:a16="http://schemas.microsoft.com/office/drawing/2014/main" id="{3A3EDA03-A214-4C5A-81F2-16FC2145B307}"/>
              </a:ext>
            </a:extLst>
          </p:cNvPr>
          <p:cNvSpPr>
            <a:spLocks xmlns:a="http://schemas.openxmlformats.org/drawingml/2006/main" noGrp="1"/>
          </p:cNvSpPr>
          <p:nvPr/>
        </p:nvSpPr>
        <p:spPr>
          <a:xfrm xmlns:a="http://schemas.openxmlformats.org/drawingml/2006/main">
            <a:off x="571500" y="57435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Betekenis</a:t>
            </a:r>
          </a:p>
        </p:txBody>
      </p:sp>
      <p:sp>
        <p:nvSpPr>
          <p:cNvPr id="12" name="Arbeid wordt duurder. Werkgevers vragen minder arb">
            <a:extLst xmlns:a="http://schemas.openxmlformats.org/drawingml/2006/main">
              <a:ext uri="{FF2B5EF4-FFF2-40B4-BE49-F238E27FC236}">
                <a16:creationId xmlns:a16="http://schemas.microsoft.com/office/drawing/2014/main" id="{890D9003-3272-4912-A5FF-0164EDEC538F}"/>
              </a:ext>
            </a:extLst>
          </p:cNvPr>
          <p:cNvSpPr>
            <a:spLocks xmlns:a="http://schemas.openxmlformats.org/drawingml/2006/main" noGrp="1"/>
          </p:cNvSpPr>
          <p:nvPr/>
        </p:nvSpPr>
        <p:spPr>
          <a:xfrm xmlns:a="http://schemas.openxmlformats.org/drawingml/2006/main">
            <a:off x="4619625" y="5743575"/>
            <a:ext cx="10048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Arbeid wordt duurder. Werkgevers vragen minder arbeid.</a:t>
            </a:r>
          </a:p>
        </p:txBody>
      </p:sp>
    </p:spTree>
    <p:extLst>
      <p:ext uri="{BB962C8B-B14F-4D97-AF65-F5344CB8AC3E}">
        <p14:creationId xmlns:p14="http://schemas.microsoft.com/office/powerpoint/2010/main" val="127703333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7d(2) · Alleen extra exportorders">
            <a:extLst xmlns:a="http://schemas.openxmlformats.org/drawingml/2006/main">
              <a:ext uri="{FF2B5EF4-FFF2-40B4-BE49-F238E27FC236}">
                <a16:creationId xmlns:a16="http://schemas.microsoft.com/office/drawing/2014/main" id="{5FC0CCD6-FE00-4126-851E-1905FEDE718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Opgave 7d(2) · Alleen extra exportorders</a:t>
            </a:r>
          </a:p>
        </p:txBody>
      </p:sp>
      <p:sp>
        <p:nvSpPr>
          <p:cNvPr id="2" name="">
            <a:extLst xmlns:a="http://schemas.openxmlformats.org/drawingml/2006/main">
              <a:ext uri="{FF2B5EF4-FFF2-40B4-BE49-F238E27FC236}">
                <a16:creationId xmlns:a16="http://schemas.microsoft.com/office/drawing/2014/main" id="{48F88159-0091-4BB7-AA58-513F077F5E8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 Opgave 7 · Boekpagina 122">
            <a:extLst xmlns:a="http://schemas.openxmlformats.org/drawingml/2006/main">
              <a:ext uri="{FF2B5EF4-FFF2-40B4-BE49-F238E27FC236}">
                <a16:creationId xmlns:a16="http://schemas.microsoft.com/office/drawing/2014/main" id="{783070E3-0A39-49FD-A3CB-09F5E4A75802}"/>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 Opgave 7 · Boekpagina 122</a:t>
            </a:r>
          </a:p>
        </p:txBody>
      </p:sp>
      <p:sp>
        <p:nvSpPr>
          <p:cNvPr id="4" name="23">
            <a:extLst xmlns:a="http://schemas.openxmlformats.org/drawingml/2006/main">
              <a:ext uri="{FF2B5EF4-FFF2-40B4-BE49-F238E27FC236}">
                <a16:creationId xmlns:a16="http://schemas.microsoft.com/office/drawing/2014/main" id="{1EB79D98-832E-4E47-9438-066459F6108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Oorzaak">
            <a:extLst xmlns:a="http://schemas.openxmlformats.org/drawingml/2006/main">
              <a:ext uri="{FF2B5EF4-FFF2-40B4-BE49-F238E27FC236}">
                <a16:creationId xmlns:a16="http://schemas.microsoft.com/office/drawing/2014/main" id="{437CA8AA-8F02-4E3C-B304-1C5BF23E40DF}"/>
              </a:ext>
            </a:extLst>
          </p:cNvPr>
          <p:cNvSpPr>
            <a:spLocks xmlns:a="http://schemas.openxmlformats.org/drawingml/2006/main" noGrp="1"/>
          </p:cNvSpPr>
          <p:nvPr/>
        </p:nvSpPr>
        <p:spPr>
          <a:xfrm xmlns:a="http://schemas.openxmlformats.org/drawingml/2006/main">
            <a:off x="571500" y="213360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Oorzaak</a:t>
            </a:r>
          </a:p>
        </p:txBody>
      </p:sp>
      <p:sp>
        <p:nvSpPr>
          <p:cNvPr id="6" name="Meer exportorders; loon en techniek blijven gelijk">
            <a:extLst xmlns:a="http://schemas.openxmlformats.org/drawingml/2006/main">
              <a:ext uri="{FF2B5EF4-FFF2-40B4-BE49-F238E27FC236}">
                <a16:creationId xmlns:a16="http://schemas.microsoft.com/office/drawing/2014/main" id="{86B9F43F-3828-4B85-9413-06DBF19EC0BF}"/>
              </a:ext>
            </a:extLst>
          </p:cNvPr>
          <p:cNvSpPr>
            <a:spLocks xmlns:a="http://schemas.openxmlformats.org/drawingml/2006/main" noGrp="1"/>
          </p:cNvSpPr>
          <p:nvPr/>
        </p:nvSpPr>
        <p:spPr>
          <a:xfrm xmlns:a="http://schemas.openxmlformats.org/drawingml/2006/main">
            <a:off x="4619625" y="2133600"/>
            <a:ext cx="100488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Meer exportorders; loon en techniek blijven gelijk.</a:t>
            </a:r>
          </a:p>
        </p:txBody>
      </p:sp>
      <p:sp>
        <p:nvSpPr>
          <p:cNvPr id="7" name="">
            <a:extLst xmlns:a="http://schemas.openxmlformats.org/drawingml/2006/main">
              <a:ext uri="{FF2B5EF4-FFF2-40B4-BE49-F238E27FC236}">
                <a16:creationId xmlns:a16="http://schemas.microsoft.com/office/drawing/2014/main" id="{821B1B6E-3205-4BB5-A028-FDCACE2AFC29}"/>
              </a:ext>
            </a:extLst>
          </p:cNvPr>
          <p:cNvSpPr>
            <a:spLocks xmlns:a="http://schemas.openxmlformats.org/drawingml/2006/main" noGrp="1"/>
          </p:cNvSpPr>
          <p:nvPr/>
        </p:nvSpPr>
        <p:spPr>
          <a:xfrm xmlns:a="http://schemas.openxmlformats.org/drawingml/2006/main">
            <a:off x="571500" y="3524250"/>
            <a:ext cx="14097000" cy="0"/>
          </a:xfrm>
          <a:prstGeom xmlns:a="http://schemas.openxmlformats.org/drawingml/2006/main" prst="line">
            <a:avLst/>
          </a:prstGeom>
          <a:ln xmlns:a="http://schemas.openxmlformats.org/drawingml/2006/main" w="19050">
            <a:solidFill>
              <a:srgbClr val="C6D2DB"/>
            </a:solidFill>
          </a:ln>
        </p:spPr>
      </p:sp>
      <p:sp>
        <p:nvSpPr>
          <p:cNvPr id="8" name="Model">
            <a:extLst xmlns:a="http://schemas.openxmlformats.org/drawingml/2006/main">
              <a:ext uri="{FF2B5EF4-FFF2-40B4-BE49-F238E27FC236}">
                <a16:creationId xmlns:a16="http://schemas.microsoft.com/office/drawing/2014/main" id="{4DAA719D-891C-46FB-ADA4-ABA46547A325}"/>
              </a:ext>
            </a:extLst>
          </p:cNvPr>
          <p:cNvSpPr>
            <a:spLocks xmlns:a="http://schemas.openxmlformats.org/drawingml/2006/main" noGrp="1"/>
          </p:cNvSpPr>
          <p:nvPr/>
        </p:nvSpPr>
        <p:spPr>
          <a:xfrm xmlns:a="http://schemas.openxmlformats.org/drawingml/2006/main">
            <a:off x="571500" y="3943350"/>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Model</a:t>
            </a:r>
          </a:p>
        </p:txBody>
      </p:sp>
      <p:sp>
        <p:nvSpPr>
          <p:cNvPr id="9" name="De arbeidsvraaglijn verschuift naar rechts.">
            <a:extLst xmlns:a="http://schemas.openxmlformats.org/drawingml/2006/main">
              <a:ext uri="{FF2B5EF4-FFF2-40B4-BE49-F238E27FC236}">
                <a16:creationId xmlns:a16="http://schemas.microsoft.com/office/drawing/2014/main" id="{BF3933D1-5E22-4CCF-9DD2-9CD1883EAD5F}"/>
              </a:ext>
            </a:extLst>
          </p:cNvPr>
          <p:cNvSpPr>
            <a:spLocks xmlns:a="http://schemas.openxmlformats.org/drawingml/2006/main" noGrp="1"/>
          </p:cNvSpPr>
          <p:nvPr/>
        </p:nvSpPr>
        <p:spPr>
          <a:xfrm xmlns:a="http://schemas.openxmlformats.org/drawingml/2006/main">
            <a:off x="4619625" y="3943350"/>
            <a:ext cx="10048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De arbeidsvraaglijn verschuift naar rechts.</a:t>
            </a:r>
          </a:p>
        </p:txBody>
      </p:sp>
      <p:sp>
        <p:nvSpPr>
          <p:cNvPr id="10" name="">
            <a:extLst xmlns:a="http://schemas.openxmlformats.org/drawingml/2006/main">
              <a:ext uri="{FF2B5EF4-FFF2-40B4-BE49-F238E27FC236}">
                <a16:creationId xmlns:a16="http://schemas.microsoft.com/office/drawing/2014/main" id="{1B76390E-2C1A-49EC-ABC0-270B94371D3D}"/>
              </a:ext>
            </a:extLst>
          </p:cNvPr>
          <p:cNvSpPr>
            <a:spLocks xmlns:a="http://schemas.openxmlformats.org/drawingml/2006/main" noGrp="1"/>
          </p:cNvSpPr>
          <p:nvPr/>
        </p:nvSpPr>
        <p:spPr>
          <a:xfrm xmlns:a="http://schemas.openxmlformats.org/drawingml/2006/main">
            <a:off x="571500" y="5286375"/>
            <a:ext cx="14097000" cy="0"/>
          </a:xfrm>
          <a:prstGeom xmlns:a="http://schemas.openxmlformats.org/drawingml/2006/main" prst="line">
            <a:avLst/>
          </a:prstGeom>
          <a:ln xmlns:a="http://schemas.openxmlformats.org/drawingml/2006/main" w="19050">
            <a:solidFill>
              <a:srgbClr val="C6D2DB"/>
            </a:solidFill>
          </a:ln>
        </p:spPr>
      </p:sp>
      <p:sp>
        <p:nvSpPr>
          <p:cNvPr id="11" name="Betekenis">
            <a:extLst xmlns:a="http://schemas.openxmlformats.org/drawingml/2006/main">
              <a:ext uri="{FF2B5EF4-FFF2-40B4-BE49-F238E27FC236}">
                <a16:creationId xmlns:a16="http://schemas.microsoft.com/office/drawing/2014/main" id="{EF399946-E98D-45B2-8460-77A7F93BFA89}"/>
              </a:ext>
            </a:extLst>
          </p:cNvPr>
          <p:cNvSpPr>
            <a:spLocks xmlns:a="http://schemas.openxmlformats.org/drawingml/2006/main" noGrp="1"/>
          </p:cNvSpPr>
          <p:nvPr/>
        </p:nvSpPr>
        <p:spPr>
          <a:xfrm xmlns:a="http://schemas.openxmlformats.org/drawingml/2006/main">
            <a:off x="571500" y="574357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Betekenis</a:t>
            </a:r>
          </a:p>
        </p:txBody>
      </p:sp>
      <p:sp>
        <p:nvSpPr>
          <p:cNvPr id="12" name="Voor de extra productie is bij hetzelfde loon meer">
            <a:extLst xmlns:a="http://schemas.openxmlformats.org/drawingml/2006/main">
              <a:ext uri="{FF2B5EF4-FFF2-40B4-BE49-F238E27FC236}">
                <a16:creationId xmlns:a16="http://schemas.microsoft.com/office/drawing/2014/main" id="{B98C82B7-F74F-49C1-A8B7-EBEBDFA4531E}"/>
              </a:ext>
            </a:extLst>
          </p:cNvPr>
          <p:cNvSpPr>
            <a:spLocks xmlns:a="http://schemas.openxmlformats.org/drawingml/2006/main" noGrp="1"/>
          </p:cNvSpPr>
          <p:nvPr/>
        </p:nvSpPr>
        <p:spPr>
          <a:xfrm xmlns:a="http://schemas.openxmlformats.org/drawingml/2006/main">
            <a:off x="4619625" y="5743575"/>
            <a:ext cx="10048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83247"/>
                </a:solidFill>
                <a:latin typeface="Arial"/>
                <a:ea typeface="Arial"/>
                <a:cs typeface="Arial"/>
              </a:defRPr>
            </a:pPr>
            <a:r>
              <a:rPr sz="3000" b="0">
                <a:solidFill>
                  <a:srgbClr val="183247"/>
                </a:solidFill>
                <a:latin typeface="Arial"/>
                <a:ea typeface="Arial"/>
                <a:cs typeface="Arial"/>
              </a:rPr>
              <a:t>Voor de extra productie is bij hetzelfde loon meer arbeid nodig.</a:t>
            </a:r>
          </a:p>
        </p:txBody>
      </p:sp>
    </p:spTree>
    <p:extLst>
      <p:ext uri="{BB962C8B-B14F-4D97-AF65-F5344CB8AC3E}">
        <p14:creationId xmlns:p14="http://schemas.microsoft.com/office/powerpoint/2010/main" val="35799318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Antwoordcontrole bij opgave 7">
            <a:extLst xmlns:a="http://schemas.openxmlformats.org/drawingml/2006/main">
              <a:ext uri="{FF2B5EF4-FFF2-40B4-BE49-F238E27FC236}">
                <a16:creationId xmlns:a16="http://schemas.microsoft.com/office/drawing/2014/main" id="{19318F4D-8097-4841-B55B-2D2AC1D356BA}"/>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Antwoordcontrole bij opgave 7</a:t>
            </a:r>
          </a:p>
        </p:txBody>
      </p:sp>
      <p:sp>
        <p:nvSpPr>
          <p:cNvPr id="2" name="">
            <a:extLst xmlns:a="http://schemas.openxmlformats.org/drawingml/2006/main">
              <a:ext uri="{FF2B5EF4-FFF2-40B4-BE49-F238E27FC236}">
                <a16:creationId xmlns:a16="http://schemas.microsoft.com/office/drawing/2014/main" id="{2DD35AB5-DACA-4C3C-95DE-70B628265A4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 Opgave 7 · Boekpagina 122">
            <a:extLst xmlns:a="http://schemas.openxmlformats.org/drawingml/2006/main">
              <a:ext uri="{FF2B5EF4-FFF2-40B4-BE49-F238E27FC236}">
                <a16:creationId xmlns:a16="http://schemas.microsoft.com/office/drawing/2014/main" id="{3F6D9A7F-886C-4BD3-9BFA-2CAC6F633C64}"/>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 Opgave 7 · Boekpagina 122</a:t>
            </a:r>
          </a:p>
        </p:txBody>
      </p:sp>
      <p:sp>
        <p:nvSpPr>
          <p:cNvPr id="4" name="24">
            <a:extLst xmlns:a="http://schemas.openxmlformats.org/drawingml/2006/main">
              <a:ext uri="{FF2B5EF4-FFF2-40B4-BE49-F238E27FC236}">
                <a16:creationId xmlns:a16="http://schemas.microsoft.com/office/drawing/2014/main" id="{36FBF5C1-3A99-488C-8B72-3AFC7EC36EA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a">
            <a:extLst xmlns:a="http://schemas.openxmlformats.org/drawingml/2006/main">
              <a:ext uri="{FF2B5EF4-FFF2-40B4-BE49-F238E27FC236}">
                <a16:creationId xmlns:a16="http://schemas.microsoft.com/office/drawing/2014/main" id="{28ED2DBA-A1CD-401C-93D0-30A981DDC237}"/>
              </a:ext>
            </a:extLst>
          </p:cNvPr>
          <p:cNvSpPr>
            <a:spLocks xmlns:a="http://schemas.openxmlformats.org/drawingml/2006/main" noGrp="1"/>
          </p:cNvSpPr>
          <p:nvPr/>
        </p:nvSpPr>
        <p:spPr>
          <a:xfrm xmlns:a="http://schemas.openxmlformats.org/drawingml/2006/main">
            <a:off x="571500" y="200977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a</a:t>
            </a:r>
          </a:p>
        </p:txBody>
      </p:sp>
      <p:sp>
        <p:nvSpPr>
          <p:cNvPr id="6" name="4 frames per uur; 600 arbeidsuren per week.">
            <a:extLst xmlns:a="http://schemas.openxmlformats.org/drawingml/2006/main">
              <a:ext uri="{FF2B5EF4-FFF2-40B4-BE49-F238E27FC236}">
                <a16:creationId xmlns:a16="http://schemas.microsoft.com/office/drawing/2014/main" id="{01D5389C-42CC-4834-945D-01F2BFD0118A}"/>
              </a:ext>
            </a:extLst>
          </p:cNvPr>
          <p:cNvSpPr>
            <a:spLocks xmlns:a="http://schemas.openxmlformats.org/drawingml/2006/main" noGrp="1"/>
          </p:cNvSpPr>
          <p:nvPr/>
        </p:nvSpPr>
        <p:spPr>
          <a:xfrm xmlns:a="http://schemas.openxmlformats.org/drawingml/2006/main">
            <a:off x="1676400" y="2009775"/>
            <a:ext cx="12992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4 frames per uur; 600 arbeidsuren per week.</a:t>
            </a:r>
          </a:p>
        </p:txBody>
      </p:sp>
      <p:sp>
        <p:nvSpPr>
          <p:cNvPr id="7" name="b">
            <a:extLst xmlns:a="http://schemas.openxmlformats.org/drawingml/2006/main">
              <a:ext uri="{FF2B5EF4-FFF2-40B4-BE49-F238E27FC236}">
                <a16:creationId xmlns:a16="http://schemas.microsoft.com/office/drawing/2014/main" id="{CA689AFA-760A-4389-A8B2-88145E8AD729}"/>
              </a:ext>
            </a:extLst>
          </p:cNvPr>
          <p:cNvSpPr>
            <a:spLocks xmlns:a="http://schemas.openxmlformats.org/drawingml/2006/main" noGrp="1"/>
          </p:cNvSpPr>
          <p:nvPr/>
        </p:nvSpPr>
        <p:spPr>
          <a:xfrm xmlns:a="http://schemas.openxmlformats.org/drawingml/2006/main">
            <a:off x="571500" y="333375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b</a:t>
            </a:r>
          </a:p>
        </p:txBody>
      </p:sp>
      <p:sp>
        <p:nvSpPr>
          <p:cNvPr id="8" name="€ 6 en € 4,80 per frame, met berekening.">
            <a:extLst xmlns:a="http://schemas.openxmlformats.org/drawingml/2006/main">
              <a:ext uri="{FF2B5EF4-FFF2-40B4-BE49-F238E27FC236}">
                <a16:creationId xmlns:a16="http://schemas.microsoft.com/office/drawing/2014/main" id="{8111CEA4-9688-4198-B2CC-96DDCF96634A}"/>
              </a:ext>
            </a:extLst>
          </p:cNvPr>
          <p:cNvSpPr>
            <a:spLocks xmlns:a="http://schemas.openxmlformats.org/drawingml/2006/main" noGrp="1"/>
          </p:cNvSpPr>
          <p:nvPr/>
        </p:nvSpPr>
        <p:spPr>
          <a:xfrm xmlns:a="http://schemas.openxmlformats.org/drawingml/2006/main">
            <a:off x="1676400" y="3333750"/>
            <a:ext cx="12992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€ 6 en € 4,80 per frame, met berekening.</a:t>
            </a:r>
          </a:p>
        </p:txBody>
      </p:sp>
      <p:sp>
        <p:nvSpPr>
          <p:cNvPr id="9" name="c">
            <a:extLst xmlns:a="http://schemas.openxmlformats.org/drawingml/2006/main">
              <a:ext uri="{FF2B5EF4-FFF2-40B4-BE49-F238E27FC236}">
                <a16:creationId xmlns:a16="http://schemas.microsoft.com/office/drawing/2014/main" id="{624B2B42-9BC8-416A-8EB3-37CAB64F67B0}"/>
              </a:ext>
            </a:extLst>
          </p:cNvPr>
          <p:cNvSpPr>
            <a:spLocks xmlns:a="http://schemas.openxmlformats.org/drawingml/2006/main" noGrp="1"/>
          </p:cNvSpPr>
          <p:nvPr/>
        </p:nvSpPr>
        <p:spPr>
          <a:xfrm xmlns:a="http://schemas.openxmlformats.org/drawingml/2006/main">
            <a:off x="571500" y="4657725"/>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c</a:t>
            </a:r>
          </a:p>
        </p:txBody>
      </p:sp>
      <p:sp>
        <p:nvSpPr>
          <p:cNvPr id="10" name="Uitspraak beoordeeld met productie én productivite">
            <a:extLst xmlns:a="http://schemas.openxmlformats.org/drawingml/2006/main">
              <a:ext uri="{FF2B5EF4-FFF2-40B4-BE49-F238E27FC236}">
                <a16:creationId xmlns:a16="http://schemas.microsoft.com/office/drawing/2014/main" id="{63545359-3634-4F13-A6FF-2880DEE85584}"/>
              </a:ext>
            </a:extLst>
          </p:cNvPr>
          <p:cNvSpPr>
            <a:spLocks xmlns:a="http://schemas.openxmlformats.org/drawingml/2006/main" noGrp="1"/>
          </p:cNvSpPr>
          <p:nvPr/>
        </p:nvSpPr>
        <p:spPr>
          <a:xfrm xmlns:a="http://schemas.openxmlformats.org/drawingml/2006/main">
            <a:off x="1676400" y="4657725"/>
            <a:ext cx="12992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Uitspraak beoordeeld met productie én productiviteit.</a:t>
            </a:r>
          </a:p>
        </p:txBody>
      </p:sp>
      <p:sp>
        <p:nvSpPr>
          <p:cNvPr id="11" name="d">
            <a:extLst xmlns:a="http://schemas.openxmlformats.org/drawingml/2006/main">
              <a:ext uri="{FF2B5EF4-FFF2-40B4-BE49-F238E27FC236}">
                <a16:creationId xmlns:a16="http://schemas.microsoft.com/office/drawing/2014/main" id="{77E4EC26-1ECA-4786-B9D0-735FD53BFA5B}"/>
              </a:ext>
            </a:extLst>
          </p:cNvPr>
          <p:cNvSpPr>
            <a:spLocks xmlns:a="http://schemas.openxmlformats.org/drawingml/2006/main" noGrp="1"/>
          </p:cNvSpPr>
          <p:nvPr/>
        </p:nvSpPr>
        <p:spPr>
          <a:xfrm xmlns:a="http://schemas.openxmlformats.org/drawingml/2006/main">
            <a:off x="571500" y="5981700"/>
            <a:ext cx="76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658A"/>
                </a:solidFill>
                <a:latin typeface="Arial"/>
                <a:ea typeface="Arial"/>
                <a:cs typeface="Arial"/>
              </a:defRPr>
            </a:pPr>
            <a:r>
              <a:rPr sz="3300" b="1">
                <a:solidFill>
                  <a:srgbClr val="17658A"/>
                </a:solidFill>
                <a:latin typeface="Arial"/>
                <a:ea typeface="Arial"/>
                <a:cs typeface="Arial"/>
              </a:rPr>
              <a:t>d</a:t>
            </a:r>
          </a:p>
        </p:txBody>
      </p:sp>
      <p:sp>
        <p:nvSpPr>
          <p:cNvPr id="12" name="Twee oorzaken, twee afzonderlijke verklaringen.">
            <a:extLst xmlns:a="http://schemas.openxmlformats.org/drawingml/2006/main">
              <a:ext uri="{FF2B5EF4-FFF2-40B4-BE49-F238E27FC236}">
                <a16:creationId xmlns:a16="http://schemas.microsoft.com/office/drawing/2014/main" id="{776F3536-39FE-40B1-BBBA-DF9B9285FA24}"/>
              </a:ext>
            </a:extLst>
          </p:cNvPr>
          <p:cNvSpPr>
            <a:spLocks xmlns:a="http://schemas.openxmlformats.org/drawingml/2006/main" noGrp="1"/>
          </p:cNvSpPr>
          <p:nvPr/>
        </p:nvSpPr>
        <p:spPr>
          <a:xfrm xmlns:a="http://schemas.openxmlformats.org/drawingml/2006/main">
            <a:off x="1676400" y="5981700"/>
            <a:ext cx="12992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Twee oorzaken, twee afzonderlijke verklaringen.</a:t>
            </a:r>
          </a:p>
        </p:txBody>
      </p:sp>
      <p:sp>
        <p:nvSpPr>
          <p:cNvPr id="13" name="Verbeter een ontbrekende eenheid, rekenstap of ver">
            <a:extLst xmlns:a="http://schemas.openxmlformats.org/drawingml/2006/main">
              <a:ext uri="{FF2B5EF4-FFF2-40B4-BE49-F238E27FC236}">
                <a16:creationId xmlns:a16="http://schemas.microsoft.com/office/drawing/2014/main" id="{6568F90A-7DE5-42C4-9881-390BB9ABD8C4}"/>
              </a:ext>
            </a:extLst>
          </p:cNvPr>
          <p:cNvSpPr>
            <a:spLocks xmlns:a="http://schemas.openxmlformats.org/drawingml/2006/main" noGrp="1"/>
          </p:cNvSpPr>
          <p:nvPr/>
        </p:nvSpPr>
        <p:spPr>
          <a:xfrm xmlns:a="http://schemas.openxmlformats.org/drawingml/2006/main">
            <a:off x="571500" y="75152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Verbeter een ontbrekende eenheid, rekenstap of verklaring.</a:t>
            </a:r>
          </a:p>
        </p:txBody>
      </p:sp>
    </p:spTree>
    <p:extLst>
      <p:ext uri="{BB962C8B-B14F-4D97-AF65-F5344CB8AC3E}">
        <p14:creationId xmlns:p14="http://schemas.microsoft.com/office/powerpoint/2010/main" val="135582901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4.3.1 Arbeidsvraag en arbeidsproductivi">
            <a:extLst xmlns:a="http://schemas.openxmlformats.org/drawingml/2006/main">
              <a:ext uri="{FF2B5EF4-FFF2-40B4-BE49-F238E27FC236}">
                <a16:creationId xmlns:a16="http://schemas.microsoft.com/office/drawing/2014/main" id="{12F2C975-C267-4070-979A-C016F2EE0662}"/>
              </a:ext>
            </a:extLst>
          </p:cNvPr>
          <p:cNvSpPr>
            <a:spLocks xmlns:a="http://schemas.openxmlformats.org/drawingml/2006/main" noGrp="1"/>
          </p:cNvSpPr>
          <p:nvPr/>
        </p:nvSpPr>
        <p:spPr>
          <a:xfrm xmlns:a="http://schemas.openxmlformats.org/drawingml/2006/main">
            <a:off x="571500" y="400050"/>
            <a:ext cx="14097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§4.3.1 Arbeidsvraag en arbeidsproductiviteit</a:t>
            </a:r>
          </a:p>
        </p:txBody>
      </p:sp>
      <p:sp>
        <p:nvSpPr>
          <p:cNvPr id="2" name="">
            <a:extLst xmlns:a="http://schemas.openxmlformats.org/drawingml/2006/main">
              <a:ext uri="{FF2B5EF4-FFF2-40B4-BE49-F238E27FC236}">
                <a16:creationId xmlns:a16="http://schemas.microsoft.com/office/drawing/2014/main" id="{462FD6BB-A50C-4081-AC2D-BAC9A9F9264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4.3.1 Arbeidsvraag en arbeidsproductiviteit">
            <a:extLst xmlns:a="http://schemas.openxmlformats.org/drawingml/2006/main">
              <a:ext uri="{FF2B5EF4-FFF2-40B4-BE49-F238E27FC236}">
                <a16:creationId xmlns:a16="http://schemas.microsoft.com/office/drawing/2014/main" id="{2D6215F8-CA03-4B40-9ECF-DA1C0CC2BE2E}"/>
              </a:ext>
            </a:extLst>
          </p:cNvPr>
          <p:cNvSpPr>
            <a:spLocks xmlns:a="http://schemas.openxmlformats.org/drawingml/2006/main" noGrp="1"/>
          </p:cNvSpPr>
          <p:nvPr/>
        </p:nvSpPr>
        <p:spPr>
          <a:xfrm xmlns:a="http://schemas.openxmlformats.org/drawingml/2006/main">
            <a:off x="571500" y="8077200"/>
            <a:ext cx="1323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§4.3.1 Arbeidsvraag en arbeidsproductiviteit</a:t>
            </a:r>
          </a:p>
        </p:txBody>
      </p:sp>
      <p:sp>
        <p:nvSpPr>
          <p:cNvPr id="4" name="25">
            <a:extLst xmlns:a="http://schemas.openxmlformats.org/drawingml/2006/main">
              <a:ext uri="{FF2B5EF4-FFF2-40B4-BE49-F238E27FC236}">
                <a16:creationId xmlns:a16="http://schemas.microsoft.com/office/drawing/2014/main" id="{C7EF1DEC-B14E-4C1B-A3A6-AF94B242040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25</a:t>
            </a:r>
          </a:p>
        </p:txBody>
      </p:sp>
      <p:sp>
        <p:nvSpPr>
          <p:cNvPr id="5" name="phase">
            <a:extLst xmlns:a="http://schemas.openxmlformats.org/drawingml/2006/main">
              <a:ext uri="{FF2B5EF4-FFF2-40B4-BE49-F238E27FC236}">
                <a16:creationId xmlns:a16="http://schemas.microsoft.com/office/drawing/2014/main" id="{CF610C94-EDFB-41FB-8550-C5042EACDEF7}"/>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F70EB78F-4AB5-4ED9-8F0A-3B3D9BBA4A4E}"/>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D2A2129B-E192-4F13-95C6-9397125F6BC2}"/>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FDC16453-DC83-4BB6-B1EC-12F6DC06FD70}"/>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95A66EA9-1DF5-41A1-AE08-8396FFA2C121}"/>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F22361A2-7AE4-4C17-AA12-40699049883C}"/>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6140AD10-FDA7-43CE-8E49-A338C8D22123}"/>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E01624E5-C895-488B-86E3-6DEEFD0C0010}"/>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0158A4C6-40BB-419B-B4F9-24E66D166996}"/>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6DADE917-C48A-490E-9C12-28CAC1DC67D4}"/>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4F964616-D698-4560-AF1C-4FAB97D2BA2B}"/>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90CAB572-882A-4947-84DC-DE55A07778ED}"/>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5F825E54-6501-465F-BFA8-8DDE37902E3A}"/>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DB390568-C7F3-4A2B-8D14-9E1693FA27EC}"/>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7.</a:t>
            </a:r>
          </a:p>
        </p:txBody>
      </p:sp>
      <p:sp>
        <p:nvSpPr>
          <p:cNvPr id="19" name="route-number-7">
            <a:extLst xmlns:a="http://schemas.openxmlformats.org/drawingml/2006/main">
              <a:ext uri="{FF2B5EF4-FFF2-40B4-BE49-F238E27FC236}">
                <a16:creationId xmlns:a16="http://schemas.microsoft.com/office/drawing/2014/main" id="{81D3DD1D-A4DD-4CF7-9AFA-B8B47CC7318D}"/>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B8E00047-F6D6-45C9-8C7D-99ED29FB256A}"/>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9EC89F6D-6DDA-4D19-ABB2-A3A675D458A4}"/>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4D0AFBC6-9963-426A-B258-AFC6E818DB33}"/>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Arbeidsmarktrollen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productiviteit, uren en kosten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berekenen; bewegen of verschuiven.</a:t>
            </a:r>
          </a:p>
        </p:txBody>
      </p:sp>
      <p:sp>
        <p:nvSpPr>
          <p:cNvPr id="23" name="">
            <a:extLst xmlns:a="http://schemas.openxmlformats.org/drawingml/2006/main">
              <a:ext uri="{FF2B5EF4-FFF2-40B4-BE49-F238E27FC236}">
                <a16:creationId xmlns:a16="http://schemas.microsoft.com/office/drawing/2014/main" id="{B11C7ECB-6F89-4967-B271-10491BA04880}"/>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E1761DFD-A4CD-4BFD-AA85-56EC1A3040A0}"/>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BE441A4C-4C9A-44FC-B87A-CCA1E5822C3B}"/>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119 · Opgaven 1 en 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 verkennen, theorie p. 114</a:t>
            </a:r>
          </a:p>
        </p:txBody>
      </p:sp>
      <p:sp>
        <p:nvSpPr>
          <p:cNvPr id="26" name="">
            <a:extLst xmlns:a="http://schemas.openxmlformats.org/drawingml/2006/main">
              <a:ext uri="{FF2B5EF4-FFF2-40B4-BE49-F238E27FC236}">
                <a16:creationId xmlns:a16="http://schemas.microsoft.com/office/drawing/2014/main" id="{551B70ED-17C4-4978-97AD-39BD3B7D0C44}"/>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9541E386-181A-4FD4-B243-50C05FAC02E4}"/>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9FADCB59-74F1-4FFE-B3FA-E879FC83336C}"/>
              </a:ext>
            </a:extLst>
          </p:cNvPr>
          <p:cNvSpPr>
            <a:spLocks xmlns:a="http://schemas.openxmlformats.org/drawingml/2006/main" noGrp="1"/>
          </p:cNvSpPr>
          <p:nvPr/>
        </p:nvSpPr>
        <p:spPr>
          <a:xfrm xmlns:a="http://schemas.openxmlformats.org/drawingml/2006/main">
            <a:off x="9258300" y="6229350"/>
            <a:ext cx="538162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§4.3.1 · Opgaven 3 t/m 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3 en 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5 en 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3201266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2026-10-01T18:10:34.1170000Z</dcterms:created>
  <dcterms:modified xsi:type="dcterms:W3CDTF">2026-10-01T18:10:34.1170000Z</dcterms:modified>
</coreProperties>
</file>