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4.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5.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6.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7.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a38dbcea1b248ee" /><Relationship Type="http://schemas.openxmlformats.org/officeDocument/2006/relationships/extended-properties" Target="/docProps/app.xml" Id="R6f4a8fa1a60642a8" /><Relationship Type="http://schemas.openxmlformats.org/officeDocument/2006/relationships/officeDocument" Target="/ppt/presentation.xml" Id="R4ef7e3b1d81d4b1a" /></Relationships>
</file>

<file path=ppt/presentation.xml><?xml version="1.0" encoding="utf-8"?>
<p:presentation xmlns:p="http://schemas.openxmlformats.org/presentationml/2006/main">
  <p:sldMasterIdLst>
    <p:sldMasterId xmlns:r="http://schemas.openxmlformats.org/officeDocument/2006/relationships" id="2147483648" r:id="R0555fde4cca945fa"/>
  </p:sldMasterIdLst>
  <p:notesMasterIdLst>
    <p:notesMasterId xmlns:r="http://schemas.openxmlformats.org/officeDocument/2006/relationships" r:id="R5bce1057fa944b09"/>
  </p:notesMasterIdLst>
  <p:sldIdLst>
    <p:sldId xmlns:r="http://schemas.openxmlformats.org/officeDocument/2006/relationships" id="256" r:id="R8c2fd685193a45a5"/>
    <p:sldId xmlns:r="http://schemas.openxmlformats.org/officeDocument/2006/relationships" id="257" r:id="Ra8a0ac3d794e4c50"/>
    <p:sldId xmlns:r="http://schemas.openxmlformats.org/officeDocument/2006/relationships" id="258" r:id="Rd70ed989ae9d4922"/>
    <p:sldId xmlns:r="http://schemas.openxmlformats.org/officeDocument/2006/relationships" id="259" r:id="R7b4d546ed6a14357"/>
    <p:sldId xmlns:r="http://schemas.openxmlformats.org/officeDocument/2006/relationships" id="260" r:id="R79d47089e2dc4850"/>
    <p:sldId xmlns:r="http://schemas.openxmlformats.org/officeDocument/2006/relationships" id="261" r:id="R8b05b536a6164ec9"/>
    <p:sldId xmlns:r="http://schemas.openxmlformats.org/officeDocument/2006/relationships" id="262" r:id="Rf8423acd04104db1"/>
    <p:sldId xmlns:r="http://schemas.openxmlformats.org/officeDocument/2006/relationships" id="263" r:id="Rb7e687ff5ed449a7"/>
    <p:sldId xmlns:r="http://schemas.openxmlformats.org/officeDocument/2006/relationships" id="264" r:id="Rdddace9ffb4c4197"/>
    <p:sldId xmlns:r="http://schemas.openxmlformats.org/officeDocument/2006/relationships" id="265" r:id="Rb1f24fa4f32947d9"/>
    <p:sldId xmlns:r="http://schemas.openxmlformats.org/officeDocument/2006/relationships" id="266" r:id="Rad4ca66d718049a0"/>
    <p:sldId xmlns:r="http://schemas.openxmlformats.org/officeDocument/2006/relationships" id="267" r:id="R9311d4ccc72d4466"/>
    <p:sldId xmlns:r="http://schemas.openxmlformats.org/officeDocument/2006/relationships" id="268" r:id="R8adeb10b5e76439d"/>
    <p:sldId xmlns:r="http://schemas.openxmlformats.org/officeDocument/2006/relationships" id="269" r:id="R868546db1e0f4ce8"/>
    <p:sldId xmlns:r="http://schemas.openxmlformats.org/officeDocument/2006/relationships" id="270" r:id="Rf5cecccfcb2c40eb"/>
    <p:sldId xmlns:r="http://schemas.openxmlformats.org/officeDocument/2006/relationships" id="271" r:id="Rfb5f5659a76c446f"/>
    <p:sldId xmlns:r="http://schemas.openxmlformats.org/officeDocument/2006/relationships" id="272" r:id="R4dbbf84629794297"/>
    <p:sldId xmlns:r="http://schemas.openxmlformats.org/officeDocument/2006/relationships" id="273" r:id="Rf0fc092548294f05"/>
    <p:sldId xmlns:r="http://schemas.openxmlformats.org/officeDocument/2006/relationships" id="274" r:id="Rce4c96ce6e0141b2"/>
    <p:sldId xmlns:r="http://schemas.openxmlformats.org/officeDocument/2006/relationships" id="275" r:id="R48c07a00e1304789"/>
    <p:sldId xmlns:r="http://schemas.openxmlformats.org/officeDocument/2006/relationships" id="276" r:id="Rc293806aba3c41eb"/>
    <p:sldId xmlns:r="http://schemas.openxmlformats.org/officeDocument/2006/relationships" id="277" r:id="R3abe9762eb8b411f"/>
    <p:sldId xmlns:r="http://schemas.openxmlformats.org/officeDocument/2006/relationships" id="278" r:id="Rbe2d44814eb349d5"/>
    <p:sldId xmlns:r="http://schemas.openxmlformats.org/officeDocument/2006/relationships" id="279" r:id="Rf9e8d014a5b44b43"/>
    <p:sldId xmlns:r="http://schemas.openxmlformats.org/officeDocument/2006/relationships" id="280" r:id="R1093fb94d7514c00"/>
    <p:sldId xmlns:r="http://schemas.openxmlformats.org/officeDocument/2006/relationships" id="281" r:id="R48e3148163e84983"/>
    <p:sldId xmlns:r="http://schemas.openxmlformats.org/officeDocument/2006/relationships" id="282" r:id="R973ad6af538b4a2c"/>
    <p:sldId xmlns:r="http://schemas.openxmlformats.org/officeDocument/2006/relationships" id="283" r:id="Re68fa531640e4071"/>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673c11b5e224b27" /><Relationship Type="http://schemas.openxmlformats.org/officeDocument/2006/relationships/slideMaster" Target="/ppt/slideMasters/slideMaster1.xml" Id="R0555fde4cca945fa" /><Relationship Type="http://schemas.openxmlformats.org/officeDocument/2006/relationships/notesMaster" Target="/ppt/notesMasters/notesMaster1.xml" Id="R5bce1057fa944b09" /><Relationship Type="http://schemas.openxmlformats.org/officeDocument/2006/relationships/presProps" Target="/ppt/presProps.xml" Id="Rd0eb361768dc4eb5" /><Relationship Type="http://schemas.openxmlformats.org/officeDocument/2006/relationships/tableStyles" Target="/ppt/tableStyles.xml" Id="R33d90dfdeeb34a94" /><Relationship Type="http://schemas.openxmlformats.org/officeDocument/2006/relationships/slide" Target="/ppt/slides/slide1.xml" Id="R8c2fd685193a45a5" /><Relationship Type="http://schemas.openxmlformats.org/officeDocument/2006/relationships/slide" Target="/ppt/slides/slide2.xml" Id="Ra8a0ac3d794e4c50" /><Relationship Type="http://schemas.openxmlformats.org/officeDocument/2006/relationships/slide" Target="/ppt/slides/slide3.xml" Id="Rd70ed989ae9d4922" /><Relationship Type="http://schemas.openxmlformats.org/officeDocument/2006/relationships/slide" Target="/ppt/slides/slide4.xml" Id="R7b4d546ed6a14357" /><Relationship Type="http://schemas.openxmlformats.org/officeDocument/2006/relationships/slide" Target="/ppt/slides/slide5.xml" Id="R79d47089e2dc4850" /><Relationship Type="http://schemas.openxmlformats.org/officeDocument/2006/relationships/slide" Target="/ppt/slides/slide6.xml" Id="R8b05b536a6164ec9" /><Relationship Type="http://schemas.openxmlformats.org/officeDocument/2006/relationships/slide" Target="/ppt/slides/slide7.xml" Id="Rf8423acd04104db1" /><Relationship Type="http://schemas.openxmlformats.org/officeDocument/2006/relationships/slide" Target="/ppt/slides/slide8.xml" Id="Rb7e687ff5ed449a7" /><Relationship Type="http://schemas.openxmlformats.org/officeDocument/2006/relationships/slide" Target="/ppt/slides/slide9.xml" Id="Rdddace9ffb4c4197" /><Relationship Type="http://schemas.openxmlformats.org/officeDocument/2006/relationships/slide" Target="/ppt/slides/slide10.xml" Id="Rb1f24fa4f32947d9" /><Relationship Type="http://schemas.openxmlformats.org/officeDocument/2006/relationships/slide" Target="/ppt/slides/slide11.xml" Id="Rad4ca66d718049a0" /><Relationship Type="http://schemas.openxmlformats.org/officeDocument/2006/relationships/slide" Target="/ppt/slides/slide12.xml" Id="R9311d4ccc72d4466" /><Relationship Type="http://schemas.openxmlformats.org/officeDocument/2006/relationships/slide" Target="/ppt/slides/slide13.xml" Id="R8adeb10b5e76439d" /><Relationship Type="http://schemas.openxmlformats.org/officeDocument/2006/relationships/slide" Target="/ppt/slides/slide14.xml" Id="R868546db1e0f4ce8" /><Relationship Type="http://schemas.openxmlformats.org/officeDocument/2006/relationships/slide" Target="/ppt/slides/slide15.xml" Id="Rf5cecccfcb2c40eb" /><Relationship Type="http://schemas.openxmlformats.org/officeDocument/2006/relationships/slide" Target="/ppt/slides/slide16.xml" Id="Rfb5f5659a76c446f" /><Relationship Type="http://schemas.openxmlformats.org/officeDocument/2006/relationships/slide" Target="/ppt/slides/slide17.xml" Id="R4dbbf84629794297" /><Relationship Type="http://schemas.openxmlformats.org/officeDocument/2006/relationships/slide" Target="/ppt/slides/slide18.xml" Id="Rf0fc092548294f05" /><Relationship Type="http://schemas.openxmlformats.org/officeDocument/2006/relationships/slide" Target="/ppt/slides/slide19.xml" Id="Rce4c96ce6e0141b2" /><Relationship Type="http://schemas.openxmlformats.org/officeDocument/2006/relationships/slide" Target="/ppt/slides/slide20.xml" Id="R48c07a00e1304789" /><Relationship Type="http://schemas.openxmlformats.org/officeDocument/2006/relationships/slide" Target="/ppt/slides/slide21.xml" Id="Rc293806aba3c41eb" /><Relationship Type="http://schemas.openxmlformats.org/officeDocument/2006/relationships/slide" Target="/ppt/slides/slide22.xml" Id="R3abe9762eb8b411f" /><Relationship Type="http://schemas.openxmlformats.org/officeDocument/2006/relationships/slide" Target="/ppt/slides/slide23.xml" Id="Rbe2d44814eb349d5" /><Relationship Type="http://schemas.openxmlformats.org/officeDocument/2006/relationships/slide" Target="/ppt/slides/slide24.xml" Id="Rf9e8d014a5b44b43" /><Relationship Type="http://schemas.openxmlformats.org/officeDocument/2006/relationships/slide" Target="/ppt/slides/slide25.xml" Id="R1093fb94d7514c00" /><Relationship Type="http://schemas.openxmlformats.org/officeDocument/2006/relationships/slide" Target="/ppt/slides/slide26.xml" Id="R48e3148163e84983" /><Relationship Type="http://schemas.openxmlformats.org/officeDocument/2006/relationships/slide" Target="/ppt/slides/slide27.xml" Id="R973ad6af538b4a2c" /><Relationship Type="http://schemas.openxmlformats.org/officeDocument/2006/relationships/slide" Target="/ppt/slides/slide28.xml" Id="Re68fa531640e40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4dbeb6471b9478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23550f9011b4160" /><Relationship Type="http://schemas.openxmlformats.org/officeDocument/2006/relationships/notesMaster" Target="/ppt/notesMasters/notesMaster1.xml" Id="R5aab27b04b77496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e69ec0aac924556" /><Relationship Type="http://schemas.openxmlformats.org/officeDocument/2006/relationships/notesMaster" Target="/ppt/notesMasters/notesMaster1.xml" Id="R9eb8e5c2d62e4c10" /></Relationships>
</file>

<file path=ppt/notesSlides/_rels/notesSlide3.xml.rels>&#65279;<?xml version="1.0" encoding="utf-8"?><Relationships xmlns="http://schemas.openxmlformats.org/package/2006/relationships"><Relationship Type="http://schemas.openxmlformats.org/officeDocument/2006/relationships/slide" Target="/ppt/slides/slide3.xml" Id="R6252f4b73ffe4f18" /><Relationship Type="http://schemas.openxmlformats.org/officeDocument/2006/relationships/notesMaster" Target="/ppt/notesMasters/notesMaster1.xml" Id="Rfabf5a38ea954f29" /></Relationships>
</file>

<file path=ppt/notesSlides/_rels/notesSlide4.xml.rels>&#65279;<?xml version="1.0" encoding="utf-8"?><Relationships xmlns="http://schemas.openxmlformats.org/package/2006/relationships"><Relationship Type="http://schemas.openxmlformats.org/officeDocument/2006/relationships/slide" Target="/ppt/slides/slide4.xml" Id="R6c4edc2f0cdc4d09" /><Relationship Type="http://schemas.openxmlformats.org/officeDocument/2006/relationships/notesMaster" Target="/ppt/notesMasters/notesMaster1.xml" Id="Rfad9e31f76d24ad7" /></Relationships>
</file>

<file path=ppt/notesSlides/_rels/notesSlide5.xml.rels>&#65279;<?xml version="1.0" encoding="utf-8"?><Relationships xmlns="http://schemas.openxmlformats.org/package/2006/relationships"><Relationship Type="http://schemas.openxmlformats.org/officeDocument/2006/relationships/slide" Target="/ppt/slides/slide5.xml" Id="R1972c289729f48cf" /><Relationship Type="http://schemas.openxmlformats.org/officeDocument/2006/relationships/notesMaster" Target="/ppt/notesMasters/notesMaster1.xml" Id="R402b91063f044149" /></Relationships>
</file>

<file path=ppt/notesSlides/_rels/notesSlide6.xml.rels>&#65279;<?xml version="1.0" encoding="utf-8"?><Relationships xmlns="http://schemas.openxmlformats.org/package/2006/relationships"><Relationship Type="http://schemas.openxmlformats.org/officeDocument/2006/relationships/slide" Target="/ppt/slides/slide6.xml" Id="R78860116e1f34e7e" /><Relationship Type="http://schemas.openxmlformats.org/officeDocument/2006/relationships/notesMaster" Target="/ppt/notesMasters/notesMaster1.xml" Id="R6f767137fe884f58" /></Relationships>
</file>

<file path=ppt/notesSlides/_rels/notesSlide7.xml.rels>&#65279;<?xml version="1.0" encoding="utf-8"?><Relationships xmlns="http://schemas.openxmlformats.org/package/2006/relationships"><Relationship Type="http://schemas.openxmlformats.org/officeDocument/2006/relationships/slide" Target="/ppt/slides/slide7.xml" Id="R94580867f93e46fc" /><Relationship Type="http://schemas.openxmlformats.org/officeDocument/2006/relationships/notesMaster" Target="/ppt/notesMasters/notesMaster1.xml" Id="R21e8aaa2893543f2" /></Relationships>
</file>

<file path=ppt/notesSlides/_rels/notesSlide8.xml.rels>&#65279;<?xml version="1.0" encoding="utf-8"?><Relationships xmlns="http://schemas.openxmlformats.org/package/2006/relationships"><Relationship Type="http://schemas.openxmlformats.org/officeDocument/2006/relationships/slide" Target="/ppt/slides/slide8.xml" Id="Re398a1ae091740cd" /><Relationship Type="http://schemas.openxmlformats.org/officeDocument/2006/relationships/notesMaster" Target="/ppt/notesMasters/notesMaster1.xml" Id="Rdda63c73a30c4273" /></Relationships>
</file>

<file path=ppt/notesSlides/_rels/notesSlide9.xml.rels>&#65279;<?xml version="1.0" encoding="utf-8"?><Relationships xmlns="http://schemas.openxmlformats.org/package/2006/relationships"><Relationship Type="http://schemas.openxmlformats.org/officeDocument/2006/relationships/slide" Target="/ppt/slides/slide9.xml" Id="R04799edf44784cd8" /><Relationship Type="http://schemas.openxmlformats.org/officeDocument/2006/relationships/notesMaster" Target="/ppt/notesMasters/notesMaster1.xml" Id="R6d22d0e88ca6404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7c741c3a4864396" /><Relationship Type="http://schemas.openxmlformats.org/officeDocument/2006/relationships/notesMaster" Target="/ppt/notesMasters/notesMaster1.xml" Id="R6bdd2129e206446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8abefcf52764493" /><Relationship Type="http://schemas.openxmlformats.org/officeDocument/2006/relationships/notesMaster" Target="/ppt/notesMasters/notesMaster1.xml" Id="R3dbbead8b3d549e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5a3346cb2fb467d" /><Relationship Type="http://schemas.openxmlformats.org/officeDocument/2006/relationships/notesMaster" Target="/ppt/notesMasters/notesMaster1.xml" Id="Rd6da8e26e644448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39aa7bf3d1646ae" /><Relationship Type="http://schemas.openxmlformats.org/officeDocument/2006/relationships/notesMaster" Target="/ppt/notesMasters/notesMaster1.xml" Id="Ra3b1a961c6f84b4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a94eed8bc2c4227" /><Relationship Type="http://schemas.openxmlformats.org/officeDocument/2006/relationships/notesMaster" Target="/ppt/notesMasters/notesMaster1.xml" Id="Rb474ca0020504a3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43368df8b934eaa" /><Relationship Type="http://schemas.openxmlformats.org/officeDocument/2006/relationships/notesMaster" Target="/ppt/notesMasters/notesMaster1.xml" Id="R9cf01f59011b4dc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7c5be18a91946fb" /><Relationship Type="http://schemas.openxmlformats.org/officeDocument/2006/relationships/notesMaster" Target="/ppt/notesMasters/notesMaster1.xml" Id="R9fb06955db9346d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56cdf7e751742fa" /><Relationship Type="http://schemas.openxmlformats.org/officeDocument/2006/relationships/notesMaster" Target="/ppt/notesMasters/notesMaster1.xml" Id="R6f83b261a5d549e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fd12cfff8224902" /><Relationship Type="http://schemas.openxmlformats.org/officeDocument/2006/relationships/notesMaster" Target="/ppt/notesMasters/notesMaster1.xml" Id="Rdddf22e1282c4ea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97eb885338c4159" /><Relationship Type="http://schemas.openxmlformats.org/officeDocument/2006/relationships/notesMaster" Target="/ppt/notesMasters/notesMaster1.xml" Id="R6e2b4b9f332742f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c16725b8af44a98" /><Relationship Type="http://schemas.openxmlformats.org/officeDocument/2006/relationships/notesMaster" Target="/ppt/notesMasters/notesMaster1.xml" Id="R4892423fc99f421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49b668a65b64613" /><Relationship Type="http://schemas.openxmlformats.org/officeDocument/2006/relationships/notesMaster" Target="/ppt/notesMasters/notesMaster1.xml" Id="R03f62a7d37864e3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18d196dcbb24bf8" /><Relationship Type="http://schemas.openxmlformats.org/officeDocument/2006/relationships/notesMaster" Target="/ppt/notesMasters/notesMaster1.xml" Id="R1ad7fb3a096b410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96307eb35fb4f47" /><Relationship Type="http://schemas.openxmlformats.org/officeDocument/2006/relationships/notesMaster" Target="/ppt/notesMasters/notesMaster1.xml" Id="Ra033cc8baecb45e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dfb0e0f87f84de7" /><Relationship Type="http://schemas.openxmlformats.org/officeDocument/2006/relationships/notesMaster" Target="/ppt/notesMasters/notesMaster1.xml" Id="Rf3d431334ee343f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ed5b337550e4004" /><Relationship Type="http://schemas.openxmlformats.org/officeDocument/2006/relationships/notesMaster" Target="/ppt/notesMasters/notesMaster1.xml" Id="R4552c1c2630e4a3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2f452e9b17b4042" /><Relationship Type="http://schemas.openxmlformats.org/officeDocument/2006/relationships/notesMaster" Target="/ppt/notesMasters/notesMaster1.xml" Id="Rd44751e88c1a4c8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b872afbce634e1e" /><Relationship Type="http://schemas.openxmlformats.org/officeDocument/2006/relationships/notesMaster" Target="/ppt/notesMasters/notesMaster1.xml" Id="R63dfb6b8b86e4b2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50aaba8e56c4f12" /><Relationship Type="http://schemas.openxmlformats.org/officeDocument/2006/relationships/notesMaster" Target="/ppt/notesMasters/notesMaster1.xml" Id="R2a30a6dae4a5404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vraag vraagt om nieuwe uitleg?</a:t>
            </a:r>
          </a:p>
          <a:p xmlns:a="http://schemas.openxmlformats.org/drawingml/2006/main">
            <a:r>
              <a:rPr sz="1400"/>
              <a:t/>
            </a:r>
          </a:p>
          <a:p xmlns:a="http://schemas.openxmlformats.org/drawingml/2006/main">
            <a:r>
              <a:rPr sz="1400"/>
              <a:t>Uitleg: Laat dit overzicht staan tijdens Startopdracht. Start 19–20 staat op p. 137; basis 21 op p. 137 en 22 op p. 138; zelfstandig 23–24 op p. 138; doel 25 op p. 139. Huiswerk: 21,22,23,24,25 maken en nakijken. Bonus 26 en herhaling 27 zijn extra. Opgave 19 haalt beroepsbevolking en bruto-participatie uit §4.3.2 p. 124–125 op. Opgave 20 vraagt nieuwe leerstof: bij a de werkloosheidsnoemer op p. 132 en bij b frictiewerkloosheid op p. 133. Laat die uitleg lezen en twijfel noteren, zonder de oplossing vooraf te geven. Dit is ondersteunde verkenning, geen toets van beheerste voorkennis. Bij de tweede overview: laat 20 opnieuw beantwoorden en motiveren vóór 21. Bij twijfel herhaal dia 3 of 6. Startantwoorden voor de docent: 19 beroepsbevolking 2.800, bruto 70%; 20a nee, beroepsbevolking is de noemer; 20b frictiewerkloosheid. Docenteninformatie reserveert voorlopig twee lessen van 55 minuten; dat is geen gemeten tijdsfit. Verplaats de lesgrens zo nodig en behoud alle basisopgaven.</a:t>
            </a:r>
          </a:p>
          <a:p xmlns:a="http://schemas.openxmlformats.org/drawingml/2006/main">
            <a:r>
              <a:rPr sz="1400"/>
              <a:t/>
            </a:r>
          </a:p>
          <a:p xmlns:a="http://schemas.openxmlformats.org/drawingml/2006/main">
            <a:r>
              <a:rPr sz="1400"/>
              <a:t>Misvatting: De hoofdstukpaginanummers 20–28 zijn in het complete boek 132–140. Gebruik de gedrukte boekvoet.</a:t>
            </a:r>
          </a:p>
          <a:p xmlns:a="http://schemas.openxmlformats.org/drawingml/2006/main">
            <a:r>
              <a:rPr sz="1400"/>
              <a:t/>
            </a:r>
          </a:p>
          <a:p xmlns:a="http://schemas.openxmlformats.org/drawingml/2006/main">
            <a:r>
              <a:rPr sz="1400"/>
              <a:t>Overgang: Ga verder zodra de klas aan de volgende fase toe is.</a:t>
            </a:r>
          </a:p>
          <a:p xmlns:a="http://schemas.openxmlformats.org/drawingml/2006/main">
            <a:r>
              <a:rPr sz="1400"/>
              <a:t/>
            </a:r>
          </a:p>
          <a:p xmlns:a="http://schemas.openxmlformats.org/drawingml/2006/main">
            <a:r>
              <a:rPr sz="1400"/>
              <a:t>Bron: Boek 4, v3, book34-lesson-balance-v3-20260915, gedrukte complete-boekpagina 124–126, 132–139.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https://github.com/meijer1973/4veco-lessen/blob/e734532a42b27732ac25ce990fc9448b12309d28/edities/books34-v3/books/book-4/chapters/4.3/4.3.3%20manuscript.md</a:t>
            </a:r>
          </a:p>
          <a:p xmlns:a="http://schemas.openxmlformats.org/drawingml/2006/main">
            <a:r>
              <a:rPr sz="1400"/>
              <a:t>Antwoordmodel: https://github.com/meijer1973/4veco-lessen/blob/e734532a42b27732ac25ce990fc9448b12309d28/edities/books34-v3/books/book-4/chapters/4.3/Antwoorden.md#a433</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grootheid wil je berekenen als iemand vraagt hoeveel mensen werkloos zijn?</a:t>
            </a:r>
          </a:p>
          <a:p xmlns:a="http://schemas.openxmlformats.org/drawingml/2006/main">
            <a:r>
              <a:rPr sz="1400"/>
              <a:t/>
            </a:r>
          </a:p>
          <a:p xmlns:a="http://schemas.openxmlformats.org/drawingml/2006/main">
            <a:r>
              <a:rPr sz="1400"/>
              <a:t>Uitleg: Verbind de doelen met de drie delen van opgave 25. Oorzaak en modelaannamen horen bij het antwoord, naast de berekeningen.</a:t>
            </a:r>
          </a:p>
          <a:p xmlns:a="http://schemas.openxmlformats.org/drawingml/2006/main">
            <a:r>
              <a:rPr sz="1400"/>
              <a:t/>
            </a:r>
          </a:p>
          <a:p xmlns:a="http://schemas.openxmlformats.org/drawingml/2006/main">
            <a:r>
              <a:rPr sz="1400"/>
              <a:t>Misvatting: Minder werkgelegenheid is niet automatisch hetzelfde aantal extra werklozen.</a:t>
            </a:r>
          </a:p>
          <a:p xmlns:a="http://schemas.openxmlformats.org/drawingml/2006/main">
            <a:r>
              <a:rPr sz="1400"/>
              <a:t/>
            </a:r>
          </a:p>
          <a:p xmlns:a="http://schemas.openxmlformats.org/drawingml/2006/main">
            <a:r>
              <a:rPr sz="1400"/>
              <a:t>Overgang: Haal de groepen en de eerdere noemer op.</a:t>
            </a:r>
          </a:p>
          <a:p xmlns:a="http://schemas.openxmlformats.org/drawingml/2006/main">
            <a:r>
              <a:rPr sz="1400"/>
              <a:t/>
            </a:r>
          </a:p>
          <a:p xmlns:a="http://schemas.openxmlformats.org/drawingml/2006/main">
            <a:r>
              <a:rPr sz="1400"/>
              <a:t>Bron: Boek 4, v3, book34-lesson-balance-v3-20260915, gedrukte complete-boekpagina 132–136.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https://github.com/meijer1973/4veco-lessen/blob/e734532a42b27732ac25ce990fc9448b12309d28/edities/books34-v3/books/book-4/chapters/4.3/4.3.3%20manuscript.md</a:t>
            </a:r>
          </a:p>
          <a:p xmlns:a="http://schemas.openxmlformats.org/drawingml/2006/main">
            <a:r>
              <a:rPr sz="1400"/>
              <a:t>Antwoordmodel: https://github.com/meijer1973/4veco-lessen/blob/e734532a42b27732ac25ce990fc9448b12309d28/edities/books34-v3/books/book-4/chapters/4.3/Antwoorden.md#a433</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Bij welke groep hoort iemand die niet werkt en niet zoekt?</a:t>
            </a:r>
          </a:p>
          <a:p xmlns:a="http://schemas.openxmlformats.org/drawingml/2006/main">
            <a:r>
              <a:rPr sz="1400"/>
              <a:t/>
            </a:r>
          </a:p>
          <a:p xmlns:a="http://schemas.openxmlformats.org/drawingml/2006/main">
            <a:r>
              <a:rPr sz="1400"/>
              <a:t>Uitleg: Haal de definitie uit §4.3.2 op. De beroepsbevolking omvat beide groepen. Bij bruto-participatie is de bevolking de noemer. Voor werkloosheid kiezen we nu de beroepsbevolking. Benoem expliciet de verandering van noemer, zonder opgave 20 al uit te werken.</a:t>
            </a:r>
          </a:p>
          <a:p xmlns:a="http://schemas.openxmlformats.org/drawingml/2006/main">
            <a:r>
              <a:rPr sz="1400"/>
              <a:t/>
            </a:r>
          </a:p>
          <a:p xmlns:a="http://schemas.openxmlformats.org/drawingml/2006/main">
            <a:r>
              <a:rPr sz="1400"/>
              <a:t>Misvatting: Niet iedereen zonder baan is werkloos. Een gegeven beroepsbevolking bevat de werklozen al.</a:t>
            </a:r>
          </a:p>
          <a:p xmlns:a="http://schemas.openxmlformats.org/drawingml/2006/main">
            <a:r>
              <a:rPr sz="1400"/>
              <a:t/>
            </a:r>
          </a:p>
          <a:p xmlns:a="http://schemas.openxmlformats.org/drawingml/2006/main">
            <a:r>
              <a:rPr sz="1400"/>
              <a:t>Overgang: Pas dit toe op een nieuwe, fictieve regio.</a:t>
            </a:r>
          </a:p>
          <a:p xmlns:a="http://schemas.openxmlformats.org/drawingml/2006/main">
            <a:r>
              <a:rPr sz="1400"/>
              <a:t/>
            </a:r>
          </a:p>
          <a:p xmlns:a="http://schemas.openxmlformats.org/drawingml/2006/main">
            <a:r>
              <a:rPr sz="1400"/>
              <a:t>Bron: Boek 4, v3, book34-lesson-balance-v3-20260915, gedrukte complete-boekpagina 124–125, 132.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https://github.com/meijer1973/4veco-lessen/blob/e734532a42b27732ac25ce990fc9448b12309d28/edities/books34-v3/books/book-4/chapters/4.3/4.3.3%20manuscript.md</a:t>
            </a:r>
          </a:p>
          <a:p xmlns:a="http://schemas.openxmlformats.org/drawingml/2006/main">
            <a:r>
              <a:rPr sz="1400"/>
              <a:t>Antwoordmodel: https://github.com/meijer1973/4veco-lessen/blob/e734532a42b27732ac25ce990fc9448b12309d28/edities/books34-v3/books/book-4/chapters/4.3/Antwoorden.md#a433</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mensen vormen samen de noemer?</a:t>
            </a:r>
          </a:p>
          <a:p xmlns:a="http://schemas.openxmlformats.org/drawingml/2006/main">
            <a:r>
              <a:rPr sz="1400"/>
              <a:t/>
            </a:r>
          </a:p>
          <a:p xmlns:a="http://schemas.openxmlformats.org/drawingml/2006/main">
            <a:r>
              <a:rPr sz="1400"/>
              <a:t>Uitleg: Eigen fictieve regiotelling. Tel eerst de beroepsbevolking, deel vervolgens de 120 werklozen door 1.500 en vermenigvuldig met 100%. Elke werkende heeft precies één baan; één vacature staat hier voor één gezochte werknemer.</a:t>
            </a:r>
          </a:p>
          <a:p xmlns:a="http://schemas.openxmlformats.org/drawingml/2006/main">
            <a:r>
              <a:rPr sz="1400"/>
              <a:t/>
            </a:r>
          </a:p>
          <a:p xmlns:a="http://schemas.openxmlformats.org/drawingml/2006/main">
            <a:r>
              <a:rPr sz="1400"/>
              <a:t>Misvatting: De 75 vacatures zijn geen mensen die al een baan hebben gevonden.</a:t>
            </a:r>
          </a:p>
          <a:p xmlns:a="http://schemas.openxmlformats.org/drawingml/2006/main">
            <a:r>
              <a:rPr sz="1400"/>
              <a:t/>
            </a:r>
          </a:p>
          <a:p xmlns:a="http://schemas.openxmlformats.org/drawingml/2006/main">
            <a:r>
              <a:rPr sz="1400"/>
              <a:t>Overgang: Onderzoek waarom aanbod min vraag hier misleidt.</a:t>
            </a:r>
          </a:p>
          <a:p xmlns:a="http://schemas.openxmlformats.org/drawingml/2006/main">
            <a:r>
              <a:rPr sz="1400"/>
              <a:t/>
            </a:r>
          </a:p>
          <a:p xmlns:a="http://schemas.openxmlformats.org/drawingml/2006/main">
            <a:r>
              <a:rPr sz="1400"/>
              <a:t>Bron: Boek 4, v3, book34-lesson-balance-v3-20260915, gedrukte complete-boekpagina 132, 136.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https://github.com/meijer1973/4veco-lessen/blob/e734532a42b27732ac25ce990fc9448b12309d28/edities/books34-v3/books/book-4/chapters/4.3/4.3.3%20manuscript.md</a:t>
            </a:r>
          </a:p>
          <a:p xmlns:a="http://schemas.openxmlformats.org/drawingml/2006/main">
            <a:r>
              <a:rPr sz="1400"/>
              <a:t>Antwoordmodel: https://github.com/meijer1973/4veco-lessen/blob/e734532a42b27732ac25ce990fc9448b12309d28/edities/books34-v3/books/book-4/chapters/4.3/Antwoorden.md#a433</a:t>
            </a:r>
          </a:p>
          <a:p xmlns:a="http://schemas.openxmlformats.org/drawingml/2006/main">
            <a:r>
              <a:rPr sz="1400"/>
              <a:t>Uitlegvoorbeeld — niet uit het boek. Heuvelregio en de aparte fietsreparatiesector, inclusief alle aantallen en functies, zijn voor deze uitleg bedacht. Boekpagina’s onderbouwen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trekt de berekening van 45 ten onrechte van de werklozen af?</a:t>
            </a:r>
          </a:p>
          <a:p xmlns:a="http://schemas.openxmlformats.org/drawingml/2006/main">
            <a:r>
              <a:rPr sz="1400"/>
              <a:t/>
            </a:r>
          </a:p>
          <a:p xmlns:a="http://schemas.openxmlformats.org/drawingml/2006/main">
            <a:r>
              <a:rPr sz="1400"/>
              <a:t>Uitleg: In dit voorbeeld zijn personen en banen gekoppeld. Werkenden komen in beide totalen voor en vallen bij aftrekken weg. Je houdt werklozen min vacatures over. Een vacature kan andere vaardigheden, werktijden of een andere reisafstand vragen dan een werkzoekende kan bieden.</a:t>
            </a:r>
          </a:p>
          <a:p xmlns:a="http://schemas.openxmlformats.org/drawingml/2006/main">
            <a:r>
              <a:rPr sz="1400"/>
              <a:t/>
            </a:r>
          </a:p>
          <a:p xmlns:a="http://schemas.openxmlformats.org/drawingml/2006/main">
            <a:r>
              <a:rPr sz="1400"/>
              <a:t>Misvatting: Ook met veel vacatures kunnen mensen werkloos blijven. Zonder de een-op-eenafspraak mag je banen en personen niet zomaar aftrekken.</a:t>
            </a:r>
          </a:p>
          <a:p xmlns:a="http://schemas.openxmlformats.org/drawingml/2006/main">
            <a:r>
              <a:rPr sz="1400"/>
              <a:t/>
            </a:r>
          </a:p>
          <a:p xmlns:a="http://schemas.openxmlformats.org/drawingml/2006/main">
            <a:r>
              <a:rPr sz="1400"/>
              <a:t>Overgang: Verbind werkloosheid aan de oorzaak in de bron.</a:t>
            </a:r>
          </a:p>
          <a:p xmlns:a="http://schemas.openxmlformats.org/drawingml/2006/main">
            <a:r>
              <a:rPr sz="1400"/>
              <a:t/>
            </a:r>
          </a:p>
          <a:p xmlns:a="http://schemas.openxmlformats.org/drawingml/2006/main">
            <a:r>
              <a:rPr sz="1400"/>
              <a:t>Bron: Boek 4, v3, book34-lesson-balance-v3-20260915, gedrukte complete-boekpagina 132–133.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https://github.com/meijer1973/4veco-lessen/blob/e734532a42b27732ac25ce990fc9448b12309d28/edities/books34-v3/books/book-4/chapters/4.3/4.3.3%20manuscript.md</a:t>
            </a:r>
          </a:p>
          <a:p xmlns:a="http://schemas.openxmlformats.org/drawingml/2006/main">
            <a:r>
              <a:rPr sz="1400"/>
              <a:t>Antwoordmodel: https://github.com/meijer1973/4veco-lessen/blob/e734532a42b27732ac25ce990fc9448b12309d28/edities/books34-v3/books/book-4/chapters/4.3/Antwoorden.md#a433</a:t>
            </a:r>
          </a:p>
          <a:p xmlns:a="http://schemas.openxmlformats.org/drawingml/2006/main">
            <a:r>
              <a:rPr sz="1400"/>
              <a:t>Uitlegvoorbeeld — niet uit het boek. Heuvelregio en de aparte fietsreparatiesector, inclusief alle aantallen en functies, zijn voor deze uitleg bedacht. Boekpagina’s onderbouwen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broninformatie onderscheidt een bestedingsprobleem van een mismatch?</a:t>
            </a:r>
          </a:p>
          <a:p xmlns:a="http://schemas.openxmlformats.org/drawingml/2006/main">
            <a:r>
              <a:rPr sz="1400"/>
              <a:t/>
            </a:r>
          </a:p>
          <a:p xmlns:a="http://schemas.openxmlformats.org/drawingml/2006/main">
            <a:r>
              <a:rPr sz="1400"/>
              <a:t>Uitleg: De voorbeelden in de tabel zijn algemene mechanismen, geen uitwerkingen van de toegewezen opgaven. Structurele mismatch kan ook tussen regio’s bestaan. Frictie rekenen we in deze editie tot structurele werkloosheid. Lang werkloos zijn of weinig vacatures zien is op zichzelf onvoldoende om de oorzaak vast te stellen.</a:t>
            </a:r>
          </a:p>
          <a:p xmlns:a="http://schemas.openxmlformats.org/drawingml/2006/main">
            <a:r>
              <a:rPr sz="1400"/>
              <a:t/>
            </a:r>
          </a:p>
          <a:p xmlns:a="http://schemas.openxmlformats.org/drawingml/2006/main">
            <a:r>
              <a:rPr sz="1400"/>
              <a:t>Misvatting: Frictie betekent niet automatisch dat de vaardigheden niet passen. Ook een passende match kost zoektijd.</a:t>
            </a:r>
          </a:p>
          <a:p xmlns:a="http://schemas.openxmlformats.org/drawingml/2006/main">
            <a:r>
              <a:rPr sz="1400"/>
              <a:t/>
            </a:r>
          </a:p>
          <a:p xmlns:a="http://schemas.openxmlformats.org/drawingml/2006/main">
            <a:r>
              <a:rPr sz="1400"/>
              <a:t>Overgang: Gebruik een afzonderlijke sector om loonaanpassing te onderzoeken.</a:t>
            </a:r>
          </a:p>
          <a:p xmlns:a="http://schemas.openxmlformats.org/drawingml/2006/main">
            <a:r>
              <a:rPr sz="1400"/>
              <a:t/>
            </a:r>
          </a:p>
          <a:p xmlns:a="http://schemas.openxmlformats.org/drawingml/2006/main">
            <a:r>
              <a:rPr sz="1400"/>
              <a:t>Bron: Boek 4, v3, book34-lesson-balance-v3-20260915, gedrukte complete-boekpagina 133.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https://github.com/meijer1973/4veco-lessen/blob/e734532a42b27732ac25ce990fc9448b12309d28/edities/books34-v3/books/book-4/chapters/4.3/4.3.3%20manuscript.md</a:t>
            </a:r>
          </a:p>
          <a:p xmlns:a="http://schemas.openxmlformats.org/drawingml/2006/main">
            <a:r>
              <a:rPr sz="1400"/>
              <a:t>Antwoordmodel: https://github.com/meijer1973/4veco-lessen/blob/e734532a42b27732ac25ce990fc9448b12309d28/edities/books34-v3/books/book-4/chapters/4.3/Antwoorden.md#a433</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functie blijft gelijk?</a:t>
            </a:r>
          </a:p>
          <a:p xmlns:a="http://schemas.openxmlformats.org/drawingml/2006/main">
            <a:r>
              <a:rPr sz="1400"/>
              <a:t/>
            </a:r>
          </a:p>
          <a:p xmlns:a="http://schemas.openxmlformats.org/drawingml/2006/main">
            <a:r>
              <a:rPr sz="1400"/>
              <a:t>Uitleg: Dit is een eigen sectorvoorbeeld, los van de regiotelling op dia 4–5. Het loon is aanvankelijk flexibel. Vergelijkbare arbeid, geen mismatch, één persoon per baan. Minder bestedingen verlagen opdrachten en arbeidsvraag: conjuncturele oorzaak. We veranderen alleen de arbeidsvraagfunctie.</a:t>
            </a:r>
          </a:p>
          <a:p xmlns:a="http://schemas.openxmlformats.org/drawingml/2006/main">
            <a:r>
              <a:rPr sz="1400"/>
              <a:t/>
            </a:r>
          </a:p>
          <a:p xmlns:a="http://schemas.openxmlformats.org/drawingml/2006/main">
            <a:r>
              <a:rPr sz="1400"/>
              <a:t>Misvatting: De 1.500 personen uit Heuvelregio zijn geen hoeveelheid in deze aparte sectorfunctie.</a:t>
            </a:r>
          </a:p>
          <a:p xmlns:a="http://schemas.openxmlformats.org/drawingml/2006/main">
            <a:r>
              <a:rPr sz="1400"/>
              <a:t/>
            </a:r>
          </a:p>
          <a:p xmlns:a="http://schemas.openxmlformats.org/drawingml/2006/main">
            <a:r>
              <a:rPr sz="1400"/>
              <a:t>Overgang: Bereken eerst het oude evenwicht als uitgangspunt.</a:t>
            </a:r>
          </a:p>
          <a:p xmlns:a="http://schemas.openxmlformats.org/drawingml/2006/main">
            <a:r>
              <a:rPr sz="1400"/>
              <a:t/>
            </a:r>
          </a:p>
          <a:p xmlns:a="http://schemas.openxmlformats.org/drawingml/2006/main">
            <a:r>
              <a:rPr sz="1400"/>
              <a:t>Bron: Boek 4, v3, book34-lesson-balance-v3-20260915, gedrukte complete-boekpagina 134–136.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https://github.com/meijer1973/4veco-lessen/blob/e734532a42b27732ac25ce990fc9448b12309d28/edities/books34-v3/books/book-4/chapters/4.3/4.3.3%20manuscript.md</a:t>
            </a:r>
          </a:p>
          <a:p xmlns:a="http://schemas.openxmlformats.org/drawingml/2006/main">
            <a:r>
              <a:rPr sz="1400"/>
              <a:t>Antwoordmodel: https://github.com/meijer1973/4veco-lessen/blob/e734532a42b27732ac25ce990fc9448b12309d28/edities/books34-v3/books/book-4/chapters/4.3/Antwoorden.md#a433</a:t>
            </a:r>
          </a:p>
          <a:p xmlns:a="http://schemas.openxmlformats.org/drawingml/2006/main">
            <a:r>
              <a:rPr sz="1400"/>
              <a:t>Uitlegvoorbeeld — niet uit het boek. Heuvelregio en de aparte fietsreparatiesector, inclusief alle aantallen en functies, zijn voor deze uitleg bedacht. Boekpagina’s onderbouwen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schrijf je 100 horizontaal en 12 verticaal?</a:t>
            </a:r>
          </a:p>
          <a:p xmlns:a="http://schemas.openxmlformats.org/drawingml/2006/main">
            <a:r>
              <a:rPr sz="1400"/>
              <a:t/>
            </a:r>
          </a:p>
          <a:p xmlns:a="http://schemas.openxmlformats.org/drawingml/2006/main">
            <a:r>
              <a:rPr sz="1400"/>
              <a:t>Uitleg: Bekende methode uit §4.3.2: gelijkstellen, oplossen, invullen en controleren in de andere functie. Aanbodcontrole: −20 + 10 × 12 = 100. Het punt noteer je als (L;w) = (100;12), hoeveelheid eerst. De hulplijnen wijzen naar beide assen.</a:t>
            </a:r>
          </a:p>
          <a:p xmlns:a="http://schemas.openxmlformats.org/drawingml/2006/main">
            <a:r>
              <a:rPr sz="1400"/>
              <a:t/>
            </a:r>
          </a:p>
          <a:p xmlns:a="http://schemas.openxmlformats.org/drawingml/2006/main">
            <a:r>
              <a:rPr sz="1400"/>
              <a:t>Misvatting: De oude werkgelegenheid is 100 personen, niet 100 euro.</a:t>
            </a:r>
          </a:p>
          <a:p xmlns:a="http://schemas.openxmlformats.org/drawingml/2006/main">
            <a:r>
              <a:rPr sz="1400"/>
              <a:t/>
            </a:r>
          </a:p>
          <a:p xmlns:a="http://schemas.openxmlformats.org/drawingml/2006/main">
            <a:r>
              <a:rPr sz="1400"/>
              <a:t>Overgang: Voeg de nieuwe vraaglijn toe op exact dezelfde assen.</a:t>
            </a:r>
          </a:p>
          <a:p xmlns:a="http://schemas.openxmlformats.org/drawingml/2006/main">
            <a:r>
              <a:rPr sz="1400"/>
              <a:t/>
            </a:r>
          </a:p>
          <a:p xmlns:a="http://schemas.openxmlformats.org/drawingml/2006/main">
            <a:r>
              <a:rPr sz="1400"/>
              <a:t>Bron: Boek 4, v3, book34-lesson-balance-v3-20260915, gedrukte complete-boekpagina 126, 134.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https://github.com/meijer1973/4veco-lessen/blob/e734532a42b27732ac25ce990fc9448b12309d28/edities/books34-v3/books/book-4/chapters/4.3/4.3.3%20manuscript.md</a:t>
            </a:r>
          </a:p>
          <a:p xmlns:a="http://schemas.openxmlformats.org/drawingml/2006/main">
            <a:r>
              <a:rPr sz="1400"/>
              <a:t>Antwoordmodel: https://github.com/meijer1973/4veco-lessen/blob/e734532a42b27732ac25ce990fc9448b12309d28/edities/books34-v3/books/book-4/chapters/4.3/Antwoorden.md#a433</a:t>
            </a:r>
          </a:p>
          <a:p xmlns:a="http://schemas.openxmlformats.org/drawingml/2006/main">
            <a:r>
              <a:rPr sz="1400"/>
              <a:t>Uitlegvoorbeeld — niet uit het boek. Heuvelregio en de aparte fietsreparatiesector, inclusief alle aantallen en functies, zijn voor deze uitleg bedacht. Boekpagina’s onderbouwen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Is minder loon de oorzaak van de vraagverschuiving?</a:t>
            </a:r>
          </a:p>
          <a:p xmlns:a="http://schemas.openxmlformats.org/drawingml/2006/main">
            <a:r>
              <a:rPr sz="1400"/>
              <a:t/>
            </a:r>
          </a:p>
          <a:p xmlns:a="http://schemas.openxmlformats.org/drawingml/2006/main">
            <a:r>
              <a:rPr sz="1400"/>
              <a:t>Uitleg: De horizontale pijl vergelijkt bij hetzelfde loon van € 6: oud 160, nieuw 120 personen. Dat verschil van 40 geldt bij ieder gegeven loon. De hele vraaglijn verschuift naar links. Het loon daalt vervolgens als reactie op die verschuiving.</a:t>
            </a:r>
          </a:p>
          <a:p xmlns:a="http://schemas.openxmlformats.org/drawingml/2006/main">
            <a:r>
              <a:rPr sz="1400"/>
              <a:t/>
            </a:r>
          </a:p>
          <a:p xmlns:a="http://schemas.openxmlformats.org/drawingml/2006/main">
            <a:r>
              <a:rPr sz="1400"/>
              <a:t>Misvatting: De daling van het loon is een uitkomst, niet de reden voor de verschuiving.</a:t>
            </a:r>
          </a:p>
          <a:p xmlns:a="http://schemas.openxmlformats.org/drawingml/2006/main">
            <a:r>
              <a:rPr sz="1400"/>
              <a:t/>
            </a:r>
          </a:p>
          <a:p xmlns:a="http://schemas.openxmlformats.org/drawingml/2006/main">
            <a:r>
              <a:rPr sz="1400"/>
              <a:t>Overgang: Los het nieuwe evenwicht op.</a:t>
            </a:r>
          </a:p>
          <a:p xmlns:a="http://schemas.openxmlformats.org/drawingml/2006/main">
            <a:r>
              <a:rPr sz="1400"/>
              <a:t/>
            </a:r>
          </a:p>
          <a:p xmlns:a="http://schemas.openxmlformats.org/drawingml/2006/main">
            <a:r>
              <a:rPr sz="1400"/>
              <a:t>Bron: Boek 4, v3, book34-lesson-balance-v3-20260915, gedrukte complete-boekpagina 133–134.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https://github.com/meijer1973/4veco-lessen/blob/e734532a42b27732ac25ce990fc9448b12309d28/edities/books34-v3/books/book-4/chapters/4.3/4.3.3%20manuscript.md</a:t>
            </a:r>
          </a:p>
          <a:p xmlns:a="http://schemas.openxmlformats.org/drawingml/2006/main">
            <a:r>
              <a:rPr sz="1400"/>
              <a:t>Antwoordmodel: https://github.com/meijer1973/4veco-lessen/blob/e734532a42b27732ac25ce990fc9448b12309d28/edities/books34-v3/books/book-4/chapters/4.3/Antwoorden.md#a433</a:t>
            </a:r>
          </a:p>
          <a:p xmlns:a="http://schemas.openxmlformats.org/drawingml/2006/main">
            <a:r>
              <a:rPr sz="1400"/>
              <a:t>Uitlegvoorbeeld — niet uit het boek. Heuvelregio en de aparte fietsreparatiesector, inclusief alle aantallen en functies, zijn voor deze uitleg bedacht. Boekpagina’s onderbouwen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In welke twee functies controleer je de uitkomst?</a:t>
            </a:r>
          </a:p>
          <a:p xmlns:a="http://schemas.openxmlformats.org/drawingml/2006/main">
            <a:r>
              <a:rPr sz="1400"/>
              <a:t/>
            </a:r>
          </a:p>
          <a:p xmlns:a="http://schemas.openxmlformats.org/drawingml/2006/main">
            <a:r>
              <a:rPr sz="1400"/>
              <a:t>Uitleg: Gebruik de nieuwe vraag en ongewijzigde aanbodfunctie. Los eerst het loon op, vul dan in voor de hoeveelheid. Controleer in de andere functie. Beide hoeveelheden zijn 80, binnen het geldige loondomein.</a:t>
            </a:r>
          </a:p>
          <a:p xmlns:a="http://schemas.openxmlformats.org/drawingml/2006/main">
            <a:r>
              <a:rPr sz="1400"/>
              <a:t/>
            </a:r>
          </a:p>
          <a:p xmlns:a="http://schemas.openxmlformats.org/drawingml/2006/main">
            <a:r>
              <a:rPr sz="1400"/>
              <a:t>Misvatting: Gelijkstellen met de oude vraag zou het oude evenwicht teruggeven.</a:t>
            </a:r>
          </a:p>
          <a:p xmlns:a="http://schemas.openxmlformats.org/drawingml/2006/main">
            <a:r>
              <a:rPr sz="1400"/>
              <a:t/>
            </a:r>
          </a:p>
          <a:p xmlns:a="http://schemas.openxmlformats.org/drawingml/2006/main">
            <a:r>
              <a:rPr sz="1400"/>
              <a:t>Overgang: Verbind de berekende uitkomst met het nieuwe snijpunt.</a:t>
            </a:r>
          </a:p>
          <a:p xmlns:a="http://schemas.openxmlformats.org/drawingml/2006/main">
            <a:r>
              <a:rPr sz="1400"/>
              <a:t/>
            </a:r>
          </a:p>
          <a:p xmlns:a="http://schemas.openxmlformats.org/drawingml/2006/main">
            <a:r>
              <a:rPr sz="1400"/>
              <a:t>Bron: Boek 4, v3, book34-lesson-balance-v3-20260915, gedrukte complete-boekpagina 134, 136.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https://github.com/meijer1973/4veco-lessen/blob/e734532a42b27732ac25ce990fc9448b12309d28/edities/books34-v3/books/book-4/chapters/4.3/4.3.3%20manuscript.md</a:t>
            </a:r>
          </a:p>
          <a:p xmlns:a="http://schemas.openxmlformats.org/drawingml/2006/main">
            <a:r>
              <a:rPr sz="1400"/>
              <a:t>Antwoordmodel: https://github.com/meijer1973/4veco-lessen/blob/e734532a42b27732ac25ce990fc9448b12309d28/edities/books34-v3/books/book-4/chapters/4.3/Antwoorden.md#a433</a:t>
            </a:r>
          </a:p>
          <a:p xmlns:a="http://schemas.openxmlformats.org/drawingml/2006/main">
            <a:r>
              <a:rPr sz="1400"/>
              <a:t>Uitlegvoorbeeld — niet uit het boek. Heuvelregio en de aparte fietsreparatiesector, inclusief alle aantallen en functies, zijn voor deze uitleg bedacht. Boekpagina’s onderbouwen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tekenen we geen nieuwe aanbodlijn?</a:t>
            </a:r>
          </a:p>
          <a:p xmlns:a="http://schemas.openxmlformats.org/drawingml/2006/main">
            <a:r>
              <a:rPr sz="1400"/>
              <a:t/>
            </a:r>
          </a:p>
          <a:p xmlns:a="http://schemas.openxmlformats.org/drawingml/2006/main">
            <a:r>
              <a:rPr sz="1400"/>
              <a:t>Uitleg: Markeer eerst L = 80 op de horizontale as en w = 10 op de verticale as. Het nieuwe snijpunt ligt linksonder van het oude op dezelfde aanbodlijn. Bij het lagere loon bieden minder mensen arbeid aan. Het aanbodoverschot is nul, hoewel de werkgelegenheid daalt van 100 naar 80.</a:t>
            </a:r>
          </a:p>
          <a:p xmlns:a="http://schemas.openxmlformats.org/drawingml/2006/main">
            <a:r>
              <a:rPr sz="1400"/>
              <a:t/>
            </a:r>
          </a:p>
          <a:p xmlns:a="http://schemas.openxmlformats.org/drawingml/2006/main">
            <a:r>
              <a:rPr sz="1400"/>
              <a:t>Misvatting: Een lagere aangeboden hoeveelheid is hier een beweging langs de lijn, geen verschuiving van het aanbod.</a:t>
            </a:r>
          </a:p>
          <a:p xmlns:a="http://schemas.openxmlformats.org/drawingml/2006/main">
            <a:r>
              <a:rPr sz="1400"/>
              <a:t/>
            </a:r>
          </a:p>
          <a:p xmlns:a="http://schemas.openxmlformats.org/drawingml/2006/main">
            <a:r>
              <a:rPr sz="1400"/>
              <a:t>Overgang: Vergelijk dezelfde vraagdaling met een loon dat blijft staan.</a:t>
            </a:r>
          </a:p>
          <a:p xmlns:a="http://schemas.openxmlformats.org/drawingml/2006/main">
            <a:r>
              <a:rPr sz="1400"/>
              <a:t/>
            </a:r>
          </a:p>
          <a:p xmlns:a="http://schemas.openxmlformats.org/drawingml/2006/main">
            <a:r>
              <a:rPr sz="1400"/>
              <a:t>Bron: Boek 4, v3, book34-lesson-balance-v3-20260915, gedrukte complete-boekpagina 134.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https://github.com/meijer1973/4veco-lessen/blob/e734532a42b27732ac25ce990fc9448b12309d28/edities/books34-v3/books/book-4/chapters/4.3/4.3.3%20manuscript.md</a:t>
            </a:r>
          </a:p>
          <a:p xmlns:a="http://schemas.openxmlformats.org/drawingml/2006/main">
            <a:r>
              <a:rPr sz="1400"/>
              <a:t>Antwoordmodel: https://github.com/meijer1973/4veco-lessen/blob/e734532a42b27732ac25ce990fc9448b12309d28/edities/books34-v3/books/book-4/chapters/4.3/Antwoorden.md#a433</a:t>
            </a:r>
          </a:p>
          <a:p xmlns:a="http://schemas.openxmlformats.org/drawingml/2006/main">
            <a:r>
              <a:rPr sz="1400"/>
              <a:t>Uitlegvoorbeeld — niet uit het boek. Heuvelregio en de aparte fietsreparatiesector, inclusief alle aantallen en functies, zijn voor deze uitleg bedacht. Boekpagina’s onderbouwen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stellen we de functies nu niet gelijk?</a:t>
            </a:r>
          </a:p>
          <a:p xmlns:a="http://schemas.openxmlformats.org/drawingml/2006/main">
            <a:r>
              <a:rPr sz="1400"/>
              <a:t/>
            </a:r>
          </a:p>
          <a:p xmlns:a="http://schemas.openxmlformats.org/drawingml/2006/main">
            <a:r>
              <a:rPr sz="1400"/>
              <a:t>Uitleg: De functies veranderen niet opnieuw. Alleen de loonaanname verandert. Door loonafspraken blijft het uurloon bijvoorbeeld op het oude niveau. Zonder vacatures en mismatch vult de sector alle 60 gevraagde plaatsen. De overige 40 aanbieders willen werken, zoeken en zijn beschikbaar.</a:t>
            </a:r>
          </a:p>
          <a:p xmlns:a="http://schemas.openxmlformats.org/drawingml/2006/main">
            <a:r>
              <a:rPr sz="1400"/>
              <a:t/>
            </a:r>
          </a:p>
          <a:p xmlns:a="http://schemas.openxmlformats.org/drawingml/2006/main">
            <a:r>
              <a:rPr sz="1400"/>
              <a:t>Misvatting: Een vast loon vul je in beide functies in. Je zoekt nu geen vrij evenwichtsloon.</a:t>
            </a:r>
          </a:p>
          <a:p xmlns:a="http://schemas.openxmlformats.org/drawingml/2006/main">
            <a:r>
              <a:rPr sz="1400"/>
              <a:t/>
            </a:r>
          </a:p>
          <a:p xmlns:a="http://schemas.openxmlformats.org/drawingml/2006/main">
            <a:r>
              <a:rPr sz="1400"/>
              <a:t>Overgang: Lees het horizontale verschil in de grafiek.</a:t>
            </a:r>
          </a:p>
          <a:p xmlns:a="http://schemas.openxmlformats.org/drawingml/2006/main">
            <a:r>
              <a:rPr sz="1400"/>
              <a:t/>
            </a:r>
          </a:p>
          <a:p xmlns:a="http://schemas.openxmlformats.org/drawingml/2006/main">
            <a:r>
              <a:rPr sz="1400"/>
              <a:t>Bron: Boek 4, v3, book34-lesson-balance-v3-20260915, gedrukte complete-boekpagina 135–136.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https://github.com/meijer1973/4veco-lessen/blob/e734532a42b27732ac25ce990fc9448b12309d28/edities/books34-v3/books/book-4/chapters/4.3/4.3.3%20manuscript.md</a:t>
            </a:r>
          </a:p>
          <a:p xmlns:a="http://schemas.openxmlformats.org/drawingml/2006/main">
            <a:r>
              <a:rPr sz="1400"/>
              <a:t>Antwoordmodel: https://github.com/meijer1973/4veco-lessen/blob/e734532a42b27732ac25ce990fc9448b12309d28/edities/books34-v3/books/book-4/chapters/4.3/Antwoorden.md#a433</a:t>
            </a:r>
          </a:p>
          <a:p xmlns:a="http://schemas.openxmlformats.org/drawingml/2006/main">
            <a:r>
              <a:rPr sz="1400"/>
              <a:t>Uitlegvoorbeeld — niet uit het boek. Heuvelregio en de aparte fietsreparatiesector, inclusief alle aantallen en functies, zijn voor deze uitleg bedacht. Boekpagina’s onderbouwen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as meet de omvang van het overschot?</a:t>
            </a:r>
          </a:p>
          <a:p xmlns:a="http://schemas.openxmlformats.org/drawingml/2006/main">
            <a:r>
              <a:rPr sz="1400"/>
              <a:t/>
            </a:r>
          </a:p>
          <a:p xmlns:a="http://schemas.openxmlformats.org/drawingml/2006/main">
            <a:r>
              <a:rPr sz="1400"/>
              <a:t>Uitleg: Lees de twee snijpunten met de horizontale loonlijn: nieuwe vraag 60 en aanbod 100. Het dikke horizontale segment geeft precies 40 personen. Onder de afgesproken voorwaarden is dat modelwerkloosheid.</a:t>
            </a:r>
          </a:p>
          <a:p xmlns:a="http://schemas.openxmlformats.org/drawingml/2006/main">
            <a:r>
              <a:rPr sz="1400"/>
              <a:t/>
            </a:r>
          </a:p>
          <a:p xmlns:a="http://schemas.openxmlformats.org/drawingml/2006/main">
            <a:r>
              <a:rPr sz="1400"/>
              <a:t>Misvatting: Meet geen verticaal loonverschil en trek hier niet de oude van de nieuwe werkgelegenheid bij flexibel loon af.</a:t>
            </a:r>
          </a:p>
          <a:p xmlns:a="http://schemas.openxmlformats.org/drawingml/2006/main">
            <a:r>
              <a:rPr sz="1400"/>
              <a:t/>
            </a:r>
          </a:p>
          <a:p xmlns:a="http://schemas.openxmlformats.org/drawingml/2006/main">
            <a:r>
              <a:rPr sz="1400"/>
              <a:t>Overgang: Vergelijk beide loonafspraken naast elkaar.</a:t>
            </a:r>
          </a:p>
          <a:p xmlns:a="http://schemas.openxmlformats.org/drawingml/2006/main">
            <a:r>
              <a:rPr sz="1400"/>
              <a:t/>
            </a:r>
          </a:p>
          <a:p xmlns:a="http://schemas.openxmlformats.org/drawingml/2006/main">
            <a:r>
              <a:rPr sz="1400"/>
              <a:t>Bron: Boek 4, v3, book34-lesson-balance-v3-20260915, gedrukte complete-boekpagina 135.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https://github.com/meijer1973/4veco-lessen/blob/e734532a42b27732ac25ce990fc9448b12309d28/edities/books34-v3/books/book-4/chapters/4.3/4.3.3%20manuscript.md</a:t>
            </a:r>
          </a:p>
          <a:p xmlns:a="http://schemas.openxmlformats.org/drawingml/2006/main">
            <a:r>
              <a:rPr sz="1400"/>
              <a:t>Antwoordmodel: https://github.com/meijer1973/4veco-lessen/blob/e734532a42b27732ac25ce990fc9448b12309d28/edities/books34-v3/books/book-4/chapters/4.3/Antwoorden.md#a433</a:t>
            </a:r>
          </a:p>
          <a:p xmlns:a="http://schemas.openxmlformats.org/drawingml/2006/main">
            <a:r>
              <a:rPr sz="1400"/>
              <a:t>Uitlegvoorbeeld — niet uit het boek. Heuvelregio en de aparte fietsreparatiesector, inclusief alle aantallen en functies, zijn voor deze uitleg bedacht. Boekpagina’s onderbouwen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Bewijst een modeloverschot van nul dat Heuvelregio geen werklozen heeft?</a:t>
            </a:r>
          </a:p>
          <a:p xmlns:a="http://schemas.openxmlformats.org/drawingml/2006/main">
            <a:r>
              <a:rPr sz="1400"/>
              <a:t/>
            </a:r>
          </a:p>
          <a:p xmlns:a="http://schemas.openxmlformats.org/drawingml/2006/main">
            <a:r>
              <a:rPr sz="1400"/>
              <a:t>Uitleg: Bij flexibel loon willen bij € 10 nog 80 mensen arbeid aanbieden en vinden zij alle 80 werk. Bij vast loon zijn er 100 aanbieders en 60 banen. Dit model laat zoekproblemen en vaardighedenverschillen weg; het bewijst niet dat werkelijke werkloosheid geheel uit vaste lonen volgt. In de aparte regiotelling bleven 120 werklozen.</a:t>
            </a:r>
          </a:p>
          <a:p xmlns:a="http://schemas.openxmlformats.org/drawingml/2006/main">
            <a:r>
              <a:rPr sz="1400"/>
              <a:t/>
            </a:r>
          </a:p>
          <a:p xmlns:a="http://schemas.openxmlformats.org/drawingml/2006/main">
            <a:r>
              <a:rPr sz="1400"/>
              <a:t>Misvatting: Tel de 40 uit het sectormodel niet op bij de 120 uit de regio en vervang die 120 er niet door.</a:t>
            </a:r>
          </a:p>
          <a:p xmlns:a="http://schemas.openxmlformats.org/drawingml/2006/main">
            <a:r>
              <a:rPr sz="1400"/>
              <a:t/>
            </a:r>
          </a:p>
          <a:p xmlns:a="http://schemas.openxmlformats.org/drawingml/2006/main">
            <a:r>
              <a:rPr sz="1400"/>
              <a:t>Overgang: Controleer begrip met dezelfde voorbeeldsituatie.</a:t>
            </a:r>
          </a:p>
          <a:p xmlns:a="http://schemas.openxmlformats.org/drawingml/2006/main">
            <a:r>
              <a:rPr sz="1400"/>
              <a:t/>
            </a:r>
          </a:p>
          <a:p xmlns:a="http://schemas.openxmlformats.org/drawingml/2006/main">
            <a:r>
              <a:rPr sz="1400"/>
              <a:t>Bron: Boek 4, v3, book34-lesson-balance-v3-20260915, gedrukte complete-boekpagina 134–136.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https://github.com/meijer1973/4veco-lessen/blob/e734532a42b27732ac25ce990fc9448b12309d28/edities/books34-v3/books/book-4/chapters/4.3/4.3.3%20manuscript.md</a:t>
            </a:r>
          </a:p>
          <a:p xmlns:a="http://schemas.openxmlformats.org/drawingml/2006/main">
            <a:r>
              <a:rPr sz="1400"/>
              <a:t>Antwoordmodel: https://github.com/meijer1973/4veco-lessen/blob/e734532a42b27732ac25ce990fc9448b12309d28/edities/books34-v3/books/book-4/chapters/4.3/Antwoorden.md#a433</a:t>
            </a:r>
          </a:p>
          <a:p xmlns:a="http://schemas.openxmlformats.org/drawingml/2006/main">
            <a:r>
              <a:rPr sz="1400"/>
              <a:t>Uitlegvoorbeeld — niet uit het boek. Heuvelregio en de aparte fietsreparatiesector, inclusief alle aantallen en functies, zijn voor deze uitleg bedacht. Boekpagina’s onderbouwen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onderscheid maakt het antwoord volledig?</a:t>
            </a:r>
          </a:p>
          <a:p xmlns:a="http://schemas.openxmlformats.org/drawingml/2006/main">
            <a:r>
              <a:rPr sz="1400"/>
              <a:t/>
            </a:r>
          </a:p>
          <a:p xmlns:a="http://schemas.openxmlformats.org/drawingml/2006/main">
            <a:r>
              <a:rPr sz="1400"/>
              <a:t>Uitleg: Laat leerlingen kort zelf uitleggen. Antwoord na hun reactie: nee, bij € 10 zijn vraag en aanbod beide 80, zodat het overschot nul is. De 20 is de afname van werkgelegenheid ten opzichte van het oude evenwicht. Bij vast loon gold juist 40 aanbodoverschot.</a:t>
            </a:r>
          </a:p>
          <a:p xmlns:a="http://schemas.openxmlformats.org/drawingml/2006/main">
            <a:r>
              <a:rPr sz="1400"/>
              <a:t/>
            </a:r>
          </a:p>
          <a:p xmlns:a="http://schemas.openxmlformats.org/drawingml/2006/main">
            <a:r>
              <a:rPr sz="1400"/>
              <a:t>Misvatting: Banenverlies is niet automatisch het nieuwe aanbodoverschot.</a:t>
            </a:r>
          </a:p>
          <a:p xmlns:a="http://schemas.openxmlformats.org/drawingml/2006/main">
            <a:r>
              <a:rPr sz="1400"/>
              <a:t/>
            </a:r>
          </a:p>
          <a:p xmlns:a="http://schemas.openxmlformats.org/drawingml/2006/main">
            <a:r>
              <a:rPr sz="1400"/>
              <a:t>Overgang: Keer terug naar opgave 20, laat verbeteren en start dan basiswerk 21–22.</a:t>
            </a:r>
          </a:p>
          <a:p xmlns:a="http://schemas.openxmlformats.org/drawingml/2006/main">
            <a:r>
              <a:rPr sz="1400"/>
              <a:t/>
            </a:r>
          </a:p>
          <a:p xmlns:a="http://schemas.openxmlformats.org/drawingml/2006/main">
            <a:r>
              <a:rPr sz="1400"/>
              <a:t>Bron: Boek 4, v3, book34-lesson-balance-v3-20260915, gedrukte complete-boekpagina 134–136.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https://github.com/meijer1973/4veco-lessen/blob/e734532a42b27732ac25ce990fc9448b12309d28/edities/books34-v3/books/book-4/chapters/4.3/4.3.3%20manuscript.md</a:t>
            </a:r>
          </a:p>
          <a:p xmlns:a="http://schemas.openxmlformats.org/drawingml/2006/main">
            <a:r>
              <a:rPr sz="1400"/>
              <a:t>Antwoordmodel: https://github.com/meijer1973/4veco-lessen/blob/e734532a42b27732ac25ce990fc9448b12309d28/edities/books34-v3/books/book-4/chapters/4.3/Antwoorden.md#a433</a:t>
            </a:r>
          </a:p>
          <a:p xmlns:a="http://schemas.openxmlformats.org/drawingml/2006/main">
            <a:r>
              <a:rPr sz="1400"/>
              <a:t>Uitlegvoorbeeld — niet uit het boek. Heuvelregio en de aparte fietsreparatiesector, inclusief alle aantallen en functies, zijn voor deze uitleg bedacht. Boekpagina’s onderbouwen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vraag vraagt om nieuwe uitleg?</a:t>
            </a:r>
          </a:p>
          <a:p xmlns:a="http://schemas.openxmlformats.org/drawingml/2006/main">
            <a:r>
              <a:rPr sz="1400"/>
              <a:t/>
            </a:r>
          </a:p>
          <a:p xmlns:a="http://schemas.openxmlformats.org/drawingml/2006/main">
            <a:r>
              <a:rPr sz="1400"/>
              <a:t>Uitleg: Laat dit overzicht staan tijdens Oefenen. Start 19–20 staat op p. 137; basis 21 op p. 137 en 22 op p. 138; zelfstandig 23–24 op p. 138; doel 25 op p. 139. Huiswerk: 21,22,23,24,25 maken en nakijken. Bonus 26 en herhaling 27 zijn extra. Opgave 19 haalt beroepsbevolking en bruto-participatie uit §4.3.2 p. 124–125 op. Opgave 20 vraagt nieuwe leerstof: bij a de werkloosheidsnoemer op p. 132 en bij b frictiewerkloosheid op p. 133. Laat die uitleg lezen en twijfel noteren, zonder de oplossing vooraf te geven. Dit is ondersteunde verkenning, geen toets van beheerste voorkennis. Bij de tweede overview: laat 20 opnieuw beantwoorden en motiveren vóór 21. Bij twijfel herhaal dia 3 of 6. Startantwoorden voor de docent: 19 beroepsbevolking 2.800, bruto 70%; 20a nee, beroepsbevolking is de noemer; 20b frictiewerkloosheid. Docenteninformatie reserveert voorlopig twee lessen van 55 minuten; dat is geen gemeten tijdsfit. Verplaats de lesgrens zo nodig en behoud alle basisopgaven.</a:t>
            </a:r>
          </a:p>
          <a:p xmlns:a="http://schemas.openxmlformats.org/drawingml/2006/main">
            <a:r>
              <a:rPr sz="1400"/>
              <a:t/>
            </a:r>
          </a:p>
          <a:p xmlns:a="http://schemas.openxmlformats.org/drawingml/2006/main">
            <a:r>
              <a:rPr sz="1400"/>
              <a:t>Misvatting: De hoofdstukpaginanummers 20–28 zijn in het complete boek 132–140. Gebruik de gedrukte boekvoet.</a:t>
            </a:r>
          </a:p>
          <a:p xmlns:a="http://schemas.openxmlformats.org/drawingml/2006/main">
            <a:r>
              <a:rPr sz="1400"/>
              <a:t/>
            </a:r>
          </a:p>
          <a:p xmlns:a="http://schemas.openxmlformats.org/drawingml/2006/main">
            <a:r>
              <a:rPr sz="1400"/>
              <a:t>Overgang: Ga verder zodra de klas aan de volgende fase toe is.</a:t>
            </a:r>
          </a:p>
          <a:p xmlns:a="http://schemas.openxmlformats.org/drawingml/2006/main">
            <a:r>
              <a:rPr sz="1400"/>
              <a:t/>
            </a:r>
          </a:p>
          <a:p xmlns:a="http://schemas.openxmlformats.org/drawingml/2006/main">
            <a:r>
              <a:rPr sz="1400"/>
              <a:t>Bron: Boek 4, v3, book34-lesson-balance-v3-20260915, gedrukte complete-boekpagina 124–126, 132–139.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https://github.com/meijer1973/4veco-lessen/blob/e734532a42b27732ac25ce990fc9448b12309d28/edities/books34-v3/books/book-4/chapters/4.3/4.3.3%20manuscript.md</a:t>
            </a:r>
          </a:p>
          <a:p xmlns:a="http://schemas.openxmlformats.org/drawingml/2006/main">
            <a:r>
              <a:rPr sz="1400"/>
              <a:t>Antwoordmodel: https://github.com/meijer1973/4veco-lessen/blob/e734532a42b27732ac25ce990fc9448b12309d28/edities/books34-v3/books/book-4/chapters/4.3/Antwoorden.md#a433</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informatie beschrijft een waarneming?</a:t>
            </a:r>
          </a:p>
          <a:p xmlns:a="http://schemas.openxmlformats.org/drawingml/2006/main">
            <a:r>
              <a:rPr sz="1400"/>
              <a:t/>
            </a:r>
          </a:p>
          <a:p xmlns:a="http://schemas.openxmlformats.org/drawingml/2006/main">
            <a:r>
              <a:rPr sz="1400"/>
              <a:t>Uitleg: Letterlijke bron A en deelvraag a. Laat leerlingen bron, teller, noemer en gevraagde verklaring aanwijzen. Geef nog geen oplossingen; bron B, vragen b–c en de basisgrafiek volgen eerst.</a:t>
            </a:r>
          </a:p>
          <a:p xmlns:a="http://schemas.openxmlformats.org/drawingml/2006/main">
            <a:r>
              <a:rPr sz="1400"/>
              <a:t/>
            </a:r>
          </a:p>
          <a:p xmlns:a="http://schemas.openxmlformats.org/drawingml/2006/main">
            <a:r>
              <a:rPr sz="1400"/>
              <a:t>Misvatting: De volgende sector is een afzonderlijke modelbron.</a:t>
            </a:r>
          </a:p>
          <a:p xmlns:a="http://schemas.openxmlformats.org/drawingml/2006/main">
            <a:r>
              <a:rPr sz="1400"/>
              <a:t/>
            </a:r>
          </a:p>
          <a:p xmlns:a="http://schemas.openxmlformats.org/drawingml/2006/main">
            <a:r>
              <a:rPr sz="1400"/>
              <a:t>Overgang: Lees eerst ook bron B en alle resterende vragen.</a:t>
            </a:r>
          </a:p>
          <a:p xmlns:a="http://schemas.openxmlformats.org/drawingml/2006/main">
            <a:r>
              <a:rPr sz="1400"/>
              <a:t/>
            </a:r>
          </a:p>
          <a:p xmlns:a="http://schemas.openxmlformats.org/drawingml/2006/main">
            <a:r>
              <a:rPr sz="1400"/>
              <a:t>Bron: Boek 4, v3, book34-lesson-balance-v3-20260915, gedrukte complete-boekpagina 139.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https://github.com/meijer1973/4veco-lessen/blob/e734532a42b27732ac25ce990fc9448b12309d28/edities/books34-v3/books/book-4/chapters/4.3/4.3.3%20manuscript.md</a:t>
            </a:r>
          </a:p>
          <a:p xmlns:a="http://schemas.openxmlformats.org/drawingml/2006/main">
            <a:r>
              <a:rPr sz="1400"/>
              <a:t>Antwoordmodel: https://github.com/meijer1973/4veco-lessen/blob/e734532a42b27732ac25ce990fc9448b12309d28/edities/books34-v3/books/book-4/chapters/4.3/Antwoorden.md#a433</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aanname maakt het verschil tussen deze bron en bron A?</a:t>
            </a:r>
          </a:p>
          <a:p xmlns:a="http://schemas.openxmlformats.org/drawingml/2006/main">
            <a:r>
              <a:rPr sz="1400"/>
              <a:t/>
            </a:r>
          </a:p>
          <a:p xmlns:a="http://schemas.openxmlformats.org/drawingml/2006/main">
            <a:r>
              <a:rPr sz="1400"/>
              <a:t>Uitleg: Complete bron B, alleen verdeeld over een native tabel en tekst. Het oude evenwicht is gegeven en is geen onthulling van de gevraagde nieuwe uitkomst. Houd de sector en regio strikt gescheiden.</a:t>
            </a:r>
          </a:p>
          <a:p xmlns:a="http://schemas.openxmlformats.org/drawingml/2006/main">
            <a:r>
              <a:rPr sz="1400"/>
              <a:t/>
            </a:r>
          </a:p>
          <a:p xmlns:a="http://schemas.openxmlformats.org/drawingml/2006/main">
            <a:r>
              <a:rPr sz="1400"/>
              <a:t>Misvatting: Gebruik niet de aantallen van bron A in de sectorfuncties.</a:t>
            </a:r>
          </a:p>
          <a:p xmlns:a="http://schemas.openxmlformats.org/drawingml/2006/main">
            <a:r>
              <a:rPr sz="1400"/>
              <a:t/>
            </a:r>
          </a:p>
          <a:p xmlns:a="http://schemas.openxmlformats.org/drawingml/2006/main">
            <a:r>
              <a:rPr sz="1400"/>
              <a:t>Overgang: Maak de twee resterende deelvragen beschikbaar.</a:t>
            </a:r>
          </a:p>
          <a:p xmlns:a="http://schemas.openxmlformats.org/drawingml/2006/main">
            <a:r>
              <a:rPr sz="1400"/>
              <a:t/>
            </a:r>
          </a:p>
          <a:p xmlns:a="http://schemas.openxmlformats.org/drawingml/2006/main">
            <a:r>
              <a:rPr sz="1400"/>
              <a:t>Bron: Boek 4, v3, book34-lesson-balance-v3-20260915, gedrukte complete-boekpagina 139.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https://github.com/meijer1973/4veco-lessen/blob/e734532a42b27732ac25ce990fc9448b12309d28/edities/books34-v3/books/book-4/chapters/4.3/4.3.3%20manuscript.md</a:t>
            </a:r>
          </a:p>
          <a:p xmlns:a="http://schemas.openxmlformats.org/drawingml/2006/main">
            <a:r>
              <a:rPr sz="1400"/>
              <a:t>Antwoordmodel: https://github.com/meijer1973/4veco-lessen/blob/e734532a42b27732ac25ce990fc9448b12309d28/edities/books34-v3/books/book-4/chapters/4.3/Antwoorden.md#a433</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loonafspraken moet je bij b en c uit elkaar houden?</a:t>
            </a:r>
          </a:p>
          <a:p xmlns:a="http://schemas.openxmlformats.org/drawingml/2006/main">
            <a:r>
              <a:rPr sz="1400"/>
              <a:t/>
            </a:r>
          </a:p>
          <a:p xmlns:a="http://schemas.openxmlformats.org/drawingml/2006/main">
            <a:r>
              <a:rPr sz="1400"/>
              <a:t>Uitleg: Letterlijke deelvragen b en c. Alle drie deelvragen zijn nu beschikbaar. Toon hierna de basisgrafiek zonder ingevulde evenwichtspunten.</a:t>
            </a:r>
          </a:p>
          <a:p xmlns:a="http://schemas.openxmlformats.org/drawingml/2006/main">
            <a:r>
              <a:rPr sz="1400"/>
              <a:t/>
            </a:r>
          </a:p>
          <a:p xmlns:a="http://schemas.openxmlformats.org/drawingml/2006/main">
            <a:r>
              <a:rPr sz="1400"/>
              <a:t>Misvatting: Een berekening van een nieuw evenwicht beantwoordt nog niet de vraag naar het overschot bij vast loon.</a:t>
            </a:r>
          </a:p>
          <a:p xmlns:a="http://schemas.openxmlformats.org/drawingml/2006/main">
            <a:r>
              <a:rPr sz="1400"/>
              <a:t/>
            </a:r>
          </a:p>
          <a:p xmlns:a="http://schemas.openxmlformats.org/drawingml/2006/main">
            <a:r>
              <a:rPr sz="1400"/>
              <a:t>Overgang: Toon de oningevulde basisgrafiek.</a:t>
            </a:r>
          </a:p>
          <a:p xmlns:a="http://schemas.openxmlformats.org/drawingml/2006/main">
            <a:r>
              <a:rPr sz="1400"/>
              <a:t/>
            </a:r>
          </a:p>
          <a:p xmlns:a="http://schemas.openxmlformats.org/drawingml/2006/main">
            <a:r>
              <a:rPr sz="1400"/>
              <a:t>Bron: Boek 4, v3, book34-lesson-balance-v3-20260915, gedrukte complete-boekpagina 139.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https://github.com/meijer1973/4veco-lessen/blob/e734532a42b27732ac25ce990fc9448b12309d28/edities/books34-v3/books/book-4/chapters/4.3/4.3.3%20manuscript.md</a:t>
            </a:r>
          </a:p>
          <a:p xmlns:a="http://schemas.openxmlformats.org/drawingml/2006/main">
            <a:r>
              <a:rPr sz="1400"/>
              <a:t>Antwoordmodel: https://github.com/meijer1973/4veco-lessen/blob/e734532a42b27732ac25ce990fc9448b12309d28/edities/books34-v3/books/book-4/chapters/4.3/Antwoorden.md#a433</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komen hoeveelheid en uurloon op de assen?</a:t>
            </a:r>
          </a:p>
          <a:p xmlns:a="http://schemas.openxmlformats.org/drawingml/2006/main">
            <a:r>
              <a:rPr sz="1400"/>
              <a:t/>
            </a:r>
          </a:p>
          <a:p xmlns:a="http://schemas.openxmlformats.org/drawingml/2006/main">
            <a:r>
              <a:rPr sz="1400"/>
              <a:t>Uitleg: Native reconstructie van figuur 16 met dezelfde functies, assen en schaal. E0 en E1 zijn nog niet ingevuld. De getekende functies zijn begrensd tot het in bron B gegeven loondomein van 2 tot 24 euro. Laat leerlingen het complete werk eerst tonen of vergelijken.</a:t>
            </a:r>
          </a:p>
          <a:p xmlns:a="http://schemas.openxmlformats.org/drawingml/2006/main">
            <a:r>
              <a:rPr sz="1400"/>
              <a:t/>
            </a:r>
          </a:p>
          <a:p xmlns:a="http://schemas.openxmlformats.org/drawingml/2006/main">
            <a:r>
              <a:rPr sz="1400"/>
              <a:t>Misvatting: De twee snijpunten moeten bij de juiste oude of nieuwe vraagfunctie horen.</a:t>
            </a:r>
          </a:p>
          <a:p xmlns:a="http://schemas.openxmlformats.org/drawingml/2006/main">
            <a:r>
              <a:rPr sz="1400"/>
              <a:t/>
            </a:r>
          </a:p>
          <a:p xmlns:a="http://schemas.openxmlformats.org/drawingml/2006/main">
            <a:r>
              <a:rPr sz="1400"/>
              <a:t>Overgang: Start pas nu de stapsgewijze uitwerking van a.</a:t>
            </a:r>
          </a:p>
          <a:p xmlns:a="http://schemas.openxmlformats.org/drawingml/2006/main">
            <a:r>
              <a:rPr sz="1400"/>
              <a:t/>
            </a:r>
          </a:p>
          <a:p xmlns:a="http://schemas.openxmlformats.org/drawingml/2006/main">
            <a:r>
              <a:rPr sz="1400"/>
              <a:t>Bron: Boek 4, v3, book34-lesson-balance-v3-20260915, gedrukte complete-boekpagina 139.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https://github.com/meijer1973/4veco-lessen/blob/e734532a42b27732ac25ce990fc9448b12309d28/edities/books34-v3/books/book-4/chapters/4.3/4.3.3%20manuscript.md</a:t>
            </a:r>
          </a:p>
          <a:p xmlns:a="http://schemas.openxmlformats.org/drawingml/2006/main">
            <a:r>
              <a:rPr sz="1400"/>
              <a:t>Antwoordmodel: https://github.com/meijer1973/4veco-lessen/blob/e734532a42b27732ac25ce990fc9448b12309d28/edities/books34-v3/books/book-4/chapters/4.3/Antwoorden.md#a433</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groep zit in de 3.000?</a:t>
            </a:r>
          </a:p>
          <a:p xmlns:a="http://schemas.openxmlformats.org/drawingml/2006/main">
            <a:r>
              <a:rPr sz="1400"/>
              <a:t/>
            </a:r>
          </a:p>
          <a:p xmlns:a="http://schemas.openxmlformats.org/drawingml/2006/main">
            <a:r>
              <a:rPr sz="1400"/>
              <a:t>Uitleg: Stap 1 bepaalt de noemer met bron A. Stap 2 deelt de 300 werklozen door 3.000. De controle is 10% van 3.000 = 300. De 120 vacatures zijn niet in de beroepsbevolking meegeteld.</a:t>
            </a:r>
          </a:p>
          <a:p xmlns:a="http://schemas.openxmlformats.org/drawingml/2006/main">
            <a:r>
              <a:rPr sz="1400"/>
              <a:t/>
            </a:r>
          </a:p>
          <a:p xmlns:a="http://schemas.openxmlformats.org/drawingml/2006/main">
            <a:r>
              <a:rPr sz="1400"/>
              <a:t>Misvatting: De noemer is niet alleen de 2.700 werkenden.</a:t>
            </a:r>
          </a:p>
          <a:p xmlns:a="http://schemas.openxmlformats.org/drawingml/2006/main">
            <a:r>
              <a:rPr sz="1400"/>
              <a:t/>
            </a:r>
          </a:p>
          <a:p xmlns:a="http://schemas.openxmlformats.org/drawingml/2006/main">
            <a:r>
              <a:rPr sz="1400"/>
              <a:t>Overgang: Werk de tweede helft van vraag a uit.</a:t>
            </a:r>
          </a:p>
          <a:p xmlns:a="http://schemas.openxmlformats.org/drawingml/2006/main">
            <a:r>
              <a:rPr sz="1400"/>
              <a:t/>
            </a:r>
          </a:p>
          <a:p xmlns:a="http://schemas.openxmlformats.org/drawingml/2006/main">
            <a:r>
              <a:rPr sz="1400"/>
              <a:t>Bron: Boek 4, v3, book34-lesson-balance-v3-20260915, gedrukte complete-boekpagina 139.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https://github.com/meijer1973/4veco-lessen/blob/e734532a42b27732ac25ce990fc9448b12309d28/edities/books34-v3/books/book-4/chapters/4.3/4.3.3%20manuscript.md</a:t>
            </a:r>
          </a:p>
          <a:p xmlns:a="http://schemas.openxmlformats.org/drawingml/2006/main">
            <a:r>
              <a:rPr sz="1400"/>
              <a:t>Antwoordmodel: https://github.com/meijer1973/4veco-lessen/blob/e734532a42b27732ac25ce990fc9448b12309d28/edities/books34-v3/books/book-4/chapters/4.3/Antwoorden.md#a433</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180 geen werkloosheidstelling?</a:t>
            </a:r>
          </a:p>
          <a:p xmlns:a="http://schemas.openxmlformats.org/drawingml/2006/main">
            <a:r>
              <a:rPr sz="1400"/>
              <a:t/>
            </a:r>
          </a:p>
          <a:p xmlns:a="http://schemas.openxmlformats.org/drawingml/2006/main">
            <a:r>
              <a:rPr sz="1400"/>
              <a:t>Uitleg: Werkenden tellen in vraag en aanbod mee en vallen bij aftrekken weg. De fout is dat je de 120 nog onvervulde vacatures aftrekt van de 300 werklozen. Het antwoordmodel telt in deze bron één werkende per baan.</a:t>
            </a:r>
          </a:p>
          <a:p xmlns:a="http://schemas.openxmlformats.org/drawingml/2006/main">
            <a:r>
              <a:rPr sz="1400"/>
              <a:t/>
            </a:r>
          </a:p>
          <a:p xmlns:a="http://schemas.openxmlformats.org/drawingml/2006/main">
            <a:r>
              <a:rPr sz="1400"/>
              <a:t>Misvatting: Een vacature vervult zichzelf niet. Bron A kan mismatch en zoektijd bevatten.</a:t>
            </a:r>
          </a:p>
          <a:p xmlns:a="http://schemas.openxmlformats.org/drawingml/2006/main">
            <a:r>
              <a:rPr sz="1400"/>
              <a:t/>
            </a:r>
          </a:p>
          <a:p xmlns:a="http://schemas.openxmlformats.org/drawingml/2006/main">
            <a:r>
              <a:rPr sz="1400"/>
              <a:t>Overgang: Wissel expliciet naar de afzonderlijke sector uit bron B.</a:t>
            </a:r>
          </a:p>
          <a:p xmlns:a="http://schemas.openxmlformats.org/drawingml/2006/main">
            <a:r>
              <a:rPr sz="1400"/>
              <a:t/>
            </a:r>
          </a:p>
          <a:p xmlns:a="http://schemas.openxmlformats.org/drawingml/2006/main">
            <a:r>
              <a:rPr sz="1400"/>
              <a:t>Bron: Boek 4, v3, book34-lesson-balance-v3-20260915, gedrukte complete-boekpagina 139.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https://github.com/meijer1973/4veco-lessen/blob/e734532a42b27732ac25ce990fc9448b12309d28/edities/books34-v3/books/book-4/chapters/4.3/4.3.3%20manuscript.md</a:t>
            </a:r>
          </a:p>
          <a:p xmlns:a="http://schemas.openxmlformats.org/drawingml/2006/main">
            <a:r>
              <a:rPr sz="1400"/>
              <a:t>Antwoordmodel: https://github.com/meijer1973/4veco-lessen/blob/e734532a42b27732ac25ce990fc9448b12309d28/edities/books34-v3/books/book-4/chapters/4.3/Antwoorden.md#a433</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woorden uit de bron onderbouwen conjunctureel?</a:t>
            </a:r>
          </a:p>
          <a:p xmlns:a="http://schemas.openxmlformats.org/drawingml/2006/main">
            <a:r>
              <a:rPr sz="1400"/>
              <a:t/>
            </a:r>
          </a:p>
          <a:p xmlns:a="http://schemas.openxmlformats.org/drawingml/2006/main">
            <a:r>
              <a:rPr sz="1400"/>
              <a:t>Uitleg: Bron B noemt de daling van huishoudelijke bestedingen als oorzaak. Dat ondersteunt conjunctureel. Gebruik de nieuwe vraagfunctie, stel gelijk aan aanbod en controleer beide zijden. De nieuwe werkgelegenheid is 66 personen in de sector.</a:t>
            </a:r>
          </a:p>
          <a:p xmlns:a="http://schemas.openxmlformats.org/drawingml/2006/main">
            <a:r>
              <a:rPr sz="1400"/>
              <a:t/>
            </a:r>
          </a:p>
          <a:p xmlns:a="http://schemas.openxmlformats.org/drawingml/2006/main">
            <a:r>
              <a:rPr sz="1400"/>
              <a:t>Misvatting: Het antwoord geeft geen nieuw percentage voor de regio.</a:t>
            </a:r>
          </a:p>
          <a:p xmlns:a="http://schemas.openxmlformats.org/drawingml/2006/main">
            <a:r>
              <a:rPr sz="1400"/>
              <a:t/>
            </a:r>
          </a:p>
          <a:p xmlns:a="http://schemas.openxmlformats.org/drawingml/2006/main">
            <a:r>
              <a:rPr sz="1400"/>
              <a:t>Overgang: Plaats beide evenwichtspunten in de grafiek.</a:t>
            </a:r>
          </a:p>
          <a:p xmlns:a="http://schemas.openxmlformats.org/drawingml/2006/main">
            <a:r>
              <a:rPr sz="1400"/>
              <a:t/>
            </a:r>
          </a:p>
          <a:p xmlns:a="http://schemas.openxmlformats.org/drawingml/2006/main">
            <a:r>
              <a:rPr sz="1400"/>
              <a:t>Bron: Boek 4, v3, book34-lesson-balance-v3-20260915, gedrukte complete-boekpagina 139.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https://github.com/meijer1973/4veco-lessen/blob/e734532a42b27732ac25ce990fc9448b12309d28/edities/books34-v3/books/book-4/chapters/4.3/4.3.3%20manuscript.md</a:t>
            </a:r>
          </a:p>
          <a:p xmlns:a="http://schemas.openxmlformats.org/drawingml/2006/main">
            <a:r>
              <a:rPr sz="1400"/>
              <a:t>Antwoordmodel: https://github.com/meijer1973/4veco-lessen/blob/e734532a42b27732ac25ce990fc9448b12309d28/edities/books34-v3/books/book-4/chapters/4.3/Antwoorden.md#a433</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 zie je welke twee lijnen bij E1 horen?</a:t>
            </a:r>
          </a:p>
          <a:p xmlns:a="http://schemas.openxmlformats.org/drawingml/2006/main">
            <a:r>
              <a:rPr sz="1400"/>
              <a:t/>
            </a:r>
          </a:p>
          <a:p xmlns:a="http://schemas.openxmlformats.org/drawingml/2006/main">
            <a:r>
              <a:rPr sz="1400"/>
              <a:t>Uitleg: E0 ligt bij oude vraag en aanbod, E1 bij nieuwe vraag en dezelfde aanbodlijn. Controle oud: 180 − 96 = 84 en −12 + 96 = 84. Nieuw: beide 66 bij 13. De hulplijnen sluiten aan op de berekende aswaarden. Het lagere loon geeft een beweging langs de ongewijzigde aanbodlijn.</a:t>
            </a:r>
          </a:p>
          <a:p xmlns:a="http://schemas.openxmlformats.org/drawingml/2006/main">
            <a:r>
              <a:rPr sz="1400"/>
              <a:t/>
            </a:r>
          </a:p>
          <a:p xmlns:a="http://schemas.openxmlformats.org/drawingml/2006/main">
            <a:r>
              <a:rPr sz="1400"/>
              <a:t>Misvatting: Schrijf (84;16), niet (16;84): het zijn coördinaten (L;w).</a:t>
            </a:r>
          </a:p>
          <a:p xmlns:a="http://schemas.openxmlformats.org/drawingml/2006/main">
            <a:r>
              <a:rPr sz="1400"/>
              <a:t/>
            </a:r>
          </a:p>
          <a:p xmlns:a="http://schemas.openxmlformats.org/drawingml/2006/main">
            <a:r>
              <a:rPr sz="1400"/>
              <a:t>Overgang: Houd nu het oude loon vast voor het tweede deel van c.</a:t>
            </a:r>
          </a:p>
          <a:p xmlns:a="http://schemas.openxmlformats.org/drawingml/2006/main">
            <a:r>
              <a:rPr sz="1400"/>
              <a:t/>
            </a:r>
          </a:p>
          <a:p xmlns:a="http://schemas.openxmlformats.org/drawingml/2006/main">
            <a:r>
              <a:rPr sz="1400"/>
              <a:t>Bron: Boek 4, v3, book34-lesson-balance-v3-20260915, gedrukte complete-boekpagina 139.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https://github.com/meijer1973/4veco-lessen/blob/e734532a42b27732ac25ce990fc9448b12309d28/edities/books34-v3/books/book-4/chapters/4.3/4.3.3%20manuscript.md</a:t>
            </a:r>
          </a:p>
          <a:p xmlns:a="http://schemas.openxmlformats.org/drawingml/2006/main">
            <a:r>
              <a:rPr sz="1400"/>
              <a:t>Antwoordmodel: https://github.com/meijer1973/4veco-lessen/blob/e734532a42b27732ac25ce990fc9448b12309d28/edities/books34-v3/books/book-4/chapters/4.3/Antwoorden.md#a433</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gebruiken we de nieuwe vraagfunctie en het oude loon?</a:t>
            </a:r>
          </a:p>
          <a:p xmlns:a="http://schemas.openxmlformats.org/drawingml/2006/main">
            <a:r>
              <a:rPr sz="1400"/>
              <a:t/>
            </a:r>
          </a:p>
          <a:p xmlns:a="http://schemas.openxmlformats.org/drawingml/2006/main">
            <a:r>
              <a:rPr sz="1400"/>
              <a:t>Uitleg: Vul 16 in, niet het zojuist gevonden flexibele loon van 13. Beide hoeveelheden staan in personen. Het overschot is 36, gegeven de modelvoorwaarden. Controle: 48 werkenden + 36 niet-geplaatste aanbieders = 84 aanbieders.</a:t>
            </a:r>
          </a:p>
          <a:p xmlns:a="http://schemas.openxmlformats.org/drawingml/2006/main">
            <a:r>
              <a:rPr sz="1400"/>
              <a:t/>
            </a:r>
          </a:p>
          <a:p xmlns:a="http://schemas.openxmlformats.org/drawingml/2006/main">
            <a:r>
              <a:rPr sz="1400"/>
              <a:t>Misvatting: 84 − 66 = 18 is de afname van werkgelegenheid bij flexibel loon; het is niet dit overschot.</a:t>
            </a:r>
          </a:p>
          <a:p xmlns:a="http://schemas.openxmlformats.org/drawingml/2006/main">
            <a:r>
              <a:rPr sz="1400"/>
              <a:t/>
            </a:r>
          </a:p>
          <a:p xmlns:a="http://schemas.openxmlformats.org/drawingml/2006/main">
            <a:r>
              <a:rPr sz="1400"/>
              <a:t>Overgang: Verbind de uitkomst met het horizontale segment.</a:t>
            </a:r>
          </a:p>
          <a:p xmlns:a="http://schemas.openxmlformats.org/drawingml/2006/main">
            <a:r>
              <a:rPr sz="1400"/>
              <a:t/>
            </a:r>
          </a:p>
          <a:p xmlns:a="http://schemas.openxmlformats.org/drawingml/2006/main">
            <a:r>
              <a:rPr sz="1400"/>
              <a:t>Bron: Boek 4, v3, book34-lesson-balance-v3-20260915, gedrukte complete-boekpagina 139.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https://github.com/meijer1973/4veco-lessen/blob/e734532a42b27732ac25ce990fc9448b12309d28/edities/books34-v3/books/book-4/chapters/4.3/4.3.3%20manuscript.md</a:t>
            </a:r>
          </a:p>
          <a:p xmlns:a="http://schemas.openxmlformats.org/drawingml/2006/main">
            <a:r>
              <a:rPr sz="1400"/>
              <a:t>Antwoordmodel: https://github.com/meijer1973/4veco-lessen/blob/e734532a42b27732ac25ce990fc9448b12309d28/edities/books34-v3/books/book-4/chapters/4.3/Antwoorden.md#a433</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getal blijft de gemeten regionale werkloosheid?</a:t>
            </a:r>
          </a:p>
          <a:p xmlns:a="http://schemas.openxmlformats.org/drawingml/2006/main">
            <a:r>
              <a:rPr sz="1400"/>
              <a:t/>
            </a:r>
          </a:p>
          <a:p xmlns:a="http://schemas.openxmlformats.org/drawingml/2006/main">
            <a:r>
              <a:rPr sz="1400"/>
              <a:t>Uitleg: De horizontale lijn bij 16 snijdt de nieuwe vraag bij 48 en het aanbod bij 84. Onder deze modelaannamen zijn 36 mensen zonder sectorbaan. Dit is niet de regiotelling van bron A, waar 300 mensen werkloos zijn.</a:t>
            </a:r>
          </a:p>
          <a:p xmlns:a="http://schemas.openxmlformats.org/drawingml/2006/main">
            <a:r>
              <a:rPr sz="1400"/>
              <a:t/>
            </a:r>
          </a:p>
          <a:p xmlns:a="http://schemas.openxmlformats.org/drawingml/2006/main">
            <a:r>
              <a:rPr sz="1400"/>
              <a:t>Misvatting: Een modeluitkomst van 36 vervangt de waarneming van 300 niet.</a:t>
            </a:r>
          </a:p>
          <a:p xmlns:a="http://schemas.openxmlformats.org/drawingml/2006/main">
            <a:r>
              <a:rPr sz="1400"/>
              <a:t/>
            </a:r>
          </a:p>
          <a:p xmlns:a="http://schemas.openxmlformats.org/drawingml/2006/main">
            <a:r>
              <a:rPr sz="1400"/>
              <a:t>Overgang: Controleer de volledige beantwoording en verbeter één stap.</a:t>
            </a:r>
          </a:p>
          <a:p xmlns:a="http://schemas.openxmlformats.org/drawingml/2006/main">
            <a:r>
              <a:rPr sz="1400"/>
              <a:t/>
            </a:r>
          </a:p>
          <a:p xmlns:a="http://schemas.openxmlformats.org/drawingml/2006/main">
            <a:r>
              <a:rPr sz="1400"/>
              <a:t>Bron: Boek 4, v3, book34-lesson-balance-v3-20260915, gedrukte complete-boekpagina 139.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https://github.com/meijer1973/4veco-lessen/blob/e734532a42b27732ac25ce990fc9448b12309d28/edities/books34-v3/books/book-4/chapters/4.3/4.3.3%20manuscript.md</a:t>
            </a:r>
          </a:p>
          <a:p xmlns:a="http://schemas.openxmlformats.org/drawingml/2006/main">
            <a:r>
              <a:rPr sz="1400"/>
              <a:t>Antwoordmodel: https://github.com/meijer1973/4veco-lessen/blob/e734532a42b27732ac25ce990fc9448b12309d28/edities/books34-v3/books/book-4/chapters/4.3/Antwoorden.md#a433</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ontbreekt nog in jouw uitwerking?</a:t>
            </a:r>
          </a:p>
          <a:p xmlns:a="http://schemas.openxmlformats.org/drawingml/2006/main">
            <a:r>
              <a:rPr sz="1400"/>
              <a:t/>
            </a:r>
          </a:p>
          <a:p xmlns:a="http://schemas.openxmlformats.org/drawingml/2006/main">
            <a:r>
              <a:rPr sz="1400"/>
              <a:t>Uitleg: Laat leerlingen hun eigen antwoordmodel vergelijken. Berekeningen, coördinaten, juiste eenheden en brongebonden verklaringen tellen mee. Laat benoemen waarom de twee bronnen apart blijven.</a:t>
            </a:r>
          </a:p>
          <a:p xmlns:a="http://schemas.openxmlformats.org/drawingml/2006/main">
            <a:r>
              <a:rPr sz="1400"/>
              <a:t/>
            </a:r>
          </a:p>
          <a:p xmlns:a="http://schemas.openxmlformats.org/drawingml/2006/main">
            <a:r>
              <a:rPr sz="1400"/>
              <a:t>Misvatting: Alleen eindgetallen noemen dekt de gevraagde uitleg en grafiek niet.</a:t>
            </a:r>
          </a:p>
          <a:p xmlns:a="http://schemas.openxmlformats.org/drawingml/2006/main">
            <a:r>
              <a:rPr sz="1400"/>
              <a:t/>
            </a:r>
          </a:p>
          <a:p xmlns:a="http://schemas.openxmlformats.org/drawingml/2006/main">
            <a:r>
              <a:rPr sz="1400"/>
              <a:t>Overgang: Keer terug naar dezelfde overview en noteer het huiswerk.</a:t>
            </a:r>
          </a:p>
          <a:p xmlns:a="http://schemas.openxmlformats.org/drawingml/2006/main">
            <a:r>
              <a:rPr sz="1400"/>
              <a:t/>
            </a:r>
          </a:p>
          <a:p xmlns:a="http://schemas.openxmlformats.org/drawingml/2006/main">
            <a:r>
              <a:rPr sz="1400"/>
              <a:t>Bron: Boek 4, v3, book34-lesson-balance-v3-20260915, gedrukte complete-boekpagina 139.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https://github.com/meijer1973/4veco-lessen/blob/e734532a42b27732ac25ce990fc9448b12309d28/edities/books34-v3/books/book-4/chapters/4.3/4.3.3%20manuscript.md</a:t>
            </a:r>
          </a:p>
          <a:p xmlns:a="http://schemas.openxmlformats.org/drawingml/2006/main">
            <a:r>
              <a:rPr sz="1400"/>
              <a:t>Antwoordmodel: https://github.com/meijer1973/4veco-lessen/blob/e734532a42b27732ac25ce990fc9448b12309d28/edities/books34-v3/books/book-4/chapters/4.3/Antwoorden.md#a433</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vraag vraagt om nieuwe uitleg?</a:t>
            </a:r>
          </a:p>
          <a:p xmlns:a="http://schemas.openxmlformats.org/drawingml/2006/main">
            <a:r>
              <a:rPr sz="1400"/>
              <a:t/>
            </a:r>
          </a:p>
          <a:p xmlns:a="http://schemas.openxmlformats.org/drawingml/2006/main">
            <a:r>
              <a:rPr sz="1400"/>
              <a:t>Uitleg: Laat dit overzicht staan tijdens Afsluiting / huiswerk. Start 19–20 staat op p. 137; basis 21 op p. 137 en 22 op p. 138; zelfstandig 23–24 op p. 138; doel 25 op p. 139. Huiswerk: 21,22,23,24,25 maken en nakijken. Bonus 26 en herhaling 27 zijn extra. Opgave 19 haalt beroepsbevolking en bruto-participatie uit §4.3.2 p. 124–125 op. Opgave 20 vraagt nieuwe leerstof: bij a de werkloosheidsnoemer op p. 132 en bij b frictiewerkloosheid op p. 133. Laat die uitleg lezen en twijfel noteren, zonder de oplossing vooraf te geven. Dit is ondersteunde verkenning, geen toets van beheerste voorkennis. Bij de tweede overview: laat 20 opnieuw beantwoorden en motiveren vóór 21. Bij twijfel herhaal dia 3 of 6. Startantwoorden voor de docent: 19 beroepsbevolking 2.800, bruto 70%; 20a nee, beroepsbevolking is de noemer; 20b frictiewerkloosheid. Docenteninformatie reserveert voorlopig twee lessen van 55 minuten; dat is geen gemeten tijdsfit. Verplaats de lesgrens zo nodig en behoud alle basisopgaven.</a:t>
            </a:r>
          </a:p>
          <a:p xmlns:a="http://schemas.openxmlformats.org/drawingml/2006/main">
            <a:r>
              <a:rPr sz="1400"/>
              <a:t/>
            </a:r>
          </a:p>
          <a:p xmlns:a="http://schemas.openxmlformats.org/drawingml/2006/main">
            <a:r>
              <a:rPr sz="1400"/>
              <a:t>Misvatting: De hoofdstukpaginanummers 20–28 zijn in het complete boek 132–140. Gebruik de gedrukte boekvoet.</a:t>
            </a:r>
          </a:p>
          <a:p xmlns:a="http://schemas.openxmlformats.org/drawingml/2006/main">
            <a:r>
              <a:rPr sz="1400"/>
              <a:t/>
            </a:r>
          </a:p>
          <a:p xmlns:a="http://schemas.openxmlformats.org/drawingml/2006/main">
            <a:r>
              <a:rPr sz="1400"/>
              <a:t>Overgang: Noteer het huiswerk en rond af.</a:t>
            </a:r>
          </a:p>
          <a:p xmlns:a="http://schemas.openxmlformats.org/drawingml/2006/main">
            <a:r>
              <a:rPr sz="1400"/>
              <a:t/>
            </a:r>
          </a:p>
          <a:p xmlns:a="http://schemas.openxmlformats.org/drawingml/2006/main">
            <a:r>
              <a:rPr sz="1400"/>
              <a:t>Bron: Boek 4, v3, book34-lesson-balance-v3-20260915, gedrukte complete-boekpagina 124–126, 132–139.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https://github.com/meijer1973/4veco-lessen/blob/e734532a42b27732ac25ce990fc9448b12309d28/edities/books34-v3/books/book-4/chapters/4.3/4.3.3%20manuscript.md</a:t>
            </a:r>
          </a:p>
          <a:p xmlns:a="http://schemas.openxmlformats.org/drawingml/2006/main">
            <a:r>
              <a:rPr sz="1400"/>
              <a:t>Antwoordmodel: https://github.com/meijer1973/4veco-lessen/blob/e734532a42b27732ac25ce990fc9448b12309d28/edities/books34-v3/books/book-4/chapters/4.3/Antwoorden.md#a433</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4e0678884ca4b0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1c11679f8484a26" /><Relationship Type="http://schemas.openxmlformats.org/officeDocument/2006/relationships/slideLayout" Target="/ppt/slideLayouts/slideLayout1.xml" Id="R4f31c17e22b84f3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f31c17e22b84f3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55857bf0c2a4007" /><Relationship Type="http://schemas.openxmlformats.org/officeDocument/2006/relationships/notesSlide" Target="/ppt/notesSlides/notesSlide1.xml" Id="R1e3b4efc097c45f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e53dd2c25a24576" /><Relationship Type="http://schemas.openxmlformats.org/officeDocument/2006/relationships/notesSlide" Target="/ppt/notesSlides/notesSlide2.xml" Id="R4108a2b06ff3448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eaa70c0c5c44db6" /><Relationship Type="http://schemas.openxmlformats.org/officeDocument/2006/relationships/notesSlide" Target="/ppt/notesSlides/notesSlide3.xml" Id="Rd4b03853d658488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41ecad05dd5495f" /><Relationship Type="http://schemas.openxmlformats.org/officeDocument/2006/relationships/notesSlide" Target="/ppt/notesSlides/notesSlide4.xml" Id="R9b5f868f9fcb4c2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961eaea232b4bcf" /><Relationship Type="http://schemas.openxmlformats.org/officeDocument/2006/relationships/notesSlide" Target="/ppt/notesSlides/notesSlide5.xml" Id="R56399eb59e1b444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47a82ff4c444ad1" /><Relationship Type="http://schemas.openxmlformats.org/officeDocument/2006/relationships/notesSlide" Target="/ppt/notesSlides/notesSlide6.xml" Id="R9ca5f73cdeed4a0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57a693a1fdb462a" /><Relationship Type="http://schemas.openxmlformats.org/officeDocument/2006/relationships/notesSlide" Target="/ppt/notesSlides/notesSlide7.xml" Id="Rc1be490399394e0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444056ead2a4dc3" /><Relationship Type="http://schemas.openxmlformats.org/officeDocument/2006/relationships/chart" Target="/ppt/slides/charts/chart1.xml" Id="Re3d6e34481af416d" /><Relationship Type="http://schemas.openxmlformats.org/officeDocument/2006/relationships/notesSlide" Target="/ppt/notesSlides/notesSlide8.xml" Id="Rb5ddfe71d64343c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768a09790f64003" /><Relationship Type="http://schemas.openxmlformats.org/officeDocument/2006/relationships/chart" Target="/ppt/slides/charts/chart2.xml" Id="R7c2d25791fc34ad0" /><Relationship Type="http://schemas.openxmlformats.org/officeDocument/2006/relationships/notesSlide" Target="/ppt/notesSlides/notesSlide9.xml" Id="R6fef7aee68e3452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987542bc44047b3" /><Relationship Type="http://schemas.openxmlformats.org/officeDocument/2006/relationships/notesSlide" Target="/ppt/notesSlides/notesSlide10.xml" Id="R54425e84686042b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83fc3596a984915" /><Relationship Type="http://schemas.openxmlformats.org/officeDocument/2006/relationships/chart" Target="/ppt/slides/charts/chart3.xml" Id="R002116363c934e9b" /><Relationship Type="http://schemas.openxmlformats.org/officeDocument/2006/relationships/notesSlide" Target="/ppt/notesSlides/notesSlide11.xml" Id="Re579211f882247a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e3b5abdda004531" /><Relationship Type="http://schemas.openxmlformats.org/officeDocument/2006/relationships/notesSlide" Target="/ppt/notesSlides/notesSlide12.xml" Id="Rfb6d4272e665461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58483cc5a02413e" /><Relationship Type="http://schemas.openxmlformats.org/officeDocument/2006/relationships/chart" Target="/ppt/slides/charts/chart4.xml" Id="R6de98f909fce4ada" /><Relationship Type="http://schemas.openxmlformats.org/officeDocument/2006/relationships/notesSlide" Target="/ppt/notesSlides/notesSlide13.xml" Id="Rebf41135e8134a0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64b19a83ccd4092" /><Relationship Type="http://schemas.openxmlformats.org/officeDocument/2006/relationships/notesSlide" Target="/ppt/notesSlides/notesSlide14.xml" Id="R4ac4b8d4f720403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b0905140bfb41c5" /><Relationship Type="http://schemas.openxmlformats.org/officeDocument/2006/relationships/notesSlide" Target="/ppt/notesSlides/notesSlide15.xml" Id="Rf8e4aea27271469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17d95947a444d40" /><Relationship Type="http://schemas.openxmlformats.org/officeDocument/2006/relationships/notesSlide" Target="/ppt/notesSlides/notesSlide16.xml" Id="R550a150bbcbf4c5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0b87a97a2bf4b5c" /><Relationship Type="http://schemas.openxmlformats.org/officeDocument/2006/relationships/notesSlide" Target="/ppt/notesSlides/notesSlide17.xml" Id="Rd5c30526dd3c42d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3db67898300420c" /><Relationship Type="http://schemas.openxmlformats.org/officeDocument/2006/relationships/notesSlide" Target="/ppt/notesSlides/notesSlide18.xml" Id="R193ffebbe4814d7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f5e17da3d7247d3" /><Relationship Type="http://schemas.openxmlformats.org/officeDocument/2006/relationships/notesSlide" Target="/ppt/notesSlides/notesSlide19.xml" Id="Rb1dc92bd37344d1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00ee3fc389b479b" /><Relationship Type="http://schemas.openxmlformats.org/officeDocument/2006/relationships/chart" Target="/ppt/slides/charts/chart5.xml" Id="Rc676160ca84647cc" /><Relationship Type="http://schemas.openxmlformats.org/officeDocument/2006/relationships/notesSlide" Target="/ppt/notesSlides/notesSlide20.xml" Id="Red464d1322d2484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7fa9d59196a4c43" /><Relationship Type="http://schemas.openxmlformats.org/officeDocument/2006/relationships/notesSlide" Target="/ppt/notesSlides/notesSlide21.xml" Id="R13aeda00d624406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2408871826e47f3" /><Relationship Type="http://schemas.openxmlformats.org/officeDocument/2006/relationships/notesSlide" Target="/ppt/notesSlides/notesSlide22.xml" Id="Rf07404271c9a467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8b8c114995c4aab" /><Relationship Type="http://schemas.openxmlformats.org/officeDocument/2006/relationships/notesSlide" Target="/ppt/notesSlides/notesSlide23.xml" Id="R0e10f54bce4c4a0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40b1d13ca0843e6" /><Relationship Type="http://schemas.openxmlformats.org/officeDocument/2006/relationships/chart" Target="/ppt/slides/charts/chart6.xml" Id="R8351051967394817" /><Relationship Type="http://schemas.openxmlformats.org/officeDocument/2006/relationships/notesSlide" Target="/ppt/notesSlides/notesSlide24.xml" Id="R53e7939b4a12420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8975479f9ab430c" /><Relationship Type="http://schemas.openxmlformats.org/officeDocument/2006/relationships/notesSlide" Target="/ppt/notesSlides/notesSlide25.xml" Id="Rcda91d4d28304c7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9795271a3aff4193" /><Relationship Type="http://schemas.openxmlformats.org/officeDocument/2006/relationships/chart" Target="/ppt/slides/charts/chart7.xml" Id="R28cf633b49a2434a" /><Relationship Type="http://schemas.openxmlformats.org/officeDocument/2006/relationships/notesSlide" Target="/ppt/notesSlides/notesSlide26.xml" Id="Rc96902f8e9e24f2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c6323982c104f77" /><Relationship Type="http://schemas.openxmlformats.org/officeDocument/2006/relationships/notesSlide" Target="/ppt/notesSlides/notesSlide27.xml" Id="R36bf822b639944a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8487ff8fbbc4248" /><Relationship Type="http://schemas.openxmlformats.org/officeDocument/2006/relationships/notesSlide" Target="/ppt/notesSlides/notesSlide28.xml" Id="R5cd27c9b01ba4a9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ser>
          <c:idx val="0"/>
          <c:order val="0"/>
          <c:tx>
            <c:v>E0 horizontaal</c:v>
          </c:tx>
          <c:spPr>
            <a:ln xmlns:a="http://schemas.openxmlformats.org/drawingml/2006/main" w="13335">
              <a:solidFill>
                <a:srgbClr val="445B6B"/>
              </a:solidFill>
              <a:prstDash val="dash"/>
            </a:ln>
          </c:spPr>
          <c:marker>
            <c:symbol val="none"/>
          </c:marker>
          <c:xVal>
            <c:numRef>
              <c:f>'Chart Data'!$A$2:$A$3</c:f>
              <c:numCache>
                <c:formatCode>General</c:formatCode>
                <c:ptCount val="2"/>
                <c:pt idx="0">
                  <c:v>0</c:v>
                </c:pt>
                <c:pt idx="1">
                  <c:v>100</c:v>
                </c:pt>
              </c:numCache>
            </c:numRef>
          </c:xVal>
          <c:yVal>
            <c:numRef>
              <c:f>'Chart Data'!$B$2:$B$3</c:f>
              <c:numCache>
                <c:formatCode>0</c:formatCode>
                <c:ptCount val="2"/>
                <c:pt idx="0">
                  <c:v>12</c:v>
                </c:pt>
                <c:pt idx="1">
                  <c:v>12</c:v>
                </c:pt>
              </c:numCache>
            </c:numRef>
          </c:yVal>
          <c:smooth val="0"/>
        </c:ser>
        <c:ser>
          <c:idx val="1"/>
          <c:order val="1"/>
          <c:tx>
            <c:v>E0 verticaal</c:v>
          </c:tx>
          <c:spPr>
            <a:ln xmlns:a="http://schemas.openxmlformats.org/drawingml/2006/main" w="13335">
              <a:solidFill>
                <a:srgbClr val="445B6B"/>
              </a:solidFill>
              <a:prstDash val="dash"/>
            </a:ln>
          </c:spPr>
          <c:marker>
            <c:symbol val="none"/>
          </c:marker>
          <c:xVal>
            <c:numRef>
              <c:f>'Chart Data'!$C$2:$C$3</c:f>
              <c:numCache>
                <c:formatCode>General</c:formatCode>
                <c:ptCount val="2"/>
                <c:pt idx="0">
                  <c:v>100</c:v>
                </c:pt>
                <c:pt idx="1">
                  <c:v>100</c:v>
                </c:pt>
              </c:numCache>
            </c:numRef>
          </c:xVal>
          <c:yVal>
            <c:numRef>
              <c:f>'Chart Data'!$D$2:$D$3</c:f>
              <c:numCache>
                <c:formatCode>0</c:formatCode>
                <c:ptCount val="2"/>
                <c:pt idx="0">
                  <c:v>0</c:v>
                </c:pt>
                <c:pt idx="1">
                  <c:v>12</c:v>
                </c:pt>
              </c:numCache>
            </c:numRef>
          </c:yVal>
          <c:smooth val="0"/>
        </c:ser>
        <c:ser>
          <c:idx val="2"/>
          <c:order val="2"/>
          <c:tx>
            <c:v>Arbeidsvraag oud</c:v>
          </c:tx>
          <c:spPr>
            <a:ln xmlns:a="http://schemas.openxmlformats.org/drawingml/2006/main" w="38100">
              <a:solidFill>
                <a:srgbClr val="17658A"/>
              </a:solidFill>
            </a:ln>
          </c:spPr>
          <c:marker>
            <c:symbol val="none"/>
          </c:marker>
          <c:xVal>
            <c:numRef>
              <c:f>'Chart Data'!$E$2:$E$3</c:f>
              <c:numCache>
                <c:formatCode>General</c:formatCode>
                <c:ptCount val="2"/>
                <c:pt idx="0">
                  <c:v>40</c:v>
                </c:pt>
                <c:pt idx="1">
                  <c:v>200</c:v>
                </c:pt>
              </c:numCache>
            </c:numRef>
          </c:xVal>
          <c:yVal>
            <c:numRef>
              <c:f>'Chart Data'!$F$2:$F$3</c:f>
              <c:numCache>
                <c:formatCode>0</c:formatCode>
                <c:ptCount val="2"/>
                <c:pt idx="0">
                  <c:v>18</c:v>
                </c:pt>
                <c:pt idx="1">
                  <c:v>2</c:v>
                </c:pt>
              </c:numCache>
            </c:numRef>
          </c:yVal>
          <c:smooth val="0"/>
        </c:ser>
        <c:ser>
          <c:idx val="3"/>
          <c:order val="3"/>
          <c:tx>
            <c:v>Arbeidsaanbod</c:v>
          </c:tx>
          <c:spPr>
            <a:ln xmlns:a="http://schemas.openxmlformats.org/drawingml/2006/main" w="38100">
              <a:solidFill>
                <a:srgbClr val="20665B"/>
              </a:solidFill>
            </a:ln>
          </c:spPr>
          <c:marker>
            <c:symbol val="none"/>
          </c:marker>
          <c:xVal>
            <c:numRef>
              <c:f>'Chart Data'!$G$2:$G$3</c:f>
              <c:numCache>
                <c:formatCode>General</c:formatCode>
                <c:ptCount val="2"/>
                <c:pt idx="0">
                  <c:v>0</c:v>
                </c:pt>
                <c:pt idx="1">
                  <c:v>160</c:v>
                </c:pt>
              </c:numCache>
            </c:numRef>
          </c:xVal>
          <c:yVal>
            <c:numRef>
              <c:f>'Chart Data'!$H$2:$H$3</c:f>
              <c:numCache>
                <c:formatCode>0</c:formatCode>
                <c:ptCount val="2"/>
                <c:pt idx="0">
                  <c:v>2</c:v>
                </c:pt>
                <c:pt idx="1">
                  <c:v>18</c:v>
                </c:pt>
              </c:numCache>
            </c:numRef>
          </c:yVal>
          <c:smooth val="0"/>
        </c:ser>
        <c:ser>
          <c:idx val="4"/>
          <c:order val="4"/>
          <c:tx>
            <c:v>Lᵥ oud</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Lᵥ oud</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Data'!$I$2:$I$2</c:f>
              <c:numCache>
                <c:formatCode>General</c:formatCode>
                <c:ptCount val="1"/>
                <c:pt idx="0">
                  <c:v>59</c:v>
                </c:pt>
              </c:numCache>
            </c:numRef>
          </c:xVal>
          <c:yVal>
            <c:numRef>
              <c:f>'Chart Data'!$J$2:$J$2</c:f>
              <c:numCache>
                <c:formatCode>0</c:formatCode>
                <c:ptCount val="1"/>
                <c:pt idx="0">
                  <c:v>18.85</c:v>
                </c:pt>
              </c:numCache>
            </c:numRef>
          </c:yVal>
          <c:smooth val="0"/>
        </c:ser>
        <c:ser>
          <c:idx val="5"/>
          <c:order val="5"/>
          <c:tx>
            <c:v>Lₐ</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Lₐ</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Data'!$K$2:$K$2</c:f>
              <c:numCache>
                <c:formatCode>General</c:formatCode>
                <c:ptCount val="1"/>
                <c:pt idx="0">
                  <c:v>169</c:v>
                </c:pt>
              </c:numCache>
            </c:numRef>
          </c:xVal>
          <c:yVal>
            <c:numRef>
              <c:f>'Chart Data'!$L$2:$L$2</c:f>
              <c:numCache>
                <c:formatCode>0</c:formatCode>
                <c:ptCount val="1"/>
                <c:pt idx="0">
                  <c:v>18.8</c:v>
                </c:pt>
              </c:numCache>
            </c:numRef>
          </c:yVal>
          <c:smooth val="0"/>
        </c:ser>
        <c:ser>
          <c:idx val="6"/>
          <c:order val="6"/>
          <c:tx>
            <c:v>E0</c:v>
          </c:tx>
          <c:spPr>
            <a:ln xmlns:a="http://schemas.openxmlformats.org/drawingml/2006/main" w="0">
              <a:solidFill>
                <a:srgbClr val="17658A"/>
              </a:solidFill>
            </a:ln>
          </c:spPr>
          <c:marker>
            <c:symbol val="circle"/>
            <c:size val="10"/>
            <c:spPr>
              <a:solidFill xmlns:a="http://schemas.openxmlformats.org/drawingml/2006/main">
                <a:srgbClr val="17658A"/>
              </a:solidFill>
            </c:spPr>
          </c:marker>
          <c:xVal>
            <c:numRef>
              <c:f>'Chart Data'!$M$2:$M$2</c:f>
              <c:numCache>
                <c:formatCode>General</c:formatCode>
                <c:ptCount val="1"/>
                <c:pt idx="0">
                  <c:v>100</c:v>
                </c:pt>
              </c:numCache>
            </c:numRef>
          </c:xVal>
          <c:yVal>
            <c:numRef>
              <c:f>'Chart Data'!$N$2:$N$2</c:f>
              <c:numCache>
                <c:formatCode>0</c:formatCode>
                <c:ptCount val="1"/>
                <c:pt idx="0">
                  <c:v>12</c:v>
                </c:pt>
              </c:numCache>
            </c:numRef>
          </c:yVal>
          <c:smooth val="0"/>
        </c:ser>
        <c:ser>
          <c:idx val="7"/>
          <c:order val="7"/>
          <c:tx>
            <c:v>E₀</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E₀</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Data'!$O$2:$O$2</c:f>
              <c:numCache>
                <c:formatCode>General</c:formatCode>
                <c:ptCount val="1"/>
                <c:pt idx="0">
                  <c:v>109</c:v>
                </c:pt>
              </c:numCache>
            </c:numRef>
          </c:xVal>
          <c:yVal>
            <c:numRef>
              <c:f>'Chart Data'!$P$2:$P$2</c:f>
              <c:numCache>
                <c:formatCode>0</c:formatCode>
                <c:ptCount val="1"/>
                <c:pt idx="0">
                  <c:v>12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w (€ per uur)</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4"/>
      </c:valAx>
      <c:valAx>
        <c:axId val="48650112"/>
        <c:scaling>
          <c:orientation val="minMax"/>
          <c:max val="20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L (personen)</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4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E0 horizontaal</c:v>
          </c:tx>
          <c:spPr>
            <a:ln xmlns:a="http://schemas.openxmlformats.org/drawingml/2006/main" w="13335">
              <a:solidFill>
                <a:srgbClr val="445B6B"/>
              </a:solidFill>
              <a:prstDash val="dash"/>
            </a:ln>
          </c:spPr>
          <c:marker>
            <c:symbol val="none"/>
          </c:marker>
          <c:xVal>
            <c:numRef>
              <c:f>'Chart Data'!$A$2:$A$3</c:f>
              <c:numCache>
                <c:formatCode>General</c:formatCode>
                <c:ptCount val="2"/>
                <c:pt idx="0">
                  <c:v>0</c:v>
                </c:pt>
                <c:pt idx="1">
                  <c:v>100</c:v>
                </c:pt>
              </c:numCache>
            </c:numRef>
          </c:xVal>
          <c:yVal>
            <c:numRef>
              <c:f>'Chart Data'!$B$2:$B$3</c:f>
              <c:numCache>
                <c:formatCode>0</c:formatCode>
                <c:ptCount val="2"/>
                <c:pt idx="0">
                  <c:v>12</c:v>
                </c:pt>
                <c:pt idx="1">
                  <c:v>12</c:v>
                </c:pt>
              </c:numCache>
            </c:numRef>
          </c:yVal>
          <c:smooth val="0"/>
        </c:ser>
        <c:ser>
          <c:idx val="1"/>
          <c:order val="1"/>
          <c:tx>
            <c:v>E0 verticaal</c:v>
          </c:tx>
          <c:spPr>
            <a:ln xmlns:a="http://schemas.openxmlformats.org/drawingml/2006/main" w="13335">
              <a:solidFill>
                <a:srgbClr val="445B6B"/>
              </a:solidFill>
              <a:prstDash val="dash"/>
            </a:ln>
          </c:spPr>
          <c:marker>
            <c:symbol val="none"/>
          </c:marker>
          <c:xVal>
            <c:numRef>
              <c:f>'Chart Data'!$C$2:$C$3</c:f>
              <c:numCache>
                <c:formatCode>General</c:formatCode>
                <c:ptCount val="2"/>
                <c:pt idx="0">
                  <c:v>100</c:v>
                </c:pt>
                <c:pt idx="1">
                  <c:v>100</c:v>
                </c:pt>
              </c:numCache>
            </c:numRef>
          </c:xVal>
          <c:yVal>
            <c:numRef>
              <c:f>'Chart Data'!$D$2:$D$3</c:f>
              <c:numCache>
                <c:formatCode>0</c:formatCode>
                <c:ptCount val="2"/>
                <c:pt idx="0">
                  <c:v>0</c:v>
                </c:pt>
                <c:pt idx="1">
                  <c:v>12</c:v>
                </c:pt>
              </c:numCache>
            </c:numRef>
          </c:yVal>
          <c:smooth val="0"/>
        </c:ser>
        <c:ser>
          <c:idx val="2"/>
          <c:order val="2"/>
          <c:tx>
            <c:v>Arbeidsvraag oud</c:v>
          </c:tx>
          <c:spPr>
            <a:ln xmlns:a="http://schemas.openxmlformats.org/drawingml/2006/main" w="38100">
              <a:solidFill>
                <a:srgbClr val="17658A"/>
              </a:solidFill>
            </a:ln>
          </c:spPr>
          <c:marker>
            <c:symbol val="none"/>
          </c:marker>
          <c:xVal>
            <c:numRef>
              <c:f>'Chart Data'!$E$2:$E$3</c:f>
              <c:numCache>
                <c:formatCode>General</c:formatCode>
                <c:ptCount val="2"/>
                <c:pt idx="0">
                  <c:v>40</c:v>
                </c:pt>
                <c:pt idx="1">
                  <c:v>200</c:v>
                </c:pt>
              </c:numCache>
            </c:numRef>
          </c:xVal>
          <c:yVal>
            <c:numRef>
              <c:f>'Chart Data'!$F$2:$F$3</c:f>
              <c:numCache>
                <c:formatCode>0</c:formatCode>
                <c:ptCount val="2"/>
                <c:pt idx="0">
                  <c:v>18</c:v>
                </c:pt>
                <c:pt idx="1">
                  <c:v>2</c:v>
                </c:pt>
              </c:numCache>
            </c:numRef>
          </c:yVal>
          <c:smooth val="0"/>
        </c:ser>
        <c:ser>
          <c:idx val="3"/>
          <c:order val="3"/>
          <c:tx>
            <c:v>Arbeidsaanbod</c:v>
          </c:tx>
          <c:spPr>
            <a:ln xmlns:a="http://schemas.openxmlformats.org/drawingml/2006/main" w="38100">
              <a:solidFill>
                <a:srgbClr val="20665B"/>
              </a:solidFill>
            </a:ln>
          </c:spPr>
          <c:marker>
            <c:symbol val="none"/>
          </c:marker>
          <c:xVal>
            <c:numRef>
              <c:f>'Chart Data'!$G$2:$G$3</c:f>
              <c:numCache>
                <c:formatCode>General</c:formatCode>
                <c:ptCount val="2"/>
                <c:pt idx="0">
                  <c:v>0</c:v>
                </c:pt>
                <c:pt idx="1">
                  <c:v>160</c:v>
                </c:pt>
              </c:numCache>
            </c:numRef>
          </c:xVal>
          <c:yVal>
            <c:numRef>
              <c:f>'Chart Data'!$H$2:$H$3</c:f>
              <c:numCache>
                <c:formatCode>0</c:formatCode>
                <c:ptCount val="2"/>
                <c:pt idx="0">
                  <c:v>2</c:v>
                </c:pt>
                <c:pt idx="1">
                  <c:v>18</c:v>
                </c:pt>
              </c:numCache>
            </c:numRef>
          </c:yVal>
          <c:smooth val="0"/>
        </c:ser>
        <c:ser>
          <c:idx val="4"/>
          <c:order val="4"/>
          <c:tx>
            <c:v>Arbeidsvraag nieuw</c:v>
          </c:tx>
          <c:spPr>
            <a:ln xmlns:a="http://schemas.openxmlformats.org/drawingml/2006/main" w="38100">
              <a:solidFill>
                <a:srgbClr val="A94D16"/>
              </a:solidFill>
              <a:prstDash val="dash"/>
            </a:ln>
          </c:spPr>
          <c:marker>
            <c:symbol val="none"/>
          </c:marker>
          <c:xVal>
            <c:numRef>
              <c:f>'Chart Data'!$I$2:$I$3</c:f>
              <c:numCache>
                <c:formatCode>General</c:formatCode>
                <c:ptCount val="2"/>
                <c:pt idx="0">
                  <c:v>0</c:v>
                </c:pt>
                <c:pt idx="1">
                  <c:v>160</c:v>
                </c:pt>
              </c:numCache>
            </c:numRef>
          </c:xVal>
          <c:yVal>
            <c:numRef>
              <c:f>'Chart Data'!$J$2:$J$3</c:f>
              <c:numCache>
                <c:formatCode>0</c:formatCode>
                <c:ptCount val="2"/>
                <c:pt idx="0">
                  <c:v>18</c:v>
                </c:pt>
                <c:pt idx="1">
                  <c:v>2</c:v>
                </c:pt>
              </c:numCache>
            </c:numRef>
          </c:yVal>
          <c:smooth val="0"/>
        </c:ser>
        <c:ser>
          <c:idx val="5"/>
          <c:order val="5"/>
          <c:tx>
            <c:v>Lᵥ oud</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Lᵥ oud</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Data'!$K$2:$K$2</c:f>
              <c:numCache>
                <c:formatCode>General</c:formatCode>
                <c:ptCount val="1"/>
                <c:pt idx="0">
                  <c:v>59</c:v>
                </c:pt>
              </c:numCache>
            </c:numRef>
          </c:xVal>
          <c:yVal>
            <c:numRef>
              <c:f>'Chart Data'!$L$2:$L$2</c:f>
              <c:numCache>
                <c:formatCode>0</c:formatCode>
                <c:ptCount val="1"/>
                <c:pt idx="0">
                  <c:v>18.85</c:v>
                </c:pt>
              </c:numCache>
            </c:numRef>
          </c:yVal>
          <c:smooth val="0"/>
        </c:ser>
        <c:ser>
          <c:idx val="6"/>
          <c:order val="6"/>
          <c:tx>
            <c:v>Lₐ</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Lₐ</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Data'!$M$2:$M$2</c:f>
              <c:numCache>
                <c:formatCode>General</c:formatCode>
                <c:ptCount val="1"/>
                <c:pt idx="0">
                  <c:v>169</c:v>
                </c:pt>
              </c:numCache>
            </c:numRef>
          </c:xVal>
          <c:yVal>
            <c:numRef>
              <c:f>'Chart Data'!$N$2:$N$2</c:f>
              <c:numCache>
                <c:formatCode>0</c:formatCode>
                <c:ptCount val="1"/>
                <c:pt idx="0">
                  <c:v>18.8</c:v>
                </c:pt>
              </c:numCache>
            </c:numRef>
          </c:yVal>
          <c:smooth val="0"/>
        </c:ser>
        <c:ser>
          <c:idx val="7"/>
          <c:order val="7"/>
          <c:tx>
            <c:v>Lᵥ nieuw</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Lᵥ nieuw</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Data'!$O$2:$O$2</c:f>
              <c:numCache>
                <c:formatCode>General</c:formatCode>
                <c:ptCount val="1"/>
                <c:pt idx="0">
                  <c:v>0</c:v>
                </c:pt>
              </c:numCache>
            </c:numRef>
          </c:xVal>
          <c:yVal>
            <c:numRef>
              <c:f>'Chart Data'!$P$2:$P$2</c:f>
              <c:numCache>
                <c:formatCode>0</c:formatCode>
                <c:ptCount val="1"/>
                <c:pt idx="0">
                  <c:v>18.9</c:v>
                </c:pt>
              </c:numCache>
            </c:numRef>
          </c:yVal>
          <c:smooth val="0"/>
        </c:ser>
        <c:ser>
          <c:idx val="8"/>
          <c:order val="8"/>
          <c:tx>
            <c:v>vraagverschuiving</c:v>
          </c:tx>
          <c:spPr>
            <a:ln xmlns:a="http://schemas.openxmlformats.org/drawingml/2006/main" w="28575">
              <a:solidFill>
                <a:srgbClr val="A94D16"/>
              </a:solidFill>
            </a:ln>
          </c:spPr>
          <c:marker>
            <c:symbol val="none"/>
          </c:marker>
          <c:xVal>
            <c:numRef>
              <c:f>'Chart Data'!$Q$2:$Q$3</c:f>
              <c:numCache>
                <c:formatCode>General</c:formatCode>
                <c:ptCount val="2"/>
                <c:pt idx="0">
                  <c:v>160</c:v>
                </c:pt>
                <c:pt idx="1">
                  <c:v>120</c:v>
                </c:pt>
              </c:numCache>
            </c:numRef>
          </c:xVal>
          <c:yVal>
            <c:numRef>
              <c:f>'Chart Data'!$R$2:$R$3</c:f>
              <c:numCache>
                <c:formatCode>0</c:formatCode>
                <c:ptCount val="2"/>
                <c:pt idx="0">
                  <c:v>6</c:v>
                </c:pt>
                <c:pt idx="1">
                  <c:v>6</c:v>
                </c:pt>
              </c:numCache>
            </c:numRef>
          </c:yVal>
          <c:smooth val="0"/>
        </c:ser>
        <c:ser>
          <c:idx val="9"/>
          <c:order val="9"/>
          <c:tx>
            <c:v>pijlpunt</c:v>
          </c:tx>
          <c:spPr>
            <a:ln xmlns:a="http://schemas.openxmlformats.org/drawingml/2006/main" w="28575">
              <a:solidFill>
                <a:srgbClr val="A94D16"/>
              </a:solidFill>
            </a:ln>
          </c:spPr>
          <c:marker>
            <c:symbol val="none"/>
          </c:marker>
          <c:xVal>
            <c:numRef>
              <c:f>'Chart Data'!$S$2:$S$4</c:f>
              <c:numCache>
                <c:formatCode>General</c:formatCode>
                <c:ptCount val="3"/>
                <c:pt idx="0">
                  <c:v>125</c:v>
                </c:pt>
                <c:pt idx="1">
                  <c:v>120</c:v>
                </c:pt>
                <c:pt idx="2">
                  <c:v>125</c:v>
                </c:pt>
              </c:numCache>
            </c:numRef>
          </c:xVal>
          <c:yVal>
            <c:numRef>
              <c:f>'Chart Data'!$T$2:$T$4</c:f>
              <c:numCache>
                <c:formatCode>0</c:formatCode>
                <c:ptCount val="3"/>
                <c:pt idx="0">
                  <c:v>5.6</c:v>
                </c:pt>
                <c:pt idx="1">
                  <c:v>6</c:v>
                </c:pt>
                <c:pt idx="2">
                  <c:v>6.4</c:v>
                </c:pt>
              </c:numCache>
            </c:numRef>
          </c:yVal>
          <c:smooth val="0"/>
        </c:ser>
        <c:ser>
          <c:idx val="10"/>
          <c:order val="10"/>
          <c:tx>
            <c:v>E0</c:v>
          </c:tx>
          <c:spPr>
            <a:ln xmlns:a="http://schemas.openxmlformats.org/drawingml/2006/main" w="0">
              <a:solidFill>
                <a:srgbClr val="17658A"/>
              </a:solidFill>
            </a:ln>
          </c:spPr>
          <c:marker>
            <c:symbol val="circle"/>
            <c:size val="10"/>
            <c:spPr>
              <a:solidFill xmlns:a="http://schemas.openxmlformats.org/drawingml/2006/main">
                <a:srgbClr val="17658A"/>
              </a:solidFill>
            </c:spPr>
          </c:marker>
          <c:xVal>
            <c:numRef>
              <c:f>'Chart Data'!$U$2:$U$2</c:f>
              <c:numCache>
                <c:formatCode>General</c:formatCode>
                <c:ptCount val="1"/>
                <c:pt idx="0">
                  <c:v>100</c:v>
                </c:pt>
              </c:numCache>
            </c:numRef>
          </c:xVal>
          <c:yVal>
            <c:numRef>
              <c:f>'Chart Data'!$V$2:$V$2</c:f>
              <c:numCache>
                <c:formatCode>0</c:formatCode>
                <c:ptCount val="1"/>
                <c:pt idx="0">
                  <c:v>12</c:v>
                </c:pt>
              </c:numCache>
            </c:numRef>
          </c:yVal>
          <c:smooth val="0"/>
        </c:ser>
        <c:ser>
          <c:idx val="11"/>
          <c:order val="11"/>
          <c:tx>
            <c:v>E₀</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E₀</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Data'!$W$2:$W$2</c:f>
              <c:numCache>
                <c:formatCode>General</c:formatCode>
                <c:ptCount val="1"/>
                <c:pt idx="0">
                  <c:v>109</c:v>
                </c:pt>
              </c:numCache>
            </c:numRef>
          </c:xVal>
          <c:yVal>
            <c:numRef>
              <c:f>'Chart Data'!$X$2:$X$2</c:f>
              <c:numCache>
                <c:formatCode>0</c:formatCode>
                <c:ptCount val="1"/>
                <c:pt idx="0">
                  <c:v>12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w (€ per uur)</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4"/>
      </c:valAx>
      <c:valAx>
        <c:axId val="48650112"/>
        <c:scaling>
          <c:orientation val="minMax"/>
          <c:max val="20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L (personen)</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4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E0 horizontaal</c:v>
          </c:tx>
          <c:spPr>
            <a:ln xmlns:a="http://schemas.openxmlformats.org/drawingml/2006/main" w="13335">
              <a:solidFill>
                <a:srgbClr val="445B6B"/>
              </a:solidFill>
              <a:prstDash val="dash"/>
            </a:ln>
          </c:spPr>
          <c:marker>
            <c:symbol val="none"/>
          </c:marker>
          <c:xVal>
            <c:numRef>
              <c:f>'Chart Data'!$A$2:$A$3</c:f>
              <c:numCache>
                <c:formatCode>General</c:formatCode>
                <c:ptCount val="2"/>
                <c:pt idx="0">
                  <c:v>0</c:v>
                </c:pt>
                <c:pt idx="1">
                  <c:v>100</c:v>
                </c:pt>
              </c:numCache>
            </c:numRef>
          </c:xVal>
          <c:yVal>
            <c:numRef>
              <c:f>'Chart Data'!$B$2:$B$3</c:f>
              <c:numCache>
                <c:formatCode>0</c:formatCode>
                <c:ptCount val="2"/>
                <c:pt idx="0">
                  <c:v>12</c:v>
                </c:pt>
                <c:pt idx="1">
                  <c:v>12</c:v>
                </c:pt>
              </c:numCache>
            </c:numRef>
          </c:yVal>
          <c:smooth val="0"/>
        </c:ser>
        <c:ser>
          <c:idx val="1"/>
          <c:order val="1"/>
          <c:tx>
            <c:v>E0 verticaal</c:v>
          </c:tx>
          <c:spPr>
            <a:ln xmlns:a="http://schemas.openxmlformats.org/drawingml/2006/main" w="13335">
              <a:solidFill>
                <a:srgbClr val="445B6B"/>
              </a:solidFill>
              <a:prstDash val="dash"/>
            </a:ln>
          </c:spPr>
          <c:marker>
            <c:symbol val="none"/>
          </c:marker>
          <c:xVal>
            <c:numRef>
              <c:f>'Chart Data'!$C$2:$C$3</c:f>
              <c:numCache>
                <c:formatCode>General</c:formatCode>
                <c:ptCount val="2"/>
                <c:pt idx="0">
                  <c:v>100</c:v>
                </c:pt>
                <c:pt idx="1">
                  <c:v>100</c:v>
                </c:pt>
              </c:numCache>
            </c:numRef>
          </c:xVal>
          <c:yVal>
            <c:numRef>
              <c:f>'Chart Data'!$D$2:$D$3</c:f>
              <c:numCache>
                <c:formatCode>0</c:formatCode>
                <c:ptCount val="2"/>
                <c:pt idx="0">
                  <c:v>0</c:v>
                </c:pt>
                <c:pt idx="1">
                  <c:v>12</c:v>
                </c:pt>
              </c:numCache>
            </c:numRef>
          </c:yVal>
          <c:smooth val="0"/>
        </c:ser>
        <c:ser>
          <c:idx val="2"/>
          <c:order val="2"/>
          <c:tx>
            <c:v>E1 horizontaal</c:v>
          </c:tx>
          <c:spPr>
            <a:ln xmlns:a="http://schemas.openxmlformats.org/drawingml/2006/main" w="13335">
              <a:solidFill>
                <a:srgbClr val="A94D16"/>
              </a:solidFill>
              <a:prstDash val="dash"/>
            </a:ln>
          </c:spPr>
          <c:marker>
            <c:symbol val="none"/>
          </c:marker>
          <c:xVal>
            <c:numRef>
              <c:f>'Chart Data'!$E$2:$E$3</c:f>
              <c:numCache>
                <c:formatCode>General</c:formatCode>
                <c:ptCount val="2"/>
                <c:pt idx="0">
                  <c:v>0</c:v>
                </c:pt>
                <c:pt idx="1">
                  <c:v>80</c:v>
                </c:pt>
              </c:numCache>
            </c:numRef>
          </c:xVal>
          <c:yVal>
            <c:numRef>
              <c:f>'Chart Data'!$F$2:$F$3</c:f>
              <c:numCache>
                <c:formatCode>0</c:formatCode>
                <c:ptCount val="2"/>
                <c:pt idx="0">
                  <c:v>10</c:v>
                </c:pt>
                <c:pt idx="1">
                  <c:v>10</c:v>
                </c:pt>
              </c:numCache>
            </c:numRef>
          </c:yVal>
          <c:smooth val="0"/>
        </c:ser>
        <c:ser>
          <c:idx val="3"/>
          <c:order val="3"/>
          <c:tx>
            <c:v>E1 verticaal</c:v>
          </c:tx>
          <c:spPr>
            <a:ln xmlns:a="http://schemas.openxmlformats.org/drawingml/2006/main" w="13335">
              <a:solidFill>
                <a:srgbClr val="A94D16"/>
              </a:solidFill>
              <a:prstDash val="dash"/>
            </a:ln>
          </c:spPr>
          <c:marker>
            <c:symbol val="none"/>
          </c:marker>
          <c:xVal>
            <c:numRef>
              <c:f>'Chart Data'!$G$2:$G$3</c:f>
              <c:numCache>
                <c:formatCode>General</c:formatCode>
                <c:ptCount val="2"/>
                <c:pt idx="0">
                  <c:v>80</c:v>
                </c:pt>
                <c:pt idx="1">
                  <c:v>80</c:v>
                </c:pt>
              </c:numCache>
            </c:numRef>
          </c:xVal>
          <c:yVal>
            <c:numRef>
              <c:f>'Chart Data'!$H$2:$H$3</c:f>
              <c:numCache>
                <c:formatCode>0</c:formatCode>
                <c:ptCount val="2"/>
                <c:pt idx="0">
                  <c:v>0</c:v>
                </c:pt>
                <c:pt idx="1">
                  <c:v>10</c:v>
                </c:pt>
              </c:numCache>
            </c:numRef>
          </c:yVal>
          <c:smooth val="0"/>
        </c:ser>
        <c:ser>
          <c:idx val="4"/>
          <c:order val="4"/>
          <c:tx>
            <c:v>Arbeidsvraag oud</c:v>
          </c:tx>
          <c:spPr>
            <a:ln xmlns:a="http://schemas.openxmlformats.org/drawingml/2006/main" w="38100">
              <a:solidFill>
                <a:srgbClr val="17658A"/>
              </a:solidFill>
            </a:ln>
          </c:spPr>
          <c:marker>
            <c:symbol val="none"/>
          </c:marker>
          <c:xVal>
            <c:numRef>
              <c:f>'Chart Data'!$I$2:$I$3</c:f>
              <c:numCache>
                <c:formatCode>General</c:formatCode>
                <c:ptCount val="2"/>
                <c:pt idx="0">
                  <c:v>40</c:v>
                </c:pt>
                <c:pt idx="1">
                  <c:v>200</c:v>
                </c:pt>
              </c:numCache>
            </c:numRef>
          </c:xVal>
          <c:yVal>
            <c:numRef>
              <c:f>'Chart Data'!$J$2:$J$3</c:f>
              <c:numCache>
                <c:formatCode>0</c:formatCode>
                <c:ptCount val="2"/>
                <c:pt idx="0">
                  <c:v>18</c:v>
                </c:pt>
                <c:pt idx="1">
                  <c:v>2</c:v>
                </c:pt>
              </c:numCache>
            </c:numRef>
          </c:yVal>
          <c:smooth val="0"/>
        </c:ser>
        <c:ser>
          <c:idx val="5"/>
          <c:order val="5"/>
          <c:tx>
            <c:v>Arbeidsaanbod</c:v>
          </c:tx>
          <c:spPr>
            <a:ln xmlns:a="http://schemas.openxmlformats.org/drawingml/2006/main" w="38100">
              <a:solidFill>
                <a:srgbClr val="20665B"/>
              </a:solidFill>
            </a:ln>
          </c:spPr>
          <c:marker>
            <c:symbol val="none"/>
          </c:marker>
          <c:xVal>
            <c:numRef>
              <c:f>'Chart Data'!$K$2:$K$3</c:f>
              <c:numCache>
                <c:formatCode>General</c:formatCode>
                <c:ptCount val="2"/>
                <c:pt idx="0">
                  <c:v>0</c:v>
                </c:pt>
                <c:pt idx="1">
                  <c:v>160</c:v>
                </c:pt>
              </c:numCache>
            </c:numRef>
          </c:xVal>
          <c:yVal>
            <c:numRef>
              <c:f>'Chart Data'!$L$2:$L$3</c:f>
              <c:numCache>
                <c:formatCode>0</c:formatCode>
                <c:ptCount val="2"/>
                <c:pt idx="0">
                  <c:v>2</c:v>
                </c:pt>
                <c:pt idx="1">
                  <c:v>18</c:v>
                </c:pt>
              </c:numCache>
            </c:numRef>
          </c:yVal>
          <c:smooth val="0"/>
        </c:ser>
        <c:ser>
          <c:idx val="6"/>
          <c:order val="6"/>
          <c:tx>
            <c:v>Arbeidsvraag nieuw</c:v>
          </c:tx>
          <c:spPr>
            <a:ln xmlns:a="http://schemas.openxmlformats.org/drawingml/2006/main" w="38100">
              <a:solidFill>
                <a:srgbClr val="A94D16"/>
              </a:solidFill>
              <a:prstDash val="dash"/>
            </a:ln>
          </c:spPr>
          <c:marker>
            <c:symbol val="none"/>
          </c:marker>
          <c:xVal>
            <c:numRef>
              <c:f>'Chart Data'!$M$2:$M$3</c:f>
              <c:numCache>
                <c:formatCode>General</c:formatCode>
                <c:ptCount val="2"/>
                <c:pt idx="0">
                  <c:v>0</c:v>
                </c:pt>
                <c:pt idx="1">
                  <c:v>160</c:v>
                </c:pt>
              </c:numCache>
            </c:numRef>
          </c:xVal>
          <c:yVal>
            <c:numRef>
              <c:f>'Chart Data'!$N$2:$N$3</c:f>
              <c:numCache>
                <c:formatCode>0</c:formatCode>
                <c:ptCount val="2"/>
                <c:pt idx="0">
                  <c:v>18</c:v>
                </c:pt>
                <c:pt idx="1">
                  <c:v>2</c:v>
                </c:pt>
              </c:numCache>
            </c:numRef>
          </c:yVal>
          <c:smooth val="0"/>
        </c:ser>
        <c:ser>
          <c:idx val="7"/>
          <c:order val="7"/>
          <c:tx>
            <c:v>Lᵥ oud</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Lᵥ oud</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Data'!$O$2:$O$2</c:f>
              <c:numCache>
                <c:formatCode>General</c:formatCode>
                <c:ptCount val="1"/>
                <c:pt idx="0">
                  <c:v>59</c:v>
                </c:pt>
              </c:numCache>
            </c:numRef>
          </c:xVal>
          <c:yVal>
            <c:numRef>
              <c:f>'Chart Data'!$P$2:$P$2</c:f>
              <c:numCache>
                <c:formatCode>0</c:formatCode>
                <c:ptCount val="1"/>
                <c:pt idx="0">
                  <c:v>18.85</c:v>
                </c:pt>
              </c:numCache>
            </c:numRef>
          </c:yVal>
          <c:smooth val="0"/>
        </c:ser>
        <c:ser>
          <c:idx val="8"/>
          <c:order val="8"/>
          <c:tx>
            <c:v>Lₐ</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Lₐ</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Data'!$Q$2:$Q$2</c:f>
              <c:numCache>
                <c:formatCode>General</c:formatCode>
                <c:ptCount val="1"/>
                <c:pt idx="0">
                  <c:v>169</c:v>
                </c:pt>
              </c:numCache>
            </c:numRef>
          </c:xVal>
          <c:yVal>
            <c:numRef>
              <c:f>'Chart Data'!$R$2:$R$2</c:f>
              <c:numCache>
                <c:formatCode>0</c:formatCode>
                <c:ptCount val="1"/>
                <c:pt idx="0">
                  <c:v>18.8</c:v>
                </c:pt>
              </c:numCache>
            </c:numRef>
          </c:yVal>
          <c:smooth val="0"/>
        </c:ser>
        <c:ser>
          <c:idx val="9"/>
          <c:order val="9"/>
          <c:tx>
            <c:v>Lᵥ nieuw</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Lᵥ nieuw</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Data'!$S$2:$S$2</c:f>
              <c:numCache>
                <c:formatCode>General</c:formatCode>
                <c:ptCount val="1"/>
                <c:pt idx="0">
                  <c:v>0</c:v>
                </c:pt>
              </c:numCache>
            </c:numRef>
          </c:xVal>
          <c:yVal>
            <c:numRef>
              <c:f>'Chart Data'!$T$2:$T$2</c:f>
              <c:numCache>
                <c:formatCode>0</c:formatCode>
                <c:ptCount val="1"/>
                <c:pt idx="0">
                  <c:v>18.9</c:v>
                </c:pt>
              </c:numCache>
            </c:numRef>
          </c:yVal>
          <c:smooth val="0"/>
        </c:ser>
        <c:ser>
          <c:idx val="10"/>
          <c:order val="10"/>
          <c:tx>
            <c:v>E0</c:v>
          </c:tx>
          <c:spPr>
            <a:ln xmlns:a="http://schemas.openxmlformats.org/drawingml/2006/main" w="0">
              <a:solidFill>
                <a:srgbClr val="17658A"/>
              </a:solidFill>
            </a:ln>
          </c:spPr>
          <c:marker>
            <c:symbol val="circle"/>
            <c:size val="10"/>
            <c:spPr>
              <a:solidFill xmlns:a="http://schemas.openxmlformats.org/drawingml/2006/main">
                <a:srgbClr val="17658A"/>
              </a:solidFill>
            </c:spPr>
          </c:marker>
          <c:xVal>
            <c:numRef>
              <c:f>'Chart Data'!$U$2:$U$2</c:f>
              <c:numCache>
                <c:formatCode>General</c:formatCode>
                <c:ptCount val="1"/>
                <c:pt idx="0">
                  <c:v>100</c:v>
                </c:pt>
              </c:numCache>
            </c:numRef>
          </c:xVal>
          <c:yVal>
            <c:numRef>
              <c:f>'Chart Data'!$V$2:$V$2</c:f>
              <c:numCache>
                <c:formatCode>0</c:formatCode>
                <c:ptCount val="1"/>
                <c:pt idx="0">
                  <c:v>12</c:v>
                </c:pt>
              </c:numCache>
            </c:numRef>
          </c:yVal>
          <c:smooth val="0"/>
        </c:ser>
        <c:ser>
          <c:idx val="11"/>
          <c:order val="11"/>
          <c:tx>
            <c:v>E₀</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E₀</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Data'!$W$2:$W$2</c:f>
              <c:numCache>
                <c:formatCode>General</c:formatCode>
                <c:ptCount val="1"/>
                <c:pt idx="0">
                  <c:v>109</c:v>
                </c:pt>
              </c:numCache>
            </c:numRef>
          </c:xVal>
          <c:yVal>
            <c:numRef>
              <c:f>'Chart Data'!$X$2:$X$2</c:f>
              <c:numCache>
                <c:formatCode>0</c:formatCode>
                <c:ptCount val="1"/>
                <c:pt idx="0">
                  <c:v>12</c:v>
                </c:pt>
              </c:numCache>
            </c:numRef>
          </c:yVal>
          <c:smooth val="0"/>
        </c:ser>
        <c:ser>
          <c:idx val="12"/>
          <c:order val="12"/>
          <c:tx>
            <c:v>E1</c:v>
          </c:tx>
          <c:spPr>
            <a:ln xmlns:a="http://schemas.openxmlformats.org/drawingml/2006/main" w="0">
              <a:solidFill>
                <a:srgbClr val="A94D16"/>
              </a:solidFill>
            </a:ln>
          </c:spPr>
          <c:marker>
            <c:symbol val="circle"/>
            <c:size val="10"/>
            <c:spPr>
              <a:solidFill xmlns:a="http://schemas.openxmlformats.org/drawingml/2006/main">
                <a:srgbClr val="A94D16"/>
              </a:solidFill>
            </c:spPr>
          </c:marker>
          <c:xVal>
            <c:numRef>
              <c:f>'Chart Data'!$Y$2:$Y$2</c:f>
              <c:numCache>
                <c:formatCode>General</c:formatCode>
                <c:ptCount val="1"/>
                <c:pt idx="0">
                  <c:v>80</c:v>
                </c:pt>
              </c:numCache>
            </c:numRef>
          </c:xVal>
          <c:yVal>
            <c:numRef>
              <c:f>'Chart Data'!$Z$2:$Z$2</c:f>
              <c:numCache>
                <c:formatCode>0</c:formatCode>
                <c:ptCount val="1"/>
                <c:pt idx="0">
                  <c:v>10</c:v>
                </c:pt>
              </c:numCache>
            </c:numRef>
          </c:yVal>
          <c:smooth val="0"/>
        </c:ser>
        <c:ser>
          <c:idx val="13"/>
          <c:order val="13"/>
          <c:tx>
            <c:v>E₁</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E₁</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Data'!$AA$2:$AA$2</c:f>
              <c:numCache>
                <c:formatCode>General</c:formatCode>
                <c:ptCount val="1"/>
                <c:pt idx="0">
                  <c:v>78</c:v>
                </c:pt>
              </c:numCache>
            </c:numRef>
          </c:xVal>
          <c:yVal>
            <c:numRef>
              <c:f>'Chart Data'!$AB$2:$AB$2</c:f>
              <c:numCache>
                <c:formatCode>0</c:formatCode>
                <c:ptCount val="1"/>
                <c:pt idx="0">
                  <c:v>7.8</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w (€ per uur)</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4"/>
      </c:valAx>
      <c:valAx>
        <c:axId val="48650112"/>
        <c:scaling>
          <c:orientation val="minMax"/>
          <c:max val="20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L (personen)</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4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vast loon</c:v>
          </c:tx>
          <c:spPr>
            <a:ln xmlns:a="http://schemas.openxmlformats.org/drawingml/2006/main" w="13335">
              <a:solidFill>
                <a:srgbClr val="A94D16"/>
              </a:solidFill>
              <a:prstDash val="dash"/>
            </a:ln>
          </c:spPr>
          <c:marker>
            <c:symbol val="none"/>
          </c:marker>
          <c:xVal>
            <c:numRef>
              <c:f>'Chart Data'!$A$2:$A$3</c:f>
              <c:numCache>
                <c:formatCode>General</c:formatCode>
                <c:ptCount val="2"/>
                <c:pt idx="0">
                  <c:v>0</c:v>
                </c:pt>
                <c:pt idx="1">
                  <c:v>100</c:v>
                </c:pt>
              </c:numCache>
            </c:numRef>
          </c:xVal>
          <c:yVal>
            <c:numRef>
              <c:f>'Chart Data'!$B$2:$B$3</c:f>
              <c:numCache>
                <c:formatCode>0</c:formatCode>
                <c:ptCount val="2"/>
                <c:pt idx="0">
                  <c:v>12</c:v>
                </c:pt>
                <c:pt idx="1">
                  <c:v>12</c:v>
                </c:pt>
              </c:numCache>
            </c:numRef>
          </c:yVal>
          <c:smooth val="0"/>
        </c:ser>
        <c:ser>
          <c:idx val="1"/>
          <c:order val="1"/>
          <c:tx>
            <c:v>vraag vast loon</c:v>
          </c:tx>
          <c:spPr>
            <a:ln xmlns:a="http://schemas.openxmlformats.org/drawingml/2006/main" w="13335">
              <a:solidFill>
                <a:srgbClr val="445B6B"/>
              </a:solidFill>
              <a:prstDash val="dash"/>
            </a:ln>
          </c:spPr>
          <c:marker>
            <c:symbol val="none"/>
          </c:marker>
          <c:xVal>
            <c:numRef>
              <c:f>'Chart Data'!$C$2:$C$3</c:f>
              <c:numCache>
                <c:formatCode>General</c:formatCode>
                <c:ptCount val="2"/>
                <c:pt idx="0">
                  <c:v>60</c:v>
                </c:pt>
                <c:pt idx="1">
                  <c:v>60</c:v>
                </c:pt>
              </c:numCache>
            </c:numRef>
          </c:xVal>
          <c:yVal>
            <c:numRef>
              <c:f>'Chart Data'!$D$2:$D$3</c:f>
              <c:numCache>
                <c:formatCode>0</c:formatCode>
                <c:ptCount val="2"/>
                <c:pt idx="0">
                  <c:v>0</c:v>
                </c:pt>
                <c:pt idx="1">
                  <c:v>12</c:v>
                </c:pt>
              </c:numCache>
            </c:numRef>
          </c:yVal>
          <c:smooth val="0"/>
        </c:ser>
        <c:ser>
          <c:idx val="2"/>
          <c:order val="2"/>
          <c:tx>
            <c:v>aanbod vast loon</c:v>
          </c:tx>
          <c:spPr>
            <a:ln xmlns:a="http://schemas.openxmlformats.org/drawingml/2006/main" w="13335">
              <a:solidFill>
                <a:srgbClr val="445B6B"/>
              </a:solidFill>
              <a:prstDash val="dash"/>
            </a:ln>
          </c:spPr>
          <c:marker>
            <c:symbol val="none"/>
          </c:marker>
          <c:xVal>
            <c:numRef>
              <c:f>'Chart Data'!$E$2:$E$3</c:f>
              <c:numCache>
                <c:formatCode>General</c:formatCode>
                <c:ptCount val="2"/>
                <c:pt idx="0">
                  <c:v>100</c:v>
                </c:pt>
                <c:pt idx="1">
                  <c:v>100</c:v>
                </c:pt>
              </c:numCache>
            </c:numRef>
          </c:xVal>
          <c:yVal>
            <c:numRef>
              <c:f>'Chart Data'!$F$2:$F$3</c:f>
              <c:numCache>
                <c:formatCode>0</c:formatCode>
                <c:ptCount val="2"/>
                <c:pt idx="0">
                  <c:v>0</c:v>
                </c:pt>
                <c:pt idx="1">
                  <c:v>12</c:v>
                </c:pt>
              </c:numCache>
            </c:numRef>
          </c:yVal>
          <c:smooth val="0"/>
        </c:ser>
        <c:ser>
          <c:idx val="3"/>
          <c:order val="3"/>
          <c:tx>
            <c:v>Arbeidsvraag oud</c:v>
          </c:tx>
          <c:spPr>
            <a:ln xmlns:a="http://schemas.openxmlformats.org/drawingml/2006/main" w="38100">
              <a:solidFill>
                <a:srgbClr val="17658A"/>
              </a:solidFill>
            </a:ln>
          </c:spPr>
          <c:marker>
            <c:symbol val="none"/>
          </c:marker>
          <c:xVal>
            <c:numRef>
              <c:f>'Chart Data'!$G$2:$G$3</c:f>
              <c:numCache>
                <c:formatCode>General</c:formatCode>
                <c:ptCount val="2"/>
                <c:pt idx="0">
                  <c:v>40</c:v>
                </c:pt>
                <c:pt idx="1">
                  <c:v>200</c:v>
                </c:pt>
              </c:numCache>
            </c:numRef>
          </c:xVal>
          <c:yVal>
            <c:numRef>
              <c:f>'Chart Data'!$H$2:$H$3</c:f>
              <c:numCache>
                <c:formatCode>0</c:formatCode>
                <c:ptCount val="2"/>
                <c:pt idx="0">
                  <c:v>18</c:v>
                </c:pt>
                <c:pt idx="1">
                  <c:v>2</c:v>
                </c:pt>
              </c:numCache>
            </c:numRef>
          </c:yVal>
          <c:smooth val="0"/>
        </c:ser>
        <c:ser>
          <c:idx val="4"/>
          <c:order val="4"/>
          <c:tx>
            <c:v>Arbeidsaanbod</c:v>
          </c:tx>
          <c:spPr>
            <a:ln xmlns:a="http://schemas.openxmlformats.org/drawingml/2006/main" w="38100">
              <a:solidFill>
                <a:srgbClr val="20665B"/>
              </a:solidFill>
            </a:ln>
          </c:spPr>
          <c:marker>
            <c:symbol val="none"/>
          </c:marker>
          <c:xVal>
            <c:numRef>
              <c:f>'Chart Data'!$I$2:$I$3</c:f>
              <c:numCache>
                <c:formatCode>General</c:formatCode>
                <c:ptCount val="2"/>
                <c:pt idx="0">
                  <c:v>0</c:v>
                </c:pt>
                <c:pt idx="1">
                  <c:v>160</c:v>
                </c:pt>
              </c:numCache>
            </c:numRef>
          </c:xVal>
          <c:yVal>
            <c:numRef>
              <c:f>'Chart Data'!$J$2:$J$3</c:f>
              <c:numCache>
                <c:formatCode>0</c:formatCode>
                <c:ptCount val="2"/>
                <c:pt idx="0">
                  <c:v>2</c:v>
                </c:pt>
                <c:pt idx="1">
                  <c:v>18</c:v>
                </c:pt>
              </c:numCache>
            </c:numRef>
          </c:yVal>
          <c:smooth val="0"/>
        </c:ser>
        <c:ser>
          <c:idx val="5"/>
          <c:order val="5"/>
          <c:tx>
            <c:v>Arbeidsvraag nieuw</c:v>
          </c:tx>
          <c:spPr>
            <a:ln xmlns:a="http://schemas.openxmlformats.org/drawingml/2006/main" w="38100">
              <a:solidFill>
                <a:srgbClr val="A94D16"/>
              </a:solidFill>
              <a:prstDash val="dash"/>
            </a:ln>
          </c:spPr>
          <c:marker>
            <c:symbol val="none"/>
          </c:marker>
          <c:xVal>
            <c:numRef>
              <c:f>'Chart Data'!$K$2:$K$3</c:f>
              <c:numCache>
                <c:formatCode>General</c:formatCode>
                <c:ptCount val="2"/>
                <c:pt idx="0">
                  <c:v>0</c:v>
                </c:pt>
                <c:pt idx="1">
                  <c:v>160</c:v>
                </c:pt>
              </c:numCache>
            </c:numRef>
          </c:xVal>
          <c:yVal>
            <c:numRef>
              <c:f>'Chart Data'!$L$2:$L$3</c:f>
              <c:numCache>
                <c:formatCode>0</c:formatCode>
                <c:ptCount val="2"/>
                <c:pt idx="0">
                  <c:v>18</c:v>
                </c:pt>
                <c:pt idx="1">
                  <c:v>2</c:v>
                </c:pt>
              </c:numCache>
            </c:numRef>
          </c:yVal>
          <c:smooth val="0"/>
        </c:ser>
        <c:ser>
          <c:idx val="6"/>
          <c:order val="6"/>
          <c:tx>
            <c:v>Lᵥ oud</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Lᵥ oud</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Data'!$M$2:$M$2</c:f>
              <c:numCache>
                <c:formatCode>General</c:formatCode>
                <c:ptCount val="1"/>
                <c:pt idx="0">
                  <c:v>59</c:v>
                </c:pt>
              </c:numCache>
            </c:numRef>
          </c:xVal>
          <c:yVal>
            <c:numRef>
              <c:f>'Chart Data'!$N$2:$N$2</c:f>
              <c:numCache>
                <c:formatCode>0</c:formatCode>
                <c:ptCount val="1"/>
                <c:pt idx="0">
                  <c:v>18.85</c:v>
                </c:pt>
              </c:numCache>
            </c:numRef>
          </c:yVal>
          <c:smooth val="0"/>
        </c:ser>
        <c:ser>
          <c:idx val="7"/>
          <c:order val="7"/>
          <c:tx>
            <c:v>Lₐ</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Lₐ</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Data'!$O$2:$O$2</c:f>
              <c:numCache>
                <c:formatCode>General</c:formatCode>
                <c:ptCount val="1"/>
                <c:pt idx="0">
                  <c:v>169</c:v>
                </c:pt>
              </c:numCache>
            </c:numRef>
          </c:xVal>
          <c:yVal>
            <c:numRef>
              <c:f>'Chart Data'!$P$2:$P$2</c:f>
              <c:numCache>
                <c:formatCode>0</c:formatCode>
                <c:ptCount val="1"/>
                <c:pt idx="0">
                  <c:v>18.8</c:v>
                </c:pt>
              </c:numCache>
            </c:numRef>
          </c:yVal>
          <c:smooth val="0"/>
        </c:ser>
        <c:ser>
          <c:idx val="8"/>
          <c:order val="8"/>
          <c:tx>
            <c:v>Lᵥ nieuw</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Lᵥ nieuw</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Data'!$Q$2:$Q$2</c:f>
              <c:numCache>
                <c:formatCode>General</c:formatCode>
                <c:ptCount val="1"/>
                <c:pt idx="0">
                  <c:v>0</c:v>
                </c:pt>
              </c:numCache>
            </c:numRef>
          </c:xVal>
          <c:yVal>
            <c:numRef>
              <c:f>'Chart Data'!$R$2:$R$2</c:f>
              <c:numCache>
                <c:formatCode>0</c:formatCode>
                <c:ptCount val="1"/>
                <c:pt idx="0">
                  <c:v>18.9</c:v>
                </c:pt>
              </c:numCache>
            </c:numRef>
          </c:yVal>
          <c:smooth val="0"/>
        </c:ser>
        <c:ser>
          <c:idx val="9"/>
          <c:order val="9"/>
          <c:tx>
            <c:v>nieuwe vraag bij vast loon</c:v>
          </c:tx>
          <c:spPr>
            <a:ln xmlns:a="http://schemas.openxmlformats.org/drawingml/2006/main" w="0">
              <a:solidFill>
                <a:srgbClr val="A94D16"/>
              </a:solidFill>
            </a:ln>
          </c:spPr>
          <c:marker>
            <c:symbol val="circle"/>
            <c:size val="10"/>
            <c:spPr>
              <a:solidFill xmlns:a="http://schemas.openxmlformats.org/drawingml/2006/main">
                <a:srgbClr val="A94D16"/>
              </a:solidFill>
            </c:spPr>
          </c:marker>
          <c:xVal>
            <c:numRef>
              <c:f>'Chart Data'!$S$2:$S$2</c:f>
              <c:numCache>
                <c:formatCode>General</c:formatCode>
                <c:ptCount val="1"/>
                <c:pt idx="0">
                  <c:v>60</c:v>
                </c:pt>
              </c:numCache>
            </c:numRef>
          </c:xVal>
          <c:yVal>
            <c:numRef>
              <c:f>'Chart Data'!$T$2:$T$2</c:f>
              <c:numCache>
                <c:formatCode>0</c:formatCode>
                <c:ptCount val="1"/>
                <c:pt idx="0">
                  <c:v>12</c:v>
                </c:pt>
              </c:numCache>
            </c:numRef>
          </c:yVal>
          <c:smooth val="0"/>
        </c:ser>
        <c:ser>
          <c:idx val="10"/>
          <c:order val="10"/>
          <c:tx>
            <c:v>aanbod bij vast loon</c:v>
          </c:tx>
          <c:spPr>
            <a:ln xmlns:a="http://schemas.openxmlformats.org/drawingml/2006/main" w="0">
              <a:solidFill>
                <a:srgbClr val="20665B"/>
              </a:solidFill>
            </a:ln>
          </c:spPr>
          <c:marker>
            <c:symbol val="circle"/>
            <c:size val="10"/>
            <c:spPr>
              <a:solidFill xmlns:a="http://schemas.openxmlformats.org/drawingml/2006/main">
                <a:srgbClr val="20665B"/>
              </a:solidFill>
            </c:spPr>
          </c:marker>
          <c:xVal>
            <c:numRef>
              <c:f>'Chart Data'!$U$2:$U$2</c:f>
              <c:numCache>
                <c:formatCode>General</c:formatCode>
                <c:ptCount val="1"/>
                <c:pt idx="0">
                  <c:v>100</c:v>
                </c:pt>
              </c:numCache>
            </c:numRef>
          </c:xVal>
          <c:yVal>
            <c:numRef>
              <c:f>'Chart Data'!$V$2:$V$2</c:f>
              <c:numCache>
                <c:formatCode>0</c:formatCode>
                <c:ptCount val="1"/>
                <c:pt idx="0">
                  <c:v>12</c:v>
                </c:pt>
              </c:numCache>
            </c:numRef>
          </c:yVal>
          <c:smooth val="0"/>
        </c:ser>
        <c:ser>
          <c:idx val="11"/>
          <c:order val="11"/>
          <c:tx>
            <c:v>aanbodoverschot</c:v>
          </c:tx>
          <c:spPr>
            <a:ln xmlns:a="http://schemas.openxmlformats.org/drawingml/2006/main" w="57150">
              <a:solidFill>
                <a:srgbClr val="A94D16"/>
              </a:solidFill>
            </a:ln>
          </c:spPr>
          <c:marker>
            <c:symbol val="none"/>
          </c:marker>
          <c:xVal>
            <c:numRef>
              <c:f>'Chart Data'!$W$2:$W$3</c:f>
              <c:numCache>
                <c:formatCode>General</c:formatCode>
                <c:ptCount val="2"/>
                <c:pt idx="0">
                  <c:v>60</c:v>
                </c:pt>
                <c:pt idx="1">
                  <c:v>100</c:v>
                </c:pt>
              </c:numCache>
            </c:numRef>
          </c:xVal>
          <c:yVal>
            <c:numRef>
              <c:f>'Chart Data'!$X$2:$X$3</c:f>
              <c:numCache>
                <c:formatCode>0</c:formatCode>
                <c:ptCount val="2"/>
                <c:pt idx="0">
                  <c:v>12</c:v>
                </c:pt>
                <c:pt idx="1">
                  <c:v>12</c:v>
                </c:pt>
              </c:numCache>
            </c:numRef>
          </c:yVal>
          <c:smooth val="0"/>
        </c:ser>
        <c:ser>
          <c:idx val="12"/>
          <c:order val="12"/>
          <c:tx>
            <c:v>60</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60</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Data'!$Y$2:$Y$2</c:f>
              <c:numCache>
                <c:formatCode>General</c:formatCode>
                <c:ptCount val="1"/>
                <c:pt idx="0">
                  <c:v>60</c:v>
                </c:pt>
              </c:numCache>
            </c:numRef>
          </c:xVal>
          <c:yVal>
            <c:numRef>
              <c:f>'Chart Data'!$Z$2:$Z$2</c:f>
              <c:numCache>
                <c:formatCode>0</c:formatCode>
                <c:ptCount val="1"/>
                <c:pt idx="0">
                  <c:v>1.1</c:v>
                </c:pt>
              </c:numCache>
            </c:numRef>
          </c:yVal>
          <c:smooth val="0"/>
        </c:ser>
        <c:ser>
          <c:idx val="13"/>
          <c:order val="13"/>
          <c:tx>
            <c:v>100</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100</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Data'!$AA$2:$AA$2</c:f>
              <c:numCache>
                <c:formatCode>General</c:formatCode>
                <c:ptCount val="1"/>
                <c:pt idx="0">
                  <c:v>100</c:v>
                </c:pt>
              </c:numCache>
            </c:numRef>
          </c:xVal>
          <c:yVal>
            <c:numRef>
              <c:f>'Chart Data'!$AB$2:$AB$2</c:f>
              <c:numCache>
                <c:formatCode>0</c:formatCode>
                <c:ptCount val="1"/>
                <c:pt idx="0">
                  <c:v>1.1</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w (€ per uur)</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4"/>
      </c:valAx>
      <c:valAx>
        <c:axId val="48650112"/>
        <c:scaling>
          <c:orientation val="minMax"/>
          <c:max val="20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L (personen)</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4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Arbeidsvraag oud</c:v>
          </c:tx>
          <c:spPr>
            <a:ln xmlns:a="http://schemas.openxmlformats.org/drawingml/2006/main" w="38100">
              <a:solidFill>
                <a:srgbClr val="17658A"/>
              </a:solidFill>
            </a:ln>
          </c:spPr>
          <c:marker>
            <c:symbol val="none"/>
          </c:marker>
          <c:xVal>
            <c:numRef>
              <c:f>'Chart Data'!$A$2:$A$3</c:f>
              <c:numCache>
                <c:formatCode>General</c:formatCode>
                <c:ptCount val="2"/>
                <c:pt idx="0">
                  <c:v>36</c:v>
                </c:pt>
                <c:pt idx="1">
                  <c:v>168</c:v>
                </c:pt>
              </c:numCache>
            </c:numRef>
          </c:xVal>
          <c:yVal>
            <c:numRef>
              <c:f>'Chart Data'!$B$2:$B$3</c:f>
              <c:numCache>
                <c:formatCode>0</c:formatCode>
                <c:ptCount val="2"/>
                <c:pt idx="0">
                  <c:v>24</c:v>
                </c:pt>
                <c:pt idx="1">
                  <c:v>2</c:v>
                </c:pt>
              </c:numCache>
            </c:numRef>
          </c:yVal>
          <c:smooth val="0"/>
        </c:ser>
        <c:ser>
          <c:idx val="1"/>
          <c:order val="1"/>
          <c:tx>
            <c:v>Arbeidsaanbod</c:v>
          </c:tx>
          <c:spPr>
            <a:ln xmlns:a="http://schemas.openxmlformats.org/drawingml/2006/main" w="38100">
              <a:solidFill>
                <a:srgbClr val="20665B"/>
              </a:solidFill>
            </a:ln>
          </c:spPr>
          <c:marker>
            <c:symbol val="none"/>
          </c:marker>
          <c:xVal>
            <c:numRef>
              <c:f>'Chart Data'!$C$2:$C$3</c:f>
              <c:numCache>
                <c:formatCode>General</c:formatCode>
                <c:ptCount val="2"/>
                <c:pt idx="0">
                  <c:v>0</c:v>
                </c:pt>
                <c:pt idx="1">
                  <c:v>132</c:v>
                </c:pt>
              </c:numCache>
            </c:numRef>
          </c:xVal>
          <c:yVal>
            <c:numRef>
              <c:f>'Chart Data'!$D$2:$D$3</c:f>
              <c:numCache>
                <c:formatCode>0</c:formatCode>
                <c:ptCount val="2"/>
                <c:pt idx="0">
                  <c:v>2</c:v>
                </c:pt>
                <c:pt idx="1">
                  <c:v>24</c:v>
                </c:pt>
              </c:numCache>
            </c:numRef>
          </c:yVal>
          <c:smooth val="0"/>
        </c:ser>
        <c:ser>
          <c:idx val="2"/>
          <c:order val="2"/>
          <c:tx>
            <c:v>Arbeidsvraag nieuw</c:v>
          </c:tx>
          <c:spPr>
            <a:ln xmlns:a="http://schemas.openxmlformats.org/drawingml/2006/main" w="38100">
              <a:solidFill>
                <a:srgbClr val="A94D16"/>
              </a:solidFill>
              <a:prstDash val="dash"/>
            </a:ln>
          </c:spPr>
          <c:marker>
            <c:symbol val="none"/>
          </c:marker>
          <c:xVal>
            <c:numRef>
              <c:f>'Chart Data'!$E$2:$E$3</c:f>
              <c:numCache>
                <c:formatCode>General</c:formatCode>
                <c:ptCount val="2"/>
                <c:pt idx="0">
                  <c:v>0</c:v>
                </c:pt>
                <c:pt idx="1">
                  <c:v>132</c:v>
                </c:pt>
              </c:numCache>
            </c:numRef>
          </c:xVal>
          <c:yVal>
            <c:numRef>
              <c:f>'Chart Data'!$F$2:$F$3</c:f>
              <c:numCache>
                <c:formatCode>0</c:formatCode>
                <c:ptCount val="2"/>
                <c:pt idx="0">
                  <c:v>24</c:v>
                </c:pt>
                <c:pt idx="1">
                  <c:v>2</c:v>
                </c:pt>
              </c:numCache>
            </c:numRef>
          </c:yVal>
          <c:smooth val="0"/>
        </c:ser>
        <c:ser>
          <c:idx val="3"/>
          <c:order val="3"/>
          <c:tx>
            <c:v>Lᵥ oud</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Lᵥ oud</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56</c:v>
                </c:pt>
              </c:numCache>
            </c:numRef>
          </c:xVal>
          <c:yVal>
            <c:numRef>
              <c:f>'Chart Data'!$H$2:$H$2</c:f>
              <c:numCache>
                <c:formatCode>0</c:formatCode>
                <c:ptCount val="1"/>
                <c:pt idx="0">
                  <c:v>24.35</c:v>
                </c:pt>
              </c:numCache>
            </c:numRef>
          </c:yVal>
          <c:smooth val="0"/>
        </c:ser>
        <c:ser>
          <c:idx val="4"/>
          <c:order val="4"/>
          <c:tx>
            <c:v>Lₐ</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Lₐ</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Data'!$I$2:$I$2</c:f>
              <c:numCache>
                <c:formatCode>General</c:formatCode>
                <c:ptCount val="1"/>
                <c:pt idx="0">
                  <c:v>141</c:v>
                </c:pt>
              </c:numCache>
            </c:numRef>
          </c:xVal>
          <c:yVal>
            <c:numRef>
              <c:f>'Chart Data'!$J$2:$J$2</c:f>
              <c:numCache>
                <c:formatCode>0</c:formatCode>
                <c:ptCount val="1"/>
                <c:pt idx="0">
                  <c:v>24.8</c:v>
                </c:pt>
              </c:numCache>
            </c:numRef>
          </c:yVal>
          <c:smooth val="0"/>
        </c:ser>
        <c:ser>
          <c:idx val="5"/>
          <c:order val="5"/>
          <c:tx>
            <c:v>Lᵥ nieuw</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Lᵥ nieuw</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Data'!$K$2:$K$2</c:f>
              <c:numCache>
                <c:formatCode>General</c:formatCode>
                <c:ptCount val="1"/>
                <c:pt idx="0">
                  <c:v>0</c:v>
                </c:pt>
              </c:numCache>
            </c:numRef>
          </c:xVal>
          <c:yVal>
            <c:numRef>
              <c:f>'Chart Data'!$L$2:$L$2</c:f>
              <c:numCache>
                <c:formatCode>0</c:formatCode>
                <c:ptCount val="1"/>
                <c:pt idx="0">
                  <c:v>24.9</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w (€ per uur)</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5"/>
      </c:valAx>
      <c:valAx>
        <c:axId val="48650112"/>
        <c:scaling>
          <c:orientation val="minMax"/>
          <c:max val="18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L (personen)</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4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Marker"/>
        <c:ser>
          <c:idx val="0"/>
          <c:order val="0"/>
          <c:tx>
            <c:v>E0 horizontaal</c:v>
          </c:tx>
          <c:spPr>
            <a:ln xmlns:a="http://schemas.openxmlformats.org/drawingml/2006/main" w="13335">
              <a:solidFill>
                <a:srgbClr val="445B6B"/>
              </a:solidFill>
              <a:prstDash val="dash"/>
            </a:ln>
          </c:spPr>
          <c:marker>
            <c:symbol val="none"/>
          </c:marker>
          <c:xVal>
            <c:numRef>
              <c:f>'Chart Data'!$A$2:$A$3</c:f>
              <c:numCache>
                <c:formatCode>General</c:formatCode>
                <c:ptCount val="2"/>
                <c:pt idx="0">
                  <c:v>0</c:v>
                </c:pt>
                <c:pt idx="1">
                  <c:v>84</c:v>
                </c:pt>
              </c:numCache>
            </c:numRef>
          </c:xVal>
          <c:yVal>
            <c:numRef>
              <c:f>'Chart Data'!$B$2:$B$3</c:f>
              <c:numCache>
                <c:formatCode>0</c:formatCode>
                <c:ptCount val="2"/>
                <c:pt idx="0">
                  <c:v>16</c:v>
                </c:pt>
                <c:pt idx="1">
                  <c:v>16</c:v>
                </c:pt>
              </c:numCache>
            </c:numRef>
          </c:yVal>
          <c:smooth val="0"/>
        </c:ser>
        <c:ser>
          <c:idx val="1"/>
          <c:order val="1"/>
          <c:tx>
            <c:v>E0 verticaal</c:v>
          </c:tx>
          <c:spPr>
            <a:ln xmlns:a="http://schemas.openxmlformats.org/drawingml/2006/main" w="13335">
              <a:solidFill>
                <a:srgbClr val="445B6B"/>
              </a:solidFill>
              <a:prstDash val="dash"/>
            </a:ln>
          </c:spPr>
          <c:marker>
            <c:symbol val="none"/>
          </c:marker>
          <c:xVal>
            <c:numRef>
              <c:f>'Chart Data'!$C$2:$C$3</c:f>
              <c:numCache>
                <c:formatCode>General</c:formatCode>
                <c:ptCount val="2"/>
                <c:pt idx="0">
                  <c:v>84</c:v>
                </c:pt>
                <c:pt idx="1">
                  <c:v>84</c:v>
                </c:pt>
              </c:numCache>
            </c:numRef>
          </c:xVal>
          <c:yVal>
            <c:numRef>
              <c:f>'Chart Data'!$D$2:$D$3</c:f>
              <c:numCache>
                <c:formatCode>0</c:formatCode>
                <c:ptCount val="2"/>
                <c:pt idx="0">
                  <c:v>0</c:v>
                </c:pt>
                <c:pt idx="1">
                  <c:v>16</c:v>
                </c:pt>
              </c:numCache>
            </c:numRef>
          </c:yVal>
          <c:smooth val="0"/>
        </c:ser>
        <c:ser>
          <c:idx val="2"/>
          <c:order val="2"/>
          <c:tx>
            <c:v>E1 horizontaal</c:v>
          </c:tx>
          <c:spPr>
            <a:ln xmlns:a="http://schemas.openxmlformats.org/drawingml/2006/main" w="13335">
              <a:solidFill>
                <a:srgbClr val="A94D16"/>
              </a:solidFill>
              <a:prstDash val="dash"/>
            </a:ln>
          </c:spPr>
          <c:marker>
            <c:symbol val="none"/>
          </c:marker>
          <c:xVal>
            <c:numRef>
              <c:f>'Chart Data'!$E$2:$E$3</c:f>
              <c:numCache>
                <c:formatCode>General</c:formatCode>
                <c:ptCount val="2"/>
                <c:pt idx="0">
                  <c:v>0</c:v>
                </c:pt>
                <c:pt idx="1">
                  <c:v>66</c:v>
                </c:pt>
              </c:numCache>
            </c:numRef>
          </c:xVal>
          <c:yVal>
            <c:numRef>
              <c:f>'Chart Data'!$F$2:$F$3</c:f>
              <c:numCache>
                <c:formatCode>0</c:formatCode>
                <c:ptCount val="2"/>
                <c:pt idx="0">
                  <c:v>13</c:v>
                </c:pt>
                <c:pt idx="1">
                  <c:v>13</c:v>
                </c:pt>
              </c:numCache>
            </c:numRef>
          </c:yVal>
          <c:smooth val="0"/>
        </c:ser>
        <c:ser>
          <c:idx val="3"/>
          <c:order val="3"/>
          <c:tx>
            <c:v>E1 verticaal</c:v>
          </c:tx>
          <c:spPr>
            <a:ln xmlns:a="http://schemas.openxmlformats.org/drawingml/2006/main" w="13335">
              <a:solidFill>
                <a:srgbClr val="A94D16"/>
              </a:solidFill>
              <a:prstDash val="dash"/>
            </a:ln>
          </c:spPr>
          <c:marker>
            <c:symbol val="none"/>
          </c:marker>
          <c:xVal>
            <c:numRef>
              <c:f>'Chart Data'!$G$2:$G$3</c:f>
              <c:numCache>
                <c:formatCode>General</c:formatCode>
                <c:ptCount val="2"/>
                <c:pt idx="0">
                  <c:v>66</c:v>
                </c:pt>
                <c:pt idx="1">
                  <c:v>66</c:v>
                </c:pt>
              </c:numCache>
            </c:numRef>
          </c:xVal>
          <c:yVal>
            <c:numRef>
              <c:f>'Chart Data'!$H$2:$H$3</c:f>
              <c:numCache>
                <c:formatCode>0</c:formatCode>
                <c:ptCount val="2"/>
                <c:pt idx="0">
                  <c:v>0</c:v>
                </c:pt>
                <c:pt idx="1">
                  <c:v>13</c:v>
                </c:pt>
              </c:numCache>
            </c:numRef>
          </c:yVal>
          <c:smooth val="0"/>
        </c:ser>
        <c:ser>
          <c:idx val="4"/>
          <c:order val="4"/>
          <c:tx>
            <c:v>Arbeidsvraag oud</c:v>
          </c:tx>
          <c:spPr>
            <a:ln xmlns:a="http://schemas.openxmlformats.org/drawingml/2006/main" w="38100">
              <a:solidFill>
                <a:srgbClr val="17658A"/>
              </a:solidFill>
            </a:ln>
          </c:spPr>
          <c:marker>
            <c:symbol val="none"/>
          </c:marker>
          <c:xVal>
            <c:numRef>
              <c:f>'Chart Data'!$I$2:$I$3</c:f>
              <c:numCache>
                <c:formatCode>General</c:formatCode>
                <c:ptCount val="2"/>
                <c:pt idx="0">
                  <c:v>36</c:v>
                </c:pt>
                <c:pt idx="1">
                  <c:v>168</c:v>
                </c:pt>
              </c:numCache>
            </c:numRef>
          </c:xVal>
          <c:yVal>
            <c:numRef>
              <c:f>'Chart Data'!$J$2:$J$3</c:f>
              <c:numCache>
                <c:formatCode>0</c:formatCode>
                <c:ptCount val="2"/>
                <c:pt idx="0">
                  <c:v>24</c:v>
                </c:pt>
                <c:pt idx="1">
                  <c:v>2</c:v>
                </c:pt>
              </c:numCache>
            </c:numRef>
          </c:yVal>
          <c:smooth val="0"/>
        </c:ser>
        <c:ser>
          <c:idx val="5"/>
          <c:order val="5"/>
          <c:tx>
            <c:v>Arbeidsaanbod</c:v>
          </c:tx>
          <c:spPr>
            <a:ln xmlns:a="http://schemas.openxmlformats.org/drawingml/2006/main" w="38100">
              <a:solidFill>
                <a:srgbClr val="20665B"/>
              </a:solidFill>
            </a:ln>
          </c:spPr>
          <c:marker>
            <c:symbol val="none"/>
          </c:marker>
          <c:xVal>
            <c:numRef>
              <c:f>'Chart Data'!$K$2:$K$3</c:f>
              <c:numCache>
                <c:formatCode>General</c:formatCode>
                <c:ptCount val="2"/>
                <c:pt idx="0">
                  <c:v>0</c:v>
                </c:pt>
                <c:pt idx="1">
                  <c:v>132</c:v>
                </c:pt>
              </c:numCache>
            </c:numRef>
          </c:xVal>
          <c:yVal>
            <c:numRef>
              <c:f>'Chart Data'!$L$2:$L$3</c:f>
              <c:numCache>
                <c:formatCode>0</c:formatCode>
                <c:ptCount val="2"/>
                <c:pt idx="0">
                  <c:v>2</c:v>
                </c:pt>
                <c:pt idx="1">
                  <c:v>24</c:v>
                </c:pt>
              </c:numCache>
            </c:numRef>
          </c:yVal>
          <c:smooth val="0"/>
        </c:ser>
        <c:ser>
          <c:idx val="6"/>
          <c:order val="6"/>
          <c:tx>
            <c:v>Arbeidsvraag nieuw</c:v>
          </c:tx>
          <c:spPr>
            <a:ln xmlns:a="http://schemas.openxmlformats.org/drawingml/2006/main" w="38100">
              <a:solidFill>
                <a:srgbClr val="A94D16"/>
              </a:solidFill>
              <a:prstDash val="dash"/>
            </a:ln>
          </c:spPr>
          <c:marker>
            <c:symbol val="none"/>
          </c:marker>
          <c:xVal>
            <c:numRef>
              <c:f>'Chart Data'!$M$2:$M$3</c:f>
              <c:numCache>
                <c:formatCode>General</c:formatCode>
                <c:ptCount val="2"/>
                <c:pt idx="0">
                  <c:v>0</c:v>
                </c:pt>
                <c:pt idx="1">
                  <c:v>132</c:v>
                </c:pt>
              </c:numCache>
            </c:numRef>
          </c:xVal>
          <c:yVal>
            <c:numRef>
              <c:f>'Chart Data'!$N$2:$N$3</c:f>
              <c:numCache>
                <c:formatCode>0</c:formatCode>
                <c:ptCount val="2"/>
                <c:pt idx="0">
                  <c:v>24</c:v>
                </c:pt>
                <c:pt idx="1">
                  <c:v>2</c:v>
                </c:pt>
              </c:numCache>
            </c:numRef>
          </c:yVal>
          <c:smooth val="0"/>
        </c:ser>
        <c:ser>
          <c:idx val="7"/>
          <c:order val="7"/>
          <c:tx>
            <c:v>Lᵥ oud</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Lᵥ oud</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Data'!$O$2:$O$2</c:f>
              <c:numCache>
                <c:formatCode>General</c:formatCode>
                <c:ptCount val="1"/>
                <c:pt idx="0">
                  <c:v>56</c:v>
                </c:pt>
              </c:numCache>
            </c:numRef>
          </c:xVal>
          <c:yVal>
            <c:numRef>
              <c:f>'Chart Data'!$P$2:$P$2</c:f>
              <c:numCache>
                <c:formatCode>0</c:formatCode>
                <c:ptCount val="1"/>
                <c:pt idx="0">
                  <c:v>24.35</c:v>
                </c:pt>
              </c:numCache>
            </c:numRef>
          </c:yVal>
          <c:smooth val="0"/>
        </c:ser>
        <c:ser>
          <c:idx val="8"/>
          <c:order val="8"/>
          <c:tx>
            <c:v>Lₐ</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Lₐ</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Data'!$Q$2:$Q$2</c:f>
              <c:numCache>
                <c:formatCode>General</c:formatCode>
                <c:ptCount val="1"/>
                <c:pt idx="0">
                  <c:v>141</c:v>
                </c:pt>
              </c:numCache>
            </c:numRef>
          </c:xVal>
          <c:yVal>
            <c:numRef>
              <c:f>'Chart Data'!$R$2:$R$2</c:f>
              <c:numCache>
                <c:formatCode>0</c:formatCode>
                <c:ptCount val="1"/>
                <c:pt idx="0">
                  <c:v>24.8</c:v>
                </c:pt>
              </c:numCache>
            </c:numRef>
          </c:yVal>
          <c:smooth val="0"/>
        </c:ser>
        <c:ser>
          <c:idx val="9"/>
          <c:order val="9"/>
          <c:tx>
            <c:v>Lᵥ nieuw</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Lᵥ nieuw</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Data'!$S$2:$S$2</c:f>
              <c:numCache>
                <c:formatCode>General</c:formatCode>
                <c:ptCount val="1"/>
                <c:pt idx="0">
                  <c:v>0</c:v>
                </c:pt>
              </c:numCache>
            </c:numRef>
          </c:xVal>
          <c:yVal>
            <c:numRef>
              <c:f>'Chart Data'!$T$2:$T$2</c:f>
              <c:numCache>
                <c:formatCode>0</c:formatCode>
                <c:ptCount val="1"/>
                <c:pt idx="0">
                  <c:v>24.9</c:v>
                </c:pt>
              </c:numCache>
            </c:numRef>
          </c:yVal>
          <c:smooth val="0"/>
        </c:ser>
        <c:ser>
          <c:idx val="10"/>
          <c:order val="10"/>
          <c:tx>
            <c:v>E0</c:v>
          </c:tx>
          <c:spPr>
            <a:ln xmlns:a="http://schemas.openxmlformats.org/drawingml/2006/main" w="0">
              <a:solidFill>
                <a:srgbClr val="17658A"/>
              </a:solidFill>
            </a:ln>
          </c:spPr>
          <c:marker>
            <c:symbol val="circle"/>
            <c:size val="10"/>
            <c:spPr>
              <a:solidFill xmlns:a="http://schemas.openxmlformats.org/drawingml/2006/main">
                <a:srgbClr val="17658A"/>
              </a:solidFill>
            </c:spPr>
          </c:marker>
          <c:xVal>
            <c:numRef>
              <c:f>'Chart Data'!$U$2:$U$2</c:f>
              <c:numCache>
                <c:formatCode>General</c:formatCode>
                <c:ptCount val="1"/>
                <c:pt idx="0">
                  <c:v>84</c:v>
                </c:pt>
              </c:numCache>
            </c:numRef>
          </c:xVal>
          <c:yVal>
            <c:numRef>
              <c:f>'Chart Data'!$V$2:$V$2</c:f>
              <c:numCache>
                <c:formatCode>0</c:formatCode>
                <c:ptCount val="1"/>
                <c:pt idx="0">
                  <c:v>16</c:v>
                </c:pt>
              </c:numCache>
            </c:numRef>
          </c:yVal>
          <c:smooth val="0"/>
        </c:ser>
        <c:ser>
          <c:idx val="11"/>
          <c:order val="11"/>
          <c:tx>
            <c:v>E₀</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E₀</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Data'!$W$2:$W$2</c:f>
              <c:numCache>
                <c:formatCode>General</c:formatCode>
                <c:ptCount val="1"/>
                <c:pt idx="0">
                  <c:v>93</c:v>
                </c:pt>
              </c:numCache>
            </c:numRef>
          </c:xVal>
          <c:yVal>
            <c:numRef>
              <c:f>'Chart Data'!$X$2:$X$2</c:f>
              <c:numCache>
                <c:formatCode>0</c:formatCode>
                <c:ptCount val="1"/>
                <c:pt idx="0">
                  <c:v>16</c:v>
                </c:pt>
              </c:numCache>
            </c:numRef>
          </c:yVal>
          <c:smooth val="0"/>
        </c:ser>
        <c:ser>
          <c:idx val="12"/>
          <c:order val="12"/>
          <c:tx>
            <c:v>E1</c:v>
          </c:tx>
          <c:spPr>
            <a:ln xmlns:a="http://schemas.openxmlformats.org/drawingml/2006/main" w="0">
              <a:solidFill>
                <a:srgbClr val="A94D16"/>
              </a:solidFill>
            </a:ln>
          </c:spPr>
          <c:marker>
            <c:symbol val="circle"/>
            <c:size val="10"/>
            <c:spPr>
              <a:solidFill xmlns:a="http://schemas.openxmlformats.org/drawingml/2006/main">
                <a:srgbClr val="A94D16"/>
              </a:solidFill>
            </c:spPr>
          </c:marker>
          <c:xVal>
            <c:numRef>
              <c:f>'Chart Data'!$Y$2:$Y$2</c:f>
              <c:numCache>
                <c:formatCode>General</c:formatCode>
                <c:ptCount val="1"/>
                <c:pt idx="0">
                  <c:v>66</c:v>
                </c:pt>
              </c:numCache>
            </c:numRef>
          </c:xVal>
          <c:yVal>
            <c:numRef>
              <c:f>'Chart Data'!$Z$2:$Z$2</c:f>
              <c:numCache>
                <c:formatCode>0</c:formatCode>
                <c:ptCount val="1"/>
                <c:pt idx="0">
                  <c:v>13</c:v>
                </c:pt>
              </c:numCache>
            </c:numRef>
          </c:yVal>
          <c:smooth val="0"/>
        </c:ser>
        <c:ser>
          <c:idx val="13"/>
          <c:order val="13"/>
          <c:tx>
            <c:v>E₁</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E₁</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Data'!$AA$2:$AA$2</c:f>
              <c:numCache>
                <c:formatCode>General</c:formatCode>
                <c:ptCount val="1"/>
                <c:pt idx="0">
                  <c:v>64</c:v>
                </c:pt>
              </c:numCache>
            </c:numRef>
          </c:xVal>
          <c:yVal>
            <c:numRef>
              <c:f>'Chart Data'!$AB$2:$AB$2</c:f>
              <c:numCache>
                <c:formatCode>0</c:formatCode>
                <c:ptCount val="1"/>
                <c:pt idx="0">
                  <c:v>10.8</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w (€ per uur)</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5"/>
      </c:valAx>
      <c:valAx>
        <c:axId val="48650112"/>
        <c:scaling>
          <c:orientation val="minMax"/>
          <c:max val="18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L (personen)</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4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scatterChart>
        <c:scatterStyle val="lineMarker"/>
        <c:ser>
          <c:idx val="0"/>
          <c:order val="0"/>
          <c:tx>
            <c:v>vast loon</c:v>
          </c:tx>
          <c:spPr>
            <a:ln xmlns:a="http://schemas.openxmlformats.org/drawingml/2006/main" w="13335">
              <a:solidFill>
                <a:srgbClr val="A94D16"/>
              </a:solidFill>
              <a:prstDash val="dash"/>
            </a:ln>
          </c:spPr>
          <c:marker>
            <c:symbol val="none"/>
          </c:marker>
          <c:xVal>
            <c:numRef>
              <c:f>'Chart Data'!$A$2:$A$3</c:f>
              <c:numCache>
                <c:formatCode>General</c:formatCode>
                <c:ptCount val="2"/>
                <c:pt idx="0">
                  <c:v>0</c:v>
                </c:pt>
                <c:pt idx="1">
                  <c:v>84</c:v>
                </c:pt>
              </c:numCache>
            </c:numRef>
          </c:xVal>
          <c:yVal>
            <c:numRef>
              <c:f>'Chart Data'!$B$2:$B$3</c:f>
              <c:numCache>
                <c:formatCode>0</c:formatCode>
                <c:ptCount val="2"/>
                <c:pt idx="0">
                  <c:v>16</c:v>
                </c:pt>
                <c:pt idx="1">
                  <c:v>16</c:v>
                </c:pt>
              </c:numCache>
            </c:numRef>
          </c:yVal>
          <c:smooth val="0"/>
        </c:ser>
        <c:ser>
          <c:idx val="1"/>
          <c:order val="1"/>
          <c:tx>
            <c:v>vraag vast loon</c:v>
          </c:tx>
          <c:spPr>
            <a:ln xmlns:a="http://schemas.openxmlformats.org/drawingml/2006/main" w="13335">
              <a:solidFill>
                <a:srgbClr val="445B6B"/>
              </a:solidFill>
              <a:prstDash val="dash"/>
            </a:ln>
          </c:spPr>
          <c:marker>
            <c:symbol val="none"/>
          </c:marker>
          <c:xVal>
            <c:numRef>
              <c:f>'Chart Data'!$C$2:$C$3</c:f>
              <c:numCache>
                <c:formatCode>General</c:formatCode>
                <c:ptCount val="2"/>
                <c:pt idx="0">
                  <c:v>48</c:v>
                </c:pt>
                <c:pt idx="1">
                  <c:v>48</c:v>
                </c:pt>
              </c:numCache>
            </c:numRef>
          </c:xVal>
          <c:yVal>
            <c:numRef>
              <c:f>'Chart Data'!$D$2:$D$3</c:f>
              <c:numCache>
                <c:formatCode>0</c:formatCode>
                <c:ptCount val="2"/>
                <c:pt idx="0">
                  <c:v>0</c:v>
                </c:pt>
                <c:pt idx="1">
                  <c:v>16</c:v>
                </c:pt>
              </c:numCache>
            </c:numRef>
          </c:yVal>
          <c:smooth val="0"/>
        </c:ser>
        <c:ser>
          <c:idx val="2"/>
          <c:order val="2"/>
          <c:tx>
            <c:v>aanbod vast loon</c:v>
          </c:tx>
          <c:spPr>
            <a:ln xmlns:a="http://schemas.openxmlformats.org/drawingml/2006/main" w="13335">
              <a:solidFill>
                <a:srgbClr val="445B6B"/>
              </a:solidFill>
              <a:prstDash val="dash"/>
            </a:ln>
          </c:spPr>
          <c:marker>
            <c:symbol val="none"/>
          </c:marker>
          <c:xVal>
            <c:numRef>
              <c:f>'Chart Data'!$E$2:$E$3</c:f>
              <c:numCache>
                <c:formatCode>General</c:formatCode>
                <c:ptCount val="2"/>
                <c:pt idx="0">
                  <c:v>84</c:v>
                </c:pt>
                <c:pt idx="1">
                  <c:v>84</c:v>
                </c:pt>
              </c:numCache>
            </c:numRef>
          </c:xVal>
          <c:yVal>
            <c:numRef>
              <c:f>'Chart Data'!$F$2:$F$3</c:f>
              <c:numCache>
                <c:formatCode>0</c:formatCode>
                <c:ptCount val="2"/>
                <c:pt idx="0">
                  <c:v>0</c:v>
                </c:pt>
                <c:pt idx="1">
                  <c:v>16</c:v>
                </c:pt>
              </c:numCache>
            </c:numRef>
          </c:yVal>
          <c:smooth val="0"/>
        </c:ser>
        <c:ser>
          <c:idx val="3"/>
          <c:order val="3"/>
          <c:tx>
            <c:v>Arbeidsvraag oud</c:v>
          </c:tx>
          <c:spPr>
            <a:ln xmlns:a="http://schemas.openxmlformats.org/drawingml/2006/main" w="38100">
              <a:solidFill>
                <a:srgbClr val="17658A"/>
              </a:solidFill>
            </a:ln>
          </c:spPr>
          <c:marker>
            <c:symbol val="none"/>
          </c:marker>
          <c:xVal>
            <c:numRef>
              <c:f>'Chart Data'!$G$2:$G$3</c:f>
              <c:numCache>
                <c:formatCode>General</c:formatCode>
                <c:ptCount val="2"/>
                <c:pt idx="0">
                  <c:v>36</c:v>
                </c:pt>
                <c:pt idx="1">
                  <c:v>168</c:v>
                </c:pt>
              </c:numCache>
            </c:numRef>
          </c:xVal>
          <c:yVal>
            <c:numRef>
              <c:f>'Chart Data'!$H$2:$H$3</c:f>
              <c:numCache>
                <c:formatCode>0</c:formatCode>
                <c:ptCount val="2"/>
                <c:pt idx="0">
                  <c:v>24</c:v>
                </c:pt>
                <c:pt idx="1">
                  <c:v>2</c:v>
                </c:pt>
              </c:numCache>
            </c:numRef>
          </c:yVal>
          <c:smooth val="0"/>
        </c:ser>
        <c:ser>
          <c:idx val="4"/>
          <c:order val="4"/>
          <c:tx>
            <c:v>Arbeidsaanbod</c:v>
          </c:tx>
          <c:spPr>
            <a:ln xmlns:a="http://schemas.openxmlformats.org/drawingml/2006/main" w="38100">
              <a:solidFill>
                <a:srgbClr val="20665B"/>
              </a:solidFill>
            </a:ln>
          </c:spPr>
          <c:marker>
            <c:symbol val="none"/>
          </c:marker>
          <c:xVal>
            <c:numRef>
              <c:f>'Chart Data'!$I$2:$I$3</c:f>
              <c:numCache>
                <c:formatCode>General</c:formatCode>
                <c:ptCount val="2"/>
                <c:pt idx="0">
                  <c:v>0</c:v>
                </c:pt>
                <c:pt idx="1">
                  <c:v>132</c:v>
                </c:pt>
              </c:numCache>
            </c:numRef>
          </c:xVal>
          <c:yVal>
            <c:numRef>
              <c:f>'Chart Data'!$J$2:$J$3</c:f>
              <c:numCache>
                <c:formatCode>0</c:formatCode>
                <c:ptCount val="2"/>
                <c:pt idx="0">
                  <c:v>2</c:v>
                </c:pt>
                <c:pt idx="1">
                  <c:v>24</c:v>
                </c:pt>
              </c:numCache>
            </c:numRef>
          </c:yVal>
          <c:smooth val="0"/>
        </c:ser>
        <c:ser>
          <c:idx val="5"/>
          <c:order val="5"/>
          <c:tx>
            <c:v>Arbeidsvraag nieuw</c:v>
          </c:tx>
          <c:spPr>
            <a:ln xmlns:a="http://schemas.openxmlformats.org/drawingml/2006/main" w="38100">
              <a:solidFill>
                <a:srgbClr val="A94D16"/>
              </a:solidFill>
              <a:prstDash val="dash"/>
            </a:ln>
          </c:spPr>
          <c:marker>
            <c:symbol val="none"/>
          </c:marker>
          <c:xVal>
            <c:numRef>
              <c:f>'Chart Data'!$K$2:$K$3</c:f>
              <c:numCache>
                <c:formatCode>General</c:formatCode>
                <c:ptCount val="2"/>
                <c:pt idx="0">
                  <c:v>0</c:v>
                </c:pt>
                <c:pt idx="1">
                  <c:v>132</c:v>
                </c:pt>
              </c:numCache>
            </c:numRef>
          </c:xVal>
          <c:yVal>
            <c:numRef>
              <c:f>'Chart Data'!$L$2:$L$3</c:f>
              <c:numCache>
                <c:formatCode>0</c:formatCode>
                <c:ptCount val="2"/>
                <c:pt idx="0">
                  <c:v>24</c:v>
                </c:pt>
                <c:pt idx="1">
                  <c:v>2</c:v>
                </c:pt>
              </c:numCache>
            </c:numRef>
          </c:yVal>
          <c:smooth val="0"/>
        </c:ser>
        <c:ser>
          <c:idx val="6"/>
          <c:order val="6"/>
          <c:tx>
            <c:v>Lᵥ oud</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7658A"/>
                        </a:solidFill>
                        <a:latin typeface="Arial"/>
                        <a:ea typeface="Arial"/>
                        <a:cs typeface="Arial"/>
                      </a:rPr>
                      <a:t>Lᵥ oud</a:t>
                    </a:r>
                  </a:p>
                </c:rich>
              </c:tx>
              <c:txPr>
                <a:bodyPr xmlns:a="http://schemas.openxmlformats.org/drawingml/2006/main" anchorCtr="1"/>
                <a:lstStyle xmlns:a="http://schemas.openxmlformats.org/drawingml/2006/main"/>
                <a:p xmlns:a="http://schemas.openxmlformats.org/drawingml/2006/main">
                  <a:pPr>
                    <a:defRPr sz="1875"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Data'!$M$2:$M$2</c:f>
              <c:numCache>
                <c:formatCode>General</c:formatCode>
                <c:ptCount val="1"/>
                <c:pt idx="0">
                  <c:v>56</c:v>
                </c:pt>
              </c:numCache>
            </c:numRef>
          </c:xVal>
          <c:yVal>
            <c:numRef>
              <c:f>'Chart Data'!$N$2:$N$2</c:f>
              <c:numCache>
                <c:formatCode>0</c:formatCode>
                <c:ptCount val="1"/>
                <c:pt idx="0">
                  <c:v>24.35</c:v>
                </c:pt>
              </c:numCache>
            </c:numRef>
          </c:yVal>
          <c:smooth val="0"/>
        </c:ser>
        <c:ser>
          <c:idx val="7"/>
          <c:order val="7"/>
          <c:tx>
            <c:v>Lₐ</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Lₐ</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Data'!$O$2:$O$2</c:f>
              <c:numCache>
                <c:formatCode>General</c:formatCode>
                <c:ptCount val="1"/>
                <c:pt idx="0">
                  <c:v>141</c:v>
                </c:pt>
              </c:numCache>
            </c:numRef>
          </c:xVal>
          <c:yVal>
            <c:numRef>
              <c:f>'Chart Data'!$P$2:$P$2</c:f>
              <c:numCache>
                <c:formatCode>0</c:formatCode>
                <c:ptCount val="1"/>
                <c:pt idx="0">
                  <c:v>24.8</c:v>
                </c:pt>
              </c:numCache>
            </c:numRef>
          </c:yVal>
          <c:smooth val="0"/>
        </c:ser>
        <c:ser>
          <c:idx val="8"/>
          <c:order val="8"/>
          <c:tx>
            <c:v>Lᵥ nieuw</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Lᵥ nieuw</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Data'!$Q$2:$Q$2</c:f>
              <c:numCache>
                <c:formatCode>General</c:formatCode>
                <c:ptCount val="1"/>
                <c:pt idx="0">
                  <c:v>0</c:v>
                </c:pt>
              </c:numCache>
            </c:numRef>
          </c:xVal>
          <c:yVal>
            <c:numRef>
              <c:f>'Chart Data'!$R$2:$R$2</c:f>
              <c:numCache>
                <c:formatCode>0</c:formatCode>
                <c:ptCount val="1"/>
                <c:pt idx="0">
                  <c:v>24.9</c:v>
                </c:pt>
              </c:numCache>
            </c:numRef>
          </c:yVal>
          <c:smooth val="0"/>
        </c:ser>
        <c:ser>
          <c:idx val="9"/>
          <c:order val="9"/>
          <c:tx>
            <c:v>nieuwe vraag bij vast loon</c:v>
          </c:tx>
          <c:spPr>
            <a:ln xmlns:a="http://schemas.openxmlformats.org/drawingml/2006/main" w="0">
              <a:solidFill>
                <a:srgbClr val="A94D16"/>
              </a:solidFill>
            </a:ln>
          </c:spPr>
          <c:marker>
            <c:symbol val="circle"/>
            <c:size val="10"/>
            <c:spPr>
              <a:solidFill xmlns:a="http://schemas.openxmlformats.org/drawingml/2006/main">
                <a:srgbClr val="A94D16"/>
              </a:solidFill>
            </c:spPr>
          </c:marker>
          <c:xVal>
            <c:numRef>
              <c:f>'Chart Data'!$S$2:$S$2</c:f>
              <c:numCache>
                <c:formatCode>General</c:formatCode>
                <c:ptCount val="1"/>
                <c:pt idx="0">
                  <c:v>48</c:v>
                </c:pt>
              </c:numCache>
            </c:numRef>
          </c:xVal>
          <c:yVal>
            <c:numRef>
              <c:f>'Chart Data'!$T$2:$T$2</c:f>
              <c:numCache>
                <c:formatCode>0</c:formatCode>
                <c:ptCount val="1"/>
                <c:pt idx="0">
                  <c:v>16</c:v>
                </c:pt>
              </c:numCache>
            </c:numRef>
          </c:yVal>
          <c:smooth val="0"/>
        </c:ser>
        <c:ser>
          <c:idx val="10"/>
          <c:order val="10"/>
          <c:tx>
            <c:v>aanbod bij vast loon</c:v>
          </c:tx>
          <c:spPr>
            <a:ln xmlns:a="http://schemas.openxmlformats.org/drawingml/2006/main" w="0">
              <a:solidFill>
                <a:srgbClr val="20665B"/>
              </a:solidFill>
            </a:ln>
          </c:spPr>
          <c:marker>
            <c:symbol val="circle"/>
            <c:size val="10"/>
            <c:spPr>
              <a:solidFill xmlns:a="http://schemas.openxmlformats.org/drawingml/2006/main">
                <a:srgbClr val="20665B"/>
              </a:solidFill>
            </c:spPr>
          </c:marker>
          <c:xVal>
            <c:numRef>
              <c:f>'Chart Data'!$U$2:$U$2</c:f>
              <c:numCache>
                <c:formatCode>General</c:formatCode>
                <c:ptCount val="1"/>
                <c:pt idx="0">
                  <c:v>84</c:v>
                </c:pt>
              </c:numCache>
            </c:numRef>
          </c:xVal>
          <c:yVal>
            <c:numRef>
              <c:f>'Chart Data'!$V$2:$V$2</c:f>
              <c:numCache>
                <c:formatCode>0</c:formatCode>
                <c:ptCount val="1"/>
                <c:pt idx="0">
                  <c:v>16</c:v>
                </c:pt>
              </c:numCache>
            </c:numRef>
          </c:yVal>
          <c:smooth val="0"/>
        </c:ser>
        <c:ser>
          <c:idx val="11"/>
          <c:order val="11"/>
          <c:tx>
            <c:v>aanbodoverschot</c:v>
          </c:tx>
          <c:spPr>
            <a:ln xmlns:a="http://schemas.openxmlformats.org/drawingml/2006/main" w="57150">
              <a:solidFill>
                <a:srgbClr val="A94D16"/>
              </a:solidFill>
            </a:ln>
          </c:spPr>
          <c:marker>
            <c:symbol val="none"/>
          </c:marker>
          <c:xVal>
            <c:numRef>
              <c:f>'Chart Data'!$W$2:$W$3</c:f>
              <c:numCache>
                <c:formatCode>General</c:formatCode>
                <c:ptCount val="2"/>
                <c:pt idx="0">
                  <c:v>48</c:v>
                </c:pt>
                <c:pt idx="1">
                  <c:v>84</c:v>
                </c:pt>
              </c:numCache>
            </c:numRef>
          </c:xVal>
          <c:yVal>
            <c:numRef>
              <c:f>'Chart Data'!$X$2:$X$3</c:f>
              <c:numCache>
                <c:formatCode>0</c:formatCode>
                <c:ptCount val="2"/>
                <c:pt idx="0">
                  <c:v>16</c:v>
                </c:pt>
                <c:pt idx="1">
                  <c:v>16</c:v>
                </c:pt>
              </c:numCache>
            </c:numRef>
          </c:yVal>
          <c:smooth val="0"/>
        </c:ser>
        <c:ser>
          <c:idx val="12"/>
          <c:order val="12"/>
          <c:tx>
            <c:v>48</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48</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Data'!$Y$2:$Y$2</c:f>
              <c:numCache>
                <c:formatCode>General</c:formatCode>
                <c:ptCount val="1"/>
                <c:pt idx="0">
                  <c:v>48</c:v>
                </c:pt>
              </c:numCache>
            </c:numRef>
          </c:xVal>
          <c:yVal>
            <c:numRef>
              <c:f>'Chart Data'!$Z$2:$Z$2</c:f>
              <c:numCache>
                <c:formatCode>0</c:formatCode>
                <c:ptCount val="1"/>
                <c:pt idx="0">
                  <c:v>1.1</c:v>
                </c:pt>
              </c:numCache>
            </c:numRef>
          </c:yVal>
          <c:smooth val="0"/>
        </c:ser>
        <c:ser>
          <c:idx val="13"/>
          <c:order val="13"/>
          <c:tx>
            <c:v>84</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84</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Data'!$AA$2:$AA$2</c:f>
              <c:numCache>
                <c:formatCode>General</c:formatCode>
                <c:ptCount val="1"/>
                <c:pt idx="0">
                  <c:v>84</c:v>
                </c:pt>
              </c:numCache>
            </c:numRef>
          </c:xVal>
          <c:yVal>
            <c:numRef>
              <c:f>'Chart Data'!$AB$2:$AB$2</c:f>
              <c:numCache>
                <c:formatCode>0</c:formatCode>
                <c:ptCount val="1"/>
                <c:pt idx="0">
                  <c:v>1.1</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w (€ per uur)</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5"/>
      </c:valAx>
      <c:valAx>
        <c:axId val="48650112"/>
        <c:scaling>
          <c:orientation val="minMax"/>
          <c:max val="18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L (personen)</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4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3.3 Werkloosheid en veranderingen op de ar">
            <a:extLst xmlns:a="http://schemas.openxmlformats.org/drawingml/2006/main">
              <a:ext uri="{FF2B5EF4-FFF2-40B4-BE49-F238E27FC236}">
                <a16:creationId xmlns:a16="http://schemas.microsoft.com/office/drawing/2014/main" id="{ABF7ED21-88AD-49BE-B893-C7E362243C42}"/>
              </a:ext>
            </a:extLst>
          </p:cNvPr>
          <p:cNvSpPr>
            <a:spLocks xmlns:a="http://schemas.openxmlformats.org/drawingml/2006/main" noGrp="1"/>
          </p:cNvSpPr>
          <p:nvPr/>
        </p:nvSpPr>
        <p:spPr>
          <a:xfrm xmlns:a="http://schemas.openxmlformats.org/drawingml/2006/main">
            <a:off x="571500" y="38100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Deze les: §4.3.3 Werkloosheid en veranderingen op de arbeidsmarkt</a:t>
            </a:r>
          </a:p>
        </p:txBody>
      </p:sp>
      <p:sp>
        <p:nvSpPr>
          <p:cNvPr id="2" name="">
            <a:extLst xmlns:a="http://schemas.openxmlformats.org/drawingml/2006/main">
              <a:ext uri="{FF2B5EF4-FFF2-40B4-BE49-F238E27FC236}">
                <a16:creationId xmlns:a16="http://schemas.microsoft.com/office/drawing/2014/main" id="{9A364F7B-00CF-48E3-81D2-A05F72CDCF6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3 Werkloosheid en veranderingen op de arbeidsmarkt">
            <a:extLst xmlns:a="http://schemas.openxmlformats.org/drawingml/2006/main">
              <a:ext uri="{FF2B5EF4-FFF2-40B4-BE49-F238E27FC236}">
                <a16:creationId xmlns:a16="http://schemas.microsoft.com/office/drawing/2014/main" id="{9AE8EA03-E252-4881-8BC1-DFBF996D462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§4.3.3 Werkloosheid en veranderingen op de arbeidsmarkt</a:t>
            </a:r>
          </a:p>
        </p:txBody>
      </p:sp>
      <p:sp>
        <p:nvSpPr>
          <p:cNvPr id="4" name="1">
            <a:extLst xmlns:a="http://schemas.openxmlformats.org/drawingml/2006/main">
              <a:ext uri="{FF2B5EF4-FFF2-40B4-BE49-F238E27FC236}">
                <a16:creationId xmlns:a16="http://schemas.microsoft.com/office/drawing/2014/main" id="{3A51BE79-4563-4EA2-849E-42743B24300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78427596-D878-4627-9128-2E9FE3734EFD}"/>
              </a:ext>
            </a:extLst>
          </p:cNvPr>
          <p:cNvSpPr>
            <a:spLocks xmlns:a="http://schemas.openxmlformats.org/drawingml/2006/main" noGrp="1"/>
          </p:cNvSpPr>
          <p:nvPr/>
        </p:nvSpPr>
        <p:spPr>
          <a:xfrm xmlns:a="http://schemas.openxmlformats.org/drawingml/2006/main">
            <a:off x="571500" y="100965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70B1F166-1F69-4909-BF99-F715C3294A36}"/>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0">
            <a:extLst xmlns:a="http://schemas.openxmlformats.org/drawingml/2006/main">
              <a:ext uri="{FF2B5EF4-FFF2-40B4-BE49-F238E27FC236}">
                <a16:creationId xmlns:a16="http://schemas.microsoft.com/office/drawing/2014/main" id="{60C6A596-4487-4B64-B90B-CBF087BBB3A3}"/>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0">
            <a:extLst xmlns:a="http://schemas.openxmlformats.org/drawingml/2006/main">
              <a:ext uri="{FF2B5EF4-FFF2-40B4-BE49-F238E27FC236}">
                <a16:creationId xmlns:a16="http://schemas.microsoft.com/office/drawing/2014/main" id="{5C10740E-A81C-4382-9FBE-05E0102DF1A7}"/>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1">
            <a:extLst xmlns:a="http://schemas.openxmlformats.org/drawingml/2006/main">
              <a:ext uri="{FF2B5EF4-FFF2-40B4-BE49-F238E27FC236}">
                <a16:creationId xmlns:a16="http://schemas.microsoft.com/office/drawing/2014/main" id="{A77F3ECC-876B-48DA-96B2-4BC9EAD32EF1}"/>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2.</a:t>
            </a:r>
          </a:p>
        </p:txBody>
      </p:sp>
      <p:sp>
        <p:nvSpPr>
          <p:cNvPr id="10" name="route-1">
            <a:extLst xmlns:a="http://schemas.openxmlformats.org/drawingml/2006/main">
              <a:ext uri="{FF2B5EF4-FFF2-40B4-BE49-F238E27FC236}">
                <a16:creationId xmlns:a16="http://schemas.microsoft.com/office/drawing/2014/main" id="{71AFF989-01DA-460D-A563-009D8CAADA18}"/>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de startopdracht.</a:t>
            </a:r>
          </a:p>
        </p:txBody>
      </p:sp>
      <p:sp>
        <p:nvSpPr>
          <p:cNvPr id="11" name="route-number-2">
            <a:extLst xmlns:a="http://schemas.openxmlformats.org/drawingml/2006/main">
              <a:ext uri="{FF2B5EF4-FFF2-40B4-BE49-F238E27FC236}">
                <a16:creationId xmlns:a16="http://schemas.microsoft.com/office/drawing/2014/main" id="{A75FE3BD-8869-4428-B508-57C0F95D964E}"/>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2">
            <a:extLst xmlns:a="http://schemas.openxmlformats.org/drawingml/2006/main">
              <a:ext uri="{FF2B5EF4-FFF2-40B4-BE49-F238E27FC236}">
                <a16:creationId xmlns:a16="http://schemas.microsoft.com/office/drawing/2014/main" id="{C760EFF0-D3AB-41F6-B9B4-B31727777F27}"/>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3">
            <a:extLst xmlns:a="http://schemas.openxmlformats.org/drawingml/2006/main">
              <a:ext uri="{FF2B5EF4-FFF2-40B4-BE49-F238E27FC236}">
                <a16:creationId xmlns:a16="http://schemas.microsoft.com/office/drawing/2014/main" id="{A04461FC-A234-49BB-880B-88359114D544}"/>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3">
            <a:extLst xmlns:a="http://schemas.openxmlformats.org/drawingml/2006/main">
              <a:ext uri="{FF2B5EF4-FFF2-40B4-BE49-F238E27FC236}">
                <a16:creationId xmlns:a16="http://schemas.microsoft.com/office/drawing/2014/main" id="{43DB7985-4C61-47BD-88B3-9CBB1A8E5BA8}"/>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4">
            <a:extLst xmlns:a="http://schemas.openxmlformats.org/drawingml/2006/main">
              <a:ext uri="{FF2B5EF4-FFF2-40B4-BE49-F238E27FC236}">
                <a16:creationId xmlns:a16="http://schemas.microsoft.com/office/drawing/2014/main" id="{732928EE-4322-4E0A-93B2-3ECB856682AE}"/>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4">
            <a:extLst xmlns:a="http://schemas.openxmlformats.org/drawingml/2006/main">
              <a:ext uri="{FF2B5EF4-FFF2-40B4-BE49-F238E27FC236}">
                <a16:creationId xmlns:a16="http://schemas.microsoft.com/office/drawing/2014/main" id="{421B1D41-9D6C-4ADB-AFEC-86E16C2A0698}"/>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5">
            <a:extLst xmlns:a="http://schemas.openxmlformats.org/drawingml/2006/main">
              <a:ext uri="{FF2B5EF4-FFF2-40B4-BE49-F238E27FC236}">
                <a16:creationId xmlns:a16="http://schemas.microsoft.com/office/drawing/2014/main" id="{4B3B6A58-5175-47BF-92DA-5B06DAFE5FB2}"/>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5">
            <a:extLst xmlns:a="http://schemas.openxmlformats.org/drawingml/2006/main">
              <a:ext uri="{FF2B5EF4-FFF2-40B4-BE49-F238E27FC236}">
                <a16:creationId xmlns:a16="http://schemas.microsoft.com/office/drawing/2014/main" id="{020C9035-1BB1-4AD6-B599-639973C24CC2}"/>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25.</a:t>
            </a:r>
          </a:p>
        </p:txBody>
      </p:sp>
      <p:sp>
        <p:nvSpPr>
          <p:cNvPr id="19" name="route-number-6">
            <a:extLst xmlns:a="http://schemas.openxmlformats.org/drawingml/2006/main">
              <a:ext uri="{FF2B5EF4-FFF2-40B4-BE49-F238E27FC236}">
                <a16:creationId xmlns:a16="http://schemas.microsoft.com/office/drawing/2014/main" id="{F5C59E0D-CC24-4136-A28A-6468F330D353}"/>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6">
            <a:extLst xmlns:a="http://schemas.openxmlformats.org/drawingml/2006/main">
              <a:ext uri="{FF2B5EF4-FFF2-40B4-BE49-F238E27FC236}">
                <a16:creationId xmlns:a16="http://schemas.microsoft.com/office/drawing/2014/main" id="{363A3933-46A0-466C-AED3-E19FAB82FF5F}"/>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E360EB3C-6A4D-4AD2-8CC8-F205F055CE41}"/>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8875F245-47DF-4C45-829C-BF17FF44D0DD}"/>
              </a:ext>
            </a:extLst>
          </p:cNvPr>
          <p:cNvSpPr>
            <a:spLocks xmlns:a="http://schemas.openxmlformats.org/drawingml/2006/main" noGrp="1"/>
          </p:cNvSpPr>
          <p:nvPr/>
        </p:nvSpPr>
        <p:spPr>
          <a:xfrm xmlns:a="http://schemas.openxmlformats.org/drawingml/2006/main">
            <a:off x="9258300" y="2286000"/>
            <a:ext cx="5381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Werkloosheid berekenen 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verklaren. Flexibel en vast loon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vergelijken. Model en telling</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onderscheiden.</a:t>
            </a:r>
          </a:p>
        </p:txBody>
      </p:sp>
      <p:sp>
        <p:nvSpPr>
          <p:cNvPr id="23" name="">
            <a:extLst xmlns:a="http://schemas.openxmlformats.org/drawingml/2006/main">
              <a:ext uri="{FF2B5EF4-FFF2-40B4-BE49-F238E27FC236}">
                <a16:creationId xmlns:a16="http://schemas.microsoft.com/office/drawing/2014/main" id="{2F0B3921-5C0D-4CCD-8E34-FDAF81D11A93}"/>
              </a:ext>
            </a:extLst>
          </p:cNvPr>
          <p:cNvSpPr>
            <a:spLocks xmlns:a="http://schemas.openxmlformats.org/drawingml/2006/main" noGrp="1"/>
          </p:cNvSpPr>
          <p:nvPr/>
        </p:nvSpPr>
        <p:spPr>
          <a:xfrm xmlns:a="http://schemas.openxmlformats.org/drawingml/2006/main">
            <a:off x="9258300" y="3686175"/>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46646CD5-6075-4F18-9604-A701141339BC}"/>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C5F8548B-F5E0-499B-AC7D-8A547B1854C2}"/>
              </a:ext>
            </a:extLst>
          </p:cNvPr>
          <p:cNvSpPr>
            <a:spLocks xmlns:a="http://schemas.openxmlformats.org/drawingml/2006/main" noGrp="1"/>
          </p:cNvSpPr>
          <p:nvPr/>
        </p:nvSpPr>
        <p:spPr>
          <a:xfrm xmlns:a="http://schemas.openxmlformats.org/drawingml/2006/main">
            <a:off x="9258300" y="4333875"/>
            <a:ext cx="53816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137 · Opgaven 19 en 20</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20: verkennen met theorie</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op p. 132–133</a:t>
            </a:r>
          </a:p>
        </p:txBody>
      </p:sp>
      <p:sp>
        <p:nvSpPr>
          <p:cNvPr id="26" name="">
            <a:extLst xmlns:a="http://schemas.openxmlformats.org/drawingml/2006/main">
              <a:ext uri="{FF2B5EF4-FFF2-40B4-BE49-F238E27FC236}">
                <a16:creationId xmlns:a16="http://schemas.microsoft.com/office/drawing/2014/main" id="{5B35AB0B-3D07-43D6-82FB-DA51E6975DE2}"/>
              </a:ext>
            </a:extLst>
          </p:cNvPr>
          <p:cNvSpPr>
            <a:spLocks xmlns:a="http://schemas.openxmlformats.org/drawingml/2006/main" noGrp="1"/>
          </p:cNvSpPr>
          <p:nvPr/>
        </p:nvSpPr>
        <p:spPr>
          <a:xfrm xmlns:a="http://schemas.openxmlformats.org/drawingml/2006/main">
            <a:off x="9258300" y="5514975"/>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A552CBE9-72F5-4F76-9F71-57C45188CA5D}"/>
              </a:ext>
            </a:extLst>
          </p:cNvPr>
          <p:cNvSpPr>
            <a:spLocks xmlns:a="http://schemas.openxmlformats.org/drawingml/2006/main" noGrp="1"/>
          </p:cNvSpPr>
          <p:nvPr/>
        </p:nvSpPr>
        <p:spPr>
          <a:xfrm xmlns:a="http://schemas.openxmlformats.org/drawingml/2006/main">
            <a:off x="9258300" y="567690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E3702DDE-915D-4928-9ADF-12111C028419}"/>
              </a:ext>
            </a:extLst>
          </p:cNvPr>
          <p:cNvSpPr>
            <a:spLocks xmlns:a="http://schemas.openxmlformats.org/drawingml/2006/main" noGrp="1"/>
          </p:cNvSpPr>
          <p:nvPr/>
        </p:nvSpPr>
        <p:spPr>
          <a:xfrm xmlns:a="http://schemas.openxmlformats.org/drawingml/2006/main">
            <a:off x="9258300" y="6172200"/>
            <a:ext cx="53816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§4.3.3</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21 en 22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23 en 24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25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83499543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Wat kun je na deze les?">
            <a:extLst xmlns:a="http://schemas.openxmlformats.org/drawingml/2006/main">
              <a:ext uri="{FF2B5EF4-FFF2-40B4-BE49-F238E27FC236}">
                <a16:creationId xmlns:a16="http://schemas.microsoft.com/office/drawing/2014/main" id="{E8C4CC5F-5997-47CE-8B9E-CD69081A27CA}"/>
              </a:ext>
            </a:extLst>
          </p:cNvPr>
          <p:cNvSpPr>
            <a:spLocks xmlns:a="http://schemas.openxmlformats.org/drawingml/2006/main" noGrp="1"/>
          </p:cNvSpPr>
          <p:nvPr/>
        </p:nvSpPr>
        <p:spPr>
          <a:xfrm xmlns:a="http://schemas.openxmlformats.org/drawingml/2006/main">
            <a:off x="571500" y="38100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Wat kun je na deze les?</a:t>
            </a:r>
          </a:p>
        </p:txBody>
      </p:sp>
      <p:sp>
        <p:nvSpPr>
          <p:cNvPr id="2" name="">
            <a:extLst xmlns:a="http://schemas.openxmlformats.org/drawingml/2006/main">
              <a:ext uri="{FF2B5EF4-FFF2-40B4-BE49-F238E27FC236}">
                <a16:creationId xmlns:a16="http://schemas.microsoft.com/office/drawing/2014/main" id="{FA0A1A4C-CED8-4CC4-8E7F-DB4AB840F19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3 Werkloosheid en veranderingen op de arbeidsmarkt">
            <a:extLst xmlns:a="http://schemas.openxmlformats.org/drawingml/2006/main">
              <a:ext uri="{FF2B5EF4-FFF2-40B4-BE49-F238E27FC236}">
                <a16:creationId xmlns:a16="http://schemas.microsoft.com/office/drawing/2014/main" id="{BE138801-12F9-4EC3-9868-2742611D3DE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§4.3.3 Werkloosheid en veranderingen op de arbeidsmarkt</a:t>
            </a:r>
          </a:p>
        </p:txBody>
      </p:sp>
      <p:sp>
        <p:nvSpPr>
          <p:cNvPr id="4" name="2">
            <a:extLst xmlns:a="http://schemas.openxmlformats.org/drawingml/2006/main">
              <a:ext uri="{FF2B5EF4-FFF2-40B4-BE49-F238E27FC236}">
                <a16:creationId xmlns:a16="http://schemas.microsoft.com/office/drawing/2014/main" id="{BD4F7776-58BA-4C22-B7CF-9DEB700B234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Teller en noemer">
            <a:extLst xmlns:a="http://schemas.openxmlformats.org/drawingml/2006/main">
              <a:ext uri="{FF2B5EF4-FFF2-40B4-BE49-F238E27FC236}">
                <a16:creationId xmlns:a16="http://schemas.microsoft.com/office/drawing/2014/main" id="{F5765E22-A604-42CA-85B5-1D28BBDB53DF}"/>
              </a:ext>
            </a:extLst>
          </p:cNvPr>
          <p:cNvSpPr>
            <a:spLocks xmlns:a="http://schemas.openxmlformats.org/drawingml/2006/main" noGrp="1"/>
          </p:cNvSpPr>
          <p:nvPr/>
        </p:nvSpPr>
        <p:spPr>
          <a:xfrm xmlns:a="http://schemas.openxmlformats.org/drawingml/2006/main">
            <a:off x="571500" y="2095500"/>
            <a:ext cx="447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Teller en noemer</a:t>
            </a:r>
          </a:p>
        </p:txBody>
      </p:sp>
      <p:sp>
        <p:nvSpPr>
          <p:cNvPr id="6" name="Het werkloosheidspercentage berekenen.">
            <a:extLst xmlns:a="http://schemas.openxmlformats.org/drawingml/2006/main">
              <a:ext uri="{FF2B5EF4-FFF2-40B4-BE49-F238E27FC236}">
                <a16:creationId xmlns:a16="http://schemas.microsoft.com/office/drawing/2014/main" id="{342AACB5-E431-4A43-B734-58244F0D6676}"/>
              </a:ext>
            </a:extLst>
          </p:cNvPr>
          <p:cNvSpPr>
            <a:spLocks xmlns:a="http://schemas.openxmlformats.org/drawingml/2006/main" noGrp="1"/>
          </p:cNvSpPr>
          <p:nvPr/>
        </p:nvSpPr>
        <p:spPr>
          <a:xfrm xmlns:a="http://schemas.openxmlformats.org/drawingml/2006/main">
            <a:off x="5429250" y="2095500"/>
            <a:ext cx="9191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Het werkloosheidspercentage berekenen.</a:t>
            </a:r>
          </a:p>
        </p:txBody>
      </p:sp>
      <p:sp>
        <p:nvSpPr>
          <p:cNvPr id="7" name="Oorzaak">
            <a:extLst xmlns:a="http://schemas.openxmlformats.org/drawingml/2006/main">
              <a:ext uri="{FF2B5EF4-FFF2-40B4-BE49-F238E27FC236}">
                <a16:creationId xmlns:a16="http://schemas.microsoft.com/office/drawing/2014/main" id="{7E4D1600-CA8E-4959-89C6-0EDE6456A533}"/>
              </a:ext>
            </a:extLst>
          </p:cNvPr>
          <p:cNvSpPr>
            <a:spLocks xmlns:a="http://schemas.openxmlformats.org/drawingml/2006/main" noGrp="1"/>
          </p:cNvSpPr>
          <p:nvPr/>
        </p:nvSpPr>
        <p:spPr>
          <a:xfrm xmlns:a="http://schemas.openxmlformats.org/drawingml/2006/main">
            <a:off x="571500" y="3486150"/>
            <a:ext cx="447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Oorzaak</a:t>
            </a:r>
          </a:p>
        </p:txBody>
      </p:sp>
      <p:sp>
        <p:nvSpPr>
          <p:cNvPr id="8" name="Conjuncturele en structurele werkloosheid verklaren.">
            <a:extLst xmlns:a="http://schemas.openxmlformats.org/drawingml/2006/main">
              <a:ext uri="{FF2B5EF4-FFF2-40B4-BE49-F238E27FC236}">
                <a16:creationId xmlns:a16="http://schemas.microsoft.com/office/drawing/2014/main" id="{5F6B18B7-A6FD-4285-916F-1F78D091F6C1}"/>
              </a:ext>
            </a:extLst>
          </p:cNvPr>
          <p:cNvSpPr>
            <a:spLocks xmlns:a="http://schemas.openxmlformats.org/drawingml/2006/main" noGrp="1"/>
          </p:cNvSpPr>
          <p:nvPr/>
        </p:nvSpPr>
        <p:spPr>
          <a:xfrm xmlns:a="http://schemas.openxmlformats.org/drawingml/2006/main">
            <a:off x="5429250" y="3486150"/>
            <a:ext cx="9191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Conjuncturele en structurele werkloosheid verklaren.</a:t>
            </a:r>
          </a:p>
        </p:txBody>
      </p:sp>
      <p:sp>
        <p:nvSpPr>
          <p:cNvPr id="9" name="Arbeidsmarktmodel">
            <a:extLst xmlns:a="http://schemas.openxmlformats.org/drawingml/2006/main">
              <a:ext uri="{FF2B5EF4-FFF2-40B4-BE49-F238E27FC236}">
                <a16:creationId xmlns:a16="http://schemas.microsoft.com/office/drawing/2014/main" id="{C22F197C-C6F6-40E4-83B6-1340CF0FD7EA}"/>
              </a:ext>
            </a:extLst>
          </p:cNvPr>
          <p:cNvSpPr>
            <a:spLocks xmlns:a="http://schemas.openxmlformats.org/drawingml/2006/main" noGrp="1"/>
          </p:cNvSpPr>
          <p:nvPr/>
        </p:nvSpPr>
        <p:spPr>
          <a:xfrm xmlns:a="http://schemas.openxmlformats.org/drawingml/2006/main">
            <a:off x="571500" y="4876800"/>
            <a:ext cx="447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Arbeidsmarktmodel</a:t>
            </a:r>
          </a:p>
        </p:txBody>
      </p:sp>
      <p:sp>
        <p:nvSpPr>
          <p:cNvPr id="10" name="Een vraagverschuiving verwerken bij flexibel en vast lo">
            <a:extLst xmlns:a="http://schemas.openxmlformats.org/drawingml/2006/main">
              <a:ext uri="{FF2B5EF4-FFF2-40B4-BE49-F238E27FC236}">
                <a16:creationId xmlns:a16="http://schemas.microsoft.com/office/drawing/2014/main" id="{817D60C1-3499-4CF5-840E-4A5B58FFB068}"/>
              </a:ext>
            </a:extLst>
          </p:cNvPr>
          <p:cNvSpPr>
            <a:spLocks xmlns:a="http://schemas.openxmlformats.org/drawingml/2006/main" noGrp="1"/>
          </p:cNvSpPr>
          <p:nvPr/>
        </p:nvSpPr>
        <p:spPr>
          <a:xfrm xmlns:a="http://schemas.openxmlformats.org/drawingml/2006/main">
            <a:off x="5429250" y="4876800"/>
            <a:ext cx="9191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Een vraagverschuiving verwerken bij flexibel en vast loon.</a:t>
            </a:r>
          </a:p>
        </p:txBody>
      </p:sp>
      <p:sp>
        <p:nvSpPr>
          <p:cNvPr id="11" name="Aannamen">
            <a:extLst xmlns:a="http://schemas.openxmlformats.org/drawingml/2006/main">
              <a:ext uri="{FF2B5EF4-FFF2-40B4-BE49-F238E27FC236}">
                <a16:creationId xmlns:a16="http://schemas.microsoft.com/office/drawing/2014/main" id="{D599109C-ED32-447B-9B52-B3D72436D969}"/>
              </a:ext>
            </a:extLst>
          </p:cNvPr>
          <p:cNvSpPr>
            <a:spLocks xmlns:a="http://schemas.openxmlformats.org/drawingml/2006/main" noGrp="1"/>
          </p:cNvSpPr>
          <p:nvPr/>
        </p:nvSpPr>
        <p:spPr>
          <a:xfrm xmlns:a="http://schemas.openxmlformats.org/drawingml/2006/main">
            <a:off x="571500" y="6267450"/>
            <a:ext cx="447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Aannamen</a:t>
            </a:r>
          </a:p>
        </p:txBody>
      </p:sp>
      <p:sp>
        <p:nvSpPr>
          <p:cNvPr id="12" name="Uitleggen waarom een model een regiotelling niet vervan">
            <a:extLst xmlns:a="http://schemas.openxmlformats.org/drawingml/2006/main">
              <a:ext uri="{FF2B5EF4-FFF2-40B4-BE49-F238E27FC236}">
                <a16:creationId xmlns:a16="http://schemas.microsoft.com/office/drawing/2014/main" id="{4338F841-91E2-4F20-BB53-A5893140A4C5}"/>
              </a:ext>
            </a:extLst>
          </p:cNvPr>
          <p:cNvSpPr>
            <a:spLocks xmlns:a="http://schemas.openxmlformats.org/drawingml/2006/main" noGrp="1"/>
          </p:cNvSpPr>
          <p:nvPr/>
        </p:nvSpPr>
        <p:spPr>
          <a:xfrm xmlns:a="http://schemas.openxmlformats.org/drawingml/2006/main">
            <a:off x="5429250" y="6267450"/>
            <a:ext cx="9191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Uitleggen waarom een model een regiotelling niet vervangt.</a:t>
            </a:r>
          </a:p>
        </p:txBody>
      </p:sp>
    </p:spTree>
    <p:extLst>
      <p:ext uri="{BB962C8B-B14F-4D97-AF65-F5344CB8AC3E}">
        <p14:creationId xmlns:p14="http://schemas.microsoft.com/office/powerpoint/2010/main" val="162314886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Dezelfde groepen, een andere noemer">
            <a:extLst xmlns:a="http://schemas.openxmlformats.org/drawingml/2006/main">
              <a:ext uri="{FF2B5EF4-FFF2-40B4-BE49-F238E27FC236}">
                <a16:creationId xmlns:a16="http://schemas.microsoft.com/office/drawing/2014/main" id="{9E937EB7-1B58-4405-87F9-331063F56E05}"/>
              </a:ext>
            </a:extLst>
          </p:cNvPr>
          <p:cNvSpPr>
            <a:spLocks xmlns:a="http://schemas.openxmlformats.org/drawingml/2006/main" noGrp="1"/>
          </p:cNvSpPr>
          <p:nvPr/>
        </p:nvSpPr>
        <p:spPr>
          <a:xfrm xmlns:a="http://schemas.openxmlformats.org/drawingml/2006/main">
            <a:off x="571500" y="38100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Dezelfde groepen, een andere noemer</a:t>
            </a:r>
          </a:p>
        </p:txBody>
      </p:sp>
      <p:sp>
        <p:nvSpPr>
          <p:cNvPr id="2" name="">
            <a:extLst xmlns:a="http://schemas.openxmlformats.org/drawingml/2006/main">
              <a:ext uri="{FF2B5EF4-FFF2-40B4-BE49-F238E27FC236}">
                <a16:creationId xmlns:a16="http://schemas.microsoft.com/office/drawing/2014/main" id="{48CDD0ED-306E-45A6-B394-1A5C22C5005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3 Werkloosheid en veranderingen op de arbeidsmarkt">
            <a:extLst xmlns:a="http://schemas.openxmlformats.org/drawingml/2006/main">
              <a:ext uri="{FF2B5EF4-FFF2-40B4-BE49-F238E27FC236}">
                <a16:creationId xmlns:a16="http://schemas.microsoft.com/office/drawing/2014/main" id="{6E957102-B8FA-41C5-9B68-3109E4EBAE5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§4.3.3 Werkloosheid en veranderingen op de arbeidsmarkt</a:t>
            </a:r>
          </a:p>
        </p:txBody>
      </p:sp>
      <p:sp>
        <p:nvSpPr>
          <p:cNvPr id="4" name="3">
            <a:extLst xmlns:a="http://schemas.openxmlformats.org/drawingml/2006/main">
              <a:ext uri="{FF2B5EF4-FFF2-40B4-BE49-F238E27FC236}">
                <a16:creationId xmlns:a16="http://schemas.microsoft.com/office/drawing/2014/main" id="{D4E4E0EB-50EF-4874-872A-8B09C52ECC9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Beroepsbevolking = werkenden + werklozen">
            <a:extLst xmlns:a="http://schemas.openxmlformats.org/drawingml/2006/main">
              <a:ext uri="{FF2B5EF4-FFF2-40B4-BE49-F238E27FC236}">
                <a16:creationId xmlns:a16="http://schemas.microsoft.com/office/drawing/2014/main" id="{92A374E0-7737-4455-B717-2123CE7D2FC3}"/>
              </a:ext>
            </a:extLst>
          </p:cNvPr>
          <p:cNvSpPr>
            <a:spLocks xmlns:a="http://schemas.openxmlformats.org/drawingml/2006/main" noGrp="1"/>
          </p:cNvSpPr>
          <p:nvPr/>
        </p:nvSpPr>
        <p:spPr>
          <a:xfrm xmlns:a="http://schemas.openxmlformats.org/drawingml/2006/main">
            <a:off x="571500" y="194310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658A"/>
                </a:solidFill>
                <a:latin typeface="Arial"/>
                <a:ea typeface="Arial"/>
                <a:cs typeface="Arial"/>
              </a:defRPr>
            </a:pPr>
            <a:r>
              <a:rPr sz="3450" b="1">
                <a:solidFill>
                  <a:srgbClr val="17658A"/>
                </a:solidFill>
                <a:latin typeface="Arial"/>
                <a:ea typeface="Arial"/>
                <a:cs typeface="Arial"/>
              </a:rPr>
              <a:t>Beroepsbevolking = werkenden + werklozen</a:t>
            </a:r>
          </a:p>
        </p:txBody>
      </p:sp>
      <p:graphicFrame>
        <p:nvGraphicFramePr>
          <p:cNvPr id="13" name=""/>
          <p:cNvGraphicFramePr/>
          <p:nvPr/>
        </p:nvGraphicFramePr>
        <p:xfrm>
          <a:off xmlns:a="http://schemas.openxmlformats.org/drawingml/2006/main" x="571500" y="3048000"/>
          <a:ext xmlns:a="http://schemas.openxmlformats.org/drawingml/2006/main" cx="14097000" cy="3048000"/>
        </p:xfrm>
        <a:graphic xmlns:a="http://schemas.openxmlformats.org/drawingml/2006/main">
          <a:graphicData uri="http://schemas.openxmlformats.org/drawingml/2006/table">
            <a:tbl>
              <a:tblPr/>
              <a:tblGrid>
                <a:gridCol w="5334000"/>
                <a:gridCol w="4191000"/>
                <a:gridCol w="4572000"/>
              </a:tblGrid>
              <a:tr h="1016000">
                <a:tc>
                  <a:txBody>
                    <a:bodyPr lIns="171450" tIns="95250" rIns="152400" bIns="95250"/>
                    <a:lstStyle/>
                    <a:p>
                      <a:r>
                        <a:rPr sz="2475" b="1">
                          <a:solidFill>
                            <a:srgbClr val="FFFFFF"/>
                          </a:solidFill>
                          <a:latin typeface="Arial"/>
                          <a:ea typeface="Arial"/>
                          <a:cs typeface="Arial"/>
                        </a:rPr>
                        <a:t>Percentage</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Teller</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Noemer</a:t>
                      </a:r>
                    </a:p>
                  </a:txBody>
                  <a:tcPr marL="91440" marR="91440" marT="45720" marB="45720" anchor="ctr">
                    <a:solidFill>
                      <a:srgbClr val="183247"/>
                    </a:solidFill>
                  </a:tcPr>
                </a:tc>
              </a:tr>
              <a:tr h="1016000">
                <a:tc>
                  <a:txBody>
                    <a:bodyPr lIns="171450" tIns="95250" rIns="152400" bIns="95250"/>
                    <a:lstStyle/>
                    <a:p>
                      <a:r>
                        <a:rPr sz="2475" b="0">
                          <a:solidFill>
                            <a:srgbClr val="183247"/>
                          </a:solidFill>
                          <a:latin typeface="Arial"/>
                          <a:ea typeface="Arial"/>
                          <a:cs typeface="Arial"/>
                        </a:rPr>
                        <a:t>Bruto-participatie</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Beroepsbevolking</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Bevolking van 15 tot 75 jaar</a:t>
                      </a:r>
                    </a:p>
                  </a:txBody>
                  <a:tcPr marL="91440" marR="91440" marT="45720" marB="45720" anchor="ctr">
                    <a:solidFill>
                      <a:srgbClr val="FFFFFF"/>
                    </a:solidFill>
                  </a:tcPr>
                </a:tc>
              </a:tr>
              <a:tr h="1016000">
                <a:tc>
                  <a:txBody>
                    <a:bodyPr lIns="171450" tIns="95250" rIns="152400" bIns="95250"/>
                    <a:lstStyle/>
                    <a:p>
                      <a:r>
                        <a:rPr sz="2475" b="0">
                          <a:solidFill>
                            <a:srgbClr val="183247"/>
                          </a:solidFill>
                          <a:latin typeface="Arial"/>
                          <a:ea typeface="Arial"/>
                          <a:cs typeface="Arial"/>
                        </a:rPr>
                        <a:t>Werkloosheidspercentage</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Werklozen</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Beroepsbevolking</a:t>
                      </a:r>
                    </a:p>
                  </a:txBody>
                  <a:tcPr marL="91440" marR="91440" marT="45720" marB="45720" anchor="ctr">
                    <a:solidFill>
                      <a:srgbClr val="EFF4F7"/>
                    </a:solidFill>
                  </a:tcPr>
                </a:tc>
              </a:tr>
            </a:tbl>
          </a:graphicData>
        </a:graphic>
      </p:graphicFrame>
      <p:sp>
        <p:nvSpPr>
          <p:cNvPr id="7" name="Werkloos: geen betaald werk, recent gezocht én direct b">
            <a:extLst xmlns:a="http://schemas.openxmlformats.org/drawingml/2006/main">
              <a:ext uri="{FF2B5EF4-FFF2-40B4-BE49-F238E27FC236}">
                <a16:creationId xmlns:a16="http://schemas.microsoft.com/office/drawing/2014/main" id="{3B16A989-38C8-4700-8891-B17CB45EED74}"/>
              </a:ext>
            </a:extLst>
          </p:cNvPr>
          <p:cNvSpPr>
            <a:spLocks xmlns:a="http://schemas.openxmlformats.org/drawingml/2006/main" noGrp="1"/>
          </p:cNvSpPr>
          <p:nvPr/>
        </p:nvSpPr>
        <p:spPr>
          <a:xfrm xmlns:a="http://schemas.openxmlformats.org/drawingml/2006/main">
            <a:off x="571500" y="6715125"/>
            <a:ext cx="14097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Werkloos: geen betaald werk, recent gezocht én direct beschikbaar.</a:t>
            </a:r>
          </a:p>
        </p:txBody>
      </p:sp>
    </p:spTree>
    <p:extLst>
      <p:ext uri="{BB962C8B-B14F-4D97-AF65-F5344CB8AC3E}">
        <p14:creationId xmlns:p14="http://schemas.microsoft.com/office/powerpoint/2010/main" val="53980348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Werkloosheid in Heuvelregio">
            <a:extLst xmlns:a="http://schemas.openxmlformats.org/drawingml/2006/main">
              <a:ext uri="{FF2B5EF4-FFF2-40B4-BE49-F238E27FC236}">
                <a16:creationId xmlns:a16="http://schemas.microsoft.com/office/drawing/2014/main" id="{FB882AB2-D811-40D1-863B-0FFD9BAF7E06}"/>
              </a:ext>
            </a:extLst>
          </p:cNvPr>
          <p:cNvSpPr>
            <a:spLocks xmlns:a="http://schemas.openxmlformats.org/drawingml/2006/main" noGrp="1"/>
          </p:cNvSpPr>
          <p:nvPr/>
        </p:nvSpPr>
        <p:spPr>
          <a:xfrm xmlns:a="http://schemas.openxmlformats.org/drawingml/2006/main">
            <a:off x="571500" y="38100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Werkloosheid in Heuvelregio</a:t>
            </a:r>
          </a:p>
        </p:txBody>
      </p:sp>
      <p:sp>
        <p:nvSpPr>
          <p:cNvPr id="2" name="">
            <a:extLst xmlns:a="http://schemas.openxmlformats.org/drawingml/2006/main">
              <a:ext uri="{FF2B5EF4-FFF2-40B4-BE49-F238E27FC236}">
                <a16:creationId xmlns:a16="http://schemas.microsoft.com/office/drawing/2014/main" id="{AF3E8C00-0CFA-49CE-B3B7-B4D8ED2F23A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40D179F8-A0E8-4587-B7AD-0576DE7C2CB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4">
            <a:extLst xmlns:a="http://schemas.openxmlformats.org/drawingml/2006/main">
              <a:ext uri="{FF2B5EF4-FFF2-40B4-BE49-F238E27FC236}">
                <a16:creationId xmlns:a16="http://schemas.microsoft.com/office/drawing/2014/main" id="{40FBBC62-114F-4E4F-BBB3-22FFF1DB8F5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graphicFrame>
        <p:nvGraphicFramePr>
          <p:cNvPr id="14" name=""/>
          <p:cNvGraphicFramePr/>
          <p:nvPr/>
        </p:nvGraphicFramePr>
        <p:xfrm>
          <a:off xmlns:a="http://schemas.openxmlformats.org/drawingml/2006/main" x="571500" y="1981200"/>
          <a:ext xmlns:a="http://schemas.openxmlformats.org/drawingml/2006/main" cx="14097000" cy="1714500"/>
        </p:xfrm>
        <a:graphic xmlns:a="http://schemas.openxmlformats.org/drawingml/2006/main">
          <a:graphicData uri="http://schemas.openxmlformats.org/drawingml/2006/table">
            <a:tbl>
              <a:tblPr/>
              <a:tblGrid>
                <a:gridCol w="4699000"/>
                <a:gridCol w="4699000"/>
                <a:gridCol w="4699000"/>
              </a:tblGrid>
              <a:tr h="857250">
                <a:tc>
                  <a:txBody>
                    <a:bodyPr lIns="171450" tIns="95250" rIns="152400" bIns="95250"/>
                    <a:lstStyle/>
                    <a:p>
                      <a:r>
                        <a:rPr sz="2700" b="1">
                          <a:solidFill>
                            <a:srgbClr val="FFFFFF"/>
                          </a:solidFill>
                          <a:latin typeface="Arial"/>
                          <a:ea typeface="Arial"/>
                          <a:cs typeface="Arial"/>
                        </a:rPr>
                        <a:t>Werkenden</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Werklozen</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Vacatures</a:t>
                      </a:r>
                    </a:p>
                  </a:txBody>
                  <a:tcPr marL="91440" marR="91440" marT="45720" marB="45720" anchor="ctr">
                    <a:solidFill>
                      <a:srgbClr val="183247"/>
                    </a:solidFill>
                  </a:tcPr>
                </a:tc>
              </a:tr>
              <a:tr h="857250">
                <a:tc>
                  <a:txBody>
                    <a:bodyPr lIns="171450" tIns="95250" rIns="152400" bIns="95250"/>
                    <a:lstStyle/>
                    <a:p>
                      <a:r>
                        <a:rPr sz="2700" b="0">
                          <a:solidFill>
                            <a:srgbClr val="183247"/>
                          </a:solidFill>
                          <a:latin typeface="Arial"/>
                          <a:ea typeface="Arial"/>
                          <a:cs typeface="Arial"/>
                        </a:rPr>
                        <a:t>1.380 personen</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120 personen</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75 plaatsen</a:t>
                      </a:r>
                    </a:p>
                  </a:txBody>
                  <a:tcPr marL="91440" marR="91440" marT="45720" marB="45720" anchor="ctr">
                    <a:solidFill>
                      <a:srgbClr val="FFFFFF"/>
                    </a:solidFill>
                  </a:tcPr>
                </a:tc>
              </a:tr>
            </a:tbl>
          </a:graphicData>
        </a:graphic>
      </p:graphicFrame>
      <p:sp>
        <p:nvSpPr>
          <p:cNvPr id="6" name="Elke werkende heeft één baan.">
            <a:extLst xmlns:a="http://schemas.openxmlformats.org/drawingml/2006/main">
              <a:ext uri="{FF2B5EF4-FFF2-40B4-BE49-F238E27FC236}">
                <a16:creationId xmlns:a16="http://schemas.microsoft.com/office/drawing/2014/main" id="{55E60F17-AF1C-44F4-953C-CBE40C34D1AF}"/>
              </a:ext>
            </a:extLst>
          </p:cNvPr>
          <p:cNvSpPr>
            <a:spLocks xmlns:a="http://schemas.openxmlformats.org/drawingml/2006/main" noGrp="1"/>
          </p:cNvSpPr>
          <p:nvPr/>
        </p:nvSpPr>
        <p:spPr>
          <a:xfrm xmlns:a="http://schemas.openxmlformats.org/drawingml/2006/main">
            <a:off x="571500" y="3962400"/>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Elke werkende heeft één baan.</a:t>
            </a:r>
          </a:p>
        </p:txBody>
      </p:sp>
      <p:sp>
        <p:nvSpPr>
          <p:cNvPr id="7" name="Beroepsbevolking = 1.380 + 120 = 1.500 personen">
            <a:extLst xmlns:a="http://schemas.openxmlformats.org/drawingml/2006/main">
              <a:ext uri="{FF2B5EF4-FFF2-40B4-BE49-F238E27FC236}">
                <a16:creationId xmlns:a16="http://schemas.microsoft.com/office/drawing/2014/main" id="{787480DA-1E3F-4075-A306-CAD16C90392C}"/>
              </a:ext>
            </a:extLst>
          </p:cNvPr>
          <p:cNvSpPr>
            <a:spLocks xmlns:a="http://schemas.openxmlformats.org/drawingml/2006/main" noGrp="1"/>
          </p:cNvSpPr>
          <p:nvPr/>
        </p:nvSpPr>
        <p:spPr>
          <a:xfrm xmlns:a="http://schemas.openxmlformats.org/drawingml/2006/main">
            <a:off x="571500" y="4695825"/>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Beroepsbevolking = 1.380 + 120 = 1.500 personen</a:t>
            </a:r>
          </a:p>
        </p:txBody>
      </p:sp>
      <p:sp>
        <p:nvSpPr>
          <p:cNvPr id="8" name="Werkloosheidspercentage = 120 / 1.500 × 100%">
            <a:extLst xmlns:a="http://schemas.openxmlformats.org/drawingml/2006/main">
              <a:ext uri="{FF2B5EF4-FFF2-40B4-BE49-F238E27FC236}">
                <a16:creationId xmlns:a16="http://schemas.microsoft.com/office/drawing/2014/main" id="{BBAA5D05-E2D9-49B8-91EF-05E7D5E280A2}"/>
              </a:ext>
            </a:extLst>
          </p:cNvPr>
          <p:cNvSpPr>
            <a:spLocks xmlns:a="http://schemas.openxmlformats.org/drawingml/2006/main" noGrp="1"/>
          </p:cNvSpPr>
          <p:nvPr/>
        </p:nvSpPr>
        <p:spPr>
          <a:xfrm xmlns:a="http://schemas.openxmlformats.org/drawingml/2006/main">
            <a:off x="571500" y="5753100"/>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Werkloosheidspercentage = 120 / 1.500 × 100%</a:t>
            </a:r>
          </a:p>
        </p:txBody>
      </p:sp>
      <p:sp>
        <p:nvSpPr>
          <p:cNvPr id="9" name="8% van de beroepsbevolking is werkloos.">
            <a:extLst xmlns:a="http://schemas.openxmlformats.org/drawingml/2006/main">
              <a:ext uri="{FF2B5EF4-FFF2-40B4-BE49-F238E27FC236}">
                <a16:creationId xmlns:a16="http://schemas.microsoft.com/office/drawing/2014/main" id="{B26B7F16-B751-46BB-9CC2-C0E67935EED7}"/>
              </a:ext>
            </a:extLst>
          </p:cNvPr>
          <p:cNvSpPr>
            <a:spLocks xmlns:a="http://schemas.openxmlformats.org/drawingml/2006/main" noGrp="1"/>
          </p:cNvSpPr>
          <p:nvPr/>
        </p:nvSpPr>
        <p:spPr>
          <a:xfrm xmlns:a="http://schemas.openxmlformats.org/drawingml/2006/main">
            <a:off x="571500" y="6810375"/>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8% van de beroepsbevolking is werkloos.</a:t>
            </a:r>
          </a:p>
        </p:txBody>
      </p:sp>
    </p:spTree>
    <p:extLst>
      <p:ext uri="{BB962C8B-B14F-4D97-AF65-F5344CB8AC3E}">
        <p14:creationId xmlns:p14="http://schemas.microsoft.com/office/powerpoint/2010/main" val="108063180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Een vacature is nog niet vervuld">
            <a:extLst xmlns:a="http://schemas.openxmlformats.org/drawingml/2006/main">
              <a:ext uri="{FF2B5EF4-FFF2-40B4-BE49-F238E27FC236}">
                <a16:creationId xmlns:a16="http://schemas.microsoft.com/office/drawing/2014/main" id="{47AACA9B-83CE-419E-9E9B-D226F0E5E1ED}"/>
              </a:ext>
            </a:extLst>
          </p:cNvPr>
          <p:cNvSpPr>
            <a:spLocks xmlns:a="http://schemas.openxmlformats.org/drawingml/2006/main" noGrp="1"/>
          </p:cNvSpPr>
          <p:nvPr/>
        </p:nvSpPr>
        <p:spPr>
          <a:xfrm xmlns:a="http://schemas.openxmlformats.org/drawingml/2006/main">
            <a:off x="571500" y="38100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Een vacature is nog niet vervuld</a:t>
            </a:r>
          </a:p>
        </p:txBody>
      </p:sp>
      <p:sp>
        <p:nvSpPr>
          <p:cNvPr id="2" name="">
            <a:extLst xmlns:a="http://schemas.openxmlformats.org/drawingml/2006/main">
              <a:ext uri="{FF2B5EF4-FFF2-40B4-BE49-F238E27FC236}">
                <a16:creationId xmlns:a16="http://schemas.microsoft.com/office/drawing/2014/main" id="{7FE5527F-3C49-41D1-9772-3C1B1547812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DB4BA1B8-C639-47F4-8277-DC50397028B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5">
            <a:extLst xmlns:a="http://schemas.openxmlformats.org/drawingml/2006/main">
              <a:ext uri="{FF2B5EF4-FFF2-40B4-BE49-F238E27FC236}">
                <a16:creationId xmlns:a16="http://schemas.microsoft.com/office/drawing/2014/main" id="{6084112B-5F7C-437D-B9B9-1B3543F7A6D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graphicFrame>
        <p:nvGraphicFramePr>
          <p:cNvPr id="12" name=""/>
          <p:cNvGraphicFramePr/>
          <p:nvPr/>
        </p:nvGraphicFramePr>
        <p:xfrm>
          <a:off xmlns:a="http://schemas.openxmlformats.org/drawingml/2006/main" x="571500" y="2085975"/>
          <a:ext xmlns:a="http://schemas.openxmlformats.org/drawingml/2006/main" cx="14097000" cy="3333750"/>
        </p:xfrm>
        <a:graphic xmlns:a="http://schemas.openxmlformats.org/drawingml/2006/main">
          <a:graphicData uri="http://schemas.openxmlformats.org/drawingml/2006/table">
            <a:tbl>
              <a:tblPr/>
              <a:tblGrid>
                <a:gridCol w="5524500"/>
                <a:gridCol w="4286250"/>
                <a:gridCol w="4286250"/>
              </a:tblGrid>
              <a:tr h="833438">
                <a:tc>
                  <a:txBody>
                    <a:bodyPr lIns="171450" tIns="95250" rIns="152400" bIns="95250"/>
                    <a:lstStyle/>
                    <a:p>
                      <a:r>
                        <a:rPr sz="2625" b="1">
                          <a:solidFill>
                            <a:srgbClr val="FFFFFF"/>
                          </a:solidFill>
                          <a:latin typeface="Arial"/>
                          <a:ea typeface="Arial"/>
                          <a:cs typeface="Arial"/>
                        </a:rPr>
                        <a:t>Telling in Heuvelregio</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Uitkomst</a:t>
                      </a:r>
                    </a:p>
                  </a:txBody>
                  <a:tcPr marL="91440" marR="91440" marT="45720" marB="45720" anchor="ctr">
                    <a:solidFill>
                      <a:srgbClr val="183247"/>
                    </a:solidFill>
                  </a:tcPr>
                </a:tc>
              </a:tr>
              <a:tr h="833438">
                <a:tc>
                  <a:txBody>
                    <a:bodyPr lIns="171450" tIns="95250" rIns="152400" bIns="95250"/>
                    <a:lstStyle/>
                    <a:p>
                      <a:r>
                        <a:rPr sz="2625" b="0">
                          <a:solidFill>
                            <a:srgbClr val="183247"/>
                          </a:solidFill>
                          <a:latin typeface="Arial"/>
                          <a:ea typeface="Arial"/>
                          <a:cs typeface="Arial"/>
                        </a:rPr>
                        <a:t>Arbeidsaanbod</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1.380 + 120</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1.500 personen</a:t>
                      </a:r>
                    </a:p>
                  </a:txBody>
                  <a:tcPr marL="91440" marR="91440" marT="45720" marB="45720" anchor="ctr">
                    <a:solidFill>
                      <a:srgbClr val="FFFFFF"/>
                    </a:solidFill>
                  </a:tcPr>
                </a:tc>
              </a:tr>
              <a:tr h="833438">
                <a:tc>
                  <a:txBody>
                    <a:bodyPr lIns="171450" tIns="95250" rIns="152400" bIns="95250"/>
                    <a:lstStyle/>
                    <a:p>
                      <a:r>
                        <a:rPr sz="2625" b="0">
                          <a:solidFill>
                            <a:srgbClr val="183247"/>
                          </a:solidFill>
                          <a:latin typeface="Arial"/>
                          <a:ea typeface="Arial"/>
                          <a:cs typeface="Arial"/>
                        </a:rPr>
                        <a:t>Arbeidsvraag</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1.380 + 75</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1.455 plaatsen</a:t>
                      </a:r>
                    </a:p>
                  </a:txBody>
                  <a:tcPr marL="91440" marR="91440" marT="45720" marB="45720" anchor="ctr">
                    <a:solidFill>
                      <a:srgbClr val="EFF4F7"/>
                    </a:solidFill>
                  </a:tcPr>
                </a:tc>
              </a:tr>
              <a:tr h="833438">
                <a:tc>
                  <a:txBody>
                    <a:bodyPr lIns="171450" tIns="95250" rIns="152400" bIns="95250"/>
                    <a:lstStyle/>
                    <a:p>
                      <a:r>
                        <a:rPr sz="2625" b="0">
                          <a:solidFill>
                            <a:srgbClr val="183247"/>
                          </a:solidFill>
                          <a:latin typeface="Arial"/>
                          <a:ea typeface="Arial"/>
                          <a:cs typeface="Arial"/>
                        </a:rPr>
                        <a:t>Aanbod min vraag</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1.500 − 1.455</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45</a:t>
                      </a:r>
                    </a:p>
                  </a:txBody>
                  <a:tcPr marL="91440" marR="91440" marT="45720" marB="45720" anchor="ctr">
                    <a:solidFill>
                      <a:srgbClr val="FFFFFF"/>
                    </a:solidFill>
                  </a:tcPr>
                </a:tc>
              </a:tr>
            </a:tbl>
          </a:graphicData>
        </a:graphic>
      </p:graphicFrame>
      <p:sp>
        <p:nvSpPr>
          <p:cNvPr id="6" name="45 = 120 werklozen − 75 vacatures">
            <a:extLst xmlns:a="http://schemas.openxmlformats.org/drawingml/2006/main">
              <a:ext uri="{FF2B5EF4-FFF2-40B4-BE49-F238E27FC236}">
                <a16:creationId xmlns:a16="http://schemas.microsoft.com/office/drawing/2014/main" id="{42C585BD-ACA0-40F3-9ED1-A69D3BB7E560}"/>
              </a:ext>
            </a:extLst>
          </p:cNvPr>
          <p:cNvSpPr>
            <a:spLocks xmlns:a="http://schemas.openxmlformats.org/drawingml/2006/main" noGrp="1"/>
          </p:cNvSpPr>
          <p:nvPr/>
        </p:nvSpPr>
        <p:spPr>
          <a:xfrm xmlns:a="http://schemas.openxmlformats.org/drawingml/2006/main">
            <a:off x="571500" y="5857875"/>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A94D16"/>
                </a:solidFill>
                <a:latin typeface="Arial"/>
                <a:ea typeface="Arial"/>
                <a:cs typeface="Arial"/>
              </a:defRPr>
            </a:pPr>
            <a:r>
              <a:rPr sz="3375" b="1">
                <a:solidFill>
                  <a:srgbClr val="A94D16"/>
                </a:solidFill>
                <a:latin typeface="Arial"/>
                <a:ea typeface="Arial"/>
                <a:cs typeface="Arial"/>
              </a:rPr>
              <a:t>45 = 120 werklozen − 75 vacatures</a:t>
            </a:r>
          </a:p>
        </p:txBody>
      </p:sp>
      <p:sp>
        <p:nvSpPr>
          <p:cNvPr id="7" name="De 120 werkzoekenden hebben nog geen baan.">
            <a:extLst xmlns:a="http://schemas.openxmlformats.org/drawingml/2006/main">
              <a:ext uri="{FF2B5EF4-FFF2-40B4-BE49-F238E27FC236}">
                <a16:creationId xmlns:a16="http://schemas.microsoft.com/office/drawing/2014/main" id="{B9C503F3-514D-4A4A-8552-FFBF1D545488}"/>
              </a:ext>
            </a:extLst>
          </p:cNvPr>
          <p:cNvSpPr>
            <a:spLocks xmlns:a="http://schemas.openxmlformats.org/drawingml/2006/main" noGrp="1"/>
          </p:cNvSpPr>
          <p:nvPr/>
        </p:nvSpPr>
        <p:spPr>
          <a:xfrm xmlns:a="http://schemas.openxmlformats.org/drawingml/2006/main">
            <a:off x="571500" y="6886575"/>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De 120 werkzoekenden hebben nog geen baan.</a:t>
            </a:r>
          </a:p>
        </p:txBody>
      </p:sp>
    </p:spTree>
    <p:extLst>
      <p:ext uri="{BB962C8B-B14F-4D97-AF65-F5344CB8AC3E}">
        <p14:creationId xmlns:p14="http://schemas.microsoft.com/office/powerpoint/2010/main" val="108425043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De oorzaak bepaalt het type werkloosheid">
            <a:extLst xmlns:a="http://schemas.openxmlformats.org/drawingml/2006/main">
              <a:ext uri="{FF2B5EF4-FFF2-40B4-BE49-F238E27FC236}">
                <a16:creationId xmlns:a16="http://schemas.microsoft.com/office/drawing/2014/main" id="{F8DFEC6B-1078-4FED-A12B-F39D495344CA}"/>
              </a:ext>
            </a:extLst>
          </p:cNvPr>
          <p:cNvSpPr>
            <a:spLocks xmlns:a="http://schemas.openxmlformats.org/drawingml/2006/main" noGrp="1"/>
          </p:cNvSpPr>
          <p:nvPr/>
        </p:nvSpPr>
        <p:spPr>
          <a:xfrm xmlns:a="http://schemas.openxmlformats.org/drawingml/2006/main">
            <a:off x="571500" y="38100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oorzaak bepaalt het type werkloosheid</a:t>
            </a:r>
          </a:p>
        </p:txBody>
      </p:sp>
      <p:sp>
        <p:nvSpPr>
          <p:cNvPr id="2" name="">
            <a:extLst xmlns:a="http://schemas.openxmlformats.org/drawingml/2006/main">
              <a:ext uri="{FF2B5EF4-FFF2-40B4-BE49-F238E27FC236}">
                <a16:creationId xmlns:a16="http://schemas.microsoft.com/office/drawing/2014/main" id="{94185BA0-C5FA-49A7-87DC-A61034486CB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3 Werkloosheid en veranderingen op de arbeidsmarkt">
            <a:extLst xmlns:a="http://schemas.openxmlformats.org/drawingml/2006/main">
              <a:ext uri="{FF2B5EF4-FFF2-40B4-BE49-F238E27FC236}">
                <a16:creationId xmlns:a16="http://schemas.microsoft.com/office/drawing/2014/main" id="{18F7D43F-9EBD-4B75-9FC7-A1B84B77C51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§4.3.3 Werkloosheid en veranderingen op de arbeidsmarkt</a:t>
            </a:r>
          </a:p>
        </p:txBody>
      </p:sp>
      <p:sp>
        <p:nvSpPr>
          <p:cNvPr id="4" name="6">
            <a:extLst xmlns:a="http://schemas.openxmlformats.org/drawingml/2006/main">
              <a:ext uri="{FF2B5EF4-FFF2-40B4-BE49-F238E27FC236}">
                <a16:creationId xmlns:a16="http://schemas.microsoft.com/office/drawing/2014/main" id="{5FB5B727-2135-4BA5-AC9F-24BC01CAF1B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graphicFrame>
        <p:nvGraphicFramePr>
          <p:cNvPr id="11" name=""/>
          <p:cNvGraphicFramePr/>
          <p:nvPr/>
        </p:nvGraphicFramePr>
        <p:xfrm>
          <a:off xmlns:a="http://schemas.openxmlformats.org/drawingml/2006/main" x="571500" y="2076450"/>
          <a:ext xmlns:a="http://schemas.openxmlformats.org/drawingml/2006/main" cx="14097000" cy="4448175"/>
        </p:xfrm>
        <a:graphic xmlns:a="http://schemas.openxmlformats.org/drawingml/2006/main">
          <a:graphicData uri="http://schemas.openxmlformats.org/drawingml/2006/table">
            <a:tbl>
              <a:tblPr/>
              <a:tblGrid>
                <a:gridCol w="4905375"/>
                <a:gridCol w="5381625"/>
                <a:gridCol w="3810000"/>
              </a:tblGrid>
              <a:tr h="1112044">
                <a:tc>
                  <a:txBody>
                    <a:bodyPr lIns="171450" tIns="95250" rIns="152400" bIns="95250"/>
                    <a:lstStyle/>
                    <a:p>
                      <a:r>
                        <a:rPr sz="2475" b="1">
                          <a:solidFill>
                            <a:srgbClr val="FFFFFF"/>
                          </a:solidFill>
                          <a:latin typeface="Arial"/>
                          <a:ea typeface="Arial"/>
                          <a:cs typeface="Arial"/>
                        </a:rPr>
                        <a:t>Wat beschrijft de bron?</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Mechanisme</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Type</a:t>
                      </a:r>
                    </a:p>
                  </a:txBody>
                  <a:tcPr marL="91440" marR="91440" marT="45720" marB="45720" anchor="ctr">
                    <a:solidFill>
                      <a:srgbClr val="183247"/>
                    </a:solidFill>
                  </a:tcPr>
                </a:tc>
              </a:tr>
              <a:tr h="1112044">
                <a:tc>
                  <a:txBody>
                    <a:bodyPr lIns="171450" tIns="95250" rIns="152400" bIns="95250"/>
                    <a:lstStyle/>
                    <a:p>
                      <a:r>
                        <a:rPr sz="2475" b="0">
                          <a:solidFill>
                            <a:srgbClr val="183247"/>
                          </a:solidFill>
                          <a:latin typeface="Arial"/>
                          <a:ea typeface="Arial"/>
                          <a:cs typeface="Arial"/>
                        </a:rPr>
                        <a:t>Huishoudens besteden minder</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Minder verkopen, minder personeel nodig</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Conjunctureel</a:t>
                      </a:r>
                    </a:p>
                  </a:txBody>
                  <a:tcPr marL="91440" marR="91440" marT="45720" marB="45720" anchor="ctr">
                    <a:solidFill>
                      <a:srgbClr val="FFFFFF"/>
                    </a:solidFill>
                  </a:tcPr>
                </a:tc>
              </a:tr>
              <a:tr h="1112044">
                <a:tc>
                  <a:txBody>
                    <a:bodyPr lIns="171450" tIns="95250" rIns="152400" bIns="95250"/>
                    <a:lstStyle/>
                    <a:p>
                      <a:r>
                        <a:rPr sz="2475" b="0">
                          <a:solidFill>
                            <a:srgbClr val="183247"/>
                          </a:solidFill>
                          <a:latin typeface="Arial"/>
                          <a:ea typeface="Arial"/>
                          <a:cs typeface="Arial"/>
                        </a:rPr>
                        <a:t>Werk vraagt andere vaardigheden</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Arbeid en banen passen onvoldoende bij elkaar</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Structureel</a:t>
                      </a:r>
                    </a:p>
                  </a:txBody>
                  <a:tcPr marL="91440" marR="91440" marT="45720" marB="45720" anchor="ctr">
                    <a:solidFill>
                      <a:srgbClr val="EFF4F7"/>
                    </a:solidFill>
                  </a:tcPr>
                </a:tc>
              </a:tr>
              <a:tr h="1112044">
                <a:tc>
                  <a:txBody>
                    <a:bodyPr lIns="171450" tIns="95250" rIns="152400" bIns="95250"/>
                    <a:lstStyle/>
                    <a:p>
                      <a:r>
                        <a:rPr sz="2475" b="0">
                          <a:solidFill>
                            <a:srgbClr val="183247"/>
                          </a:solidFill>
                          <a:latin typeface="Arial"/>
                          <a:ea typeface="Arial"/>
                          <a:cs typeface="Arial"/>
                        </a:rPr>
                        <a:t>Tijd nodig tussen passende banen</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Zoeken en overstappen kosten tijd</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Frictie: hier onderdeel van structureel</a:t>
                      </a:r>
                    </a:p>
                  </a:txBody>
                  <a:tcPr marL="91440" marR="91440" marT="45720" marB="45720" anchor="ctr">
                    <a:solidFill>
                      <a:srgbClr val="FFFFFF"/>
                    </a:solidFill>
                  </a:tcPr>
                </a:tc>
              </a:tr>
            </a:tbl>
          </a:graphicData>
        </a:graphic>
      </p:graphicFrame>
      <p:sp>
        <p:nvSpPr>
          <p:cNvPr id="6" name="Een typering krijgt betekenis door de oorzaak uit de br">
            <a:extLst xmlns:a="http://schemas.openxmlformats.org/drawingml/2006/main">
              <a:ext uri="{FF2B5EF4-FFF2-40B4-BE49-F238E27FC236}">
                <a16:creationId xmlns:a16="http://schemas.microsoft.com/office/drawing/2014/main" id="{B14D4926-798D-4BA7-89B2-05B8B9A14117}"/>
              </a:ext>
            </a:extLst>
          </p:cNvPr>
          <p:cNvSpPr>
            <a:spLocks xmlns:a="http://schemas.openxmlformats.org/drawingml/2006/main" noGrp="1"/>
          </p:cNvSpPr>
          <p:nvPr/>
        </p:nvSpPr>
        <p:spPr>
          <a:xfrm xmlns:a="http://schemas.openxmlformats.org/drawingml/2006/main">
            <a:off x="571500" y="7000875"/>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Een typering krijgt betekenis door de oorzaak uit de bron.</a:t>
            </a:r>
          </a:p>
        </p:txBody>
      </p:sp>
    </p:spTree>
    <p:extLst>
      <p:ext uri="{BB962C8B-B14F-4D97-AF65-F5344CB8AC3E}">
        <p14:creationId xmlns:p14="http://schemas.microsoft.com/office/powerpoint/2010/main" val="50275052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en aparte sector: fietsreparaties">
            <a:extLst xmlns:a="http://schemas.openxmlformats.org/drawingml/2006/main">
              <a:ext uri="{FF2B5EF4-FFF2-40B4-BE49-F238E27FC236}">
                <a16:creationId xmlns:a16="http://schemas.microsoft.com/office/drawing/2014/main" id="{058E16B9-2AB4-4FB3-B919-DD014C257789}"/>
              </a:ext>
            </a:extLst>
          </p:cNvPr>
          <p:cNvSpPr>
            <a:spLocks xmlns:a="http://schemas.openxmlformats.org/drawingml/2006/main" noGrp="1"/>
          </p:cNvSpPr>
          <p:nvPr/>
        </p:nvSpPr>
        <p:spPr>
          <a:xfrm xmlns:a="http://schemas.openxmlformats.org/drawingml/2006/main">
            <a:off x="571500" y="38100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Een aparte sector: fietsreparaties</a:t>
            </a:r>
          </a:p>
        </p:txBody>
      </p:sp>
      <p:sp>
        <p:nvSpPr>
          <p:cNvPr id="2" name="">
            <a:extLst xmlns:a="http://schemas.openxmlformats.org/drawingml/2006/main">
              <a:ext uri="{FF2B5EF4-FFF2-40B4-BE49-F238E27FC236}">
                <a16:creationId xmlns:a16="http://schemas.microsoft.com/office/drawing/2014/main" id="{482896EE-95C9-4E9E-B08A-2C1169C4F04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71EAEFDB-20B1-418A-B5E6-0061A4F5F90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7">
            <a:extLst xmlns:a="http://schemas.openxmlformats.org/drawingml/2006/main">
              <a:ext uri="{FF2B5EF4-FFF2-40B4-BE49-F238E27FC236}">
                <a16:creationId xmlns:a16="http://schemas.microsoft.com/office/drawing/2014/main" id="{8B5451E5-7A20-43AB-B2FD-2FD9D6CF60B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Huishoudens stellen reparaties uit en besteden minder.">
            <a:extLst xmlns:a="http://schemas.openxmlformats.org/drawingml/2006/main">
              <a:ext uri="{FF2B5EF4-FFF2-40B4-BE49-F238E27FC236}">
                <a16:creationId xmlns:a16="http://schemas.microsoft.com/office/drawing/2014/main" id="{0AA2A339-D22B-49F8-B21A-5715E2B4890A}"/>
              </a:ext>
            </a:extLst>
          </p:cNvPr>
          <p:cNvSpPr>
            <a:spLocks xmlns:a="http://schemas.openxmlformats.org/drawingml/2006/main" noGrp="1"/>
          </p:cNvSpPr>
          <p:nvPr/>
        </p:nvSpPr>
        <p:spPr>
          <a:xfrm xmlns:a="http://schemas.openxmlformats.org/drawingml/2006/main">
            <a:off x="571500" y="180975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Huishoudens stellen reparaties uit en besteden minder.</a:t>
            </a:r>
          </a:p>
        </p:txBody>
      </p:sp>
      <p:graphicFrame>
        <p:nvGraphicFramePr>
          <p:cNvPr id="14" name=""/>
          <p:cNvGraphicFramePr/>
          <p:nvPr/>
        </p:nvGraphicFramePr>
        <p:xfrm>
          <a:off xmlns:a="http://schemas.openxmlformats.org/drawingml/2006/main" x="571500" y="2895600"/>
          <a:ext xmlns:a="http://schemas.openxmlformats.org/drawingml/2006/main" cx="14097000" cy="2600325"/>
        </p:xfrm>
        <a:graphic xmlns:a="http://schemas.openxmlformats.org/drawingml/2006/main">
          <a:graphicData uri="http://schemas.openxmlformats.org/drawingml/2006/table">
            <a:tbl>
              <a:tblPr/>
              <a:tblGrid>
                <a:gridCol w="4857750"/>
                <a:gridCol w="4619625"/>
                <a:gridCol w="4619625"/>
              </a:tblGrid>
              <a:tr h="866775">
                <a:tc>
                  <a:txBody>
                    <a:bodyPr lIns="171450" tIns="95250" rIns="152400" bIns="95250"/>
                    <a:lstStyle/>
                    <a:p>
                      <a:r>
                        <a:rPr sz="2700" b="1">
                          <a:solidFill>
                            <a:srgbClr val="FFFFFF"/>
                          </a:solidFill>
                          <a:latin typeface="Arial"/>
                          <a:ea typeface="Arial"/>
                          <a:cs typeface="Arial"/>
                        </a:rPr>
                        <a:t>Functie</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Vóór de daling</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Na de daling</a:t>
                      </a:r>
                    </a:p>
                  </a:txBody>
                  <a:tcPr marL="91440" marR="91440" marT="45720" marB="45720" anchor="ctr">
                    <a:solidFill>
                      <a:srgbClr val="183247"/>
                    </a:solidFill>
                  </a:tcPr>
                </a:tc>
              </a:tr>
              <a:tr h="866775">
                <a:tc>
                  <a:txBody>
                    <a:bodyPr lIns="171450" tIns="95250" rIns="152400" bIns="95250"/>
                    <a:lstStyle/>
                    <a:p>
                      <a:r>
                        <a:rPr sz="2700" b="0">
                          <a:solidFill>
                            <a:srgbClr val="183247"/>
                          </a:solidFill>
                          <a:latin typeface="Arial"/>
                          <a:ea typeface="Arial"/>
                          <a:cs typeface="Arial"/>
                        </a:rPr>
                        <a:t>Arbeidsvraag</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Lᵥ = 220 − 10w</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Lᵥ = 180 − 10w</a:t>
                      </a:r>
                    </a:p>
                  </a:txBody>
                  <a:tcPr marL="91440" marR="91440" marT="45720" marB="45720" anchor="ctr">
                    <a:solidFill>
                      <a:srgbClr val="FFFFFF"/>
                    </a:solidFill>
                  </a:tcPr>
                </a:tc>
              </a:tr>
              <a:tr h="866775">
                <a:tc>
                  <a:txBody>
                    <a:bodyPr lIns="171450" tIns="95250" rIns="152400" bIns="95250"/>
                    <a:lstStyle/>
                    <a:p>
                      <a:r>
                        <a:rPr sz="2700" b="0">
                          <a:solidFill>
                            <a:srgbClr val="183247"/>
                          </a:solidFill>
                          <a:latin typeface="Arial"/>
                          <a:ea typeface="Arial"/>
                          <a:cs typeface="Arial"/>
                        </a:rPr>
                        <a:t>Arbeidsaanbod</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Lₐ = −20 + 10w</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Lₐ = −20 + 10w</a:t>
                      </a:r>
                    </a:p>
                  </a:txBody>
                  <a:tcPr marL="91440" marR="91440" marT="45720" marB="45720" anchor="ctr">
                    <a:solidFill>
                      <a:srgbClr val="EFF4F7"/>
                    </a:solidFill>
                  </a:tcPr>
                </a:tc>
              </a:tr>
            </a:tbl>
          </a:graphicData>
        </a:graphic>
      </p:graphicFrame>
      <p:sp>
        <p:nvSpPr>
          <p:cNvPr id="7" name="L: personen, ieder één baan van 20 uur per week.&#10;w: eur">
            <a:extLst xmlns:a="http://schemas.openxmlformats.org/drawingml/2006/main">
              <a:ext uri="{FF2B5EF4-FFF2-40B4-BE49-F238E27FC236}">
                <a16:creationId xmlns:a16="http://schemas.microsoft.com/office/drawing/2014/main" id="{8238EF23-4536-4220-935B-86F44FDF5C0F}"/>
              </a:ext>
            </a:extLst>
          </p:cNvPr>
          <p:cNvSpPr>
            <a:spLocks xmlns:a="http://schemas.openxmlformats.org/drawingml/2006/main" noGrp="1"/>
          </p:cNvSpPr>
          <p:nvPr/>
        </p:nvSpPr>
        <p:spPr>
          <a:xfrm xmlns:a="http://schemas.openxmlformats.org/drawingml/2006/main">
            <a:off x="571500" y="58483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L: personen, ieder één baan van 20 uur per week.</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w: euro per uur. Geldig voor € 2 ≤ w ≤ € 18.</a:t>
            </a:r>
          </a:p>
        </p:txBody>
      </p:sp>
      <p:sp>
        <p:nvSpPr>
          <p:cNvPr id="8" name="Geen vacatures of zoekproblemen. Eerst kan het loon vri">
            <a:extLst xmlns:a="http://schemas.openxmlformats.org/drawingml/2006/main">
              <a:ext uri="{FF2B5EF4-FFF2-40B4-BE49-F238E27FC236}">
                <a16:creationId xmlns:a16="http://schemas.microsoft.com/office/drawing/2014/main" id="{02A6C708-3AEF-4E3C-A212-9FF16A67F927}"/>
              </a:ext>
            </a:extLst>
          </p:cNvPr>
          <p:cNvSpPr>
            <a:spLocks xmlns:a="http://schemas.openxmlformats.org/drawingml/2006/main" noGrp="1"/>
          </p:cNvSpPr>
          <p:nvPr/>
        </p:nvSpPr>
        <p:spPr>
          <a:xfrm xmlns:a="http://schemas.openxmlformats.org/drawingml/2006/main">
            <a:off x="571500" y="71818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Geen vacatures of zoekproblemen. Eerst kan het loon vrij aanpassen.</a:t>
            </a:r>
          </a:p>
        </p:txBody>
      </p:sp>
    </p:spTree>
    <p:extLst>
      <p:ext uri="{BB962C8B-B14F-4D97-AF65-F5344CB8AC3E}">
        <p14:creationId xmlns:p14="http://schemas.microsoft.com/office/powerpoint/2010/main" val="49301260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Het oude evenwicht">
            <a:extLst xmlns:a="http://schemas.openxmlformats.org/drawingml/2006/main">
              <a:ext uri="{FF2B5EF4-FFF2-40B4-BE49-F238E27FC236}">
                <a16:creationId xmlns:a16="http://schemas.microsoft.com/office/drawing/2014/main" id="{B90EA876-D5B3-4ADD-ADCE-1F6B1FF45299}"/>
              </a:ext>
            </a:extLst>
          </p:cNvPr>
          <p:cNvSpPr>
            <a:spLocks xmlns:a="http://schemas.openxmlformats.org/drawingml/2006/main" noGrp="1"/>
          </p:cNvSpPr>
          <p:nvPr/>
        </p:nvSpPr>
        <p:spPr>
          <a:xfrm xmlns:a="http://schemas.openxmlformats.org/drawingml/2006/main">
            <a:off x="571500" y="38100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Het oude evenwicht</a:t>
            </a:r>
          </a:p>
        </p:txBody>
      </p:sp>
      <p:sp>
        <p:nvSpPr>
          <p:cNvPr id="2" name="">
            <a:extLst xmlns:a="http://schemas.openxmlformats.org/drawingml/2006/main">
              <a:ext uri="{FF2B5EF4-FFF2-40B4-BE49-F238E27FC236}">
                <a16:creationId xmlns:a16="http://schemas.microsoft.com/office/drawing/2014/main" id="{1106EB9C-7EF5-4C94-90BA-2C7901AA98C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B8A222EC-B712-4EBA-9B4F-EE7748F17B4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8">
            <a:extLst xmlns:a="http://schemas.openxmlformats.org/drawingml/2006/main">
              <a:ext uri="{FF2B5EF4-FFF2-40B4-BE49-F238E27FC236}">
                <a16:creationId xmlns:a16="http://schemas.microsoft.com/office/drawing/2014/main" id="{3AF23A31-396C-42EC-82F3-247A969A0A9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graphicFrame>
        <p:nvGraphicFramePr>
          <p:cNvPr id="12" name="Chart"/>
          <p:cNvGraphicFramePr/>
          <p:nvPr/>
        </p:nvGraphicFramePr>
        <p:xfrm>
          <a:off xmlns:a="http://schemas.openxmlformats.org/drawingml/2006/main" x="428625" y="1981200"/>
          <a:ext xmlns:a="http://schemas.openxmlformats.org/drawingml/2006/main" cx="10001250" cy="5676900"/>
        </p:xfrm>
        <a:graphic xmlns:a="http://schemas.openxmlformats.org/drawingml/2006/main">
          <a:graphicData uri="http://schemas.openxmlformats.org/drawingml/2006/chart">
            <c:chart xmlns:r="http://schemas.openxmlformats.org/officeDocument/2006/relationships" xmlns:c="http://schemas.openxmlformats.org/drawingml/2006/chart" r:id="Re3d6e34481af416d"/>
          </a:graphicData>
        </a:graphic>
      </p:graphicFrame>
      <p:sp>
        <p:nvSpPr>
          <p:cNvPr id="6" name="Lᵥ = Lₐ">
            <a:extLst xmlns:a="http://schemas.openxmlformats.org/drawingml/2006/main">
              <a:ext uri="{FF2B5EF4-FFF2-40B4-BE49-F238E27FC236}">
                <a16:creationId xmlns:a16="http://schemas.microsoft.com/office/drawing/2014/main" id="{A600E922-CE1D-4AF7-8C8C-CF35A609B46A}"/>
              </a:ext>
            </a:extLst>
          </p:cNvPr>
          <p:cNvSpPr>
            <a:spLocks xmlns:a="http://schemas.openxmlformats.org/drawingml/2006/main" noGrp="1"/>
          </p:cNvSpPr>
          <p:nvPr/>
        </p:nvSpPr>
        <p:spPr>
          <a:xfrm xmlns:a="http://schemas.openxmlformats.org/drawingml/2006/main">
            <a:off x="10648950" y="2171700"/>
            <a:ext cx="4019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Lᵥ = Lₐ</a:t>
            </a:r>
          </a:p>
        </p:txBody>
      </p:sp>
      <p:sp>
        <p:nvSpPr>
          <p:cNvPr id="7" name="220 − 10w&#10;= −20 + 10w&#10;&#10;240 = 20w&#10;w = € 12 per uur&#10;&#10;L = ">
            <a:extLst xmlns:a="http://schemas.openxmlformats.org/drawingml/2006/main">
              <a:ext uri="{FF2B5EF4-FFF2-40B4-BE49-F238E27FC236}">
                <a16:creationId xmlns:a16="http://schemas.microsoft.com/office/drawing/2014/main" id="{1ABEDEBE-D777-423A-8F72-48EE761FAEFC}"/>
              </a:ext>
            </a:extLst>
          </p:cNvPr>
          <p:cNvSpPr>
            <a:spLocks xmlns:a="http://schemas.openxmlformats.org/drawingml/2006/main" noGrp="1"/>
          </p:cNvSpPr>
          <p:nvPr/>
        </p:nvSpPr>
        <p:spPr>
          <a:xfrm xmlns:a="http://schemas.openxmlformats.org/drawingml/2006/main">
            <a:off x="10648950" y="3000375"/>
            <a:ext cx="4019550" cy="398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220 − 10w</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 −20 + 10w</a:t>
            </a:r>
          </a:p>
          <a:p xmlns:a="http://schemas.openxmlformats.org/drawingml/2006/main">
            <a:r>
              <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240 = 20w</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w = € 12 per uur</a:t>
            </a:r>
          </a:p>
          <a:p xmlns:a="http://schemas.openxmlformats.org/drawingml/2006/main">
            <a:r>
              <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L = 220 − 120</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L = 100 personen</a:t>
            </a:r>
          </a:p>
        </p:txBody>
      </p:sp>
    </p:spTree>
    <p:extLst>
      <p:ext uri="{BB962C8B-B14F-4D97-AF65-F5344CB8AC3E}">
        <p14:creationId xmlns:p14="http://schemas.microsoft.com/office/powerpoint/2010/main" val="134165827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Minder opdrachten verschuiven de arbeidsvraag">
            <a:extLst xmlns:a="http://schemas.openxmlformats.org/drawingml/2006/main">
              <a:ext uri="{FF2B5EF4-FFF2-40B4-BE49-F238E27FC236}">
                <a16:creationId xmlns:a16="http://schemas.microsoft.com/office/drawing/2014/main" id="{152F80EE-125A-45E5-AE66-0F93348C9685}"/>
              </a:ext>
            </a:extLst>
          </p:cNvPr>
          <p:cNvSpPr>
            <a:spLocks xmlns:a="http://schemas.openxmlformats.org/drawingml/2006/main" noGrp="1"/>
          </p:cNvSpPr>
          <p:nvPr/>
        </p:nvSpPr>
        <p:spPr>
          <a:xfrm xmlns:a="http://schemas.openxmlformats.org/drawingml/2006/main">
            <a:off x="571500" y="38100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Minder opdrachten verschuiven de arbeidsvraag</a:t>
            </a:r>
          </a:p>
        </p:txBody>
      </p:sp>
      <p:sp>
        <p:nvSpPr>
          <p:cNvPr id="2" name="">
            <a:extLst xmlns:a="http://schemas.openxmlformats.org/drawingml/2006/main">
              <a:ext uri="{FF2B5EF4-FFF2-40B4-BE49-F238E27FC236}">
                <a16:creationId xmlns:a16="http://schemas.microsoft.com/office/drawing/2014/main" id="{68E5201D-C2FD-4D52-8516-F573A951A23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531AE7BD-855E-40E5-BEC7-3F9461EB854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9">
            <a:extLst xmlns:a="http://schemas.openxmlformats.org/drawingml/2006/main">
              <a:ext uri="{FF2B5EF4-FFF2-40B4-BE49-F238E27FC236}">
                <a16:creationId xmlns:a16="http://schemas.microsoft.com/office/drawing/2014/main" id="{D3E90191-BB64-4C7C-8D19-FC4EC5278C4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graphicFrame>
        <p:nvGraphicFramePr>
          <p:cNvPr id="14" name="Chart"/>
          <p:cNvGraphicFramePr/>
          <p:nvPr/>
        </p:nvGraphicFramePr>
        <p:xfrm>
          <a:off xmlns:a="http://schemas.openxmlformats.org/drawingml/2006/main" x="428625" y="1981200"/>
          <a:ext xmlns:a="http://schemas.openxmlformats.org/drawingml/2006/main" cx="10001250" cy="5676900"/>
        </p:xfrm>
        <a:graphic xmlns:a="http://schemas.openxmlformats.org/drawingml/2006/main">
          <a:graphicData uri="http://schemas.openxmlformats.org/drawingml/2006/chart">
            <c:chart xmlns:r="http://schemas.openxmlformats.org/officeDocument/2006/relationships" xmlns:c="http://schemas.openxmlformats.org/drawingml/2006/chart" r:id="R7c2d25791fc34ad0"/>
          </a:graphicData>
        </a:graphic>
      </p:graphicFrame>
      <p:sp>
        <p:nvSpPr>
          <p:cNvPr id="6" name="Bij elk loon:">
            <a:extLst xmlns:a="http://schemas.openxmlformats.org/drawingml/2006/main">
              <a:ext uri="{FF2B5EF4-FFF2-40B4-BE49-F238E27FC236}">
                <a16:creationId xmlns:a16="http://schemas.microsoft.com/office/drawing/2014/main" id="{FFA3794F-4B50-4BB8-AA3A-DCAF130EA827}"/>
              </a:ext>
            </a:extLst>
          </p:cNvPr>
          <p:cNvSpPr>
            <a:spLocks xmlns:a="http://schemas.openxmlformats.org/drawingml/2006/main" noGrp="1"/>
          </p:cNvSpPr>
          <p:nvPr/>
        </p:nvSpPr>
        <p:spPr>
          <a:xfrm xmlns:a="http://schemas.openxmlformats.org/drawingml/2006/main">
            <a:off x="10648950" y="2266950"/>
            <a:ext cx="4019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Bij elk loon:</a:t>
            </a:r>
          </a:p>
        </p:txBody>
      </p:sp>
      <p:sp>
        <p:nvSpPr>
          <p:cNvPr id="7" name="40 personen&#10;minder gevraagd">
            <a:extLst xmlns:a="http://schemas.openxmlformats.org/drawingml/2006/main">
              <a:ext uri="{FF2B5EF4-FFF2-40B4-BE49-F238E27FC236}">
                <a16:creationId xmlns:a16="http://schemas.microsoft.com/office/drawing/2014/main" id="{6BBE9AA0-04D9-4FC9-AB14-0957111F2CFB}"/>
              </a:ext>
            </a:extLst>
          </p:cNvPr>
          <p:cNvSpPr>
            <a:spLocks xmlns:a="http://schemas.openxmlformats.org/drawingml/2006/main" noGrp="1"/>
          </p:cNvSpPr>
          <p:nvPr/>
        </p:nvSpPr>
        <p:spPr>
          <a:xfrm xmlns:a="http://schemas.openxmlformats.org/drawingml/2006/main">
            <a:off x="10648950" y="2924175"/>
            <a:ext cx="40195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A94D16"/>
                </a:solidFill>
                <a:latin typeface="Arial"/>
                <a:ea typeface="Arial"/>
                <a:cs typeface="Arial"/>
              </a:defRPr>
            </a:pPr>
            <a:r>
              <a:rPr sz="2850" b="1">
                <a:solidFill>
                  <a:srgbClr val="A94D16"/>
                </a:solidFill>
                <a:latin typeface="Arial"/>
                <a:ea typeface="Arial"/>
                <a:cs typeface="Arial"/>
              </a:rPr>
              <a:t>40 personen</a:t>
            </a:r>
          </a:p>
          <a:p xmlns:a="http://schemas.openxmlformats.org/drawingml/2006/main">
            <a:pPr algn="l">
              <a:defRPr sz="2850" b="1">
                <a:solidFill>
                  <a:srgbClr val="A94D16"/>
                </a:solidFill>
                <a:latin typeface="Arial"/>
                <a:ea typeface="Arial"/>
                <a:cs typeface="Arial"/>
              </a:defRPr>
            </a:pPr>
            <a:r>
              <a:rPr sz="2850" b="1">
                <a:solidFill>
                  <a:srgbClr val="A94D16"/>
                </a:solidFill>
                <a:latin typeface="Arial"/>
                <a:ea typeface="Arial"/>
                <a:cs typeface="Arial"/>
              </a:rPr>
              <a:t>minder gevraagd</a:t>
            </a:r>
          </a:p>
        </p:txBody>
      </p:sp>
      <p:sp>
        <p:nvSpPr>
          <p:cNvPr id="8" name="Minder bestedingen&#10;Minder reparaties&#10;Minder arbeidsvraa">
            <a:extLst xmlns:a="http://schemas.openxmlformats.org/drawingml/2006/main">
              <a:ext uri="{FF2B5EF4-FFF2-40B4-BE49-F238E27FC236}">
                <a16:creationId xmlns:a16="http://schemas.microsoft.com/office/drawing/2014/main" id="{E89C1600-62AC-44E3-A459-D9310804050B}"/>
              </a:ext>
            </a:extLst>
          </p:cNvPr>
          <p:cNvSpPr>
            <a:spLocks xmlns:a="http://schemas.openxmlformats.org/drawingml/2006/main" noGrp="1"/>
          </p:cNvSpPr>
          <p:nvPr/>
        </p:nvSpPr>
        <p:spPr>
          <a:xfrm xmlns:a="http://schemas.openxmlformats.org/drawingml/2006/main">
            <a:off x="10648950" y="4572000"/>
            <a:ext cx="4019550"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Minder bestedingen</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Minder reparaties</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Minder arbeidsvraag</a:t>
            </a:r>
          </a:p>
        </p:txBody>
      </p:sp>
      <p:sp>
        <p:nvSpPr>
          <p:cNvPr id="9" name="De aanbodlijn&#10;blijft gelijk.">
            <a:extLst xmlns:a="http://schemas.openxmlformats.org/drawingml/2006/main">
              <a:ext uri="{FF2B5EF4-FFF2-40B4-BE49-F238E27FC236}">
                <a16:creationId xmlns:a16="http://schemas.microsoft.com/office/drawing/2014/main" id="{EF82D268-555B-4D40-9941-A5507BD8CB3B}"/>
              </a:ext>
            </a:extLst>
          </p:cNvPr>
          <p:cNvSpPr>
            <a:spLocks xmlns:a="http://schemas.openxmlformats.org/drawingml/2006/main" noGrp="1"/>
          </p:cNvSpPr>
          <p:nvPr/>
        </p:nvSpPr>
        <p:spPr>
          <a:xfrm xmlns:a="http://schemas.openxmlformats.org/drawingml/2006/main">
            <a:off x="10648950" y="6791325"/>
            <a:ext cx="40195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0665B"/>
                </a:solidFill>
                <a:latin typeface="Arial"/>
                <a:ea typeface="Arial"/>
                <a:cs typeface="Arial"/>
              </a:defRPr>
            </a:pPr>
            <a:r>
              <a:rPr sz="2550" b="1">
                <a:solidFill>
                  <a:srgbClr val="20665B"/>
                </a:solidFill>
                <a:latin typeface="Arial"/>
                <a:ea typeface="Arial"/>
                <a:cs typeface="Arial"/>
              </a:rPr>
              <a:t>De aanbodlijn</a:t>
            </a:r>
          </a:p>
          <a:p xmlns:a="http://schemas.openxmlformats.org/drawingml/2006/main">
            <a:pPr algn="l">
              <a:defRPr sz="2550" b="1">
                <a:solidFill>
                  <a:srgbClr val="20665B"/>
                </a:solidFill>
                <a:latin typeface="Arial"/>
                <a:ea typeface="Arial"/>
                <a:cs typeface="Arial"/>
              </a:defRPr>
            </a:pPr>
            <a:r>
              <a:rPr sz="2550" b="1">
                <a:solidFill>
                  <a:srgbClr val="20665B"/>
                </a:solidFill>
                <a:latin typeface="Arial"/>
                <a:ea typeface="Arial"/>
                <a:cs typeface="Arial"/>
              </a:rPr>
              <a:t>blijft gelijk.</a:t>
            </a:r>
          </a:p>
        </p:txBody>
      </p:sp>
    </p:spTree>
    <p:extLst>
      <p:ext uri="{BB962C8B-B14F-4D97-AF65-F5344CB8AC3E}">
        <p14:creationId xmlns:p14="http://schemas.microsoft.com/office/powerpoint/2010/main" val="57383600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Het nieuwe evenwicht bij flexibel loon">
            <a:extLst xmlns:a="http://schemas.openxmlformats.org/drawingml/2006/main">
              <a:ext uri="{FF2B5EF4-FFF2-40B4-BE49-F238E27FC236}">
                <a16:creationId xmlns:a16="http://schemas.microsoft.com/office/drawing/2014/main" id="{ABF0F414-3924-4D88-9FDC-462DEF8CD765}"/>
              </a:ext>
            </a:extLst>
          </p:cNvPr>
          <p:cNvSpPr>
            <a:spLocks xmlns:a="http://schemas.openxmlformats.org/drawingml/2006/main" noGrp="1"/>
          </p:cNvSpPr>
          <p:nvPr/>
        </p:nvSpPr>
        <p:spPr>
          <a:xfrm xmlns:a="http://schemas.openxmlformats.org/drawingml/2006/main">
            <a:off x="571500" y="38100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Het nieuwe evenwicht bij flexibel loon</a:t>
            </a:r>
          </a:p>
        </p:txBody>
      </p:sp>
      <p:sp>
        <p:nvSpPr>
          <p:cNvPr id="2" name="">
            <a:extLst xmlns:a="http://schemas.openxmlformats.org/drawingml/2006/main">
              <a:ext uri="{FF2B5EF4-FFF2-40B4-BE49-F238E27FC236}">
                <a16:creationId xmlns:a16="http://schemas.microsoft.com/office/drawing/2014/main" id="{B4EF72D0-6CF9-41F0-948A-464FE028DFB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69CB978D-8BC5-49E0-AFA1-37B5907D01A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0">
            <a:extLst xmlns:a="http://schemas.openxmlformats.org/drawingml/2006/main">
              <a:ext uri="{FF2B5EF4-FFF2-40B4-BE49-F238E27FC236}">
                <a16:creationId xmlns:a16="http://schemas.microsoft.com/office/drawing/2014/main" id="{FEC23B06-FA0A-4945-9000-EDBB48783C6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180 − 10w = −20 + 10w">
            <a:extLst xmlns:a="http://schemas.openxmlformats.org/drawingml/2006/main">
              <a:ext uri="{FF2B5EF4-FFF2-40B4-BE49-F238E27FC236}">
                <a16:creationId xmlns:a16="http://schemas.microsoft.com/office/drawing/2014/main" id="{303920B7-3DD4-4592-961C-C7BEDE5156CC}"/>
              </a:ext>
            </a:extLst>
          </p:cNvPr>
          <p:cNvSpPr>
            <a:spLocks xmlns:a="http://schemas.openxmlformats.org/drawingml/2006/main" noGrp="1"/>
          </p:cNvSpPr>
          <p:nvPr/>
        </p:nvSpPr>
        <p:spPr>
          <a:xfrm xmlns:a="http://schemas.openxmlformats.org/drawingml/2006/main">
            <a:off x="571500" y="2124075"/>
            <a:ext cx="14097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180 − 10w = −20 + 10w</a:t>
            </a:r>
          </a:p>
        </p:txBody>
      </p:sp>
      <p:sp>
        <p:nvSpPr>
          <p:cNvPr id="6" name="200 = 20w, dus w = € 10 per uur">
            <a:extLst xmlns:a="http://schemas.openxmlformats.org/drawingml/2006/main">
              <a:ext uri="{FF2B5EF4-FFF2-40B4-BE49-F238E27FC236}">
                <a16:creationId xmlns:a16="http://schemas.microsoft.com/office/drawing/2014/main" id="{C6ED12E0-E6CC-43DA-A83F-9751F9C017D4}"/>
              </a:ext>
            </a:extLst>
          </p:cNvPr>
          <p:cNvSpPr>
            <a:spLocks xmlns:a="http://schemas.openxmlformats.org/drawingml/2006/main" noGrp="1"/>
          </p:cNvSpPr>
          <p:nvPr/>
        </p:nvSpPr>
        <p:spPr>
          <a:xfrm xmlns:a="http://schemas.openxmlformats.org/drawingml/2006/main">
            <a:off x="571500" y="3429000"/>
            <a:ext cx="14097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200 = 20w, dus w = € 10 per uur</a:t>
            </a:r>
          </a:p>
        </p:txBody>
      </p:sp>
      <p:sp>
        <p:nvSpPr>
          <p:cNvPr id="7" name="Lᵥ = 180 − 10 × 10 = 80 personen">
            <a:extLst xmlns:a="http://schemas.openxmlformats.org/drawingml/2006/main">
              <a:ext uri="{FF2B5EF4-FFF2-40B4-BE49-F238E27FC236}">
                <a16:creationId xmlns:a16="http://schemas.microsoft.com/office/drawing/2014/main" id="{4B51133E-B813-4DB4-B020-67C8872F4976}"/>
              </a:ext>
            </a:extLst>
          </p:cNvPr>
          <p:cNvSpPr>
            <a:spLocks xmlns:a="http://schemas.openxmlformats.org/drawingml/2006/main" noGrp="1"/>
          </p:cNvSpPr>
          <p:nvPr/>
        </p:nvSpPr>
        <p:spPr>
          <a:xfrm xmlns:a="http://schemas.openxmlformats.org/drawingml/2006/main">
            <a:off x="571500" y="4733925"/>
            <a:ext cx="14097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Lᵥ = 180 − 10 × 10 = 80 personen</a:t>
            </a:r>
          </a:p>
        </p:txBody>
      </p:sp>
      <p:sp>
        <p:nvSpPr>
          <p:cNvPr id="8" name="Controle: Lₐ = −20 + 10 × 10 = 80 personen">
            <a:extLst xmlns:a="http://schemas.openxmlformats.org/drawingml/2006/main">
              <a:ext uri="{FF2B5EF4-FFF2-40B4-BE49-F238E27FC236}">
                <a16:creationId xmlns:a16="http://schemas.microsoft.com/office/drawing/2014/main" id="{8C1A5E63-6382-463E-A792-77189E4FCB8A}"/>
              </a:ext>
            </a:extLst>
          </p:cNvPr>
          <p:cNvSpPr>
            <a:spLocks xmlns:a="http://schemas.openxmlformats.org/drawingml/2006/main" noGrp="1"/>
          </p:cNvSpPr>
          <p:nvPr/>
        </p:nvSpPr>
        <p:spPr>
          <a:xfrm xmlns:a="http://schemas.openxmlformats.org/drawingml/2006/main">
            <a:off x="571500" y="6038850"/>
            <a:ext cx="14097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Controle: Lₐ = −20 + 10 × 10 = 80 personen</a:t>
            </a:r>
          </a:p>
        </p:txBody>
      </p:sp>
    </p:spTree>
    <p:extLst>
      <p:ext uri="{BB962C8B-B14F-4D97-AF65-F5344CB8AC3E}">
        <p14:creationId xmlns:p14="http://schemas.microsoft.com/office/powerpoint/2010/main" val="128735315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en verschuiving en een beweging langs een lijn">
            <a:extLst xmlns:a="http://schemas.openxmlformats.org/drawingml/2006/main">
              <a:ext uri="{FF2B5EF4-FFF2-40B4-BE49-F238E27FC236}">
                <a16:creationId xmlns:a16="http://schemas.microsoft.com/office/drawing/2014/main" id="{CBE9DC64-4721-46FC-89E4-5057E43F07CA}"/>
              </a:ext>
            </a:extLst>
          </p:cNvPr>
          <p:cNvSpPr>
            <a:spLocks xmlns:a="http://schemas.openxmlformats.org/drawingml/2006/main" noGrp="1"/>
          </p:cNvSpPr>
          <p:nvPr/>
        </p:nvSpPr>
        <p:spPr>
          <a:xfrm xmlns:a="http://schemas.openxmlformats.org/drawingml/2006/main">
            <a:off x="571500" y="38100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Een verschuiving en een beweging langs een lijn</a:t>
            </a:r>
          </a:p>
        </p:txBody>
      </p:sp>
      <p:sp>
        <p:nvSpPr>
          <p:cNvPr id="2" name="">
            <a:extLst xmlns:a="http://schemas.openxmlformats.org/drawingml/2006/main">
              <a:ext uri="{FF2B5EF4-FFF2-40B4-BE49-F238E27FC236}">
                <a16:creationId xmlns:a16="http://schemas.microsoft.com/office/drawing/2014/main" id="{FB242BF2-C0DB-46D0-83DE-2F669B1EF39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AC828A4A-653C-4F3E-9D4B-15DC44BB2DC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1">
            <a:extLst xmlns:a="http://schemas.openxmlformats.org/drawingml/2006/main">
              <a:ext uri="{FF2B5EF4-FFF2-40B4-BE49-F238E27FC236}">
                <a16:creationId xmlns:a16="http://schemas.microsoft.com/office/drawing/2014/main" id="{BAFC2376-7CFC-4336-BFDB-0A8D1E59541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graphicFrame>
        <p:nvGraphicFramePr>
          <p:cNvPr id="13" name="Chart"/>
          <p:cNvGraphicFramePr/>
          <p:nvPr/>
        </p:nvGraphicFramePr>
        <p:xfrm>
          <a:off xmlns:a="http://schemas.openxmlformats.org/drawingml/2006/main" x="428625" y="1981200"/>
          <a:ext xmlns:a="http://schemas.openxmlformats.org/drawingml/2006/main" cx="10001250" cy="5676900"/>
        </p:xfrm>
        <a:graphic xmlns:a="http://schemas.openxmlformats.org/drawingml/2006/main">
          <a:graphicData uri="http://schemas.openxmlformats.org/drawingml/2006/chart">
            <c:chart xmlns:r="http://schemas.openxmlformats.org/officeDocument/2006/relationships" xmlns:c="http://schemas.openxmlformats.org/drawingml/2006/chart" r:id="R002116363c934e9b"/>
          </a:graphicData>
        </a:graphic>
      </p:graphicFrame>
      <p:sp>
        <p:nvSpPr>
          <p:cNvPr id="6" name="E₀ = (100; 12)&#10;E₁ = (80; 10)">
            <a:extLst xmlns:a="http://schemas.openxmlformats.org/drawingml/2006/main">
              <a:ext uri="{FF2B5EF4-FFF2-40B4-BE49-F238E27FC236}">
                <a16:creationId xmlns:a16="http://schemas.microsoft.com/office/drawing/2014/main" id="{550050FC-A8DC-492C-A313-E6037BF7EC66}"/>
              </a:ext>
            </a:extLst>
          </p:cNvPr>
          <p:cNvSpPr>
            <a:spLocks xmlns:a="http://schemas.openxmlformats.org/drawingml/2006/main" noGrp="1"/>
          </p:cNvSpPr>
          <p:nvPr/>
        </p:nvSpPr>
        <p:spPr>
          <a:xfrm xmlns:a="http://schemas.openxmlformats.org/drawingml/2006/main">
            <a:off x="10648950" y="2266950"/>
            <a:ext cx="40195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E₀ = (100; 12)</a:t>
            </a:r>
          </a:p>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E₁ = (80; 10)</a:t>
            </a:r>
          </a:p>
        </p:txBody>
      </p:sp>
      <p:sp>
        <p:nvSpPr>
          <p:cNvPr id="7" name="Vraag: verschuiving&#10;naar links">
            <a:extLst xmlns:a="http://schemas.openxmlformats.org/drawingml/2006/main">
              <a:ext uri="{FF2B5EF4-FFF2-40B4-BE49-F238E27FC236}">
                <a16:creationId xmlns:a16="http://schemas.microsoft.com/office/drawing/2014/main" id="{42822B98-2B43-44D5-AF04-B8B20516D7D5}"/>
              </a:ext>
            </a:extLst>
          </p:cNvPr>
          <p:cNvSpPr>
            <a:spLocks xmlns:a="http://schemas.openxmlformats.org/drawingml/2006/main" noGrp="1"/>
          </p:cNvSpPr>
          <p:nvPr/>
        </p:nvSpPr>
        <p:spPr>
          <a:xfrm xmlns:a="http://schemas.openxmlformats.org/drawingml/2006/main">
            <a:off x="10648950" y="4133850"/>
            <a:ext cx="4019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A94D16"/>
                </a:solidFill>
                <a:latin typeface="Arial"/>
                <a:ea typeface="Arial"/>
                <a:cs typeface="Arial"/>
              </a:defRPr>
            </a:pPr>
            <a:r>
              <a:rPr sz="2625" b="1">
                <a:solidFill>
                  <a:srgbClr val="A94D16"/>
                </a:solidFill>
                <a:latin typeface="Arial"/>
                <a:ea typeface="Arial"/>
                <a:cs typeface="Arial"/>
              </a:rPr>
              <a:t>Vraag: verschuiving</a:t>
            </a:r>
          </a:p>
          <a:p xmlns:a="http://schemas.openxmlformats.org/drawingml/2006/main">
            <a:pPr algn="l">
              <a:defRPr sz="2625" b="1">
                <a:solidFill>
                  <a:srgbClr val="A94D16"/>
                </a:solidFill>
                <a:latin typeface="Arial"/>
                <a:ea typeface="Arial"/>
                <a:cs typeface="Arial"/>
              </a:defRPr>
            </a:pPr>
            <a:r>
              <a:rPr sz="2625" b="1">
                <a:solidFill>
                  <a:srgbClr val="A94D16"/>
                </a:solidFill>
                <a:latin typeface="Arial"/>
                <a:ea typeface="Arial"/>
                <a:cs typeface="Arial"/>
              </a:rPr>
              <a:t>naar links</a:t>
            </a:r>
          </a:p>
        </p:txBody>
      </p:sp>
      <p:sp>
        <p:nvSpPr>
          <p:cNvPr id="8" name="Aanbod: beweging&#10;langs dezelfde lijn">
            <a:extLst xmlns:a="http://schemas.openxmlformats.org/drawingml/2006/main">
              <a:ext uri="{FF2B5EF4-FFF2-40B4-BE49-F238E27FC236}">
                <a16:creationId xmlns:a16="http://schemas.microsoft.com/office/drawing/2014/main" id="{E17204FB-82F0-447F-899F-2BBA08968802}"/>
              </a:ext>
            </a:extLst>
          </p:cNvPr>
          <p:cNvSpPr>
            <a:spLocks xmlns:a="http://schemas.openxmlformats.org/drawingml/2006/main" noGrp="1"/>
          </p:cNvSpPr>
          <p:nvPr/>
        </p:nvSpPr>
        <p:spPr>
          <a:xfrm xmlns:a="http://schemas.openxmlformats.org/drawingml/2006/main">
            <a:off x="10648950" y="5848350"/>
            <a:ext cx="40195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20665B"/>
                </a:solidFill>
                <a:latin typeface="Arial"/>
                <a:ea typeface="Arial"/>
                <a:cs typeface="Arial"/>
              </a:defRPr>
            </a:pPr>
            <a:r>
              <a:rPr sz="2625" b="1">
                <a:solidFill>
                  <a:srgbClr val="20665B"/>
                </a:solidFill>
                <a:latin typeface="Arial"/>
                <a:ea typeface="Arial"/>
                <a:cs typeface="Arial"/>
              </a:rPr>
              <a:t>Aanbod: beweging</a:t>
            </a:r>
          </a:p>
          <a:p xmlns:a="http://schemas.openxmlformats.org/drawingml/2006/main">
            <a:pPr algn="l">
              <a:defRPr sz="2625" b="1">
                <a:solidFill>
                  <a:srgbClr val="20665B"/>
                </a:solidFill>
                <a:latin typeface="Arial"/>
                <a:ea typeface="Arial"/>
                <a:cs typeface="Arial"/>
              </a:defRPr>
            </a:pPr>
            <a:r>
              <a:rPr sz="2625" b="1">
                <a:solidFill>
                  <a:srgbClr val="20665B"/>
                </a:solidFill>
                <a:latin typeface="Arial"/>
                <a:ea typeface="Arial"/>
                <a:cs typeface="Arial"/>
              </a:rPr>
              <a:t>langs dezelfde lijn</a:t>
            </a:r>
          </a:p>
        </p:txBody>
      </p:sp>
    </p:spTree>
    <p:extLst>
      <p:ext uri="{BB962C8B-B14F-4D97-AF65-F5344CB8AC3E}">
        <p14:creationId xmlns:p14="http://schemas.microsoft.com/office/powerpoint/2010/main" val="213368605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ezelfde vraagdaling bij vast loon">
            <a:extLst xmlns:a="http://schemas.openxmlformats.org/drawingml/2006/main">
              <a:ext uri="{FF2B5EF4-FFF2-40B4-BE49-F238E27FC236}">
                <a16:creationId xmlns:a16="http://schemas.microsoft.com/office/drawing/2014/main" id="{E68B3093-6C55-4145-98D5-7449E5EE44CF}"/>
              </a:ext>
            </a:extLst>
          </p:cNvPr>
          <p:cNvSpPr>
            <a:spLocks xmlns:a="http://schemas.openxmlformats.org/drawingml/2006/main" noGrp="1"/>
          </p:cNvSpPr>
          <p:nvPr/>
        </p:nvSpPr>
        <p:spPr>
          <a:xfrm xmlns:a="http://schemas.openxmlformats.org/drawingml/2006/main">
            <a:off x="571500" y="38100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Dezelfde vraagdaling bij vast loon</a:t>
            </a:r>
          </a:p>
        </p:txBody>
      </p:sp>
      <p:sp>
        <p:nvSpPr>
          <p:cNvPr id="2" name="">
            <a:extLst xmlns:a="http://schemas.openxmlformats.org/drawingml/2006/main">
              <a:ext uri="{FF2B5EF4-FFF2-40B4-BE49-F238E27FC236}">
                <a16:creationId xmlns:a16="http://schemas.microsoft.com/office/drawing/2014/main" id="{4094BE45-E318-4AC8-B847-42E8960D692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D363A16C-AD39-40EC-952C-957E00F0B14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2">
            <a:extLst xmlns:a="http://schemas.openxmlformats.org/drawingml/2006/main">
              <a:ext uri="{FF2B5EF4-FFF2-40B4-BE49-F238E27FC236}">
                <a16:creationId xmlns:a16="http://schemas.microsoft.com/office/drawing/2014/main" id="{53DD4EB5-1327-47A6-8853-0D4C1165961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Nieuwe aanname: het uurloon blijft voorlopig € 12.">
            <a:extLst xmlns:a="http://schemas.openxmlformats.org/drawingml/2006/main">
              <a:ext uri="{FF2B5EF4-FFF2-40B4-BE49-F238E27FC236}">
                <a16:creationId xmlns:a16="http://schemas.microsoft.com/office/drawing/2014/main" id="{029FC822-EF19-4A94-B6F9-05D8803EA44E}"/>
              </a:ext>
            </a:extLst>
          </p:cNvPr>
          <p:cNvSpPr>
            <a:spLocks xmlns:a="http://schemas.openxmlformats.org/drawingml/2006/main" noGrp="1"/>
          </p:cNvSpPr>
          <p:nvPr/>
        </p:nvSpPr>
        <p:spPr>
          <a:xfrm xmlns:a="http://schemas.openxmlformats.org/drawingml/2006/main">
            <a:off x="571500" y="188595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A94D16"/>
                </a:solidFill>
                <a:latin typeface="Arial"/>
                <a:ea typeface="Arial"/>
                <a:cs typeface="Arial"/>
              </a:defRPr>
            </a:pPr>
            <a:r>
              <a:rPr sz="3000" b="1">
                <a:solidFill>
                  <a:srgbClr val="A94D16"/>
                </a:solidFill>
                <a:latin typeface="Arial"/>
                <a:ea typeface="Arial"/>
                <a:cs typeface="Arial"/>
              </a:rPr>
              <a:t>Nieuwe aanname: het uurloon blijft voorlopig € 12.</a:t>
            </a:r>
          </a:p>
        </p:txBody>
      </p:sp>
      <p:sp>
        <p:nvSpPr>
          <p:cNvPr id="6" name="Nieuwe vraag: Lᵥ = 180 − 10 × 12 = 60 personen">
            <a:extLst xmlns:a="http://schemas.openxmlformats.org/drawingml/2006/main">
              <a:ext uri="{FF2B5EF4-FFF2-40B4-BE49-F238E27FC236}">
                <a16:creationId xmlns:a16="http://schemas.microsoft.com/office/drawing/2014/main" id="{EC286378-F71E-482F-AAEC-3DA1DE916EB8}"/>
              </a:ext>
            </a:extLst>
          </p:cNvPr>
          <p:cNvSpPr>
            <a:spLocks xmlns:a="http://schemas.openxmlformats.org/drawingml/2006/main" noGrp="1"/>
          </p:cNvSpPr>
          <p:nvPr/>
        </p:nvSpPr>
        <p:spPr>
          <a:xfrm xmlns:a="http://schemas.openxmlformats.org/drawingml/2006/main">
            <a:off x="571500" y="3067050"/>
            <a:ext cx="14097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Nieuwe vraag: Lᵥ = 180 − 10 × 12 = 60 personen</a:t>
            </a:r>
          </a:p>
        </p:txBody>
      </p:sp>
      <p:sp>
        <p:nvSpPr>
          <p:cNvPr id="7" name="Aanbod: Lₐ = −20 + 10 × 12 = 100 personen">
            <a:extLst xmlns:a="http://schemas.openxmlformats.org/drawingml/2006/main">
              <a:ext uri="{FF2B5EF4-FFF2-40B4-BE49-F238E27FC236}">
                <a16:creationId xmlns:a16="http://schemas.microsoft.com/office/drawing/2014/main" id="{4203711E-6CB9-4619-A286-C73D7B205451}"/>
              </a:ext>
            </a:extLst>
          </p:cNvPr>
          <p:cNvSpPr>
            <a:spLocks xmlns:a="http://schemas.openxmlformats.org/drawingml/2006/main" noGrp="1"/>
          </p:cNvSpPr>
          <p:nvPr/>
        </p:nvSpPr>
        <p:spPr>
          <a:xfrm xmlns:a="http://schemas.openxmlformats.org/drawingml/2006/main">
            <a:off x="571500" y="4400550"/>
            <a:ext cx="14097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Aanbod: Lₐ = −20 + 10 × 12 = 100 personen</a:t>
            </a:r>
          </a:p>
        </p:txBody>
      </p:sp>
      <p:sp>
        <p:nvSpPr>
          <p:cNvPr id="8" name="Aanbodoverschot = 100 − 60 = 40 personen">
            <a:extLst xmlns:a="http://schemas.openxmlformats.org/drawingml/2006/main">
              <a:ext uri="{FF2B5EF4-FFF2-40B4-BE49-F238E27FC236}">
                <a16:creationId xmlns:a16="http://schemas.microsoft.com/office/drawing/2014/main" id="{ED05C45E-BF0C-42C9-809F-C7C4FF41CE82}"/>
              </a:ext>
            </a:extLst>
          </p:cNvPr>
          <p:cNvSpPr>
            <a:spLocks xmlns:a="http://schemas.openxmlformats.org/drawingml/2006/main" noGrp="1"/>
          </p:cNvSpPr>
          <p:nvPr/>
        </p:nvSpPr>
        <p:spPr>
          <a:xfrm xmlns:a="http://schemas.openxmlformats.org/drawingml/2006/main">
            <a:off x="571500" y="5734050"/>
            <a:ext cx="14097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Aanbodoverschot = 100 − 60 = 40 personen</a:t>
            </a:r>
          </a:p>
        </p:txBody>
      </p:sp>
      <p:sp>
        <p:nvSpPr>
          <p:cNvPr id="9" name="Alle 60 gevraagde plaatsen worden gevuld.">
            <a:extLst xmlns:a="http://schemas.openxmlformats.org/drawingml/2006/main">
              <a:ext uri="{FF2B5EF4-FFF2-40B4-BE49-F238E27FC236}">
                <a16:creationId xmlns:a16="http://schemas.microsoft.com/office/drawing/2014/main" id="{9FDBA9BB-3AC7-4699-89EB-BBD4384E9F43}"/>
              </a:ext>
            </a:extLst>
          </p:cNvPr>
          <p:cNvSpPr>
            <a:spLocks xmlns:a="http://schemas.openxmlformats.org/drawingml/2006/main" noGrp="1"/>
          </p:cNvSpPr>
          <p:nvPr/>
        </p:nvSpPr>
        <p:spPr>
          <a:xfrm xmlns:a="http://schemas.openxmlformats.org/drawingml/2006/main">
            <a:off x="571500" y="73342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Alle 60 gevraagde plaatsen worden gevuld.</a:t>
            </a:r>
          </a:p>
        </p:txBody>
      </p:sp>
    </p:spTree>
    <p:extLst>
      <p:ext uri="{BB962C8B-B14F-4D97-AF65-F5344CB8AC3E}">
        <p14:creationId xmlns:p14="http://schemas.microsoft.com/office/powerpoint/2010/main" val="89301710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Het aanbodoverschot bij € 12">
            <a:extLst xmlns:a="http://schemas.openxmlformats.org/drawingml/2006/main">
              <a:ext uri="{FF2B5EF4-FFF2-40B4-BE49-F238E27FC236}">
                <a16:creationId xmlns:a16="http://schemas.microsoft.com/office/drawing/2014/main" id="{5008E937-1031-463F-BFDB-35E5091B8E87}"/>
              </a:ext>
            </a:extLst>
          </p:cNvPr>
          <p:cNvSpPr>
            <a:spLocks xmlns:a="http://schemas.openxmlformats.org/drawingml/2006/main" noGrp="1"/>
          </p:cNvSpPr>
          <p:nvPr/>
        </p:nvSpPr>
        <p:spPr>
          <a:xfrm xmlns:a="http://schemas.openxmlformats.org/drawingml/2006/main">
            <a:off x="571500" y="38100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Het aanbodoverschot bij € 12</a:t>
            </a:r>
          </a:p>
        </p:txBody>
      </p:sp>
      <p:sp>
        <p:nvSpPr>
          <p:cNvPr id="2" name="">
            <a:extLst xmlns:a="http://schemas.openxmlformats.org/drawingml/2006/main">
              <a:ext uri="{FF2B5EF4-FFF2-40B4-BE49-F238E27FC236}">
                <a16:creationId xmlns:a16="http://schemas.microsoft.com/office/drawing/2014/main" id="{1D9CDADB-310C-49C1-A9C6-982329C3AC6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52D37F1A-5E53-46EC-B34E-1E95A16E01B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3">
            <a:extLst xmlns:a="http://schemas.openxmlformats.org/drawingml/2006/main">
              <a:ext uri="{FF2B5EF4-FFF2-40B4-BE49-F238E27FC236}">
                <a16:creationId xmlns:a16="http://schemas.microsoft.com/office/drawing/2014/main" id="{54357B63-6C43-4827-878D-4FF86C00FCA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graphicFrame>
        <p:nvGraphicFramePr>
          <p:cNvPr id="13" name="Chart"/>
          <p:cNvGraphicFramePr/>
          <p:nvPr/>
        </p:nvGraphicFramePr>
        <p:xfrm>
          <a:off xmlns:a="http://schemas.openxmlformats.org/drawingml/2006/main" x="428625" y="1981200"/>
          <a:ext xmlns:a="http://schemas.openxmlformats.org/drawingml/2006/main" cx="10001250" cy="5676900"/>
        </p:xfrm>
        <a:graphic xmlns:a="http://schemas.openxmlformats.org/drawingml/2006/main">
          <a:graphicData uri="http://schemas.openxmlformats.org/drawingml/2006/chart">
            <c:chart xmlns:r="http://schemas.openxmlformats.org/officeDocument/2006/relationships" xmlns:c="http://schemas.openxmlformats.org/drawingml/2006/chart" r:id="R6de98f909fce4ada"/>
          </a:graphicData>
        </a:graphic>
      </p:graphicFrame>
      <p:sp>
        <p:nvSpPr>
          <p:cNvPr id="6" name="60 gevraagd&#10;100 aangeboden">
            <a:extLst xmlns:a="http://schemas.openxmlformats.org/drawingml/2006/main">
              <a:ext uri="{FF2B5EF4-FFF2-40B4-BE49-F238E27FC236}">
                <a16:creationId xmlns:a16="http://schemas.microsoft.com/office/drawing/2014/main" id="{E5574BB8-F873-4D16-99AF-F6CF80709D09}"/>
              </a:ext>
            </a:extLst>
          </p:cNvPr>
          <p:cNvSpPr>
            <a:spLocks xmlns:a="http://schemas.openxmlformats.org/drawingml/2006/main" noGrp="1"/>
          </p:cNvSpPr>
          <p:nvPr/>
        </p:nvSpPr>
        <p:spPr>
          <a:xfrm xmlns:a="http://schemas.openxmlformats.org/drawingml/2006/main">
            <a:off x="10648950" y="2266950"/>
            <a:ext cx="40195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60 gevraagd</a:t>
            </a:r>
          </a:p>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100 aangeboden</a:t>
            </a:r>
          </a:p>
        </p:txBody>
      </p:sp>
      <p:sp>
        <p:nvSpPr>
          <p:cNvPr id="7" name="100 − 60 = 40&#10;personen">
            <a:extLst xmlns:a="http://schemas.openxmlformats.org/drawingml/2006/main">
              <a:ext uri="{FF2B5EF4-FFF2-40B4-BE49-F238E27FC236}">
                <a16:creationId xmlns:a16="http://schemas.microsoft.com/office/drawing/2014/main" id="{4D00C2A1-9D36-46AA-AA7E-5608FA7CBAC9}"/>
              </a:ext>
            </a:extLst>
          </p:cNvPr>
          <p:cNvSpPr>
            <a:spLocks xmlns:a="http://schemas.openxmlformats.org/drawingml/2006/main" noGrp="1"/>
          </p:cNvSpPr>
          <p:nvPr/>
        </p:nvSpPr>
        <p:spPr>
          <a:xfrm xmlns:a="http://schemas.openxmlformats.org/drawingml/2006/main">
            <a:off x="10648950" y="4200525"/>
            <a:ext cx="40195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A94D16"/>
                </a:solidFill>
                <a:latin typeface="Arial"/>
                <a:ea typeface="Arial"/>
                <a:cs typeface="Arial"/>
              </a:defRPr>
            </a:pPr>
            <a:r>
              <a:rPr sz="3000" b="1">
                <a:solidFill>
                  <a:srgbClr val="A94D16"/>
                </a:solidFill>
                <a:latin typeface="Arial"/>
                <a:ea typeface="Arial"/>
                <a:cs typeface="Arial"/>
              </a:rPr>
              <a:t>100 − 60 = 40</a:t>
            </a:r>
          </a:p>
          <a:p xmlns:a="http://schemas.openxmlformats.org/drawingml/2006/main">
            <a:pPr algn="l">
              <a:defRPr sz="3000" b="1">
                <a:solidFill>
                  <a:srgbClr val="A94D16"/>
                </a:solidFill>
                <a:latin typeface="Arial"/>
                <a:ea typeface="Arial"/>
                <a:cs typeface="Arial"/>
              </a:defRPr>
            </a:pPr>
            <a:r>
              <a:rPr sz="3000" b="1">
                <a:solidFill>
                  <a:srgbClr val="A94D16"/>
                </a:solidFill>
                <a:latin typeface="Arial"/>
                <a:ea typeface="Arial"/>
                <a:cs typeface="Arial"/>
              </a:rPr>
              <a:t>personen</a:t>
            </a:r>
          </a:p>
        </p:txBody>
      </p:sp>
      <p:sp>
        <p:nvSpPr>
          <p:cNvPr id="8" name="Horizontaal verschil&#10;bij hetzelfde loon">
            <a:extLst xmlns:a="http://schemas.openxmlformats.org/drawingml/2006/main">
              <a:ext uri="{FF2B5EF4-FFF2-40B4-BE49-F238E27FC236}">
                <a16:creationId xmlns:a16="http://schemas.microsoft.com/office/drawing/2014/main" id="{4DB06C79-1250-4205-BC1D-DF509C3F5DA0}"/>
              </a:ext>
            </a:extLst>
          </p:cNvPr>
          <p:cNvSpPr>
            <a:spLocks xmlns:a="http://schemas.openxmlformats.org/drawingml/2006/main" noGrp="1"/>
          </p:cNvSpPr>
          <p:nvPr/>
        </p:nvSpPr>
        <p:spPr>
          <a:xfrm xmlns:a="http://schemas.openxmlformats.org/drawingml/2006/main">
            <a:off x="10648950" y="6181725"/>
            <a:ext cx="40195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Horizontaal verschil</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bij hetzelfde loon</a:t>
            </a:r>
          </a:p>
        </p:txBody>
      </p:sp>
    </p:spTree>
    <p:extLst>
      <p:ext uri="{BB962C8B-B14F-4D97-AF65-F5344CB8AC3E}">
        <p14:creationId xmlns:p14="http://schemas.microsoft.com/office/powerpoint/2010/main" val="84115249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De loonaanname verandert de uitkomst">
            <a:extLst xmlns:a="http://schemas.openxmlformats.org/drawingml/2006/main">
              <a:ext uri="{FF2B5EF4-FFF2-40B4-BE49-F238E27FC236}">
                <a16:creationId xmlns:a16="http://schemas.microsoft.com/office/drawing/2014/main" id="{1641E87C-58B7-476D-897F-809666B787C3}"/>
              </a:ext>
            </a:extLst>
          </p:cNvPr>
          <p:cNvSpPr>
            <a:spLocks xmlns:a="http://schemas.openxmlformats.org/drawingml/2006/main" noGrp="1"/>
          </p:cNvSpPr>
          <p:nvPr/>
        </p:nvSpPr>
        <p:spPr>
          <a:xfrm xmlns:a="http://schemas.openxmlformats.org/drawingml/2006/main">
            <a:off x="571500" y="38100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loonaanname verandert de uitkomst</a:t>
            </a:r>
          </a:p>
        </p:txBody>
      </p:sp>
      <p:sp>
        <p:nvSpPr>
          <p:cNvPr id="2" name="">
            <a:extLst xmlns:a="http://schemas.openxmlformats.org/drawingml/2006/main">
              <a:ext uri="{FF2B5EF4-FFF2-40B4-BE49-F238E27FC236}">
                <a16:creationId xmlns:a16="http://schemas.microsoft.com/office/drawing/2014/main" id="{52A7F51E-4CF4-41CB-B56A-EA59C8E5681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3C889445-237D-41D3-947E-5A5FFC04891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4">
            <a:extLst xmlns:a="http://schemas.openxmlformats.org/drawingml/2006/main">
              <a:ext uri="{FF2B5EF4-FFF2-40B4-BE49-F238E27FC236}">
                <a16:creationId xmlns:a16="http://schemas.microsoft.com/office/drawing/2014/main" id="{DEE4773C-C00E-4AD1-8BCA-9DB99A9D746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graphicFrame>
        <p:nvGraphicFramePr>
          <p:cNvPr id="11" name=""/>
          <p:cNvGraphicFramePr/>
          <p:nvPr/>
        </p:nvGraphicFramePr>
        <p:xfrm>
          <a:off xmlns:a="http://schemas.openxmlformats.org/drawingml/2006/main" x="571500" y="2114550"/>
          <a:ext xmlns:a="http://schemas.openxmlformats.org/drawingml/2006/main" cx="14097000" cy="4048125"/>
        </p:xfrm>
        <a:graphic xmlns:a="http://schemas.openxmlformats.org/drawingml/2006/main">
          <a:graphicData uri="http://schemas.openxmlformats.org/drawingml/2006/table">
            <a:tbl>
              <a:tblPr/>
              <a:tblGrid>
                <a:gridCol w="6191250"/>
                <a:gridCol w="3952875"/>
                <a:gridCol w="3952875"/>
              </a:tblGrid>
              <a:tr h="809625">
                <a:tc>
                  <a:txBody>
                    <a:bodyPr lIns="171450" tIns="95250" rIns="152400" bIns="95250"/>
                    <a:lstStyle/>
                    <a:p>
                      <a:r>
                        <a:rPr sz="2550" b="1">
                          <a:solidFill>
                            <a:srgbClr val="FFFFFF"/>
                          </a:solidFill>
                          <a:latin typeface="Arial"/>
                          <a:ea typeface="Arial"/>
                          <a:cs typeface="Arial"/>
                        </a:rPr>
                        <a:t>Na dezelfde vraagdaling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Flexibel loon</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Vast loon</a:t>
                      </a:r>
                    </a:p>
                  </a:txBody>
                  <a:tcPr marL="91440" marR="91440" marT="45720" marB="45720" anchor="ctr">
                    <a:solidFill>
                      <a:srgbClr val="183247"/>
                    </a:solidFill>
                  </a:tcPr>
                </a:tc>
              </a:tr>
              <a:tr h="809625">
                <a:tc>
                  <a:txBody>
                    <a:bodyPr lIns="171450" tIns="95250" rIns="152400" bIns="95250"/>
                    <a:lstStyle/>
                    <a:p>
                      <a:r>
                        <a:rPr sz="2550" b="0">
                          <a:solidFill>
                            <a:srgbClr val="183247"/>
                          </a:solidFill>
                          <a:latin typeface="Arial"/>
                          <a:ea typeface="Arial"/>
                          <a:cs typeface="Arial"/>
                        </a:rPr>
                        <a:t>Uurloon</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€ 10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€ 12</a:t>
                      </a:r>
                    </a:p>
                  </a:txBody>
                  <a:tcPr marL="91440" marR="91440" marT="45720" marB="45720" anchor="ctr">
                    <a:solidFill>
                      <a:srgbClr val="FFFFFF"/>
                    </a:solidFill>
                  </a:tcPr>
                </a:tc>
              </a:tr>
              <a:tr h="809625">
                <a:tc>
                  <a:txBody>
                    <a:bodyPr lIns="171450" tIns="95250" rIns="152400" bIns="95250"/>
                    <a:lstStyle/>
                    <a:p>
                      <a:r>
                        <a:rPr sz="2550" b="0">
                          <a:solidFill>
                            <a:srgbClr val="183247"/>
                          </a:solidFill>
                          <a:latin typeface="Arial"/>
                          <a:ea typeface="Arial"/>
                          <a:cs typeface="Arial"/>
                        </a:rPr>
                        <a:t>Werkgelegenheid</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80 personen</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60 personen</a:t>
                      </a:r>
                    </a:p>
                  </a:txBody>
                  <a:tcPr marL="91440" marR="91440" marT="45720" marB="45720" anchor="ctr">
                    <a:solidFill>
                      <a:srgbClr val="EFF4F7"/>
                    </a:solidFill>
                  </a:tcPr>
                </a:tc>
              </a:tr>
              <a:tr h="809625">
                <a:tc>
                  <a:txBody>
                    <a:bodyPr lIns="171450" tIns="95250" rIns="152400" bIns="95250"/>
                    <a:lstStyle/>
                    <a:p>
                      <a:r>
                        <a:rPr sz="2550" b="0">
                          <a:solidFill>
                            <a:srgbClr val="183247"/>
                          </a:solidFill>
                          <a:latin typeface="Arial"/>
                          <a:ea typeface="Arial"/>
                          <a:cs typeface="Arial"/>
                        </a:rPr>
                        <a:t>Aangeboden arbeid</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80 personen</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100 personen</a:t>
                      </a:r>
                    </a:p>
                  </a:txBody>
                  <a:tcPr marL="91440" marR="91440" marT="45720" marB="45720" anchor="ctr">
                    <a:solidFill>
                      <a:srgbClr val="FFFFFF"/>
                    </a:solidFill>
                  </a:tcPr>
                </a:tc>
              </a:tr>
              <a:tr h="809625">
                <a:tc>
                  <a:txBody>
                    <a:bodyPr lIns="171450" tIns="95250" rIns="152400" bIns="95250"/>
                    <a:lstStyle/>
                    <a:p>
                      <a:r>
                        <a:rPr sz="2550" b="0">
                          <a:solidFill>
                            <a:srgbClr val="183247"/>
                          </a:solidFill>
                          <a:latin typeface="Arial"/>
                          <a:ea typeface="Arial"/>
                          <a:cs typeface="Arial"/>
                        </a:rPr>
                        <a:t>Aanbodoverschot</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0 personen</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40 personen</a:t>
                      </a:r>
                    </a:p>
                  </a:txBody>
                  <a:tcPr marL="91440" marR="91440" marT="45720" marB="45720" anchor="ctr">
                    <a:solidFill>
                      <a:srgbClr val="EFF4F7"/>
                    </a:solidFill>
                  </a:tcPr>
                </a:tc>
              </a:tr>
            </a:tbl>
          </a:graphicData>
        </a:graphic>
      </p:graphicFrame>
      <p:sp>
        <p:nvSpPr>
          <p:cNvPr id="6" name="De sectorberekening vervangt de telling van Heuvelregio">
            <a:extLst xmlns:a="http://schemas.openxmlformats.org/drawingml/2006/main">
              <a:ext uri="{FF2B5EF4-FFF2-40B4-BE49-F238E27FC236}">
                <a16:creationId xmlns:a16="http://schemas.microsoft.com/office/drawing/2014/main" id="{B962ABCD-4FD2-4C71-9328-4E44C52CD9FE}"/>
              </a:ext>
            </a:extLst>
          </p:cNvPr>
          <p:cNvSpPr>
            <a:spLocks xmlns:a="http://schemas.openxmlformats.org/drawingml/2006/main" noGrp="1"/>
          </p:cNvSpPr>
          <p:nvPr/>
        </p:nvSpPr>
        <p:spPr>
          <a:xfrm xmlns:a="http://schemas.openxmlformats.org/drawingml/2006/main">
            <a:off x="571500" y="6705600"/>
            <a:ext cx="14097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De sectorberekening vervangt de telling van Heuvelregio niet.</a:t>
            </a:r>
          </a:p>
        </p:txBody>
      </p:sp>
    </p:spTree>
    <p:extLst>
      <p:ext uri="{BB962C8B-B14F-4D97-AF65-F5344CB8AC3E}">
        <p14:creationId xmlns:p14="http://schemas.microsoft.com/office/powerpoint/2010/main" val="126374338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Korte controle">
            <a:extLst xmlns:a="http://schemas.openxmlformats.org/drawingml/2006/main">
              <a:ext uri="{FF2B5EF4-FFF2-40B4-BE49-F238E27FC236}">
                <a16:creationId xmlns:a16="http://schemas.microsoft.com/office/drawing/2014/main" id="{6B3E1C1A-EC97-4B01-8BAE-6469F73ED0F2}"/>
              </a:ext>
            </a:extLst>
          </p:cNvPr>
          <p:cNvSpPr>
            <a:spLocks xmlns:a="http://schemas.openxmlformats.org/drawingml/2006/main" noGrp="1"/>
          </p:cNvSpPr>
          <p:nvPr/>
        </p:nvSpPr>
        <p:spPr>
          <a:xfrm xmlns:a="http://schemas.openxmlformats.org/drawingml/2006/main">
            <a:off x="571500" y="38100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Korte controle</a:t>
            </a:r>
          </a:p>
        </p:txBody>
      </p:sp>
      <p:sp>
        <p:nvSpPr>
          <p:cNvPr id="2" name="">
            <a:extLst xmlns:a="http://schemas.openxmlformats.org/drawingml/2006/main">
              <a:ext uri="{FF2B5EF4-FFF2-40B4-BE49-F238E27FC236}">
                <a16:creationId xmlns:a16="http://schemas.microsoft.com/office/drawing/2014/main" id="{70AB086D-D156-453C-B4D6-923AD13A496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0B7C1F24-4A1A-45D7-8B69-DC7F2A881E8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5">
            <a:extLst xmlns:a="http://schemas.openxmlformats.org/drawingml/2006/main">
              <a:ext uri="{FF2B5EF4-FFF2-40B4-BE49-F238E27FC236}">
                <a16:creationId xmlns:a16="http://schemas.microsoft.com/office/drawing/2014/main" id="{618DE2FB-0E80-4EE9-AFF6-F779DEF5941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Bij flexibel loon daalt de werkgelegenheid van 100 naar">
            <a:extLst xmlns:a="http://schemas.openxmlformats.org/drawingml/2006/main">
              <a:ext uri="{FF2B5EF4-FFF2-40B4-BE49-F238E27FC236}">
                <a16:creationId xmlns:a16="http://schemas.microsoft.com/office/drawing/2014/main" id="{FED957BA-51DC-4228-B964-09981928515A}"/>
              </a:ext>
            </a:extLst>
          </p:cNvPr>
          <p:cNvSpPr>
            <a:spLocks xmlns:a="http://schemas.openxmlformats.org/drawingml/2006/main" noGrp="1"/>
          </p:cNvSpPr>
          <p:nvPr/>
        </p:nvSpPr>
        <p:spPr>
          <a:xfrm xmlns:a="http://schemas.openxmlformats.org/drawingml/2006/main">
            <a:off x="571500" y="2352675"/>
            <a:ext cx="1409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Bij flexibel loon daalt de werkgelegenheid van 100 naar 80.</a:t>
            </a:r>
          </a:p>
        </p:txBody>
      </p:sp>
      <p:sp>
        <p:nvSpPr>
          <p:cNvPr id="6" name="Is het aanbodoverschot dan 20 personen?">
            <a:extLst xmlns:a="http://schemas.openxmlformats.org/drawingml/2006/main">
              <a:ext uri="{FF2B5EF4-FFF2-40B4-BE49-F238E27FC236}">
                <a16:creationId xmlns:a16="http://schemas.microsoft.com/office/drawing/2014/main" id="{D4079579-2CE3-4264-BD47-C9319EB0CF52}"/>
              </a:ext>
            </a:extLst>
          </p:cNvPr>
          <p:cNvSpPr>
            <a:spLocks xmlns:a="http://schemas.openxmlformats.org/drawingml/2006/main" noGrp="1"/>
          </p:cNvSpPr>
          <p:nvPr/>
        </p:nvSpPr>
        <p:spPr>
          <a:xfrm xmlns:a="http://schemas.openxmlformats.org/drawingml/2006/main">
            <a:off x="571500" y="3924300"/>
            <a:ext cx="1409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Is het aanbodoverschot dan 20 personen?</a:t>
            </a:r>
          </a:p>
        </p:txBody>
      </p:sp>
      <p:sp>
        <p:nvSpPr>
          <p:cNvPr id="7" name="Leg uit met de nieuwe vraag én het nieuwe aanbod.">
            <a:extLst xmlns:a="http://schemas.openxmlformats.org/drawingml/2006/main">
              <a:ext uri="{FF2B5EF4-FFF2-40B4-BE49-F238E27FC236}">
                <a16:creationId xmlns:a16="http://schemas.microsoft.com/office/drawing/2014/main" id="{33E58AC3-5EF3-4EA4-A48F-1F45A96533C3}"/>
              </a:ext>
            </a:extLst>
          </p:cNvPr>
          <p:cNvSpPr>
            <a:spLocks xmlns:a="http://schemas.openxmlformats.org/drawingml/2006/main" noGrp="1"/>
          </p:cNvSpPr>
          <p:nvPr/>
        </p:nvSpPr>
        <p:spPr>
          <a:xfrm xmlns:a="http://schemas.openxmlformats.org/drawingml/2006/main">
            <a:off x="571500" y="5495925"/>
            <a:ext cx="1409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Leg uit met de nieuwe vraag én het nieuwe aanbod.</a:t>
            </a:r>
          </a:p>
        </p:txBody>
      </p:sp>
    </p:spTree>
    <p:extLst>
      <p:ext uri="{BB962C8B-B14F-4D97-AF65-F5344CB8AC3E}">
        <p14:creationId xmlns:p14="http://schemas.microsoft.com/office/powerpoint/2010/main" val="117208997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3.3 Werkloosheid en veranderingen op de ar">
            <a:extLst xmlns:a="http://schemas.openxmlformats.org/drawingml/2006/main">
              <a:ext uri="{FF2B5EF4-FFF2-40B4-BE49-F238E27FC236}">
                <a16:creationId xmlns:a16="http://schemas.microsoft.com/office/drawing/2014/main" id="{03FAECF9-8D79-4C0D-81CD-580F77D3DDCC}"/>
              </a:ext>
            </a:extLst>
          </p:cNvPr>
          <p:cNvSpPr>
            <a:spLocks xmlns:a="http://schemas.openxmlformats.org/drawingml/2006/main" noGrp="1"/>
          </p:cNvSpPr>
          <p:nvPr/>
        </p:nvSpPr>
        <p:spPr>
          <a:xfrm xmlns:a="http://schemas.openxmlformats.org/drawingml/2006/main">
            <a:off x="571500" y="38100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Deze les: §4.3.3 Werkloosheid en veranderingen op de arbeidsmarkt</a:t>
            </a:r>
          </a:p>
        </p:txBody>
      </p:sp>
      <p:sp>
        <p:nvSpPr>
          <p:cNvPr id="2" name="">
            <a:extLst xmlns:a="http://schemas.openxmlformats.org/drawingml/2006/main">
              <a:ext uri="{FF2B5EF4-FFF2-40B4-BE49-F238E27FC236}">
                <a16:creationId xmlns:a16="http://schemas.microsoft.com/office/drawing/2014/main" id="{E47D91D8-E345-410B-8F0A-297CDC8EDB1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3 Werkloosheid en veranderingen op de arbeidsmarkt">
            <a:extLst xmlns:a="http://schemas.openxmlformats.org/drawingml/2006/main">
              <a:ext uri="{FF2B5EF4-FFF2-40B4-BE49-F238E27FC236}">
                <a16:creationId xmlns:a16="http://schemas.microsoft.com/office/drawing/2014/main" id="{2E0A17DC-9F43-45C6-9F46-6208F1E94C0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§4.3.3 Werkloosheid en veranderingen op de arbeidsmarkt</a:t>
            </a:r>
          </a:p>
        </p:txBody>
      </p:sp>
      <p:sp>
        <p:nvSpPr>
          <p:cNvPr id="4" name="16">
            <a:extLst xmlns:a="http://schemas.openxmlformats.org/drawingml/2006/main">
              <a:ext uri="{FF2B5EF4-FFF2-40B4-BE49-F238E27FC236}">
                <a16:creationId xmlns:a16="http://schemas.microsoft.com/office/drawing/2014/main" id="{6FFDEF97-02A5-4E00-B1C9-0B27F0D91E5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phase">
            <a:extLst xmlns:a="http://schemas.openxmlformats.org/drawingml/2006/main">
              <a:ext uri="{FF2B5EF4-FFF2-40B4-BE49-F238E27FC236}">
                <a16:creationId xmlns:a16="http://schemas.microsoft.com/office/drawing/2014/main" id="{476F7F96-5E38-42F9-A7C4-4F2E4F11C036}"/>
              </a:ext>
            </a:extLst>
          </p:cNvPr>
          <p:cNvSpPr>
            <a:spLocks xmlns:a="http://schemas.openxmlformats.org/drawingml/2006/main" noGrp="1"/>
          </p:cNvSpPr>
          <p:nvPr/>
        </p:nvSpPr>
        <p:spPr>
          <a:xfrm xmlns:a="http://schemas.openxmlformats.org/drawingml/2006/main">
            <a:off x="571500" y="100965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Oefenen</a:t>
            </a:r>
          </a:p>
        </p:txBody>
      </p:sp>
      <p:sp>
        <p:nvSpPr>
          <p:cNvPr id="6" name="Lesroute">
            <a:extLst xmlns:a="http://schemas.openxmlformats.org/drawingml/2006/main">
              <a:ext uri="{FF2B5EF4-FFF2-40B4-BE49-F238E27FC236}">
                <a16:creationId xmlns:a16="http://schemas.microsoft.com/office/drawing/2014/main" id="{842E7D3B-C5A7-47B0-87B1-A81F0A458D87}"/>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0">
            <a:extLst xmlns:a="http://schemas.openxmlformats.org/drawingml/2006/main">
              <a:ext uri="{FF2B5EF4-FFF2-40B4-BE49-F238E27FC236}">
                <a16:creationId xmlns:a16="http://schemas.microsoft.com/office/drawing/2014/main" id="{BE250820-37E3-4D4F-B528-8D1BCCCE4FBE}"/>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0">
            <a:extLst xmlns:a="http://schemas.openxmlformats.org/drawingml/2006/main">
              <a:ext uri="{FF2B5EF4-FFF2-40B4-BE49-F238E27FC236}">
                <a16:creationId xmlns:a16="http://schemas.microsoft.com/office/drawing/2014/main" id="{6F865E63-6AC8-464F-B54A-A42594816600}"/>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1">
            <a:extLst xmlns:a="http://schemas.openxmlformats.org/drawingml/2006/main">
              <a:ext uri="{FF2B5EF4-FFF2-40B4-BE49-F238E27FC236}">
                <a16:creationId xmlns:a16="http://schemas.microsoft.com/office/drawing/2014/main" id="{09F2B245-8FD9-4C05-92D4-713BF3030BEE}"/>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1">
            <a:extLst xmlns:a="http://schemas.openxmlformats.org/drawingml/2006/main">
              <a:ext uri="{FF2B5EF4-FFF2-40B4-BE49-F238E27FC236}">
                <a16:creationId xmlns:a16="http://schemas.microsoft.com/office/drawing/2014/main" id="{50E60F55-AB37-41AD-84DB-D11F7E256752}"/>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2">
            <a:extLst xmlns:a="http://schemas.openxmlformats.org/drawingml/2006/main">
              <a:ext uri="{FF2B5EF4-FFF2-40B4-BE49-F238E27FC236}">
                <a16:creationId xmlns:a16="http://schemas.microsoft.com/office/drawing/2014/main" id="{9B7B29BA-F9AE-47CE-86ED-8D3EB18B059B}"/>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2">
            <a:extLst xmlns:a="http://schemas.openxmlformats.org/drawingml/2006/main">
              <a:ext uri="{FF2B5EF4-FFF2-40B4-BE49-F238E27FC236}">
                <a16:creationId xmlns:a16="http://schemas.microsoft.com/office/drawing/2014/main" id="{126972A7-C46D-4CF3-8314-88B3BD19CEF7}"/>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3">
            <a:extLst xmlns:a="http://schemas.openxmlformats.org/drawingml/2006/main">
              <a:ext uri="{FF2B5EF4-FFF2-40B4-BE49-F238E27FC236}">
                <a16:creationId xmlns:a16="http://schemas.microsoft.com/office/drawing/2014/main" id="{FDF75987-DF2D-43FC-876A-0DF0CD63D308}"/>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4.</a:t>
            </a:r>
          </a:p>
        </p:txBody>
      </p:sp>
      <p:sp>
        <p:nvSpPr>
          <p:cNvPr id="14" name="route-3">
            <a:extLst xmlns:a="http://schemas.openxmlformats.org/drawingml/2006/main">
              <a:ext uri="{FF2B5EF4-FFF2-40B4-BE49-F238E27FC236}">
                <a16:creationId xmlns:a16="http://schemas.microsoft.com/office/drawing/2014/main" id="{3F8F4145-8C10-440B-9473-426830D6AAF8}"/>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4">
            <a:extLst xmlns:a="http://schemas.openxmlformats.org/drawingml/2006/main">
              <a:ext uri="{FF2B5EF4-FFF2-40B4-BE49-F238E27FC236}">
                <a16:creationId xmlns:a16="http://schemas.microsoft.com/office/drawing/2014/main" id="{029A91E7-7143-467B-A9AD-327514B83544}"/>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4">
            <a:extLst xmlns:a="http://schemas.openxmlformats.org/drawingml/2006/main">
              <a:ext uri="{FF2B5EF4-FFF2-40B4-BE49-F238E27FC236}">
                <a16:creationId xmlns:a16="http://schemas.microsoft.com/office/drawing/2014/main" id="{0793A95E-EF47-4218-B3A1-5129DF70299D}"/>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5">
            <a:extLst xmlns:a="http://schemas.openxmlformats.org/drawingml/2006/main">
              <a:ext uri="{FF2B5EF4-FFF2-40B4-BE49-F238E27FC236}">
                <a16:creationId xmlns:a16="http://schemas.microsoft.com/office/drawing/2014/main" id="{77BA30F4-E559-4D89-9381-9B4204DC1987}"/>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5">
            <a:extLst xmlns:a="http://schemas.openxmlformats.org/drawingml/2006/main">
              <a:ext uri="{FF2B5EF4-FFF2-40B4-BE49-F238E27FC236}">
                <a16:creationId xmlns:a16="http://schemas.microsoft.com/office/drawing/2014/main" id="{D7291E36-93BA-4326-B575-8EAD839FE568}"/>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25.</a:t>
            </a:r>
          </a:p>
        </p:txBody>
      </p:sp>
      <p:sp>
        <p:nvSpPr>
          <p:cNvPr id="19" name="route-number-6">
            <a:extLst xmlns:a="http://schemas.openxmlformats.org/drawingml/2006/main">
              <a:ext uri="{FF2B5EF4-FFF2-40B4-BE49-F238E27FC236}">
                <a16:creationId xmlns:a16="http://schemas.microsoft.com/office/drawing/2014/main" id="{822E42D8-4059-43A6-8A5C-74CAE46B01CC}"/>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6">
            <a:extLst xmlns:a="http://schemas.openxmlformats.org/drawingml/2006/main">
              <a:ext uri="{FF2B5EF4-FFF2-40B4-BE49-F238E27FC236}">
                <a16:creationId xmlns:a16="http://schemas.microsoft.com/office/drawing/2014/main" id="{F680ED9C-0E54-48C9-86B1-5046EF2DCACC}"/>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CF6588E3-1DEE-4721-BDC0-F0533CC750BF}"/>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2774AB16-03B6-4696-B7DF-A63D57329664}"/>
              </a:ext>
            </a:extLst>
          </p:cNvPr>
          <p:cNvSpPr>
            <a:spLocks xmlns:a="http://schemas.openxmlformats.org/drawingml/2006/main" noGrp="1"/>
          </p:cNvSpPr>
          <p:nvPr/>
        </p:nvSpPr>
        <p:spPr>
          <a:xfrm xmlns:a="http://schemas.openxmlformats.org/drawingml/2006/main">
            <a:off x="9258300" y="2286000"/>
            <a:ext cx="5381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Werkloosheid berekenen 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verklaren. Flexibel en vast loon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vergelijken. Model en telling</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onderscheiden.</a:t>
            </a:r>
          </a:p>
        </p:txBody>
      </p:sp>
      <p:sp>
        <p:nvSpPr>
          <p:cNvPr id="23" name="">
            <a:extLst xmlns:a="http://schemas.openxmlformats.org/drawingml/2006/main">
              <a:ext uri="{FF2B5EF4-FFF2-40B4-BE49-F238E27FC236}">
                <a16:creationId xmlns:a16="http://schemas.microsoft.com/office/drawing/2014/main" id="{2540349B-1BBD-47B9-834F-1031D34B7570}"/>
              </a:ext>
            </a:extLst>
          </p:cNvPr>
          <p:cNvSpPr>
            <a:spLocks xmlns:a="http://schemas.openxmlformats.org/drawingml/2006/main" noGrp="1"/>
          </p:cNvSpPr>
          <p:nvPr/>
        </p:nvSpPr>
        <p:spPr>
          <a:xfrm xmlns:a="http://schemas.openxmlformats.org/drawingml/2006/main">
            <a:off x="9258300" y="3686175"/>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2C38F122-6A13-41DF-8CCE-5A642A818377}"/>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C30AA7E4-1CC8-45C7-A87C-12AA8181B65C}"/>
              </a:ext>
            </a:extLst>
          </p:cNvPr>
          <p:cNvSpPr>
            <a:spLocks xmlns:a="http://schemas.openxmlformats.org/drawingml/2006/main" noGrp="1"/>
          </p:cNvSpPr>
          <p:nvPr/>
        </p:nvSpPr>
        <p:spPr>
          <a:xfrm xmlns:a="http://schemas.openxmlformats.org/drawingml/2006/main">
            <a:off x="9258300" y="4333875"/>
            <a:ext cx="53816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137 · Opgaven 19 en 20</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20: verkennen met theorie</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op p. 132–133</a:t>
            </a:r>
          </a:p>
        </p:txBody>
      </p:sp>
      <p:sp>
        <p:nvSpPr>
          <p:cNvPr id="26" name="">
            <a:extLst xmlns:a="http://schemas.openxmlformats.org/drawingml/2006/main">
              <a:ext uri="{FF2B5EF4-FFF2-40B4-BE49-F238E27FC236}">
                <a16:creationId xmlns:a16="http://schemas.microsoft.com/office/drawing/2014/main" id="{62CC13DC-3B49-4CE6-88F2-452F9AB51C81}"/>
              </a:ext>
            </a:extLst>
          </p:cNvPr>
          <p:cNvSpPr>
            <a:spLocks xmlns:a="http://schemas.openxmlformats.org/drawingml/2006/main" noGrp="1"/>
          </p:cNvSpPr>
          <p:nvPr/>
        </p:nvSpPr>
        <p:spPr>
          <a:xfrm xmlns:a="http://schemas.openxmlformats.org/drawingml/2006/main">
            <a:off x="9258300" y="5514975"/>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8A86B0F8-EBDC-4DB7-A94A-C5929300A5E0}"/>
              </a:ext>
            </a:extLst>
          </p:cNvPr>
          <p:cNvSpPr>
            <a:spLocks xmlns:a="http://schemas.openxmlformats.org/drawingml/2006/main" noGrp="1"/>
          </p:cNvSpPr>
          <p:nvPr/>
        </p:nvSpPr>
        <p:spPr>
          <a:xfrm xmlns:a="http://schemas.openxmlformats.org/drawingml/2006/main">
            <a:off x="9258300" y="567690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D9CD61B3-606A-4D0B-A7FB-8CDF2A8E5BFE}"/>
              </a:ext>
            </a:extLst>
          </p:cNvPr>
          <p:cNvSpPr>
            <a:spLocks xmlns:a="http://schemas.openxmlformats.org/drawingml/2006/main" noGrp="1"/>
          </p:cNvSpPr>
          <p:nvPr/>
        </p:nvSpPr>
        <p:spPr>
          <a:xfrm xmlns:a="http://schemas.openxmlformats.org/drawingml/2006/main">
            <a:off x="9258300" y="6172200"/>
            <a:ext cx="53816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§4.3.3</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21 en 22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23 en 24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25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89613589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25 · Rivierenregio: cijfers en een sector">
            <a:extLst xmlns:a="http://schemas.openxmlformats.org/drawingml/2006/main">
              <a:ext uri="{FF2B5EF4-FFF2-40B4-BE49-F238E27FC236}">
                <a16:creationId xmlns:a16="http://schemas.microsoft.com/office/drawing/2014/main" id="{9A91BDDA-0141-47E6-AC93-4BD7A7B236E1}"/>
              </a:ext>
            </a:extLst>
          </p:cNvPr>
          <p:cNvSpPr>
            <a:spLocks xmlns:a="http://schemas.openxmlformats.org/drawingml/2006/main" noGrp="1"/>
          </p:cNvSpPr>
          <p:nvPr/>
        </p:nvSpPr>
        <p:spPr>
          <a:xfrm xmlns:a="http://schemas.openxmlformats.org/drawingml/2006/main">
            <a:off x="571500" y="38100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25 · Rivierenregio: cijfers en een sector</a:t>
            </a:r>
          </a:p>
        </p:txBody>
      </p:sp>
      <p:sp>
        <p:nvSpPr>
          <p:cNvPr id="2" name="">
            <a:extLst xmlns:a="http://schemas.openxmlformats.org/drawingml/2006/main">
              <a:ext uri="{FF2B5EF4-FFF2-40B4-BE49-F238E27FC236}">
                <a16:creationId xmlns:a16="http://schemas.microsoft.com/office/drawing/2014/main" id="{388A68E9-D459-4E53-A00B-6991098E699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3 Werkloosheid en veranderingen op de arbeidsmarkt">
            <a:extLst xmlns:a="http://schemas.openxmlformats.org/drawingml/2006/main">
              <a:ext uri="{FF2B5EF4-FFF2-40B4-BE49-F238E27FC236}">
                <a16:creationId xmlns:a16="http://schemas.microsoft.com/office/drawing/2014/main" id="{836D70FC-6D61-48B8-81B5-030F6BC829B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§4.3.3 Werkloosheid en veranderingen op de arbeidsmarkt</a:t>
            </a:r>
          </a:p>
        </p:txBody>
      </p:sp>
      <p:sp>
        <p:nvSpPr>
          <p:cNvPr id="4" name="17">
            <a:extLst xmlns:a="http://schemas.openxmlformats.org/drawingml/2006/main">
              <a:ext uri="{FF2B5EF4-FFF2-40B4-BE49-F238E27FC236}">
                <a16:creationId xmlns:a16="http://schemas.microsoft.com/office/drawing/2014/main" id="{F1364CB2-1149-4072-9292-BA8D66933F6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Bron A">
            <a:extLst xmlns:a="http://schemas.openxmlformats.org/drawingml/2006/main">
              <a:ext uri="{FF2B5EF4-FFF2-40B4-BE49-F238E27FC236}">
                <a16:creationId xmlns:a16="http://schemas.microsoft.com/office/drawing/2014/main" id="{6A157384-BD5A-43FC-9110-BB002044157D}"/>
              </a:ext>
            </a:extLst>
          </p:cNvPr>
          <p:cNvSpPr>
            <a:spLocks xmlns:a="http://schemas.openxmlformats.org/drawingml/2006/main" noGrp="1"/>
          </p:cNvSpPr>
          <p:nvPr/>
        </p:nvSpPr>
        <p:spPr>
          <a:xfrm xmlns:a="http://schemas.openxmlformats.org/drawingml/2006/main">
            <a:off x="571500" y="181927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Bron A</a:t>
            </a:r>
          </a:p>
        </p:txBody>
      </p:sp>
      <p:sp>
        <p:nvSpPr>
          <p:cNvPr id="6" name="De regio telt 2.700 werkenden, 300 werklozen en 120 vac">
            <a:extLst xmlns:a="http://schemas.openxmlformats.org/drawingml/2006/main">
              <a:ext uri="{FF2B5EF4-FFF2-40B4-BE49-F238E27FC236}">
                <a16:creationId xmlns:a16="http://schemas.microsoft.com/office/drawing/2014/main" id="{4BBC83B8-2552-47BB-8552-9FB09D6D67B3}"/>
              </a:ext>
            </a:extLst>
          </p:cNvPr>
          <p:cNvSpPr>
            <a:spLocks xmlns:a="http://schemas.openxmlformats.org/drawingml/2006/main" noGrp="1"/>
          </p:cNvSpPr>
          <p:nvPr/>
        </p:nvSpPr>
        <p:spPr>
          <a:xfrm xmlns:a="http://schemas.openxmlformats.org/drawingml/2006/main">
            <a:off x="571500" y="2562225"/>
            <a:ext cx="14097000"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De regio telt 2.700 werkenden, 300 werklozen en 120 vacatures.</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Iedere werkende heeft één baan.</a:t>
            </a:r>
          </a:p>
        </p:txBody>
      </p:sp>
      <p:sp>
        <p:nvSpPr>
          <p:cNvPr id="7" name="">
            <a:extLst xmlns:a="http://schemas.openxmlformats.org/drawingml/2006/main">
              <a:ext uri="{FF2B5EF4-FFF2-40B4-BE49-F238E27FC236}">
                <a16:creationId xmlns:a16="http://schemas.microsoft.com/office/drawing/2014/main" id="{261AA7B4-999B-4ABB-92F3-DB5FDAAA406D}"/>
              </a:ext>
            </a:extLst>
          </p:cNvPr>
          <p:cNvSpPr>
            <a:spLocks xmlns:a="http://schemas.openxmlformats.org/drawingml/2006/main" noGrp="1"/>
          </p:cNvSpPr>
          <p:nvPr/>
        </p:nvSpPr>
        <p:spPr>
          <a:xfrm xmlns:a="http://schemas.openxmlformats.org/drawingml/2006/main">
            <a:off x="571500" y="4457700"/>
            <a:ext cx="14097000" cy="0"/>
          </a:xfrm>
          <a:prstGeom xmlns:a="http://schemas.openxmlformats.org/drawingml/2006/main" prst="line">
            <a:avLst/>
          </a:prstGeom>
          <a:ln xmlns:a="http://schemas.openxmlformats.org/drawingml/2006/main" w="19050">
            <a:solidFill>
              <a:srgbClr val="C6D2DB"/>
            </a:solidFill>
          </a:ln>
        </p:spPr>
      </p:sp>
      <p:sp>
        <p:nvSpPr>
          <p:cNvPr id="8" name="25a (3p)">
            <a:extLst xmlns:a="http://schemas.openxmlformats.org/drawingml/2006/main">
              <a:ext uri="{FF2B5EF4-FFF2-40B4-BE49-F238E27FC236}">
                <a16:creationId xmlns:a16="http://schemas.microsoft.com/office/drawing/2014/main" id="{FF7F6525-6095-403E-8425-882BD0BDAB61}"/>
              </a:ext>
            </a:extLst>
          </p:cNvPr>
          <p:cNvSpPr>
            <a:spLocks xmlns:a="http://schemas.openxmlformats.org/drawingml/2006/main" noGrp="1"/>
          </p:cNvSpPr>
          <p:nvPr/>
        </p:nvSpPr>
        <p:spPr>
          <a:xfrm xmlns:a="http://schemas.openxmlformats.org/drawingml/2006/main">
            <a:off x="571500" y="484822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25a (3p)</a:t>
            </a:r>
          </a:p>
        </p:txBody>
      </p:sp>
      <p:sp>
        <p:nvSpPr>
          <p:cNvPr id="9" name="Bereken met bron A het werkloosheidspercentage. Leg uit">
            <a:extLst xmlns:a="http://schemas.openxmlformats.org/drawingml/2006/main">
              <a:ext uri="{FF2B5EF4-FFF2-40B4-BE49-F238E27FC236}">
                <a16:creationId xmlns:a16="http://schemas.microsoft.com/office/drawing/2014/main" id="{0CE03130-F0CB-43AD-967E-99926E0DFF67}"/>
              </a:ext>
            </a:extLst>
          </p:cNvPr>
          <p:cNvSpPr>
            <a:spLocks xmlns:a="http://schemas.openxmlformats.org/drawingml/2006/main" noGrp="1"/>
          </p:cNvSpPr>
          <p:nvPr/>
        </p:nvSpPr>
        <p:spPr>
          <a:xfrm xmlns:a="http://schemas.openxmlformats.org/drawingml/2006/main">
            <a:off x="571500" y="5686425"/>
            <a:ext cx="140970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Bereken met bron A het werkloosheidspercentage. Leg uit waarom</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arbeidsaanbod min arbeidsvraag hier niet de werkloosheid geeft.</a:t>
            </a:r>
          </a:p>
        </p:txBody>
      </p:sp>
    </p:spTree>
    <p:extLst>
      <p:ext uri="{BB962C8B-B14F-4D97-AF65-F5344CB8AC3E}">
        <p14:creationId xmlns:p14="http://schemas.microsoft.com/office/powerpoint/2010/main" val="209953182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25 · Bron B">
            <a:extLst xmlns:a="http://schemas.openxmlformats.org/drawingml/2006/main">
              <a:ext uri="{FF2B5EF4-FFF2-40B4-BE49-F238E27FC236}">
                <a16:creationId xmlns:a16="http://schemas.microsoft.com/office/drawing/2014/main" id="{D2D6FF69-09B0-4D10-905A-D2FB812A5229}"/>
              </a:ext>
            </a:extLst>
          </p:cNvPr>
          <p:cNvSpPr>
            <a:spLocks xmlns:a="http://schemas.openxmlformats.org/drawingml/2006/main" noGrp="1"/>
          </p:cNvSpPr>
          <p:nvPr/>
        </p:nvSpPr>
        <p:spPr>
          <a:xfrm xmlns:a="http://schemas.openxmlformats.org/drawingml/2006/main">
            <a:off x="571500" y="38100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25 · Bron B</a:t>
            </a:r>
          </a:p>
        </p:txBody>
      </p:sp>
      <p:sp>
        <p:nvSpPr>
          <p:cNvPr id="2" name="">
            <a:extLst xmlns:a="http://schemas.openxmlformats.org/drawingml/2006/main">
              <a:ext uri="{FF2B5EF4-FFF2-40B4-BE49-F238E27FC236}">
                <a16:creationId xmlns:a16="http://schemas.microsoft.com/office/drawing/2014/main" id="{8550DF48-D51A-4E25-B830-F2EFA4BBF0A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3 Werkloosheid en veranderingen op de arbeidsmarkt">
            <a:extLst xmlns:a="http://schemas.openxmlformats.org/drawingml/2006/main">
              <a:ext uri="{FF2B5EF4-FFF2-40B4-BE49-F238E27FC236}">
                <a16:creationId xmlns:a16="http://schemas.microsoft.com/office/drawing/2014/main" id="{67473145-A382-47E6-94F7-8C169580F36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§4.3.3 Werkloosheid en veranderingen op de arbeidsmarkt</a:t>
            </a:r>
          </a:p>
        </p:txBody>
      </p:sp>
      <p:sp>
        <p:nvSpPr>
          <p:cNvPr id="4" name="18">
            <a:extLst xmlns:a="http://schemas.openxmlformats.org/drawingml/2006/main">
              <a:ext uri="{FF2B5EF4-FFF2-40B4-BE49-F238E27FC236}">
                <a16:creationId xmlns:a16="http://schemas.microsoft.com/office/drawing/2014/main" id="{3FBC32B0-E55A-4BCE-9954-1FDF8084C71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In een afzonderlijke sector nemen de opdrachten af door">
            <a:extLst xmlns:a="http://schemas.openxmlformats.org/drawingml/2006/main">
              <a:ext uri="{FF2B5EF4-FFF2-40B4-BE49-F238E27FC236}">
                <a16:creationId xmlns:a16="http://schemas.microsoft.com/office/drawing/2014/main" id="{602CDC34-C23E-4477-8BFC-6AD4382A9C75}"/>
              </a:ext>
            </a:extLst>
          </p:cNvPr>
          <p:cNvSpPr>
            <a:spLocks xmlns:a="http://schemas.openxmlformats.org/drawingml/2006/main" noGrp="1"/>
          </p:cNvSpPr>
          <p:nvPr/>
        </p:nvSpPr>
        <p:spPr>
          <a:xfrm xmlns:a="http://schemas.openxmlformats.org/drawingml/2006/main">
            <a:off x="571500" y="1866900"/>
            <a:ext cx="140970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In een afzonderlijke sector nemen de opdrachten af doordat</a:t>
            </a:r>
          </a:p>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huishoudens minder besteden.</a:t>
            </a:r>
          </a:p>
        </p:txBody>
      </p:sp>
      <p:graphicFrame>
        <p:nvGraphicFramePr>
          <p:cNvPr id="13" name=""/>
          <p:cNvGraphicFramePr/>
          <p:nvPr/>
        </p:nvGraphicFramePr>
        <p:xfrm>
          <a:off xmlns:a="http://schemas.openxmlformats.org/drawingml/2006/main" x="571500" y="3267075"/>
          <a:ext xmlns:a="http://schemas.openxmlformats.org/drawingml/2006/main" cx="14097000" cy="1743075"/>
        </p:xfrm>
        <a:graphic xmlns:a="http://schemas.openxmlformats.org/drawingml/2006/main">
          <a:graphicData uri="http://schemas.openxmlformats.org/drawingml/2006/table">
            <a:tbl>
              <a:tblPr/>
              <a:tblGrid>
                <a:gridCol w="4695825"/>
                <a:gridCol w="4705350"/>
                <a:gridCol w="4695825"/>
              </a:tblGrid>
              <a:tr h="871538">
                <a:tc>
                  <a:txBody>
                    <a:bodyPr lIns="171450" tIns="95250" rIns="152400" bIns="95250"/>
                    <a:lstStyle/>
                    <a:p>
                      <a:r>
                        <a:rPr sz="2550" b="1">
                          <a:solidFill>
                            <a:srgbClr val="FFFFFF"/>
                          </a:solidFill>
                          <a:latin typeface="Arial"/>
                          <a:ea typeface="Arial"/>
                          <a:cs typeface="Arial"/>
                        </a:rPr>
                        <a:t>Arbeidsvraag oud</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Arbeidsvraag nieuw</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Arbeidsaanbod blijft</a:t>
                      </a:r>
                    </a:p>
                  </a:txBody>
                  <a:tcPr marL="91440" marR="91440" marT="45720" marB="45720" anchor="ctr">
                    <a:solidFill>
                      <a:srgbClr val="183247"/>
                    </a:solidFill>
                  </a:tcPr>
                </a:tc>
              </a:tr>
              <a:tr h="871538">
                <a:tc>
                  <a:txBody>
                    <a:bodyPr lIns="171450" tIns="95250" rIns="152400" bIns="95250"/>
                    <a:lstStyle/>
                    <a:p>
                      <a:r>
                        <a:rPr sz="2550" b="0">
                          <a:solidFill>
                            <a:srgbClr val="183247"/>
                          </a:solidFill>
                          <a:latin typeface="Arial"/>
                          <a:ea typeface="Arial"/>
                          <a:cs typeface="Arial"/>
                        </a:rPr>
                        <a:t>Lᵥ = 180 − 6w</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Lᵥ = 144 − 6w</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Lₐ = −12 + 6w</a:t>
                      </a:r>
                    </a:p>
                  </a:txBody>
                  <a:tcPr marL="91440" marR="91440" marT="45720" marB="45720" anchor="ctr">
                    <a:solidFill>
                      <a:srgbClr val="FFFFFF"/>
                    </a:solidFill>
                  </a:tcPr>
                </a:tc>
              </a:tr>
            </a:tbl>
          </a:graphicData>
        </a:graphic>
      </p:graphicFrame>
      <p:sp>
        <p:nvSpPr>
          <p:cNvPr id="7" name="L is het aantal personen. w is het uurloon in euro.&#10;€ 2">
            <a:extLst xmlns:a="http://schemas.openxmlformats.org/drawingml/2006/main">
              <a:ext uri="{FF2B5EF4-FFF2-40B4-BE49-F238E27FC236}">
                <a16:creationId xmlns:a16="http://schemas.microsoft.com/office/drawing/2014/main" id="{E7DF0A64-B548-4C4C-A4BD-17A3CC27620F}"/>
              </a:ext>
            </a:extLst>
          </p:cNvPr>
          <p:cNvSpPr>
            <a:spLocks xmlns:a="http://schemas.openxmlformats.org/drawingml/2006/main" noGrp="1"/>
          </p:cNvSpPr>
          <p:nvPr/>
        </p:nvSpPr>
        <p:spPr>
          <a:xfrm xmlns:a="http://schemas.openxmlformats.org/drawingml/2006/main">
            <a:off x="571500" y="5591175"/>
            <a:ext cx="1409700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L is het aantal personen. w is het uurloon in euro.</a:t>
            </a:r>
          </a:p>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€ 2 ≤ w ≤ € 24. Het oude evenwicht is € 16 en 84 personen.</a:t>
            </a:r>
          </a:p>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Er zijn in dit sector-model geen vacatures of zoekproblemen.</a:t>
            </a:r>
          </a:p>
        </p:txBody>
      </p:sp>
    </p:spTree>
    <p:extLst>
      <p:ext uri="{BB962C8B-B14F-4D97-AF65-F5344CB8AC3E}">
        <p14:creationId xmlns:p14="http://schemas.microsoft.com/office/powerpoint/2010/main" val="71718342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25 · Vragen b en c">
            <a:extLst xmlns:a="http://schemas.openxmlformats.org/drawingml/2006/main">
              <a:ext uri="{FF2B5EF4-FFF2-40B4-BE49-F238E27FC236}">
                <a16:creationId xmlns:a16="http://schemas.microsoft.com/office/drawing/2014/main" id="{88F091C9-AF2D-44B9-85BF-AA72B63BCFBD}"/>
              </a:ext>
            </a:extLst>
          </p:cNvPr>
          <p:cNvSpPr>
            <a:spLocks xmlns:a="http://schemas.openxmlformats.org/drawingml/2006/main" noGrp="1"/>
          </p:cNvSpPr>
          <p:nvPr/>
        </p:nvSpPr>
        <p:spPr>
          <a:xfrm xmlns:a="http://schemas.openxmlformats.org/drawingml/2006/main">
            <a:off x="571500" y="38100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25 · Vragen b en c</a:t>
            </a:r>
          </a:p>
        </p:txBody>
      </p:sp>
      <p:sp>
        <p:nvSpPr>
          <p:cNvPr id="2" name="">
            <a:extLst xmlns:a="http://schemas.openxmlformats.org/drawingml/2006/main">
              <a:ext uri="{FF2B5EF4-FFF2-40B4-BE49-F238E27FC236}">
                <a16:creationId xmlns:a16="http://schemas.microsoft.com/office/drawing/2014/main" id="{48824F48-BF1B-4DBA-98DB-0699D86DC2D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3 Werkloosheid en veranderingen op de arbeidsmarkt">
            <a:extLst xmlns:a="http://schemas.openxmlformats.org/drawingml/2006/main">
              <a:ext uri="{FF2B5EF4-FFF2-40B4-BE49-F238E27FC236}">
                <a16:creationId xmlns:a16="http://schemas.microsoft.com/office/drawing/2014/main" id="{1CFA2508-2992-4D01-874F-7913F30B6D2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§4.3.3 Werkloosheid en veranderingen op de arbeidsmarkt</a:t>
            </a:r>
          </a:p>
        </p:txBody>
      </p:sp>
      <p:sp>
        <p:nvSpPr>
          <p:cNvPr id="4" name="19">
            <a:extLst xmlns:a="http://schemas.openxmlformats.org/drawingml/2006/main">
              <a:ext uri="{FF2B5EF4-FFF2-40B4-BE49-F238E27FC236}">
                <a16:creationId xmlns:a16="http://schemas.microsoft.com/office/drawing/2014/main" id="{933564DF-EE04-401A-B4BC-C95D35D8871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25b (3p)">
            <a:extLst xmlns:a="http://schemas.openxmlformats.org/drawingml/2006/main">
              <a:ext uri="{FF2B5EF4-FFF2-40B4-BE49-F238E27FC236}">
                <a16:creationId xmlns:a16="http://schemas.microsoft.com/office/drawing/2014/main" id="{D9EA896B-EDA3-4FE3-8E05-FB1CAB7A5113}"/>
              </a:ext>
            </a:extLst>
          </p:cNvPr>
          <p:cNvSpPr>
            <a:spLocks xmlns:a="http://schemas.openxmlformats.org/drawingml/2006/main" noGrp="1"/>
          </p:cNvSpPr>
          <p:nvPr/>
        </p:nvSpPr>
        <p:spPr>
          <a:xfrm xmlns:a="http://schemas.openxmlformats.org/drawingml/2006/main">
            <a:off x="571500" y="195262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25b (3p)</a:t>
            </a:r>
          </a:p>
        </p:txBody>
      </p:sp>
      <p:sp>
        <p:nvSpPr>
          <p:cNvPr id="6" name="Benoem met bron B de oorzaak en bereken het nieuwe&#10;even">
            <a:extLst xmlns:a="http://schemas.openxmlformats.org/drawingml/2006/main">
              <a:ext uri="{FF2B5EF4-FFF2-40B4-BE49-F238E27FC236}">
                <a16:creationId xmlns:a16="http://schemas.microsoft.com/office/drawing/2014/main" id="{CB4CE594-AED4-4476-8398-4A07D1E420D0}"/>
              </a:ext>
            </a:extLst>
          </p:cNvPr>
          <p:cNvSpPr>
            <a:spLocks xmlns:a="http://schemas.openxmlformats.org/drawingml/2006/main" noGrp="1"/>
          </p:cNvSpPr>
          <p:nvPr/>
        </p:nvSpPr>
        <p:spPr>
          <a:xfrm xmlns:a="http://schemas.openxmlformats.org/drawingml/2006/main">
            <a:off x="571500" y="2771775"/>
            <a:ext cx="140970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Benoem met bron B de oorzaak en bereken het nieuwe</a:t>
            </a:r>
          </a:p>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evenwicht als het loon vrij aanpast.</a:t>
            </a:r>
          </a:p>
        </p:txBody>
      </p:sp>
      <p:sp>
        <p:nvSpPr>
          <p:cNvPr id="7" name="">
            <a:extLst xmlns:a="http://schemas.openxmlformats.org/drawingml/2006/main">
              <a:ext uri="{FF2B5EF4-FFF2-40B4-BE49-F238E27FC236}">
                <a16:creationId xmlns:a16="http://schemas.microsoft.com/office/drawing/2014/main" id="{D3951BE4-371D-4E01-840E-4BE124F8EC6B}"/>
              </a:ext>
            </a:extLst>
          </p:cNvPr>
          <p:cNvSpPr>
            <a:spLocks xmlns:a="http://schemas.openxmlformats.org/drawingml/2006/main" noGrp="1"/>
          </p:cNvSpPr>
          <p:nvPr/>
        </p:nvSpPr>
        <p:spPr>
          <a:xfrm xmlns:a="http://schemas.openxmlformats.org/drawingml/2006/main">
            <a:off x="571500" y="4543425"/>
            <a:ext cx="14097000" cy="0"/>
          </a:xfrm>
          <a:prstGeom xmlns:a="http://schemas.openxmlformats.org/drawingml/2006/main" prst="line">
            <a:avLst/>
          </a:prstGeom>
          <a:ln xmlns:a="http://schemas.openxmlformats.org/drawingml/2006/main" w="19050">
            <a:solidFill>
              <a:srgbClr val="C6D2DB"/>
            </a:solidFill>
          </a:ln>
        </p:spPr>
      </p:sp>
      <p:sp>
        <p:nvSpPr>
          <p:cNvPr id="8" name="25c (3p)">
            <a:extLst xmlns:a="http://schemas.openxmlformats.org/drawingml/2006/main">
              <a:ext uri="{FF2B5EF4-FFF2-40B4-BE49-F238E27FC236}">
                <a16:creationId xmlns:a16="http://schemas.microsoft.com/office/drawing/2014/main" id="{4DD45AA5-17C7-4EC0-9BF4-FD1B3ACE36B0}"/>
              </a:ext>
            </a:extLst>
          </p:cNvPr>
          <p:cNvSpPr>
            <a:spLocks xmlns:a="http://schemas.openxmlformats.org/drawingml/2006/main" noGrp="1"/>
          </p:cNvSpPr>
          <p:nvPr/>
        </p:nvSpPr>
        <p:spPr>
          <a:xfrm xmlns:a="http://schemas.openxmlformats.org/drawingml/2006/main">
            <a:off x="571500" y="501967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25c (3p)</a:t>
            </a:r>
          </a:p>
        </p:txBody>
      </p:sp>
      <p:sp>
        <p:nvSpPr>
          <p:cNvPr id="9" name="Markeer het oude en nieuwe evenwicht in de basisgrafiek">
            <a:extLst xmlns:a="http://schemas.openxmlformats.org/drawingml/2006/main">
              <a:ext uri="{FF2B5EF4-FFF2-40B4-BE49-F238E27FC236}">
                <a16:creationId xmlns:a16="http://schemas.microsoft.com/office/drawing/2014/main" id="{5CAED9C7-D8AD-46B8-9B3C-3D927692012E}"/>
              </a:ext>
            </a:extLst>
          </p:cNvPr>
          <p:cNvSpPr>
            <a:spLocks xmlns:a="http://schemas.openxmlformats.org/drawingml/2006/main" noGrp="1"/>
          </p:cNvSpPr>
          <p:nvPr/>
        </p:nvSpPr>
        <p:spPr>
          <a:xfrm xmlns:a="http://schemas.openxmlformats.org/drawingml/2006/main">
            <a:off x="571500" y="5857875"/>
            <a:ext cx="140970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Markeer het oude en nieuwe evenwicht in de basisgrafiek.</a:t>
            </a:r>
          </a:p>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Bereken daarna het aanbodoverschot bij een loon dat € 16 blijft.</a:t>
            </a:r>
          </a:p>
        </p:txBody>
      </p:sp>
    </p:spTree>
    <p:extLst>
      <p:ext uri="{BB962C8B-B14F-4D97-AF65-F5344CB8AC3E}">
        <p14:creationId xmlns:p14="http://schemas.microsoft.com/office/powerpoint/2010/main" val="67663667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25 · Basisgrafiek">
            <a:extLst xmlns:a="http://schemas.openxmlformats.org/drawingml/2006/main">
              <a:ext uri="{FF2B5EF4-FFF2-40B4-BE49-F238E27FC236}">
                <a16:creationId xmlns:a16="http://schemas.microsoft.com/office/drawing/2014/main" id="{2DA25072-D4F9-49C9-A346-712CFD8AA699}"/>
              </a:ext>
            </a:extLst>
          </p:cNvPr>
          <p:cNvSpPr>
            <a:spLocks xmlns:a="http://schemas.openxmlformats.org/drawingml/2006/main" noGrp="1"/>
          </p:cNvSpPr>
          <p:nvPr/>
        </p:nvSpPr>
        <p:spPr>
          <a:xfrm xmlns:a="http://schemas.openxmlformats.org/drawingml/2006/main">
            <a:off x="571500" y="38100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25 · Basisgrafiek</a:t>
            </a:r>
          </a:p>
        </p:txBody>
      </p:sp>
      <p:sp>
        <p:nvSpPr>
          <p:cNvPr id="2" name="">
            <a:extLst xmlns:a="http://schemas.openxmlformats.org/drawingml/2006/main">
              <a:ext uri="{FF2B5EF4-FFF2-40B4-BE49-F238E27FC236}">
                <a16:creationId xmlns:a16="http://schemas.microsoft.com/office/drawing/2014/main" id="{3ED2D154-733A-4372-9A4E-01D7081D91B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3 Werkloosheid en veranderingen op de arbeidsmarkt">
            <a:extLst xmlns:a="http://schemas.openxmlformats.org/drawingml/2006/main">
              <a:ext uri="{FF2B5EF4-FFF2-40B4-BE49-F238E27FC236}">
                <a16:creationId xmlns:a16="http://schemas.microsoft.com/office/drawing/2014/main" id="{D517E9EC-79F4-4049-943C-E803C376CE9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§4.3.3 Werkloosheid en veranderingen op de arbeidsmarkt</a:t>
            </a:r>
          </a:p>
        </p:txBody>
      </p:sp>
      <p:sp>
        <p:nvSpPr>
          <p:cNvPr id="4" name="20">
            <a:extLst xmlns:a="http://schemas.openxmlformats.org/drawingml/2006/main">
              <a:ext uri="{FF2B5EF4-FFF2-40B4-BE49-F238E27FC236}">
                <a16:creationId xmlns:a16="http://schemas.microsoft.com/office/drawing/2014/main" id="{4CB04879-D7CB-400F-A7EC-122C88B542B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graphicFrame>
        <p:nvGraphicFramePr>
          <p:cNvPr id="13" name="Chart"/>
          <p:cNvGraphicFramePr/>
          <p:nvPr/>
        </p:nvGraphicFramePr>
        <p:xfrm>
          <a:off xmlns:a="http://schemas.openxmlformats.org/drawingml/2006/main" x="428625" y="1981200"/>
          <a:ext xmlns:a="http://schemas.openxmlformats.org/drawingml/2006/main" cx="10001250" cy="5676900"/>
        </p:xfrm>
        <a:graphic xmlns:a="http://schemas.openxmlformats.org/drawingml/2006/main">
          <a:graphicData uri="http://schemas.openxmlformats.org/drawingml/2006/chart">
            <c:chart xmlns:r="http://schemas.openxmlformats.org/officeDocument/2006/relationships" xmlns:c="http://schemas.openxmlformats.org/drawingml/2006/chart" r:id="Rc676160ca84647cc"/>
          </a:graphicData>
        </a:graphic>
      </p:graphicFrame>
      <p:sp>
        <p:nvSpPr>
          <p:cNvPr id="6" name="Lᵥ oud = 180 − 6w&#10;Lᵥ nieuw = 144 − 6w&#10;Lₐ = −12 + 6w">
            <a:extLst xmlns:a="http://schemas.openxmlformats.org/drawingml/2006/main">
              <a:ext uri="{FF2B5EF4-FFF2-40B4-BE49-F238E27FC236}">
                <a16:creationId xmlns:a16="http://schemas.microsoft.com/office/drawing/2014/main" id="{1950C83B-52B9-4DE1-B42D-0EC2ABEC59BB}"/>
              </a:ext>
            </a:extLst>
          </p:cNvPr>
          <p:cNvSpPr>
            <a:spLocks xmlns:a="http://schemas.openxmlformats.org/drawingml/2006/main" noGrp="1"/>
          </p:cNvSpPr>
          <p:nvPr/>
        </p:nvSpPr>
        <p:spPr>
          <a:xfrm xmlns:a="http://schemas.openxmlformats.org/drawingml/2006/main">
            <a:off x="10648950" y="2343150"/>
            <a:ext cx="40195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83247"/>
                </a:solidFill>
                <a:latin typeface="Arial"/>
                <a:ea typeface="Arial"/>
                <a:cs typeface="Arial"/>
              </a:defRPr>
            </a:pPr>
            <a:r>
              <a:rPr sz="2325" b="1">
                <a:solidFill>
                  <a:srgbClr val="183247"/>
                </a:solidFill>
                <a:latin typeface="Arial"/>
                <a:ea typeface="Arial"/>
                <a:cs typeface="Arial"/>
              </a:rPr>
              <a:t>Lᵥ oud = 180 − 6w</a:t>
            </a:r>
          </a:p>
          <a:p xmlns:a="http://schemas.openxmlformats.org/drawingml/2006/main">
            <a:pPr algn="l">
              <a:defRPr sz="2325" b="1">
                <a:solidFill>
                  <a:srgbClr val="183247"/>
                </a:solidFill>
                <a:latin typeface="Arial"/>
                <a:ea typeface="Arial"/>
                <a:cs typeface="Arial"/>
              </a:defRPr>
            </a:pPr>
            <a:r>
              <a:rPr sz="2325" b="1">
                <a:solidFill>
                  <a:srgbClr val="183247"/>
                </a:solidFill>
                <a:latin typeface="Arial"/>
                <a:ea typeface="Arial"/>
                <a:cs typeface="Arial"/>
              </a:rPr>
              <a:t>Lᵥ nieuw = 144 − 6w</a:t>
            </a:r>
          </a:p>
          <a:p xmlns:a="http://schemas.openxmlformats.org/drawingml/2006/main">
            <a:pPr algn="l">
              <a:defRPr sz="2325" b="1">
                <a:solidFill>
                  <a:srgbClr val="183247"/>
                </a:solidFill>
                <a:latin typeface="Arial"/>
                <a:ea typeface="Arial"/>
                <a:cs typeface="Arial"/>
              </a:defRPr>
            </a:pPr>
            <a:r>
              <a:rPr sz="2325" b="1">
                <a:solidFill>
                  <a:srgbClr val="183247"/>
                </a:solidFill>
                <a:latin typeface="Arial"/>
                <a:ea typeface="Arial"/>
                <a:cs typeface="Arial"/>
              </a:rPr>
              <a:t>Lₐ = −12 + 6w</a:t>
            </a:r>
          </a:p>
        </p:txBody>
      </p:sp>
      <p:sp>
        <p:nvSpPr>
          <p:cNvPr id="7" name="L: personen&#10;w: euro per uur">
            <a:extLst xmlns:a="http://schemas.openxmlformats.org/drawingml/2006/main">
              <a:ext uri="{FF2B5EF4-FFF2-40B4-BE49-F238E27FC236}">
                <a16:creationId xmlns:a16="http://schemas.microsoft.com/office/drawing/2014/main" id="{602BA7BD-5DF6-4844-89A8-1ACC14963121}"/>
              </a:ext>
            </a:extLst>
          </p:cNvPr>
          <p:cNvSpPr>
            <a:spLocks xmlns:a="http://schemas.openxmlformats.org/drawingml/2006/main" noGrp="1"/>
          </p:cNvSpPr>
          <p:nvPr/>
        </p:nvSpPr>
        <p:spPr>
          <a:xfrm xmlns:a="http://schemas.openxmlformats.org/drawingml/2006/main">
            <a:off x="10648950" y="4686300"/>
            <a:ext cx="40195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L: personen</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w: euro per uur</a:t>
            </a:r>
          </a:p>
        </p:txBody>
      </p:sp>
      <p:sp>
        <p:nvSpPr>
          <p:cNvPr id="8" name="€ 2 ≤ w ≤ € 24">
            <a:extLst xmlns:a="http://schemas.openxmlformats.org/drawingml/2006/main">
              <a:ext uri="{FF2B5EF4-FFF2-40B4-BE49-F238E27FC236}">
                <a16:creationId xmlns:a16="http://schemas.microsoft.com/office/drawing/2014/main" id="{5169FBEB-F731-4F62-AAE7-0C352398A52A}"/>
              </a:ext>
            </a:extLst>
          </p:cNvPr>
          <p:cNvSpPr>
            <a:spLocks xmlns:a="http://schemas.openxmlformats.org/drawingml/2006/main" noGrp="1"/>
          </p:cNvSpPr>
          <p:nvPr/>
        </p:nvSpPr>
        <p:spPr>
          <a:xfrm xmlns:a="http://schemas.openxmlformats.org/drawingml/2006/main">
            <a:off x="10648950" y="6505575"/>
            <a:ext cx="4019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€ 2 ≤ w ≤ € 24</a:t>
            </a:r>
          </a:p>
        </p:txBody>
      </p:sp>
    </p:spTree>
    <p:extLst>
      <p:ext uri="{BB962C8B-B14F-4D97-AF65-F5344CB8AC3E}">
        <p14:creationId xmlns:p14="http://schemas.microsoft.com/office/powerpoint/2010/main" val="5584486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25a · Het werkloosheidspercentage">
            <a:extLst xmlns:a="http://schemas.openxmlformats.org/drawingml/2006/main">
              <a:ext uri="{FF2B5EF4-FFF2-40B4-BE49-F238E27FC236}">
                <a16:creationId xmlns:a16="http://schemas.microsoft.com/office/drawing/2014/main" id="{9C61C7A9-4A92-4571-9EBD-99D48A1B3871}"/>
              </a:ext>
            </a:extLst>
          </p:cNvPr>
          <p:cNvSpPr>
            <a:spLocks xmlns:a="http://schemas.openxmlformats.org/drawingml/2006/main" noGrp="1"/>
          </p:cNvSpPr>
          <p:nvPr/>
        </p:nvSpPr>
        <p:spPr>
          <a:xfrm xmlns:a="http://schemas.openxmlformats.org/drawingml/2006/main">
            <a:off x="571500" y="38100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25a · Het werkloosheidspercentage</a:t>
            </a:r>
          </a:p>
        </p:txBody>
      </p:sp>
      <p:sp>
        <p:nvSpPr>
          <p:cNvPr id="2" name="">
            <a:extLst xmlns:a="http://schemas.openxmlformats.org/drawingml/2006/main">
              <a:ext uri="{FF2B5EF4-FFF2-40B4-BE49-F238E27FC236}">
                <a16:creationId xmlns:a16="http://schemas.microsoft.com/office/drawing/2014/main" id="{916EF031-3532-448B-A39E-0D4BEB1A2F3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3 Werkloosheid en veranderingen op de arbeidsmarkt">
            <a:extLst xmlns:a="http://schemas.openxmlformats.org/drawingml/2006/main">
              <a:ext uri="{FF2B5EF4-FFF2-40B4-BE49-F238E27FC236}">
                <a16:creationId xmlns:a16="http://schemas.microsoft.com/office/drawing/2014/main" id="{78743EEC-0F2E-4E62-A4E3-74ACF3BC8C9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§4.3.3 Werkloosheid en veranderingen op de arbeidsmarkt</a:t>
            </a:r>
          </a:p>
        </p:txBody>
      </p:sp>
      <p:sp>
        <p:nvSpPr>
          <p:cNvPr id="4" name="21">
            <a:extLst xmlns:a="http://schemas.openxmlformats.org/drawingml/2006/main">
              <a:ext uri="{FF2B5EF4-FFF2-40B4-BE49-F238E27FC236}">
                <a16:creationId xmlns:a16="http://schemas.microsoft.com/office/drawing/2014/main" id="{7B6E0604-86B0-41A5-B407-823DCD389CF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sp>
        <p:nvSpPr>
          <p:cNvPr id="5" name="Beroepsbevolking = werkenden + werklozen">
            <a:extLst xmlns:a="http://schemas.openxmlformats.org/drawingml/2006/main">
              <a:ext uri="{FF2B5EF4-FFF2-40B4-BE49-F238E27FC236}">
                <a16:creationId xmlns:a16="http://schemas.microsoft.com/office/drawing/2014/main" id="{7789DF92-3D80-4561-9C88-50842B42FCE1}"/>
              </a:ext>
            </a:extLst>
          </p:cNvPr>
          <p:cNvSpPr>
            <a:spLocks xmlns:a="http://schemas.openxmlformats.org/drawingml/2006/main" noGrp="1"/>
          </p:cNvSpPr>
          <p:nvPr/>
        </p:nvSpPr>
        <p:spPr>
          <a:xfrm xmlns:a="http://schemas.openxmlformats.org/drawingml/2006/main">
            <a:off x="571500" y="2133600"/>
            <a:ext cx="1409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Beroepsbevolking = werkenden + werklozen</a:t>
            </a:r>
          </a:p>
        </p:txBody>
      </p:sp>
      <p:sp>
        <p:nvSpPr>
          <p:cNvPr id="6" name="= 2.700 + 300 = 3.000 personen">
            <a:extLst xmlns:a="http://schemas.openxmlformats.org/drawingml/2006/main">
              <a:ext uri="{FF2B5EF4-FFF2-40B4-BE49-F238E27FC236}">
                <a16:creationId xmlns:a16="http://schemas.microsoft.com/office/drawing/2014/main" id="{651A1D29-F15F-4DAD-AD68-C0FDE810FAFE}"/>
              </a:ext>
            </a:extLst>
          </p:cNvPr>
          <p:cNvSpPr>
            <a:spLocks xmlns:a="http://schemas.openxmlformats.org/drawingml/2006/main" noGrp="1"/>
          </p:cNvSpPr>
          <p:nvPr/>
        </p:nvSpPr>
        <p:spPr>
          <a:xfrm xmlns:a="http://schemas.openxmlformats.org/drawingml/2006/main">
            <a:off x="571500" y="3457575"/>
            <a:ext cx="1409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 2.700 + 300 = 3.000 personen</a:t>
            </a:r>
          </a:p>
        </p:txBody>
      </p:sp>
      <p:sp>
        <p:nvSpPr>
          <p:cNvPr id="7" name="Werkloosheidspercentage = 300 / 3.000 × 100%">
            <a:extLst xmlns:a="http://schemas.openxmlformats.org/drawingml/2006/main">
              <a:ext uri="{FF2B5EF4-FFF2-40B4-BE49-F238E27FC236}">
                <a16:creationId xmlns:a16="http://schemas.microsoft.com/office/drawing/2014/main" id="{F0B41809-9F7F-4412-87CA-4DDB129889E0}"/>
              </a:ext>
            </a:extLst>
          </p:cNvPr>
          <p:cNvSpPr>
            <a:spLocks xmlns:a="http://schemas.openxmlformats.org/drawingml/2006/main" noGrp="1"/>
          </p:cNvSpPr>
          <p:nvPr/>
        </p:nvSpPr>
        <p:spPr>
          <a:xfrm xmlns:a="http://schemas.openxmlformats.org/drawingml/2006/main">
            <a:off x="571500" y="4781550"/>
            <a:ext cx="1409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Werkloosheidspercentage = 300 / 3.000 × 100%</a:t>
            </a:r>
          </a:p>
        </p:txBody>
      </p:sp>
      <p:sp>
        <p:nvSpPr>
          <p:cNvPr id="8" name="= 10%">
            <a:extLst xmlns:a="http://schemas.openxmlformats.org/drawingml/2006/main">
              <a:ext uri="{FF2B5EF4-FFF2-40B4-BE49-F238E27FC236}">
                <a16:creationId xmlns:a16="http://schemas.microsoft.com/office/drawing/2014/main" id="{9EACEDF5-A643-4B8E-9D54-64CEB3C1D232}"/>
              </a:ext>
            </a:extLst>
          </p:cNvPr>
          <p:cNvSpPr>
            <a:spLocks xmlns:a="http://schemas.openxmlformats.org/drawingml/2006/main" noGrp="1"/>
          </p:cNvSpPr>
          <p:nvPr/>
        </p:nvSpPr>
        <p:spPr>
          <a:xfrm xmlns:a="http://schemas.openxmlformats.org/drawingml/2006/main">
            <a:off x="571500" y="6105525"/>
            <a:ext cx="1409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658A"/>
                </a:solidFill>
                <a:latin typeface="Arial"/>
                <a:ea typeface="Arial"/>
                <a:cs typeface="Arial"/>
              </a:defRPr>
            </a:pPr>
            <a:r>
              <a:rPr sz="3300" b="1">
                <a:solidFill>
                  <a:srgbClr val="17658A"/>
                </a:solidFill>
                <a:latin typeface="Arial"/>
                <a:ea typeface="Arial"/>
                <a:cs typeface="Arial"/>
              </a:rPr>
              <a:t>= 10%</a:t>
            </a:r>
          </a:p>
        </p:txBody>
      </p:sp>
    </p:spTree>
    <p:extLst>
      <p:ext uri="{BB962C8B-B14F-4D97-AF65-F5344CB8AC3E}">
        <p14:creationId xmlns:p14="http://schemas.microsoft.com/office/powerpoint/2010/main" val="158113482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25a · Waarom aanbod min vraag niet werkt">
            <a:extLst xmlns:a="http://schemas.openxmlformats.org/drawingml/2006/main">
              <a:ext uri="{FF2B5EF4-FFF2-40B4-BE49-F238E27FC236}">
                <a16:creationId xmlns:a16="http://schemas.microsoft.com/office/drawing/2014/main" id="{83D4BE83-F2A9-42E8-B875-E655B1999233}"/>
              </a:ext>
            </a:extLst>
          </p:cNvPr>
          <p:cNvSpPr>
            <a:spLocks xmlns:a="http://schemas.openxmlformats.org/drawingml/2006/main" noGrp="1"/>
          </p:cNvSpPr>
          <p:nvPr/>
        </p:nvSpPr>
        <p:spPr>
          <a:xfrm xmlns:a="http://schemas.openxmlformats.org/drawingml/2006/main">
            <a:off x="571500" y="38100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25a · Waarom aanbod min vraag niet werkt</a:t>
            </a:r>
          </a:p>
        </p:txBody>
      </p:sp>
      <p:sp>
        <p:nvSpPr>
          <p:cNvPr id="2" name="">
            <a:extLst xmlns:a="http://schemas.openxmlformats.org/drawingml/2006/main">
              <a:ext uri="{FF2B5EF4-FFF2-40B4-BE49-F238E27FC236}">
                <a16:creationId xmlns:a16="http://schemas.microsoft.com/office/drawing/2014/main" id="{DF5A4DFA-EBA4-40FA-9B73-544697D4082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3 Werkloosheid en veranderingen op de arbeidsmarkt">
            <a:extLst xmlns:a="http://schemas.openxmlformats.org/drawingml/2006/main">
              <a:ext uri="{FF2B5EF4-FFF2-40B4-BE49-F238E27FC236}">
                <a16:creationId xmlns:a16="http://schemas.microsoft.com/office/drawing/2014/main" id="{A775F157-FB07-4CC5-ADAA-597BEF65F66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§4.3.3 Werkloosheid en veranderingen op de arbeidsmarkt</a:t>
            </a:r>
          </a:p>
        </p:txBody>
      </p:sp>
      <p:sp>
        <p:nvSpPr>
          <p:cNvPr id="4" name="22">
            <a:extLst xmlns:a="http://schemas.openxmlformats.org/drawingml/2006/main">
              <a:ext uri="{FF2B5EF4-FFF2-40B4-BE49-F238E27FC236}">
                <a16:creationId xmlns:a16="http://schemas.microsoft.com/office/drawing/2014/main" id="{8D495572-62CC-4564-81CC-4AE59081B92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sp>
        <p:nvSpPr>
          <p:cNvPr id="5" name="Arbeidsvraag = 2.700 + 120 = 2.820 plaatsen">
            <a:extLst xmlns:a="http://schemas.openxmlformats.org/drawingml/2006/main">
              <a:ext uri="{FF2B5EF4-FFF2-40B4-BE49-F238E27FC236}">
                <a16:creationId xmlns:a16="http://schemas.microsoft.com/office/drawing/2014/main" id="{9A3D11B9-DB10-4D11-BF31-45AC302D3CA4}"/>
              </a:ext>
            </a:extLst>
          </p:cNvPr>
          <p:cNvSpPr>
            <a:spLocks xmlns:a="http://schemas.openxmlformats.org/drawingml/2006/main" noGrp="1"/>
          </p:cNvSpPr>
          <p:nvPr/>
        </p:nvSpPr>
        <p:spPr>
          <a:xfrm xmlns:a="http://schemas.openxmlformats.org/drawingml/2006/main">
            <a:off x="571500" y="2066925"/>
            <a:ext cx="140970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Arbeidsvraag = 2.700 + 120 = 2.820 plaatsen</a:t>
            </a:r>
          </a:p>
        </p:txBody>
      </p:sp>
      <p:sp>
        <p:nvSpPr>
          <p:cNvPr id="6" name="Arbeidsaanbod − arbeidsvraag = 3.000 − 2.820 = 180">
            <a:extLst xmlns:a="http://schemas.openxmlformats.org/drawingml/2006/main">
              <a:ext uri="{FF2B5EF4-FFF2-40B4-BE49-F238E27FC236}">
                <a16:creationId xmlns:a16="http://schemas.microsoft.com/office/drawing/2014/main" id="{56AA217F-7CA4-4EDE-B244-60D0360D6580}"/>
              </a:ext>
            </a:extLst>
          </p:cNvPr>
          <p:cNvSpPr>
            <a:spLocks xmlns:a="http://schemas.openxmlformats.org/drawingml/2006/main" noGrp="1"/>
          </p:cNvSpPr>
          <p:nvPr/>
        </p:nvSpPr>
        <p:spPr>
          <a:xfrm xmlns:a="http://schemas.openxmlformats.org/drawingml/2006/main">
            <a:off x="571500" y="3419475"/>
            <a:ext cx="140970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Arbeidsaanbod − arbeidsvraag = 3.000 − 2.820 = 180</a:t>
            </a:r>
          </a:p>
        </p:txBody>
      </p:sp>
      <p:sp>
        <p:nvSpPr>
          <p:cNvPr id="7" name="180 = 300 werklozen − 120 vacatures">
            <a:extLst xmlns:a="http://schemas.openxmlformats.org/drawingml/2006/main">
              <a:ext uri="{FF2B5EF4-FFF2-40B4-BE49-F238E27FC236}">
                <a16:creationId xmlns:a16="http://schemas.microsoft.com/office/drawing/2014/main" id="{D7B864E5-4997-4C10-B5A2-CD743F9ADB54}"/>
              </a:ext>
            </a:extLst>
          </p:cNvPr>
          <p:cNvSpPr>
            <a:spLocks xmlns:a="http://schemas.openxmlformats.org/drawingml/2006/main" noGrp="1"/>
          </p:cNvSpPr>
          <p:nvPr/>
        </p:nvSpPr>
        <p:spPr>
          <a:xfrm xmlns:a="http://schemas.openxmlformats.org/drawingml/2006/main">
            <a:off x="571500" y="4772025"/>
            <a:ext cx="140970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180 = 300 werklozen − 120 vacatures</a:t>
            </a:r>
          </a:p>
        </p:txBody>
      </p:sp>
      <p:sp>
        <p:nvSpPr>
          <p:cNvPr id="8" name="Er zijn nog steeds 300 werklozen. De vacatures zijn nie">
            <a:extLst xmlns:a="http://schemas.openxmlformats.org/drawingml/2006/main">
              <a:ext uri="{FF2B5EF4-FFF2-40B4-BE49-F238E27FC236}">
                <a16:creationId xmlns:a16="http://schemas.microsoft.com/office/drawing/2014/main" id="{D46ED230-4A0D-4B01-8079-27EDC1953DBE}"/>
              </a:ext>
            </a:extLst>
          </p:cNvPr>
          <p:cNvSpPr>
            <a:spLocks xmlns:a="http://schemas.openxmlformats.org/drawingml/2006/main" noGrp="1"/>
          </p:cNvSpPr>
          <p:nvPr/>
        </p:nvSpPr>
        <p:spPr>
          <a:xfrm xmlns:a="http://schemas.openxmlformats.org/drawingml/2006/main">
            <a:off x="571500" y="6753225"/>
            <a:ext cx="14097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A94D16"/>
                </a:solidFill>
                <a:latin typeface="Arial"/>
                <a:ea typeface="Arial"/>
                <a:cs typeface="Arial"/>
              </a:defRPr>
            </a:pPr>
            <a:r>
              <a:rPr sz="3075" b="1">
                <a:solidFill>
                  <a:srgbClr val="A94D16"/>
                </a:solidFill>
                <a:latin typeface="Arial"/>
                <a:ea typeface="Arial"/>
                <a:cs typeface="Arial"/>
              </a:rPr>
              <a:t>Er zijn nog steeds 300 werklozen. De vacatures zijn niet vervuld.</a:t>
            </a:r>
          </a:p>
        </p:txBody>
      </p:sp>
    </p:spTree>
    <p:extLst>
      <p:ext uri="{BB962C8B-B14F-4D97-AF65-F5344CB8AC3E}">
        <p14:creationId xmlns:p14="http://schemas.microsoft.com/office/powerpoint/2010/main" val="154414054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25b · Oorzaak en nieuw evenwicht">
            <a:extLst xmlns:a="http://schemas.openxmlformats.org/drawingml/2006/main">
              <a:ext uri="{FF2B5EF4-FFF2-40B4-BE49-F238E27FC236}">
                <a16:creationId xmlns:a16="http://schemas.microsoft.com/office/drawing/2014/main" id="{1DDEDC76-EB25-400D-B857-37F7C8647A93}"/>
              </a:ext>
            </a:extLst>
          </p:cNvPr>
          <p:cNvSpPr>
            <a:spLocks xmlns:a="http://schemas.openxmlformats.org/drawingml/2006/main" noGrp="1"/>
          </p:cNvSpPr>
          <p:nvPr/>
        </p:nvSpPr>
        <p:spPr>
          <a:xfrm xmlns:a="http://schemas.openxmlformats.org/drawingml/2006/main">
            <a:off x="571500" y="38100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25b · Oorzaak en nieuw evenwicht</a:t>
            </a:r>
          </a:p>
        </p:txBody>
      </p:sp>
      <p:sp>
        <p:nvSpPr>
          <p:cNvPr id="2" name="">
            <a:extLst xmlns:a="http://schemas.openxmlformats.org/drawingml/2006/main">
              <a:ext uri="{FF2B5EF4-FFF2-40B4-BE49-F238E27FC236}">
                <a16:creationId xmlns:a16="http://schemas.microsoft.com/office/drawing/2014/main" id="{A031B12D-1913-4D5D-B34F-33991E6DF66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3 Werkloosheid en veranderingen op de arbeidsmarkt">
            <a:extLst xmlns:a="http://schemas.openxmlformats.org/drawingml/2006/main">
              <a:ext uri="{FF2B5EF4-FFF2-40B4-BE49-F238E27FC236}">
                <a16:creationId xmlns:a16="http://schemas.microsoft.com/office/drawing/2014/main" id="{FEDCE39B-EAEA-4389-BC2C-5410F7F6DB7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§4.3.3 Werkloosheid en veranderingen op de arbeidsmarkt</a:t>
            </a:r>
          </a:p>
        </p:txBody>
      </p:sp>
      <p:sp>
        <p:nvSpPr>
          <p:cNvPr id="4" name="23">
            <a:extLst xmlns:a="http://schemas.openxmlformats.org/drawingml/2006/main">
              <a:ext uri="{FF2B5EF4-FFF2-40B4-BE49-F238E27FC236}">
                <a16:creationId xmlns:a16="http://schemas.microsoft.com/office/drawing/2014/main" id="{B2177F99-883B-4A34-96F2-2196C8999C2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sp>
        <p:nvSpPr>
          <p:cNvPr id="5" name="Conjunctureel: minder bestedingen, minder opdrachten,&#10;m">
            <a:extLst xmlns:a="http://schemas.openxmlformats.org/drawingml/2006/main">
              <a:ext uri="{FF2B5EF4-FFF2-40B4-BE49-F238E27FC236}">
                <a16:creationId xmlns:a16="http://schemas.microsoft.com/office/drawing/2014/main" id="{B78278BD-D8C8-4F76-9F71-00C4C587947B}"/>
              </a:ext>
            </a:extLst>
          </p:cNvPr>
          <p:cNvSpPr>
            <a:spLocks xmlns:a="http://schemas.openxmlformats.org/drawingml/2006/main" noGrp="1"/>
          </p:cNvSpPr>
          <p:nvPr/>
        </p:nvSpPr>
        <p:spPr>
          <a:xfrm xmlns:a="http://schemas.openxmlformats.org/drawingml/2006/main">
            <a:off x="571500" y="1819275"/>
            <a:ext cx="14097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Conjunctureel: minder bestedingen, minder opdrachten,</a:t>
            </a:r>
          </a:p>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minder arbeidsvraag.</a:t>
            </a:r>
          </a:p>
        </p:txBody>
      </p:sp>
      <p:sp>
        <p:nvSpPr>
          <p:cNvPr id="6" name="144 − 6w = −12 + 6w">
            <a:extLst xmlns:a="http://schemas.openxmlformats.org/drawingml/2006/main">
              <a:ext uri="{FF2B5EF4-FFF2-40B4-BE49-F238E27FC236}">
                <a16:creationId xmlns:a16="http://schemas.microsoft.com/office/drawing/2014/main" id="{D6FCECCB-E4CD-4594-9AD5-E991D8C20320}"/>
              </a:ext>
            </a:extLst>
          </p:cNvPr>
          <p:cNvSpPr>
            <a:spLocks xmlns:a="http://schemas.openxmlformats.org/drawingml/2006/main" noGrp="1"/>
          </p:cNvSpPr>
          <p:nvPr/>
        </p:nvSpPr>
        <p:spPr>
          <a:xfrm xmlns:a="http://schemas.openxmlformats.org/drawingml/2006/main">
            <a:off x="571500" y="3295650"/>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144 − 6w = −12 + 6w</a:t>
            </a:r>
          </a:p>
        </p:txBody>
      </p:sp>
      <p:sp>
        <p:nvSpPr>
          <p:cNvPr id="7" name="156 = 12w, dus w = € 13 per uur">
            <a:extLst xmlns:a="http://schemas.openxmlformats.org/drawingml/2006/main">
              <a:ext uri="{FF2B5EF4-FFF2-40B4-BE49-F238E27FC236}">
                <a16:creationId xmlns:a16="http://schemas.microsoft.com/office/drawing/2014/main" id="{E6729029-D5EE-4B72-8D1C-BA2D621BA73B}"/>
              </a:ext>
            </a:extLst>
          </p:cNvPr>
          <p:cNvSpPr>
            <a:spLocks xmlns:a="http://schemas.openxmlformats.org/drawingml/2006/main" noGrp="1"/>
          </p:cNvSpPr>
          <p:nvPr/>
        </p:nvSpPr>
        <p:spPr>
          <a:xfrm xmlns:a="http://schemas.openxmlformats.org/drawingml/2006/main">
            <a:off x="571500" y="4352925"/>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156 = 12w, dus w = € 13 per uur</a:t>
            </a:r>
          </a:p>
        </p:txBody>
      </p:sp>
      <p:sp>
        <p:nvSpPr>
          <p:cNvPr id="8" name="Lᵥ = 144 − 6 × 13 = 66 personen">
            <a:extLst xmlns:a="http://schemas.openxmlformats.org/drawingml/2006/main">
              <a:ext uri="{FF2B5EF4-FFF2-40B4-BE49-F238E27FC236}">
                <a16:creationId xmlns:a16="http://schemas.microsoft.com/office/drawing/2014/main" id="{218D9BB0-913D-4A58-B03B-4944962EEF2E}"/>
              </a:ext>
            </a:extLst>
          </p:cNvPr>
          <p:cNvSpPr>
            <a:spLocks xmlns:a="http://schemas.openxmlformats.org/drawingml/2006/main" noGrp="1"/>
          </p:cNvSpPr>
          <p:nvPr/>
        </p:nvSpPr>
        <p:spPr>
          <a:xfrm xmlns:a="http://schemas.openxmlformats.org/drawingml/2006/main">
            <a:off x="571500" y="5410200"/>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Lᵥ = 144 − 6 × 13 = 66 personen</a:t>
            </a:r>
          </a:p>
        </p:txBody>
      </p:sp>
      <p:sp>
        <p:nvSpPr>
          <p:cNvPr id="9" name="Controle: Lₐ = −12 + 6 × 13 = 66 personen">
            <a:extLst xmlns:a="http://schemas.openxmlformats.org/drawingml/2006/main">
              <a:ext uri="{FF2B5EF4-FFF2-40B4-BE49-F238E27FC236}">
                <a16:creationId xmlns:a16="http://schemas.microsoft.com/office/drawing/2014/main" id="{A6EE9772-2C6E-4693-B388-2F7A174ACC3D}"/>
              </a:ext>
            </a:extLst>
          </p:cNvPr>
          <p:cNvSpPr>
            <a:spLocks xmlns:a="http://schemas.openxmlformats.org/drawingml/2006/main" noGrp="1"/>
          </p:cNvSpPr>
          <p:nvPr/>
        </p:nvSpPr>
        <p:spPr>
          <a:xfrm xmlns:a="http://schemas.openxmlformats.org/drawingml/2006/main">
            <a:off x="571500" y="6467475"/>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Controle: Lₐ = −12 + 6 × 13 = 66 personen</a:t>
            </a:r>
          </a:p>
        </p:txBody>
      </p:sp>
    </p:spTree>
    <p:extLst>
      <p:ext uri="{BB962C8B-B14F-4D97-AF65-F5344CB8AC3E}">
        <p14:creationId xmlns:p14="http://schemas.microsoft.com/office/powerpoint/2010/main" val="162457235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25c · Het oude en nieuwe evenwicht">
            <a:extLst xmlns:a="http://schemas.openxmlformats.org/drawingml/2006/main">
              <a:ext uri="{FF2B5EF4-FFF2-40B4-BE49-F238E27FC236}">
                <a16:creationId xmlns:a16="http://schemas.microsoft.com/office/drawing/2014/main" id="{22A1EDA1-37C1-4B25-9D6B-2768D647931F}"/>
              </a:ext>
            </a:extLst>
          </p:cNvPr>
          <p:cNvSpPr>
            <a:spLocks xmlns:a="http://schemas.openxmlformats.org/drawingml/2006/main" noGrp="1"/>
          </p:cNvSpPr>
          <p:nvPr/>
        </p:nvSpPr>
        <p:spPr>
          <a:xfrm xmlns:a="http://schemas.openxmlformats.org/drawingml/2006/main">
            <a:off x="571500" y="38100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25c · Het oude en nieuwe evenwicht</a:t>
            </a:r>
          </a:p>
        </p:txBody>
      </p:sp>
      <p:sp>
        <p:nvSpPr>
          <p:cNvPr id="2" name="">
            <a:extLst xmlns:a="http://schemas.openxmlformats.org/drawingml/2006/main">
              <a:ext uri="{FF2B5EF4-FFF2-40B4-BE49-F238E27FC236}">
                <a16:creationId xmlns:a16="http://schemas.microsoft.com/office/drawing/2014/main" id="{1F645716-E689-40D3-842F-E35D752A175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3 Werkloosheid en veranderingen op de arbeidsmarkt">
            <a:extLst xmlns:a="http://schemas.openxmlformats.org/drawingml/2006/main">
              <a:ext uri="{FF2B5EF4-FFF2-40B4-BE49-F238E27FC236}">
                <a16:creationId xmlns:a16="http://schemas.microsoft.com/office/drawing/2014/main" id="{7589A8B9-448E-4B03-A469-BAE43AB24D0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§4.3.3 Werkloosheid en veranderingen op de arbeidsmarkt</a:t>
            </a:r>
          </a:p>
        </p:txBody>
      </p:sp>
      <p:sp>
        <p:nvSpPr>
          <p:cNvPr id="4" name="24">
            <a:extLst xmlns:a="http://schemas.openxmlformats.org/drawingml/2006/main">
              <a:ext uri="{FF2B5EF4-FFF2-40B4-BE49-F238E27FC236}">
                <a16:creationId xmlns:a16="http://schemas.microsoft.com/office/drawing/2014/main" id="{871F686A-41D0-43E4-8687-4FC214415AC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graphicFrame>
        <p:nvGraphicFramePr>
          <p:cNvPr id="13" name="Chart"/>
          <p:cNvGraphicFramePr/>
          <p:nvPr/>
        </p:nvGraphicFramePr>
        <p:xfrm>
          <a:off xmlns:a="http://schemas.openxmlformats.org/drawingml/2006/main" x="428625" y="1981200"/>
          <a:ext xmlns:a="http://schemas.openxmlformats.org/drawingml/2006/main" cx="10001250" cy="5676900"/>
        </p:xfrm>
        <a:graphic xmlns:a="http://schemas.openxmlformats.org/drawingml/2006/main">
          <a:graphicData uri="http://schemas.openxmlformats.org/drawingml/2006/chart">
            <c:chart xmlns:r="http://schemas.openxmlformats.org/officeDocument/2006/relationships" xmlns:c="http://schemas.openxmlformats.org/drawingml/2006/chart" r:id="R8351051967394817"/>
          </a:graphicData>
        </a:graphic>
      </p:graphicFrame>
      <p:sp>
        <p:nvSpPr>
          <p:cNvPr id="6" name="E₀ = (84; 16)&#10;E₁ = (66; 13)">
            <a:extLst xmlns:a="http://schemas.openxmlformats.org/drawingml/2006/main">
              <a:ext uri="{FF2B5EF4-FFF2-40B4-BE49-F238E27FC236}">
                <a16:creationId xmlns:a16="http://schemas.microsoft.com/office/drawing/2014/main" id="{C806A7B0-1825-443A-BB5F-413C7A106B8D}"/>
              </a:ext>
            </a:extLst>
          </p:cNvPr>
          <p:cNvSpPr>
            <a:spLocks xmlns:a="http://schemas.openxmlformats.org/drawingml/2006/main" noGrp="1"/>
          </p:cNvSpPr>
          <p:nvPr/>
        </p:nvSpPr>
        <p:spPr>
          <a:xfrm xmlns:a="http://schemas.openxmlformats.org/drawingml/2006/main">
            <a:off x="10648950" y="2333625"/>
            <a:ext cx="40195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E₀ = (84; 16)</a:t>
            </a:r>
          </a:p>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E₁ = (66; 13)</a:t>
            </a:r>
          </a:p>
        </p:txBody>
      </p:sp>
      <p:sp>
        <p:nvSpPr>
          <p:cNvPr id="7" name="Eerst L horizontaal,&#10;dan w verticaal.">
            <a:extLst xmlns:a="http://schemas.openxmlformats.org/drawingml/2006/main">
              <a:ext uri="{FF2B5EF4-FFF2-40B4-BE49-F238E27FC236}">
                <a16:creationId xmlns:a16="http://schemas.microsoft.com/office/drawing/2014/main" id="{389C7271-DB8A-41DF-99E1-451069CF321E}"/>
              </a:ext>
            </a:extLst>
          </p:cNvPr>
          <p:cNvSpPr>
            <a:spLocks xmlns:a="http://schemas.openxmlformats.org/drawingml/2006/main" noGrp="1"/>
          </p:cNvSpPr>
          <p:nvPr/>
        </p:nvSpPr>
        <p:spPr>
          <a:xfrm xmlns:a="http://schemas.openxmlformats.org/drawingml/2006/main">
            <a:off x="10648950" y="4438650"/>
            <a:ext cx="40195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Eerst L horizontaal,</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dan w verticaal.</a:t>
            </a:r>
          </a:p>
        </p:txBody>
      </p:sp>
      <p:sp>
        <p:nvSpPr>
          <p:cNvPr id="8" name="Lagere werkgelegenheid&#10;en een lager uurloon">
            <a:extLst xmlns:a="http://schemas.openxmlformats.org/drawingml/2006/main">
              <a:ext uri="{FF2B5EF4-FFF2-40B4-BE49-F238E27FC236}">
                <a16:creationId xmlns:a16="http://schemas.microsoft.com/office/drawing/2014/main" id="{58D54ECE-D53C-473E-B2CA-1C9EF6BBC09D}"/>
              </a:ext>
            </a:extLst>
          </p:cNvPr>
          <p:cNvSpPr>
            <a:spLocks xmlns:a="http://schemas.openxmlformats.org/drawingml/2006/main" noGrp="1"/>
          </p:cNvSpPr>
          <p:nvPr/>
        </p:nvSpPr>
        <p:spPr>
          <a:xfrm xmlns:a="http://schemas.openxmlformats.org/drawingml/2006/main">
            <a:off x="10648950" y="6429375"/>
            <a:ext cx="40195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A94D16"/>
                </a:solidFill>
                <a:latin typeface="Arial"/>
                <a:ea typeface="Arial"/>
                <a:cs typeface="Arial"/>
              </a:defRPr>
            </a:pPr>
            <a:r>
              <a:rPr sz="2475" b="1">
                <a:solidFill>
                  <a:srgbClr val="A94D16"/>
                </a:solidFill>
                <a:latin typeface="Arial"/>
                <a:ea typeface="Arial"/>
                <a:cs typeface="Arial"/>
              </a:rPr>
              <a:t>Lagere werkgelegenheid</a:t>
            </a:r>
          </a:p>
          <a:p xmlns:a="http://schemas.openxmlformats.org/drawingml/2006/main">
            <a:pPr algn="l">
              <a:defRPr sz="2475" b="1">
                <a:solidFill>
                  <a:srgbClr val="A94D16"/>
                </a:solidFill>
                <a:latin typeface="Arial"/>
                <a:ea typeface="Arial"/>
                <a:cs typeface="Arial"/>
              </a:defRPr>
            </a:pPr>
            <a:r>
              <a:rPr sz="2475" b="1">
                <a:solidFill>
                  <a:srgbClr val="A94D16"/>
                </a:solidFill>
                <a:latin typeface="Arial"/>
                <a:ea typeface="Arial"/>
                <a:cs typeface="Arial"/>
              </a:rPr>
              <a:t>en een lager uurloon</a:t>
            </a:r>
          </a:p>
        </p:txBody>
      </p:sp>
    </p:spTree>
    <p:extLst>
      <p:ext uri="{BB962C8B-B14F-4D97-AF65-F5344CB8AC3E}">
        <p14:creationId xmlns:p14="http://schemas.microsoft.com/office/powerpoint/2010/main" val="161299935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25c · Het loon blijft € 16">
            <a:extLst xmlns:a="http://schemas.openxmlformats.org/drawingml/2006/main">
              <a:ext uri="{FF2B5EF4-FFF2-40B4-BE49-F238E27FC236}">
                <a16:creationId xmlns:a16="http://schemas.microsoft.com/office/drawing/2014/main" id="{D6866A0E-421D-4FFA-9DE5-D480CB3CB680}"/>
              </a:ext>
            </a:extLst>
          </p:cNvPr>
          <p:cNvSpPr>
            <a:spLocks xmlns:a="http://schemas.openxmlformats.org/drawingml/2006/main" noGrp="1"/>
          </p:cNvSpPr>
          <p:nvPr/>
        </p:nvSpPr>
        <p:spPr>
          <a:xfrm xmlns:a="http://schemas.openxmlformats.org/drawingml/2006/main">
            <a:off x="571500" y="38100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25c · Het loon blijft € 16</a:t>
            </a:r>
          </a:p>
        </p:txBody>
      </p:sp>
      <p:sp>
        <p:nvSpPr>
          <p:cNvPr id="2" name="">
            <a:extLst xmlns:a="http://schemas.openxmlformats.org/drawingml/2006/main">
              <a:ext uri="{FF2B5EF4-FFF2-40B4-BE49-F238E27FC236}">
                <a16:creationId xmlns:a16="http://schemas.microsoft.com/office/drawing/2014/main" id="{89B5F1AD-C0C8-425D-9563-9B77A52FA9E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3 Werkloosheid en veranderingen op de arbeidsmarkt">
            <a:extLst xmlns:a="http://schemas.openxmlformats.org/drawingml/2006/main">
              <a:ext uri="{FF2B5EF4-FFF2-40B4-BE49-F238E27FC236}">
                <a16:creationId xmlns:a16="http://schemas.microsoft.com/office/drawing/2014/main" id="{CEAD25EA-36DF-48A9-947E-80AFCDF23B5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§4.3.3 Werkloosheid en veranderingen op de arbeidsmarkt</a:t>
            </a:r>
          </a:p>
        </p:txBody>
      </p:sp>
      <p:sp>
        <p:nvSpPr>
          <p:cNvPr id="4" name="25">
            <a:extLst xmlns:a="http://schemas.openxmlformats.org/drawingml/2006/main">
              <a:ext uri="{FF2B5EF4-FFF2-40B4-BE49-F238E27FC236}">
                <a16:creationId xmlns:a16="http://schemas.microsoft.com/office/drawing/2014/main" id="{5342B7FB-43A6-412E-B13B-627C40841B9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25</a:t>
            </a:r>
          </a:p>
        </p:txBody>
      </p:sp>
      <p:sp>
        <p:nvSpPr>
          <p:cNvPr id="5" name="Nieuwe vraag: Lᵥ = 144 − 6 × 16 = 48 personen">
            <a:extLst xmlns:a="http://schemas.openxmlformats.org/drawingml/2006/main">
              <a:ext uri="{FF2B5EF4-FFF2-40B4-BE49-F238E27FC236}">
                <a16:creationId xmlns:a16="http://schemas.microsoft.com/office/drawing/2014/main" id="{1247EFBF-667C-433F-8EC0-ACF64F333C81}"/>
              </a:ext>
            </a:extLst>
          </p:cNvPr>
          <p:cNvSpPr>
            <a:spLocks xmlns:a="http://schemas.openxmlformats.org/drawingml/2006/main" noGrp="1"/>
          </p:cNvSpPr>
          <p:nvPr/>
        </p:nvSpPr>
        <p:spPr>
          <a:xfrm xmlns:a="http://schemas.openxmlformats.org/drawingml/2006/main">
            <a:off x="571500" y="2276475"/>
            <a:ext cx="140970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Nieuwe vraag: Lᵥ = 144 − 6 × 16 = 48 personen</a:t>
            </a:r>
          </a:p>
        </p:txBody>
      </p:sp>
      <p:sp>
        <p:nvSpPr>
          <p:cNvPr id="6" name="Aanbod: Lₐ = −12 + 6 × 16 = 84 personen">
            <a:extLst xmlns:a="http://schemas.openxmlformats.org/drawingml/2006/main">
              <a:ext uri="{FF2B5EF4-FFF2-40B4-BE49-F238E27FC236}">
                <a16:creationId xmlns:a16="http://schemas.microsoft.com/office/drawing/2014/main" id="{36A608E0-2661-42ED-A749-E39296054C13}"/>
              </a:ext>
            </a:extLst>
          </p:cNvPr>
          <p:cNvSpPr>
            <a:spLocks xmlns:a="http://schemas.openxmlformats.org/drawingml/2006/main" noGrp="1"/>
          </p:cNvSpPr>
          <p:nvPr/>
        </p:nvSpPr>
        <p:spPr>
          <a:xfrm xmlns:a="http://schemas.openxmlformats.org/drawingml/2006/main">
            <a:off x="571500" y="3771900"/>
            <a:ext cx="140970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Aanbod: Lₐ = −12 + 6 × 16 = 84 personen</a:t>
            </a:r>
          </a:p>
        </p:txBody>
      </p:sp>
      <p:sp>
        <p:nvSpPr>
          <p:cNvPr id="7" name="Aanbodoverschot = 84 − 48 = 36 personen">
            <a:extLst xmlns:a="http://schemas.openxmlformats.org/drawingml/2006/main">
              <a:ext uri="{FF2B5EF4-FFF2-40B4-BE49-F238E27FC236}">
                <a16:creationId xmlns:a16="http://schemas.microsoft.com/office/drawing/2014/main" id="{59F99665-1AC2-4E52-A1DC-C978969E2D97}"/>
              </a:ext>
            </a:extLst>
          </p:cNvPr>
          <p:cNvSpPr>
            <a:spLocks xmlns:a="http://schemas.openxmlformats.org/drawingml/2006/main" noGrp="1"/>
          </p:cNvSpPr>
          <p:nvPr/>
        </p:nvSpPr>
        <p:spPr>
          <a:xfrm xmlns:a="http://schemas.openxmlformats.org/drawingml/2006/main">
            <a:off x="571500" y="5267325"/>
            <a:ext cx="140970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Aanbodoverschot = 84 − 48 = 36 personen</a:t>
            </a:r>
          </a:p>
        </p:txBody>
      </p:sp>
      <p:sp>
        <p:nvSpPr>
          <p:cNvPr id="8" name="Geen vacatures of zoekproblemen: 48 plaatsen worden gev">
            <a:extLst xmlns:a="http://schemas.openxmlformats.org/drawingml/2006/main">
              <a:ext uri="{FF2B5EF4-FFF2-40B4-BE49-F238E27FC236}">
                <a16:creationId xmlns:a16="http://schemas.microsoft.com/office/drawing/2014/main" id="{7F7B3694-1223-4374-A8FD-859F4CB35DCD}"/>
              </a:ext>
            </a:extLst>
          </p:cNvPr>
          <p:cNvSpPr>
            <a:spLocks xmlns:a="http://schemas.openxmlformats.org/drawingml/2006/main" noGrp="1"/>
          </p:cNvSpPr>
          <p:nvPr/>
        </p:nvSpPr>
        <p:spPr>
          <a:xfrm xmlns:a="http://schemas.openxmlformats.org/drawingml/2006/main">
            <a:off x="571500" y="730567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Geen vacatures of zoekproblemen: 48 plaatsen worden gevuld.</a:t>
            </a:r>
          </a:p>
        </p:txBody>
      </p:sp>
    </p:spTree>
    <p:extLst>
      <p:ext uri="{BB962C8B-B14F-4D97-AF65-F5344CB8AC3E}">
        <p14:creationId xmlns:p14="http://schemas.microsoft.com/office/powerpoint/2010/main" val="54943929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25c · Een horizontaal verschil van 36">
            <a:extLst xmlns:a="http://schemas.openxmlformats.org/drawingml/2006/main">
              <a:ext uri="{FF2B5EF4-FFF2-40B4-BE49-F238E27FC236}">
                <a16:creationId xmlns:a16="http://schemas.microsoft.com/office/drawing/2014/main" id="{14B91581-5A76-4E40-8018-CBCB45ABC67D}"/>
              </a:ext>
            </a:extLst>
          </p:cNvPr>
          <p:cNvSpPr>
            <a:spLocks xmlns:a="http://schemas.openxmlformats.org/drawingml/2006/main" noGrp="1"/>
          </p:cNvSpPr>
          <p:nvPr/>
        </p:nvSpPr>
        <p:spPr>
          <a:xfrm xmlns:a="http://schemas.openxmlformats.org/drawingml/2006/main">
            <a:off x="571500" y="38100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25c · Een horizontaal verschil van 36</a:t>
            </a:r>
          </a:p>
        </p:txBody>
      </p:sp>
      <p:sp>
        <p:nvSpPr>
          <p:cNvPr id="2" name="">
            <a:extLst xmlns:a="http://schemas.openxmlformats.org/drawingml/2006/main">
              <a:ext uri="{FF2B5EF4-FFF2-40B4-BE49-F238E27FC236}">
                <a16:creationId xmlns:a16="http://schemas.microsoft.com/office/drawing/2014/main" id="{E3430EC8-F23F-4C27-AEAD-78DD840C70C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3 Werkloosheid en veranderingen op de arbeidsmarkt">
            <a:extLst xmlns:a="http://schemas.openxmlformats.org/drawingml/2006/main">
              <a:ext uri="{FF2B5EF4-FFF2-40B4-BE49-F238E27FC236}">
                <a16:creationId xmlns:a16="http://schemas.microsoft.com/office/drawing/2014/main" id="{D3819F4C-6B6D-40ED-9867-A09B4F19F2A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§4.3.3 Werkloosheid en veranderingen op de arbeidsmarkt</a:t>
            </a:r>
          </a:p>
        </p:txBody>
      </p:sp>
      <p:sp>
        <p:nvSpPr>
          <p:cNvPr id="4" name="26">
            <a:extLst xmlns:a="http://schemas.openxmlformats.org/drawingml/2006/main">
              <a:ext uri="{FF2B5EF4-FFF2-40B4-BE49-F238E27FC236}">
                <a16:creationId xmlns:a16="http://schemas.microsoft.com/office/drawing/2014/main" id="{018E0CF7-B8F6-41DD-9F87-8527B41B6F3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26</a:t>
            </a:r>
          </a:p>
        </p:txBody>
      </p:sp>
      <p:graphicFrame>
        <p:nvGraphicFramePr>
          <p:cNvPr id="13" name="Chart"/>
          <p:cNvGraphicFramePr/>
          <p:nvPr/>
        </p:nvGraphicFramePr>
        <p:xfrm>
          <a:off xmlns:a="http://schemas.openxmlformats.org/drawingml/2006/main" x="428625" y="1981200"/>
          <a:ext xmlns:a="http://schemas.openxmlformats.org/drawingml/2006/main" cx="10001250" cy="5676900"/>
        </p:xfrm>
        <a:graphic xmlns:a="http://schemas.openxmlformats.org/drawingml/2006/main">
          <a:graphicData uri="http://schemas.openxmlformats.org/drawingml/2006/chart">
            <c:chart xmlns:r="http://schemas.openxmlformats.org/officeDocument/2006/relationships" xmlns:c="http://schemas.openxmlformats.org/drawingml/2006/chart" r:id="R28cf633b49a2434a"/>
          </a:graphicData>
        </a:graphic>
      </p:graphicFrame>
      <p:sp>
        <p:nvSpPr>
          <p:cNvPr id="6" name="Bij € 16 per uur:">
            <a:extLst xmlns:a="http://schemas.openxmlformats.org/drawingml/2006/main">
              <a:ext uri="{FF2B5EF4-FFF2-40B4-BE49-F238E27FC236}">
                <a16:creationId xmlns:a16="http://schemas.microsoft.com/office/drawing/2014/main" id="{E43BCD7F-BADB-4DD1-8C8D-68125EF44A6D}"/>
              </a:ext>
            </a:extLst>
          </p:cNvPr>
          <p:cNvSpPr>
            <a:spLocks xmlns:a="http://schemas.openxmlformats.org/drawingml/2006/main" noGrp="1"/>
          </p:cNvSpPr>
          <p:nvPr/>
        </p:nvSpPr>
        <p:spPr>
          <a:xfrm xmlns:a="http://schemas.openxmlformats.org/drawingml/2006/main">
            <a:off x="10648950" y="2333625"/>
            <a:ext cx="4019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Bij € 16 per uur:</a:t>
            </a:r>
          </a:p>
        </p:txBody>
      </p:sp>
      <p:sp>
        <p:nvSpPr>
          <p:cNvPr id="7" name="48 gevraagd&#10;84 aangeboden">
            <a:extLst xmlns:a="http://schemas.openxmlformats.org/drawingml/2006/main">
              <a:ext uri="{FF2B5EF4-FFF2-40B4-BE49-F238E27FC236}">
                <a16:creationId xmlns:a16="http://schemas.microsoft.com/office/drawing/2014/main" id="{E6C37378-D3AD-4726-89B2-9B34FEF1186E}"/>
              </a:ext>
            </a:extLst>
          </p:cNvPr>
          <p:cNvSpPr>
            <a:spLocks xmlns:a="http://schemas.openxmlformats.org/drawingml/2006/main" noGrp="1"/>
          </p:cNvSpPr>
          <p:nvPr/>
        </p:nvSpPr>
        <p:spPr>
          <a:xfrm xmlns:a="http://schemas.openxmlformats.org/drawingml/2006/main">
            <a:off x="10648950" y="3352800"/>
            <a:ext cx="40195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48 gevraagd</a:t>
            </a:r>
          </a:p>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84 aangeboden</a:t>
            </a:r>
          </a:p>
        </p:txBody>
      </p:sp>
      <p:sp>
        <p:nvSpPr>
          <p:cNvPr id="8" name="84 − 48 = 36&#10;personen">
            <a:extLst xmlns:a="http://schemas.openxmlformats.org/drawingml/2006/main">
              <a:ext uri="{FF2B5EF4-FFF2-40B4-BE49-F238E27FC236}">
                <a16:creationId xmlns:a16="http://schemas.microsoft.com/office/drawing/2014/main" id="{13815404-53A5-4518-88EE-59D99E670D24}"/>
              </a:ext>
            </a:extLst>
          </p:cNvPr>
          <p:cNvSpPr>
            <a:spLocks xmlns:a="http://schemas.openxmlformats.org/drawingml/2006/main" noGrp="1"/>
          </p:cNvSpPr>
          <p:nvPr/>
        </p:nvSpPr>
        <p:spPr>
          <a:xfrm xmlns:a="http://schemas.openxmlformats.org/drawingml/2006/main">
            <a:off x="10648950" y="5553075"/>
            <a:ext cx="40195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A94D16"/>
                </a:solidFill>
                <a:latin typeface="Arial"/>
                <a:ea typeface="Arial"/>
                <a:cs typeface="Arial"/>
              </a:defRPr>
            </a:pPr>
            <a:r>
              <a:rPr sz="3075" b="1">
                <a:solidFill>
                  <a:srgbClr val="A94D16"/>
                </a:solidFill>
                <a:latin typeface="Arial"/>
                <a:ea typeface="Arial"/>
                <a:cs typeface="Arial"/>
              </a:rPr>
              <a:t>84 − 48 = 36</a:t>
            </a:r>
          </a:p>
          <a:p xmlns:a="http://schemas.openxmlformats.org/drawingml/2006/main">
            <a:pPr algn="l">
              <a:defRPr sz="3075" b="1">
                <a:solidFill>
                  <a:srgbClr val="A94D16"/>
                </a:solidFill>
                <a:latin typeface="Arial"/>
                <a:ea typeface="Arial"/>
                <a:cs typeface="Arial"/>
              </a:defRPr>
            </a:pPr>
            <a:r>
              <a:rPr sz="3075" b="1">
                <a:solidFill>
                  <a:srgbClr val="A94D16"/>
                </a:solidFill>
                <a:latin typeface="Arial"/>
                <a:ea typeface="Arial"/>
                <a:cs typeface="Arial"/>
              </a:rPr>
              <a:t>personen</a:t>
            </a:r>
          </a:p>
        </p:txBody>
      </p:sp>
    </p:spTree>
    <p:extLst>
      <p:ext uri="{BB962C8B-B14F-4D97-AF65-F5344CB8AC3E}">
        <p14:creationId xmlns:p14="http://schemas.microsoft.com/office/powerpoint/2010/main" val="134513974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ntwoordcontrole bij opgave 25">
            <a:extLst xmlns:a="http://schemas.openxmlformats.org/drawingml/2006/main">
              <a:ext uri="{FF2B5EF4-FFF2-40B4-BE49-F238E27FC236}">
                <a16:creationId xmlns:a16="http://schemas.microsoft.com/office/drawing/2014/main" id="{48F95EB1-88A7-485B-93E8-E0332B994A72}"/>
              </a:ext>
            </a:extLst>
          </p:cNvPr>
          <p:cNvSpPr>
            <a:spLocks xmlns:a="http://schemas.openxmlformats.org/drawingml/2006/main" noGrp="1"/>
          </p:cNvSpPr>
          <p:nvPr/>
        </p:nvSpPr>
        <p:spPr>
          <a:xfrm xmlns:a="http://schemas.openxmlformats.org/drawingml/2006/main">
            <a:off x="571500" y="38100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Antwoordcontrole bij opgave 25</a:t>
            </a:r>
          </a:p>
        </p:txBody>
      </p:sp>
      <p:sp>
        <p:nvSpPr>
          <p:cNvPr id="2" name="">
            <a:extLst xmlns:a="http://schemas.openxmlformats.org/drawingml/2006/main">
              <a:ext uri="{FF2B5EF4-FFF2-40B4-BE49-F238E27FC236}">
                <a16:creationId xmlns:a16="http://schemas.microsoft.com/office/drawing/2014/main" id="{4B23982B-CB16-4A3C-B97C-AA4E270FD17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3 Werkloosheid en veranderingen op de arbeidsmarkt">
            <a:extLst xmlns:a="http://schemas.openxmlformats.org/drawingml/2006/main">
              <a:ext uri="{FF2B5EF4-FFF2-40B4-BE49-F238E27FC236}">
                <a16:creationId xmlns:a16="http://schemas.microsoft.com/office/drawing/2014/main" id="{AA38091D-0F75-45B1-A24D-A3738BDC070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§4.3.3 Werkloosheid en veranderingen op de arbeidsmarkt</a:t>
            </a:r>
          </a:p>
        </p:txBody>
      </p:sp>
      <p:sp>
        <p:nvSpPr>
          <p:cNvPr id="4" name="27">
            <a:extLst xmlns:a="http://schemas.openxmlformats.org/drawingml/2006/main">
              <a:ext uri="{FF2B5EF4-FFF2-40B4-BE49-F238E27FC236}">
                <a16:creationId xmlns:a16="http://schemas.microsoft.com/office/drawing/2014/main" id="{8BF97BFE-090C-4660-9C2B-B7A4DC020CF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27</a:t>
            </a:r>
          </a:p>
        </p:txBody>
      </p:sp>
      <p:graphicFrame>
        <p:nvGraphicFramePr>
          <p:cNvPr id="11" name=""/>
          <p:cNvGraphicFramePr/>
          <p:nvPr/>
        </p:nvGraphicFramePr>
        <p:xfrm>
          <a:off xmlns:a="http://schemas.openxmlformats.org/drawingml/2006/main" x="571500" y="2152650"/>
          <a:ext xmlns:a="http://schemas.openxmlformats.org/drawingml/2006/main" cx="14097000" cy="3629025"/>
        </p:xfrm>
        <a:graphic xmlns:a="http://schemas.openxmlformats.org/drawingml/2006/main">
          <a:graphicData uri="http://schemas.openxmlformats.org/drawingml/2006/table">
            <a:tbl>
              <a:tblPr/>
              <a:tblGrid>
                <a:gridCol w="3000375"/>
                <a:gridCol w="11096625"/>
              </a:tblGrid>
              <a:tr h="907256">
                <a:tc>
                  <a:txBody>
                    <a:bodyPr lIns="171450" tIns="95250" rIns="152400" bIns="95250"/>
                    <a:lstStyle/>
                    <a:p>
                      <a:r>
                        <a:rPr sz="2625" b="1">
                          <a:solidFill>
                            <a:srgbClr val="FFFFFF"/>
                          </a:solidFill>
                          <a:latin typeface="Arial"/>
                          <a:ea typeface="Arial"/>
                          <a:cs typeface="Arial"/>
                        </a:rPr>
                        <a:t>Onderdeel</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Volledig antwoord bevat</a:t>
                      </a:r>
                    </a:p>
                  </a:txBody>
                  <a:tcPr marL="91440" marR="91440" marT="45720" marB="45720" anchor="ctr">
                    <a:solidFill>
                      <a:srgbClr val="183247"/>
                    </a:solidFill>
                  </a:tcPr>
                </a:tc>
              </a:tr>
              <a:tr h="907256">
                <a:tc>
                  <a:txBody>
                    <a:bodyPr lIns="171450" tIns="95250" rIns="152400" bIns="95250"/>
                    <a:lstStyle/>
                    <a:p>
                      <a:r>
                        <a:rPr sz="2625" b="0">
                          <a:solidFill>
                            <a:srgbClr val="183247"/>
                          </a:solidFill>
                          <a:latin typeface="Arial"/>
                          <a:ea typeface="Arial"/>
                          <a:cs typeface="Arial"/>
                        </a:rPr>
                        <a:t>a</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3.000 als noemer, 10%, en de fout van vacatures aftrekken</a:t>
                      </a:r>
                    </a:p>
                  </a:txBody>
                  <a:tcPr marL="91440" marR="91440" marT="45720" marB="45720" anchor="ctr">
                    <a:solidFill>
                      <a:srgbClr val="FFFFFF"/>
                    </a:solidFill>
                  </a:tcPr>
                </a:tc>
              </a:tr>
              <a:tr h="907256">
                <a:tc>
                  <a:txBody>
                    <a:bodyPr lIns="171450" tIns="95250" rIns="152400" bIns="95250"/>
                    <a:lstStyle/>
                    <a:p>
                      <a:r>
                        <a:rPr sz="2625" b="0">
                          <a:solidFill>
                            <a:srgbClr val="183247"/>
                          </a:solidFill>
                          <a:latin typeface="Arial"/>
                          <a:ea typeface="Arial"/>
                          <a:cs typeface="Arial"/>
                        </a:rPr>
                        <a:t>b</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Conjuncturele oorzaak, € 13 per uur en 66 personen</a:t>
                      </a:r>
                    </a:p>
                  </a:txBody>
                  <a:tcPr marL="91440" marR="91440" marT="45720" marB="45720" anchor="ctr">
                    <a:solidFill>
                      <a:srgbClr val="EFF4F7"/>
                    </a:solidFill>
                  </a:tcPr>
                </a:tc>
              </a:tr>
              <a:tr h="907256">
                <a:tc>
                  <a:txBody>
                    <a:bodyPr lIns="171450" tIns="95250" rIns="152400" bIns="95250"/>
                    <a:lstStyle/>
                    <a:p>
                      <a:r>
                        <a:rPr sz="2625" b="0">
                          <a:solidFill>
                            <a:srgbClr val="183247"/>
                          </a:solidFill>
                          <a:latin typeface="Arial"/>
                          <a:ea typeface="Arial"/>
                          <a:cs typeface="Arial"/>
                        </a:rPr>
                        <a:t>c</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E₀ (84;16), E₁ (66;13), en 84 − 48 = 36 personen</a:t>
                      </a:r>
                    </a:p>
                  </a:txBody>
                  <a:tcPr marL="91440" marR="91440" marT="45720" marB="45720" anchor="ctr">
                    <a:solidFill>
                      <a:srgbClr val="FFFFFF"/>
                    </a:solidFill>
                  </a:tcPr>
                </a:tc>
              </a:tr>
            </a:tbl>
          </a:graphicData>
        </a:graphic>
      </p:graphicFrame>
      <p:sp>
        <p:nvSpPr>
          <p:cNvPr id="6" name="Verbeter één berekening, eenheid of ontbrekende redener">
            <a:extLst xmlns:a="http://schemas.openxmlformats.org/drawingml/2006/main">
              <a:ext uri="{FF2B5EF4-FFF2-40B4-BE49-F238E27FC236}">
                <a16:creationId xmlns:a16="http://schemas.microsoft.com/office/drawing/2014/main" id="{E9A56DE4-7B04-4C30-BB8B-5913418FFF2A}"/>
              </a:ext>
            </a:extLst>
          </p:cNvPr>
          <p:cNvSpPr>
            <a:spLocks xmlns:a="http://schemas.openxmlformats.org/drawingml/2006/main" noGrp="1"/>
          </p:cNvSpPr>
          <p:nvPr/>
        </p:nvSpPr>
        <p:spPr>
          <a:xfrm xmlns:a="http://schemas.openxmlformats.org/drawingml/2006/main">
            <a:off x="571500" y="67151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Verbeter één berekening, eenheid of ontbrekende redenering.</a:t>
            </a:r>
          </a:p>
        </p:txBody>
      </p:sp>
    </p:spTree>
    <p:extLst>
      <p:ext uri="{BB962C8B-B14F-4D97-AF65-F5344CB8AC3E}">
        <p14:creationId xmlns:p14="http://schemas.microsoft.com/office/powerpoint/2010/main" val="160920969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3.3 Werkloosheid en veranderingen op de ar">
            <a:extLst xmlns:a="http://schemas.openxmlformats.org/drawingml/2006/main">
              <a:ext uri="{FF2B5EF4-FFF2-40B4-BE49-F238E27FC236}">
                <a16:creationId xmlns:a16="http://schemas.microsoft.com/office/drawing/2014/main" id="{04202FA5-D769-456A-A3BA-0AB561C6686D}"/>
              </a:ext>
            </a:extLst>
          </p:cNvPr>
          <p:cNvSpPr>
            <a:spLocks xmlns:a="http://schemas.openxmlformats.org/drawingml/2006/main" noGrp="1"/>
          </p:cNvSpPr>
          <p:nvPr/>
        </p:nvSpPr>
        <p:spPr>
          <a:xfrm xmlns:a="http://schemas.openxmlformats.org/drawingml/2006/main">
            <a:off x="571500" y="38100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Deze les: §4.3.3 Werkloosheid en veranderingen op de arbeidsmarkt</a:t>
            </a:r>
          </a:p>
        </p:txBody>
      </p:sp>
      <p:sp>
        <p:nvSpPr>
          <p:cNvPr id="2" name="">
            <a:extLst xmlns:a="http://schemas.openxmlformats.org/drawingml/2006/main">
              <a:ext uri="{FF2B5EF4-FFF2-40B4-BE49-F238E27FC236}">
                <a16:creationId xmlns:a16="http://schemas.microsoft.com/office/drawing/2014/main" id="{9A83AF58-770B-4688-8A0F-DAE0B075091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3 Werkloosheid en veranderingen op de arbeidsmarkt">
            <a:extLst xmlns:a="http://schemas.openxmlformats.org/drawingml/2006/main">
              <a:ext uri="{FF2B5EF4-FFF2-40B4-BE49-F238E27FC236}">
                <a16:creationId xmlns:a16="http://schemas.microsoft.com/office/drawing/2014/main" id="{55FCCBB1-3D66-4B36-A097-2DB2ECD83A0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§4.3.3 Werkloosheid en veranderingen op de arbeidsmarkt</a:t>
            </a:r>
          </a:p>
        </p:txBody>
      </p:sp>
      <p:sp>
        <p:nvSpPr>
          <p:cNvPr id="4" name="28">
            <a:extLst xmlns:a="http://schemas.openxmlformats.org/drawingml/2006/main">
              <a:ext uri="{FF2B5EF4-FFF2-40B4-BE49-F238E27FC236}">
                <a16:creationId xmlns:a16="http://schemas.microsoft.com/office/drawing/2014/main" id="{3C598CC4-9684-4869-9363-27833B3CDA3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28</a:t>
            </a:r>
          </a:p>
        </p:txBody>
      </p:sp>
      <p:sp>
        <p:nvSpPr>
          <p:cNvPr id="5" name="phase">
            <a:extLst xmlns:a="http://schemas.openxmlformats.org/drawingml/2006/main">
              <a:ext uri="{FF2B5EF4-FFF2-40B4-BE49-F238E27FC236}">
                <a16:creationId xmlns:a16="http://schemas.microsoft.com/office/drawing/2014/main" id="{565056EB-1132-4450-B138-F871FEC44D87}"/>
              </a:ext>
            </a:extLst>
          </p:cNvPr>
          <p:cNvSpPr>
            <a:spLocks xmlns:a="http://schemas.openxmlformats.org/drawingml/2006/main" noGrp="1"/>
          </p:cNvSpPr>
          <p:nvPr/>
        </p:nvSpPr>
        <p:spPr>
          <a:xfrm xmlns:a="http://schemas.openxmlformats.org/drawingml/2006/main">
            <a:off x="571500" y="100965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AE8E092C-062A-4C22-9E44-9D2C2643F459}"/>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0">
            <a:extLst xmlns:a="http://schemas.openxmlformats.org/drawingml/2006/main">
              <a:ext uri="{FF2B5EF4-FFF2-40B4-BE49-F238E27FC236}">
                <a16:creationId xmlns:a16="http://schemas.microsoft.com/office/drawing/2014/main" id="{39B00473-64F1-4847-8B55-7EE8F98482A3}"/>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0">
            <a:extLst xmlns:a="http://schemas.openxmlformats.org/drawingml/2006/main">
              <a:ext uri="{FF2B5EF4-FFF2-40B4-BE49-F238E27FC236}">
                <a16:creationId xmlns:a16="http://schemas.microsoft.com/office/drawing/2014/main" id="{DD19780C-0488-4379-9332-51DB238F361B}"/>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1">
            <a:extLst xmlns:a="http://schemas.openxmlformats.org/drawingml/2006/main">
              <a:ext uri="{FF2B5EF4-FFF2-40B4-BE49-F238E27FC236}">
                <a16:creationId xmlns:a16="http://schemas.microsoft.com/office/drawing/2014/main" id="{D67E97A9-469F-4938-8657-22897AC7990D}"/>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1">
            <a:extLst xmlns:a="http://schemas.openxmlformats.org/drawingml/2006/main">
              <a:ext uri="{FF2B5EF4-FFF2-40B4-BE49-F238E27FC236}">
                <a16:creationId xmlns:a16="http://schemas.microsoft.com/office/drawing/2014/main" id="{278D058C-0723-4AE0-9BC2-C0E90C5DED70}"/>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2">
            <a:extLst xmlns:a="http://schemas.openxmlformats.org/drawingml/2006/main">
              <a:ext uri="{FF2B5EF4-FFF2-40B4-BE49-F238E27FC236}">
                <a16:creationId xmlns:a16="http://schemas.microsoft.com/office/drawing/2014/main" id="{329FFFB0-3FD5-478A-8B99-70E93A7F6EE7}"/>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2">
            <a:extLst xmlns:a="http://schemas.openxmlformats.org/drawingml/2006/main">
              <a:ext uri="{FF2B5EF4-FFF2-40B4-BE49-F238E27FC236}">
                <a16:creationId xmlns:a16="http://schemas.microsoft.com/office/drawing/2014/main" id="{57B5BE3B-7D99-4B01-A443-9BFF1C787155}"/>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3">
            <a:extLst xmlns:a="http://schemas.openxmlformats.org/drawingml/2006/main">
              <a:ext uri="{FF2B5EF4-FFF2-40B4-BE49-F238E27FC236}">
                <a16:creationId xmlns:a16="http://schemas.microsoft.com/office/drawing/2014/main" id="{E284A810-0525-4364-BD32-CE49DBC66595}"/>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3">
            <a:extLst xmlns:a="http://schemas.openxmlformats.org/drawingml/2006/main">
              <a:ext uri="{FF2B5EF4-FFF2-40B4-BE49-F238E27FC236}">
                <a16:creationId xmlns:a16="http://schemas.microsoft.com/office/drawing/2014/main" id="{611416B8-5E73-4BAF-BFEC-AFC4B6A1D197}"/>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4">
            <a:extLst xmlns:a="http://schemas.openxmlformats.org/drawingml/2006/main">
              <a:ext uri="{FF2B5EF4-FFF2-40B4-BE49-F238E27FC236}">
                <a16:creationId xmlns:a16="http://schemas.microsoft.com/office/drawing/2014/main" id="{0FD8648C-4CEF-404A-A737-FE214BCCB5D5}"/>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4">
            <a:extLst xmlns:a="http://schemas.openxmlformats.org/drawingml/2006/main">
              <a:ext uri="{FF2B5EF4-FFF2-40B4-BE49-F238E27FC236}">
                <a16:creationId xmlns:a16="http://schemas.microsoft.com/office/drawing/2014/main" id="{72582977-F3DE-44F3-8A0D-AB703D27720A}"/>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5">
            <a:extLst xmlns:a="http://schemas.openxmlformats.org/drawingml/2006/main">
              <a:ext uri="{FF2B5EF4-FFF2-40B4-BE49-F238E27FC236}">
                <a16:creationId xmlns:a16="http://schemas.microsoft.com/office/drawing/2014/main" id="{07BB4E5E-2EDA-4F30-BF29-E9C71EC754FD}"/>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5">
            <a:extLst xmlns:a="http://schemas.openxmlformats.org/drawingml/2006/main">
              <a:ext uri="{FF2B5EF4-FFF2-40B4-BE49-F238E27FC236}">
                <a16:creationId xmlns:a16="http://schemas.microsoft.com/office/drawing/2014/main" id="{B98C00B6-8641-4809-A1AE-41F7E9B786BF}"/>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25.</a:t>
            </a:r>
          </a:p>
        </p:txBody>
      </p:sp>
      <p:sp>
        <p:nvSpPr>
          <p:cNvPr id="19" name="route-number-6">
            <a:extLst xmlns:a="http://schemas.openxmlformats.org/drawingml/2006/main">
              <a:ext uri="{FF2B5EF4-FFF2-40B4-BE49-F238E27FC236}">
                <a16:creationId xmlns:a16="http://schemas.microsoft.com/office/drawing/2014/main" id="{8F2F9495-F233-42B1-A501-8E3FB4BFE9ED}"/>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7.</a:t>
            </a:r>
          </a:p>
        </p:txBody>
      </p:sp>
      <p:sp>
        <p:nvSpPr>
          <p:cNvPr id="20" name="route-6">
            <a:extLst xmlns:a="http://schemas.openxmlformats.org/drawingml/2006/main">
              <a:ext uri="{FF2B5EF4-FFF2-40B4-BE49-F238E27FC236}">
                <a16:creationId xmlns:a16="http://schemas.microsoft.com/office/drawing/2014/main" id="{3A08B133-9D6F-4DF1-8C45-E2B726C5891D}"/>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FDCC7996-028B-4C6D-B001-4AC4794D34C2}"/>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EB888A03-0FE1-43E4-91A6-566F0E0CB793}"/>
              </a:ext>
            </a:extLst>
          </p:cNvPr>
          <p:cNvSpPr>
            <a:spLocks xmlns:a="http://schemas.openxmlformats.org/drawingml/2006/main" noGrp="1"/>
          </p:cNvSpPr>
          <p:nvPr/>
        </p:nvSpPr>
        <p:spPr>
          <a:xfrm xmlns:a="http://schemas.openxmlformats.org/drawingml/2006/main">
            <a:off x="9258300" y="2286000"/>
            <a:ext cx="5381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Werkloosheid berekenen 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verklaren. Flexibel en vast loon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vergelijken. Model en telling</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onderscheiden.</a:t>
            </a:r>
          </a:p>
        </p:txBody>
      </p:sp>
      <p:sp>
        <p:nvSpPr>
          <p:cNvPr id="23" name="">
            <a:extLst xmlns:a="http://schemas.openxmlformats.org/drawingml/2006/main">
              <a:ext uri="{FF2B5EF4-FFF2-40B4-BE49-F238E27FC236}">
                <a16:creationId xmlns:a16="http://schemas.microsoft.com/office/drawing/2014/main" id="{8DA9ADE5-BF7D-488F-A3E0-E99B84A3140C}"/>
              </a:ext>
            </a:extLst>
          </p:cNvPr>
          <p:cNvSpPr>
            <a:spLocks xmlns:a="http://schemas.openxmlformats.org/drawingml/2006/main" noGrp="1"/>
          </p:cNvSpPr>
          <p:nvPr/>
        </p:nvSpPr>
        <p:spPr>
          <a:xfrm xmlns:a="http://schemas.openxmlformats.org/drawingml/2006/main">
            <a:off x="9258300" y="3686175"/>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D8688B5C-FDB2-40D6-9F92-D41E14A3C303}"/>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611610F6-962E-4522-BBC0-13E4A3CCEECB}"/>
              </a:ext>
            </a:extLst>
          </p:cNvPr>
          <p:cNvSpPr>
            <a:spLocks xmlns:a="http://schemas.openxmlformats.org/drawingml/2006/main" noGrp="1"/>
          </p:cNvSpPr>
          <p:nvPr/>
        </p:nvSpPr>
        <p:spPr>
          <a:xfrm xmlns:a="http://schemas.openxmlformats.org/drawingml/2006/main">
            <a:off x="9258300" y="4333875"/>
            <a:ext cx="53816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137 · Opgaven 19 en 20</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20: verkennen met theorie</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op p. 132–133</a:t>
            </a:r>
          </a:p>
        </p:txBody>
      </p:sp>
      <p:sp>
        <p:nvSpPr>
          <p:cNvPr id="26" name="">
            <a:extLst xmlns:a="http://schemas.openxmlformats.org/drawingml/2006/main">
              <a:ext uri="{FF2B5EF4-FFF2-40B4-BE49-F238E27FC236}">
                <a16:creationId xmlns:a16="http://schemas.microsoft.com/office/drawing/2014/main" id="{8C6329F5-1B67-4D25-9DB7-BBE0A61E6ECB}"/>
              </a:ext>
            </a:extLst>
          </p:cNvPr>
          <p:cNvSpPr>
            <a:spLocks xmlns:a="http://schemas.openxmlformats.org/drawingml/2006/main" noGrp="1"/>
          </p:cNvSpPr>
          <p:nvPr/>
        </p:nvSpPr>
        <p:spPr>
          <a:xfrm xmlns:a="http://schemas.openxmlformats.org/drawingml/2006/main">
            <a:off x="9258300" y="5514975"/>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FFF0BD8E-750E-45B1-97E0-58034925CB42}"/>
              </a:ext>
            </a:extLst>
          </p:cNvPr>
          <p:cNvSpPr>
            <a:spLocks xmlns:a="http://schemas.openxmlformats.org/drawingml/2006/main" noGrp="1"/>
          </p:cNvSpPr>
          <p:nvPr/>
        </p:nvSpPr>
        <p:spPr>
          <a:xfrm xmlns:a="http://schemas.openxmlformats.org/drawingml/2006/main">
            <a:off x="9258300" y="567690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80A07332-C31B-45A2-85C2-BCFDC4C2F89D}"/>
              </a:ext>
            </a:extLst>
          </p:cNvPr>
          <p:cNvSpPr>
            <a:spLocks xmlns:a="http://schemas.openxmlformats.org/drawingml/2006/main" noGrp="1"/>
          </p:cNvSpPr>
          <p:nvPr/>
        </p:nvSpPr>
        <p:spPr>
          <a:xfrm xmlns:a="http://schemas.openxmlformats.org/drawingml/2006/main">
            <a:off x="9258300" y="6172200"/>
            <a:ext cx="53816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§4.3.3</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21 en 22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23 en 24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25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9156816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2026-10-01T18:23:28.1490000Z</dcterms:created>
  <dcterms:modified xsi:type="dcterms:W3CDTF">2026-10-01T18:23:28.1490000Z</dcterms:modified>
</coreProperties>
</file>