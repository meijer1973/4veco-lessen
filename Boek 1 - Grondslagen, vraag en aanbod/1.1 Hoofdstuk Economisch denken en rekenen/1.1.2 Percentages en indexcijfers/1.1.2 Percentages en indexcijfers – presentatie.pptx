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Start
Vraag: Wat betekent het als iets 8 procent duurder wordt?
Uitleg: Open met Sanne's smartphone. Laat leerlingen eerst raden of EUR 48 veel is. Daarna laat je zien dat het pas betekenis krijgt door te vergelijken met EUR 600.
Pitfall: Zeg nog niet alleen formule. Eerst moet duidelijk zijn waarom percentages handig zijn.
Overgang: We gaan van een herkenbare prijsverandering naar een vaste rekenroute.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Sanne's prijs
Vraag: Welke twee getallen moeten we eerst vinden?
Uitleg: Laat leerlingen de oude waarde, nieuwe waarde en het verschil aanwijzen. Benadruk dat EUR 48 alleen nog maar een absoluut verschil is.
Pitfall: De fout hier is te snel roepen dat EUR 48 veel of weinig is zonder basis.
Overgang: Daarom drukken we het verschil uit als percentage van de oude prijs.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Percentage stappen
Vraag: Waarom delen we door 600 en niet door 648?
Uitleg: De oude waarde is het startpunt. Je vraagt: hoeveel procent van de oude prijs is de stijging? Daarom staat 600 onder de breukstreep.
Pitfall: Een veelgemaakte fout is delen door de nieuwe waarde. Dat maakt de stijging te klein.
Overgang: Dezelfde manier van denken gebruiken we straks bij indexcijfers.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Waarom index
Vraag: Waarom zetten economen een reeks vaak op 100?
Uitleg: Met een index kun je verschillende jaren of producten vergelijken zonder steeds alle eurobedragen te onthouden. Het basisjaar krijgt 100, daarna lees je alles relatief af.
Pitfall: Index 125 is geen EUR 125. Het betekent 25 procent hoger dan het basisjaar.
Overgang: Nu bouwen we de formule voor het indexcijfer.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Index formule
Vraag: Welke waarde hoort in de teller en welke in de noemer?
Uitleg: De doeljaarwaarde staat boven, de basisjaarwaarde onder. Daardoor meet je hoeveel het doeljaar is ten opzichte van de basis.
Pitfall: Als leerlingen teller en noemer omdraaien, krijgen ze bijvoorbeeld 80 in plaats van 125. Dat vertelt het omgekeerde verhaal.
Overgang: Tot slot kijken we naar de belangrijkste valkuil: indexpunten zijn geen procenten.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Indexpuntenvalkuil
Vraag: Waarom is 10 indexpunten hier 8 procent?
Uitleg: Het percentage bereken je altijd ten opzichte van het oude getal. Het oude indexcijfer is 125, dus 10 gedeeld door 125 keer 100 is 8 procent.
Pitfall: De klassieke fout is het puntenverschil direct met een procentteken opschrijven.
Overgang: We sluiten af met de drie rekenroutes naast elkaar.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NavTitle: Samenvatting
Vraag: Welke van de drie routes vind je het lastigst?
Uitleg: Herhaal kort: bedragen naar bedragen is procentuele verandering. Een reeks door de tijd zet je vaak in indexcijfers. Als je twee indexcijfers vergelijkt, reken je opnieuw een procentuele verandering uit.
Pitfall: Laat leerlingen niet eindigen met alleen formules. Ze moeten vooral weten welke formule bij welke soort vraag hoort.
Overgang: In de volgende paragraaf gebruiken we dezelfde rekenvaardigheden bij tabellen en grafieken.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PARAGRAAF 1.1.2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Percentages en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indexcijfers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0632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DE68A"/>
                </a:solidFill>
              </a:rPr>
              <a:t>Hoeveel duurder is het geworden?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0" y="1005840"/>
            <a:ext cx="3246120" cy="3246120"/>
          </a:xfrm>
          <a:prstGeom prst="roundRect">
            <a:avLst>
              <a:gd name="adj" fmla="val 5070"/>
            </a:avLst>
          </a:prstGeom>
          <a:solidFill>
            <a:srgbClr val="12343B"/>
          </a:solidFill>
          <a:ln w="12700">
            <a:solidFill>
              <a:srgbClr val="2DD4B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7830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600 -&gt; 648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= 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38862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F"/>
                </a:solidFill>
              </a:rPr>
              <a:t>Na deze les kun je procentuele veranderingen berekenen, indexcijfers lezen en indexpunten onderscheiden van procenten.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Sanne ziet een smartphone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Vorig jaar EUR 600, nu EUR 648.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840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43"/>
                </a:solidFill>
              </a:rPr>
              <a:t>EUR 600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Basis waar je mee vergelijkt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965960"/>
            <a:ext cx="3840480" cy="2331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Nieuw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43"/>
                </a:solidFill>
              </a:rPr>
              <a:t>EUR 648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2D12"/>
                </a:solidFill>
              </a:rPr>
              <a:t>Verschil: EUR 48 hoger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5276"/>
                </a:solidFill>
              </a:rPr>
              <a:t>Waarom is EUR 48 extra bij een telefoon iets anders dan EUR 48 extra bij een brood?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VAARDIGHEID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Procentuele verandering in vier stappen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De oude waarde is de basis.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80467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20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1892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Bepaal oud en nieuw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Oud = 600, nieuw = 648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80467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2768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Bereken het verschil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648 - 600 = 48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703320"/>
            <a:ext cx="80467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72768" y="3813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Deel door oud x 100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48 / 600 x 100% = 8%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4663440"/>
            <a:ext cx="80467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72768" y="4773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Benoem stijging of daling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4782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positief, dus prijsstijging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81160" y="2148840"/>
            <a:ext cx="2148840" cy="233172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743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8%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46404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FBF1"/>
                </a:solidFill>
              </a:rPr>
              <a:t>duurder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VAN EEN PRIJS NAAR EEN REEKS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Waarom indexcijfers?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Een index maakt jaren vergelijkbaar.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Basisjaar = 100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Alle andere jaren worden uitgedrukt ten opzichte van dat basisjaar.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3063240"/>
            <a:ext cx="3265714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44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EUR 120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2023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3703320"/>
            <a:ext cx="4082143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685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EUR 150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2024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343400"/>
            <a:ext cx="4408714" cy="2011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3251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135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4325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EUR 162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2148840"/>
            <a:ext cx="2606040" cy="2331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</a:rPr>
              <a:t>Index 125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42832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betekent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25% hoger dan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het basisjaar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FORMULE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Indexcijfer berekenen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Waarde doeljaar gedeeld door waarde basisjaar, keer 100.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9966960" cy="9601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317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indexcijfer = waarde doeljaar / waarde basisjaar x 100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132588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75818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657600"/>
            <a:ext cx="169164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75818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Prijs mandje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657600"/>
            <a:ext cx="283464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375818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Berekening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3657600"/>
            <a:ext cx="114300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37581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133088"/>
            <a:ext cx="1325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23367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2021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4133088"/>
            <a:ext cx="1691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233672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EUR 120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4133088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23367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120 / 120 x 100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4133088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423367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100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608576"/>
            <a:ext cx="1325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0916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2023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4608576"/>
            <a:ext cx="1691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4709160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EUR 150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4608576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470916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150 / 120 x 100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4608576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4709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125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VALKUIL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Indexpunten zijn geen procenten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Van index 125 naar 135 is niet 10%.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</a:rPr>
              <a:t>125 -&gt; 135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Verschil = 10 indexpunten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461772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027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</a:rPr>
              <a:t>10 / 125 x 100% = 8%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629400" y="1828800"/>
            <a:ext cx="4023360" cy="2560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Fout: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697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1B1B"/>
                </a:solidFill>
              </a:rPr>
              <a:t>10 indexpunten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991B1B"/>
                </a:solidFill>
              </a:rPr>
              <a:t>= 10%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4944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1D1D"/>
                </a:solidFill>
              </a:rPr>
              <a:t>Alleen waar als oud indexcijfer 100 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1.1.2  Percentages en indexcijfers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SAMENVATTING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Drie dingen die je moet kunnen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Percentage, index en indexpunten scherp uit elkaar houden.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860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Procentuele verandering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(nieuw - oud) / oud x 100%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2860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48072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Indexcijfer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waarde doeljaar / waarde basisjaar x 100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2860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51392" y="22677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Indexpunten vs procenten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puntenverschil / oud indexcijfer x 100%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</a:rPr>
              <a:t>Volgende stap: gegevens uit tabellen en grafieken netjes verwerken.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4veco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1.1.2 Percentages en indexcijfers</dc:title>
  <dc:subject>1.1.2 Percentages en indexcijfers</dc:subject>
  <dc:creator>Economie VWO</dc:creator>
  <cp:lastModifiedBy>Economie VWO</cp:lastModifiedBy>
  <cp:revision>1</cp:revision>
  <dcterms:created xsi:type="dcterms:W3CDTF">2026-05-12T11:39:45Z</dcterms:created>
  <dcterms:modified xsi:type="dcterms:W3CDTF">2026-05-12T11:39:45Z</dcterms:modified>
</cp:coreProperties>
</file>