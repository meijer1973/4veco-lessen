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NavTitle: Start
Vraag: Wat betekent het als iets 8 procent duurder wordt?
Uitleg: Open met Sanne's smartphone. Laat leerlingen eerst raden of EUR 48 veel is. Daarna laat je zien dat het pas betekenis krijgt door te vergelijken met EUR 600.
Pitfall: Zeg nog niet alleen formule. Eerst moet duidelijk zijn waarom percentages handig zijn.
Overgang: We gaan van een herkenbare prijsverandering naar een vaste rekenroute.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NavTitle: Sanne's prijs
Vraag: Welke twee getallen moeten we eerst vinden?
Uitleg: Laat leerlingen de oude waarde, nieuwe waarde en het verschil aanwijzen. Benadruk dat EUR 48 alleen nog maar een absoluut verschil is.
Pitfall: De fout hier is te snel roepen dat EUR 48 veel of weinig is zonder basis.
Overgang: Daarom drukken we het verschil uit als percentage van de oude prijs.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NavTitle: Percentage stappen
Vraag: Waarom delen we door 600 en niet door 648?
Uitleg: De oude waarde is het startpunt. Je vraagt: hoeveel procent van de oude prijs is de stijging? Daarom staat 600 onder de breukstreep.
Pitfall: Een veelgemaakte fout is delen door de nieuwe waarde. Dat maakt de stijging te klein.
Overgang: Dezelfde manier van denken gebruiken we straks bij indexcijfers.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NavTitle: Waarom index
Vraag: Waarom zetten economen een reeks vaak op 100?
Uitleg: Met een index kun je verschillende jaren of producten vergelijken zonder steeds alle eurobedragen te onthouden. Het basisjaar krijgt 100, daarna lees je alles relatief af.
Pitfall: Index 125 is geen EUR 125. Het betekent 25 procent hoger dan het basisjaar.
Overgang: Nu bouwen we de formule voor het indexcijfer.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NavTitle: Index formule
Vraag: Welke waarde hoort in de teller en welke in de noemer?
Uitleg: De doeljaarwaarde staat boven, de basisjaarwaarde onder. Daardoor meet je hoeveel het doeljaar is ten opzichte van de basis.
Pitfall: Als leerlingen teller en noemer omdraaien, krijgen ze bijvoorbeeld 80 in plaats van 125. Dat vertelt het omgekeerde verhaal.
Overgang: Tot slot kijken we naar de belangrijkste valkuil: indexpunten zijn geen procenten.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NavTitle: Indexpuntenvalkuil
Vraag: Waarom is 10 indexpunten hier 8 procent?
Uitleg: Het percentage bereken je altijd ten opzichte van het oude getal. Het oude indexcijfer is 125, dus 10 gedeeld door 125 keer 100 is 8 procent.
Pitfall: De klassieke fout is het puntenverschil direct met een procentteken opschrijven.
Overgang: We sluiten af met de drie rekenroutes naast elkaar.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NavTitle: Samenvatting
Vraag: Welke van de drie routes vind je het lastigst?
Uitleg: Herhaal kort: bedragen naar bedragen is procentuele verandering. Een reeks door de tijd zet je vaak in indexcijfers. Als je twee indexcijfers vergelijkt, reken je opnieuw een procentuele verandering uit.
Pitfall: Laat leerlingen niet eindigen met alleen formules. Ze moeten vooral weten welke formule bij welke soort vraag hoort.
Overgang: In de volgende paragraaf gebruiken we dezelfde rekenvaardigheden bij tabellen en grafieken.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34E4A"/>
          </a:solidFill>
          <a:ln w="12700">
            <a:solidFill>
              <a:srgbClr val="134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629400"/>
            <a:ext cx="5486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1.1.2  Percentages en indexcijfers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</a:rPr>
              <a:t>PARAGRAAF 1.1.2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1170432"/>
            <a:ext cx="7040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Percentages en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indexcijfers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58368" y="3063240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DE68A"/>
                </a:solidFill>
              </a:rPr>
              <a:t>Hoeveel duurder is het geworden?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8229600" y="1005840"/>
            <a:ext cx="3246120" cy="3246120"/>
          </a:xfrm>
          <a:prstGeom prst="roundRect">
            <a:avLst>
              <a:gd name="adj" fmla="val 5070"/>
            </a:avLst>
          </a:prstGeom>
          <a:solidFill>
            <a:srgbClr val="12343B"/>
          </a:solidFill>
          <a:ln w="12700">
            <a:solidFill>
              <a:srgbClr val="2DD4BF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49640" y="178308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600 -&gt; 648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= 8%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58368" y="388620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4FF"/>
                </a:solidFill>
              </a:rPr>
              <a:t>Na deze les kun je procentuele veranderingen berekenen, indexcijfers lezen en indexpunten onderscheiden van procenten.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34E4A"/>
          </a:solidFill>
          <a:ln w="12700">
            <a:solidFill>
              <a:srgbClr val="134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629400"/>
            <a:ext cx="5486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1.1.2  Percentages en indexcijfers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66E"/>
                </a:solidFill>
              </a:rPr>
              <a:t>CONTEXT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658368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</a:rPr>
              <a:t>Sanne ziet een smartphone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30352" y="129844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</a:rPr>
              <a:t>Vorig jaar EUR 600, nu EUR 648.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1965960"/>
            <a:ext cx="384048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2402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</a:rPr>
              <a:t>Oud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" y="26517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2A43"/>
                </a:solidFill>
              </a:rPr>
              <a:t>EUR 600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960120" y="331012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</a:rPr>
              <a:t>Basis waar je mee vergelijkt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800600" y="1965960"/>
            <a:ext cx="3840480" cy="233172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0" y="22402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</a:rPr>
              <a:t>Nieuw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0" y="26517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2A43"/>
                </a:solidFill>
              </a:rPr>
              <a:t>EUR 648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5029200" y="331012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2D12"/>
                </a:solidFill>
              </a:rPr>
              <a:t>Verschil: EUR 48 hoger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77240" y="4800600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5276"/>
                </a:solidFill>
              </a:rPr>
              <a:t>Waarom is EUR 48 extra bij een telefoon iets anders dan EUR 48 extra bij een brood?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34E4A"/>
          </a:solidFill>
          <a:ln w="12700">
            <a:solidFill>
              <a:srgbClr val="134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629400"/>
            <a:ext cx="5486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1.1.2  Percentages en indexcijfers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66E"/>
                </a:solidFill>
              </a:rPr>
              <a:t>VAARDIGHEID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658368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</a:rPr>
              <a:t>Procentuele verandering in vier stappen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30352" y="129844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</a:rPr>
              <a:t>De oude waarde is de basis.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77240" y="1783080"/>
            <a:ext cx="80467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7552" y="19202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766E"/>
                </a:solidFill>
              </a:rPr>
              <a:t>01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72768" y="189280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</a:rPr>
              <a:t>Bepaal oud en nieuw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709160" y="1901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Oud = 600, nieuw = 648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77240" y="2743200"/>
            <a:ext cx="80467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87552" y="28803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766E"/>
                </a:solidFill>
              </a:rPr>
              <a:t>02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572768" y="285292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</a:rPr>
              <a:t>Bereken het verschil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709160" y="28620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648 - 600 = 48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77240" y="3703320"/>
            <a:ext cx="80467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7552" y="38404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766E"/>
                </a:solidFill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72768" y="381304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</a:rPr>
              <a:t>Deel door oud x 100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709160" y="382219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48 / 600 x 100% = 8%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77240" y="4663440"/>
            <a:ext cx="80467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87552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766E"/>
                </a:solidFill>
              </a:rPr>
              <a:t>04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572768" y="477316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</a:rPr>
              <a:t>Benoem stijging of daling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709160" y="47823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positief, dus prijsstijging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9281160" y="2148840"/>
            <a:ext cx="2148840" cy="2331720"/>
          </a:xfrm>
          <a:prstGeom prst="roundRect">
            <a:avLst/>
          </a:prstGeom>
          <a:solidFill>
            <a:srgbClr val="134E4A"/>
          </a:solidFill>
          <a:ln w="12700">
            <a:solidFill>
              <a:srgbClr val="134E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464040" y="274320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8%</a:t>
            </a:r>
            <a:endParaRPr lang="en-US" sz="4200" dirty="0"/>
          </a:p>
        </p:txBody>
      </p:sp>
      <p:sp>
        <p:nvSpPr>
          <p:cNvPr id="25" name="Text 23"/>
          <p:cNvSpPr/>
          <p:nvPr/>
        </p:nvSpPr>
        <p:spPr>
          <a:xfrm>
            <a:off x="9464040" y="340156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CFBF1"/>
                </a:solidFill>
              </a:rPr>
              <a:t>duurder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34E4A"/>
          </a:solidFill>
          <a:ln w="12700">
            <a:solidFill>
              <a:srgbClr val="134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629400"/>
            <a:ext cx="5486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1.1.2  Percentages en indexcijfers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66E"/>
                </a:solidFill>
              </a:rPr>
              <a:t>VAN EEN PRIJS NAAR EEN REEKS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658368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</a:rPr>
              <a:t>Waarom indexcijfers?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30352" y="129844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</a:rPr>
              <a:t>Een index maakt jaren vergelijkbaar.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82880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766E"/>
                </a:solidFill>
              </a:rPr>
              <a:t>Basisjaar = 100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22960" y="2249424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</a:rPr>
              <a:t>Alle andere jaren worden uitgedrukt ten opzichte van dat basisjaar.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68680" y="30632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</a:rPr>
              <a:t>2021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783080" y="3063240"/>
            <a:ext cx="3265714" cy="20116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30449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</a:rPr>
              <a:t>100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903720" y="30449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606D"/>
                </a:solidFill>
              </a:rPr>
              <a:t>EUR 120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68680" y="3703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</a:rPr>
              <a:t>2023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783080" y="3703320"/>
            <a:ext cx="4082143" cy="201168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0" y="368503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</a:rPr>
              <a:t>125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903720" y="36850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606D"/>
                </a:solidFill>
              </a:rPr>
              <a:t>EUR 150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" y="43434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</a:rPr>
              <a:t>2024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783080" y="4343400"/>
            <a:ext cx="4408714" cy="201168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432511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</a:rPr>
              <a:t>135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903720" y="432511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606D"/>
                </a:solidFill>
              </a:rPr>
              <a:t>EUR 162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595360" y="2148840"/>
            <a:ext cx="2606040" cy="23317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15400" y="265176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5276"/>
                </a:solidFill>
              </a:rPr>
              <a:t>Index 125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942832" y="315468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F2937"/>
                </a:solidFill>
              </a:rPr>
              <a:t>betekent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F2937"/>
                </a:solidFill>
              </a:rPr>
              <a:t>25% hoger dan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F2937"/>
                </a:solidFill>
              </a:rPr>
              <a:t>het basisjaar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34E4A"/>
          </a:solidFill>
          <a:ln w="12700">
            <a:solidFill>
              <a:srgbClr val="134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629400"/>
            <a:ext cx="5486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1.1.2  Percentages en indexcijfers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66E"/>
                </a:solidFill>
              </a:rPr>
              <a:t>FORMULE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658368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</a:rPr>
              <a:t>Indexcijfer berekenen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30352" y="129844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</a:rPr>
              <a:t>Waarde doeljaar gedeeld door waarde basisjaar, keer 100.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2011680"/>
            <a:ext cx="9966960" cy="960120"/>
          </a:xfrm>
          <a:prstGeom prst="roundRect">
            <a:avLst/>
          </a:prstGeom>
          <a:solidFill>
            <a:srgbClr val="ECFEFF"/>
          </a:solidFill>
          <a:ln w="12700">
            <a:solidFill>
              <a:srgbClr val="67E8F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34440" y="2331720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02A43"/>
                </a:solidFill>
              </a:rPr>
              <a:t>indexcijfer = waarde doeljaar / waarde basisjaar x 100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914400" y="3657600"/>
            <a:ext cx="1325880" cy="411480"/>
          </a:xfrm>
          <a:prstGeom prst="rect">
            <a:avLst/>
          </a:prstGeom>
          <a:solidFill>
            <a:srgbClr val="134E4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3758184"/>
            <a:ext cx="1179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Jaar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468880" y="3657600"/>
            <a:ext cx="1691640" cy="411480"/>
          </a:xfrm>
          <a:prstGeom prst="rect">
            <a:avLst/>
          </a:prstGeom>
          <a:solidFill>
            <a:srgbClr val="134E4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42032" y="3758184"/>
            <a:ext cx="1545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Prijs mandje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480560" y="3657600"/>
            <a:ext cx="2834640" cy="411480"/>
          </a:xfrm>
          <a:prstGeom prst="rect">
            <a:avLst/>
          </a:prstGeom>
          <a:solidFill>
            <a:srgbClr val="134E4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12" y="3758184"/>
            <a:ext cx="2688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Berekening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589520" y="3657600"/>
            <a:ext cx="1143000" cy="411480"/>
          </a:xfrm>
          <a:prstGeom prst="rect">
            <a:avLst/>
          </a:prstGeom>
          <a:solidFill>
            <a:srgbClr val="134E4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62672" y="3758184"/>
            <a:ext cx="9966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Index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14400" y="4133088"/>
            <a:ext cx="13258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87552" y="4233672"/>
            <a:ext cx="1179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2A43"/>
                </a:solidFill>
              </a:rPr>
              <a:t>2021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468880" y="4133088"/>
            <a:ext cx="1691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42032" y="4233672"/>
            <a:ext cx="1545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2A43"/>
                </a:solidFill>
              </a:rPr>
              <a:t>EUR 120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480560" y="4133088"/>
            <a:ext cx="2834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53712" y="4233672"/>
            <a:ext cx="2688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2A43"/>
                </a:solidFill>
              </a:rPr>
              <a:t>120 / 120 x 100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589520" y="4133088"/>
            <a:ext cx="11430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62672" y="4233672"/>
            <a:ext cx="9966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2A43"/>
                </a:solidFill>
              </a:rPr>
              <a:t>100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4400" y="4608576"/>
            <a:ext cx="13258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87552" y="4709160"/>
            <a:ext cx="1179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2A43"/>
                </a:solidFill>
              </a:rPr>
              <a:t>2023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468880" y="4608576"/>
            <a:ext cx="1691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542032" y="4709160"/>
            <a:ext cx="1545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2A43"/>
                </a:solidFill>
              </a:rPr>
              <a:t>EUR 150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480560" y="4608576"/>
            <a:ext cx="2834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53712" y="4709160"/>
            <a:ext cx="2688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2A43"/>
                </a:solidFill>
              </a:rPr>
              <a:t>150 / 120 x 100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589520" y="4608576"/>
            <a:ext cx="11430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62672" y="4709160"/>
            <a:ext cx="9966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2A43"/>
                </a:solidFill>
              </a:rPr>
              <a:t>125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34E4A"/>
          </a:solidFill>
          <a:ln w="12700">
            <a:solidFill>
              <a:srgbClr val="134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629400"/>
            <a:ext cx="5486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1.1.2  Percentages en indexcijfers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66E"/>
                </a:solidFill>
              </a:rPr>
              <a:t>VALKUIL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658368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</a:rPr>
              <a:t>Indexpunten zijn geen procenten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30352" y="129844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</a:rPr>
              <a:t>Van index 125 naar 135 is niet 10%.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828800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A43"/>
                </a:solidFill>
              </a:rPr>
              <a:t>125 -&gt; 135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96112" y="25146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76F51"/>
                </a:solidFill>
              </a:rPr>
              <a:t>Verschil = 10 indexpunten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68680" y="3246120"/>
            <a:ext cx="4617720" cy="109728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3602736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C2D12"/>
                </a:solidFill>
              </a:rPr>
              <a:t>10 / 125 x 100% = 8%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629400" y="1828800"/>
            <a:ext cx="4023360" cy="256032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49440" y="22402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91B1B"/>
                </a:solidFill>
              </a:rPr>
              <a:t>Fout: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949440" y="269748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91B1B"/>
                </a:solidFill>
              </a:rPr>
              <a:t>10 indexpunten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991B1B"/>
                </a:solidFill>
              </a:rPr>
              <a:t>= 10%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949440" y="367588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F1D1D"/>
                </a:solidFill>
              </a:rPr>
              <a:t>Alleen waar als oud indexcijfer 100 is.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34E4A"/>
          </a:solidFill>
          <a:ln w="12700">
            <a:solidFill>
              <a:srgbClr val="134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629400"/>
            <a:ext cx="5486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1.1.2  Percentages en indexcijfers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66E"/>
                </a:solidFill>
              </a:rPr>
              <a:t>SAMENVATTING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658368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</a:rPr>
              <a:t>Drie dingen die je moet kunnen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30352" y="129844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</a:rPr>
              <a:t>Percentage, index en indexpunten scherp uit elkaar houden.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057400"/>
            <a:ext cx="324612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2286000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44752" y="2267712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</a:rPr>
              <a:t>Procentuele verandering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51560" y="3063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(nieuw - oud) / oud x 100%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434840" y="2057400"/>
            <a:ext cx="324612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36008" y="2286000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148072" y="2267712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</a:rPr>
              <a:t>Indexcijfer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754880" y="3063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waarde doeljaar / waarde basisjaar x 100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138160" y="2057400"/>
            <a:ext cx="324612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39328" y="2286000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851392" y="2267712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</a:rPr>
              <a:t>Indexpunten vs procenten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458200" y="3063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puntenverschil / oud indexcijfer x 100%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" y="489204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5276"/>
                </a:solidFill>
              </a:rPr>
              <a:t>Volgende stap: gegevens uit tabellen en grafieken netjes verwerken.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4veco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1.1.2 Percentages en indexcijfers</dc:title>
  <dc:subject>1.1.2 Percentages en indexcijfers</dc:subject>
  <dc:creator>Economie VWO</dc:creator>
  <cp:lastModifiedBy>Economie VWO</cp:lastModifiedBy>
  <cp:revision>1</cp:revision>
  <dcterms:created xsi:type="dcterms:W3CDTF">2026-05-12T12:49:15Z</dcterms:created>
  <dcterms:modified xsi:type="dcterms:W3CDTF">2026-05-12T12:49:15Z</dcterms:modified>
</cp:coreProperties>
</file>