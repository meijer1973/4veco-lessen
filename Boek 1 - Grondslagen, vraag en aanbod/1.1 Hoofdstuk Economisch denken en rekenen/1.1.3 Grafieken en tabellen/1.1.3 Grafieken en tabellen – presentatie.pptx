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met de ijskraam. Laat leerlingen hardop noemen wat de twee kolommen betekenen. Maak duidelijk dat een grafiek pas betrouwbaar is als de bron goed gelezen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Dit is de bronwaarde-route. De kern is dat leerlingen eerst labelen. Zonder labels zijn latere berekeningen moeilijk te controleren.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Benadruk dat dit anders voelt dan bij wiskunde, maar in economie heel bewust gebeurt. Laat leerlingen de assen aanwijzen voordat ze een punt tekenen.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Interpoleren is hier niet gokken. Het is schatten met informatie: de prijs ligt in het midden, dus bij een rechte lijn ligt de hoeveelheid ook in het midden.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Sluit af met grafiekgeletterdheid. Een schaalkeuze kan een klein verschil dramatischer laten lijken. Dat maakt de broncheck economisch belangrijk.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</a:rPr>
              <a:t>§1.1.3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02A43"/>
                </a:solidFill>
              </a:rPr>
              <a:t>Van tabel naar verhaal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307592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606D"/>
                </a:solidFill>
              </a:rPr>
              <a:t>Eerst de bron lezen, daarna pas tekenen of rekenen.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914400" y="1965960"/>
            <a:ext cx="10058400" cy="457200"/>
          </a:xfrm>
          <a:prstGeom prst="roundRect">
            <a:avLst>
              <a:gd name="adj" fmla="val 16000"/>
            </a:avLst>
          </a:prstGeom>
          <a:solidFill>
            <a:srgbClr val="ECFE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" y="2084832"/>
            <a:ext cx="950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02A43"/>
                </a:solidFill>
              </a:rPr>
              <a:t>Prijs en aantal verkochte ijsjes staan in verschillende kolommen.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14400" y="2679192"/>
            <a:ext cx="100584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43000" y="2798064"/>
            <a:ext cx="950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02A43"/>
                </a:solidFill>
              </a:rPr>
              <a:t>Een tabel ordent de data; een grafiek maakt het verband zichtbaar.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14400" y="3392424"/>
            <a:ext cx="10058400" cy="457200"/>
          </a:xfrm>
          <a:prstGeom prst="roundRect">
            <a:avLst>
              <a:gd name="adj" fmla="val 16000"/>
            </a:avLst>
          </a:prstGeom>
          <a:solidFill>
            <a:srgbClr val="ECFE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3000" y="3511296"/>
            <a:ext cx="950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02A43"/>
                </a:solidFill>
              </a:rPr>
              <a:t>De eerste vraag is steeds: wat betekenen deze getallen?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</a:rPr>
              <a:t>§1.1.3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02A43"/>
                </a:solidFill>
              </a:rPr>
              <a:t>Tabelwaarden kiezen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307592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606D"/>
                </a:solidFill>
              </a:rPr>
              <a:t>Kies niet zomaar een zichtbaar getal.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914400" y="1965960"/>
            <a:ext cx="10058400" cy="457200"/>
          </a:xfrm>
          <a:prstGeom prst="roundRect">
            <a:avLst>
              <a:gd name="adj" fmla="val 16000"/>
            </a:avLst>
          </a:prstGeom>
          <a:solidFill>
            <a:srgbClr val="ECFE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" y="2084832"/>
            <a:ext cx="950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02A43"/>
                </a:solidFill>
              </a:rPr>
              <a:t>Lees de vraag: welke rij, kolom of periode heb je nodig?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14400" y="2679192"/>
            <a:ext cx="100584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43000" y="2798064"/>
            <a:ext cx="950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02A43"/>
                </a:solidFill>
              </a:rPr>
              <a:t>Controleer tabelkop, rijlabel, kolomlabel en eenheid.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14400" y="3392424"/>
            <a:ext cx="10058400" cy="457200"/>
          </a:xfrm>
          <a:prstGeom prst="roundRect">
            <a:avLst>
              <a:gd name="adj" fmla="val 16000"/>
            </a:avLst>
          </a:prstGeom>
          <a:solidFill>
            <a:srgbClr val="ECFE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3000" y="3511296"/>
            <a:ext cx="950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02A43"/>
                </a:solidFill>
              </a:rPr>
              <a:t>Label je waarden: oud = 500 ijsjes, nieuw = 300 ijsjes.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</a:rPr>
              <a:t>§1.1.3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02A43"/>
                </a:solidFill>
              </a:rPr>
              <a:t>De economie-conventie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307592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606D"/>
                </a:solidFill>
              </a:rPr>
              <a:t>In P-Q grafieken staat prijs verticaal.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914400" y="1965960"/>
            <a:ext cx="10058400" cy="457200"/>
          </a:xfrm>
          <a:prstGeom prst="roundRect">
            <a:avLst>
              <a:gd name="adj" fmla="val 16000"/>
            </a:avLst>
          </a:prstGeom>
          <a:solidFill>
            <a:srgbClr val="ECFE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" y="2084832"/>
            <a:ext cx="950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02A43"/>
                </a:solidFill>
              </a:rPr>
              <a:t>P staat op de verticale as.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14400" y="2679192"/>
            <a:ext cx="100584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43000" y="2798064"/>
            <a:ext cx="950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02A43"/>
                </a:solidFill>
              </a:rPr>
              <a:t>Q staat op de horizontale as.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14400" y="3392424"/>
            <a:ext cx="10058400" cy="457200"/>
          </a:xfrm>
          <a:prstGeom prst="roundRect">
            <a:avLst>
              <a:gd name="adj" fmla="val 16000"/>
            </a:avLst>
          </a:prstGeom>
          <a:solidFill>
            <a:srgbClr val="ECFE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3000" y="3511296"/>
            <a:ext cx="950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02A43"/>
                </a:solidFill>
              </a:rPr>
              <a:t>Een punt schrijf je als (Q; P), bijvoorbeeld (300; 2,00).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</a:rPr>
              <a:t>§1.1.3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02A43"/>
                </a:solidFill>
              </a:rPr>
              <a:t>Interpoleren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307592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606D"/>
                </a:solidFill>
              </a:rPr>
              <a:t>Schatten tussen twee bekende punten.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914400" y="1965960"/>
            <a:ext cx="10058400" cy="457200"/>
          </a:xfrm>
          <a:prstGeom prst="roundRect">
            <a:avLst>
              <a:gd name="adj" fmla="val 16000"/>
            </a:avLst>
          </a:prstGeom>
          <a:solidFill>
            <a:srgbClr val="ECFE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" y="2084832"/>
            <a:ext cx="950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02A43"/>
                </a:solidFill>
              </a:rPr>
              <a:t>Zoek EUR 1,75 op de prijsas.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14400" y="2679192"/>
            <a:ext cx="100584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43000" y="2798064"/>
            <a:ext cx="950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02A43"/>
                </a:solidFill>
              </a:rPr>
              <a:t>Trek een lijn naar de grafiek en lees Q af.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14400" y="3392424"/>
            <a:ext cx="10058400" cy="457200"/>
          </a:xfrm>
          <a:prstGeom prst="roundRect">
            <a:avLst>
              <a:gd name="adj" fmla="val 16000"/>
            </a:avLst>
          </a:prstGeom>
          <a:solidFill>
            <a:srgbClr val="ECFE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3000" y="3511296"/>
            <a:ext cx="950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02A43"/>
                </a:solidFill>
              </a:rPr>
              <a:t>Tussen 400 en 300 ligt ongeveer 350.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</a:rPr>
              <a:t>§1.1.3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02A43"/>
                </a:solidFill>
              </a:rPr>
              <a:t>Kritisch kijken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307592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606D"/>
                </a:solidFill>
              </a:rPr>
              <a:t>Een grafiek kan sturen hoe groot een verschil voelt.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914400" y="1965960"/>
            <a:ext cx="10058400" cy="457200"/>
          </a:xfrm>
          <a:prstGeom prst="roundRect">
            <a:avLst>
              <a:gd name="adj" fmla="val 16000"/>
            </a:avLst>
          </a:prstGeom>
          <a:solidFill>
            <a:srgbClr val="ECFE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" y="2084832"/>
            <a:ext cx="950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02A43"/>
                </a:solidFill>
              </a:rPr>
              <a:t>Controleer altijd of de as bij nul begint.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14400" y="2679192"/>
            <a:ext cx="100584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43000" y="2798064"/>
            <a:ext cx="950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02A43"/>
                </a:solidFill>
              </a:rPr>
              <a:t>Vraag welke twee waarden worden vergeleken.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14400" y="3392424"/>
            <a:ext cx="10058400" cy="457200"/>
          </a:xfrm>
          <a:prstGeom prst="roundRect">
            <a:avLst>
              <a:gd name="adj" fmla="val 16000"/>
            </a:avLst>
          </a:prstGeom>
          <a:solidFill>
            <a:srgbClr val="ECFE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3000" y="3511296"/>
            <a:ext cx="950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02A43"/>
                </a:solidFill>
              </a:rPr>
              <a:t>Een kop met procenten klopt alleen met de juiste basis.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4VECO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Grafieken en tabellen</dc:title>
  <dc:subject>1.1.3 Grafieken en tabellen</dc:subject>
  <dc:creator>4VECO</dc:creator>
  <cp:lastModifiedBy>4VECO</cp:lastModifiedBy>
  <cp:revision>1</cp:revision>
  <dcterms:created xsi:type="dcterms:W3CDTF">2026-05-18T13:47:48Z</dcterms:created>
  <dcterms:modified xsi:type="dcterms:W3CDTF">2026-05-18T13:47:48Z</dcterms:modified>
</cp:coreProperties>
</file>