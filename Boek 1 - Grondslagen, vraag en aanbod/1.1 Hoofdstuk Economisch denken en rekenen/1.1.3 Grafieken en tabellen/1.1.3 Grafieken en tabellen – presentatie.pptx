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CC6EF7-F449-42CB-8E2A-3CA72EE73E7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1: Van tabel naar 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route_contract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routeContract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Je leest eerst de bron, dan pas teken of beoordeel je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lesroute voorkomt dat leerlingen meteen naar losse getallen springen.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Elke grafiekclaim begint bij de bron: welke waarden worden eigenlijk vergeleken?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gebruiken we de ijskraam als concrete bron.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 route als checklist tijdens elke grafiekopgave.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61622A-506F-45C5-99F2-CFA9997976B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2: Van tabel naar 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source_table_anchor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choiceTensionCover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tabel ordent de waarden; de grafiek maakt het verband zichtbaar.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tabel bevat al informatie, maar het verband wordt sneller zichtbaar in de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Docentcue: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de kolommen benoemen voordat ze de lijn interpreteren.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 kiezen we precies welke tabelwaarden nodig zijn.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Noem bij twee rijen hardop de prijs, hoeveelheid en eenheid.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A0A44A-691C-4288-BFDA-E1D9021771D8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3: Kies de juiste bronwaarde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table_value_selection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procedureRoute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getal uit een tabel is pas bruikbaar als je label en eenheid meeneemt.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Dit is de broncontrole die veel rekenfouten voorkomt.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Zonder label weet je later niet meer of 300 een prijs, hoeveelheid of index 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de bronwaarden helder kunnen we de grafiekopzet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de waarden voordat je rekent.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7726B6-7260-4C74-A930-9DE93F2D0444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4: Gebruik de economie-assen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axis_convention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procedureRoute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deze P-Q-grafiek staat prijs op de verticale as en hoeveelheid op de horizontale 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valkuil is dat leerlingen vanuit wiskunde automatisch de prijs horizontaal zetten.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Misconceptie-watch: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Draai de assen niet om: in deze economiegrafiek staat P verticaal en Q horizontaal.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lezen we een tussenwaarde af.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Spreek een punt uit als hoeveelheid en prijs: (Q; P).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98E368-9B54-41DC-821A-6BDDFA68500B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5: Lees tussen twee punten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graph_reading_interpolation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procedureRoute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Interpoleren is een beredeneerde schatting tussen bekende 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Interpoleren is hier geen gok: de schatting ligt tussen twee bekende bronpunten.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 slot kijken we kritisch naar de schaal van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hulplijnen en noem de schatting als ongeveer.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B3F2CB-3952-47DB-BD54-93AF6BC8FF4A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6: Controleer de schaal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graph_claim_check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procedureRoute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grafiek kan hetzelfde verschil groter of kleiner laten voelen.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Grafieken zijn niet verdacht, maar schaalkeuzes sturen wel hoe groot een verschil voelt.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Misconceptie-watch: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steile staaf is geen bewijs zonder de as en waarden te lezen.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sluiten af door de kernvragen terug te halen.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Lees de asstart en vergelijkingsbasis voordat je de conclusie overneemt.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28D9CF-6200-4F4D-8C09-92775E82D6BD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7: Controleer je grafiekroute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retrieval_check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retrievalCheck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Deze checks vatten de basis van grafieken en tabellen samen.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check is bedoeld als snelle terughaalronde, niet als bewijs dat alles onder de knie 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Docentcue: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stil antwoorden en daarna per kaart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dezelfde route in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eerst zelf; open daarna de kaart.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5D748C-AE5B-47A0-A985-7010BE5E654D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8: Samenvatting en volgende stap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Rol: summary_bridge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Layout: summaryBridge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Kernzin: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grafiekroute werkt bij elke tabel: bron lezen, grafiek controleren, claim beoordelen.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samenvatting verbindt de presentatie met de oefenpagina en het spel zonder nieuw begrip te introduceren.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kern is dat leerlingen steeds dezelfde controlevolgorde gebruiken.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oefen je zelfstandig met dezelfde route.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Actie op de dia: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Neem deze drie checks mee naar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1DE243-B49E-4F93-8075-7B22258FD87D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LESROUTE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oordeel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leest eerst de bron, dan pas teken of beoordeel je een grafiek.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de route als checklist tijdens elke grafiekopgave.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65844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2296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143568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Bron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43568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Lees tabelkop, rij, kolom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7688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414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5412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515412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Zet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809532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82602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887256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887256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Controleer schaal, vergelijking en claim.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685800" y="4096440"/>
            <a:ext cx="4388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Aan het einde kun je...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822960" y="4480560"/>
            <a:ext cx="9966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kiest tabelwaarden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leest een P-Q-grafiek met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controleert of schaal en vergelijking de grafiekclaim ondersteunen.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Bron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IJSKRAAM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grafiek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tabel ordent de waarden; de grafiek maakt het verband zichtbaar.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Noem bij twee rijen hardop de prijs, hoeveelheid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658440" y="2103120"/>
            <a:ext cx="4571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ijskraam verkoopt bij lagere prijzen meer ijsjes.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1"/>
          <p:cNvSpPr/>
          <p:nvPr/>
        </p:nvSpPr>
        <p:spPr>
          <a:xfrm>
            <a:off x="658440" y="29991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tabel geeft de data; de grafiek laat het patroon zien.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2"/>
          <p:cNvSpPr/>
          <p:nvPr/>
        </p:nvSpPr>
        <p:spPr>
          <a:xfrm>
            <a:off x="5577840" y="1965960"/>
            <a:ext cx="2515320" cy="3611520"/>
          </a:xfrm>
          <a:prstGeom prst="roundRect">
            <a:avLst>
              <a:gd name="adj" fmla="val 2908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3"/>
          <p:cNvSpPr/>
          <p:nvPr/>
        </p:nvSpPr>
        <p:spPr>
          <a:xfrm>
            <a:off x="5724000" y="2103120"/>
            <a:ext cx="222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4"/>
          <p:cNvSpPr/>
          <p:nvPr/>
        </p:nvSpPr>
        <p:spPr>
          <a:xfrm>
            <a:off x="571500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576072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683568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688140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8"/>
          <p:cNvSpPr/>
          <p:nvPr/>
        </p:nvSpPr>
        <p:spPr>
          <a:xfrm>
            <a:off x="571500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576072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0"/>
          <p:cNvSpPr/>
          <p:nvPr/>
        </p:nvSpPr>
        <p:spPr>
          <a:xfrm>
            <a:off x="683568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1"/>
          <p:cNvSpPr/>
          <p:nvPr/>
        </p:nvSpPr>
        <p:spPr>
          <a:xfrm>
            <a:off x="688140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2"/>
          <p:cNvSpPr/>
          <p:nvPr/>
        </p:nvSpPr>
        <p:spPr>
          <a:xfrm>
            <a:off x="571500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576072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4"/>
          <p:cNvSpPr/>
          <p:nvPr/>
        </p:nvSpPr>
        <p:spPr>
          <a:xfrm>
            <a:off x="683568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5"/>
          <p:cNvSpPr/>
          <p:nvPr/>
        </p:nvSpPr>
        <p:spPr>
          <a:xfrm>
            <a:off x="688140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6"/>
          <p:cNvSpPr/>
          <p:nvPr/>
        </p:nvSpPr>
        <p:spPr>
          <a:xfrm>
            <a:off x="571500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7"/>
          <p:cNvSpPr/>
          <p:nvPr/>
        </p:nvSpPr>
        <p:spPr>
          <a:xfrm>
            <a:off x="576072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8"/>
          <p:cNvSpPr/>
          <p:nvPr/>
        </p:nvSpPr>
        <p:spPr>
          <a:xfrm>
            <a:off x="683568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9"/>
          <p:cNvSpPr/>
          <p:nvPr/>
        </p:nvSpPr>
        <p:spPr>
          <a:xfrm>
            <a:off x="688140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30"/>
          <p:cNvSpPr/>
          <p:nvPr/>
        </p:nvSpPr>
        <p:spPr>
          <a:xfrm>
            <a:off x="571500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1"/>
          <p:cNvSpPr/>
          <p:nvPr/>
        </p:nvSpPr>
        <p:spPr>
          <a:xfrm>
            <a:off x="576072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2"/>
          <p:cNvSpPr/>
          <p:nvPr/>
        </p:nvSpPr>
        <p:spPr>
          <a:xfrm>
            <a:off x="683568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3"/>
          <p:cNvSpPr/>
          <p:nvPr/>
        </p:nvSpPr>
        <p:spPr>
          <a:xfrm>
            <a:off x="688140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4"/>
          <p:cNvSpPr/>
          <p:nvPr/>
        </p:nvSpPr>
        <p:spPr>
          <a:xfrm>
            <a:off x="571500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5"/>
          <p:cNvSpPr/>
          <p:nvPr/>
        </p:nvSpPr>
        <p:spPr>
          <a:xfrm>
            <a:off x="576072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6"/>
          <p:cNvSpPr/>
          <p:nvPr/>
        </p:nvSpPr>
        <p:spPr>
          <a:xfrm>
            <a:off x="683568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7"/>
          <p:cNvSpPr/>
          <p:nvPr/>
        </p:nvSpPr>
        <p:spPr>
          <a:xfrm>
            <a:off x="688140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8"/>
          <p:cNvSpPr/>
          <p:nvPr/>
        </p:nvSpPr>
        <p:spPr>
          <a:xfrm>
            <a:off x="8273160" y="1965960"/>
            <a:ext cx="3293640" cy="3611520"/>
          </a:xfrm>
          <a:prstGeom prst="roundRect">
            <a:avLst>
              <a:gd name="adj" fmla="val 222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9"/>
          <p:cNvSpPr/>
          <p:nvPr/>
        </p:nvSpPr>
        <p:spPr>
          <a:xfrm>
            <a:off x="8410320" y="2075760"/>
            <a:ext cx="3019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1"/>
          <p:cNvSpPr/>
          <p:nvPr/>
        </p:nvSpPr>
        <p:spPr>
          <a:xfrm>
            <a:off x="8135640" y="46562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2"/>
          <p:cNvSpPr/>
          <p:nvPr/>
        </p:nvSpPr>
        <p:spPr>
          <a:xfrm>
            <a:off x="8794080" y="42397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3"/>
          <p:cNvSpPr/>
          <p:nvPr/>
        </p:nvSpPr>
        <p:spPr>
          <a:xfrm>
            <a:off x="8135640" y="41576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4"/>
          <p:cNvSpPr/>
          <p:nvPr/>
        </p:nvSpPr>
        <p:spPr>
          <a:xfrm>
            <a:off x="8794080" y="37411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5"/>
          <p:cNvSpPr/>
          <p:nvPr/>
        </p:nvSpPr>
        <p:spPr>
          <a:xfrm>
            <a:off x="8135640" y="36590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6"/>
          <p:cNvSpPr/>
          <p:nvPr/>
        </p:nvSpPr>
        <p:spPr>
          <a:xfrm>
            <a:off x="8794080" y="32425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7"/>
          <p:cNvSpPr/>
          <p:nvPr/>
        </p:nvSpPr>
        <p:spPr>
          <a:xfrm>
            <a:off x="8135640" y="31604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8"/>
          <p:cNvSpPr/>
          <p:nvPr/>
        </p:nvSpPr>
        <p:spPr>
          <a:xfrm>
            <a:off x="8794080" y="27439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9"/>
          <p:cNvSpPr/>
          <p:nvPr/>
        </p:nvSpPr>
        <p:spPr>
          <a:xfrm>
            <a:off x="8135640" y="26618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0"/>
          <p:cNvSpPr/>
          <p:nvPr/>
        </p:nvSpPr>
        <p:spPr>
          <a:xfrm>
            <a:off x="8794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1"/>
          <p:cNvSpPr/>
          <p:nvPr/>
        </p:nvSpPr>
        <p:spPr>
          <a:xfrm>
            <a:off x="853812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52"/>
          <p:cNvSpPr/>
          <p:nvPr/>
        </p:nvSpPr>
        <p:spPr>
          <a:xfrm>
            <a:off x="9379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3"/>
          <p:cNvSpPr/>
          <p:nvPr/>
        </p:nvSpPr>
        <p:spPr>
          <a:xfrm>
            <a:off x="9123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54"/>
          <p:cNvSpPr/>
          <p:nvPr/>
        </p:nvSpPr>
        <p:spPr>
          <a:xfrm>
            <a:off x="9964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55"/>
          <p:cNvSpPr/>
          <p:nvPr/>
        </p:nvSpPr>
        <p:spPr>
          <a:xfrm>
            <a:off x="9708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56"/>
          <p:cNvSpPr/>
          <p:nvPr/>
        </p:nvSpPr>
        <p:spPr>
          <a:xfrm>
            <a:off x="10549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7"/>
          <p:cNvSpPr/>
          <p:nvPr/>
        </p:nvSpPr>
        <p:spPr>
          <a:xfrm>
            <a:off x="10293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8"/>
          <p:cNvSpPr/>
          <p:nvPr/>
        </p:nvSpPr>
        <p:spPr>
          <a:xfrm>
            <a:off x="1113480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9"/>
          <p:cNvSpPr/>
          <p:nvPr/>
        </p:nvSpPr>
        <p:spPr>
          <a:xfrm>
            <a:off x="10878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61"/>
          <p:cNvSpPr/>
          <p:nvPr/>
        </p:nvSpPr>
        <p:spPr>
          <a:xfrm flipV="1">
            <a:off x="8794080" y="2743920"/>
            <a:ext cx="360" cy="199440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2"/>
          <p:cNvSpPr/>
          <p:nvPr/>
        </p:nvSpPr>
        <p:spPr>
          <a:xfrm>
            <a:off x="11043360" y="505836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3"/>
          <p:cNvSpPr/>
          <p:nvPr/>
        </p:nvSpPr>
        <p:spPr>
          <a:xfrm>
            <a:off x="8355240" y="272592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4"/>
          <p:cNvSpPr/>
          <p:nvPr/>
        </p:nvSpPr>
        <p:spPr>
          <a:xfrm>
            <a:off x="8794080" y="5203080"/>
            <a:ext cx="2340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5"/>
          <p:cNvSpPr/>
          <p:nvPr/>
        </p:nvSpPr>
        <p:spPr>
          <a:xfrm>
            <a:off x="8867160" y="245160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6"/>
          <p:cNvSpPr/>
          <p:nvPr/>
        </p:nvSpPr>
        <p:spPr>
          <a:xfrm>
            <a:off x="8794080" y="27439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67"/>
          <p:cNvSpPr/>
          <p:nvPr/>
        </p:nvSpPr>
        <p:spPr>
          <a:xfrm>
            <a:off x="9379080" y="32425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8"/>
          <p:cNvSpPr/>
          <p:nvPr/>
        </p:nvSpPr>
        <p:spPr>
          <a:xfrm>
            <a:off x="9964440" y="37411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9"/>
          <p:cNvSpPr/>
          <p:nvPr/>
        </p:nvSpPr>
        <p:spPr>
          <a:xfrm>
            <a:off x="10549440" y="42397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70"/>
          <p:cNvSpPr/>
          <p:nvPr/>
        </p:nvSpPr>
        <p:spPr>
          <a:xfrm>
            <a:off x="8753040" y="27032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71"/>
          <p:cNvSpPr/>
          <p:nvPr/>
        </p:nvSpPr>
        <p:spPr>
          <a:xfrm>
            <a:off x="9338040" y="32014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72"/>
          <p:cNvSpPr/>
          <p:nvPr/>
        </p:nvSpPr>
        <p:spPr>
          <a:xfrm>
            <a:off x="9923400" y="37000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3"/>
          <p:cNvSpPr/>
          <p:nvPr/>
        </p:nvSpPr>
        <p:spPr>
          <a:xfrm>
            <a:off x="10037520" y="355860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4"/>
          <p:cNvSpPr/>
          <p:nvPr/>
        </p:nvSpPr>
        <p:spPr>
          <a:xfrm>
            <a:off x="10508760" y="41986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5"/>
          <p:cNvSpPr/>
          <p:nvPr/>
        </p:nvSpPr>
        <p:spPr>
          <a:xfrm>
            <a:off x="11093760" y="46972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de juiste bronwaarde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getal uit een tabel is pas bruikbaar als je label en eenheid meeneemt.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Label de waarden voordat je rekent.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831960" y="2130480"/>
            <a:ext cx="4937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82296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86868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330084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334656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 verkocht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2296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86868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330084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334656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82296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86868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330084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334656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2296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86868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330084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334656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82296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86868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330084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334656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2296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86868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330084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334656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Bronwaarden krijgen pas betekenis met label en eenheid.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vraag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rij, kolom of periode is nodig?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labels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Tabelkop, rijlabel, kolomlabel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4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4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Selecteer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Kies oud, nieuw of de gevraagde waarde.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Label je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Schrijf bijvoorbeeld oud = 500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Voor een procentuele verandering noteer je eerst oud en nieuw.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Gebruik de economie-assen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 deze P-Q-grafiek staat prijs op de verticale as en hoeveelheid op de horizontale as.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Spreek een punt uit als hoeveelheid en prijs: (Q; P).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9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staat verticaal; hoeveelheid staat horizontaal.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50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51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2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Bepaal variabelen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3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en hoeveelheid.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4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5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6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7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verticaal, hoeveelheid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8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59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0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schaal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1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Alle punten moeten passen.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62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3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64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Zet punten uit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5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Verbind ze passend.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6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Het punt (300; 2,00) betekent: 300 ijsjes bij een prijs van €2,00.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tussen twee punten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Interpoleren is een beredeneerde schatting tussen bekende punten.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hulplijnen en noem de schatting als ongeveer.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Interpoleren bij 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9"/>
          <p:cNvSpPr/>
          <p:nvPr/>
        </p:nvSpPr>
        <p:spPr>
          <a:xfrm>
            <a:off x="3847680" y="4017960"/>
            <a:ext cx="360" cy="74772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50"/>
          <p:cNvSpPr/>
          <p:nvPr/>
        </p:nvSpPr>
        <p:spPr>
          <a:xfrm>
            <a:off x="1474200" y="4017960"/>
            <a:ext cx="2373480" cy="36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51"/>
          <p:cNvSpPr/>
          <p:nvPr/>
        </p:nvSpPr>
        <p:spPr>
          <a:xfrm>
            <a:off x="3801960" y="3972240"/>
            <a:ext cx="91080" cy="91080"/>
          </a:xfrm>
          <a:prstGeom prst="ellipse">
            <a:avLst/>
          </a:prstGeom>
          <a:solidFill>
            <a:srgbClr val="D94A3A"/>
          </a:solidFill>
          <a:ln w="5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2"/>
          <p:cNvSpPr/>
          <p:nvPr/>
        </p:nvSpPr>
        <p:spPr>
          <a:xfrm>
            <a:off x="3939120" y="4446000"/>
            <a:ext cx="1416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Q ongeveer 350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3"/>
          <p:cNvSpPr/>
          <p:nvPr/>
        </p:nvSpPr>
        <p:spPr>
          <a:xfrm>
            <a:off x="1565640" y="37620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4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Hulplijnen maken de schatting controleerbaar.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5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6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7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titel en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8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meet de 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59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0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61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Zoek de waarde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2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Bijvoorbeeld €1,75 op de prijsas.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3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4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5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Trek hulplijnen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66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Naar de grafiek en dan naar de andere 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67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8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9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Schat netjes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70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Tussen 400 en 300 ligt ongeveer 350.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1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Bij €1,75 verkoop je ongeveer 350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6/8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schaal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grafiek kan hetzelfde verschil groter of kleiner laten voelen.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Lees de asstart en vergelijkingsbasis voordat je de conclusie overneemt.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822960" y="2112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Zelfde data, andere schaal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91440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123444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105156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5"/>
          <p:cNvSpPr/>
          <p:nvPr/>
        </p:nvSpPr>
        <p:spPr>
          <a:xfrm>
            <a:off x="109728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2103120" y="3026520"/>
            <a:ext cx="456840" cy="210276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192024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8"/>
          <p:cNvSpPr/>
          <p:nvPr/>
        </p:nvSpPr>
        <p:spPr>
          <a:xfrm>
            <a:off x="1965960" y="282564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327816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490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359820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1"/>
          <p:cNvSpPr/>
          <p:nvPr/>
        </p:nvSpPr>
        <p:spPr>
          <a:xfrm>
            <a:off x="341532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346104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4466880" y="4352400"/>
            <a:ext cx="456840" cy="77688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428400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4329720" y="415152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 ingezoomde as maakt dezelfde daling dramatischer.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kop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beweert de tekst?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Begint die bij nul?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getallen worden vergeleken?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Check basis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Past het percentage bij die basis?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Een ingezoomde as kan een kleine daling dramatisch maken.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Check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7/8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TERUGHALEN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je grafiekroute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Deze checks vatten de basis van grafieken en tabellen samen.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Beantwoord eerst zelf; open daarna de kaart.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77724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96012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158184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controleer je voordat je een tabelwaarde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158184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Je controleert label en eenheid, zodat het getal betekenis heeft.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621792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640080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6"/>
          <p:cNvSpPr/>
          <p:nvPr/>
        </p:nvSpPr>
        <p:spPr>
          <a:xfrm>
            <a:off x="702252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 staan P en Q in deze economiegrafiek?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702252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 staat verticaal; Q staat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77724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96012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0"/>
          <p:cNvSpPr/>
          <p:nvPr/>
        </p:nvSpPr>
        <p:spPr>
          <a:xfrm>
            <a:off x="158184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schrijf je bij interpoleren vaak ongeveer?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158184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Omdat je een beredeneerde schatting maakt tussen bronpunten.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621792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640080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4"/>
          <p:cNvSpPr/>
          <p:nvPr/>
        </p:nvSpPr>
        <p:spPr>
          <a:xfrm>
            <a:off x="702252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kan een ingezoomde as een daling misleidend groot laten lijken?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702252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Omdat dezelfde data visueel steiler of groter lijken wanneer de as niet bij nul begint.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8/8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Samenvatting en volgende stap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grafiekroute werkt bij elke tabel: bron lezen, grafiek controleren, claim beoordelen.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Neem deze drie checks mee naar de oefenpagina en het grafiekenspel.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0"/>
          <p:cNvSpPr/>
          <p:nvPr/>
        </p:nvSpPr>
        <p:spPr>
          <a:xfrm>
            <a:off x="868680" y="1993320"/>
            <a:ext cx="411120" cy="411120"/>
          </a:xfrm>
          <a:prstGeom prst="ellipse">
            <a:avLst/>
          </a:prstGeom>
          <a:solidFill>
            <a:srgbClr val="076E6E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69120" y="209412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2"/>
          <p:cNvSpPr/>
          <p:nvPr/>
        </p:nvSpPr>
        <p:spPr>
          <a:xfrm>
            <a:off x="1508760" y="2011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Bron: een tabelwaarde is pas bruikbaar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"/>
          <p:cNvSpPr/>
          <p:nvPr/>
        </p:nvSpPr>
        <p:spPr>
          <a:xfrm>
            <a:off x="868680" y="2706480"/>
            <a:ext cx="411120" cy="411120"/>
          </a:xfrm>
          <a:prstGeom prst="ellipse">
            <a:avLst/>
          </a:prstGeom>
          <a:solidFill>
            <a:srgbClr val="8A5A0E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4"/>
          <p:cNvSpPr/>
          <p:nvPr/>
        </p:nvSpPr>
        <p:spPr>
          <a:xfrm>
            <a:off x="969120" y="280728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1508760" y="272484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Grafiek: in deze economiegrafiek staat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868680" y="3420000"/>
            <a:ext cx="411120" cy="411120"/>
          </a:xfrm>
          <a:prstGeom prst="ellipse">
            <a:avLst/>
          </a:prstGeom>
          <a:solidFill>
            <a:srgbClr val="D94A3A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7"/>
          <p:cNvSpPr/>
          <p:nvPr/>
        </p:nvSpPr>
        <p:spPr>
          <a:xfrm>
            <a:off x="969120" y="352044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8"/>
          <p:cNvSpPr/>
          <p:nvPr/>
        </p:nvSpPr>
        <p:spPr>
          <a:xfrm>
            <a:off x="1508760" y="343800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Aflezen: een tussenwaarde zoals €1,75 is een schatting tussen bekende 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9"/>
          <p:cNvSpPr/>
          <p:nvPr/>
        </p:nvSpPr>
        <p:spPr>
          <a:xfrm>
            <a:off x="868680" y="4133160"/>
            <a:ext cx="411120" cy="411120"/>
          </a:xfrm>
          <a:prstGeom prst="ellipse">
            <a:avLst/>
          </a:prstGeom>
          <a:solidFill>
            <a:srgbClr val="3E5A26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0"/>
          <p:cNvSpPr/>
          <p:nvPr/>
        </p:nvSpPr>
        <p:spPr>
          <a:xfrm>
            <a:off x="969120" y="423360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1"/>
          <p:cNvSpPr/>
          <p:nvPr/>
        </p:nvSpPr>
        <p:spPr>
          <a:xfrm>
            <a:off x="1508760" y="415152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Oordeel: schaal en asstart bepalen hoe groot een verschil lijkt.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4veco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2026-06-24T11:55:11Z</dcterms:created>
  <dc:creator>4VWO Economie</dc:creator>
  <dc:description/>
  <dc:language>en-US</dc:language>
  <cp:lastModifiedBy>4VWO Economie</cp:lastModifiedBy>
  <dcterms:modified xsi:type="dcterms:W3CDTF">2026-06-24T11:55:11Z</dcterms:modified>
  <cp:revision>1</cp:revision>
  <dc:subject>1.1.3 Grafieken en tabellen</dc:subject>
  <dc:title>1.1.3 Grafieken en tabellen - presentation-v2 PPTX derivative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