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43582DF-7043-4033-930B-A35E2D3C2B2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1: Van tabel naar oordeel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 route als checklist tijdens elke grafiekopgave.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Je leest eerst de bron, dan pas teken of beoordeel je een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lesroute voorkomt dat leerlingen meteen naar losse getallen springen.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gebruiken we de ijskraam als concrete bron.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6E028F-828C-4003-9DFD-8A0950596F17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2: Van tabel naar grafiek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Noem bij twee rijen hardop de prijs, hoeveelheid en eenheid.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tabel ordent de waarden; de grafiek maakt het verband zichtbaar.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tabel bevat al informatie, maar het verband wordt sneller zichtbaar in de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de kolommen benoemen voordat ze de lijn interpreteren.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 kiezen we precies welke tabelwaarden nodig zijn.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FBBDB6-2267-41F7-B068-D10BEEA9CF3D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3: Kies de juiste bronwaarde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 de waarden voordat je rekent.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getal uit een tabel is pas bruikbaar als je label en eenheid meeneemt.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Dit is de broncontrole die veel rekenfouten voorkomt.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 de bronwaarden helder kunnen we de grafiekopzet controleren.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D95088-2D78-4338-9AB0-A90E93E3FC4F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4: Gebruik de economie-assen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Spreek een punt uit als hoeveelheid en prijs: (Q; P).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 deze P-Q-grafiek staat prijs op de verticale as en hoeveelheid op de horizontale 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valkuil is dat leerlingen vanuit wiskunde automatisch de prijs horizontaal zetten.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Draai de assen niet om: in deze economiegrafiek staat P verticaal en Q horizontaal.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lezen we een tussenwaarde af.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1FDD3B-BCA8-4E42-8DDA-3629374B9953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5: Lees tussen twee punten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hulplijnen en noem de schatting als ongeveer.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Interpoleren is een beredeneerde schatting tussen bekende punten.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Interpoleren is hier geen gok: de schatting ligt tussen twee bekende bronpunten.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 slot kijken we kritisch naar de schaal van een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78F788-A5F7-4A35-B0BD-1F19F289B9AB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6: Controleer de schaal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Lees de asstart en vergelijkingsbasis voordat je de conclusie overneemt.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grafiek kan hetzelfde verschil groter of kleiner laten voelen.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Grafieken zijn niet verdacht, maar schaalkeuzes sturen wel hoe groot een verschil voelt.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steile staaf is geen bewijs zonder de as en waarden te lezen.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sluiten af door de kernvragen terug te halen.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55020B7-9238-4B55-A008-0A7D31D98DD9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7: Controleer je grafiekroute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Beantwoord eerst zelf; open daarna de kaart.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checks vatten de basis van grafieken en tabellen samen.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stil antwoorden en daarna per kaart controleren.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Antwoord: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- 1. Je controleert label en eenheid, zodat het getal betekenis heeft.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- 2. P staat verticaal; Q staat horizontaal.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- 3. Omdat je een beredeneerde schatting maakt tussen bronpunten.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- 4. Omdat dezelfde data visueel steiler of groter lijken wanneer de as niet bij nul begint.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dezelfde route in de oefenpagina en het grafiekenspel.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F99137-661E-4D1B-BEF9-694956ADDAC0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8: Samenvatting en volgende stap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Neem deze drie checks mee naar de oefenpagina en het grafiekenspel.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grafiekroute werkt bij elke tabel: bron lezen, grafiek controleren, claim beoordelen.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samenvatting verbindt de presentatie met de oefenpagina en het spel zonder nieuw begrip te introduceren.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kern is dat leerlingen steeds dezelfde controlevolgorde gebruiken.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oefen je zelfstandig met dezelfde route.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02207A-369E-4E3E-8AD6-97D826D72D26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Route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LESROUTE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Van tabel naar oordeel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Je leest eerst de bron, dan pas teken of beoordeel je een grafiek.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de route als checklist tijdens elke grafiekopgave.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65844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2296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143568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Bron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43568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Lees tabelkop, rij, kolom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37688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45414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6"/>
          <p:cNvSpPr/>
          <p:nvPr/>
        </p:nvSpPr>
        <p:spPr>
          <a:xfrm>
            <a:off x="515412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Grafiek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515412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Zet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809532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82602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0"/>
          <p:cNvSpPr/>
          <p:nvPr/>
        </p:nvSpPr>
        <p:spPr>
          <a:xfrm>
            <a:off x="887256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Oordeel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1"/>
          <p:cNvSpPr/>
          <p:nvPr/>
        </p:nvSpPr>
        <p:spPr>
          <a:xfrm>
            <a:off x="887256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Controleer schaal, vergelijking en claim.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685800" y="4096440"/>
            <a:ext cx="4388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Aan het einde kun je...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822960" y="4480560"/>
            <a:ext cx="9966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kiest tabelwaarden met 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leest een P-Q-grafiek met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controleert of schaal en vergelijking de grafiekclaim ondersteunen.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Bron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IJSKRAAM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Van tabel naar grafiek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tabel ordent de waarden; de grafiek maakt het verband zichtbaar.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Noem bij twee rijen hardop de prijs, hoeveelheid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658440" y="2103120"/>
            <a:ext cx="4571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ijskraam verkoopt bij lagere prijzen meer ijsjes.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1"/>
          <p:cNvSpPr/>
          <p:nvPr/>
        </p:nvSpPr>
        <p:spPr>
          <a:xfrm>
            <a:off x="658440" y="299916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tabel geeft de data; de grafiek laat het patroon zien.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2"/>
          <p:cNvSpPr/>
          <p:nvPr/>
        </p:nvSpPr>
        <p:spPr>
          <a:xfrm>
            <a:off x="5577840" y="1965960"/>
            <a:ext cx="2515320" cy="3611520"/>
          </a:xfrm>
          <a:prstGeom prst="roundRect">
            <a:avLst>
              <a:gd name="adj" fmla="val 2908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3"/>
          <p:cNvSpPr/>
          <p:nvPr/>
        </p:nvSpPr>
        <p:spPr>
          <a:xfrm>
            <a:off x="5724000" y="2103120"/>
            <a:ext cx="222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IJsjesverkoop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4"/>
          <p:cNvSpPr/>
          <p:nvPr/>
        </p:nvSpPr>
        <p:spPr>
          <a:xfrm>
            <a:off x="5715000" y="2468880"/>
            <a:ext cx="11203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5"/>
          <p:cNvSpPr/>
          <p:nvPr/>
        </p:nvSpPr>
        <p:spPr>
          <a:xfrm>
            <a:off x="5760720" y="254196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Prijs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6"/>
          <p:cNvSpPr/>
          <p:nvPr/>
        </p:nvSpPr>
        <p:spPr>
          <a:xfrm>
            <a:off x="6835680" y="2468880"/>
            <a:ext cx="11203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7"/>
          <p:cNvSpPr/>
          <p:nvPr/>
        </p:nvSpPr>
        <p:spPr>
          <a:xfrm>
            <a:off x="6881400" y="254196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Aantal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8"/>
          <p:cNvSpPr/>
          <p:nvPr/>
        </p:nvSpPr>
        <p:spPr>
          <a:xfrm>
            <a:off x="5715000" y="285300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9"/>
          <p:cNvSpPr/>
          <p:nvPr/>
        </p:nvSpPr>
        <p:spPr>
          <a:xfrm>
            <a:off x="5760720" y="2926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0"/>
          <p:cNvSpPr/>
          <p:nvPr/>
        </p:nvSpPr>
        <p:spPr>
          <a:xfrm>
            <a:off x="6835680" y="285300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1"/>
          <p:cNvSpPr/>
          <p:nvPr/>
        </p:nvSpPr>
        <p:spPr>
          <a:xfrm>
            <a:off x="6881400" y="2926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500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2"/>
          <p:cNvSpPr/>
          <p:nvPr/>
        </p:nvSpPr>
        <p:spPr>
          <a:xfrm>
            <a:off x="5715000" y="3237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3"/>
          <p:cNvSpPr/>
          <p:nvPr/>
        </p:nvSpPr>
        <p:spPr>
          <a:xfrm>
            <a:off x="5760720" y="3310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4"/>
          <p:cNvSpPr/>
          <p:nvPr/>
        </p:nvSpPr>
        <p:spPr>
          <a:xfrm>
            <a:off x="6835680" y="3237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5"/>
          <p:cNvSpPr/>
          <p:nvPr/>
        </p:nvSpPr>
        <p:spPr>
          <a:xfrm>
            <a:off x="6881400" y="3310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400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6"/>
          <p:cNvSpPr/>
          <p:nvPr/>
        </p:nvSpPr>
        <p:spPr>
          <a:xfrm>
            <a:off x="5715000" y="362088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7"/>
          <p:cNvSpPr/>
          <p:nvPr/>
        </p:nvSpPr>
        <p:spPr>
          <a:xfrm>
            <a:off x="5760720" y="369432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8"/>
          <p:cNvSpPr/>
          <p:nvPr/>
        </p:nvSpPr>
        <p:spPr>
          <a:xfrm>
            <a:off x="6835680" y="362088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9"/>
          <p:cNvSpPr/>
          <p:nvPr/>
        </p:nvSpPr>
        <p:spPr>
          <a:xfrm>
            <a:off x="6881400" y="369432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300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30"/>
          <p:cNvSpPr/>
          <p:nvPr/>
        </p:nvSpPr>
        <p:spPr>
          <a:xfrm>
            <a:off x="5715000" y="400500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1"/>
          <p:cNvSpPr/>
          <p:nvPr/>
        </p:nvSpPr>
        <p:spPr>
          <a:xfrm>
            <a:off x="5760720" y="4078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2"/>
          <p:cNvSpPr/>
          <p:nvPr/>
        </p:nvSpPr>
        <p:spPr>
          <a:xfrm>
            <a:off x="6835680" y="400500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3"/>
          <p:cNvSpPr/>
          <p:nvPr/>
        </p:nvSpPr>
        <p:spPr>
          <a:xfrm>
            <a:off x="6881400" y="4078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200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4"/>
          <p:cNvSpPr/>
          <p:nvPr/>
        </p:nvSpPr>
        <p:spPr>
          <a:xfrm>
            <a:off x="5715000" y="4389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5"/>
          <p:cNvSpPr/>
          <p:nvPr/>
        </p:nvSpPr>
        <p:spPr>
          <a:xfrm>
            <a:off x="5760720" y="4462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6"/>
          <p:cNvSpPr/>
          <p:nvPr/>
        </p:nvSpPr>
        <p:spPr>
          <a:xfrm>
            <a:off x="6835680" y="4389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7"/>
          <p:cNvSpPr/>
          <p:nvPr/>
        </p:nvSpPr>
        <p:spPr>
          <a:xfrm>
            <a:off x="6881400" y="4462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100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8"/>
          <p:cNvSpPr/>
          <p:nvPr/>
        </p:nvSpPr>
        <p:spPr>
          <a:xfrm>
            <a:off x="8273160" y="1965960"/>
            <a:ext cx="3293640" cy="3611520"/>
          </a:xfrm>
          <a:prstGeom prst="roundRect">
            <a:avLst>
              <a:gd name="adj" fmla="val 222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9"/>
          <p:cNvSpPr/>
          <p:nvPr/>
        </p:nvSpPr>
        <p:spPr>
          <a:xfrm>
            <a:off x="8410320" y="2075760"/>
            <a:ext cx="3019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P-Q-grafiek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0"/>
          <p:cNvSpPr/>
          <p:nvPr/>
        </p:nvSpPr>
        <p:spPr>
          <a:xfrm>
            <a:off x="8794080" y="47383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1"/>
          <p:cNvSpPr/>
          <p:nvPr/>
        </p:nvSpPr>
        <p:spPr>
          <a:xfrm>
            <a:off x="8135640" y="46562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2"/>
          <p:cNvSpPr/>
          <p:nvPr/>
        </p:nvSpPr>
        <p:spPr>
          <a:xfrm>
            <a:off x="8794080" y="42397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3"/>
          <p:cNvSpPr/>
          <p:nvPr/>
        </p:nvSpPr>
        <p:spPr>
          <a:xfrm>
            <a:off x="8135640" y="41576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4"/>
          <p:cNvSpPr/>
          <p:nvPr/>
        </p:nvSpPr>
        <p:spPr>
          <a:xfrm>
            <a:off x="8794080" y="37411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45"/>
          <p:cNvSpPr/>
          <p:nvPr/>
        </p:nvSpPr>
        <p:spPr>
          <a:xfrm>
            <a:off x="8135640" y="36590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46"/>
          <p:cNvSpPr/>
          <p:nvPr/>
        </p:nvSpPr>
        <p:spPr>
          <a:xfrm>
            <a:off x="8794080" y="32425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7"/>
          <p:cNvSpPr/>
          <p:nvPr/>
        </p:nvSpPr>
        <p:spPr>
          <a:xfrm>
            <a:off x="8135640" y="31604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48"/>
          <p:cNvSpPr/>
          <p:nvPr/>
        </p:nvSpPr>
        <p:spPr>
          <a:xfrm>
            <a:off x="8794080" y="27439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9"/>
          <p:cNvSpPr/>
          <p:nvPr/>
        </p:nvSpPr>
        <p:spPr>
          <a:xfrm>
            <a:off x="8135640" y="26618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50"/>
          <p:cNvSpPr/>
          <p:nvPr/>
        </p:nvSpPr>
        <p:spPr>
          <a:xfrm>
            <a:off x="879408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1"/>
          <p:cNvSpPr/>
          <p:nvPr/>
        </p:nvSpPr>
        <p:spPr>
          <a:xfrm>
            <a:off x="853812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52"/>
          <p:cNvSpPr/>
          <p:nvPr/>
        </p:nvSpPr>
        <p:spPr>
          <a:xfrm>
            <a:off x="937908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3"/>
          <p:cNvSpPr/>
          <p:nvPr/>
        </p:nvSpPr>
        <p:spPr>
          <a:xfrm>
            <a:off x="912348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54"/>
          <p:cNvSpPr/>
          <p:nvPr/>
        </p:nvSpPr>
        <p:spPr>
          <a:xfrm>
            <a:off x="996444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55"/>
          <p:cNvSpPr/>
          <p:nvPr/>
        </p:nvSpPr>
        <p:spPr>
          <a:xfrm>
            <a:off x="970848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56"/>
          <p:cNvSpPr/>
          <p:nvPr/>
        </p:nvSpPr>
        <p:spPr>
          <a:xfrm>
            <a:off x="1054944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57"/>
          <p:cNvSpPr/>
          <p:nvPr/>
        </p:nvSpPr>
        <p:spPr>
          <a:xfrm>
            <a:off x="1029384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8"/>
          <p:cNvSpPr/>
          <p:nvPr/>
        </p:nvSpPr>
        <p:spPr>
          <a:xfrm>
            <a:off x="1113480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59"/>
          <p:cNvSpPr/>
          <p:nvPr/>
        </p:nvSpPr>
        <p:spPr>
          <a:xfrm>
            <a:off x="1087884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60"/>
          <p:cNvSpPr/>
          <p:nvPr/>
        </p:nvSpPr>
        <p:spPr>
          <a:xfrm>
            <a:off x="8794080" y="4738320"/>
            <a:ext cx="234072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61"/>
          <p:cNvSpPr/>
          <p:nvPr/>
        </p:nvSpPr>
        <p:spPr>
          <a:xfrm flipV="1">
            <a:off x="8794080" y="2743920"/>
            <a:ext cx="360" cy="199440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2"/>
          <p:cNvSpPr/>
          <p:nvPr/>
        </p:nvSpPr>
        <p:spPr>
          <a:xfrm>
            <a:off x="11043360" y="505836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3"/>
          <p:cNvSpPr/>
          <p:nvPr/>
        </p:nvSpPr>
        <p:spPr>
          <a:xfrm>
            <a:off x="8355240" y="272592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4"/>
          <p:cNvSpPr/>
          <p:nvPr/>
        </p:nvSpPr>
        <p:spPr>
          <a:xfrm>
            <a:off x="8794080" y="5203080"/>
            <a:ext cx="2340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65"/>
          <p:cNvSpPr/>
          <p:nvPr/>
        </p:nvSpPr>
        <p:spPr>
          <a:xfrm>
            <a:off x="8867160" y="245160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66"/>
          <p:cNvSpPr/>
          <p:nvPr/>
        </p:nvSpPr>
        <p:spPr>
          <a:xfrm>
            <a:off x="8794080" y="2743920"/>
            <a:ext cx="58500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67"/>
          <p:cNvSpPr/>
          <p:nvPr/>
        </p:nvSpPr>
        <p:spPr>
          <a:xfrm>
            <a:off x="9379080" y="3242520"/>
            <a:ext cx="58536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68"/>
          <p:cNvSpPr/>
          <p:nvPr/>
        </p:nvSpPr>
        <p:spPr>
          <a:xfrm>
            <a:off x="9964440" y="3741120"/>
            <a:ext cx="58500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69"/>
          <p:cNvSpPr/>
          <p:nvPr/>
        </p:nvSpPr>
        <p:spPr>
          <a:xfrm>
            <a:off x="10549440" y="4239720"/>
            <a:ext cx="58536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70"/>
          <p:cNvSpPr/>
          <p:nvPr/>
        </p:nvSpPr>
        <p:spPr>
          <a:xfrm>
            <a:off x="8753040" y="27032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71"/>
          <p:cNvSpPr/>
          <p:nvPr/>
        </p:nvSpPr>
        <p:spPr>
          <a:xfrm>
            <a:off x="9338040" y="32014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72"/>
          <p:cNvSpPr/>
          <p:nvPr/>
        </p:nvSpPr>
        <p:spPr>
          <a:xfrm>
            <a:off x="9923400" y="37000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73"/>
          <p:cNvSpPr/>
          <p:nvPr/>
        </p:nvSpPr>
        <p:spPr>
          <a:xfrm>
            <a:off x="10037520" y="355860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74"/>
          <p:cNvSpPr/>
          <p:nvPr/>
        </p:nvSpPr>
        <p:spPr>
          <a:xfrm>
            <a:off x="10508760" y="41986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5"/>
          <p:cNvSpPr/>
          <p:nvPr/>
        </p:nvSpPr>
        <p:spPr>
          <a:xfrm>
            <a:off x="11093760" y="46972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Tabelwaarden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TABELWAARDEN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de juiste bronwaarde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Een getal uit een tabel is pas bruikbaar als je label en eenheid meeneemt.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Label de waarden voordat je rekent.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831960" y="2130480"/>
            <a:ext cx="4937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IJsjesverkoop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822960" y="2496240"/>
            <a:ext cx="24775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868680" y="256932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Prijs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3300840" y="2496240"/>
            <a:ext cx="24775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3346560" y="256932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Aantal verkocht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822960" y="288036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868680" y="295344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3300840" y="288036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3346560" y="295344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500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822960" y="3264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868680" y="3337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3300840" y="3264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3346560" y="3337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400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822960" y="364860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5"/>
          <p:cNvSpPr/>
          <p:nvPr/>
        </p:nvSpPr>
        <p:spPr>
          <a:xfrm>
            <a:off x="868680" y="372168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3300840" y="364860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7"/>
          <p:cNvSpPr/>
          <p:nvPr/>
        </p:nvSpPr>
        <p:spPr>
          <a:xfrm>
            <a:off x="3346560" y="372168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300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822960" y="403236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868680" y="410580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3300840" y="403236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3346560" y="410580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200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2"/>
          <p:cNvSpPr/>
          <p:nvPr/>
        </p:nvSpPr>
        <p:spPr>
          <a:xfrm>
            <a:off x="822960" y="4416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3"/>
          <p:cNvSpPr/>
          <p:nvPr/>
        </p:nvSpPr>
        <p:spPr>
          <a:xfrm>
            <a:off x="868680" y="4489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3300840" y="4416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5"/>
          <p:cNvSpPr/>
          <p:nvPr/>
        </p:nvSpPr>
        <p:spPr>
          <a:xfrm>
            <a:off x="3346560" y="4489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100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6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Bronwaarden krijgen pas betekenis met label en eenheid.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7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8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9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de vraag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0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Welke rij, kolom of periode is nodig?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1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2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3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labels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4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Tabelkop, rijlabel, kolomlabel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45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46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47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Selecteer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8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Kies oud, nieuw of de gevraagde waarde.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9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0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51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Label je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52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Schrijf bijvoorbeeld oud = 500 ijsjes.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3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Voor een procentuele verandering noteer je eerst oud en nieuw.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Assen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ASSEN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Gebruik de economie-assen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In deze P-Q-grafiek staat prijs op de verticale as en hoeveelheid op de horizontale as.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Spreek een punt uit als hoeveelheid en prijs: (Q; P).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1"/>
          <p:cNvSpPr/>
          <p:nvPr/>
        </p:nvSpPr>
        <p:spPr>
          <a:xfrm>
            <a:off x="822960" y="2103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P-Q-grafiek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3"/>
          <p:cNvSpPr/>
          <p:nvPr/>
        </p:nvSpPr>
        <p:spPr>
          <a:xfrm>
            <a:off x="815760" y="46836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4"/>
          <p:cNvSpPr/>
          <p:nvPr/>
        </p:nvSpPr>
        <p:spPr>
          <a:xfrm>
            <a:off x="1474200" y="42670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5"/>
          <p:cNvSpPr/>
          <p:nvPr/>
        </p:nvSpPr>
        <p:spPr>
          <a:xfrm>
            <a:off x="815760" y="41850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6"/>
          <p:cNvSpPr/>
          <p:nvPr/>
        </p:nvSpPr>
        <p:spPr>
          <a:xfrm>
            <a:off x="1474200" y="37684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7"/>
          <p:cNvSpPr/>
          <p:nvPr/>
        </p:nvSpPr>
        <p:spPr>
          <a:xfrm>
            <a:off x="815760" y="36864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8"/>
          <p:cNvSpPr/>
          <p:nvPr/>
        </p:nvSpPr>
        <p:spPr>
          <a:xfrm>
            <a:off x="1474200" y="32698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9"/>
          <p:cNvSpPr/>
          <p:nvPr/>
        </p:nvSpPr>
        <p:spPr>
          <a:xfrm>
            <a:off x="815760" y="31878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0"/>
          <p:cNvSpPr/>
          <p:nvPr/>
        </p:nvSpPr>
        <p:spPr>
          <a:xfrm>
            <a:off x="1474200" y="277164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1"/>
          <p:cNvSpPr/>
          <p:nvPr/>
        </p:nvSpPr>
        <p:spPr>
          <a:xfrm>
            <a:off x="815760" y="26892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2"/>
          <p:cNvSpPr/>
          <p:nvPr/>
        </p:nvSpPr>
        <p:spPr>
          <a:xfrm>
            <a:off x="147420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3"/>
          <p:cNvSpPr/>
          <p:nvPr/>
        </p:nvSpPr>
        <p:spPr>
          <a:xfrm>
            <a:off x="121824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4"/>
          <p:cNvSpPr/>
          <p:nvPr/>
        </p:nvSpPr>
        <p:spPr>
          <a:xfrm>
            <a:off x="242352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5"/>
          <p:cNvSpPr/>
          <p:nvPr/>
        </p:nvSpPr>
        <p:spPr>
          <a:xfrm>
            <a:off x="2167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6"/>
          <p:cNvSpPr/>
          <p:nvPr/>
        </p:nvSpPr>
        <p:spPr>
          <a:xfrm>
            <a:off x="3372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7"/>
          <p:cNvSpPr/>
          <p:nvPr/>
        </p:nvSpPr>
        <p:spPr>
          <a:xfrm>
            <a:off x="3116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8"/>
          <p:cNvSpPr/>
          <p:nvPr/>
        </p:nvSpPr>
        <p:spPr>
          <a:xfrm>
            <a:off x="432216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9"/>
          <p:cNvSpPr/>
          <p:nvPr/>
        </p:nvSpPr>
        <p:spPr>
          <a:xfrm>
            <a:off x="4066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0"/>
          <p:cNvSpPr/>
          <p:nvPr/>
        </p:nvSpPr>
        <p:spPr>
          <a:xfrm>
            <a:off x="5271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31"/>
          <p:cNvSpPr/>
          <p:nvPr/>
        </p:nvSpPr>
        <p:spPr>
          <a:xfrm>
            <a:off x="5015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3"/>
          <p:cNvSpPr/>
          <p:nvPr/>
        </p:nvSpPr>
        <p:spPr>
          <a:xfrm flipV="1">
            <a:off x="1474200" y="2771640"/>
            <a:ext cx="360" cy="199404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34"/>
          <p:cNvSpPr/>
          <p:nvPr/>
        </p:nvSpPr>
        <p:spPr>
          <a:xfrm>
            <a:off x="5180400" y="50860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5"/>
          <p:cNvSpPr/>
          <p:nvPr/>
        </p:nvSpPr>
        <p:spPr>
          <a:xfrm>
            <a:off x="1035360" y="27532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6"/>
          <p:cNvSpPr/>
          <p:nvPr/>
        </p:nvSpPr>
        <p:spPr>
          <a:xfrm>
            <a:off x="1474200" y="5230440"/>
            <a:ext cx="379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7"/>
          <p:cNvSpPr/>
          <p:nvPr/>
        </p:nvSpPr>
        <p:spPr>
          <a:xfrm>
            <a:off x="1547280" y="247896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38"/>
          <p:cNvSpPr/>
          <p:nvPr/>
        </p:nvSpPr>
        <p:spPr>
          <a:xfrm>
            <a:off x="1474200" y="2771640"/>
            <a:ext cx="949320" cy="49824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9"/>
          <p:cNvSpPr/>
          <p:nvPr/>
        </p:nvSpPr>
        <p:spPr>
          <a:xfrm>
            <a:off x="2423520" y="32698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0"/>
          <p:cNvSpPr/>
          <p:nvPr/>
        </p:nvSpPr>
        <p:spPr>
          <a:xfrm>
            <a:off x="3372840" y="37684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41"/>
          <p:cNvSpPr/>
          <p:nvPr/>
        </p:nvSpPr>
        <p:spPr>
          <a:xfrm>
            <a:off x="4322160" y="4267080"/>
            <a:ext cx="94968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2"/>
          <p:cNvSpPr/>
          <p:nvPr/>
        </p:nvSpPr>
        <p:spPr>
          <a:xfrm>
            <a:off x="1433160" y="27306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43"/>
          <p:cNvSpPr/>
          <p:nvPr/>
        </p:nvSpPr>
        <p:spPr>
          <a:xfrm>
            <a:off x="2382480" y="32292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4"/>
          <p:cNvSpPr/>
          <p:nvPr/>
        </p:nvSpPr>
        <p:spPr>
          <a:xfrm>
            <a:off x="3331800" y="37278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5"/>
          <p:cNvSpPr/>
          <p:nvPr/>
        </p:nvSpPr>
        <p:spPr>
          <a:xfrm>
            <a:off x="3446280" y="358596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6"/>
          <p:cNvSpPr/>
          <p:nvPr/>
        </p:nvSpPr>
        <p:spPr>
          <a:xfrm>
            <a:off x="4281480" y="42260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7"/>
          <p:cNvSpPr/>
          <p:nvPr/>
        </p:nvSpPr>
        <p:spPr>
          <a:xfrm>
            <a:off x="5230800" y="47246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8"/>
          <p:cNvSpPr/>
          <p:nvPr/>
        </p:nvSpPr>
        <p:spPr>
          <a:xfrm>
            <a:off x="3945960" y="247896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Vraaglijn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9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staat verticaal; hoeveelheid staat horizontaal.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50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51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2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Bepaal variabelen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3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en hoeveelheid.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54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5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6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assen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57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verticaal, hoeveelheid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58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59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60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schaal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1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Alle punten moeten passen.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62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3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64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Zet punten uit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65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Verbind ze passend.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6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Het punt (300; 2,00) betekent: 300 ijsjes bij een prijs van €2,00.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Aflezen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AFLEZEN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tussen twee punten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Interpoleren is een beredeneerde schatting tussen bekende punten.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hulplijnen en noem de schatting als ongeveer.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1"/>
          <p:cNvSpPr/>
          <p:nvPr/>
        </p:nvSpPr>
        <p:spPr>
          <a:xfrm>
            <a:off x="822960" y="2103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Interpoleren bij €1,75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3"/>
          <p:cNvSpPr/>
          <p:nvPr/>
        </p:nvSpPr>
        <p:spPr>
          <a:xfrm>
            <a:off x="815760" y="46836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4"/>
          <p:cNvSpPr/>
          <p:nvPr/>
        </p:nvSpPr>
        <p:spPr>
          <a:xfrm>
            <a:off x="1474200" y="42670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5"/>
          <p:cNvSpPr/>
          <p:nvPr/>
        </p:nvSpPr>
        <p:spPr>
          <a:xfrm>
            <a:off x="815760" y="41850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6"/>
          <p:cNvSpPr/>
          <p:nvPr/>
        </p:nvSpPr>
        <p:spPr>
          <a:xfrm>
            <a:off x="1474200" y="37684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7"/>
          <p:cNvSpPr/>
          <p:nvPr/>
        </p:nvSpPr>
        <p:spPr>
          <a:xfrm>
            <a:off x="815760" y="36864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8"/>
          <p:cNvSpPr/>
          <p:nvPr/>
        </p:nvSpPr>
        <p:spPr>
          <a:xfrm>
            <a:off x="1474200" y="32698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9"/>
          <p:cNvSpPr/>
          <p:nvPr/>
        </p:nvSpPr>
        <p:spPr>
          <a:xfrm>
            <a:off x="815760" y="31878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0"/>
          <p:cNvSpPr/>
          <p:nvPr/>
        </p:nvSpPr>
        <p:spPr>
          <a:xfrm>
            <a:off x="1474200" y="277164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1"/>
          <p:cNvSpPr/>
          <p:nvPr/>
        </p:nvSpPr>
        <p:spPr>
          <a:xfrm>
            <a:off x="815760" y="26892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2"/>
          <p:cNvSpPr/>
          <p:nvPr/>
        </p:nvSpPr>
        <p:spPr>
          <a:xfrm>
            <a:off x="147420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3"/>
          <p:cNvSpPr/>
          <p:nvPr/>
        </p:nvSpPr>
        <p:spPr>
          <a:xfrm>
            <a:off x="121824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4"/>
          <p:cNvSpPr/>
          <p:nvPr/>
        </p:nvSpPr>
        <p:spPr>
          <a:xfrm>
            <a:off x="242352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5"/>
          <p:cNvSpPr/>
          <p:nvPr/>
        </p:nvSpPr>
        <p:spPr>
          <a:xfrm>
            <a:off x="2167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6"/>
          <p:cNvSpPr/>
          <p:nvPr/>
        </p:nvSpPr>
        <p:spPr>
          <a:xfrm>
            <a:off x="3372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7"/>
          <p:cNvSpPr/>
          <p:nvPr/>
        </p:nvSpPr>
        <p:spPr>
          <a:xfrm>
            <a:off x="3116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8"/>
          <p:cNvSpPr/>
          <p:nvPr/>
        </p:nvSpPr>
        <p:spPr>
          <a:xfrm>
            <a:off x="432216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9"/>
          <p:cNvSpPr/>
          <p:nvPr/>
        </p:nvSpPr>
        <p:spPr>
          <a:xfrm>
            <a:off x="4066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30"/>
          <p:cNvSpPr/>
          <p:nvPr/>
        </p:nvSpPr>
        <p:spPr>
          <a:xfrm>
            <a:off x="5271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1"/>
          <p:cNvSpPr/>
          <p:nvPr/>
        </p:nvSpPr>
        <p:spPr>
          <a:xfrm>
            <a:off x="5015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3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33"/>
          <p:cNvSpPr/>
          <p:nvPr/>
        </p:nvSpPr>
        <p:spPr>
          <a:xfrm flipV="1">
            <a:off x="1474200" y="2771640"/>
            <a:ext cx="360" cy="199404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4"/>
          <p:cNvSpPr/>
          <p:nvPr/>
        </p:nvSpPr>
        <p:spPr>
          <a:xfrm>
            <a:off x="5180400" y="50860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35"/>
          <p:cNvSpPr/>
          <p:nvPr/>
        </p:nvSpPr>
        <p:spPr>
          <a:xfrm>
            <a:off x="1035360" y="27532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6"/>
          <p:cNvSpPr/>
          <p:nvPr/>
        </p:nvSpPr>
        <p:spPr>
          <a:xfrm>
            <a:off x="1474200" y="5230440"/>
            <a:ext cx="379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7"/>
          <p:cNvSpPr/>
          <p:nvPr/>
        </p:nvSpPr>
        <p:spPr>
          <a:xfrm>
            <a:off x="1547280" y="247896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38"/>
          <p:cNvSpPr/>
          <p:nvPr/>
        </p:nvSpPr>
        <p:spPr>
          <a:xfrm>
            <a:off x="1474200" y="2771640"/>
            <a:ext cx="949320" cy="49824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39"/>
          <p:cNvSpPr/>
          <p:nvPr/>
        </p:nvSpPr>
        <p:spPr>
          <a:xfrm>
            <a:off x="2423520" y="32698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40"/>
          <p:cNvSpPr/>
          <p:nvPr/>
        </p:nvSpPr>
        <p:spPr>
          <a:xfrm>
            <a:off x="3372840" y="37684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1"/>
          <p:cNvSpPr/>
          <p:nvPr/>
        </p:nvSpPr>
        <p:spPr>
          <a:xfrm>
            <a:off x="4322160" y="4267080"/>
            <a:ext cx="94968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2"/>
          <p:cNvSpPr/>
          <p:nvPr/>
        </p:nvSpPr>
        <p:spPr>
          <a:xfrm>
            <a:off x="1433160" y="27306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3"/>
          <p:cNvSpPr/>
          <p:nvPr/>
        </p:nvSpPr>
        <p:spPr>
          <a:xfrm>
            <a:off x="2382480" y="32292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44"/>
          <p:cNvSpPr/>
          <p:nvPr/>
        </p:nvSpPr>
        <p:spPr>
          <a:xfrm>
            <a:off x="3331800" y="37278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45"/>
          <p:cNvSpPr/>
          <p:nvPr/>
        </p:nvSpPr>
        <p:spPr>
          <a:xfrm>
            <a:off x="3446280" y="358596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6"/>
          <p:cNvSpPr/>
          <p:nvPr/>
        </p:nvSpPr>
        <p:spPr>
          <a:xfrm>
            <a:off x="4281480" y="42260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7"/>
          <p:cNvSpPr/>
          <p:nvPr/>
        </p:nvSpPr>
        <p:spPr>
          <a:xfrm>
            <a:off x="5230800" y="47246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48"/>
          <p:cNvSpPr/>
          <p:nvPr/>
        </p:nvSpPr>
        <p:spPr>
          <a:xfrm>
            <a:off x="3945960" y="247896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Vraaglijn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9"/>
          <p:cNvSpPr/>
          <p:nvPr/>
        </p:nvSpPr>
        <p:spPr>
          <a:xfrm>
            <a:off x="3847680" y="4017960"/>
            <a:ext cx="360" cy="747720"/>
          </a:xfrm>
          <a:prstGeom prst="line">
            <a:avLst/>
          </a:prstGeom>
          <a:ln w="1524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50"/>
          <p:cNvSpPr/>
          <p:nvPr/>
        </p:nvSpPr>
        <p:spPr>
          <a:xfrm>
            <a:off x="1474200" y="4017960"/>
            <a:ext cx="2373480" cy="360"/>
          </a:xfrm>
          <a:prstGeom prst="line">
            <a:avLst/>
          </a:prstGeom>
          <a:ln w="1524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51"/>
          <p:cNvSpPr/>
          <p:nvPr/>
        </p:nvSpPr>
        <p:spPr>
          <a:xfrm>
            <a:off x="3801960" y="3972240"/>
            <a:ext cx="91080" cy="91080"/>
          </a:xfrm>
          <a:prstGeom prst="ellipse">
            <a:avLst/>
          </a:prstGeom>
          <a:solidFill>
            <a:srgbClr val="D94A3A"/>
          </a:solidFill>
          <a:ln w="50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440" rIns="90000" bIns="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2"/>
          <p:cNvSpPr/>
          <p:nvPr/>
        </p:nvSpPr>
        <p:spPr>
          <a:xfrm>
            <a:off x="3939120" y="4446000"/>
            <a:ext cx="1416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Q ongeveer 350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3"/>
          <p:cNvSpPr/>
          <p:nvPr/>
        </p:nvSpPr>
        <p:spPr>
          <a:xfrm>
            <a:off x="1565640" y="37620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€1,75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4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Hulplijnen maken de schatting controleerbaar.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5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56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57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titel en assen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8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meet de grafiek?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59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60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61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Zoek de waarde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2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Bijvoorbeeld €1,75 op de prijsas.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63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64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5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Trek hulplijnen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66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Naar de grafiek en dan naar de andere 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67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68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69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Schat netjes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70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Tussen 400 en 300 ligt ongeveer 350.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71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Bij €1,75 verkoop je ongeveer 350 ijsjes.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Kritisch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6/8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KRITISCH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de schaal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Een grafiek kan hetzelfde verschil groter of kleiner laten voelen.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Lees de asstart en vergelijkingsbasis voordat je de conclusie overneemt.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1"/>
          <p:cNvSpPr/>
          <p:nvPr/>
        </p:nvSpPr>
        <p:spPr>
          <a:xfrm>
            <a:off x="822960" y="2112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Zelfde data, andere schaal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2"/>
          <p:cNvSpPr/>
          <p:nvPr/>
        </p:nvSpPr>
        <p:spPr>
          <a:xfrm>
            <a:off x="914400" y="2468880"/>
            <a:ext cx="2271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Y-as vanaf 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3"/>
          <p:cNvSpPr/>
          <p:nvPr/>
        </p:nvSpPr>
        <p:spPr>
          <a:xfrm>
            <a:off x="1234440" y="2935080"/>
            <a:ext cx="456840" cy="2194200"/>
          </a:xfrm>
          <a:prstGeom prst="rect">
            <a:avLst/>
          </a:prstGeom>
          <a:solidFill>
            <a:srgbClr val="0FA3A3"/>
          </a:solidFill>
          <a:ln w="1016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4"/>
          <p:cNvSpPr/>
          <p:nvPr/>
        </p:nvSpPr>
        <p:spPr>
          <a:xfrm>
            <a:off x="105156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5"/>
          <p:cNvSpPr/>
          <p:nvPr/>
        </p:nvSpPr>
        <p:spPr>
          <a:xfrm>
            <a:off x="1097280" y="27342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520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6"/>
          <p:cNvSpPr/>
          <p:nvPr/>
        </p:nvSpPr>
        <p:spPr>
          <a:xfrm>
            <a:off x="2103120" y="3026520"/>
            <a:ext cx="456840" cy="2102760"/>
          </a:xfrm>
          <a:prstGeom prst="rect">
            <a:avLst/>
          </a:prstGeom>
          <a:solidFill>
            <a:srgbClr val="F4B740"/>
          </a:solidFill>
          <a:ln w="10160">
            <a:solidFill>
              <a:srgbClr val="C78E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7"/>
          <p:cNvSpPr/>
          <p:nvPr/>
        </p:nvSpPr>
        <p:spPr>
          <a:xfrm>
            <a:off x="192024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8"/>
          <p:cNvSpPr/>
          <p:nvPr/>
        </p:nvSpPr>
        <p:spPr>
          <a:xfrm>
            <a:off x="1965960" y="282564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3278160" y="2468880"/>
            <a:ext cx="2271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Y-as vanaf 490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20"/>
          <p:cNvSpPr/>
          <p:nvPr/>
        </p:nvSpPr>
        <p:spPr>
          <a:xfrm>
            <a:off x="3598200" y="2935080"/>
            <a:ext cx="456840" cy="2194200"/>
          </a:xfrm>
          <a:prstGeom prst="rect">
            <a:avLst/>
          </a:prstGeom>
          <a:solidFill>
            <a:srgbClr val="0FA3A3"/>
          </a:solidFill>
          <a:ln w="1016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1"/>
          <p:cNvSpPr/>
          <p:nvPr/>
        </p:nvSpPr>
        <p:spPr>
          <a:xfrm>
            <a:off x="341532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2"/>
          <p:cNvSpPr/>
          <p:nvPr/>
        </p:nvSpPr>
        <p:spPr>
          <a:xfrm>
            <a:off x="3461040" y="27342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520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23"/>
          <p:cNvSpPr/>
          <p:nvPr/>
        </p:nvSpPr>
        <p:spPr>
          <a:xfrm>
            <a:off x="4466880" y="4352400"/>
            <a:ext cx="456840" cy="776880"/>
          </a:xfrm>
          <a:prstGeom prst="rect">
            <a:avLst/>
          </a:prstGeom>
          <a:solidFill>
            <a:srgbClr val="F4B740"/>
          </a:solidFill>
          <a:ln w="10160">
            <a:solidFill>
              <a:srgbClr val="C78E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4"/>
          <p:cNvSpPr/>
          <p:nvPr/>
        </p:nvSpPr>
        <p:spPr>
          <a:xfrm>
            <a:off x="428400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5"/>
          <p:cNvSpPr/>
          <p:nvPr/>
        </p:nvSpPr>
        <p:spPr>
          <a:xfrm>
            <a:off x="4329720" y="415152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6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 ingezoomde as maakt dezelfde daling dramatischer.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7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8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9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de kop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30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beweert de tekst?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31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2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33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de 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4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Begint die bij nul?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35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36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7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8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Welke getallen worden vergeleken?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9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0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1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Check basis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2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Past het percentage bij die basis?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43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Een ingezoomde as kan een kleine daling dramatisch maken.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Check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7/8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TERUGHALEN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je grafiekroute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Deze checks vatten de basis van grafieken en tabellen samen.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Beantwoord eerst zelf; open daarna de kaart.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0"/>
          <p:cNvSpPr/>
          <p:nvPr/>
        </p:nvSpPr>
        <p:spPr>
          <a:xfrm>
            <a:off x="77724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1"/>
          <p:cNvSpPr/>
          <p:nvPr/>
        </p:nvSpPr>
        <p:spPr>
          <a:xfrm>
            <a:off x="96012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2"/>
          <p:cNvSpPr/>
          <p:nvPr/>
        </p:nvSpPr>
        <p:spPr>
          <a:xfrm>
            <a:off x="158184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controleer je voordat je een tabelwaarde gebruikt?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3"/>
          <p:cNvSpPr/>
          <p:nvPr/>
        </p:nvSpPr>
        <p:spPr>
          <a:xfrm>
            <a:off x="158184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Denk aan kop, rij, kolom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4"/>
          <p:cNvSpPr/>
          <p:nvPr/>
        </p:nvSpPr>
        <p:spPr>
          <a:xfrm>
            <a:off x="621792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"/>
          <p:cNvSpPr/>
          <p:nvPr/>
        </p:nvSpPr>
        <p:spPr>
          <a:xfrm>
            <a:off x="640080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6"/>
          <p:cNvSpPr/>
          <p:nvPr/>
        </p:nvSpPr>
        <p:spPr>
          <a:xfrm>
            <a:off x="702252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 staan P en Q in deze economiegrafiek?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7"/>
          <p:cNvSpPr/>
          <p:nvPr/>
        </p:nvSpPr>
        <p:spPr>
          <a:xfrm>
            <a:off x="702252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en hoeveelheid staan niet willekeurig.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8"/>
          <p:cNvSpPr/>
          <p:nvPr/>
        </p:nvSpPr>
        <p:spPr>
          <a:xfrm>
            <a:off x="777240" y="387720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9"/>
          <p:cNvSpPr/>
          <p:nvPr/>
        </p:nvSpPr>
        <p:spPr>
          <a:xfrm>
            <a:off x="960120" y="4060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20"/>
          <p:cNvSpPr/>
          <p:nvPr/>
        </p:nvSpPr>
        <p:spPr>
          <a:xfrm>
            <a:off x="1581840" y="40417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Waarom schrijf je bij interpoleren vaak ongeveer?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1"/>
          <p:cNvSpPr/>
          <p:nvPr/>
        </p:nvSpPr>
        <p:spPr>
          <a:xfrm>
            <a:off x="1581840" y="464508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Je leest tussen bekende punten.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2"/>
          <p:cNvSpPr/>
          <p:nvPr/>
        </p:nvSpPr>
        <p:spPr>
          <a:xfrm>
            <a:off x="6217920" y="387720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3"/>
          <p:cNvSpPr/>
          <p:nvPr/>
        </p:nvSpPr>
        <p:spPr>
          <a:xfrm>
            <a:off x="6400800" y="4060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4"/>
          <p:cNvSpPr/>
          <p:nvPr/>
        </p:nvSpPr>
        <p:spPr>
          <a:xfrm>
            <a:off x="7022520" y="40417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Waarom kan een ingezoomde as een daling misleidend groot laten lijken?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5"/>
          <p:cNvSpPr/>
          <p:nvPr/>
        </p:nvSpPr>
        <p:spPr>
          <a:xfrm>
            <a:off x="7022520" y="464508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Vergelijk dezelfde waarden met een andere asstart.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Samenvatting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8/8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SAMENVATTING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Samenvatting en volgende stap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grafiekroute werkt bij elke tabel: bron lezen, grafiek controleren, claim beoordelen.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Neem deze drie checks mee naar de oefenpagina en het grafiekenspel.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0"/>
          <p:cNvSpPr/>
          <p:nvPr/>
        </p:nvSpPr>
        <p:spPr>
          <a:xfrm>
            <a:off x="868680" y="1993320"/>
            <a:ext cx="411120" cy="411120"/>
          </a:xfrm>
          <a:prstGeom prst="ellipse">
            <a:avLst/>
          </a:prstGeom>
          <a:solidFill>
            <a:srgbClr val="076E6E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1"/>
          <p:cNvSpPr/>
          <p:nvPr/>
        </p:nvSpPr>
        <p:spPr>
          <a:xfrm>
            <a:off x="969120" y="209412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2"/>
          <p:cNvSpPr/>
          <p:nvPr/>
        </p:nvSpPr>
        <p:spPr>
          <a:xfrm>
            <a:off x="1508760" y="201168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Bron: een tabelwaarde is pas bruikbaar met 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"/>
          <p:cNvSpPr/>
          <p:nvPr/>
        </p:nvSpPr>
        <p:spPr>
          <a:xfrm>
            <a:off x="868680" y="2706480"/>
            <a:ext cx="411120" cy="411120"/>
          </a:xfrm>
          <a:prstGeom prst="ellipse">
            <a:avLst/>
          </a:prstGeom>
          <a:solidFill>
            <a:srgbClr val="8A5A0E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4"/>
          <p:cNvSpPr/>
          <p:nvPr/>
        </p:nvSpPr>
        <p:spPr>
          <a:xfrm>
            <a:off x="969120" y="280728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5"/>
          <p:cNvSpPr/>
          <p:nvPr/>
        </p:nvSpPr>
        <p:spPr>
          <a:xfrm>
            <a:off x="1508760" y="272484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Grafiek: in deze economiegrafiek staat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6"/>
          <p:cNvSpPr/>
          <p:nvPr/>
        </p:nvSpPr>
        <p:spPr>
          <a:xfrm>
            <a:off x="868680" y="3420000"/>
            <a:ext cx="411120" cy="411120"/>
          </a:xfrm>
          <a:prstGeom prst="ellipse">
            <a:avLst/>
          </a:prstGeom>
          <a:solidFill>
            <a:srgbClr val="D94A3A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7"/>
          <p:cNvSpPr/>
          <p:nvPr/>
        </p:nvSpPr>
        <p:spPr>
          <a:xfrm>
            <a:off x="969120" y="352044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8"/>
          <p:cNvSpPr/>
          <p:nvPr/>
        </p:nvSpPr>
        <p:spPr>
          <a:xfrm>
            <a:off x="1508760" y="343800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Aflezen: een tussenwaarde zoals €1,75 is een schatting tussen bekende punten.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19"/>
          <p:cNvSpPr/>
          <p:nvPr/>
        </p:nvSpPr>
        <p:spPr>
          <a:xfrm>
            <a:off x="868680" y="4133160"/>
            <a:ext cx="411120" cy="411120"/>
          </a:xfrm>
          <a:prstGeom prst="ellipse">
            <a:avLst/>
          </a:prstGeom>
          <a:solidFill>
            <a:srgbClr val="3E5A26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0"/>
          <p:cNvSpPr/>
          <p:nvPr/>
        </p:nvSpPr>
        <p:spPr>
          <a:xfrm>
            <a:off x="969120" y="423360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1"/>
          <p:cNvSpPr/>
          <p:nvPr/>
        </p:nvSpPr>
        <p:spPr>
          <a:xfrm>
            <a:off x="1508760" y="415152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Oordeel: schaal en asstart bepalen hoe groot een verschil lijkt.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4veco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2026-06-28T09:00:39Z</dcterms:created>
  <dc:creator>4VWO Economie</dc:creator>
  <dc:description/>
  <dc:language>en-US</dc:language>
  <cp:lastModifiedBy>4VWO Economie</cp:lastModifiedBy>
  <dcterms:modified xsi:type="dcterms:W3CDTF">2026-06-28T09:00:39Z</dcterms:modified>
  <cp:revision>1</cp:revision>
  <dc:subject>1.1.3 Grafieken en tabellen</dc:subject>
  <dc:title>1.1.3 Grafieken en tabellen - presentation-v2 PPTX derivative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