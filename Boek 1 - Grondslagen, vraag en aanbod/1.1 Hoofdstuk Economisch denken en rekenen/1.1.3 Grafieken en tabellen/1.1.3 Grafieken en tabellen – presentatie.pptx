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met de ijskraam. Laat leerlingen hardop noemen wat de twee kolommen betekenen. Maak duidelijk dat een grafiek pas betrouwbaar is als de bron goed gelezen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bronwaarde-route. De kern is dat leerlingen eerst labelen. Zonder labels zijn latere berekeningen moeilijk te controleren.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Benadruk dat dit anders voelt dan bij wiskunde, maar in economie heel bewust gebeurt. Laat leerlingen de assen aanwijzen voordat ze een punt tekenen.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Interpoleren is hier niet gokken. Het is schatten met informatie: de prijs ligt in het midden, dus bij een rechte lijn ligt de hoeveelheid ook in het midden.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met grafiekgeletterdheid. Een schaalkeuze kan een klein verschil dramatischer laten lijken. Dat maakt de broncheck economisch belangrijk.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§1.1.3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</a:rPr>
              <a:t>Van tabel naar verhaal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075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Eerst de bron lezen, daarna pas tekenen of rekenen.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011680" cy="373380"/>
          </a:xfrm>
          <a:prstGeom prst="rect">
            <a:avLst/>
          </a:prstGeom>
          <a:solidFill>
            <a:srgbClr val="DD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3852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Prijs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874520"/>
            <a:ext cx="2011680" cy="373380"/>
          </a:xfrm>
          <a:prstGeom prst="rect">
            <a:avLst/>
          </a:prstGeom>
          <a:solidFill>
            <a:srgbClr val="DD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193852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Verkoop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247900"/>
            <a:ext cx="2011680" cy="373380"/>
          </a:xfrm>
          <a:prstGeom prst="rect">
            <a:avLst/>
          </a:prstGeom>
          <a:solidFill>
            <a:srgbClr val="FFF4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31190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EUR 1,00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2247900"/>
            <a:ext cx="2011680" cy="373380"/>
          </a:xfrm>
          <a:prstGeom prst="rect">
            <a:avLst/>
          </a:prstGeom>
          <a:solidFill>
            <a:srgbClr val="FFF4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31190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621280"/>
            <a:ext cx="20116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68528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EUR 1,50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621280"/>
            <a:ext cx="20116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9504" y="268528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400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2994660"/>
            <a:ext cx="2011680" cy="373380"/>
          </a:xfrm>
          <a:prstGeom prst="rect">
            <a:avLst/>
          </a:prstGeom>
          <a:solidFill>
            <a:srgbClr val="FFF4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05866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EUR 2,00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2994660"/>
            <a:ext cx="2011680" cy="373380"/>
          </a:xfrm>
          <a:prstGeom prst="rect">
            <a:avLst/>
          </a:prstGeom>
          <a:solidFill>
            <a:srgbClr val="FFF4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9504" y="305866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368040"/>
            <a:ext cx="20116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43204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EUR 2,50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3368040"/>
            <a:ext cx="20116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9504" y="343204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200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741420"/>
            <a:ext cx="20116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80542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EUR 3,00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741420"/>
            <a:ext cx="20116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3805428"/>
            <a:ext cx="1901952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100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874520"/>
            <a:ext cx="50292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703320"/>
            <a:ext cx="4251960" cy="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3703320"/>
            <a:ext cx="0" cy="-155448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20208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14432" y="38587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Q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65392" y="244144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88352" y="280720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1312" y="317296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34272" y="353872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24244" y="240030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47204" y="276606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70164" y="313182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2990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2A43"/>
                </a:solidFill>
              </a:rPr>
              <a:t>(300; 2,00)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993124" y="349758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16084" y="386334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" y="4480560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457200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Prijs en aantal verkochte ijsjes staan in verschillende kolommen.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77240" y="4992624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5084064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Een tabel ordent de data; een grafiek maakt het verband zichtbaar.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77240" y="5504688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559612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De eerste vraag is steeds: wat betekenen deze getallen?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§1.1.3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</a:rPr>
              <a:t>Tabelwaarden kiezen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075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Kies niet zomaar een zichtbaar getal.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26080" y="1828800"/>
            <a:ext cx="2926080" cy="388620"/>
          </a:xfrm>
          <a:prstGeom prst="rect">
            <a:avLst/>
          </a:prstGeom>
          <a:solidFill>
            <a:srgbClr val="DD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80944" y="189280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Prijs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828800"/>
            <a:ext cx="2926080" cy="388620"/>
          </a:xfrm>
          <a:prstGeom prst="rect">
            <a:avLst/>
          </a:prstGeom>
          <a:solidFill>
            <a:srgbClr val="DD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7024" y="189280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Verkoop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217420"/>
            <a:ext cx="2926080" cy="388620"/>
          </a:xfrm>
          <a:prstGeom prst="rect">
            <a:avLst/>
          </a:prstGeom>
          <a:solidFill>
            <a:srgbClr val="FFF4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228142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EUR 1,00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2217420"/>
            <a:ext cx="2926080" cy="388620"/>
          </a:xfrm>
          <a:prstGeom prst="rect">
            <a:avLst/>
          </a:prstGeom>
          <a:solidFill>
            <a:srgbClr val="FFF4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7024" y="228142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2606040"/>
            <a:ext cx="292608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267004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EUR 1,50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606040"/>
            <a:ext cx="292608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267004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400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994660"/>
            <a:ext cx="2926080" cy="388620"/>
          </a:xfrm>
          <a:prstGeom prst="rect">
            <a:avLst/>
          </a:prstGeom>
          <a:solidFill>
            <a:srgbClr val="FFF4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80944" y="305866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EUR 2,00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2994660"/>
            <a:ext cx="2926080" cy="388620"/>
          </a:xfrm>
          <a:prstGeom prst="rect">
            <a:avLst/>
          </a:prstGeom>
          <a:solidFill>
            <a:srgbClr val="FFF4C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305866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3383280"/>
            <a:ext cx="292608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80944" y="344728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EUR 2,50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3383280"/>
            <a:ext cx="292608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07024" y="344728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200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3771900"/>
            <a:ext cx="292608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80944" y="383590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EUR 3,00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3771900"/>
            <a:ext cx="292608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07024" y="3835908"/>
            <a:ext cx="28163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100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4480560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457200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Lees de vraag: welke rij, kolom of periode heb je nodig?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" y="4992624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084064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Controleer tabelkop, rijlabel, kolomlabel en eenheid.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7240" y="5504688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559612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Label je waarden: oud = 500 ijsjes, nieuw = 300 ijsjes.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§1.1.3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</a:rPr>
              <a:t>De economie-conventie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075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In P-Q grafieken staat prijs verticaal.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8960" y="182880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3794760"/>
            <a:ext cx="4892040" cy="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3794760"/>
            <a:ext cx="0" cy="-169164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9751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94192" y="39502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Q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05072" y="239572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276148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50992" y="312724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349300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63924" y="235458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6884" y="272034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09844" y="308610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944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2A43"/>
                </a:solidFill>
              </a:rPr>
              <a:t>(300; 2,00)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32804" y="345186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55764" y="381762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80560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57200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P staat op de verticale 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992624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084064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Q staat op de horizontale as.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5504688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59612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Een punt schrijf je als (Q; P), bijvoorbeeld (300; 2,00).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§1.1.3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</a:rPr>
              <a:t>Interpoleren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075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Schatten tussen twee bekende punten.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8960" y="182880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3794760"/>
            <a:ext cx="4892040" cy="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3794760"/>
            <a:ext cx="0" cy="-169164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9751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94192" y="39502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Q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05072" y="239572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276148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50992" y="312724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3493008"/>
            <a:ext cx="822960" cy="365760"/>
          </a:xfrm>
          <a:prstGeom prst="line">
            <a:avLst/>
          </a:prstGeom>
          <a:noFill/>
          <a:ln w="30480">
            <a:solidFill>
              <a:srgbClr val="2F7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63924" y="235458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6884" y="272034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09844" y="308610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9443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2A43"/>
                </a:solidFill>
              </a:rPr>
              <a:t>(300; 2,00)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32804" y="345186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55764" y="3817620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2980944"/>
            <a:ext cx="2404872" cy="0"/>
          </a:xfrm>
          <a:prstGeom prst="line">
            <a:avLst/>
          </a:prstGeom>
          <a:noFill/>
          <a:ln w="20320">
            <a:solidFill>
              <a:srgbClr val="8A2D0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16752" y="2980944"/>
            <a:ext cx="0" cy="813816"/>
          </a:xfrm>
          <a:prstGeom prst="line">
            <a:avLst/>
          </a:prstGeom>
          <a:noFill/>
          <a:ln w="20320">
            <a:solidFill>
              <a:srgbClr val="8A2D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7614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2D0E"/>
                </a:solidFill>
              </a:rPr>
              <a:t>EUR 1,75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89904" y="35844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2D0E"/>
                </a:solidFill>
              </a:rPr>
              <a:t>Q ~ 350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" y="4480560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57200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Zoek EUR 1,75 op de prijsas.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4992624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084064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Trek een lijn naar de grafiek en lees Q af.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5504688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59612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Tussen 400 en 300 ligt ongeveer 350.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§1.1.3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</a:rPr>
              <a:t>Kritisch kijken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075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Een grafiek kan sturen hoe groot een verschil voelt.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1874520"/>
            <a:ext cx="395935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38528" y="1984248"/>
            <a:ext cx="3739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as vanaf 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76272" y="2532888"/>
            <a:ext cx="420624" cy="1261872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38770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520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53512" y="2587752"/>
            <a:ext cx="420624" cy="1207008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8770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500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07608" y="1874520"/>
            <a:ext cx="395935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1984248"/>
            <a:ext cx="3739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as vanaf 490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2532888"/>
            <a:ext cx="420624" cy="1261872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38770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520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0" y="3328416"/>
            <a:ext cx="420624" cy="466344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4888" y="38770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500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4480560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57200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Controleer altijd of de as bij nul begint.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992624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084064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Vraag welke twee waarden worden vergeleken.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5504688"/>
            <a:ext cx="10698480" cy="384048"/>
          </a:xfrm>
          <a:prstGeom prst="roundRect">
            <a:avLst>
              <a:gd name="adj" fmla="val 14286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59612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Een kop met procenten klopt alleen met de juiste basis.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4VECO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Grafieken en tabellen</dc:title>
  <dc:subject>1.1.3 Grafieken en tabellen</dc:subject>
  <dc:creator>4VECO</dc:creator>
  <cp:lastModifiedBy>4VECO</cp:lastModifiedBy>
  <cp:revision>1</cp:revision>
  <dcterms:created xsi:type="dcterms:W3CDTF">2026-05-19T10:26:26Z</dcterms:created>
  <dcterms:modified xsi:type="dcterms:W3CDTF">2026-05-19T10:26:26Z</dcterms:modified>
</cp:coreProperties>
</file>