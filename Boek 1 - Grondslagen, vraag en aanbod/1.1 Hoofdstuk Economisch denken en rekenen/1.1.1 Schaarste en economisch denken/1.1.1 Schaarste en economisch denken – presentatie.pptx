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6F8B84C-A548-4F10-9D38-64F11FDDC9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1: Vandaag leer je waarom kiezen kost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route_contract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routeContract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Aan het einde kun je een keuzeprobleem herkennen, de alternatieve kosten aanwijzen en een keuze in vier stappen beoordelen.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Deze les gaat over één centrale vraag: wat kost een keuze echt? Niet alleen in euro's, maar vooral in wat je niet meer kunt doen nadat je gekozen hebt.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Je leert drie dingen. Eerst herken je schaarste: mensen willen meer dan de middelen toelaten. Daarna leer je alternatieve kosten: de opbrengst van het beste alternatief dat je niet kiest. Ten slotte gebruik je een vaste procedure om een keuze netjes te beoordelen.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Wat je straks moet kunnen: bij een voorbeeld aanwijzen: het schaarse middel, de alternatieven, het gekozen alternatief, het beste niet-gekozen alternatief en de nettowaarde.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Laat leerlingen de route in eigen woorden voorspellen: van Lisa naar begrip naar boer.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starten met Lisa, omdat haar keuze klein genoeg is om het patroon scherp te zien.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Drie routekaarten zetten de lesvolgorde neer: voorbeeld, begrip, toepassing.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Route: eerst Lisa, daarna het begrip, daarna de boer.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B2AB8-CCBE-42DA-A3B5-93EE9301A69F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2: Lisa heeft €20, maar wil voor €27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narrative_anchor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narrativeAnchor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 probleem is niet dat ze niets kan kopen. Het probleem is dat ze niet alles tegelijk kan kiezen.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Lisa heeft een beperkt budget van €20. Ze wil naar de bioscoop voor €12 en ook een boek kopen van €15. Samen kost dat €27.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Omdat haar geld beperkt is, moet ze kiezen. De bioscoop en het boek strijden om hetzelfde middel: haar budget.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Dit voorbeeld gebruiken we steeds opnieuw, zodat het begrip niet los blijft hangen.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Laat eerst het tekort uitrekenen en vraag daarna welke opties om hetzelfde geld concurreren.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Van Lisa gaan we naar het begrip dat onder dit keuzeprobleem ligt: schaarste.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Een budgetspanning en twee optiekaarten maken zichtbaar dat beide opties om hetzelfde geld strijden.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Luistervraag: welke twee alternatieven strijden om hetzelfde geld?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E39B42-499E-475C-9596-E19677C78B4B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3: Schaarste betekent: behoeften &gt; middelen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concept_model_development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conceptModel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Schaarste is een verhouding, geen ander woord voor “zeldzaam”.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Schaarste ontstaat wanneer behoeften groter zijn dan de beschikbare middelen. Het gaat dus om de verhouding tussen wat iemand wil en wat iemand heeft.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Bij Lisa is het middel haar €20. Haar behoeften kosten samen €27. Daardoor kan ze niet alles kiezen.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Een belangrijke valkuil: schaarste betekent niet automatisch dat iets zeldzaam is. Water kan in Nederland goedkoop zijn, maar toch schaars worden als er meer vraag is dan beschikbaar water.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Misconceptie-watch: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Schaarste is niet hetzelfde als zeldzaamheid; het is een verhouding tussen behoeften en middelen.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Corrigeer direct de valkuil dat schaarste hetzelfde zou zijn als zeldzaamheid.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 we schaarste kunnen herkennen, testen we of hetzelfde patroon ook buiten Lisa werkt.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Een verhoudingsdiagram laat zien dat schaarste ontstaat uit behoeften groter dan middelen.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Check: waar in Lisa’s voorbeeld ontstaat de schaarste?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294DB-EDCA-4780-BA01-F3C6CEE68D15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4: Zo herken je hetzelfde patroon in andere situaties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transfer_slide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transferCards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Vraag steeds: wie kiest, welk middel is beperkt, en welke alternatieven strijden om dat middel?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 context verandert, maar de structuur blijft hetzelfde. Je zoekt steeds naar drie dingen: de kiezer, het beperkte middel en de alternatieven.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Bij een scholier kan het beperkte middel geld of tijd zijn. Bij een producent kan het land, machines of personeel zijn. Bij de overheid kan het belastinggeld of ruimte zijn.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Als je die drie onderdelen vindt, kun je schaarste ook in nieuwe voorbeelden herkennen.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Vraag bij elke kaart hardop: wie kiest, welk middel is beperkt, welke alternatieven botsen?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Daarna voegen we het tweede kernbegrip toe: alternatieve kosten.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Drie transferkaarten houden dezelfde vragen vast in andere contexten.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Vergelijk Lisa met een producent en een overheid.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14CA57-573A-497A-AAB6-7059812D19BE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5: Alternatieve kosten zijn het beste dat je laat liggen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concept_model_development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conceptModel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Bij Lisa is dat niet simpelweg de betaalde prijs, maar de waarde van het alternatief dat ze niet kiest.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Als Lisa naar de bioscoop gaat, betaalt ze €12. Maar alternatieve kosten gaan niet over de prijs die ze betaalt.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Alternatieve kosten zijn de waarde van het beste alternatief dat ze niet kiest. In dit voorbeeld is dat het boek lezen, met de waarde die dat voor haar had.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 definitie is dus: de opbrengst of waarde van het beste niet-gekozen alternatief.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Laat leerlingen eerst de prijs noemen en daarna expliciet uitleggen waarom dat nog niet de alternatieve kosten zijn.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Voordat we gaan rekenen, halen we twee hardnekkige verwarringen weg.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Een gekozen/niet-gekozen-relatie maakt de definitie van alternatieve kosten visueel.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Lisa kiest bioscoop. Wat is dan haar beste niet-gekozen alternatief?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38D905-552E-4663-9259-DE11BEA7C918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6: Wat alternatieve kosten niet zijn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misconception_slide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misconceptionCards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Deze twee fouten zorgen later voor verkeerde berekeningen.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Fout één: alternatieve kosten gelijkstellen aan de prijs. De prijs is wat je betaalt; alternatieve kosten zijn wat je opgeeft.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Fout twee: alle gemiste opties bij elkaar optellen. Je telt niet alles op wat je niet doet. Je kiest alleen het beste alternatief dat je laat liggen.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 controlevraag blijft: wat is gekozen, wat is het beste niet-gekozen alternatief, en welke waarde had dat alternatief?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Misconceptie-watch: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Alternatieve kosten zijn niet de prijs.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Alternatieve kosten zijn niet de som van alle gemiste opties.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Gebruik de twee foutkaarten als klassikale diagnose voordat leerlingen zelf rekenen.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 die valkuilen helder kunnen we de vaste vierstappenroute gebruiken.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Twee foutkaarten zetten verwarring naast de correcte controlevraag.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Noem bij elk voorbeeld eerst: gekozen alternatief en beste niet-gekozen alternatief.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B1AA35-0FDE-4AEF-81BA-EF6DBAC89AEA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7: Bij ingewikkeldere keuzes gebruik je vier stappen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procedure_route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procedureRoute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procedure voorkomt dat je te snel “hoogste bedrag = beste keuze” roept.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Bij Lisa is het voorbeeld klein. In economische vragen worden keuzes vaak groter, met opbrengsten, kosten en meerdere alternatieven.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Daarom werk je in vier stappen: bepaal het schaarse middel, bereken de opbrengst per alternatief, bepaal de alternatieve kosten en trek daarna pas de conclusie.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 volgorde is belangrijk. Eerst rekenen en vergelijken, daarna pas beoordelen.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Laat de volgorde nazeggen: middel, opbrengsten, alternatieve kosten, conclusie.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route passen we nu toe op de boer met 10 hectare land.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Een vierstappenroute voorkomt dat leerlingen meteen naar de hoogste opbrengst springen.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Gebruik straks dezelfde volgorde bij de boer.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E9ED11-901A-4A75-8301-9473678E45DA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8: De boer: eerst beide alternatieven berekenen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worked_example_calculation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workedCalculation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 schaarse middel is 10 hectare land; tarwe en maïs gebruiken hetzelfde land.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Een boer heeft 10 hectare land. Hij kan tarwe verbouwen of maïs verbouwen, maar hetzelfde stuk land kan niet tegelijk voor beide worden gebruikt.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Eerst bereken je de opbrengst per alternatief. Tarwe levert €500 per hectare op, dus 10 hectare tarwe levert €5.000 op. Maïs levert €350 per hectare op, dus 10 hectare maïs levert €3.500 op.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Let op: je trekt nog geen conclusie. Je maakt eerst beide alternatieven vergelijkbaar.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Stop na de tabel en laat leerlingen voorspellen waarom er nog geen conclusie staat.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het rekenen volgt de interpretatie: wat geeft de boer op en wat blijft netto over?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Een rekentabel maakt beide alternatieven vergelijkbaar voordat de conclusie volgt.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Vraag: wat levert elk gewas op als alle 10 hectare daarvoor worden gebruikt?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768804-B72C-44CC-947F-046013C86F5A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9: Als hij tarwe kiest, geeft hij maïs 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worked_example_interpretation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workedInterpretation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Maïs is dan het beste niet-gekozen alternatief; daarom zijn de alternatieve kosten €3.500.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Stel dat de boer tarwe kiest. Dan krijgt hij €5.000 opbrengst, maar hij geeft de maïsopbrengst op.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Omdat maïs het beste niet-gekozen alternatief is, zijn de alternatieve kosten €3.500.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 nettowaarde van tarwe boven maïs is dan €5.000 min €3.500 is €1.500. Dat bedrag laat zien hoeveel beter tarwe is dan het alternatief dat hij opgeeft.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Benadruk dat nettowaarde een vergelijking boven het beste alternatief is, geen totale winstclaim.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Daarna controleren leerlingen of ze het patroon zelf kunnen terughalen.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Een nettowaarde-vergelijking toont opbrengst min alternatieve kosten.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Nettowaarde: €5.000 − €3.500 = €1.500.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26227-46CC-4DAB-B2EC-979F1ABB0D65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10: Vul de drie vaste vragen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retrieval_check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retrievalCheck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 begrijpt het pas echt als je het patroon zelf kunt invullen.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Deze check gebruikt precies dezelfde volgorde als de uitleg: eerst het schaarse middel, daarna het beste niet-gekozen alternatief, daarna de alternatieve kosten.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Probeer de antwoorden eerst zonder terugkijken. Daarna controleer je of je het begrip of alleen het voorbeeld hebt onthouden.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Als je bij vraag 2 de prijs noemt, ga terug naar de definitie: alternatieve kosten zijn de waarde van wat je opgeeft.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Laat leerlingen eerst individueel invullen en open daarna de antwoorden per kaart.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sluiten af met de kernzinnen die de volgende opgave dragen.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Beantwoord eerst zelf, controleer daarna.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359418-4C80-41D6-9DEA-687619DD0D27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1.1.1 Schaarste en economisch denken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 11: De kern in vijf zinnen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Rol: summary_bridge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Layout: summaryBridge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Kernzin: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 deze vijf zinnen vat je de basis van §1.1.1 samen.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Studentuitleg: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Schaarste ontstaat wanneer behoeften groter zijn dan middelen.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Kiezen betekent dat je minstens één alternatief niet kiest.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Alternatieve kosten zijn de waarde van het beste niet-gekozen alternatief.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Bij berekeningen vergelijk je eerst de alternatieven en trek je daarna pas een conclusie.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De kernvraag blijft: wat geef je op doordat je dit kiest?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Docentcue: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Laat één leerling elke zin koppelen aan een dia of voorbeeld uit de 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Overgang: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Gebruik deze samenvatting als brug naar zelfstandige verwerking.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Actie op de dia: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Gebruik deze samenvatting als brug naar de volgende opgave.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6F6CF2-9F51-4CE7-9146-E95A0221B45A}" type="slidenum"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Lesdoel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ROUTE VOOR VANDAAG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Vandaag leer je waarom kiezen kost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Aan het einde kun je een keuzeprobleem herkennen, de alternatieve kosten aanwijzen en een keuze in vier stappen beoordelen.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Route: eerst Lisa, daarna het begrip, daarna de boer.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658440" y="2148840"/>
            <a:ext cx="346212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822960" y="233172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1435680" y="2331720"/>
            <a:ext cx="2502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Lisa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1435680" y="2770560"/>
            <a:ext cx="2502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een herkenbaar keuzeprobleem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376880" y="2148840"/>
            <a:ext cx="346212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4541400" y="233172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5154120" y="2331720"/>
            <a:ext cx="2502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Begrippen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5154120" y="2770560"/>
            <a:ext cx="2502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schaarste en alternatieve kosten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8095320" y="2148840"/>
            <a:ext cx="3462120" cy="15724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8260200" y="233172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8872560" y="2331720"/>
            <a:ext cx="2502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Boer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8872560" y="2770560"/>
            <a:ext cx="2502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de procedure met opbrengsten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Lisa moet kiezen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2/11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STARTVOORBEELD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Lisa heeft €20, maar wil voor €27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Het probleem is niet dat ze niets kan kopen. Het probleem is dat ze niet alles tegelijk kan kiezen.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Luistervraag: welke twee alternatieven strijden om hetzelfde geld?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0"/>
          <p:cNvSpPr/>
          <p:nvPr/>
        </p:nvSpPr>
        <p:spPr>
          <a:xfrm>
            <a:off x="685800" y="2011680"/>
            <a:ext cx="3245760" cy="9324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850320" y="21762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BUDGET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850320" y="241416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€20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3"/>
          <p:cNvSpPr/>
          <p:nvPr/>
        </p:nvSpPr>
        <p:spPr>
          <a:xfrm>
            <a:off x="4251960" y="2011680"/>
            <a:ext cx="3245760" cy="9324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4416480" y="21762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SAMEN NODIG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4416480" y="241416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€27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6"/>
          <p:cNvSpPr/>
          <p:nvPr/>
        </p:nvSpPr>
        <p:spPr>
          <a:xfrm>
            <a:off x="7818120" y="2011680"/>
            <a:ext cx="3245760" cy="9324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7982640" y="217620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TEKORT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7982640" y="241416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€7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9"/>
          <p:cNvSpPr/>
          <p:nvPr/>
        </p:nvSpPr>
        <p:spPr>
          <a:xfrm>
            <a:off x="749880" y="3337560"/>
            <a:ext cx="489168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951120" y="3547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OPTIE 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951120" y="38221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Bioscoop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4087440" y="363924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€12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3"/>
          <p:cNvSpPr/>
          <p:nvPr/>
        </p:nvSpPr>
        <p:spPr>
          <a:xfrm>
            <a:off x="951120" y="4352400"/>
            <a:ext cx="4343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Een middag kijkplezier.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4"/>
          <p:cNvSpPr/>
          <p:nvPr/>
        </p:nvSpPr>
        <p:spPr>
          <a:xfrm>
            <a:off x="6190560" y="3337560"/>
            <a:ext cx="489168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5"/>
          <p:cNvSpPr/>
          <p:nvPr/>
        </p:nvSpPr>
        <p:spPr>
          <a:xfrm>
            <a:off x="6391800" y="35478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OPTIE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6"/>
          <p:cNvSpPr/>
          <p:nvPr/>
        </p:nvSpPr>
        <p:spPr>
          <a:xfrm>
            <a:off x="6391800" y="38221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Nieuw boek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7"/>
          <p:cNvSpPr/>
          <p:nvPr/>
        </p:nvSpPr>
        <p:spPr>
          <a:xfrm>
            <a:off x="9528120" y="3639240"/>
            <a:ext cx="1142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€15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6391800" y="4352400"/>
            <a:ext cx="4343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Avonden leesplezier.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Schaarste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3/11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KERNBEGRIP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Schaarste betekent: behoeften &gt; middelen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Schaarste is een verhouding, geen ander woord voor “zeldzaam”.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Check: waar in Lisa’s voorbeeld ontstaat de schaarste?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822960" y="2423160"/>
            <a:ext cx="288000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987480" y="265176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BEHOEFTEN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987480" y="2990160"/>
            <a:ext cx="255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€27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4041720" y="2779920"/>
            <a:ext cx="822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&gt;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5166360" y="2423160"/>
            <a:ext cx="288000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5330880" y="265176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MIDDELEN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5330880" y="2990160"/>
            <a:ext cx="255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€20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7"/>
          <p:cNvSpPr/>
          <p:nvPr/>
        </p:nvSpPr>
        <p:spPr>
          <a:xfrm>
            <a:off x="4526280" y="3977640"/>
            <a:ext cx="360" cy="548640"/>
          </a:xfrm>
          <a:prstGeom prst="line">
            <a:avLst/>
          </a:prstGeom>
          <a:ln w="190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8"/>
          <p:cNvSpPr/>
          <p:nvPr/>
        </p:nvSpPr>
        <p:spPr>
          <a:xfrm>
            <a:off x="2971800" y="4617720"/>
            <a:ext cx="6354720" cy="804240"/>
          </a:xfrm>
          <a:prstGeom prst="roundRect">
            <a:avLst>
              <a:gd name="adj" fmla="val 9091"/>
            </a:avLst>
          </a:prstGeom>
          <a:solidFill>
            <a:srgbClr val="E8F4EC"/>
          </a:solidFill>
          <a:ln w="12700">
            <a:solidFill>
              <a:srgbClr val="5B7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3154680" y="473652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E5E3A"/>
                </a:solidFill>
                <a:effectLst/>
                <a:uFillTx/>
                <a:latin typeface="Segoe UI"/>
                <a:ea typeface="Segoe UI"/>
              </a:rPr>
              <a:t>schaarste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0"/>
          <p:cNvSpPr/>
          <p:nvPr/>
        </p:nvSpPr>
        <p:spPr>
          <a:xfrm>
            <a:off x="6263640" y="48006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niet: zeldzaam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Drie niveaus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4/11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SCHAARSTE HERKENNEN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Zo herken je hetzelfde patroon in andere situaties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Vraag steeds: wie kiest, welk middel is beperkt, en welke alternatieven strijden om dat middel?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Vergelijk Lisa met een producent en een overheid.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658440" y="2103120"/>
            <a:ext cx="3337200" cy="2880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859680" y="235908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Scholier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859680" y="2907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Wie kiest?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859680" y="31636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Lisa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859680" y="354780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Beperkt middel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859680" y="38037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geld of tijd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859680" y="42793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Alternatieven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859680" y="45352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bioscoop, boek, sporten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4453200" y="2103120"/>
            <a:ext cx="3337200" cy="2880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4654440" y="235908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Producent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4654440" y="2907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Wie kiest?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4654440" y="31636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boer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4654440" y="354780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Beperkt middel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4654440" y="38037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land, machines, personeel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4654440" y="42793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Alternatieven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4654440" y="45352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tarwe of maïs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6"/>
          <p:cNvSpPr/>
          <p:nvPr/>
        </p:nvSpPr>
        <p:spPr>
          <a:xfrm>
            <a:off x="8247960" y="2103120"/>
            <a:ext cx="3337200" cy="2880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4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7"/>
          <p:cNvSpPr/>
          <p:nvPr/>
        </p:nvSpPr>
        <p:spPr>
          <a:xfrm>
            <a:off x="8449200" y="235908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Overheid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8449200" y="2907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Wie kiest?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9"/>
          <p:cNvSpPr/>
          <p:nvPr/>
        </p:nvSpPr>
        <p:spPr>
          <a:xfrm>
            <a:off x="8449200" y="31636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gemeente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0"/>
          <p:cNvSpPr/>
          <p:nvPr/>
        </p:nvSpPr>
        <p:spPr>
          <a:xfrm>
            <a:off x="8449200" y="354780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Beperkt middel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1"/>
          <p:cNvSpPr/>
          <p:nvPr/>
        </p:nvSpPr>
        <p:spPr>
          <a:xfrm>
            <a:off x="8449200" y="38037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belastinggeld of ruimte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2"/>
          <p:cNvSpPr/>
          <p:nvPr/>
        </p:nvSpPr>
        <p:spPr>
          <a:xfrm>
            <a:off x="8449200" y="42793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Alternatieven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3"/>
          <p:cNvSpPr/>
          <p:nvPr/>
        </p:nvSpPr>
        <p:spPr>
          <a:xfrm>
            <a:off x="8449200" y="45352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park, weg, school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Alternatieve kosten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5/11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KERNBEGRIP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Alternatieve kosten zijn het beste dat je laat liggen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Bij Lisa is dat niet simpelweg de betaalde prijs, maar de waarde van het alternatief dat ze niet kiest.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Lisa kiest bioscoop. Wat is dan haar beste niet-gekozen alternatief?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822960" y="2423160"/>
            <a:ext cx="288000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987480" y="265176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GEKOZEN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987480" y="2990160"/>
            <a:ext cx="255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bioscoop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4041720" y="2779920"/>
            <a:ext cx="822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→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5166360" y="2423160"/>
            <a:ext cx="288000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5330880" y="265176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NIET GEKOZEN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5330880" y="2990160"/>
            <a:ext cx="2550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boek lezen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7"/>
          <p:cNvSpPr/>
          <p:nvPr/>
        </p:nvSpPr>
        <p:spPr>
          <a:xfrm>
            <a:off x="4526280" y="3977640"/>
            <a:ext cx="360" cy="548640"/>
          </a:xfrm>
          <a:prstGeom prst="line">
            <a:avLst/>
          </a:prstGeom>
          <a:ln w="1905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8"/>
          <p:cNvSpPr/>
          <p:nvPr/>
        </p:nvSpPr>
        <p:spPr>
          <a:xfrm>
            <a:off x="2971800" y="4617720"/>
            <a:ext cx="6354720" cy="804240"/>
          </a:xfrm>
          <a:prstGeom prst="roundRect">
            <a:avLst>
              <a:gd name="adj" fmla="val 9091"/>
            </a:avLst>
          </a:prstGeom>
          <a:solidFill>
            <a:srgbClr val="E8F4EC"/>
          </a:solidFill>
          <a:ln w="12700">
            <a:solidFill>
              <a:srgbClr val="5B7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3154680" y="4736520"/>
            <a:ext cx="3108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E5E3A"/>
                </a:solidFill>
                <a:effectLst/>
                <a:uFillTx/>
                <a:latin typeface="Segoe UI"/>
                <a:ea typeface="Segoe UI"/>
              </a:rPr>
              <a:t>waarde van beste alternatief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6263640" y="48006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niet: betaalde prijs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Niet verwarren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6/11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MISCONCEPTIES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Wat alternatieve kosten niet zijn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Deze twee fouten zorgen later voor verkeerde berekeningen.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Noem bij elk voorbeeld eerst: gekozen alternatief en beste niet-gekozen alternatief.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0"/>
          <p:cNvSpPr/>
          <p:nvPr/>
        </p:nvSpPr>
        <p:spPr>
          <a:xfrm>
            <a:off x="786240" y="2240280"/>
            <a:ext cx="4891680" cy="2514240"/>
          </a:xfrm>
          <a:prstGeom prst="roundRect">
            <a:avLst>
              <a:gd name="adj" fmla="val 2909"/>
            </a:avLst>
          </a:prstGeom>
          <a:solidFill>
            <a:srgbClr val="FBEAE6"/>
          </a:solidFill>
          <a:ln w="12700">
            <a:solidFill>
              <a:srgbClr val="D94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1014840" y="251460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2A20"/>
                </a:solidFill>
                <a:effectLst/>
                <a:uFillTx/>
                <a:latin typeface="Segoe UI"/>
                <a:ea typeface="Segoe UI"/>
              </a:rPr>
              <a:t>Fout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1014840" y="2907720"/>
            <a:ext cx="4343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Alternatieve kosten = prijs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1014840" y="3767400"/>
            <a:ext cx="4388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Prijs is wat je betaalt; alternatieve kosten zijn wat je opgeeft.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4"/>
          <p:cNvSpPr/>
          <p:nvPr/>
        </p:nvSpPr>
        <p:spPr>
          <a:xfrm>
            <a:off x="6364080" y="2240280"/>
            <a:ext cx="4891680" cy="2514240"/>
          </a:xfrm>
          <a:prstGeom prst="roundRect">
            <a:avLst>
              <a:gd name="adj" fmla="val 2909"/>
            </a:avLst>
          </a:prstGeom>
          <a:solidFill>
            <a:srgbClr val="E8F4EC"/>
          </a:solidFill>
          <a:ln w="12700">
            <a:solidFill>
              <a:srgbClr val="5B7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6592680" y="251460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E5E3A"/>
                </a:solidFill>
                <a:effectLst/>
                <a:uFillTx/>
                <a:latin typeface="Segoe UI"/>
                <a:ea typeface="Segoe UI"/>
              </a:rPr>
              <a:t>Fout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6592680" y="2907720"/>
            <a:ext cx="4343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Alle gemiste opties optellen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6592680" y="3767400"/>
            <a:ext cx="4388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Je gebruikt alleen het beste niet-gekozen alternatief.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960120" y="5321880"/>
            <a:ext cx="969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Controlevraag: wat is gekozen en wat is het beste niet-gekozen alternatief?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Vier stappen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7/11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PROCEDURE B02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Bij ingewikkeldere keuzes gebruik je vier stappen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De procedure voorkomt dat je te snel “hoogste bedrag = beste keuze” roept.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Gebruik straks dezelfde volgorde bij de boer.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6217920" y="2020680"/>
            <a:ext cx="566640" cy="566640"/>
          </a:xfrm>
          <a:prstGeom prst="ellipse">
            <a:avLst/>
          </a:prstGeom>
          <a:solidFill>
            <a:srgbClr val="EDEAE3"/>
          </a:solidFill>
          <a:ln w="1905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6282000" y="21762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6931080" y="1993320"/>
            <a:ext cx="425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Schaars middel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6931080" y="229500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Welk middel kan maar één keer worden gebruikt?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4"/>
          <p:cNvSpPr/>
          <p:nvPr/>
        </p:nvSpPr>
        <p:spPr>
          <a:xfrm>
            <a:off x="6217920" y="2807280"/>
            <a:ext cx="566640" cy="566640"/>
          </a:xfrm>
          <a:prstGeom prst="ellipse">
            <a:avLst/>
          </a:prstGeom>
          <a:solidFill>
            <a:srgbClr val="EDEAE3"/>
          </a:solidFill>
          <a:ln w="19050">
            <a:solidFill>
              <a:srgbClr val="3E5A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6282000" y="296280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E5A26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6931080" y="2779920"/>
            <a:ext cx="425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Opbrengsten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6931080" y="308160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Wat levert elk alternatief op?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8"/>
          <p:cNvSpPr/>
          <p:nvPr/>
        </p:nvSpPr>
        <p:spPr>
          <a:xfrm>
            <a:off x="6217920" y="3593520"/>
            <a:ext cx="566640" cy="566640"/>
          </a:xfrm>
          <a:prstGeom prst="ellipse">
            <a:avLst/>
          </a:prstGeom>
          <a:solidFill>
            <a:srgbClr val="EDEAE3"/>
          </a:solidFill>
          <a:ln w="1905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6282000" y="374904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6931080" y="3566160"/>
            <a:ext cx="425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Alternatieve kosten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1"/>
          <p:cNvSpPr/>
          <p:nvPr/>
        </p:nvSpPr>
        <p:spPr>
          <a:xfrm>
            <a:off x="6931080" y="386784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Wat is het beste niet-gekozen alternatief?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2"/>
          <p:cNvSpPr/>
          <p:nvPr/>
        </p:nvSpPr>
        <p:spPr>
          <a:xfrm>
            <a:off x="6217920" y="4380120"/>
            <a:ext cx="566640" cy="566640"/>
          </a:xfrm>
          <a:prstGeom prst="ellipse">
            <a:avLst/>
          </a:prstGeom>
          <a:solidFill>
            <a:srgbClr val="EDEAE3"/>
          </a:solidFill>
          <a:ln w="19050">
            <a:solidFill>
              <a:srgbClr val="D94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3"/>
          <p:cNvSpPr/>
          <p:nvPr/>
        </p:nvSpPr>
        <p:spPr>
          <a:xfrm>
            <a:off x="6282000" y="4535280"/>
            <a:ext cx="438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4"/>
          <p:cNvSpPr/>
          <p:nvPr/>
        </p:nvSpPr>
        <p:spPr>
          <a:xfrm>
            <a:off x="6931080" y="4352400"/>
            <a:ext cx="4251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Conclusie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5"/>
          <p:cNvSpPr/>
          <p:nvPr/>
        </p:nvSpPr>
        <p:spPr>
          <a:xfrm>
            <a:off x="6931080" y="4654440"/>
            <a:ext cx="425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Vergelijk opbrengst met wat je opgeeft.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6309360" y="5230440"/>
            <a:ext cx="4800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Eerst rekenen en vergelijken; daarna pas beoordelen.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Eerst rekenen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8/11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UITGEWERKT VOORBEELD · STAP 1–2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De boer: eerst beide alternatieven berekenen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Het schaarse middel is 10 hectare land; tarwe en maïs gebruiken hetzelfde land.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Vraag: wat levert elk gewas op als alle 10 hectare daarvoor worden gebruikt?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777240" y="2121480"/>
            <a:ext cx="5166000" cy="29988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923400" y="2258640"/>
            <a:ext cx="487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Opbrengst per alternatief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2"/>
          <p:cNvSpPr/>
          <p:nvPr/>
        </p:nvSpPr>
        <p:spPr>
          <a:xfrm>
            <a:off x="914400" y="2624400"/>
            <a:ext cx="1630440" cy="383760"/>
          </a:xfrm>
          <a:prstGeom prst="rect">
            <a:avLst/>
          </a:prstGeom>
          <a:solidFill>
            <a:srgbClr val="EDEAE3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960120" y="269748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Alternatief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2545200" y="2624400"/>
            <a:ext cx="1630440" cy="383760"/>
          </a:xfrm>
          <a:prstGeom prst="rect">
            <a:avLst/>
          </a:prstGeom>
          <a:solidFill>
            <a:srgbClr val="EDEAE3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2590920" y="269748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Per hectare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4175640" y="2624400"/>
            <a:ext cx="1630440" cy="383760"/>
          </a:xfrm>
          <a:prstGeom prst="rect">
            <a:avLst/>
          </a:prstGeom>
          <a:solidFill>
            <a:srgbClr val="EDEAE3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4221360" y="269748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10 hectare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914400" y="3008520"/>
            <a:ext cx="1630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9"/>
          <p:cNvSpPr/>
          <p:nvPr/>
        </p:nvSpPr>
        <p:spPr>
          <a:xfrm>
            <a:off x="960120" y="308160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Tarwe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0"/>
          <p:cNvSpPr/>
          <p:nvPr/>
        </p:nvSpPr>
        <p:spPr>
          <a:xfrm>
            <a:off x="2545200" y="3008520"/>
            <a:ext cx="1630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2590920" y="308160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€500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2"/>
          <p:cNvSpPr/>
          <p:nvPr/>
        </p:nvSpPr>
        <p:spPr>
          <a:xfrm>
            <a:off x="4175640" y="3008520"/>
            <a:ext cx="1630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3"/>
          <p:cNvSpPr/>
          <p:nvPr/>
        </p:nvSpPr>
        <p:spPr>
          <a:xfrm>
            <a:off x="4221360" y="308160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€5.000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4"/>
          <p:cNvSpPr/>
          <p:nvPr/>
        </p:nvSpPr>
        <p:spPr>
          <a:xfrm>
            <a:off x="914400" y="3392280"/>
            <a:ext cx="1630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5"/>
          <p:cNvSpPr/>
          <p:nvPr/>
        </p:nvSpPr>
        <p:spPr>
          <a:xfrm>
            <a:off x="960120" y="346572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Maïs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6"/>
          <p:cNvSpPr/>
          <p:nvPr/>
        </p:nvSpPr>
        <p:spPr>
          <a:xfrm>
            <a:off x="2545200" y="3392280"/>
            <a:ext cx="1630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7"/>
          <p:cNvSpPr/>
          <p:nvPr/>
        </p:nvSpPr>
        <p:spPr>
          <a:xfrm>
            <a:off x="2590920" y="346572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€350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8"/>
          <p:cNvSpPr/>
          <p:nvPr/>
        </p:nvSpPr>
        <p:spPr>
          <a:xfrm>
            <a:off x="4175640" y="3392280"/>
            <a:ext cx="1630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9"/>
          <p:cNvSpPr/>
          <p:nvPr/>
        </p:nvSpPr>
        <p:spPr>
          <a:xfrm>
            <a:off x="4221360" y="3465720"/>
            <a:ext cx="1539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€3.500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0"/>
          <p:cNvSpPr/>
          <p:nvPr/>
        </p:nvSpPr>
        <p:spPr>
          <a:xfrm>
            <a:off x="6446520" y="2331720"/>
            <a:ext cx="47088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1"/>
          <p:cNvSpPr/>
          <p:nvPr/>
        </p:nvSpPr>
        <p:spPr>
          <a:xfrm>
            <a:off x="6656760" y="249624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Tarwe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2"/>
          <p:cNvSpPr/>
          <p:nvPr/>
        </p:nvSpPr>
        <p:spPr>
          <a:xfrm>
            <a:off x="7973640" y="24778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10 × €500 = €5.000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3"/>
          <p:cNvSpPr/>
          <p:nvPr/>
        </p:nvSpPr>
        <p:spPr>
          <a:xfrm>
            <a:off x="6446520" y="3474720"/>
            <a:ext cx="470880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4"/>
          <p:cNvSpPr/>
          <p:nvPr/>
        </p:nvSpPr>
        <p:spPr>
          <a:xfrm>
            <a:off x="6656760" y="363924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Maïs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5"/>
          <p:cNvSpPr/>
          <p:nvPr/>
        </p:nvSpPr>
        <p:spPr>
          <a:xfrm>
            <a:off x="7973640" y="362088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10 × €350 = €3.500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Kosten en nettowaarde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9/11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UITGEWERKT VOORBEELD · STAP 3–4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Als hij tarwe kiest, geeft hij maïs op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Maïs is dan het beste niet-gekozen alternatief; daarom zijn de alternatieve kosten €3.500.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Nettowaarde: €5.000 − €3.500 = €1.500.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914400" y="2148840"/>
            <a:ext cx="10286640" cy="959760"/>
          </a:xfrm>
          <a:prstGeom prst="roundRect">
            <a:avLst>
              <a:gd name="adj" fmla="val 7619"/>
            </a:avLst>
          </a:prstGeom>
          <a:solidFill>
            <a:srgbClr val="E8F4EC"/>
          </a:solidFill>
          <a:ln w="12700">
            <a:solidFill>
              <a:srgbClr val="5B7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1234440" y="2395800"/>
            <a:ext cx="5623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E5E3A"/>
                </a:solidFill>
                <a:effectLst/>
                <a:uFillTx/>
                <a:latin typeface="Segoe UI"/>
                <a:ea typeface="Segoe UI"/>
              </a:rPr>
              <a:t>€5.000 - €3.500 = €1.500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6903720" y="250560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nettowaarde tarwe boven maïs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3"/>
          <p:cNvSpPr/>
          <p:nvPr/>
        </p:nvSpPr>
        <p:spPr>
          <a:xfrm>
            <a:off x="841320" y="3794760"/>
            <a:ext cx="329148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4"/>
          <p:cNvSpPr/>
          <p:nvPr/>
        </p:nvSpPr>
        <p:spPr>
          <a:xfrm>
            <a:off x="1024200" y="40050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Gekozen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1024200" y="4434840"/>
            <a:ext cx="2788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Tarwe levert €5.000 op.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4572000" y="3794760"/>
            <a:ext cx="329148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4754880" y="40050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Opgegeven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8"/>
          <p:cNvSpPr/>
          <p:nvPr/>
        </p:nvSpPr>
        <p:spPr>
          <a:xfrm>
            <a:off x="4754880" y="4434840"/>
            <a:ext cx="2788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Maïs is het beste niet-gekozen alternatief.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8302680" y="3794760"/>
            <a:ext cx="329148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4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0"/>
          <p:cNvSpPr/>
          <p:nvPr/>
        </p:nvSpPr>
        <p:spPr>
          <a:xfrm>
            <a:off x="8485560" y="40050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Nettowaarde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1"/>
          <p:cNvSpPr/>
          <p:nvPr/>
        </p:nvSpPr>
        <p:spPr>
          <a:xfrm>
            <a:off x="8485560" y="4434840"/>
            <a:ext cx="2788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Tarwe ligt €1.500 boven het alternatief.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Kan je het gebruiken?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10/11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ACTIEVE CHECK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Vul de drie vaste vragen in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Je begrijpt het pas echt als je het patroon zelf kunt invullen.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Beantwoord eerst zelf, controleer daarna.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777240" y="2030040"/>
            <a:ext cx="4891680" cy="14810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960120" y="221292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76E6E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1581840" y="21945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Lisa kiest bioscoop. Wat is het schaarse middel?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1581840" y="2797920"/>
            <a:ext cx="3794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Lisa’s €20.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4"/>
          <p:cNvSpPr/>
          <p:nvPr/>
        </p:nvSpPr>
        <p:spPr>
          <a:xfrm>
            <a:off x="6217920" y="2030040"/>
            <a:ext cx="4891680" cy="14810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6400800" y="221292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A5A0E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6"/>
          <p:cNvSpPr/>
          <p:nvPr/>
        </p:nvSpPr>
        <p:spPr>
          <a:xfrm>
            <a:off x="7022520" y="21945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Lisa kiest bioscoop. Wat is het beste niet-gekozen alternatief?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7"/>
          <p:cNvSpPr/>
          <p:nvPr/>
        </p:nvSpPr>
        <p:spPr>
          <a:xfrm>
            <a:off x="7022520" y="2797920"/>
            <a:ext cx="3794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Het boek lezen, met de waarde die dat voor haar heeft.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8"/>
          <p:cNvSpPr/>
          <p:nvPr/>
        </p:nvSpPr>
        <p:spPr>
          <a:xfrm>
            <a:off x="777240" y="3877200"/>
            <a:ext cx="4891680" cy="14810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4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9"/>
          <p:cNvSpPr/>
          <p:nvPr/>
        </p:nvSpPr>
        <p:spPr>
          <a:xfrm>
            <a:off x="960120" y="40600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0"/>
          <p:cNvSpPr/>
          <p:nvPr/>
        </p:nvSpPr>
        <p:spPr>
          <a:xfrm>
            <a:off x="1581840" y="404172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De boer kiest tarwe. Wat zijn de alternatieve kosten?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1"/>
          <p:cNvSpPr/>
          <p:nvPr/>
        </p:nvSpPr>
        <p:spPr>
          <a:xfrm>
            <a:off x="1581840" y="4645080"/>
            <a:ext cx="3794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De opbrengst van maïs: €3.500.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0" y="0"/>
            <a:ext cx="12191400" cy="45360"/>
          </a:xfrm>
          <a:prstGeom prst="rect">
            <a:avLst/>
          </a:prstGeom>
          <a:solidFill>
            <a:srgbClr val="0FA3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"/>
          <p:cNvSpPr/>
          <p:nvPr/>
        </p:nvSpPr>
        <p:spPr>
          <a:xfrm>
            <a:off x="0" y="0"/>
            <a:ext cx="3840120" cy="45360"/>
          </a:xfrm>
          <a:prstGeom prst="rect">
            <a:avLst/>
          </a:prstGeom>
          <a:solidFill>
            <a:srgbClr val="F4B7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"/>
          <p:cNvSpPr/>
          <p:nvPr/>
        </p:nvSpPr>
        <p:spPr>
          <a:xfrm>
            <a:off x="3840480" y="0"/>
            <a:ext cx="2011320" cy="45360"/>
          </a:xfrm>
          <a:prstGeom prst="rect">
            <a:avLst/>
          </a:prstGeom>
          <a:solidFill>
            <a:srgbClr val="D94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502920" y="6464880"/>
            <a:ext cx="649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1.1.1 - De kern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11018520" y="64648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3748"/>
                </a:solidFill>
                <a:effectLst/>
                <a:uFillTx/>
                <a:latin typeface="Segoe UI"/>
                <a:ea typeface="Segoe UI"/>
              </a:rPr>
              <a:t>11/11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594360" y="384120"/>
            <a:ext cx="10789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139" strike="noStrike">
                <a:solidFill>
                  <a:srgbClr val="D94A3A"/>
                </a:solidFill>
                <a:effectLst/>
                <a:uFillTx/>
                <a:latin typeface="Segoe UI"/>
                <a:ea typeface="Segoe UI"/>
              </a:rPr>
              <a:t>1.1.1 · SAMENVATTING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594360" y="7131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B1B3D"/>
                </a:solidFill>
                <a:effectLst/>
                <a:uFillTx/>
                <a:latin typeface="Segoe UI"/>
                <a:ea typeface="Segoe UI"/>
              </a:rPr>
              <a:t>De kern in vijf zinnen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612720" y="129852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Met deze vijf zinnen vat je de basis van §1.1.1 samen.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731520" y="597096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B1B3D"/>
                </a:solidFill>
                <a:effectLst/>
                <a:uFillTx/>
                <a:latin typeface="Georgia"/>
                <a:ea typeface="Georgia"/>
              </a:rPr>
              <a:t>Gebruik deze samenvatting als brug naar de volgende opgave.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658080" y="5879520"/>
            <a:ext cx="10835640" cy="360"/>
          </a:xfrm>
          <a:prstGeom prst="line">
            <a:avLst/>
          </a:prstGeom>
          <a:ln w="12700">
            <a:solidFill>
              <a:srgbClr val="D4D1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0"/>
          <p:cNvSpPr/>
          <p:nvPr/>
        </p:nvSpPr>
        <p:spPr>
          <a:xfrm>
            <a:off x="868680" y="1993320"/>
            <a:ext cx="411120" cy="411120"/>
          </a:xfrm>
          <a:prstGeom prst="ellipse">
            <a:avLst/>
          </a:prstGeom>
          <a:solidFill>
            <a:srgbClr val="076E6E"/>
          </a:solidFill>
          <a:ln w="12700">
            <a:solidFill>
              <a:srgbClr val="07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969120" y="209412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1508760" y="201168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Schaarste ontstaat wanneer behoeften groter zijn dan middelen.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868680" y="2706480"/>
            <a:ext cx="411120" cy="411120"/>
          </a:xfrm>
          <a:prstGeom prst="ellipse">
            <a:avLst/>
          </a:prstGeom>
          <a:solidFill>
            <a:srgbClr val="8A5A0E"/>
          </a:solidFill>
          <a:ln w="12700">
            <a:solidFill>
              <a:srgbClr val="8A5A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969120" y="280728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1508760" y="272484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Kiezen betekent dat je minstens één alternatief niet kiest.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6"/>
          <p:cNvSpPr/>
          <p:nvPr/>
        </p:nvSpPr>
        <p:spPr>
          <a:xfrm>
            <a:off x="868680" y="3420000"/>
            <a:ext cx="411120" cy="411120"/>
          </a:xfrm>
          <a:prstGeom prst="ellipse">
            <a:avLst/>
          </a:prstGeom>
          <a:solidFill>
            <a:srgbClr val="D94A3A"/>
          </a:solidFill>
          <a:ln w="12700">
            <a:solidFill>
              <a:srgbClr val="D94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969120" y="352044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8"/>
          <p:cNvSpPr/>
          <p:nvPr/>
        </p:nvSpPr>
        <p:spPr>
          <a:xfrm>
            <a:off x="1508760" y="343800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Alternatieve kosten zijn de waarde van het beste niet-gekozen alternatief.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9"/>
          <p:cNvSpPr/>
          <p:nvPr/>
        </p:nvSpPr>
        <p:spPr>
          <a:xfrm>
            <a:off x="868680" y="4133160"/>
            <a:ext cx="411120" cy="411120"/>
          </a:xfrm>
          <a:prstGeom prst="ellipse">
            <a:avLst/>
          </a:prstGeom>
          <a:solidFill>
            <a:srgbClr val="3E5A26"/>
          </a:solidFill>
          <a:ln w="12700">
            <a:solidFill>
              <a:srgbClr val="3E5A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969120" y="423360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1"/>
          <p:cNvSpPr/>
          <p:nvPr/>
        </p:nvSpPr>
        <p:spPr>
          <a:xfrm>
            <a:off x="1508760" y="415152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Bij berekeningen vergelijk je eerst de alternatieven en trek je daarna pas een conclusie.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2"/>
          <p:cNvSpPr/>
          <p:nvPr/>
        </p:nvSpPr>
        <p:spPr>
          <a:xfrm>
            <a:off x="868680" y="4846320"/>
            <a:ext cx="411120" cy="411120"/>
          </a:xfrm>
          <a:prstGeom prst="ellipse">
            <a:avLst/>
          </a:prstGeom>
          <a:solidFill>
            <a:srgbClr val="0B1B3D"/>
          </a:solidFill>
          <a:ln w="12700">
            <a:solidFill>
              <a:srgbClr val="0B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3"/>
          <p:cNvSpPr/>
          <p:nvPr/>
        </p:nvSpPr>
        <p:spPr>
          <a:xfrm>
            <a:off x="969120" y="494676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4"/>
          <p:cNvSpPr/>
          <p:nvPr/>
        </p:nvSpPr>
        <p:spPr>
          <a:xfrm>
            <a:off x="1508760" y="4864680"/>
            <a:ext cx="94179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A0E1A"/>
                </a:solidFill>
                <a:effectLst/>
                <a:uFillTx/>
                <a:latin typeface="Segoe UI"/>
                <a:ea typeface="Segoe UI"/>
              </a:rPr>
              <a:t>De kernvraag blijft: wat geef je op doordat je dit kiest?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 pitchFamily="0" charset="1"/>
        <a:ea typeface=""/>
        <a:cs typeface=""/>
      </a:majorFont>
      <a:minorFont>
        <a:latin typeface="Segoe U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  <Words>0</Words>
  <Paragraphs>0</Paragraphs>
  <Company>4veco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2026-06-24T11:55:07Z</dcterms:created>
  <dc:creator>4VWO Economie</dc:creator>
  <dc:description/>
  <dc:language>en-US</dc:language>
  <cp:lastModifiedBy>4VWO Economie</cp:lastModifiedBy>
  <dcterms:modified xsi:type="dcterms:W3CDTF">2026-06-24T11:55:07Z</dcterms:modified>
  <cp:revision>1</cp:revision>
  <dc:subject>1.1.1 Schaarste en economisch denken</dc:subject>
  <dc:title>1.1.1 Schaarste en economisch denken - presentation-v2 PPTX derivative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