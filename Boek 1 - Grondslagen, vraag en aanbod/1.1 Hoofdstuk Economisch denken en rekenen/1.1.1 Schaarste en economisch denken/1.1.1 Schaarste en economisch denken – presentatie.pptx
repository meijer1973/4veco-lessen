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5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5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3529A6A4-20A6-48E2-B37B-5F601BB016A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    Waarom kun je niet alles hebben? Laat de klas één antwoord roepen.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   Zeg dat deze paragraaf precies om die vraag draait. Nog niks uitleggen — alleen nieuwsgierigheid oprekken.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  —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 Naar Lisa met haar zakgeld.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38FA1E1-3E63-46D6-AE44-127D9AA571B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    Welke zou jij kiezen, bioscoop of boek? Hand omhoog.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   Beide opties samen kosten €27, Lisa heeft €20. Kiezen is dus verplicht. Wat kost die keuze haar eigenlijk?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  —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 Dit is schaarste — en schaarste geldt niet alleen voor Lisa.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63AA1B8-CAAA-44FF-801D-DCD57F22DE4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    Wat heb jij deze week wel gewild en niet gekregen? Waardoor?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   Schaarste is de verhouding tussen wensen en middelen — niet een kwestie van zeldzaam zijn. Schaarste geldt voor iedereen: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• Scholier — geld (€20) → bioscoop of boek?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• Boer — land (10 hectare) → tarwe of maïs?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• Overheid — budget → wegen of onderwijs?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  Schaarste ≠ weinig of zeldzaam. Water is overal, maar één flesje bij drie dorstige mensen is ook schaarste.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 Omdat kiezen móét, heeft elke keuze een prijs — niet in euro's, maar in wat je laat liggen.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BC5A08A-DBD7-42FE-9EEC-9C84C845EC7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    Lisa kiest de bioscoop. Wat kost haar dat — in euro's, en daarnaast?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   Terug naar Lisa: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• Gekozen — bioscoop (€12), het plezier van de film.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• Niet gekozen — boek (€15), avonden leesplezier.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• Alternatieve kosten — het leesplezier dat ze laat liggen.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Benadruk: niet het geldbedrag, maar wat ze misloopt.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  Alternatieve kosten ≠ de prijs die je betaalt. Dat is de gewone uitgave.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 Hoe vind je bij élke keuze systematisch de alternatieve kosten? In vier stappen.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D150191-FA73-446B-983A-8153F732B0F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    Als je voor een lastige keuze staat, waarmee begin je?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   Vier stappen, altijd dezelfde volgorde: (1) benoem alternatieven, (2) bereken opbrengst per alternatief, (3) rangschik — beste niet-gekozen = alternatieve kosten, (4) bereken nettowaarde = opbrengst − alternatieve kosten. Dit is het schema dat in elk tentamen en elke opgave terugkomt.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  Stap 4 wordt vaak overgeslagen. Zonder stap 4 weet je wel de alternatieve kosten, maar niet of de keuze achteraf goed uitpakte.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 We passen het meteen toe op een boer met 10 hectare.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F5D9F12-1053-4B69-8B9D-2023FFBE41D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    Een boer heeft 10 hectare. Tarwe levert €500/ha op, maïs €350/ha. Wat verdient hij per gewas?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   Snel voorrekenen: 10 × €500 = €5.000 voor tarwe; 10 × €350 = €3.500 voor maïs. We hebben nu de opbrengst van élke optie — dat was stap 2.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  Niet meteen zeggen welke hij moet kiezen. We berekenen hier alleen.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 De getallen staan. Wat geeft hij op als hij tarwe kiest?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72780B4-1F02-4AA4-92EE-8A5EA5C1B81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    Hij kiest tarwe. Wat láát hij dan liggen?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   De maïsopbrengst van €3.500 — dát zijn zijn alternatieve kosten. Niet de som van opties, niet de prijs die hij betaalt: het beste alternatief dat hij niet neemt.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Netto: €5.000 − €3.500 = €1.500 voordeel. Kiezen loont dus — zolang de opbrengst de alternatieve kosten overtreft.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  Alternatieve kosten optellen over alle niet-gekozen opties is fout. Het is altijd het BESTE alternatief.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 Even samenvatten: vijf dingen om vast te houden.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50537FF-01D5-4A89-A93F-469335DEE2D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    Welke van de vijf punten kun je uit je hoofd aan je buurman uitleggen?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   Retrieval-moment. Twee minuten: leerlingen leggen de vijf punten hardop aan elkaar uit, zonder op de dia te kijken.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  —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 Terug naar Lisa — met één vraag die openblijft.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0322659-FB1A-4443-87A0-1B2E2037450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    Hoe vergelijk je eigenlijk het plezier van een film met dat van een boek — of tarwe met maïs?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   Bridge-dia. Laat de vraag open. Nog geen inhoud uit §1.1.2 geven — alleen het vervolg aankondigen, zodat leerlingen geactiveerd blijven.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  —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 Einde paragraaf 1.1.1. Volgende les: hoe meten we dat in geld?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FA6EEEF-0B1C-4321-97BC-FCD8F12D066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ARK_HERO">
    <p:bg>
      <p:bgPr>
        <a:solidFill>
          <a:srgbClr val="050F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3640" cy="2700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7640" rIns="90000" bIns="-17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" name="Text 1"/>
          <p:cNvSpPr/>
          <p:nvPr/>
        </p:nvSpPr>
        <p:spPr>
          <a:xfrm>
            <a:off x="365760" y="478224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400" strike="noStrike">
                <a:solidFill>
                  <a:srgbClr val="3A4F7F"/>
                </a:solidFill>
                <a:effectLst/>
                <a:uFillTx/>
                <a:latin typeface="Segoe UI"/>
                <a:ea typeface="Segoe UI"/>
              </a:rPr>
              <a:t>PARAGRAAF  ·  §1.1.1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LIGHT_ED"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0"/>
          <p:cNvSpPr/>
          <p:nvPr/>
        </p:nvSpPr>
        <p:spPr>
          <a:xfrm>
            <a:off x="0" y="0"/>
            <a:ext cx="9143640" cy="18000"/>
          </a:xfrm>
          <a:prstGeom prst="rect">
            <a:avLst/>
          </a:prstGeom>
          <a:solidFill>
            <a:srgbClr val="0B1B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" name="Text 1"/>
          <p:cNvSpPr/>
          <p:nvPr/>
        </p:nvSpPr>
        <p:spPr>
          <a:xfrm>
            <a:off x="365760" y="482796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300" strike="noStrike">
                <a:solidFill>
                  <a:srgbClr val="8B8779"/>
                </a:solidFill>
                <a:effectLst/>
                <a:uFillTx/>
                <a:latin typeface="Segoe UI"/>
                <a:ea typeface="Segoe UI"/>
              </a:rPr>
              <a:t>§ 1.1.1  ·  SCHAARSTE EN ECONOMISCH DENKEN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IDEBAR"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1828440" cy="5143320"/>
          </a:xfrm>
          <a:prstGeom prst="rect">
            <a:avLst/>
          </a:prstGeom>
          <a:solidFill>
            <a:srgbClr val="0B1B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0" y="0"/>
            <a:ext cx="1828440" cy="5436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720" rIns="90000" bIns="9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0"/>
          <p:cNvSpPr/>
          <p:nvPr/>
        </p:nvSpPr>
        <p:spPr>
          <a:xfrm>
            <a:off x="548640" y="64008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§ 1.1.1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1"/>
          <p:cNvSpPr/>
          <p:nvPr/>
        </p:nvSpPr>
        <p:spPr>
          <a:xfrm>
            <a:off x="548640" y="1051560"/>
            <a:ext cx="804636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5600" b="1" u="none" spc="-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Schaarste en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5600" b="1" u="none" spc="-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economisch denken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Shape 2"/>
          <p:cNvSpPr/>
          <p:nvPr/>
        </p:nvSpPr>
        <p:spPr>
          <a:xfrm>
            <a:off x="548640" y="3429000"/>
            <a:ext cx="548280" cy="3636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3"/>
          <p:cNvSpPr/>
          <p:nvPr/>
        </p:nvSpPr>
        <p:spPr>
          <a:xfrm>
            <a:off x="548640" y="3611880"/>
            <a:ext cx="8046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i="1" u="none" strike="noStrike">
                <a:solidFill>
                  <a:srgbClr val="F4B740"/>
                </a:solidFill>
                <a:effectLst/>
                <a:uFillTx/>
                <a:latin typeface="Georgia"/>
                <a:ea typeface="Georgia"/>
              </a:rPr>
              <a:t>Waarom kun je niet alles hebben?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4"/>
          <p:cNvSpPr/>
          <p:nvPr/>
        </p:nvSpPr>
        <p:spPr>
          <a:xfrm>
            <a:off x="548640" y="434340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4D1CA"/>
                </a:solidFill>
                <a:effectLst/>
                <a:uFillTx/>
                <a:latin typeface="Segoe UI"/>
                <a:ea typeface="Segoe UI"/>
              </a:rPr>
              <a:t>Boek 1 · Hoofdstuk 1.1 Economisch denken en rekenen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0"/>
          <p:cNvSpPr/>
          <p:nvPr/>
        </p:nvSpPr>
        <p:spPr>
          <a:xfrm>
            <a:off x="457200" y="2743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400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NARRATIEF VERHAAL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1"/>
          <p:cNvSpPr/>
          <p:nvPr/>
        </p:nvSpPr>
        <p:spPr>
          <a:xfrm>
            <a:off x="457200" y="548640"/>
            <a:ext cx="8229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Lisa heeft €20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2"/>
          <p:cNvSpPr/>
          <p:nvPr/>
        </p:nvSpPr>
        <p:spPr>
          <a:xfrm>
            <a:off x="457200" y="132588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Zaterdagmiddag. Twee verleidingen.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3"/>
          <p:cNvSpPr/>
          <p:nvPr/>
        </p:nvSpPr>
        <p:spPr>
          <a:xfrm>
            <a:off x="548640" y="2148840"/>
            <a:ext cx="3840120" cy="2194200"/>
          </a:xfrm>
          <a:prstGeom prst="rect">
            <a:avLst/>
          </a:prstGeom>
          <a:solidFill>
            <a:srgbClr val="FFFFFF"/>
          </a:solidFill>
          <a:ln w="9525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4"/>
          <p:cNvSpPr/>
          <p:nvPr/>
        </p:nvSpPr>
        <p:spPr>
          <a:xfrm>
            <a:off x="548640" y="2148840"/>
            <a:ext cx="3840120" cy="7272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5"/>
          <p:cNvSpPr/>
          <p:nvPr/>
        </p:nvSpPr>
        <p:spPr>
          <a:xfrm>
            <a:off x="777240" y="2286000"/>
            <a:ext cx="3382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0FA3A3"/>
                </a:solidFill>
                <a:effectLst/>
                <a:uFillTx/>
                <a:latin typeface="Segoe UI"/>
                <a:ea typeface="Segoe UI"/>
              </a:rPr>
              <a:t>OPTIE 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6"/>
          <p:cNvSpPr/>
          <p:nvPr/>
        </p:nvSpPr>
        <p:spPr>
          <a:xfrm>
            <a:off x="777240" y="2606040"/>
            <a:ext cx="33829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Bioscoop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7"/>
          <p:cNvSpPr/>
          <p:nvPr/>
        </p:nvSpPr>
        <p:spPr>
          <a:xfrm>
            <a:off x="777240" y="3200400"/>
            <a:ext cx="33829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pc="-99" strike="noStrike">
                <a:solidFill>
                  <a:srgbClr val="076E6E"/>
                </a:solidFill>
                <a:effectLst/>
                <a:uFillTx/>
                <a:latin typeface="Segoe UI"/>
                <a:ea typeface="Segoe UI"/>
              </a:rPr>
              <a:t>€12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8"/>
          <p:cNvSpPr/>
          <p:nvPr/>
        </p:nvSpPr>
        <p:spPr>
          <a:xfrm>
            <a:off x="777240" y="3886200"/>
            <a:ext cx="3382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Een middag kijkplezier.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9"/>
          <p:cNvSpPr/>
          <p:nvPr/>
        </p:nvSpPr>
        <p:spPr>
          <a:xfrm>
            <a:off x="4754880" y="2148840"/>
            <a:ext cx="3840120" cy="2194200"/>
          </a:xfrm>
          <a:prstGeom prst="rect">
            <a:avLst/>
          </a:prstGeom>
          <a:solidFill>
            <a:srgbClr val="FFFFFF"/>
          </a:solidFill>
          <a:ln w="9525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10"/>
          <p:cNvSpPr/>
          <p:nvPr/>
        </p:nvSpPr>
        <p:spPr>
          <a:xfrm>
            <a:off x="4754880" y="2148840"/>
            <a:ext cx="3840120" cy="7272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1"/>
          <p:cNvSpPr/>
          <p:nvPr/>
        </p:nvSpPr>
        <p:spPr>
          <a:xfrm>
            <a:off x="4983480" y="2286000"/>
            <a:ext cx="3382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C78E1F"/>
                </a:solidFill>
                <a:effectLst/>
                <a:uFillTx/>
                <a:latin typeface="Segoe UI"/>
                <a:ea typeface="Segoe UI"/>
              </a:rPr>
              <a:t>OPTIE 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12"/>
          <p:cNvSpPr/>
          <p:nvPr/>
        </p:nvSpPr>
        <p:spPr>
          <a:xfrm>
            <a:off x="4983480" y="2606040"/>
            <a:ext cx="33829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Nieuw boek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3"/>
          <p:cNvSpPr/>
          <p:nvPr/>
        </p:nvSpPr>
        <p:spPr>
          <a:xfrm>
            <a:off x="4983480" y="3200400"/>
            <a:ext cx="33829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pc="-99" strike="noStrike">
                <a:solidFill>
                  <a:srgbClr val="C78E1F"/>
                </a:solidFill>
                <a:effectLst/>
                <a:uFillTx/>
                <a:latin typeface="Segoe UI"/>
                <a:ea typeface="Segoe UI"/>
              </a:rPr>
              <a:t>€15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4"/>
          <p:cNvSpPr/>
          <p:nvPr/>
        </p:nvSpPr>
        <p:spPr>
          <a:xfrm>
            <a:off x="4983480" y="3886200"/>
            <a:ext cx="3382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Avonden leesplezier.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5"/>
          <p:cNvSpPr/>
          <p:nvPr/>
        </p:nvSpPr>
        <p:spPr>
          <a:xfrm>
            <a:off x="457200" y="4480560"/>
            <a:ext cx="8229240" cy="411120"/>
          </a:xfrm>
          <a:prstGeom prst="rect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16"/>
          <p:cNvSpPr/>
          <p:nvPr/>
        </p:nvSpPr>
        <p:spPr>
          <a:xfrm>
            <a:off x="548640" y="449892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Beide samen kost €27. Lisa heeft maar €20 → ze móét kiezen.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 0"/>
          <p:cNvSpPr/>
          <p:nvPr/>
        </p:nvSpPr>
        <p:spPr>
          <a:xfrm>
            <a:off x="457200" y="2743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400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KERNBEGRIP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1"/>
          <p:cNvSpPr/>
          <p:nvPr/>
        </p:nvSpPr>
        <p:spPr>
          <a:xfrm>
            <a:off x="457200" y="54864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Schaarste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2"/>
          <p:cNvSpPr/>
          <p:nvPr/>
        </p:nvSpPr>
        <p:spPr>
          <a:xfrm>
            <a:off x="457200" y="1600200"/>
            <a:ext cx="8229240" cy="685440"/>
          </a:xfrm>
          <a:prstGeom prst="rect">
            <a:avLst/>
          </a:prstGeom>
          <a:solidFill>
            <a:srgbClr val="0B1B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3"/>
          <p:cNvSpPr/>
          <p:nvPr/>
        </p:nvSpPr>
        <p:spPr>
          <a:xfrm>
            <a:off x="457200" y="1600200"/>
            <a:ext cx="109440" cy="68544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4"/>
          <p:cNvSpPr/>
          <p:nvPr/>
        </p:nvSpPr>
        <p:spPr>
          <a:xfrm>
            <a:off x="731520" y="1627560"/>
            <a:ext cx="78634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Je behoeften zijn groter dan je middelen — dus móét je kiezen.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" name="Image 0" descr="preencoded.png"/>
          <p:cNvPicPr/>
          <p:nvPr/>
        </p:nvPicPr>
        <p:blipFill>
          <a:blip r:embed="rId1"/>
          <a:stretch/>
        </p:blipFill>
        <p:spPr>
          <a:xfrm>
            <a:off x="2811960" y="2514600"/>
            <a:ext cx="3520080" cy="2377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 0"/>
          <p:cNvSpPr/>
          <p:nvPr/>
        </p:nvSpPr>
        <p:spPr>
          <a:xfrm>
            <a:off x="457200" y="2743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400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KERNBEGRIP 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1"/>
          <p:cNvSpPr/>
          <p:nvPr/>
        </p:nvSpPr>
        <p:spPr>
          <a:xfrm>
            <a:off x="457200" y="54864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Alternatieve kosten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2"/>
          <p:cNvSpPr/>
          <p:nvPr/>
        </p:nvSpPr>
        <p:spPr>
          <a:xfrm>
            <a:off x="457200" y="1600200"/>
            <a:ext cx="8229240" cy="685440"/>
          </a:xfrm>
          <a:prstGeom prst="rect">
            <a:avLst/>
          </a:prstGeom>
          <a:solidFill>
            <a:srgbClr val="0B1B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3"/>
          <p:cNvSpPr/>
          <p:nvPr/>
        </p:nvSpPr>
        <p:spPr>
          <a:xfrm>
            <a:off x="457200" y="1600200"/>
            <a:ext cx="109440" cy="68544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4"/>
          <p:cNvSpPr/>
          <p:nvPr/>
        </p:nvSpPr>
        <p:spPr>
          <a:xfrm>
            <a:off x="731520" y="1627560"/>
            <a:ext cx="78634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De opbrengst van het beste alternatief dat je laat liggen.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" name="Image 0" descr="preencoded.png"/>
          <p:cNvPicPr/>
          <p:nvPr/>
        </p:nvPicPr>
        <p:blipFill>
          <a:blip r:embed="rId1"/>
          <a:stretch/>
        </p:blipFill>
        <p:spPr>
          <a:xfrm>
            <a:off x="2811960" y="2514600"/>
            <a:ext cx="3520080" cy="2377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 0"/>
          <p:cNvSpPr/>
          <p:nvPr/>
        </p:nvSpPr>
        <p:spPr>
          <a:xfrm>
            <a:off x="457200" y="2743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400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KERNBEGRIP 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1"/>
          <p:cNvSpPr/>
          <p:nvPr/>
        </p:nvSpPr>
        <p:spPr>
          <a:xfrm>
            <a:off x="457200" y="54864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Economisch denken in vier stappen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2"/>
          <p:cNvSpPr/>
          <p:nvPr/>
        </p:nvSpPr>
        <p:spPr>
          <a:xfrm>
            <a:off x="457200" y="1691640"/>
            <a:ext cx="4571640" cy="658080"/>
          </a:xfrm>
          <a:prstGeom prst="rect">
            <a:avLst/>
          </a:prstGeom>
          <a:solidFill>
            <a:srgbClr val="FFFFFF"/>
          </a:solidFill>
          <a:ln w="12700">
            <a:solidFill>
              <a:srgbClr val="0B1B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3"/>
          <p:cNvSpPr/>
          <p:nvPr/>
        </p:nvSpPr>
        <p:spPr>
          <a:xfrm>
            <a:off x="457200" y="1691640"/>
            <a:ext cx="72720" cy="65808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4"/>
          <p:cNvSpPr/>
          <p:nvPr/>
        </p:nvSpPr>
        <p:spPr>
          <a:xfrm>
            <a:off x="594360" y="1764720"/>
            <a:ext cx="8226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5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01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5"/>
          <p:cNvSpPr/>
          <p:nvPr/>
        </p:nvSpPr>
        <p:spPr>
          <a:xfrm>
            <a:off x="1508760" y="1728360"/>
            <a:ext cx="34286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Benoem alternatieven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6"/>
          <p:cNvSpPr/>
          <p:nvPr/>
        </p:nvSpPr>
        <p:spPr>
          <a:xfrm>
            <a:off x="1508760" y="2020680"/>
            <a:ext cx="34286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Welke opties heb je?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Shape 7"/>
          <p:cNvSpPr/>
          <p:nvPr/>
        </p:nvSpPr>
        <p:spPr>
          <a:xfrm>
            <a:off x="457200" y="2404800"/>
            <a:ext cx="4571640" cy="658080"/>
          </a:xfrm>
          <a:prstGeom prst="rect">
            <a:avLst/>
          </a:prstGeom>
          <a:solidFill>
            <a:srgbClr val="FFFFFF"/>
          </a:solidFill>
          <a:ln w="12700">
            <a:solidFill>
              <a:srgbClr val="0B1B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8"/>
          <p:cNvSpPr/>
          <p:nvPr/>
        </p:nvSpPr>
        <p:spPr>
          <a:xfrm>
            <a:off x="457200" y="2404800"/>
            <a:ext cx="72720" cy="65808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9"/>
          <p:cNvSpPr/>
          <p:nvPr/>
        </p:nvSpPr>
        <p:spPr>
          <a:xfrm>
            <a:off x="594360" y="2477880"/>
            <a:ext cx="8226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5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02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0"/>
          <p:cNvSpPr/>
          <p:nvPr/>
        </p:nvSpPr>
        <p:spPr>
          <a:xfrm>
            <a:off x="1508760" y="2441520"/>
            <a:ext cx="34286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Bereken opbrengsten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11"/>
          <p:cNvSpPr/>
          <p:nvPr/>
        </p:nvSpPr>
        <p:spPr>
          <a:xfrm>
            <a:off x="1508760" y="2734200"/>
            <a:ext cx="34286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Wat levert elk alternatief op?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12"/>
          <p:cNvSpPr/>
          <p:nvPr/>
        </p:nvSpPr>
        <p:spPr>
          <a:xfrm>
            <a:off x="457200" y="3117960"/>
            <a:ext cx="4571640" cy="658080"/>
          </a:xfrm>
          <a:prstGeom prst="rect">
            <a:avLst/>
          </a:prstGeom>
          <a:solidFill>
            <a:srgbClr val="FFFFFF"/>
          </a:solidFill>
          <a:ln w="12700">
            <a:solidFill>
              <a:srgbClr val="0B1B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13"/>
          <p:cNvSpPr/>
          <p:nvPr/>
        </p:nvSpPr>
        <p:spPr>
          <a:xfrm>
            <a:off x="457200" y="3117960"/>
            <a:ext cx="72720" cy="65808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14"/>
          <p:cNvSpPr/>
          <p:nvPr/>
        </p:nvSpPr>
        <p:spPr>
          <a:xfrm>
            <a:off x="594360" y="3191400"/>
            <a:ext cx="8226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5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03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15"/>
          <p:cNvSpPr/>
          <p:nvPr/>
        </p:nvSpPr>
        <p:spPr>
          <a:xfrm>
            <a:off x="1508760" y="3154680"/>
            <a:ext cx="34286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Rangschik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16"/>
          <p:cNvSpPr/>
          <p:nvPr/>
        </p:nvSpPr>
        <p:spPr>
          <a:xfrm>
            <a:off x="1508760" y="3447360"/>
            <a:ext cx="34286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Beste niet-gekozen = alternatieve kosten.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17"/>
          <p:cNvSpPr/>
          <p:nvPr/>
        </p:nvSpPr>
        <p:spPr>
          <a:xfrm>
            <a:off x="457200" y="3831480"/>
            <a:ext cx="4571640" cy="658080"/>
          </a:xfrm>
          <a:prstGeom prst="rect">
            <a:avLst/>
          </a:prstGeom>
          <a:solidFill>
            <a:srgbClr val="FFFFFF"/>
          </a:solidFill>
          <a:ln w="12700">
            <a:solidFill>
              <a:srgbClr val="0B1B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18"/>
          <p:cNvSpPr/>
          <p:nvPr/>
        </p:nvSpPr>
        <p:spPr>
          <a:xfrm>
            <a:off x="457200" y="3831480"/>
            <a:ext cx="72720" cy="65808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9"/>
          <p:cNvSpPr/>
          <p:nvPr/>
        </p:nvSpPr>
        <p:spPr>
          <a:xfrm>
            <a:off x="594360" y="3904560"/>
            <a:ext cx="8226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5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04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20"/>
          <p:cNvSpPr/>
          <p:nvPr/>
        </p:nvSpPr>
        <p:spPr>
          <a:xfrm>
            <a:off x="1508760" y="3867840"/>
            <a:ext cx="34286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Bereken nettowaarde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21"/>
          <p:cNvSpPr/>
          <p:nvPr/>
        </p:nvSpPr>
        <p:spPr>
          <a:xfrm>
            <a:off x="1508760" y="4160520"/>
            <a:ext cx="34286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Opbrengst − alternatieve kosten.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4" name="Image 0" descr="preencoded.png"/>
          <p:cNvPicPr/>
          <p:nvPr/>
        </p:nvPicPr>
        <p:blipFill>
          <a:blip r:embed="rId1"/>
          <a:stretch/>
        </p:blipFill>
        <p:spPr>
          <a:xfrm>
            <a:off x="5166360" y="1828800"/>
            <a:ext cx="3520080" cy="237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" name="Text 22"/>
          <p:cNvSpPr/>
          <p:nvPr/>
        </p:nvSpPr>
        <p:spPr>
          <a:xfrm>
            <a:off x="5166360" y="4206240"/>
            <a:ext cx="35200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8B8779"/>
                </a:solidFill>
                <a:effectLst/>
                <a:uFillTx/>
                <a:latin typeface="Segoe UI"/>
                <a:ea typeface="Segoe UI"/>
              </a:rPr>
              <a:t>Figuur 3 · het keuzeproces in vier stappen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23"/>
          <p:cNvSpPr/>
          <p:nvPr/>
        </p:nvSpPr>
        <p:spPr>
          <a:xfrm>
            <a:off x="5166360" y="4572000"/>
            <a:ext cx="3520080" cy="411120"/>
          </a:xfrm>
          <a:prstGeom prst="rect">
            <a:avLst/>
          </a:prstGeom>
          <a:solidFill>
            <a:srgbClr val="050F2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24"/>
          <p:cNvSpPr/>
          <p:nvPr/>
        </p:nvSpPr>
        <p:spPr>
          <a:xfrm>
            <a:off x="5257800" y="4590360"/>
            <a:ext cx="3337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F4B740"/>
                </a:solidFill>
                <a:effectLst/>
                <a:uFillTx/>
                <a:latin typeface="Georgia"/>
                <a:ea typeface="Georgia"/>
              </a:rPr>
              <a:t>Verstandig = opbrengst &gt; alternatieve kosten.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ext 0"/>
          <p:cNvSpPr/>
          <p:nvPr/>
        </p:nvSpPr>
        <p:spPr>
          <a:xfrm>
            <a:off x="457200" y="2743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400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UITGEWERKT VOORBEELD · STAP 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1"/>
          <p:cNvSpPr/>
          <p:nvPr/>
        </p:nvSpPr>
        <p:spPr>
          <a:xfrm>
            <a:off x="457200" y="54864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Wat levert elk gewas op?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2"/>
          <p:cNvSpPr/>
          <p:nvPr/>
        </p:nvSpPr>
        <p:spPr>
          <a:xfrm>
            <a:off x="457200" y="2011680"/>
            <a:ext cx="4571640" cy="365400"/>
          </a:xfrm>
          <a:prstGeom prst="rect">
            <a:avLst/>
          </a:prstGeom>
          <a:solidFill>
            <a:srgbClr val="1B306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3"/>
          <p:cNvSpPr/>
          <p:nvPr/>
        </p:nvSpPr>
        <p:spPr>
          <a:xfrm>
            <a:off x="548640" y="2030040"/>
            <a:ext cx="118836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GEWAS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4"/>
          <p:cNvSpPr/>
          <p:nvPr/>
        </p:nvSpPr>
        <p:spPr>
          <a:xfrm>
            <a:off x="1783080" y="2030040"/>
            <a:ext cx="1462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€ / HECTARE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5"/>
          <p:cNvSpPr/>
          <p:nvPr/>
        </p:nvSpPr>
        <p:spPr>
          <a:xfrm>
            <a:off x="3291840" y="2030040"/>
            <a:ext cx="16912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TOTAAL (10 ha)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6"/>
          <p:cNvSpPr/>
          <p:nvPr/>
        </p:nvSpPr>
        <p:spPr>
          <a:xfrm>
            <a:off x="457200" y="2377440"/>
            <a:ext cx="4571640" cy="54828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Shape 7"/>
          <p:cNvSpPr/>
          <p:nvPr/>
        </p:nvSpPr>
        <p:spPr>
          <a:xfrm>
            <a:off x="457200" y="2377440"/>
            <a:ext cx="72720" cy="54828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8"/>
          <p:cNvSpPr/>
          <p:nvPr/>
        </p:nvSpPr>
        <p:spPr>
          <a:xfrm>
            <a:off x="640080" y="2450520"/>
            <a:ext cx="10969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Tarwe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9"/>
          <p:cNvSpPr/>
          <p:nvPr/>
        </p:nvSpPr>
        <p:spPr>
          <a:xfrm>
            <a:off x="1783080" y="2450520"/>
            <a:ext cx="14626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€500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10"/>
          <p:cNvSpPr/>
          <p:nvPr/>
        </p:nvSpPr>
        <p:spPr>
          <a:xfrm>
            <a:off x="3291840" y="2450520"/>
            <a:ext cx="16912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FA3A3"/>
                </a:solidFill>
                <a:effectLst/>
                <a:uFillTx/>
                <a:latin typeface="Segoe UI"/>
                <a:ea typeface="Segoe UI"/>
              </a:rPr>
              <a:t>€5.000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11"/>
          <p:cNvSpPr/>
          <p:nvPr/>
        </p:nvSpPr>
        <p:spPr>
          <a:xfrm>
            <a:off x="457200" y="2926080"/>
            <a:ext cx="4571640" cy="54828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12"/>
          <p:cNvSpPr/>
          <p:nvPr/>
        </p:nvSpPr>
        <p:spPr>
          <a:xfrm>
            <a:off x="457200" y="2926080"/>
            <a:ext cx="72720" cy="548280"/>
          </a:xfrm>
          <a:prstGeom prst="rect">
            <a:avLst/>
          </a:prstGeom>
          <a:solidFill>
            <a:srgbClr val="C78E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13"/>
          <p:cNvSpPr/>
          <p:nvPr/>
        </p:nvSpPr>
        <p:spPr>
          <a:xfrm>
            <a:off x="640080" y="2999160"/>
            <a:ext cx="10969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Maïs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14"/>
          <p:cNvSpPr/>
          <p:nvPr/>
        </p:nvSpPr>
        <p:spPr>
          <a:xfrm>
            <a:off x="1783080" y="2999160"/>
            <a:ext cx="14626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€350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15"/>
          <p:cNvSpPr/>
          <p:nvPr/>
        </p:nvSpPr>
        <p:spPr>
          <a:xfrm>
            <a:off x="3291840" y="2999160"/>
            <a:ext cx="16912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C78E1F"/>
                </a:solidFill>
                <a:effectLst/>
                <a:uFillTx/>
                <a:latin typeface="Segoe UI"/>
                <a:ea typeface="Segoe UI"/>
              </a:rPr>
              <a:t>€3.500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4" name="Image 0" descr="preencoded.png"/>
          <p:cNvPicPr/>
          <p:nvPr/>
        </p:nvPicPr>
        <p:blipFill>
          <a:blip r:embed="rId1"/>
          <a:stretch/>
        </p:blipFill>
        <p:spPr>
          <a:xfrm>
            <a:off x="5166360" y="2011680"/>
            <a:ext cx="3520080" cy="2377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Text 0"/>
          <p:cNvSpPr/>
          <p:nvPr/>
        </p:nvSpPr>
        <p:spPr>
          <a:xfrm>
            <a:off x="457200" y="2743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400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UITGEWERKT VOORBEELD · STAP 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1"/>
          <p:cNvSpPr/>
          <p:nvPr/>
        </p:nvSpPr>
        <p:spPr>
          <a:xfrm>
            <a:off x="457200" y="54864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Wat geeft hij op?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2"/>
          <p:cNvSpPr/>
          <p:nvPr/>
        </p:nvSpPr>
        <p:spPr>
          <a:xfrm>
            <a:off x="457200" y="2011680"/>
            <a:ext cx="4571640" cy="2377080"/>
          </a:xfrm>
          <a:prstGeom prst="rect">
            <a:avLst/>
          </a:prstGeom>
          <a:solidFill>
            <a:srgbClr val="0B1B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3"/>
          <p:cNvSpPr/>
          <p:nvPr/>
        </p:nvSpPr>
        <p:spPr>
          <a:xfrm>
            <a:off x="457200" y="2011680"/>
            <a:ext cx="109440" cy="237708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4"/>
          <p:cNvSpPr/>
          <p:nvPr/>
        </p:nvSpPr>
        <p:spPr>
          <a:xfrm>
            <a:off x="731520" y="2240280"/>
            <a:ext cx="4114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Kiest tarwe → alternatieve kosten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5"/>
          <p:cNvSpPr/>
          <p:nvPr/>
        </p:nvSpPr>
        <p:spPr>
          <a:xfrm>
            <a:off x="731520" y="2697480"/>
            <a:ext cx="41144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200" b="1" u="none" spc="-201" strike="noStrike">
                <a:solidFill>
                  <a:srgbClr val="F4B740"/>
                </a:solidFill>
                <a:effectLst/>
                <a:uFillTx/>
                <a:latin typeface="Segoe UI"/>
                <a:ea typeface="Segoe UI"/>
              </a:rPr>
              <a:t>€3.500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6"/>
          <p:cNvSpPr/>
          <p:nvPr/>
        </p:nvSpPr>
        <p:spPr>
          <a:xfrm>
            <a:off x="731520" y="3794760"/>
            <a:ext cx="41144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D4D1CA"/>
                </a:solidFill>
                <a:effectLst/>
                <a:uFillTx/>
                <a:latin typeface="Georgia"/>
                <a:ea typeface="Georgia"/>
              </a:rPr>
              <a:t>de maïsopbrengst die hij laat liggen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2" name="Image 0" descr="preencoded.png"/>
          <p:cNvPicPr/>
          <p:nvPr/>
        </p:nvPicPr>
        <p:blipFill>
          <a:blip r:embed="rId1"/>
          <a:stretch/>
        </p:blipFill>
        <p:spPr>
          <a:xfrm>
            <a:off x="5166360" y="2011680"/>
            <a:ext cx="3520080" cy="2377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Text 0"/>
          <p:cNvSpPr/>
          <p:nvPr/>
        </p:nvSpPr>
        <p:spPr>
          <a:xfrm>
            <a:off x="548640" y="45720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60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De kern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1"/>
          <p:cNvSpPr/>
          <p:nvPr/>
        </p:nvSpPr>
        <p:spPr>
          <a:xfrm>
            <a:off x="548640" y="822960"/>
            <a:ext cx="80463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pc="-99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Vijf dingen om te onthouden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2"/>
          <p:cNvSpPr/>
          <p:nvPr/>
        </p:nvSpPr>
        <p:spPr>
          <a:xfrm>
            <a:off x="548640" y="1783080"/>
            <a:ext cx="639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pc="-99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01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3"/>
          <p:cNvSpPr/>
          <p:nvPr/>
        </p:nvSpPr>
        <p:spPr>
          <a:xfrm>
            <a:off x="1234440" y="1828800"/>
            <a:ext cx="7452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Schaarste ontstaat wanneer behoeften groter zijn dan middelen — daardoor moet je kiezen.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4"/>
          <p:cNvSpPr/>
          <p:nvPr/>
        </p:nvSpPr>
        <p:spPr>
          <a:xfrm>
            <a:off x="548640" y="2331720"/>
            <a:ext cx="8046360" cy="4320"/>
          </a:xfrm>
          <a:prstGeom prst="rect">
            <a:avLst/>
          </a:prstGeom>
          <a:solidFill>
            <a:srgbClr val="3A4F7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0320" rIns="90000" bIns="-40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5"/>
          <p:cNvSpPr/>
          <p:nvPr/>
        </p:nvSpPr>
        <p:spPr>
          <a:xfrm>
            <a:off x="548640" y="2377440"/>
            <a:ext cx="639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pc="-99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02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6"/>
          <p:cNvSpPr/>
          <p:nvPr/>
        </p:nvSpPr>
        <p:spPr>
          <a:xfrm>
            <a:off x="1234440" y="2423160"/>
            <a:ext cx="7452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Elke keuze heeft alternatieve kosten: de opbrengst van het beste alternatief dat je opgeeft.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7"/>
          <p:cNvSpPr/>
          <p:nvPr/>
        </p:nvSpPr>
        <p:spPr>
          <a:xfrm>
            <a:off x="548640" y="2926080"/>
            <a:ext cx="8046360" cy="4320"/>
          </a:xfrm>
          <a:prstGeom prst="rect">
            <a:avLst/>
          </a:prstGeom>
          <a:solidFill>
            <a:srgbClr val="3A4F7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0320" rIns="90000" bIns="-40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8"/>
          <p:cNvSpPr/>
          <p:nvPr/>
        </p:nvSpPr>
        <p:spPr>
          <a:xfrm>
            <a:off x="548640" y="2971800"/>
            <a:ext cx="639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pc="-99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03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9"/>
          <p:cNvSpPr/>
          <p:nvPr/>
        </p:nvSpPr>
        <p:spPr>
          <a:xfrm>
            <a:off x="1234440" y="3017520"/>
            <a:ext cx="7452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Economisch denken = vier stappen: (1) alternatieven, (2) opbrengsten, (3) rangschik (= alternatieve kosten), (4) nettowaarde.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Shape 10"/>
          <p:cNvSpPr/>
          <p:nvPr/>
        </p:nvSpPr>
        <p:spPr>
          <a:xfrm>
            <a:off x="548640" y="3520440"/>
            <a:ext cx="8046360" cy="4320"/>
          </a:xfrm>
          <a:prstGeom prst="rect">
            <a:avLst/>
          </a:prstGeom>
          <a:solidFill>
            <a:srgbClr val="3A4F7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0320" rIns="90000" bIns="-40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1"/>
          <p:cNvSpPr/>
          <p:nvPr/>
        </p:nvSpPr>
        <p:spPr>
          <a:xfrm>
            <a:off x="548640" y="3566160"/>
            <a:ext cx="639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pc="-99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04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12"/>
          <p:cNvSpPr/>
          <p:nvPr/>
        </p:nvSpPr>
        <p:spPr>
          <a:xfrm>
            <a:off x="1234440" y="3611880"/>
            <a:ext cx="7452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Alternatieve kosten ≠ de prijs die je betaalt — het gaat om wat je misloopt.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13"/>
          <p:cNvSpPr/>
          <p:nvPr/>
        </p:nvSpPr>
        <p:spPr>
          <a:xfrm>
            <a:off x="548640" y="4114800"/>
            <a:ext cx="8046360" cy="4320"/>
          </a:xfrm>
          <a:prstGeom prst="rect">
            <a:avLst/>
          </a:prstGeom>
          <a:solidFill>
            <a:srgbClr val="3A4F7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0320" rIns="90000" bIns="-40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14"/>
          <p:cNvSpPr/>
          <p:nvPr/>
        </p:nvSpPr>
        <p:spPr>
          <a:xfrm>
            <a:off x="548640" y="4160520"/>
            <a:ext cx="639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pc="-99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05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5"/>
          <p:cNvSpPr/>
          <p:nvPr/>
        </p:nvSpPr>
        <p:spPr>
          <a:xfrm>
            <a:off x="1234440" y="4206240"/>
            <a:ext cx="7452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Schaarste geldt voor iedereen: scholier, boer, overheid.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Text 0"/>
          <p:cNvSpPr/>
          <p:nvPr/>
        </p:nvSpPr>
        <p:spPr>
          <a:xfrm>
            <a:off x="548640" y="1097280"/>
            <a:ext cx="80463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TOT SLOT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1"/>
          <p:cNvSpPr/>
          <p:nvPr/>
        </p:nvSpPr>
        <p:spPr>
          <a:xfrm>
            <a:off x="548640" y="1508760"/>
            <a:ext cx="80463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400" b="1" u="none" spc="-99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Terug naar Lisa.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Shape 2"/>
          <p:cNvSpPr/>
          <p:nvPr/>
        </p:nvSpPr>
        <p:spPr>
          <a:xfrm>
            <a:off x="548640" y="2377440"/>
            <a:ext cx="548280" cy="3636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3"/>
          <p:cNvSpPr/>
          <p:nvPr/>
        </p:nvSpPr>
        <p:spPr>
          <a:xfrm>
            <a:off x="548640" y="2606040"/>
            <a:ext cx="80463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D4D1CA"/>
                </a:solidFill>
                <a:effectLst/>
                <a:uFillTx/>
                <a:latin typeface="Georgia"/>
                <a:ea typeface="Georgia"/>
              </a:rPr>
              <a:t>Ze weet nu dat kiezen altijd iets kost. Maar hóé vergelijk je eigenlijk plezier met plezier — of tarwe met maïs?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4"/>
          <p:cNvSpPr/>
          <p:nvPr/>
        </p:nvSpPr>
        <p:spPr>
          <a:xfrm>
            <a:off x="548640" y="3749040"/>
            <a:ext cx="8046360" cy="776880"/>
          </a:xfrm>
          <a:prstGeom prst="rect">
            <a:avLst/>
          </a:prstGeom>
          <a:solidFill>
            <a:srgbClr val="1B306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Shape 5"/>
          <p:cNvSpPr/>
          <p:nvPr/>
        </p:nvSpPr>
        <p:spPr>
          <a:xfrm>
            <a:off x="548640" y="3749040"/>
            <a:ext cx="109440" cy="77688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6"/>
          <p:cNvSpPr/>
          <p:nvPr/>
        </p:nvSpPr>
        <p:spPr>
          <a:xfrm>
            <a:off x="777240" y="3840480"/>
            <a:ext cx="7772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F4B740"/>
                </a:solidFill>
                <a:effectLst/>
                <a:uFillTx/>
                <a:latin typeface="Segoe UI"/>
                <a:ea typeface="Segoe UI"/>
              </a:rPr>
              <a:t>VOLGENDE PARAGRAAF  ·  §1.1.2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7"/>
          <p:cNvSpPr/>
          <p:nvPr/>
        </p:nvSpPr>
        <p:spPr>
          <a:xfrm>
            <a:off x="777240" y="4114800"/>
            <a:ext cx="7772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Hoe meten we verschillen in geld?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LibreOffice/26.2.1.2$Windows_X86_64 LibreOffice_project/620$Build-2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2026-05-09T20:10:26Z</dcterms:created>
  <dc:creator>Economie VWO</dc:creator>
  <dc:description/>
  <dc:language>en-US</dc:language>
  <cp:lastModifiedBy>Economie VWO</cp:lastModifiedBy>
  <dcterms:modified xsi:type="dcterms:W3CDTF">2026-05-09T20:10:26Z</dcterms:modified>
  <cp:revision>1</cp:revision>
  <dc:subject>PptxGenJS Presentation</dc:subject>
  <dc:title>1.1.1 Schaarste en economisch denken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9</vt:r8>
  </property>
  <property fmtid="{D5CDD505-2E9C-101B-9397-08002B2CF9AE}" pid="3" name="PresentationFormat">
    <vt:lpwstr>On-screen Show (16:9)</vt:lpwstr>
  </property>
  <property fmtid="{D5CDD505-2E9C-101B-9397-08002B2CF9AE}" pid="4" name="Slides">
    <vt:r8>9</vt:r8>
  </property>
</Properties>
</file>