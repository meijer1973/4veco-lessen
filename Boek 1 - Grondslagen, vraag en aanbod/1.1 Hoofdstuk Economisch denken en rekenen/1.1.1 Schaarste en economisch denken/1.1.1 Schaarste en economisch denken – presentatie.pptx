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C046D76-6527-4277-A579-F3DEA8CA865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1: Vandaag leer je waarom kiezen kost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Route: eerst Lisa, daarna het begrip, daarna de boer.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Aan het einde kun je een keuzeprobleem herkennen, de alternatieve kosten aanwijzen en een keuze in vier stappen beoordelen.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Deze les gaat over één centrale vraag: wat kost een keuze echt? Niet alleen in euro's, maar vooral in wat je niet meer kunt doen nadat je gekozen hebt.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leerlingen de route in eigen woorden voorspellen: van Lisa naar begrip naar boer.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starten met Lisa, omdat haar keuze klein genoeg is om het patroon scherp te zien.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F98409-F010-47D6-8191-17EE5CD1E6B6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2: Lisa heeft €20, maar wil voor €27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Luistervraag: welke twee alternatieven strijden om hetzelfde geld?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Het probleem is niet dat ze niets kan kopen. Het probleem is dat ze niet alles tegelijk kan kiezen.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Lisa heeft een beperkt budget van €20. Ze wil naar de bioscoop voor €12 en ook een boek kopen van €15. Samen kost dat €27.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eerst het tekort uitrekenen en vraag daarna welke opties om hetzelfde geld concurreren.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 Lisa gaan we naar het begrip dat onder dit keuzeprobleem ligt: schaarste.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6FE983-39BB-4B60-8915-F1CD1A61550A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3: Schaarste betekent: behoeften &gt; middelen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Check: waar in Lisa’s voorbeeld ontstaat de schaarste?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Schaarste is een verhouding, geen ander woord voor “zeldzaam”.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Schaarste ontstaat wanneer behoeften groter zijn dan de beschikbare middelen. Het gaat dus om de verhouding tussen wat iemand wil en wat iemand heeft.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Corrigeer direct de valkuil dat schaarste hetzelfde zou zijn als zeldzaamheid.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Schaarste is niet hetzelfde als zeldzaamheid; het is een verhouding tussen behoeften en middelen.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 we schaarste kunnen herkennen, testen we of hetzelfde patroon ook buiten Lisa werkt.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26CB84-D3D8-4AEA-8D9F-EB9CA9F6936E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4: Zo herken je hetzelfde patroon in andere situaties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Vergelijk Lisa met een producent en een overheid.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Vraag steeds: wie kiest, welk middel is beperkt, en welke alternatieven strijden om dat middel?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context verandert, maar de structuur blijft hetzelfde. Je zoekt steeds naar drie dingen: de kiezer, het beperkte middel en de alternatieven.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Vraag bij elke kaart hardop: wie kiest, welk middel is beperkt, welke alternatieven botsen?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voegen we het tweede kernbegrip toe: alternatieve kosten.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C1B2EF-74A2-4FE7-9FC6-8A4A6E5CA0C1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5: Alternatieve kosten zijn het beste dat je laat liggen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Lisa kiest bioscoop. Wat is dan haar beste niet-gekozen alternatief?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Bij Lisa is dat niet simpelweg de betaalde prijs, maar de waarde van het alternatief dat ze niet kiest.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Als Lisa naar de bioscoop gaat, betaalt ze €12. Maar alternatieve kosten gaan niet over de prijs die ze betaalt.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leerlingen eerst de prijs noemen en daarna expliciet uitleggen waarom dat nog niet de alternatieve kosten zijn.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Voordat we gaan rekenen, halen we twee hardnekkige verwarringen weg.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4EB52E-E7E3-4F2A-BE65-07F70FAAB0B3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6: Wat alternatieve kosten niet zijn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Noem bij elk voorbeeld eerst: gekozen alternatief en beste niet-gekozen alternatief.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Deze twee fouten zorgen later voor verkeerde berekeningen.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Fout één: alternatieve kosten gelijkstellen aan de prijs. De prijs is wat je betaalt; alternatieve kosten zijn wat je opgeeft.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Gebruik de twee foutkaarten als klassikale diagnose voordat leerlingen zelf rekenen.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Alternatieve kosten zijn niet de prijs.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Alternatieve kosten zijn niet de som van alle gemiste opties.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 die valkuilen helder kunnen we de vaste vierstappenroute gebruiken.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AC1059-11E1-4FC4-81F0-2C3318265564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7: Bij ingewikkeldere keuzes gebruik je vier stappen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straks dezelfde volgorde bij de boer.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procedure voorkomt dat je te snel “hoogste bedrag = beste keuze” roept.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Bij Lisa is het voorbeeld klein. In economische vragen worden keuzes vaak groter, met opbrengsten, kosten en meerdere alternatieven.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de volgorde nazeggen: middel, opbrengsten, alternatieve kosten, conclusie.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route passen we nu toe op de boer met 10 hectare land.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3CC4B8-20CD-428B-96FA-3B4E32FEE9C4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8: De boer: eerst beide alternatieven berekenen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wat levert elk gewas op als alle 10 hectare daarvoor worden gebruikt?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Het schaarse middel is 10 hectare land; tarwe en maïs gebruiken hetzelfde land.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Een boer heeft 10 hectare land. Hij kan tarwe verbouwen of maïs verbouwen, maar hetzelfde stuk land kan niet tegelijk voor beide worden gebruikt.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Stop na de tabel en laat leerlingen voorspellen waarom er nog geen conclusie staat.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 het rekenen volgt de interpretatie: wat geeft de boer op en wat blijft netto over?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103C89-2296-4FEF-818A-605155C1D51D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9: Als hij tarwe kiest, geeft hij maïs 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Nettowaarde: €5.000 − €3.500 = €1.500.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Maïs is dan het beste niet-gekozen alternatief; daarom zijn de alternatieve kosten €3.500.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Stel dat de boer tarwe kiest. Dan krijgt hij €5.000 opbrengst, maar hij geeft de maïsopbrengst 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Benadruk dat nettowaarde een vergelijking boven het beste alternatief is, geen totale winstclaim.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controleren leerlingen of ze het patroon zelf kunnen terughalen.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D8BBA3-274E-47E8-A7C6-C0C5BDDC8941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10: Vul de drie vaste vragen 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Beantwoord eerst zelf, controleer daarna.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Je begrijpt het pas echt als je het patroon zelf kunt invullen.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leerlingen eerst individueel invullen en open daarna de antwoorden per kaart.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Antwoord: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- 1. Lisa’s €20.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- 2. Het boek lezen, met de waarde die dat voor haar heeft.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- 3. De opbrengst van maïs: €3.500.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sluiten af met de kernzinnen die de volgende opgave dragen.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D1ACBB-9B4E-4323-856A-1560CECE6887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11: De kern in vijf zinnen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deze samenvatting als brug naar de volgende opgave.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Met deze vijf zinnen vat je de basis van §1.1.1 samen.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Schaarste ontstaat wanneer behoeften groter zijn dan middelen.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Kiezen betekent dat je minstens één alternatief niet kiest.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één leerling elke zin koppelen aan een dia of voorbeeld uit de 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deze samenvatting als brug naar zelfstandige verwerking.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04F74C-0343-4E1D-93E1-6197A63AA20E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Lesdoel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ROUTE VOOR VANDAAG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Vandaag leer je waarom kiezen kost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Aan het einde kun je een keuzeprobleem herkennen, de alternatieve kosten aanwijzen en een keuze in vier stappen beoordelen.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Route: eerst Lisa, daarna het begrip, daarna de boer.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65844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2296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143568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43568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een herkenbaar keuzeprobleem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437688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5"/>
          <p:cNvSpPr/>
          <p:nvPr/>
        </p:nvSpPr>
        <p:spPr>
          <a:xfrm>
            <a:off x="454140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6"/>
          <p:cNvSpPr/>
          <p:nvPr/>
        </p:nvSpPr>
        <p:spPr>
          <a:xfrm>
            <a:off x="515412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Begrippen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515412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schaarste en alternatieve kosten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8"/>
          <p:cNvSpPr/>
          <p:nvPr/>
        </p:nvSpPr>
        <p:spPr>
          <a:xfrm>
            <a:off x="809532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9"/>
          <p:cNvSpPr/>
          <p:nvPr/>
        </p:nvSpPr>
        <p:spPr>
          <a:xfrm>
            <a:off x="826020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0"/>
          <p:cNvSpPr/>
          <p:nvPr/>
        </p:nvSpPr>
        <p:spPr>
          <a:xfrm>
            <a:off x="887256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Boer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1"/>
          <p:cNvSpPr/>
          <p:nvPr/>
        </p:nvSpPr>
        <p:spPr>
          <a:xfrm>
            <a:off x="887256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de procedure met opbrengsten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Lisa moet kiezen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STARTVOORBEELD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heeft €20, maar wil voor €27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Het probleem is niet dat ze niets kan kopen. Het probleem is dat ze niet alles tegelijk kan kiezen.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Luistervraag: welke twee alternatieven strijden om hetzelfde geld?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0"/>
          <p:cNvSpPr/>
          <p:nvPr/>
        </p:nvSpPr>
        <p:spPr>
          <a:xfrm>
            <a:off x="685800" y="2011680"/>
            <a:ext cx="3245760" cy="9324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1"/>
          <p:cNvSpPr/>
          <p:nvPr/>
        </p:nvSpPr>
        <p:spPr>
          <a:xfrm>
            <a:off x="850320" y="21762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BUDGET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2"/>
          <p:cNvSpPr/>
          <p:nvPr/>
        </p:nvSpPr>
        <p:spPr>
          <a:xfrm>
            <a:off x="850320" y="2414160"/>
            <a:ext cx="2742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€20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3"/>
          <p:cNvSpPr/>
          <p:nvPr/>
        </p:nvSpPr>
        <p:spPr>
          <a:xfrm>
            <a:off x="4251960" y="2011680"/>
            <a:ext cx="3245760" cy="9324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4"/>
          <p:cNvSpPr/>
          <p:nvPr/>
        </p:nvSpPr>
        <p:spPr>
          <a:xfrm>
            <a:off x="4416480" y="21762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SAMEN NODIG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5"/>
          <p:cNvSpPr/>
          <p:nvPr/>
        </p:nvSpPr>
        <p:spPr>
          <a:xfrm>
            <a:off x="4416480" y="2414160"/>
            <a:ext cx="2742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€27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6"/>
          <p:cNvSpPr/>
          <p:nvPr/>
        </p:nvSpPr>
        <p:spPr>
          <a:xfrm>
            <a:off x="7818120" y="2011680"/>
            <a:ext cx="3245760" cy="9324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7"/>
          <p:cNvSpPr/>
          <p:nvPr/>
        </p:nvSpPr>
        <p:spPr>
          <a:xfrm>
            <a:off x="7982640" y="21762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TEKORT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8"/>
          <p:cNvSpPr/>
          <p:nvPr/>
        </p:nvSpPr>
        <p:spPr>
          <a:xfrm>
            <a:off x="7982640" y="2414160"/>
            <a:ext cx="2742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€7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9"/>
          <p:cNvSpPr/>
          <p:nvPr/>
        </p:nvSpPr>
        <p:spPr>
          <a:xfrm>
            <a:off x="749880" y="3337560"/>
            <a:ext cx="4891680" cy="15998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0"/>
          <p:cNvSpPr/>
          <p:nvPr/>
        </p:nvSpPr>
        <p:spPr>
          <a:xfrm>
            <a:off x="951120" y="354780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OPTIE 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1"/>
          <p:cNvSpPr/>
          <p:nvPr/>
        </p:nvSpPr>
        <p:spPr>
          <a:xfrm>
            <a:off x="951120" y="382212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2"/>
          <p:cNvSpPr/>
          <p:nvPr/>
        </p:nvSpPr>
        <p:spPr>
          <a:xfrm>
            <a:off x="4087440" y="3639240"/>
            <a:ext cx="1142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€12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3"/>
          <p:cNvSpPr/>
          <p:nvPr/>
        </p:nvSpPr>
        <p:spPr>
          <a:xfrm>
            <a:off x="951120" y="4352400"/>
            <a:ext cx="4343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Een middag kijkplezier.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24"/>
          <p:cNvSpPr/>
          <p:nvPr/>
        </p:nvSpPr>
        <p:spPr>
          <a:xfrm>
            <a:off x="6190560" y="3337560"/>
            <a:ext cx="4891680" cy="15998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5"/>
          <p:cNvSpPr/>
          <p:nvPr/>
        </p:nvSpPr>
        <p:spPr>
          <a:xfrm>
            <a:off x="6391800" y="354780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OPTIE 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6"/>
          <p:cNvSpPr/>
          <p:nvPr/>
        </p:nvSpPr>
        <p:spPr>
          <a:xfrm>
            <a:off x="6391800" y="382212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Nieuw boek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7"/>
          <p:cNvSpPr/>
          <p:nvPr/>
        </p:nvSpPr>
        <p:spPr>
          <a:xfrm>
            <a:off x="9528120" y="3639240"/>
            <a:ext cx="1142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€15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8"/>
          <p:cNvSpPr/>
          <p:nvPr/>
        </p:nvSpPr>
        <p:spPr>
          <a:xfrm>
            <a:off x="6391800" y="4352400"/>
            <a:ext cx="4343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Avonden leesplezier.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Schaarste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KERNBEGRIP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Schaarste betekent: behoeften &gt; middelen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Schaarste is een verhouding, geen ander woord voor “zeldzaam”.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Check: waar in Lisa’s voorbeeld ontstaat de schaarste?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0"/>
          <p:cNvSpPr/>
          <p:nvPr/>
        </p:nvSpPr>
        <p:spPr>
          <a:xfrm>
            <a:off x="822960" y="2423160"/>
            <a:ext cx="288000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1"/>
          <p:cNvSpPr/>
          <p:nvPr/>
        </p:nvSpPr>
        <p:spPr>
          <a:xfrm>
            <a:off x="987480" y="2651760"/>
            <a:ext cx="2550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BEHOEFTEN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2"/>
          <p:cNvSpPr/>
          <p:nvPr/>
        </p:nvSpPr>
        <p:spPr>
          <a:xfrm>
            <a:off x="987480" y="2990160"/>
            <a:ext cx="2550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€27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3"/>
          <p:cNvSpPr/>
          <p:nvPr/>
        </p:nvSpPr>
        <p:spPr>
          <a:xfrm>
            <a:off x="4041720" y="2779920"/>
            <a:ext cx="822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&gt;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4"/>
          <p:cNvSpPr/>
          <p:nvPr/>
        </p:nvSpPr>
        <p:spPr>
          <a:xfrm>
            <a:off x="5166360" y="2423160"/>
            <a:ext cx="288000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5"/>
          <p:cNvSpPr/>
          <p:nvPr/>
        </p:nvSpPr>
        <p:spPr>
          <a:xfrm>
            <a:off x="5330880" y="2651760"/>
            <a:ext cx="2550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MIDDELEN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6"/>
          <p:cNvSpPr/>
          <p:nvPr/>
        </p:nvSpPr>
        <p:spPr>
          <a:xfrm>
            <a:off x="5330880" y="2990160"/>
            <a:ext cx="2550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€20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7"/>
          <p:cNvSpPr/>
          <p:nvPr/>
        </p:nvSpPr>
        <p:spPr>
          <a:xfrm>
            <a:off x="4526280" y="3977640"/>
            <a:ext cx="360" cy="548640"/>
          </a:xfrm>
          <a:prstGeom prst="line">
            <a:avLst/>
          </a:prstGeom>
          <a:ln w="190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8"/>
          <p:cNvSpPr/>
          <p:nvPr/>
        </p:nvSpPr>
        <p:spPr>
          <a:xfrm>
            <a:off x="2971800" y="4617720"/>
            <a:ext cx="6354720" cy="804240"/>
          </a:xfrm>
          <a:prstGeom prst="roundRect">
            <a:avLst>
              <a:gd name="adj" fmla="val 9091"/>
            </a:avLst>
          </a:prstGeom>
          <a:solidFill>
            <a:srgbClr val="E8F4EC"/>
          </a:solidFill>
          <a:ln w="12700">
            <a:solidFill>
              <a:srgbClr val="5B7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9"/>
          <p:cNvSpPr/>
          <p:nvPr/>
        </p:nvSpPr>
        <p:spPr>
          <a:xfrm>
            <a:off x="3154680" y="4736520"/>
            <a:ext cx="31086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schaarste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0"/>
          <p:cNvSpPr/>
          <p:nvPr/>
        </p:nvSpPr>
        <p:spPr>
          <a:xfrm>
            <a:off x="6263640" y="4800600"/>
            <a:ext cx="2559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niet: zeldzaam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Drie niveaus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SCHAARSTE HERKENNEN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Zo herken je hetzelfde patroon in andere situaties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Vraag steeds: wie kiest, welk middel is beperkt, en welke alternatieven strijden om dat middel?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Vergelijk Lisa met een producent en een overheid.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0"/>
          <p:cNvSpPr/>
          <p:nvPr/>
        </p:nvSpPr>
        <p:spPr>
          <a:xfrm>
            <a:off x="658440" y="2103120"/>
            <a:ext cx="3337200" cy="288000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1"/>
          <p:cNvSpPr/>
          <p:nvPr/>
        </p:nvSpPr>
        <p:spPr>
          <a:xfrm>
            <a:off x="859680" y="2359080"/>
            <a:ext cx="2834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Scholier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2"/>
          <p:cNvSpPr/>
          <p:nvPr/>
        </p:nvSpPr>
        <p:spPr>
          <a:xfrm>
            <a:off x="859680" y="29077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Wie kiest?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3"/>
          <p:cNvSpPr/>
          <p:nvPr/>
        </p:nvSpPr>
        <p:spPr>
          <a:xfrm>
            <a:off x="859680" y="31636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Lisa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4"/>
          <p:cNvSpPr/>
          <p:nvPr/>
        </p:nvSpPr>
        <p:spPr>
          <a:xfrm>
            <a:off x="859680" y="354780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Beperkt middel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5"/>
          <p:cNvSpPr/>
          <p:nvPr/>
        </p:nvSpPr>
        <p:spPr>
          <a:xfrm>
            <a:off x="859680" y="380376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geld of tijd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6"/>
          <p:cNvSpPr/>
          <p:nvPr/>
        </p:nvSpPr>
        <p:spPr>
          <a:xfrm>
            <a:off x="859680" y="42793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Alternatieven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7"/>
          <p:cNvSpPr/>
          <p:nvPr/>
        </p:nvSpPr>
        <p:spPr>
          <a:xfrm>
            <a:off x="859680" y="45352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bioscoop, boek, sporten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8"/>
          <p:cNvSpPr/>
          <p:nvPr/>
        </p:nvSpPr>
        <p:spPr>
          <a:xfrm>
            <a:off x="4453200" y="2103120"/>
            <a:ext cx="3337200" cy="288000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9"/>
          <p:cNvSpPr/>
          <p:nvPr/>
        </p:nvSpPr>
        <p:spPr>
          <a:xfrm>
            <a:off x="4654440" y="2359080"/>
            <a:ext cx="2834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Producent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0"/>
          <p:cNvSpPr/>
          <p:nvPr/>
        </p:nvSpPr>
        <p:spPr>
          <a:xfrm>
            <a:off x="4654440" y="29077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Wie kiest?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1"/>
          <p:cNvSpPr/>
          <p:nvPr/>
        </p:nvSpPr>
        <p:spPr>
          <a:xfrm>
            <a:off x="4654440" y="31636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boer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2"/>
          <p:cNvSpPr/>
          <p:nvPr/>
        </p:nvSpPr>
        <p:spPr>
          <a:xfrm>
            <a:off x="4654440" y="354780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Beperkt middel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3"/>
          <p:cNvSpPr/>
          <p:nvPr/>
        </p:nvSpPr>
        <p:spPr>
          <a:xfrm>
            <a:off x="4654440" y="380376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land, machines, personeel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4"/>
          <p:cNvSpPr/>
          <p:nvPr/>
        </p:nvSpPr>
        <p:spPr>
          <a:xfrm>
            <a:off x="4654440" y="42793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Alternatieven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5"/>
          <p:cNvSpPr/>
          <p:nvPr/>
        </p:nvSpPr>
        <p:spPr>
          <a:xfrm>
            <a:off x="4654440" y="45352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tarwe of maïs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6"/>
          <p:cNvSpPr/>
          <p:nvPr/>
        </p:nvSpPr>
        <p:spPr>
          <a:xfrm>
            <a:off x="8247960" y="2103120"/>
            <a:ext cx="3337200" cy="288000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7"/>
          <p:cNvSpPr/>
          <p:nvPr/>
        </p:nvSpPr>
        <p:spPr>
          <a:xfrm>
            <a:off x="8449200" y="2359080"/>
            <a:ext cx="2834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Overheid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8"/>
          <p:cNvSpPr/>
          <p:nvPr/>
        </p:nvSpPr>
        <p:spPr>
          <a:xfrm>
            <a:off x="8449200" y="29077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Wie kiest?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9"/>
          <p:cNvSpPr/>
          <p:nvPr/>
        </p:nvSpPr>
        <p:spPr>
          <a:xfrm>
            <a:off x="8449200" y="31636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gemeente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30"/>
          <p:cNvSpPr/>
          <p:nvPr/>
        </p:nvSpPr>
        <p:spPr>
          <a:xfrm>
            <a:off x="8449200" y="354780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Beperkt middel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1"/>
          <p:cNvSpPr/>
          <p:nvPr/>
        </p:nvSpPr>
        <p:spPr>
          <a:xfrm>
            <a:off x="8449200" y="380376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belastinggeld of ruimte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2"/>
          <p:cNvSpPr/>
          <p:nvPr/>
        </p:nvSpPr>
        <p:spPr>
          <a:xfrm>
            <a:off x="8449200" y="42793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Alternatieven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33"/>
          <p:cNvSpPr/>
          <p:nvPr/>
        </p:nvSpPr>
        <p:spPr>
          <a:xfrm>
            <a:off x="8449200" y="45352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park, weg, school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Alternatieve kosten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KERNBEGRIP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 zijn het beste dat je laat liggen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Bij Lisa is dat niet simpelweg de betaalde prijs, maar de waarde van het alternatief dat ze niet kiest.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Lisa kiest bioscoop. Wat is dan haar beste niet-gekozen alternatief?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0"/>
          <p:cNvSpPr/>
          <p:nvPr/>
        </p:nvSpPr>
        <p:spPr>
          <a:xfrm>
            <a:off x="822960" y="2423160"/>
            <a:ext cx="288000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1"/>
          <p:cNvSpPr/>
          <p:nvPr/>
        </p:nvSpPr>
        <p:spPr>
          <a:xfrm>
            <a:off x="987480" y="2651760"/>
            <a:ext cx="2550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GEKOZEN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2"/>
          <p:cNvSpPr/>
          <p:nvPr/>
        </p:nvSpPr>
        <p:spPr>
          <a:xfrm>
            <a:off x="987480" y="2990160"/>
            <a:ext cx="2550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3"/>
          <p:cNvSpPr/>
          <p:nvPr/>
        </p:nvSpPr>
        <p:spPr>
          <a:xfrm>
            <a:off x="4041720" y="2779920"/>
            <a:ext cx="822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→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4"/>
          <p:cNvSpPr/>
          <p:nvPr/>
        </p:nvSpPr>
        <p:spPr>
          <a:xfrm>
            <a:off x="5166360" y="2423160"/>
            <a:ext cx="288000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5"/>
          <p:cNvSpPr/>
          <p:nvPr/>
        </p:nvSpPr>
        <p:spPr>
          <a:xfrm>
            <a:off x="5330880" y="2651760"/>
            <a:ext cx="2550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NIET GEKOZEN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6"/>
          <p:cNvSpPr/>
          <p:nvPr/>
        </p:nvSpPr>
        <p:spPr>
          <a:xfrm>
            <a:off x="5330880" y="2990160"/>
            <a:ext cx="2550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boek lezen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7"/>
          <p:cNvSpPr/>
          <p:nvPr/>
        </p:nvSpPr>
        <p:spPr>
          <a:xfrm>
            <a:off x="4526280" y="3977640"/>
            <a:ext cx="360" cy="548640"/>
          </a:xfrm>
          <a:prstGeom prst="line">
            <a:avLst/>
          </a:prstGeom>
          <a:ln w="190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8"/>
          <p:cNvSpPr/>
          <p:nvPr/>
        </p:nvSpPr>
        <p:spPr>
          <a:xfrm>
            <a:off x="2971800" y="4617720"/>
            <a:ext cx="6354720" cy="804240"/>
          </a:xfrm>
          <a:prstGeom prst="roundRect">
            <a:avLst>
              <a:gd name="adj" fmla="val 9091"/>
            </a:avLst>
          </a:prstGeom>
          <a:solidFill>
            <a:srgbClr val="E8F4EC"/>
          </a:solidFill>
          <a:ln w="12700">
            <a:solidFill>
              <a:srgbClr val="5B7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9"/>
          <p:cNvSpPr/>
          <p:nvPr/>
        </p:nvSpPr>
        <p:spPr>
          <a:xfrm>
            <a:off x="3154680" y="4736520"/>
            <a:ext cx="31086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waarde van beste alternatief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0"/>
          <p:cNvSpPr/>
          <p:nvPr/>
        </p:nvSpPr>
        <p:spPr>
          <a:xfrm>
            <a:off x="6263640" y="4800600"/>
            <a:ext cx="2559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niet: betaalde prijs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Niet verwarren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6/11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MISCONCEPTIES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alternatieve kosten niet zijn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Deze twee fouten zorgen later voor verkeerde berekeningen.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Noem bij elk voorbeeld eerst: gekozen alternatief en beste niet-gekozen alternatief.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0"/>
          <p:cNvSpPr/>
          <p:nvPr/>
        </p:nvSpPr>
        <p:spPr>
          <a:xfrm>
            <a:off x="786240" y="2240280"/>
            <a:ext cx="4891680" cy="2514240"/>
          </a:xfrm>
          <a:prstGeom prst="roundRect">
            <a:avLst>
              <a:gd name="adj" fmla="val 2909"/>
            </a:avLst>
          </a:prstGeom>
          <a:solidFill>
            <a:srgbClr val="FBEAE6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1"/>
          <p:cNvSpPr/>
          <p:nvPr/>
        </p:nvSpPr>
        <p:spPr>
          <a:xfrm>
            <a:off x="1014840" y="2514600"/>
            <a:ext cx="1645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2A20"/>
                </a:solidFill>
                <a:effectLst/>
                <a:uFillTx/>
                <a:latin typeface="Segoe UI"/>
                <a:ea typeface="Segoe UI"/>
              </a:rPr>
              <a:t>Fout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2"/>
          <p:cNvSpPr/>
          <p:nvPr/>
        </p:nvSpPr>
        <p:spPr>
          <a:xfrm>
            <a:off x="1014840" y="2907720"/>
            <a:ext cx="4343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 = prijs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3"/>
          <p:cNvSpPr/>
          <p:nvPr/>
        </p:nvSpPr>
        <p:spPr>
          <a:xfrm>
            <a:off x="1014840" y="3767400"/>
            <a:ext cx="43887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is wat je betaalt; alternatieve kosten zijn wat je opgeeft.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4"/>
          <p:cNvSpPr/>
          <p:nvPr/>
        </p:nvSpPr>
        <p:spPr>
          <a:xfrm>
            <a:off x="6364080" y="2240280"/>
            <a:ext cx="4891680" cy="2514240"/>
          </a:xfrm>
          <a:prstGeom prst="roundRect">
            <a:avLst>
              <a:gd name="adj" fmla="val 2909"/>
            </a:avLst>
          </a:prstGeom>
          <a:solidFill>
            <a:srgbClr val="E8F4EC"/>
          </a:solidFill>
          <a:ln w="12700">
            <a:solidFill>
              <a:srgbClr val="5B7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5"/>
          <p:cNvSpPr/>
          <p:nvPr/>
        </p:nvSpPr>
        <p:spPr>
          <a:xfrm>
            <a:off x="6592680" y="2514600"/>
            <a:ext cx="1645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Fout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6"/>
          <p:cNvSpPr/>
          <p:nvPr/>
        </p:nvSpPr>
        <p:spPr>
          <a:xfrm>
            <a:off x="6592680" y="2907720"/>
            <a:ext cx="4343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Alle gemiste opties optellen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7"/>
          <p:cNvSpPr/>
          <p:nvPr/>
        </p:nvSpPr>
        <p:spPr>
          <a:xfrm>
            <a:off x="6592680" y="3767400"/>
            <a:ext cx="43887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Je gebruikt alleen het beste niet-gekozen alternatief.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8"/>
          <p:cNvSpPr/>
          <p:nvPr/>
        </p:nvSpPr>
        <p:spPr>
          <a:xfrm>
            <a:off x="960120" y="5321880"/>
            <a:ext cx="9692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Controlevraag: wat is gekozen en wat is het beste niet-gekozen alternatief?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Vier stappen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7/11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PROCEDURE B02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Bij ingewikkeldere keuzes gebruik je vier stappen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 procedure voorkomt dat je te snel “hoogste bedrag = beste keuze” roept.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Gebruik straks dezelfde volgorde bij de boer.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0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1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2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 middel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3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Welk middel kan maar één keer worden gebruikt?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4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5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6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Opbrengsten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7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Wat levert elk alternatief op?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8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9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0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1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Wat is het beste niet-gekozen alternatief?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22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23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4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Conclusie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5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Vergelijk opbrengst met wat je opgeeft.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6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Eerst rekenen en vergelijken; daarna pas beoordelen.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Eerst rekenen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8/11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UITGEWERKT VOORBEELD · STAP 1–2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De boer: eerst beide alternatieven berekenen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Het schaarse middel is 10 hectare land; tarwe en maïs gebruiken hetzelfde land.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Vraag: wat levert elk gewas op als alle 10 hectare daarvoor worden gebruikt?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0"/>
          <p:cNvSpPr/>
          <p:nvPr/>
        </p:nvSpPr>
        <p:spPr>
          <a:xfrm>
            <a:off x="777240" y="2121480"/>
            <a:ext cx="5166000" cy="299880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1"/>
          <p:cNvSpPr/>
          <p:nvPr/>
        </p:nvSpPr>
        <p:spPr>
          <a:xfrm>
            <a:off x="923400" y="2258640"/>
            <a:ext cx="4873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Opbrengst per alternatief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2"/>
          <p:cNvSpPr/>
          <p:nvPr/>
        </p:nvSpPr>
        <p:spPr>
          <a:xfrm>
            <a:off x="914400" y="2624400"/>
            <a:ext cx="163044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3"/>
          <p:cNvSpPr/>
          <p:nvPr/>
        </p:nvSpPr>
        <p:spPr>
          <a:xfrm>
            <a:off x="960120" y="269748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4"/>
          <p:cNvSpPr/>
          <p:nvPr/>
        </p:nvSpPr>
        <p:spPr>
          <a:xfrm>
            <a:off x="2545200" y="2624400"/>
            <a:ext cx="163044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5"/>
          <p:cNvSpPr/>
          <p:nvPr/>
        </p:nvSpPr>
        <p:spPr>
          <a:xfrm>
            <a:off x="2590920" y="269748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Per hectare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6"/>
          <p:cNvSpPr/>
          <p:nvPr/>
        </p:nvSpPr>
        <p:spPr>
          <a:xfrm>
            <a:off x="4175640" y="2624400"/>
            <a:ext cx="163044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7"/>
          <p:cNvSpPr/>
          <p:nvPr/>
        </p:nvSpPr>
        <p:spPr>
          <a:xfrm>
            <a:off x="4221360" y="269748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10 hectare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8"/>
          <p:cNvSpPr/>
          <p:nvPr/>
        </p:nvSpPr>
        <p:spPr>
          <a:xfrm>
            <a:off x="914400" y="3008520"/>
            <a:ext cx="163044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9"/>
          <p:cNvSpPr/>
          <p:nvPr/>
        </p:nvSpPr>
        <p:spPr>
          <a:xfrm>
            <a:off x="960120" y="308160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20"/>
          <p:cNvSpPr/>
          <p:nvPr/>
        </p:nvSpPr>
        <p:spPr>
          <a:xfrm>
            <a:off x="2545200" y="3008520"/>
            <a:ext cx="163044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1"/>
          <p:cNvSpPr/>
          <p:nvPr/>
        </p:nvSpPr>
        <p:spPr>
          <a:xfrm>
            <a:off x="2590920" y="308160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22"/>
          <p:cNvSpPr/>
          <p:nvPr/>
        </p:nvSpPr>
        <p:spPr>
          <a:xfrm>
            <a:off x="4175640" y="3008520"/>
            <a:ext cx="163044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23"/>
          <p:cNvSpPr/>
          <p:nvPr/>
        </p:nvSpPr>
        <p:spPr>
          <a:xfrm>
            <a:off x="4221360" y="308160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€5.000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24"/>
          <p:cNvSpPr/>
          <p:nvPr/>
        </p:nvSpPr>
        <p:spPr>
          <a:xfrm>
            <a:off x="914400" y="3392280"/>
            <a:ext cx="163044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25"/>
          <p:cNvSpPr/>
          <p:nvPr/>
        </p:nvSpPr>
        <p:spPr>
          <a:xfrm>
            <a:off x="960120" y="346572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6"/>
          <p:cNvSpPr/>
          <p:nvPr/>
        </p:nvSpPr>
        <p:spPr>
          <a:xfrm>
            <a:off x="2545200" y="3392280"/>
            <a:ext cx="163044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7"/>
          <p:cNvSpPr/>
          <p:nvPr/>
        </p:nvSpPr>
        <p:spPr>
          <a:xfrm>
            <a:off x="2590920" y="346572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8"/>
          <p:cNvSpPr/>
          <p:nvPr/>
        </p:nvSpPr>
        <p:spPr>
          <a:xfrm>
            <a:off x="4175640" y="3392280"/>
            <a:ext cx="163044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9"/>
          <p:cNvSpPr/>
          <p:nvPr/>
        </p:nvSpPr>
        <p:spPr>
          <a:xfrm>
            <a:off x="4221360" y="346572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30"/>
          <p:cNvSpPr/>
          <p:nvPr/>
        </p:nvSpPr>
        <p:spPr>
          <a:xfrm>
            <a:off x="6446520" y="2331720"/>
            <a:ext cx="470880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1"/>
          <p:cNvSpPr/>
          <p:nvPr/>
        </p:nvSpPr>
        <p:spPr>
          <a:xfrm>
            <a:off x="6656760" y="249624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32"/>
          <p:cNvSpPr/>
          <p:nvPr/>
        </p:nvSpPr>
        <p:spPr>
          <a:xfrm>
            <a:off x="7973640" y="24778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10 × €500 = €5.000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3"/>
          <p:cNvSpPr/>
          <p:nvPr/>
        </p:nvSpPr>
        <p:spPr>
          <a:xfrm>
            <a:off x="6446520" y="3474720"/>
            <a:ext cx="470880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34"/>
          <p:cNvSpPr/>
          <p:nvPr/>
        </p:nvSpPr>
        <p:spPr>
          <a:xfrm>
            <a:off x="6656760" y="363924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5"/>
          <p:cNvSpPr/>
          <p:nvPr/>
        </p:nvSpPr>
        <p:spPr>
          <a:xfrm>
            <a:off x="7973640" y="36208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10 × €350 = €3.500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Kosten en nettowaarde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9/11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UITGEWERKT VOORBEELD · STAP 3–4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Als hij tarwe kiest, geeft hij maïs op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Maïs is dan het beste niet-gekozen alternatief; daarom zijn de alternatieve kosten €3.500.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Nettowaarde: €5.000 − €3.500 = €1.500.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0"/>
          <p:cNvSpPr/>
          <p:nvPr/>
        </p:nvSpPr>
        <p:spPr>
          <a:xfrm>
            <a:off x="914400" y="2148840"/>
            <a:ext cx="10286640" cy="959760"/>
          </a:xfrm>
          <a:prstGeom prst="roundRect">
            <a:avLst>
              <a:gd name="adj" fmla="val 7619"/>
            </a:avLst>
          </a:prstGeom>
          <a:solidFill>
            <a:srgbClr val="E8F4EC"/>
          </a:solidFill>
          <a:ln w="12700">
            <a:solidFill>
              <a:srgbClr val="5B7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1"/>
          <p:cNvSpPr/>
          <p:nvPr/>
        </p:nvSpPr>
        <p:spPr>
          <a:xfrm>
            <a:off x="1234440" y="2395800"/>
            <a:ext cx="56232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€5.000 - €3.500 = €1.500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2"/>
          <p:cNvSpPr/>
          <p:nvPr/>
        </p:nvSpPr>
        <p:spPr>
          <a:xfrm>
            <a:off x="6903720" y="2505600"/>
            <a:ext cx="3611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nettowaarde tarwe boven maïs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3"/>
          <p:cNvSpPr/>
          <p:nvPr/>
        </p:nvSpPr>
        <p:spPr>
          <a:xfrm>
            <a:off x="841320" y="3794760"/>
            <a:ext cx="329148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4"/>
          <p:cNvSpPr/>
          <p:nvPr/>
        </p:nvSpPr>
        <p:spPr>
          <a:xfrm>
            <a:off x="1024200" y="400500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Gekozen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5"/>
          <p:cNvSpPr/>
          <p:nvPr/>
        </p:nvSpPr>
        <p:spPr>
          <a:xfrm>
            <a:off x="1024200" y="4434840"/>
            <a:ext cx="2788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Tarwe levert €5.000 op.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16"/>
          <p:cNvSpPr/>
          <p:nvPr/>
        </p:nvSpPr>
        <p:spPr>
          <a:xfrm>
            <a:off x="4572000" y="3794760"/>
            <a:ext cx="329148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7"/>
          <p:cNvSpPr/>
          <p:nvPr/>
        </p:nvSpPr>
        <p:spPr>
          <a:xfrm>
            <a:off x="4754880" y="400500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Opgegeven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8"/>
          <p:cNvSpPr/>
          <p:nvPr/>
        </p:nvSpPr>
        <p:spPr>
          <a:xfrm>
            <a:off x="4754880" y="4434840"/>
            <a:ext cx="2788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Maïs is het beste niet-gekozen alternatief.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9"/>
          <p:cNvSpPr/>
          <p:nvPr/>
        </p:nvSpPr>
        <p:spPr>
          <a:xfrm>
            <a:off x="8302680" y="3794760"/>
            <a:ext cx="329148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0"/>
          <p:cNvSpPr/>
          <p:nvPr/>
        </p:nvSpPr>
        <p:spPr>
          <a:xfrm>
            <a:off x="8485560" y="400500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Nettowaarde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1"/>
          <p:cNvSpPr/>
          <p:nvPr/>
        </p:nvSpPr>
        <p:spPr>
          <a:xfrm>
            <a:off x="8485560" y="4434840"/>
            <a:ext cx="2788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Tarwe ligt €1.500 boven het alternatief.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Kan je het gebruiken?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10/11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ACTIEVE CHECK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Vul de drie vaste vragen in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Je begrijpt het pas echt als je het patroon zelf kunt invullen.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Beantwoord eerst zelf, controleer daarna.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0"/>
          <p:cNvSpPr/>
          <p:nvPr/>
        </p:nvSpPr>
        <p:spPr>
          <a:xfrm>
            <a:off x="777240" y="203004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1"/>
          <p:cNvSpPr/>
          <p:nvPr/>
        </p:nvSpPr>
        <p:spPr>
          <a:xfrm>
            <a:off x="960120" y="22129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2"/>
          <p:cNvSpPr/>
          <p:nvPr/>
        </p:nvSpPr>
        <p:spPr>
          <a:xfrm>
            <a:off x="1581840" y="219456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kiest bioscoop. Wat is het schaarse middel?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3"/>
          <p:cNvSpPr/>
          <p:nvPr/>
        </p:nvSpPr>
        <p:spPr>
          <a:xfrm>
            <a:off x="1581840" y="279792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denk aan haar budget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4"/>
          <p:cNvSpPr/>
          <p:nvPr/>
        </p:nvSpPr>
        <p:spPr>
          <a:xfrm>
            <a:off x="6217920" y="203004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5"/>
          <p:cNvSpPr/>
          <p:nvPr/>
        </p:nvSpPr>
        <p:spPr>
          <a:xfrm>
            <a:off x="6400800" y="22129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6"/>
          <p:cNvSpPr/>
          <p:nvPr/>
        </p:nvSpPr>
        <p:spPr>
          <a:xfrm>
            <a:off x="7022520" y="219456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kiest bioscoop. Wat is het beste niet-gekozen alternatief?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7"/>
          <p:cNvSpPr/>
          <p:nvPr/>
        </p:nvSpPr>
        <p:spPr>
          <a:xfrm>
            <a:off x="7022520" y="279792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niet de prijs noemen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18"/>
          <p:cNvSpPr/>
          <p:nvPr/>
        </p:nvSpPr>
        <p:spPr>
          <a:xfrm>
            <a:off x="777240" y="387720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9"/>
          <p:cNvSpPr/>
          <p:nvPr/>
        </p:nvSpPr>
        <p:spPr>
          <a:xfrm>
            <a:off x="960120" y="406008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0"/>
          <p:cNvSpPr/>
          <p:nvPr/>
        </p:nvSpPr>
        <p:spPr>
          <a:xfrm>
            <a:off x="1581840" y="404172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De boer kiest tarwe. Wat zijn de alternatieve kosten?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21"/>
          <p:cNvSpPr/>
          <p:nvPr/>
        </p:nvSpPr>
        <p:spPr>
          <a:xfrm>
            <a:off x="1581840" y="464508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gebruik de tabel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De kern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11/11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SAMENVATTING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De kern in vijf zinnen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Met deze vijf zinnen vat je de basis van §1.1.1 samen.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Gebruik deze samenvatting als brug naar de volgende opgave.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0"/>
          <p:cNvSpPr/>
          <p:nvPr/>
        </p:nvSpPr>
        <p:spPr>
          <a:xfrm>
            <a:off x="868680" y="1993320"/>
            <a:ext cx="411120" cy="411120"/>
          </a:xfrm>
          <a:prstGeom prst="ellipse">
            <a:avLst/>
          </a:prstGeom>
          <a:solidFill>
            <a:srgbClr val="076E6E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1"/>
          <p:cNvSpPr/>
          <p:nvPr/>
        </p:nvSpPr>
        <p:spPr>
          <a:xfrm>
            <a:off x="969120" y="209412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2"/>
          <p:cNvSpPr/>
          <p:nvPr/>
        </p:nvSpPr>
        <p:spPr>
          <a:xfrm>
            <a:off x="1508760" y="201168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Schaarste ontstaat wanneer behoeften groter zijn dan middelen.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3"/>
          <p:cNvSpPr/>
          <p:nvPr/>
        </p:nvSpPr>
        <p:spPr>
          <a:xfrm>
            <a:off x="868680" y="2706480"/>
            <a:ext cx="411120" cy="411120"/>
          </a:xfrm>
          <a:prstGeom prst="ellipse">
            <a:avLst/>
          </a:prstGeom>
          <a:solidFill>
            <a:srgbClr val="8A5A0E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4"/>
          <p:cNvSpPr/>
          <p:nvPr/>
        </p:nvSpPr>
        <p:spPr>
          <a:xfrm>
            <a:off x="969120" y="280728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5"/>
          <p:cNvSpPr/>
          <p:nvPr/>
        </p:nvSpPr>
        <p:spPr>
          <a:xfrm>
            <a:off x="1508760" y="272484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Kiezen betekent dat je minstens één alternatief niet kiest.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6"/>
          <p:cNvSpPr/>
          <p:nvPr/>
        </p:nvSpPr>
        <p:spPr>
          <a:xfrm>
            <a:off x="868680" y="3420000"/>
            <a:ext cx="411120" cy="411120"/>
          </a:xfrm>
          <a:prstGeom prst="ellipse">
            <a:avLst/>
          </a:prstGeom>
          <a:solidFill>
            <a:srgbClr val="D94A3A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7"/>
          <p:cNvSpPr/>
          <p:nvPr/>
        </p:nvSpPr>
        <p:spPr>
          <a:xfrm>
            <a:off x="969120" y="352044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8"/>
          <p:cNvSpPr/>
          <p:nvPr/>
        </p:nvSpPr>
        <p:spPr>
          <a:xfrm>
            <a:off x="1508760" y="343800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Alternatieve kosten zijn de waarde van het beste niet-gekozen alternatief.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9"/>
          <p:cNvSpPr/>
          <p:nvPr/>
        </p:nvSpPr>
        <p:spPr>
          <a:xfrm>
            <a:off x="868680" y="4133160"/>
            <a:ext cx="411120" cy="411120"/>
          </a:xfrm>
          <a:prstGeom prst="ellipse">
            <a:avLst/>
          </a:prstGeom>
          <a:solidFill>
            <a:srgbClr val="3E5A26"/>
          </a:solidFill>
          <a:ln w="1270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0"/>
          <p:cNvSpPr/>
          <p:nvPr/>
        </p:nvSpPr>
        <p:spPr>
          <a:xfrm>
            <a:off x="969120" y="423360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1"/>
          <p:cNvSpPr/>
          <p:nvPr/>
        </p:nvSpPr>
        <p:spPr>
          <a:xfrm>
            <a:off x="1508760" y="415152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Bij berekeningen vergelijk je eerst de alternatieven en trek je daarna pas een conclusie.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22"/>
          <p:cNvSpPr/>
          <p:nvPr/>
        </p:nvSpPr>
        <p:spPr>
          <a:xfrm>
            <a:off x="868680" y="4846320"/>
            <a:ext cx="411120" cy="411120"/>
          </a:xfrm>
          <a:prstGeom prst="ellipse">
            <a:avLst/>
          </a:prstGeom>
          <a:solidFill>
            <a:srgbClr val="0B1B3D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3"/>
          <p:cNvSpPr/>
          <p:nvPr/>
        </p:nvSpPr>
        <p:spPr>
          <a:xfrm>
            <a:off x="969120" y="494676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24"/>
          <p:cNvSpPr/>
          <p:nvPr/>
        </p:nvSpPr>
        <p:spPr>
          <a:xfrm>
            <a:off x="1508760" y="486468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 kernvraag blijft: wat geef je op doordat je dit kiest?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4veco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2026-06-25T13:26:56Z</dcterms:created>
  <dc:creator>4VWO Economie</dc:creator>
  <dc:description/>
  <dc:language>en-US</dc:language>
  <cp:lastModifiedBy>4VWO Economie</cp:lastModifiedBy>
  <dcterms:modified xsi:type="dcterms:W3CDTF">2026-06-25T13:26:56Z</dcterms:modified>
  <cp:revision>1</cp:revision>
  <dc:subject>1.1.1 Schaarste en economisch denken</dc:subject>
  <dc:title>1.1.1 Schaarste en economisch denken - presentation-v2 PPTX derivative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11</vt:r8>
  </property>
  <property fmtid="{D5CDD505-2E9C-101B-9397-08002B2CF9AE}" pid="3" name="PresentationFormat">
    <vt:lpwstr>On-screen Show (16:9)</vt:lpwstr>
  </property>
  <property fmtid="{D5CDD505-2E9C-101B-9397-08002B2CF9AE}" pid="4" name="Slides">
    <vt:r8>11</vt:r8>
  </property>
</Properties>
</file>