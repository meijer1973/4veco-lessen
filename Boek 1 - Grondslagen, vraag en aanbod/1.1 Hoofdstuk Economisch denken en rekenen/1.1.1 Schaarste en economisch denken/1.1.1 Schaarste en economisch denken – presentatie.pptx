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024595E-1BDD-4C05-87D3-43AE21B179D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Openingsdia. Laat de vraag even hangen: waarom kun je niet alles hebben? Daar gaat de hele paragraaf over.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FD35869-6CB4-418A-BE0D-1A41A52579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visual nodig hier — het verhaal doet het werk. Vraag klas: 'welke zou jij kiezen?' — en dan: 'wat kost die keuze je eigenlijk?' Dat is de brug naar het vakbegrip.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C4A8B4-BF6A-4509-919A-E38EF50526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Hamer op de verhouding behoeften/middelen — niet op zeldzaamheid. Water is overal, maar één flesje bij drie dorstige mensen = schaarste.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749FA8-EE00-4D26-8C25-D0764B3695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Niet verwarren met de gelduitgave. De alternatieve kosten zijn wat je MISLOOPT — het beste alternatief dat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B6CD27F-C180-4B6E-8E50-88B0F46AA3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Dit is het schema dat je overal terug gaat zien. Elk tentamen, elke opgave: (1) alternatieven, (2) opbrengsten, (3) wat geef je 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CCB119-9437-4461-BC75-D144B5A7FB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Laat de drie stappen uit dia 5 concreet worden. Benadruk: alternatieve kosten = opbrengst van het BESTE niet-gekozen alternatief, niet de som.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149BCA-5A57-4B62-A18E-CA23FFFA41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Retrieval-moment. Laat leerlingen in tweetallen de vijf punten hardop aan elkaar uitleggen zonder op de dia te kijken.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FE3680-BFC0-4BB4-A26F-F4F3756820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Bridge-dia. Nog geen inhoud uit §1.1.2 geven — alleen het vervolg aankondigen zodat leerlingen geactiveerd blijven.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1655A8-9136-4870-B6EE-B3826023D4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400" strike="noStrike">
                <a:solidFill>
                  <a:srgbClr val="3A4F7F"/>
                </a:solidFill>
                <a:effectLst/>
                <a:uFillTx/>
                <a:latin typeface="Segoe UI"/>
                <a:ea typeface="Segoe UI"/>
              </a:rPr>
              <a:t>PARAGRAAF  ·  §1.1.1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§ 1.1.1  ·  SCHAARSTE EN ECONOMISCH DENKEN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48640" y="6400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1.1.1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48640" y="1051560"/>
            <a:ext cx="80463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48640" y="342900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36118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Waarom kun je niet alles hebben?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548640" y="43434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Boek 1 · Hoofdstuk 1.1 Economisch denken en rekenen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NARRATIEF VERHAAL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57200" y="54864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heeft €20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1325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Zaterdagmiddag. Twee verleidingen.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54864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48640" y="2148840"/>
            <a:ext cx="3840120" cy="7272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77724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OPTIE 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77724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77724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€12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77724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middag kijkplezier.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475488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4754880" y="2148840"/>
            <a:ext cx="3840120" cy="7272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498348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OPTIE 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498348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Nieuw boek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498348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€15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498348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Avonden leesplezier.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4480560"/>
            <a:ext cx="8229240" cy="41112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548640" y="44989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Beide samen kost €27. Lisa heeft maar €20 → ze móét kiezen.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Schaarste: het basisprobleem van de economie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DEFINITIE  </a:t>
            </a: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Schaarste is de situatie waarin de behoeften (wensen) groter zijn dan de beschikbare middelen.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457200" y="24688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SCHAARSTE GELDT VOOR IEDEREEN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6"/>
          <p:cNvSpPr/>
          <p:nvPr/>
        </p:nvSpPr>
        <p:spPr>
          <a:xfrm>
            <a:off x="457200" y="2788920"/>
            <a:ext cx="4571640" cy="3196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7"/>
          <p:cNvSpPr/>
          <p:nvPr/>
        </p:nvSpPr>
        <p:spPr>
          <a:xfrm>
            <a:off x="548640" y="2797920"/>
            <a:ext cx="10969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WIE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8"/>
          <p:cNvSpPr/>
          <p:nvPr/>
        </p:nvSpPr>
        <p:spPr>
          <a:xfrm>
            <a:off x="1691640" y="2797920"/>
            <a:ext cx="14626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MIDDEL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9"/>
          <p:cNvSpPr/>
          <p:nvPr/>
        </p:nvSpPr>
        <p:spPr>
          <a:xfrm>
            <a:off x="3200400" y="2797920"/>
            <a:ext cx="17370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KEUZE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457200" y="3108960"/>
            <a:ext cx="4571640" cy="41112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1"/>
          <p:cNvSpPr/>
          <p:nvPr/>
        </p:nvSpPr>
        <p:spPr>
          <a:xfrm>
            <a:off x="548640" y="312732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Scholier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2"/>
          <p:cNvSpPr/>
          <p:nvPr/>
        </p:nvSpPr>
        <p:spPr>
          <a:xfrm>
            <a:off x="1691640" y="312732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Geld (€20)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3"/>
          <p:cNvSpPr/>
          <p:nvPr/>
        </p:nvSpPr>
        <p:spPr>
          <a:xfrm>
            <a:off x="3200400" y="312732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Bioscoop of boek?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4"/>
          <p:cNvSpPr/>
          <p:nvPr/>
        </p:nvSpPr>
        <p:spPr>
          <a:xfrm>
            <a:off x="457200" y="3520440"/>
            <a:ext cx="4571640" cy="411120"/>
          </a:xfrm>
          <a:prstGeom prst="rect">
            <a:avLst/>
          </a:prstGeom>
          <a:solidFill>
            <a:srgbClr val="EDEAE3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5"/>
          <p:cNvSpPr/>
          <p:nvPr/>
        </p:nvSpPr>
        <p:spPr>
          <a:xfrm>
            <a:off x="548640" y="353880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Boer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6"/>
          <p:cNvSpPr/>
          <p:nvPr/>
        </p:nvSpPr>
        <p:spPr>
          <a:xfrm>
            <a:off x="1691640" y="353880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Land (10 hectare)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7"/>
          <p:cNvSpPr/>
          <p:nvPr/>
        </p:nvSpPr>
        <p:spPr>
          <a:xfrm>
            <a:off x="3200400" y="353880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Tarwe of maïs?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8"/>
          <p:cNvSpPr/>
          <p:nvPr/>
        </p:nvSpPr>
        <p:spPr>
          <a:xfrm>
            <a:off x="457200" y="3931920"/>
            <a:ext cx="4571640" cy="41112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9"/>
          <p:cNvSpPr/>
          <p:nvPr/>
        </p:nvSpPr>
        <p:spPr>
          <a:xfrm>
            <a:off x="548640" y="39502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Overheid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0"/>
          <p:cNvSpPr/>
          <p:nvPr/>
        </p:nvSpPr>
        <p:spPr>
          <a:xfrm>
            <a:off x="1691640" y="395028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Budget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1"/>
          <p:cNvSpPr/>
          <p:nvPr/>
        </p:nvSpPr>
        <p:spPr>
          <a:xfrm>
            <a:off x="3200400" y="395028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Wegen of onderwijs?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2"/>
          <p:cNvSpPr/>
          <p:nvPr/>
        </p:nvSpPr>
        <p:spPr>
          <a:xfrm>
            <a:off x="457200" y="4526280"/>
            <a:ext cx="4571640" cy="456840"/>
          </a:xfrm>
          <a:prstGeom prst="rect">
            <a:avLst/>
          </a:prstGeom>
          <a:solidFill>
            <a:srgbClr val="FBEAE6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3"/>
          <p:cNvSpPr/>
          <p:nvPr/>
        </p:nvSpPr>
        <p:spPr>
          <a:xfrm>
            <a:off x="457200" y="4526280"/>
            <a:ext cx="72720" cy="45684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4"/>
          <p:cNvSpPr/>
          <p:nvPr/>
        </p:nvSpPr>
        <p:spPr>
          <a:xfrm>
            <a:off x="640080" y="4544640"/>
            <a:ext cx="4343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3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VALKUIL  </a:t>
            </a:r>
            <a:r>
              <a:rPr lang="en-US" sz="1300" b="0" u="none" strike="noStrike">
                <a:solidFill>
                  <a:srgbClr val="8B2A20"/>
                </a:solidFill>
                <a:effectLst/>
                <a:uFillTx/>
                <a:latin typeface="Segoe UI"/>
                <a:ea typeface="Segoe UI"/>
              </a:rPr>
              <a:t>schaarste is niet hetzelfde als weinig of zeldzaam.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0" descr="preencoded.png"/>
          <p:cNvPicPr/>
          <p:nvPr/>
        </p:nvPicPr>
        <p:blipFill>
          <a:blip r:embed="rId1"/>
          <a:stretch/>
        </p:blipFill>
        <p:spPr>
          <a:xfrm>
            <a:off x="5166360" y="246888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25"/>
          <p:cNvSpPr/>
          <p:nvPr/>
        </p:nvSpPr>
        <p:spPr>
          <a:xfrm>
            <a:off x="5166360" y="484632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1 · behoeften versus middelen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kosten: de prijs van je keuze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DEFINITIE  </a:t>
            </a: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Alternatieve kosten = de opbrengst van het beste alternatief dat je opgeeft bij een keuze.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457200" y="24688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TERUG NAAR LISA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457200" y="2788920"/>
            <a:ext cx="4571640" cy="50256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457200" y="2788920"/>
            <a:ext cx="72720" cy="5025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8"/>
          <p:cNvSpPr/>
          <p:nvPr/>
        </p:nvSpPr>
        <p:spPr>
          <a:xfrm>
            <a:off x="640080" y="282564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201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GEKOZEN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9"/>
          <p:cNvSpPr/>
          <p:nvPr/>
        </p:nvSpPr>
        <p:spPr>
          <a:xfrm>
            <a:off x="640080" y="3008520"/>
            <a:ext cx="4297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Bioscoop (€12) — plezier van de film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10"/>
          <p:cNvSpPr/>
          <p:nvPr/>
        </p:nvSpPr>
        <p:spPr>
          <a:xfrm>
            <a:off x="457200" y="3337560"/>
            <a:ext cx="4571640" cy="50256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1"/>
          <p:cNvSpPr/>
          <p:nvPr/>
        </p:nvSpPr>
        <p:spPr>
          <a:xfrm>
            <a:off x="457200" y="3337560"/>
            <a:ext cx="72720" cy="50256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2"/>
          <p:cNvSpPr/>
          <p:nvPr/>
        </p:nvSpPr>
        <p:spPr>
          <a:xfrm>
            <a:off x="640080" y="337428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201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NIET GEKOZEN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3"/>
          <p:cNvSpPr/>
          <p:nvPr/>
        </p:nvSpPr>
        <p:spPr>
          <a:xfrm>
            <a:off x="640080" y="3557160"/>
            <a:ext cx="4297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Boek (€15) — avonden leesplezier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4"/>
          <p:cNvSpPr/>
          <p:nvPr/>
        </p:nvSpPr>
        <p:spPr>
          <a:xfrm>
            <a:off x="457200" y="3886200"/>
            <a:ext cx="4571640" cy="50256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5"/>
          <p:cNvSpPr/>
          <p:nvPr/>
        </p:nvSpPr>
        <p:spPr>
          <a:xfrm>
            <a:off x="457200" y="3886200"/>
            <a:ext cx="72720" cy="5025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6"/>
          <p:cNvSpPr/>
          <p:nvPr/>
        </p:nvSpPr>
        <p:spPr>
          <a:xfrm>
            <a:off x="640080" y="392292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20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ALTERNATIEVE KOSTEN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7"/>
          <p:cNvSpPr/>
          <p:nvPr/>
        </p:nvSpPr>
        <p:spPr>
          <a:xfrm>
            <a:off x="640080" y="4105800"/>
            <a:ext cx="4297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Het leesplezier van het boek — dát geef je op.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8"/>
          <p:cNvSpPr/>
          <p:nvPr/>
        </p:nvSpPr>
        <p:spPr>
          <a:xfrm>
            <a:off x="457200" y="4526280"/>
            <a:ext cx="4571640" cy="456840"/>
          </a:xfrm>
          <a:prstGeom prst="rect">
            <a:avLst/>
          </a:prstGeom>
          <a:solidFill>
            <a:srgbClr val="FBEAE6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9"/>
          <p:cNvSpPr/>
          <p:nvPr/>
        </p:nvSpPr>
        <p:spPr>
          <a:xfrm>
            <a:off x="457200" y="4526280"/>
            <a:ext cx="72720" cy="45684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0"/>
          <p:cNvSpPr/>
          <p:nvPr/>
        </p:nvSpPr>
        <p:spPr>
          <a:xfrm>
            <a:off x="640080" y="4544640"/>
            <a:ext cx="4343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3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VALKUIL  </a:t>
            </a:r>
            <a:r>
              <a:rPr lang="en-US" sz="1300" b="0" u="none" strike="noStrike">
                <a:solidFill>
                  <a:srgbClr val="8B2A20"/>
                </a:solidFill>
                <a:effectLst/>
                <a:uFillTx/>
                <a:latin typeface="Segoe UI"/>
                <a:ea typeface="Segoe UI"/>
              </a:rPr>
              <a:t>alternatieve kosten ≠ de prijs die je betaalt.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 0" descr="preencoded.png"/>
          <p:cNvPicPr/>
          <p:nvPr/>
        </p:nvPicPr>
        <p:blipFill>
          <a:blip r:embed="rId1"/>
          <a:stretch/>
        </p:blipFill>
        <p:spPr>
          <a:xfrm>
            <a:off x="5166360" y="246888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 21"/>
          <p:cNvSpPr/>
          <p:nvPr/>
        </p:nvSpPr>
        <p:spPr>
          <a:xfrm>
            <a:off x="5166360" y="484632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2 · twee alternatieven — wat geef je op?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Economisch denken: kiezen bij schaarste in drie stappen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"/>
          <p:cNvSpPr/>
          <p:nvPr/>
        </p:nvSpPr>
        <p:spPr>
          <a:xfrm>
            <a:off x="457200" y="182880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457200" y="182880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594360" y="196596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"/>
          <p:cNvSpPr/>
          <p:nvPr/>
        </p:nvSpPr>
        <p:spPr>
          <a:xfrm>
            <a:off x="1508760" y="19202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Welke alternatieven zijn 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1508760" y="228600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Welke opties heb je?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7"/>
          <p:cNvSpPr/>
          <p:nvPr/>
        </p:nvSpPr>
        <p:spPr>
          <a:xfrm>
            <a:off x="457200" y="278892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8"/>
          <p:cNvSpPr/>
          <p:nvPr/>
        </p:nvSpPr>
        <p:spPr>
          <a:xfrm>
            <a:off x="457200" y="278892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9"/>
          <p:cNvSpPr/>
          <p:nvPr/>
        </p:nvSpPr>
        <p:spPr>
          <a:xfrm>
            <a:off x="594360" y="292608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1508760" y="288036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levert elk alternatief op?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1"/>
          <p:cNvSpPr/>
          <p:nvPr/>
        </p:nvSpPr>
        <p:spPr>
          <a:xfrm>
            <a:off x="1508760" y="324612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Waarde of opbrengst per optie.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2"/>
          <p:cNvSpPr/>
          <p:nvPr/>
        </p:nvSpPr>
        <p:spPr>
          <a:xfrm>
            <a:off x="457200" y="374904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3"/>
          <p:cNvSpPr/>
          <p:nvPr/>
        </p:nvSpPr>
        <p:spPr>
          <a:xfrm>
            <a:off x="457200" y="374904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4"/>
          <p:cNvSpPr/>
          <p:nvPr/>
        </p:nvSpPr>
        <p:spPr>
          <a:xfrm>
            <a:off x="594360" y="388620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5"/>
          <p:cNvSpPr/>
          <p:nvPr/>
        </p:nvSpPr>
        <p:spPr>
          <a:xfrm>
            <a:off x="1508760" y="384048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geef je op?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6"/>
          <p:cNvSpPr/>
          <p:nvPr/>
        </p:nvSpPr>
        <p:spPr>
          <a:xfrm>
            <a:off x="1508760" y="42062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De alternatieve kosten van je keuze.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Image 0" descr="preencoded.png"/>
          <p:cNvPicPr/>
          <p:nvPr/>
        </p:nvPicPr>
        <p:blipFill>
          <a:blip r:embed="rId1"/>
          <a:stretch/>
        </p:blipFill>
        <p:spPr>
          <a:xfrm>
            <a:off x="5166360" y="182880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Text 17"/>
          <p:cNvSpPr/>
          <p:nvPr/>
        </p:nvSpPr>
        <p:spPr>
          <a:xfrm>
            <a:off x="5166360" y="420624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3 · het keuzeproces in drie stappen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8"/>
          <p:cNvSpPr/>
          <p:nvPr/>
        </p:nvSpPr>
        <p:spPr>
          <a:xfrm>
            <a:off x="5166360" y="4572000"/>
            <a:ext cx="3520080" cy="411120"/>
          </a:xfrm>
          <a:prstGeom prst="rect">
            <a:avLst/>
          </a:prstGeom>
          <a:solidFill>
            <a:srgbClr val="050F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9"/>
          <p:cNvSpPr/>
          <p:nvPr/>
        </p:nvSpPr>
        <p:spPr>
          <a:xfrm>
            <a:off x="5257800" y="459036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Verstandig = opbrengst &gt; alternatieve kosten.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UITGEWERKT VOORBEELD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boer, 10 hectare, twee gewassen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457200" y="16916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STAP 2 · OPBRENGSTEN BEREKENEN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3"/>
          <p:cNvSpPr/>
          <p:nvPr/>
        </p:nvSpPr>
        <p:spPr>
          <a:xfrm>
            <a:off x="457200" y="2011680"/>
            <a:ext cx="4571640" cy="34704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548640" y="2020680"/>
            <a:ext cx="1188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GEWAS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1783080" y="2020680"/>
            <a:ext cx="1462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€ / HECTARE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3291840" y="202068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TOTAAL (10 ha)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7"/>
          <p:cNvSpPr/>
          <p:nvPr/>
        </p:nvSpPr>
        <p:spPr>
          <a:xfrm>
            <a:off x="457200" y="2377440"/>
            <a:ext cx="4571640" cy="456840"/>
          </a:xfrm>
          <a:prstGeom prst="rect">
            <a:avLst/>
          </a:prstGeom>
          <a:solidFill>
            <a:srgbClr val="E8F4EC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8"/>
          <p:cNvSpPr/>
          <p:nvPr/>
        </p:nvSpPr>
        <p:spPr>
          <a:xfrm>
            <a:off x="457200" y="2377440"/>
            <a:ext cx="72720" cy="45684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9"/>
          <p:cNvSpPr/>
          <p:nvPr/>
        </p:nvSpPr>
        <p:spPr>
          <a:xfrm>
            <a:off x="640080" y="242316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1783080" y="24231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1"/>
          <p:cNvSpPr/>
          <p:nvPr/>
        </p:nvSpPr>
        <p:spPr>
          <a:xfrm>
            <a:off x="3291840" y="242316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€5.000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2"/>
          <p:cNvSpPr/>
          <p:nvPr/>
        </p:nvSpPr>
        <p:spPr>
          <a:xfrm>
            <a:off x="457200" y="2834640"/>
            <a:ext cx="457164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3"/>
          <p:cNvSpPr/>
          <p:nvPr/>
        </p:nvSpPr>
        <p:spPr>
          <a:xfrm>
            <a:off x="457200" y="2834640"/>
            <a:ext cx="72720" cy="45684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4"/>
          <p:cNvSpPr/>
          <p:nvPr/>
        </p:nvSpPr>
        <p:spPr>
          <a:xfrm>
            <a:off x="640080" y="288036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5"/>
          <p:cNvSpPr/>
          <p:nvPr/>
        </p:nvSpPr>
        <p:spPr>
          <a:xfrm>
            <a:off x="1783080" y="28803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€350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6"/>
          <p:cNvSpPr/>
          <p:nvPr/>
        </p:nvSpPr>
        <p:spPr>
          <a:xfrm>
            <a:off x="3291840" y="288036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7"/>
          <p:cNvSpPr/>
          <p:nvPr/>
        </p:nvSpPr>
        <p:spPr>
          <a:xfrm>
            <a:off x="457200" y="3429000"/>
            <a:ext cx="4571640" cy="146268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8"/>
          <p:cNvSpPr/>
          <p:nvPr/>
        </p:nvSpPr>
        <p:spPr>
          <a:xfrm>
            <a:off x="457200" y="3429000"/>
            <a:ext cx="109440" cy="14626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9"/>
          <p:cNvSpPr/>
          <p:nvPr/>
        </p:nvSpPr>
        <p:spPr>
          <a:xfrm>
            <a:off x="685800" y="35204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STAP 3 · WAT GEEFT HIJ OP?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0"/>
          <p:cNvSpPr/>
          <p:nvPr/>
        </p:nvSpPr>
        <p:spPr>
          <a:xfrm>
            <a:off x="685800" y="37947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Kiest tarwe → alternatieve kosten =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1"/>
          <p:cNvSpPr/>
          <p:nvPr/>
        </p:nvSpPr>
        <p:spPr>
          <a:xfrm>
            <a:off x="685800" y="411480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99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2"/>
          <p:cNvSpPr/>
          <p:nvPr/>
        </p:nvSpPr>
        <p:spPr>
          <a:xfrm>
            <a:off x="685800" y="4663440"/>
            <a:ext cx="4114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maïsopbrengst die hij misloopt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Image 0" descr="preencoded.png"/>
          <p:cNvPicPr/>
          <p:nvPr/>
        </p:nvPicPr>
        <p:blipFill>
          <a:blip r:embed="rId1"/>
          <a:stretch/>
        </p:blipFill>
        <p:spPr>
          <a:xfrm>
            <a:off x="5166360" y="169164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 23"/>
          <p:cNvSpPr/>
          <p:nvPr/>
        </p:nvSpPr>
        <p:spPr>
          <a:xfrm>
            <a:off x="5166360" y="406908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Uitgewerkt voorbeeld · tarwe versus maïs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4"/>
          <p:cNvSpPr/>
          <p:nvPr/>
        </p:nvSpPr>
        <p:spPr>
          <a:xfrm>
            <a:off x="5166360" y="4434840"/>
            <a:ext cx="3520080" cy="502560"/>
          </a:xfrm>
          <a:prstGeom prst="rect">
            <a:avLst/>
          </a:prstGeom>
          <a:solidFill>
            <a:srgbClr val="E8F4EC"/>
          </a:solidFill>
          <a:ln w="12700">
            <a:solidFill>
              <a:srgbClr val="2E5E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5"/>
          <p:cNvSpPr/>
          <p:nvPr/>
        </p:nvSpPr>
        <p:spPr>
          <a:xfrm>
            <a:off x="5303520" y="4462200"/>
            <a:ext cx="3291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NETTO VOORDEEL  </a:t>
            </a:r>
            <a:r>
              <a:rPr lang="en-US" sz="15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€5.000 − €3.500 = €1.500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kern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dingen om te onthouden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548640" y="17830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1234440" y="182880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ontstaat wanneer behoeften groter zijn dan middelen — daardoor moet je kiezen.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"/>
          <p:cNvSpPr/>
          <p:nvPr/>
        </p:nvSpPr>
        <p:spPr>
          <a:xfrm>
            <a:off x="548640" y="233172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548640" y="237744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1234440" y="242316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Elke keuze heeft alternatieve kosten: de opbrengst van het beste alternatief dat je opgeeft.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7"/>
          <p:cNvSpPr/>
          <p:nvPr/>
        </p:nvSpPr>
        <p:spPr>
          <a:xfrm>
            <a:off x="548640" y="29260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8"/>
          <p:cNvSpPr/>
          <p:nvPr/>
        </p:nvSpPr>
        <p:spPr>
          <a:xfrm>
            <a:off x="548640" y="29718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9"/>
          <p:cNvSpPr/>
          <p:nvPr/>
        </p:nvSpPr>
        <p:spPr>
          <a:xfrm>
            <a:off x="1234440" y="301752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 = drie stappen: (1) alternatieven, (2) opbrengsten, (3) wat geef je op?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0"/>
          <p:cNvSpPr/>
          <p:nvPr/>
        </p:nvSpPr>
        <p:spPr>
          <a:xfrm>
            <a:off x="548640" y="35204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1"/>
          <p:cNvSpPr/>
          <p:nvPr/>
        </p:nvSpPr>
        <p:spPr>
          <a:xfrm>
            <a:off x="548640" y="35661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2"/>
          <p:cNvSpPr/>
          <p:nvPr/>
        </p:nvSpPr>
        <p:spPr>
          <a:xfrm>
            <a:off x="1234440" y="361188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Alternatieve kosten ≠ de prijs die je betaalt — het gaat om wat je misloopt.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3"/>
          <p:cNvSpPr/>
          <p:nvPr/>
        </p:nvSpPr>
        <p:spPr>
          <a:xfrm>
            <a:off x="548640" y="41148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4"/>
          <p:cNvSpPr/>
          <p:nvPr/>
        </p:nvSpPr>
        <p:spPr>
          <a:xfrm>
            <a:off x="548640" y="416052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5"/>
          <p:cNvSpPr/>
          <p:nvPr/>
        </p:nvSpPr>
        <p:spPr>
          <a:xfrm>
            <a:off x="1234440" y="420624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geldt voor iedereen: scholier, boer, overheid.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548640" y="1097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TOT SLOT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548640" y="150876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Terug naar Lisa.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"/>
          <p:cNvSpPr/>
          <p:nvPr/>
        </p:nvSpPr>
        <p:spPr>
          <a:xfrm>
            <a:off x="548640" y="23774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548640" y="260604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Ze weet nu dat kiezen altijd iets kost. Maar hóé vergelijk je eigenlijk plezier met plezier — of tarwe met maïs?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"/>
          <p:cNvSpPr/>
          <p:nvPr/>
        </p:nvSpPr>
        <p:spPr>
          <a:xfrm>
            <a:off x="548640" y="3749040"/>
            <a:ext cx="8046360" cy="7768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5"/>
          <p:cNvSpPr/>
          <p:nvPr/>
        </p:nvSpPr>
        <p:spPr>
          <a:xfrm>
            <a:off x="548640" y="3749040"/>
            <a:ext cx="109440" cy="77688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777240" y="38404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VOLGENDE PARAGRAAF  ·  §1.1.2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7"/>
          <p:cNvSpPr/>
          <p:nvPr/>
        </p:nvSpPr>
        <p:spPr>
          <a:xfrm>
            <a:off x="777240" y="41148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Hoe meten we verschillen in geld?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2026-04-24T10:23:29Z</dcterms:created>
  <dc:creator>Economie VWO</dc:creator>
  <dc:description/>
  <dc:language>en-US</dc:language>
  <cp:lastModifiedBy>Economie VWO</cp:lastModifiedBy>
  <dcterms:modified xsi:type="dcterms:W3CDTF">2026-04-24T10:23:29Z</dcterms:modified>
  <cp:revision>1</cp:revision>
  <dc:subject>PptxGenJS Presentation</dc:subject>
  <dc:title>1.1.1 Schaarste en economisch denken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