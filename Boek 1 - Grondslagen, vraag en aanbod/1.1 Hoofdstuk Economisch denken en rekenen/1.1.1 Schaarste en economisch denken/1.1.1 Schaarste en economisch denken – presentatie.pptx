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A4DB056-6AEB-4761-90F8-E67C7E2A26A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Openingsdia. Laat de vraag even hangen: waarom kun je niet alles hebben? Daar gaat de hele paragraaf over.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8A1CC7-B046-432F-B92C-9844235B19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visual nodig hier — het verhaal doet het werk. Vraag klas: 'welke zou jij kiezen?' — en dan: 'wat kost die keuze je eigenlijk?' Dat is de brug naar het vakbegrip.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90A1A1-5473-4D33-A413-977072E87A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Hamer op de verhouding behoeften/middelen — niet op zeldzaamheid. Water is overal, maar één flesje bij drie dorstige mensen =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1B18A3-0E2F-447C-A63D-EB768D4EEB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Niet verwarren met de gelduitgave. De alternatieve kosten zijn wat je MISLOOPT —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2817FB-06C1-4914-8B41-DECDEB747E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Dit is het schema dat je overal terug gaat zien. Elk tentamen, elke opgave: (1) alternatieven, (2) opbrengsten, (3) wat geef je 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132C31-949C-4FF7-8B99-0E64B50FD4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Laat de drie stappen uit dia 5 concreet worden. Benadruk: alternatieve kosten = opbrengst van het BESTE niet-gekozen alternatief, niet de som.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AF6C7F-BB52-42CD-80F1-934F882545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Retrieval-moment. Laat leerlingen in tweetallen de vijf punten hardop aan elkaar uitleggen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E72AC7-57CE-40B0-A155-593F5EAE36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Bridge-dia. Nog geen inhoud uit §1.1.2 geven — alleen het vervolg aankondigen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AF7333-9676-42AF-8BC4-E7442F96A1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Schaarste: het basisprobleem van de economie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DEFINITIE  </a:t>
            </a: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Schaarste is de situatie waarin de behoeften (wensen) groter zijn dan de beschikbare middelen.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457200" y="2468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SCHAARSTE GELDT VOOR IEDEREEN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457200" y="2788920"/>
            <a:ext cx="4571640" cy="3196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548640" y="2797920"/>
            <a:ext cx="10969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WIE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1691640" y="2797920"/>
            <a:ext cx="14626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MIDDEL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3200400" y="2797920"/>
            <a:ext cx="17370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KEUZE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457200" y="3108960"/>
            <a:ext cx="4571640" cy="41112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2732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Scholier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691640" y="312732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Geld (€20)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3200400" y="312732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Bioscoop of boek?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457200" y="3520440"/>
            <a:ext cx="4571640" cy="411120"/>
          </a:xfrm>
          <a:prstGeom prst="rect">
            <a:avLst/>
          </a:prstGeom>
          <a:solidFill>
            <a:srgbClr val="EDEAE3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548640" y="353880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Boer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1691640" y="353880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Land (10 hectare)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7"/>
          <p:cNvSpPr/>
          <p:nvPr/>
        </p:nvSpPr>
        <p:spPr>
          <a:xfrm>
            <a:off x="3200400" y="353880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Tarwe of maïs?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457200" y="3931920"/>
            <a:ext cx="4571640" cy="41112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39502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Overheid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691640" y="395028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Budget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3200400" y="395028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Wegen of onderwijs?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457200" y="4526280"/>
            <a:ext cx="4571640" cy="45684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3"/>
          <p:cNvSpPr/>
          <p:nvPr/>
        </p:nvSpPr>
        <p:spPr>
          <a:xfrm>
            <a:off x="457200" y="4526280"/>
            <a:ext cx="72720" cy="45684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4"/>
          <p:cNvSpPr/>
          <p:nvPr/>
        </p:nvSpPr>
        <p:spPr>
          <a:xfrm>
            <a:off x="640080" y="454464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VALKUIL  </a:t>
            </a:r>
            <a:r>
              <a:rPr lang="en-US" sz="1300" b="0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schaarste is niet hetzelfde als weinig of zeldzaam.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0" descr="preencoded.png"/>
          <p:cNvPicPr/>
          <p:nvPr/>
        </p:nvPicPr>
        <p:blipFill>
          <a:blip r:embed="rId1"/>
          <a:stretch/>
        </p:blipFill>
        <p:spPr>
          <a:xfrm>
            <a:off x="5166360" y="246888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25"/>
          <p:cNvSpPr/>
          <p:nvPr/>
        </p:nvSpPr>
        <p:spPr>
          <a:xfrm>
            <a:off x="5166360" y="484632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1 · behoeften versus middelen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kosten: de prijs van je keuze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DEFINITIE  </a:t>
            </a: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Alternatieve kosten = de opbrengst van het beste alternatief dat je opgeeft bij een keuze.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457200" y="24688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TERUG NAAR LISA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457200" y="278892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457200" y="2788920"/>
            <a:ext cx="72720" cy="5025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640080" y="282564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GEKOZEN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9"/>
          <p:cNvSpPr/>
          <p:nvPr/>
        </p:nvSpPr>
        <p:spPr>
          <a:xfrm>
            <a:off x="640080" y="300852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Bioscoop (€12) — plezier van de film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0"/>
          <p:cNvSpPr/>
          <p:nvPr/>
        </p:nvSpPr>
        <p:spPr>
          <a:xfrm>
            <a:off x="457200" y="333756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1"/>
          <p:cNvSpPr/>
          <p:nvPr/>
        </p:nvSpPr>
        <p:spPr>
          <a:xfrm>
            <a:off x="457200" y="3337560"/>
            <a:ext cx="72720" cy="50256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640080" y="33742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NIET GEKOZEN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640080" y="355716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Boek (€15) — avonden leesplezier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4"/>
          <p:cNvSpPr/>
          <p:nvPr/>
        </p:nvSpPr>
        <p:spPr>
          <a:xfrm>
            <a:off x="457200" y="3886200"/>
            <a:ext cx="4571640" cy="50256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5"/>
          <p:cNvSpPr/>
          <p:nvPr/>
        </p:nvSpPr>
        <p:spPr>
          <a:xfrm>
            <a:off x="457200" y="3886200"/>
            <a:ext cx="72720" cy="5025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6"/>
          <p:cNvSpPr/>
          <p:nvPr/>
        </p:nvSpPr>
        <p:spPr>
          <a:xfrm>
            <a:off x="640080" y="392292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20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640080" y="4105800"/>
            <a:ext cx="4297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leesplezier van het boek — dát geef je op.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8"/>
          <p:cNvSpPr/>
          <p:nvPr/>
        </p:nvSpPr>
        <p:spPr>
          <a:xfrm>
            <a:off x="457200" y="4526280"/>
            <a:ext cx="4571640" cy="45684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9"/>
          <p:cNvSpPr/>
          <p:nvPr/>
        </p:nvSpPr>
        <p:spPr>
          <a:xfrm>
            <a:off x="457200" y="4526280"/>
            <a:ext cx="72720" cy="45684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0"/>
          <p:cNvSpPr/>
          <p:nvPr/>
        </p:nvSpPr>
        <p:spPr>
          <a:xfrm>
            <a:off x="640080" y="4544640"/>
            <a:ext cx="43430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VALKUIL  </a:t>
            </a:r>
            <a:r>
              <a:rPr lang="en-US" sz="1300" b="0" u="none" strike="noStrike">
                <a:solidFill>
                  <a:srgbClr val="8B2A20"/>
                </a:solidFill>
                <a:effectLst/>
                <a:uFillTx/>
                <a:latin typeface="Segoe UI"/>
                <a:ea typeface="Segoe UI"/>
              </a:rPr>
              <a:t>alternatieve kosten ≠ de prijs die je betaalt.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0" descr="preencoded.png"/>
          <p:cNvPicPr/>
          <p:nvPr/>
        </p:nvPicPr>
        <p:blipFill>
          <a:blip r:embed="rId1"/>
          <a:stretch/>
        </p:blipFill>
        <p:spPr>
          <a:xfrm>
            <a:off x="5166360" y="246888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21"/>
          <p:cNvSpPr/>
          <p:nvPr/>
        </p:nvSpPr>
        <p:spPr>
          <a:xfrm>
            <a:off x="5166360" y="484632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2 · twee alternatieven — wat geef je op?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denken: kiezen bij schaarste in drie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457200" y="182880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457200" y="182880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594360" y="196596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1508760" y="1920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Welke alternatieven zijn 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1508760" y="228600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457200" y="278892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457200" y="27889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594360" y="292608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1508760" y="28803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alternatief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1508760" y="324612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Waarde of opbrengst per optie.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2"/>
          <p:cNvSpPr/>
          <p:nvPr/>
        </p:nvSpPr>
        <p:spPr>
          <a:xfrm>
            <a:off x="457200" y="374904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457200" y="3749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594360" y="388620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5"/>
          <p:cNvSpPr/>
          <p:nvPr/>
        </p:nvSpPr>
        <p:spPr>
          <a:xfrm>
            <a:off x="1508760" y="384048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 je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1508760" y="4206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De alternatieve kosten van je keuze.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0" descr="preencoded.png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17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drie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8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boer, 10 hectare, twee gewassen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457200" y="16916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STAP 2 · OPBRENGSTEN BEREKENEN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3"/>
          <p:cNvSpPr/>
          <p:nvPr/>
        </p:nvSpPr>
        <p:spPr>
          <a:xfrm>
            <a:off x="457200" y="2011680"/>
            <a:ext cx="4571640" cy="34704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4"/>
          <p:cNvSpPr/>
          <p:nvPr/>
        </p:nvSpPr>
        <p:spPr>
          <a:xfrm>
            <a:off x="548640" y="202068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1783080" y="202068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3291840" y="2020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7"/>
          <p:cNvSpPr/>
          <p:nvPr/>
        </p:nvSpPr>
        <p:spPr>
          <a:xfrm>
            <a:off x="457200" y="2377440"/>
            <a:ext cx="4571640" cy="456840"/>
          </a:xfrm>
          <a:prstGeom prst="rect">
            <a:avLst/>
          </a:prstGeom>
          <a:solidFill>
            <a:srgbClr val="E8F4EC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8"/>
          <p:cNvSpPr/>
          <p:nvPr/>
        </p:nvSpPr>
        <p:spPr>
          <a:xfrm>
            <a:off x="457200" y="2377440"/>
            <a:ext cx="72720" cy="45684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9"/>
          <p:cNvSpPr/>
          <p:nvPr/>
        </p:nvSpPr>
        <p:spPr>
          <a:xfrm>
            <a:off x="640080" y="24231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0"/>
          <p:cNvSpPr/>
          <p:nvPr/>
        </p:nvSpPr>
        <p:spPr>
          <a:xfrm>
            <a:off x="1783080" y="24231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1"/>
          <p:cNvSpPr/>
          <p:nvPr/>
        </p:nvSpPr>
        <p:spPr>
          <a:xfrm>
            <a:off x="3291840" y="24231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2"/>
          <p:cNvSpPr/>
          <p:nvPr/>
        </p:nvSpPr>
        <p:spPr>
          <a:xfrm>
            <a:off x="457200" y="2834640"/>
            <a:ext cx="457164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3"/>
          <p:cNvSpPr/>
          <p:nvPr/>
        </p:nvSpPr>
        <p:spPr>
          <a:xfrm>
            <a:off x="457200" y="2834640"/>
            <a:ext cx="72720" cy="45684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4"/>
          <p:cNvSpPr/>
          <p:nvPr/>
        </p:nvSpPr>
        <p:spPr>
          <a:xfrm>
            <a:off x="640080" y="28803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5"/>
          <p:cNvSpPr/>
          <p:nvPr/>
        </p:nvSpPr>
        <p:spPr>
          <a:xfrm>
            <a:off x="1783080" y="2880360"/>
            <a:ext cx="1462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6"/>
          <p:cNvSpPr/>
          <p:nvPr/>
        </p:nvSpPr>
        <p:spPr>
          <a:xfrm>
            <a:off x="3291840" y="288036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457200" y="3429000"/>
            <a:ext cx="4571640" cy="14626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8"/>
          <p:cNvSpPr/>
          <p:nvPr/>
        </p:nvSpPr>
        <p:spPr>
          <a:xfrm>
            <a:off x="457200" y="3429000"/>
            <a:ext cx="109440" cy="14626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9"/>
          <p:cNvSpPr/>
          <p:nvPr/>
        </p:nvSpPr>
        <p:spPr>
          <a:xfrm>
            <a:off x="685800" y="3520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STAP 3 · WAT GEEFT HIJ OP?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0"/>
          <p:cNvSpPr/>
          <p:nvPr/>
        </p:nvSpPr>
        <p:spPr>
          <a:xfrm>
            <a:off x="685800" y="37947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 =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1"/>
          <p:cNvSpPr/>
          <p:nvPr/>
        </p:nvSpPr>
        <p:spPr>
          <a:xfrm>
            <a:off x="685800" y="411480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99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2"/>
          <p:cNvSpPr/>
          <p:nvPr/>
        </p:nvSpPr>
        <p:spPr>
          <a:xfrm>
            <a:off x="685800" y="4663440"/>
            <a:ext cx="4114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misloopt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Image 0" descr="preencoded.png"/>
          <p:cNvPicPr/>
          <p:nvPr/>
        </p:nvPicPr>
        <p:blipFill>
          <a:blip r:embed="rId1"/>
          <a:stretch/>
        </p:blipFill>
        <p:spPr>
          <a:xfrm>
            <a:off x="5166360" y="169164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 23"/>
          <p:cNvSpPr/>
          <p:nvPr/>
        </p:nvSpPr>
        <p:spPr>
          <a:xfrm>
            <a:off x="5166360" y="406908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Uitgewerkt voorbeeld · tarwe versus maïs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4"/>
          <p:cNvSpPr/>
          <p:nvPr/>
        </p:nvSpPr>
        <p:spPr>
          <a:xfrm>
            <a:off x="5166360" y="4434840"/>
            <a:ext cx="3520080" cy="502560"/>
          </a:xfrm>
          <a:prstGeom prst="rect">
            <a:avLst/>
          </a:prstGeom>
          <a:solidFill>
            <a:srgbClr val="E8F4EC"/>
          </a:solidFill>
          <a:ln w="12700">
            <a:solidFill>
              <a:srgbClr val="2E5E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5"/>
          <p:cNvSpPr/>
          <p:nvPr/>
        </p:nvSpPr>
        <p:spPr>
          <a:xfrm>
            <a:off x="5303520" y="4462200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NETTO VOORDEEL  </a:t>
            </a:r>
            <a:r>
              <a:rPr lang="en-US" sz="15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€5.000 − €3.500 = €1.500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drie stappen: (1) alternatieven, (2) opbrengsten, (3) wat geef je op?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2026-04-23T20:56:36Z</dcterms:created>
  <dc:creator>Economie VWO</dc:creator>
  <dc:description/>
  <dc:language>en-US</dc:language>
  <cp:lastModifiedBy>Economie VWO</cp:lastModifiedBy>
  <dcterms:modified xsi:type="dcterms:W3CDTF">2026-04-23T20:56:36Z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