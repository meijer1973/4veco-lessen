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EF2FF7F-9CA6-416B-9F24-D18A1174E12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Waarom kun je niet alles hebben? Laat de klas één antwoord roepen.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Zeg dat deze paragraaf precies om die vraag draait. Nog niks uitleggen — alleen nieuwsgierigheid oprekken.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Naar Lisa met haar zakgeld.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7B47FD-7F08-4AB1-9043-CB66140F82E2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zou jij kiezen, bioscoop of boek? Hand omhoog.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Beide opties samen kosten €27, Lisa heeft €20. Kiezen is dus verplicht. Wat kost die keuze haar eigenlijk?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Dit is schaarste — en schaarste geldt niet alleen voor Lisa.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B0993E3-08CA-4A28-9262-EAA5E2985867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Wat heb jij deze week wel gewild en niet gekregen? Waardoor?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Schaarste is de verhouding tussen wensen en middelen — niet een kwestie van zeldzaam zijn. Schaarste geldt voor iedereen: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Scholier — geld (€20) → bioscoop of boek?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Boer — land (10 hectare) → tarwe of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Overheid — budget → wegen of onderwijs?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Schaarste ≠ weinig of zeldzaam. Water is overal, maar één flesje bij drie dorstige mensen is ook schaarste.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Omdat kiezen móét, heeft elke keuze een prijs — niet in euro's, maar in wat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938FC43-80E8-480A-AEE9-7C7BC96597D9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Lisa kiest de bioscoop. Wat kost haar dat — in euro's, en daarnaast?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Terug naar Lisa: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Gekozen — bioscoop (€12), het plezier van de film.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Niet gekozen — boek (€15), avonden leesplezier.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Alternatieve kosten — het leesplezier dat ze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Benadruk: niet het geldbedrag, maar wat ze misloopt.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≠ de prijs die je betaalt. Dat is de gewone uitgave.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Hoe vind je bij élke keuze systematisch de alternatieve kosten? In vier stappen.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E6AAB7-6B70-47EE-B0D4-9030B95D7A9C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Als je voor een lastige keuze staat, waarmee begin je?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Vier stappen, altijd dezelfde volgorde: (1) benoem alternatieven, (2) bereken opbrengst per alternatief, (3) rangschik — beste niet-gekozen = alternatieve kosten, (4) bereken nettowaarde = opbrengst − alternatieve kosten. Dit is het schema dat in elk tentamen en elke opgave terugkomt.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Stap 4 wordt vaak overgeslagen. Zonder stap 4 weet je wel de alternatieve kosten, maar niet of de keuze achteraf goed uitpakte.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We passen het meteen toe op een boer met 10 hectare.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481C97-5AEA-441F-87E7-A692BD379B71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Een boer heeft 10 hectare. Tarwe levert €500/ha op, maïs €350/ha. Wat verdient hij per gewas?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Snel voorrekenen: 10 × €500 = €5.000 voor tarwe; 10 × €350 = €3.500 voor maïs. We hebben nu de opbrengst van élke optie — dat was stap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Niet meteen zeggen welke hij moet kiezen. We berekenen hier alleen.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De getallen staan. Wat geeft hij op als hij tarwe kiest?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9A6605-2952-464D-800D-1D9B4CD13AAB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Hij kiest tarwe. Wat láát hij dan liggen?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De maïsopbrengst van €3.500 — dát zijn zijn alternatieve kosten. Niet de som van opties, niet de prijs die hij betaalt: het beste alternatief dat hij niet 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Netto: €5.000 − €3.500 = €1.500 voordeel. Kiezen loont dus — zolang de opbrengst de alternatieve kosten overtreft.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optellen over alle niet-gekozen opties is fout. Het is altijd het BESTE alternatief.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Even samenvatten: vijf dingen om vast te houden.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CF90C4-5773-46DA-A27C-B69D8966C2E6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van de vijf punten kun je uit je hoofd aan je buurman uitleggen?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Retrieval-moment. Twee minuten: leerlingen leggen de vijf punten hardop aan elkaar uit, zonder op de dia te kijken.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Terug naar Lisa — met één vraag die openblijft.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144A15-205D-4C99-B457-DF9630D20145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Hoe vergelijk je eigenlijk het plezier van een film met dat van een boek — of tarwe met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Bridge-dia. Laat de vraag open. Nog geen inhoud uit §1.1.2 geven — alleen het vervolg aankondigen, zodat leerlingen geactiveerd blijven.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Einde paragraaf 1.1.1. Volgende les: hoe meten we dat in geld?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9E917E-42D8-42DE-9FF9-2A6E5959FFA5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PARAGRAAF  ·  §1.1.1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§ 1.1.1  ·  SCHAARSTE EN ECONOMISCH DENKEN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48640" y="6400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1.1.1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48640" y="1051560"/>
            <a:ext cx="80463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48640" y="342900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36118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Waarom kun je niet alles hebben?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548640" y="43434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Boek 1 · Hoofdstuk 1.1 Economisch denken en rekenen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NARRATIEF VERHAAL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57200" y="54864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heeft €20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1325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Zaterdagmiddag. Twee verleidingen.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54864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48640" y="2148840"/>
            <a:ext cx="3840120" cy="7272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777240" y="228600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OPTIE 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77724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77724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€12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77724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middag kijkplezier.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475488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4754880" y="2148840"/>
            <a:ext cx="3840120" cy="7272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4983480" y="228600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OPTIE 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498348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Nieuw boek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498348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€15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498348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Avonden leesplezier.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4480560"/>
            <a:ext cx="8229240" cy="41112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548640" y="44989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Beide samen kost €27. Lisa heeft maar €20 → ze móét kiezen.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KERNBEGRIP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Schaarste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Je behoeften zijn groter dan je middelen — dus móét je kiezen.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Image 0" descr="Infographic: brede behoeften-trechter (zakgeld, vrije tijd, ruimte, aandacht) loopt door een schaarste-filter naar een smal keuze-uitstroompunt — illustreert dat behoeften groter zijn dan beschikbare middelen.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KERNBEGRIP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De opbrengst van het beste alternatief dat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Image 0" descr="Keuzediagram met twee alternatieven naast elkaar; de gekozen optie levert de opbrengst, het beste niet-gekozen alternatief wordt aangewezen als de alternatieve kosten.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KERNBEGRIP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Economisch denken in vier stappen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457200" y="169164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457200" y="169164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594360" y="176472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508760" y="172836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Benoem alternatieven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508760" y="202068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Welke opties heb je?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457200" y="240480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>
            <a:off x="457200" y="240480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594360" y="247788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1508760" y="244152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Bereken opbrengsten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1508760" y="273420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Wat levert elk alternatief op?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2"/>
          <p:cNvSpPr/>
          <p:nvPr/>
        </p:nvSpPr>
        <p:spPr>
          <a:xfrm>
            <a:off x="457200" y="311796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457200" y="311796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4"/>
          <p:cNvSpPr/>
          <p:nvPr/>
        </p:nvSpPr>
        <p:spPr>
          <a:xfrm>
            <a:off x="594360" y="319140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1508760" y="315468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Rangschik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6"/>
          <p:cNvSpPr/>
          <p:nvPr/>
        </p:nvSpPr>
        <p:spPr>
          <a:xfrm>
            <a:off x="1508760" y="344736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Beste niet-gekozen = alternatieve kosten.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7"/>
          <p:cNvSpPr/>
          <p:nvPr/>
        </p:nvSpPr>
        <p:spPr>
          <a:xfrm>
            <a:off x="457200" y="383148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8"/>
          <p:cNvSpPr/>
          <p:nvPr/>
        </p:nvSpPr>
        <p:spPr>
          <a:xfrm>
            <a:off x="457200" y="383148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9"/>
          <p:cNvSpPr/>
          <p:nvPr/>
        </p:nvSpPr>
        <p:spPr>
          <a:xfrm>
            <a:off x="594360" y="390456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0"/>
          <p:cNvSpPr/>
          <p:nvPr/>
        </p:nvSpPr>
        <p:spPr>
          <a:xfrm>
            <a:off x="1508760" y="386784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Bereken nettowaarde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1"/>
          <p:cNvSpPr/>
          <p:nvPr/>
        </p:nvSpPr>
        <p:spPr>
          <a:xfrm>
            <a:off x="1508760" y="416052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Opbrengst − alternatieve kosten.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0" descr="Flowchart van de vier stappen om alternatieve kosten en nettowaarde te bepalen: (1) alternatieven benoemen, (2) opbrengst per alternatief berekenen, (3) beste niet-gekozen alternatief = alternatieve kosten, (4) nettowaarde = opbrengst gekozen min alternatieve kosten."/>
          <p:cNvPicPr/>
          <p:nvPr/>
        </p:nvPicPr>
        <p:blipFill>
          <a:blip r:embed="rId1"/>
          <a:stretch/>
        </p:blipFill>
        <p:spPr>
          <a:xfrm>
            <a:off x="5166360" y="182880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22"/>
          <p:cNvSpPr/>
          <p:nvPr/>
        </p:nvSpPr>
        <p:spPr>
          <a:xfrm>
            <a:off x="5166360" y="4206240"/>
            <a:ext cx="3520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Figuur 3 · het keuzeproces in vier stappen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3"/>
          <p:cNvSpPr/>
          <p:nvPr/>
        </p:nvSpPr>
        <p:spPr>
          <a:xfrm>
            <a:off x="5166360" y="4572000"/>
            <a:ext cx="3520080" cy="411120"/>
          </a:xfrm>
          <a:prstGeom prst="rect">
            <a:avLst/>
          </a:prstGeom>
          <a:solidFill>
            <a:srgbClr val="050F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4"/>
          <p:cNvSpPr/>
          <p:nvPr/>
        </p:nvSpPr>
        <p:spPr>
          <a:xfrm>
            <a:off x="5257800" y="459036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Verstandig = opbrengst &gt; alternatieve kosten.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UITGEWERKT VOORBEELD · STAP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levert elk gewas op?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"/>
          <p:cNvSpPr/>
          <p:nvPr/>
        </p:nvSpPr>
        <p:spPr>
          <a:xfrm>
            <a:off x="457200" y="2011680"/>
            <a:ext cx="4571640" cy="36540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"/>
          <p:cNvSpPr/>
          <p:nvPr/>
        </p:nvSpPr>
        <p:spPr>
          <a:xfrm>
            <a:off x="548640" y="2030040"/>
            <a:ext cx="1188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GEWAS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4"/>
          <p:cNvSpPr/>
          <p:nvPr/>
        </p:nvSpPr>
        <p:spPr>
          <a:xfrm>
            <a:off x="1783080" y="2030040"/>
            <a:ext cx="1462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€ / HECTARE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3291840" y="203004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TOTAAL (10 ha)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6"/>
          <p:cNvSpPr/>
          <p:nvPr/>
        </p:nvSpPr>
        <p:spPr>
          <a:xfrm>
            <a:off x="457200" y="237744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7"/>
          <p:cNvSpPr/>
          <p:nvPr/>
        </p:nvSpPr>
        <p:spPr>
          <a:xfrm>
            <a:off x="457200" y="2377440"/>
            <a:ext cx="72720" cy="54828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8"/>
          <p:cNvSpPr/>
          <p:nvPr/>
        </p:nvSpPr>
        <p:spPr>
          <a:xfrm>
            <a:off x="640080" y="245052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9"/>
          <p:cNvSpPr/>
          <p:nvPr/>
        </p:nvSpPr>
        <p:spPr>
          <a:xfrm>
            <a:off x="1783080" y="245052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0"/>
          <p:cNvSpPr/>
          <p:nvPr/>
        </p:nvSpPr>
        <p:spPr>
          <a:xfrm>
            <a:off x="3291840" y="245052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€5.000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1"/>
          <p:cNvSpPr/>
          <p:nvPr/>
        </p:nvSpPr>
        <p:spPr>
          <a:xfrm>
            <a:off x="457200" y="292608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2"/>
          <p:cNvSpPr/>
          <p:nvPr/>
        </p:nvSpPr>
        <p:spPr>
          <a:xfrm>
            <a:off x="457200" y="2926080"/>
            <a:ext cx="72720" cy="54828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3"/>
          <p:cNvSpPr/>
          <p:nvPr/>
        </p:nvSpPr>
        <p:spPr>
          <a:xfrm>
            <a:off x="640080" y="299916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4"/>
          <p:cNvSpPr/>
          <p:nvPr/>
        </p:nvSpPr>
        <p:spPr>
          <a:xfrm>
            <a:off x="1783080" y="299916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€350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5"/>
          <p:cNvSpPr/>
          <p:nvPr/>
        </p:nvSpPr>
        <p:spPr>
          <a:xfrm>
            <a:off x="3291840" y="299916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Image 0" descr="Uitgewerkt voorbeeld tarwe versus maïs op 10 hectare: tarwe levert €500 per hectare op (totaal €5.000), maïs €350 per hectare (totaal €3.500); de alternatieve kosten van tarwe kiezen zijn €3.500 en de nettowaarde €1.500.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457200" y="27432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UITGEWERKT VOORBEELD · STAP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geeft hij op?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"/>
          <p:cNvSpPr/>
          <p:nvPr/>
        </p:nvSpPr>
        <p:spPr>
          <a:xfrm>
            <a:off x="457200" y="2011680"/>
            <a:ext cx="4571640" cy="237708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457200" y="2011680"/>
            <a:ext cx="109440" cy="2377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731520" y="224028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Kiest tarwe → alternatieve kosten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731520" y="269748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pc="-201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731520" y="3794760"/>
            <a:ext cx="4114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maïsopbrengst die hij laat liggen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Image 0" descr="Uitgewerkt voorbeeld tarwe versus maïs op 10 hectare: tarwe levert €500 per hectare op (totaal €5.000), maïs €350 per hectare (totaal €3.500); de alternatieve kosten van tarwe kiezen zijn €3.500 en de nettowaarde €1.500.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kern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dingen om te onthouden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48640" y="17830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1234440" y="182880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ontstaat wanneer behoeften groter zijn dan middelen — daardoor moet je kiezen.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548640" y="233172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548640" y="237744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234440" y="242316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Elke keuze heeft alternatieve kosten: de opbrengst van het beste alternatief dat je opgeeft.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548640" y="29260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548640" y="29718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1234440" y="301752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 = vier stappen: (1) alternatieven, (2) opbrengsten, (3) rangschik (= alternatieve kosten), (4) nettowaarde.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0"/>
          <p:cNvSpPr/>
          <p:nvPr/>
        </p:nvSpPr>
        <p:spPr>
          <a:xfrm>
            <a:off x="548640" y="35204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1"/>
          <p:cNvSpPr/>
          <p:nvPr/>
        </p:nvSpPr>
        <p:spPr>
          <a:xfrm>
            <a:off x="548640" y="35661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2"/>
          <p:cNvSpPr/>
          <p:nvPr/>
        </p:nvSpPr>
        <p:spPr>
          <a:xfrm>
            <a:off x="1234440" y="361188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Alternatieve kosten ≠ de prijs die je betaalt — het gaat om wat je misloopt.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3"/>
          <p:cNvSpPr/>
          <p:nvPr/>
        </p:nvSpPr>
        <p:spPr>
          <a:xfrm>
            <a:off x="548640" y="41148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4"/>
          <p:cNvSpPr/>
          <p:nvPr/>
        </p:nvSpPr>
        <p:spPr>
          <a:xfrm>
            <a:off x="548640" y="416052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5"/>
          <p:cNvSpPr/>
          <p:nvPr/>
        </p:nvSpPr>
        <p:spPr>
          <a:xfrm>
            <a:off x="1234440" y="420624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geldt voor iedereen: scholier, boer, overheid.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548640" y="1097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TOT SLOT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548640" y="150876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Terug naar Lisa.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"/>
          <p:cNvSpPr/>
          <p:nvPr/>
        </p:nvSpPr>
        <p:spPr>
          <a:xfrm>
            <a:off x="548640" y="23774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548640" y="260604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Ze weet nu dat kiezen altijd iets kost. Maar hóé vergelijk je eigenlijk plezier met plezier — of tarwe met maïs?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"/>
          <p:cNvSpPr/>
          <p:nvPr/>
        </p:nvSpPr>
        <p:spPr>
          <a:xfrm>
            <a:off x="548640" y="3749040"/>
            <a:ext cx="8046360" cy="7768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5"/>
          <p:cNvSpPr/>
          <p:nvPr/>
        </p:nvSpPr>
        <p:spPr>
          <a:xfrm>
            <a:off x="548640" y="3749040"/>
            <a:ext cx="109440" cy="77688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777240" y="3840480"/>
            <a:ext cx="7772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VOLGENDE PARAGRAAF  ·  §1.1.2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777240" y="41148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Hoe meten we verschillen in geld?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2026-05-11T14:01:12Z</dcterms:created>
  <dc:creator>Economie VWO</dc:creator>
  <dc:description/>
  <dc:language>en-US</dc:language>
  <cp:lastModifiedBy>Economie VWO</cp:lastModifiedBy>
  <dcterms:modified xsi:type="dcterms:W3CDTF">2026-05-11T14:01:12Z</dcterms:modified>
  <cp:revision>1</cp:revision>
  <dc:subject>PptxGenJS Presentation</dc:subject>
  <dc:title>1.1.1 Schaarste en economisch denken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PresentationFormat">
    <vt:lpwstr>On-screen Show (16:9)</vt:lpwstr>
  </property>
  <property fmtid="{D5CDD505-2E9C-101B-9397-08002B2CF9AE}" pid="4" name="Slides">
    <vt:r8>9</vt:r8>
  </property>
</Properties>
</file>