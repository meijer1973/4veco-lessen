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6.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7.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bfd645693854084" /><Relationship Type="http://schemas.openxmlformats.org/officeDocument/2006/relationships/extended-properties" Target="/docProps/app.xml" Id="R0d570798ab8248e7" /><Relationship Type="http://schemas.openxmlformats.org/officeDocument/2006/relationships/officeDocument" Target="/ppt/presentation.xml" Id="R4b66735afee64686" /></Relationships>
</file>

<file path=ppt/presentation.xml><?xml version="1.0" encoding="utf-8"?>
<p:presentation xmlns:p="http://schemas.openxmlformats.org/presentationml/2006/main">
  <p:sldMasterIdLst>
    <p:sldMasterId xmlns:r="http://schemas.openxmlformats.org/officeDocument/2006/relationships" id="2147483648" r:id="R2f1cf9eaef1d4629"/>
  </p:sldMasterIdLst>
  <p:notesMasterIdLst>
    <p:notesMasterId xmlns:r="http://schemas.openxmlformats.org/officeDocument/2006/relationships" r:id="Rbaf6c53b47d240ef"/>
  </p:notesMasterIdLst>
  <p:sldIdLst>
    <p:sldId xmlns:r="http://schemas.openxmlformats.org/officeDocument/2006/relationships" id="256" r:id="R1e63b941d9e8493c"/>
    <p:sldId xmlns:r="http://schemas.openxmlformats.org/officeDocument/2006/relationships" id="257" r:id="Rd0b0c5554ac1496a"/>
    <p:sldId xmlns:r="http://schemas.openxmlformats.org/officeDocument/2006/relationships" id="258" r:id="Rcc8284e3217f4e58"/>
    <p:sldId xmlns:r="http://schemas.openxmlformats.org/officeDocument/2006/relationships" id="259" r:id="Re00ba31dbc294c7a"/>
    <p:sldId xmlns:r="http://schemas.openxmlformats.org/officeDocument/2006/relationships" id="260" r:id="R373a1397384949da"/>
    <p:sldId xmlns:r="http://schemas.openxmlformats.org/officeDocument/2006/relationships" id="261" r:id="R7460cb93f9ea425f"/>
    <p:sldId xmlns:r="http://schemas.openxmlformats.org/officeDocument/2006/relationships" id="262" r:id="R7c9122a181ed4639"/>
    <p:sldId xmlns:r="http://schemas.openxmlformats.org/officeDocument/2006/relationships" id="263" r:id="R19acbe0e4afd4cd1"/>
    <p:sldId xmlns:r="http://schemas.openxmlformats.org/officeDocument/2006/relationships" id="264" r:id="R209b6c316e874570"/>
    <p:sldId xmlns:r="http://schemas.openxmlformats.org/officeDocument/2006/relationships" id="265" r:id="R197be967e9a3477f"/>
    <p:sldId xmlns:r="http://schemas.openxmlformats.org/officeDocument/2006/relationships" id="266" r:id="Rcce8bcf0084c445b"/>
    <p:sldId xmlns:r="http://schemas.openxmlformats.org/officeDocument/2006/relationships" id="267" r:id="R0a674a17be614281"/>
    <p:sldId xmlns:r="http://schemas.openxmlformats.org/officeDocument/2006/relationships" id="268" r:id="R62401411de224032"/>
    <p:sldId xmlns:r="http://schemas.openxmlformats.org/officeDocument/2006/relationships" id="269" r:id="R1a8d963dd2894e8f"/>
    <p:sldId xmlns:r="http://schemas.openxmlformats.org/officeDocument/2006/relationships" id="270" r:id="Rbd63ccdee3444eb3"/>
    <p:sldId xmlns:r="http://schemas.openxmlformats.org/officeDocument/2006/relationships" id="271" r:id="R5ab71a9e5dd2465b"/>
    <p:sldId xmlns:r="http://schemas.openxmlformats.org/officeDocument/2006/relationships" id="272" r:id="R37649afb8e734045"/>
    <p:sldId xmlns:r="http://schemas.openxmlformats.org/officeDocument/2006/relationships" id="273" r:id="R0bdf168b214c4074"/>
    <p:sldId xmlns:r="http://schemas.openxmlformats.org/officeDocument/2006/relationships" id="274" r:id="Rfbbbc659a3ec41cb"/>
    <p:sldId xmlns:r="http://schemas.openxmlformats.org/officeDocument/2006/relationships" id="275" r:id="R0a462ae12bf34949"/>
    <p:sldId xmlns:r="http://schemas.openxmlformats.org/officeDocument/2006/relationships" id="276" r:id="R53f463217bea4a71"/>
    <p:sldId xmlns:r="http://schemas.openxmlformats.org/officeDocument/2006/relationships" id="277" r:id="Rf682ba3888cf4d3b"/>
    <p:sldId xmlns:r="http://schemas.openxmlformats.org/officeDocument/2006/relationships" id="278" r:id="Re8218ec6d44f4a0f"/>
    <p:sldId xmlns:r="http://schemas.openxmlformats.org/officeDocument/2006/relationships" id="279" r:id="R5d43d88237f742a2"/>
    <p:sldId xmlns:r="http://schemas.openxmlformats.org/officeDocument/2006/relationships" id="280" r:id="R8ccebaed0e1b4a32"/>
    <p:sldId xmlns:r="http://schemas.openxmlformats.org/officeDocument/2006/relationships" id="281" r:id="R91c2968379f84888"/>
    <p:sldId xmlns:r="http://schemas.openxmlformats.org/officeDocument/2006/relationships" id="282" r:id="R3f1b396d5b264353"/>
    <p:sldId xmlns:r="http://schemas.openxmlformats.org/officeDocument/2006/relationships" id="283" r:id="Rc6b67035b93b49d1"/>
    <p:sldId xmlns:r="http://schemas.openxmlformats.org/officeDocument/2006/relationships" id="284" r:id="R036d9cf5ed3c42b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4f35ac35ac4f25" /><Relationship Type="http://schemas.openxmlformats.org/officeDocument/2006/relationships/slideMaster" Target="/ppt/slideMasters/slideMaster1.xml" Id="R2f1cf9eaef1d4629" /><Relationship Type="http://schemas.openxmlformats.org/officeDocument/2006/relationships/notesMaster" Target="/ppt/notesMasters/notesMaster1.xml" Id="Rbaf6c53b47d240ef" /><Relationship Type="http://schemas.openxmlformats.org/officeDocument/2006/relationships/presProps" Target="/ppt/presProps.xml" Id="R8a725df250ae410f" /><Relationship Type="http://schemas.openxmlformats.org/officeDocument/2006/relationships/tableStyles" Target="/ppt/tableStyles.xml" Id="Rfe58e62765ed4c97" /><Relationship Type="http://schemas.openxmlformats.org/officeDocument/2006/relationships/slide" Target="/ppt/slides/slide1.xml" Id="R1e63b941d9e8493c" /><Relationship Type="http://schemas.openxmlformats.org/officeDocument/2006/relationships/slide" Target="/ppt/slides/slide2.xml" Id="Rd0b0c5554ac1496a" /><Relationship Type="http://schemas.openxmlformats.org/officeDocument/2006/relationships/slide" Target="/ppt/slides/slide3.xml" Id="Rcc8284e3217f4e58" /><Relationship Type="http://schemas.openxmlformats.org/officeDocument/2006/relationships/slide" Target="/ppt/slides/slide4.xml" Id="Re00ba31dbc294c7a" /><Relationship Type="http://schemas.openxmlformats.org/officeDocument/2006/relationships/slide" Target="/ppt/slides/slide5.xml" Id="R373a1397384949da" /><Relationship Type="http://schemas.openxmlformats.org/officeDocument/2006/relationships/slide" Target="/ppt/slides/slide6.xml" Id="R7460cb93f9ea425f" /><Relationship Type="http://schemas.openxmlformats.org/officeDocument/2006/relationships/slide" Target="/ppt/slides/slide7.xml" Id="R7c9122a181ed4639" /><Relationship Type="http://schemas.openxmlformats.org/officeDocument/2006/relationships/slide" Target="/ppt/slides/slide8.xml" Id="R19acbe0e4afd4cd1" /><Relationship Type="http://schemas.openxmlformats.org/officeDocument/2006/relationships/slide" Target="/ppt/slides/slide9.xml" Id="R209b6c316e874570" /><Relationship Type="http://schemas.openxmlformats.org/officeDocument/2006/relationships/slide" Target="/ppt/slides/slide10.xml" Id="R197be967e9a3477f" /><Relationship Type="http://schemas.openxmlformats.org/officeDocument/2006/relationships/slide" Target="/ppt/slides/slide11.xml" Id="Rcce8bcf0084c445b" /><Relationship Type="http://schemas.openxmlformats.org/officeDocument/2006/relationships/slide" Target="/ppt/slides/slide12.xml" Id="R0a674a17be614281" /><Relationship Type="http://schemas.openxmlformats.org/officeDocument/2006/relationships/slide" Target="/ppt/slides/slide13.xml" Id="R62401411de224032" /><Relationship Type="http://schemas.openxmlformats.org/officeDocument/2006/relationships/slide" Target="/ppt/slides/slide14.xml" Id="R1a8d963dd2894e8f" /><Relationship Type="http://schemas.openxmlformats.org/officeDocument/2006/relationships/slide" Target="/ppt/slides/slide15.xml" Id="Rbd63ccdee3444eb3" /><Relationship Type="http://schemas.openxmlformats.org/officeDocument/2006/relationships/slide" Target="/ppt/slides/slide16.xml" Id="R5ab71a9e5dd2465b" /><Relationship Type="http://schemas.openxmlformats.org/officeDocument/2006/relationships/slide" Target="/ppt/slides/slide17.xml" Id="R37649afb8e734045" /><Relationship Type="http://schemas.openxmlformats.org/officeDocument/2006/relationships/slide" Target="/ppt/slides/slide18.xml" Id="R0bdf168b214c4074" /><Relationship Type="http://schemas.openxmlformats.org/officeDocument/2006/relationships/slide" Target="/ppt/slides/slide19.xml" Id="Rfbbbc659a3ec41cb" /><Relationship Type="http://schemas.openxmlformats.org/officeDocument/2006/relationships/slide" Target="/ppt/slides/slide20.xml" Id="R0a462ae12bf34949" /><Relationship Type="http://schemas.openxmlformats.org/officeDocument/2006/relationships/slide" Target="/ppt/slides/slide21.xml" Id="R53f463217bea4a71" /><Relationship Type="http://schemas.openxmlformats.org/officeDocument/2006/relationships/slide" Target="/ppt/slides/slide22.xml" Id="Rf682ba3888cf4d3b" /><Relationship Type="http://schemas.openxmlformats.org/officeDocument/2006/relationships/slide" Target="/ppt/slides/slide23.xml" Id="Re8218ec6d44f4a0f" /><Relationship Type="http://schemas.openxmlformats.org/officeDocument/2006/relationships/slide" Target="/ppt/slides/slide24.xml" Id="R5d43d88237f742a2" /><Relationship Type="http://schemas.openxmlformats.org/officeDocument/2006/relationships/slide" Target="/ppt/slides/slide25.xml" Id="R8ccebaed0e1b4a32" /><Relationship Type="http://schemas.openxmlformats.org/officeDocument/2006/relationships/slide" Target="/ppt/slides/slide26.xml" Id="R91c2968379f84888" /><Relationship Type="http://schemas.openxmlformats.org/officeDocument/2006/relationships/slide" Target="/ppt/slides/slide27.xml" Id="R3f1b396d5b264353" /><Relationship Type="http://schemas.openxmlformats.org/officeDocument/2006/relationships/slide" Target="/ppt/slides/slide28.xml" Id="Rc6b67035b93b49d1" /><Relationship Type="http://schemas.openxmlformats.org/officeDocument/2006/relationships/slide" Target="/ppt/slides/slide29.xml" Id="R036d9cf5ed3c42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9f007f928946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26847dee3b433b" /><Relationship Type="http://schemas.openxmlformats.org/officeDocument/2006/relationships/notesMaster" Target="/ppt/notesMasters/notesMaster1.xml" Id="Ra46b501a59d643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012aa0920846ad" /><Relationship Type="http://schemas.openxmlformats.org/officeDocument/2006/relationships/notesMaster" Target="/ppt/notesMasters/notesMaster1.xml" Id="R94dc9c7cd73a4d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4ce979baa24ae0" /><Relationship Type="http://schemas.openxmlformats.org/officeDocument/2006/relationships/notesMaster" Target="/ppt/notesMasters/notesMaster1.xml" Id="R61e80669548246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2240e6d9be4ef8" /><Relationship Type="http://schemas.openxmlformats.org/officeDocument/2006/relationships/notesMaster" Target="/ppt/notesMasters/notesMaster1.xml" Id="Re7c7561fc1974d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c2056a00f04832" /><Relationship Type="http://schemas.openxmlformats.org/officeDocument/2006/relationships/notesMaster" Target="/ppt/notesMasters/notesMaster1.xml" Id="Rce45cb47a0714d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0d6090524341a0" /><Relationship Type="http://schemas.openxmlformats.org/officeDocument/2006/relationships/notesMaster" Target="/ppt/notesMasters/notesMaster1.xml" Id="R02eceb7ffd1949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8db088dc5c4ccb" /><Relationship Type="http://schemas.openxmlformats.org/officeDocument/2006/relationships/notesMaster" Target="/ppt/notesMasters/notesMaster1.xml" Id="R045f929f50e342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363b0b10584d0e" /><Relationship Type="http://schemas.openxmlformats.org/officeDocument/2006/relationships/notesMaster" Target="/ppt/notesMasters/notesMaster1.xml" Id="R710c6388eb6d47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2cd6ca97144930" /><Relationship Type="http://schemas.openxmlformats.org/officeDocument/2006/relationships/notesMaster" Target="/ppt/notesMasters/notesMaster1.xml" Id="R54f878fb5c1042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0e5e47faf448ba" /><Relationship Type="http://schemas.openxmlformats.org/officeDocument/2006/relationships/notesMaster" Target="/ppt/notesMasters/notesMaster1.xml" Id="R8447189b3ae143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780e17207c4191" /><Relationship Type="http://schemas.openxmlformats.org/officeDocument/2006/relationships/notesMaster" Target="/ppt/notesMasters/notesMaster1.xml" Id="R5f56298f0c6b48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4ac298cf8f43e8" /><Relationship Type="http://schemas.openxmlformats.org/officeDocument/2006/relationships/notesMaster" Target="/ppt/notesMasters/notesMaster1.xml" Id="R11b8ea069d7848e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0789e315c7c47b7" /><Relationship Type="http://schemas.openxmlformats.org/officeDocument/2006/relationships/notesMaster" Target="/ppt/notesMasters/notesMaster1.xml" Id="R84d90ae3f8214a3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296732bdcb4e1a" /><Relationship Type="http://schemas.openxmlformats.org/officeDocument/2006/relationships/notesMaster" Target="/ppt/notesMasters/notesMaster1.xml" Id="Ra7300fef8cd044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b68e286416442c" /><Relationship Type="http://schemas.openxmlformats.org/officeDocument/2006/relationships/notesMaster" Target="/ppt/notesMasters/notesMaster1.xml" Id="Rdd38db76158b457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ba4539c2004dc4" /><Relationship Type="http://schemas.openxmlformats.org/officeDocument/2006/relationships/notesMaster" Target="/ppt/notesMasters/notesMaster1.xml" Id="Rb31bae4e414b41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05c226db0a641b8" /><Relationship Type="http://schemas.openxmlformats.org/officeDocument/2006/relationships/notesMaster" Target="/ppt/notesMasters/notesMaster1.xml" Id="R7bbf40c99d4942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5337d3ba364f37" /><Relationship Type="http://schemas.openxmlformats.org/officeDocument/2006/relationships/notesMaster" Target="/ppt/notesMasters/notesMaster1.xml" Id="Rc43b3781c8a845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83b92ec46dc4a17" /><Relationship Type="http://schemas.openxmlformats.org/officeDocument/2006/relationships/notesMaster" Target="/ppt/notesMasters/notesMaster1.xml" Id="R9e0d83ea1b7e4d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ddfe6fa96854cb2" /><Relationship Type="http://schemas.openxmlformats.org/officeDocument/2006/relationships/notesMaster" Target="/ppt/notesMasters/notesMaster1.xml" Id="R044984e1244d47f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e0f9bf50d874716" /><Relationship Type="http://schemas.openxmlformats.org/officeDocument/2006/relationships/notesMaster" Target="/ppt/notesMasters/notesMaster1.xml" Id="R36261823e5da482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e063e69791946b4" /><Relationship Type="http://schemas.openxmlformats.org/officeDocument/2006/relationships/notesMaster" Target="/ppt/notesMasters/notesMaster1.xml" Id="R14bf4c97cf5743b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0e0b4aa702741b5" /><Relationship Type="http://schemas.openxmlformats.org/officeDocument/2006/relationships/notesMaster" Target="/ppt/notesMasters/notesMaster1.xml" Id="Rdc1243826fa34f5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23cb7df4ab74dd1" /><Relationship Type="http://schemas.openxmlformats.org/officeDocument/2006/relationships/notesMaster" Target="/ppt/notesMasters/notesMaster1.xml" Id="Rcfc66055c65945f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d01e5762012441e" /><Relationship Type="http://schemas.openxmlformats.org/officeDocument/2006/relationships/notesMaster" Target="/ppt/notesMasters/notesMaster1.xml" Id="R867202fd006e40e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bfd0f4e5eab4878" /><Relationship Type="http://schemas.openxmlformats.org/officeDocument/2006/relationships/notesMaster" Target="/ppt/notesMasters/notesMaster1.xml" Id="R33f9e7ff28eb4d2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cff825c9e064edd" /><Relationship Type="http://schemas.openxmlformats.org/officeDocument/2006/relationships/notesMaster" Target="/ppt/notesMasters/notesMaster1.xml" Id="R5fab4416e2ef40d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dae9136c07d406a" /><Relationship Type="http://schemas.openxmlformats.org/officeDocument/2006/relationships/notesMaster" Target="/ppt/notesMasters/notesMaster1.xml" Id="R3d48c57e4c7e45b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537ea11af7b416d" /><Relationship Type="http://schemas.openxmlformats.org/officeDocument/2006/relationships/notesMaster" Target="/ppt/notesMasters/notesMaster1.xml" Id="R272474e062cb40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hoort bij de eerste coördinaat?</a:t>
            </a:r>
          </a:p>
          <a:p xmlns:a="http://schemas.openxmlformats.org/drawingml/2006/main">
            <a:r>
              <a:rPr sz="1400"/>
              <a:t/>
            </a:r>
          </a:p>
          <a:p xmlns:a="http://schemas.openxmlformats.org/drawingml/2006/main">
            <a:r>
              <a:rPr sz="1400"/>
              <a:t>Uitleg: Laat het overzicht staan tijdens startopdracht. Start: 22–23 op p. 32. Basis: 24 op p. 32, 25–26 op p. 33. Zelfstandig: 27 op p. 34, 28–29 op p. 35. Doel: 30 op p. 36. Huiswerk: 24, 25, 26, 27, 28, 29 en 30 maken en nakijken. Bonus 31 en herhaling 32–33 zijn niet toegewezen. De complete route mag meerdere lesmomenten beslaan.</a:t>
            </a:r>
          </a:p>
          <a:p xmlns:a="http://schemas.openxmlformats.org/drawingml/2006/main">
            <a:r>
              <a:rPr sz="1400"/>
              <a:t/>
            </a:r>
          </a:p>
          <a:p xmlns:a="http://schemas.openxmlformats.org/drawingml/2006/main">
            <a:r>
              <a:rPr sz="1400"/>
              <a:t>Voorkennis: 22a geeft aftrekken en delen expliciet in de opdracht; 22b gebruikt de procentuele verandering die op p. 14 is onderwezen. Controleer bij 22b de oude waarde als noemer. Opgave 23 is verkennend: de volgorde van coördinaten en het verschil tussen een prijs–hoeveelheidsgrafiek en een tijdreeks zijn nieuwe handelingen. Laat leerlingen bij 23 de uitleg en figuren op p. 24–25 gebruiken, vooral horizontale waarde eerst en het kader over tijdreeksen. Laat ze de gebruikte steun aanwijzen en hun twijfel noteren. Vraag nog geen onbegeleide beheersing.</a:t>
            </a:r>
          </a:p>
          <a:p xmlns:a="http://schemas.openxmlformats.org/drawingml/2006/main">
            <a:r>
              <a:rPr sz="1400"/>
              <a:t/>
            </a:r>
          </a:p>
          <a:p xmlns:a="http://schemas.openxmlformats.org/drawingml/2006/main">
            <a:r>
              <a:rPr sz="1400"/>
              <a:t>Bij terugkeer vóór het basiswerk: laat 23 opnieuw proberen, bespreek welke grootheid horizontaal staat en waarom, en herstel eventuele verwarring. De opgaven beginnen pas na die terugkeer. Houd liniaal en ruitjespapier klaar.</a:t>
            </a:r>
          </a:p>
          <a:p xmlns:a="http://schemas.openxmlformats.org/drawingml/2006/main">
            <a:r>
              <a:rPr sz="1400"/>
              <a:t/>
            </a:r>
          </a:p>
          <a:p xmlns:a="http://schemas.openxmlformats.org/drawingml/2006/main">
            <a:r>
              <a:rPr sz="1400"/>
              <a:t>Misvatting: Een gemaakte startopgave bewijst nog geen duurzame beheersing.</a:t>
            </a:r>
          </a:p>
          <a:p xmlns:a="http://schemas.openxmlformats.org/drawingml/2006/main">
            <a:r>
              <a:rPr sz="1400"/>
              <a:t/>
            </a:r>
          </a:p>
          <a:p xmlns:a="http://schemas.openxmlformats.org/drawingml/2006/main">
            <a:r>
              <a:rPr sz="1400"/>
              <a:t>Overgang: Startfase: begin met het eigen uitlegvoorbeeld. Oefenfase: basis 24–26. Afsluiting: noteer het resterende huiswerk.</a:t>
            </a:r>
          </a:p>
          <a:p xmlns:a="http://schemas.openxmlformats.org/drawingml/2006/main">
            <a:r>
              <a:rPr sz="1400"/>
              <a:t/>
            </a:r>
          </a:p>
          <a:p xmlns:a="http://schemas.openxmlformats.org/drawingml/2006/main">
            <a:r>
              <a:rPr sz="1400"/>
              <a:t>Bron: Boek 1, tweede editie 2026, gedrukte pagina 24–25, 32–36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Hoeveel reserveringen verwacht het museum bij € 7?</a:t>
            </a:r>
          </a:p>
          <a:p xmlns:a="http://schemas.openxmlformats.org/drawingml/2006/main">
            <a:r>
              <a:rPr sz="1400"/>
              <a:t/>
            </a:r>
          </a:p>
          <a:p xmlns:a="http://schemas.openxmlformats.org/drawingml/2006/main">
            <a:r>
              <a:rPr sz="1400"/>
              <a:t>Uitleg: Introduceer deze eigen, fictieve modeltabel. Lees één prijs met het bijbehorende aantal. Het model beschrijft verwachtingen voor één middag, geen waargenomen feiten. We tekenen alleen tussen de opgegeven eindpunten. Het museumvoorbeeld staat los van alle opgegeven boekopgaven.</a:t>
            </a:r>
          </a:p>
          <a:p xmlns:a="http://schemas.openxmlformats.org/drawingml/2006/main">
            <a:r>
              <a:rPr sz="1400"/>
              <a:t/>
            </a:r>
          </a:p>
          <a:p xmlns:a="http://schemas.openxmlformats.org/drawingml/2006/main">
            <a:r>
              <a:rPr sz="1400"/>
              <a:t>Misvatting: Gebruik de tabelwaarden niet als gegarandeerde aantallen.</a:t>
            </a:r>
          </a:p>
          <a:p xmlns:a="http://schemas.openxmlformats.org/drawingml/2006/main">
            <a:r>
              <a:rPr sz="1400"/>
              <a:t/>
            </a:r>
          </a:p>
          <a:p xmlns:a="http://schemas.openxmlformats.org/drawingml/2006/main">
            <a:r>
              <a:rPr sz="1400"/>
              <a:t>Overgang: Kies eerst de assen en schalen.</a:t>
            </a:r>
          </a:p>
          <a:p xmlns:a="http://schemas.openxmlformats.org/drawingml/2006/main">
            <a:r>
              <a:rPr sz="1400"/>
              <a:t/>
            </a:r>
          </a:p>
          <a:p xmlns:a="http://schemas.openxmlformats.org/drawingml/2006/main">
            <a:r>
              <a:rPr sz="1400"/>
              <a:t>Bron: Boek 1, tweede editie 2026, gedrukte pagina 24–26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past 0 tot 200 bij het grootste aantal 180?</a:t>
            </a:r>
          </a:p>
          <a:p xmlns:a="http://schemas.openxmlformats.org/drawingml/2006/main">
            <a:r>
              <a:rPr sz="1400"/>
              <a:t/>
            </a:r>
          </a:p>
          <a:p xmlns:a="http://schemas.openxmlformats.org/drawingml/2006/main">
            <a:r>
              <a:rPr sz="1400"/>
              <a:t>Uitleg: Kies Q horizontaal en P verticaal voor deze prijs–hoeveelheidsgrafiek. Benoem variabele, eenheid en periode. Laat bij de schaal zien dat twee opeenvolgende vakken op dezelfde as steeds hetzelfde verschil voorstellen. De twee assen hoeven geen gelijke stapgrootte te hebben.</a:t>
            </a:r>
          </a:p>
          <a:p xmlns:a="http://schemas.openxmlformats.org/drawingml/2006/main">
            <a:r>
              <a:rPr sz="1400"/>
              <a:t/>
            </a:r>
          </a:p>
          <a:p xmlns:a="http://schemas.openxmlformats.org/drawingml/2006/main">
            <a:r>
              <a:rPr sz="1400"/>
              <a:t>Misvatting: Een regelmatige schaal is belangrijker dan evenveel getallen op beide assen.</a:t>
            </a:r>
          </a:p>
          <a:p xmlns:a="http://schemas.openxmlformats.org/drawingml/2006/main">
            <a:r>
              <a:rPr sz="1400"/>
              <a:t/>
            </a:r>
          </a:p>
          <a:p xmlns:a="http://schemas.openxmlformats.org/drawingml/2006/main">
            <a:r>
              <a:rPr sz="1400"/>
              <a:t>Overgang: Plaats de drie punten.</a:t>
            </a:r>
          </a:p>
          <a:p xmlns:a="http://schemas.openxmlformats.org/drawingml/2006/main">
            <a:r>
              <a:rPr sz="1400"/>
              <a:t/>
            </a:r>
          </a:p>
          <a:p xmlns:a="http://schemas.openxmlformats.org/drawingml/2006/main">
            <a:r>
              <a:rPr sz="1400"/>
              <a:t>Bron: Boek 1, tweede editie 2026, gedrukte pagina 24–25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coördinaat noem je als eerste?</a:t>
            </a:r>
          </a:p>
          <a:p xmlns:a="http://schemas.openxmlformats.org/drawingml/2006/main">
            <a:r>
              <a:rPr sz="1400"/>
              <a:t/>
            </a:r>
          </a:p>
          <a:p xmlns:a="http://schemas.openxmlformats.org/drawingml/2006/main">
            <a:r>
              <a:rPr sz="1400"/>
              <a:t>Uitleg: Wijs de route aan: eerst 180 langs de horizontale as, daarna omhoog naar 3. De horizontale waarde komt voor de puntkomma. Controleer ook 140 met 7 en 100 met 11.</a:t>
            </a:r>
          </a:p>
          <a:p xmlns:a="http://schemas.openxmlformats.org/drawingml/2006/main">
            <a:r>
              <a:rPr sz="1400"/>
              <a:t/>
            </a:r>
          </a:p>
          <a:p xmlns:a="http://schemas.openxmlformats.org/drawingml/2006/main">
            <a:r>
              <a:rPr sz="1400"/>
              <a:t>Misvatting: Een netjes getrokken lijn buiten het gegeven gebied is nog geen betrouwbare voorspelling.</a:t>
            </a:r>
          </a:p>
          <a:p xmlns:a="http://schemas.openxmlformats.org/drawingml/2006/main">
            <a:r>
              <a:rPr sz="1400"/>
              <a:t/>
            </a:r>
          </a:p>
          <a:p xmlns:a="http://schemas.openxmlformats.org/drawingml/2006/main">
            <a:r>
              <a:rPr sz="1400"/>
              <a:t>Overgang: Verbind de punten volgens de modelaanname.</a:t>
            </a:r>
          </a:p>
          <a:p xmlns:a="http://schemas.openxmlformats.org/drawingml/2006/main">
            <a:r>
              <a:rPr sz="1400"/>
              <a:t/>
            </a:r>
          </a:p>
          <a:p xmlns:a="http://schemas.openxmlformats.org/drawingml/2006/main">
            <a:r>
              <a:rPr sz="1400"/>
              <a:t>Bron: Boek 1, tweede editie 2026, gedrukte pagina 24–25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coördinaat noem je als eerste?</a:t>
            </a:r>
          </a:p>
          <a:p xmlns:a="http://schemas.openxmlformats.org/drawingml/2006/main">
            <a:r>
              <a:rPr sz="1400"/>
              <a:t/>
            </a:r>
          </a:p>
          <a:p xmlns:a="http://schemas.openxmlformats.org/drawingml/2006/main">
            <a:r>
              <a:rPr sz="1400"/>
              <a:t>Uitleg: Verbind dezelfde drie punten met rechte lijnstukken. Dat volgt hier uit de opgegeven modelaanname. Trek niet zonder broninformatie door tot een as of voorbij de eindpunten.</a:t>
            </a:r>
          </a:p>
          <a:p xmlns:a="http://schemas.openxmlformats.org/drawingml/2006/main">
            <a:r>
              <a:rPr sz="1400"/>
              <a:t/>
            </a:r>
          </a:p>
          <a:p xmlns:a="http://schemas.openxmlformats.org/drawingml/2006/main">
            <a:r>
              <a:rPr sz="1400"/>
              <a:t>Misvatting: Een netjes getrokken lijn buiten het gegeven gebied is nog geen betrouwbare voorspelling.</a:t>
            </a:r>
          </a:p>
          <a:p xmlns:a="http://schemas.openxmlformats.org/drawingml/2006/main">
            <a:r>
              <a:rPr sz="1400"/>
              <a:t/>
            </a:r>
          </a:p>
          <a:p xmlns:a="http://schemas.openxmlformats.org/drawingml/2006/main">
            <a:r>
              <a:rPr sz="1400"/>
              <a:t>Overgang: Lees nu een tussenwaarde af.</a:t>
            </a:r>
          </a:p>
          <a:p xmlns:a="http://schemas.openxmlformats.org/drawingml/2006/main">
            <a:r>
              <a:rPr sz="1400"/>
              <a:t/>
            </a:r>
          </a:p>
          <a:p xmlns:a="http://schemas.openxmlformats.org/drawingml/2006/main">
            <a:r>
              <a:rPr sz="1400"/>
              <a:t>Bron: Boek 1, tweede editie 2026, gedrukte pagina 24–25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neem je drie kwart en niet de helft?</a:t>
            </a:r>
          </a:p>
          <a:p xmlns:a="http://schemas.openxmlformats.org/drawingml/2006/main">
            <a:r>
              <a:rPr sz="1400"/>
              <a:t/>
            </a:r>
          </a:p>
          <a:p xmlns:a="http://schemas.openxmlformats.org/drawingml/2006/main">
            <a:r>
              <a:rPr sz="1400"/>
              <a:t>Uitleg: De prijs 6 ligt drie kwart van de weg van 3 naar 7. Over het hele interval daalt Q met 180 − 140 = 40. Drie kwart daarvan is 30. Trek die 30 af van het eerste aantal. De hulplijnen tonen eerst horizontaal vanaf P = 6 naar de lijn, daarna omlaag naar Q = 150. Bij echte metingen is deze tussenwaarde slechts een schatting, tenzij een lineair model is afgesproken.</a:t>
            </a:r>
          </a:p>
          <a:p xmlns:a="http://schemas.openxmlformats.org/drawingml/2006/main">
            <a:r>
              <a:rPr sz="1400"/>
              <a:t/>
            </a:r>
          </a:p>
          <a:p xmlns:a="http://schemas.openxmlformats.org/drawingml/2006/main">
            <a:r>
              <a:rPr sz="1400"/>
              <a:t>Misvatting: Niet elke tussenprijs ligt halverwege. Vergelijk bij de fractie prijs met prijs en pas daarna dezelfde fractie toe op het aantalverschil.</a:t>
            </a:r>
          </a:p>
          <a:p xmlns:a="http://schemas.openxmlformats.org/drawingml/2006/main">
            <a:r>
              <a:rPr sz="1400"/>
              <a:t/>
            </a:r>
          </a:p>
          <a:p xmlns:a="http://schemas.openxmlformats.org/drawingml/2006/main">
            <a:r>
              <a:rPr sz="1400"/>
              <a:t>Overgang: Controleer een uitspraak over de tabel met de bekende procentformule.</a:t>
            </a:r>
          </a:p>
          <a:p xmlns:a="http://schemas.openxmlformats.org/drawingml/2006/main">
            <a:r>
              <a:rPr sz="1400"/>
              <a:t/>
            </a:r>
          </a:p>
          <a:p xmlns:a="http://schemas.openxmlformats.org/drawingml/2006/main">
            <a:r>
              <a:rPr sz="1400"/>
              <a:t>Bron: Boek 1, tweede editie 2026, gedrukte pagina 26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staat er onder de deelstreep?</a:t>
            </a:r>
          </a:p>
          <a:p xmlns:a="http://schemas.openxmlformats.org/drawingml/2006/main">
            <a:r>
              <a:rPr sz="1400"/>
              <a:t/>
            </a:r>
          </a:p>
          <a:p xmlns:a="http://schemas.openxmlformats.org/drawingml/2006/main">
            <a:r>
              <a:rPr sz="1400"/>
              <a:t>Uitleg: Haal de methode uit §1.1.2 p. 14 kort op. De afname is 40 reserveringen. Het percentage gebruikt het oude aantal 180 als basis. De claim is onjuist: de modeluitkomst daalt met ongeveer 22,22%, niet 40%. Rond alleen het eindpercentage af. Dit is een modelvergelijking bij gelijkblijvende omstandigheden.</a:t>
            </a:r>
          </a:p>
          <a:p xmlns:a="http://schemas.openxmlformats.org/drawingml/2006/main">
            <a:r>
              <a:rPr sz="1400"/>
              <a:t/>
            </a:r>
          </a:p>
          <a:p xmlns:a="http://schemas.openxmlformats.org/drawingml/2006/main">
            <a:r>
              <a:rPr sz="1400"/>
              <a:t>Misvatting: Een absolute afname van 40 is geen daling van 40%.</a:t>
            </a:r>
          </a:p>
          <a:p xmlns:a="http://schemas.openxmlformats.org/drawingml/2006/main">
            <a:r>
              <a:rPr sz="1400"/>
              <a:t/>
            </a:r>
          </a:p>
          <a:p xmlns:a="http://schemas.openxmlformats.org/drawingml/2006/main">
            <a:r>
              <a:rPr sz="1400"/>
              <a:t>Overgang: Een formule is een andere manier om gegevens te verbinden.</a:t>
            </a:r>
          </a:p>
          <a:p xmlns:a="http://schemas.openxmlformats.org/drawingml/2006/main">
            <a:r>
              <a:rPr sz="1400"/>
              <a:t/>
            </a:r>
          </a:p>
          <a:p xmlns:a="http://schemas.openxmlformats.org/drawingml/2006/main">
            <a:r>
              <a:rPr sz="1400"/>
              <a:t>Bron: Boek 1, tweede editie 2026, gedrukte pagina 14, 29–30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betekent de 4 in deze formule?</a:t>
            </a:r>
          </a:p>
          <a:p xmlns:a="http://schemas.openxmlformats.org/drawingml/2006/main">
            <a:r>
              <a:rPr sz="1400"/>
              <a:t/>
            </a:r>
          </a:p>
          <a:p xmlns:a="http://schemas.openxmlformats.org/drawingml/2006/main">
            <a:r>
              <a:rPr sz="1400"/>
              <a:t>Uitleg: Deze eigen betaalregel is geen les over kostensoorten. 4n betekent 4 maal n. De 12 is euro, de 4 euro per spel. Vul de 3 op de plaats van n in en werk volgens de rekenvolgorde. Controleer dat 3 een toegestaan geheel aantal is.</a:t>
            </a:r>
          </a:p>
          <a:p xmlns:a="http://schemas.openxmlformats.org/drawingml/2006/main">
            <a:r>
              <a:rPr sz="1400"/>
              <a:t/>
            </a:r>
          </a:p>
          <a:p xmlns:a="http://schemas.openxmlformats.org/drawingml/2006/main">
            <a:r>
              <a:rPr sz="1400"/>
              <a:t>Misvatting: 12 + 4 eerst uitrekenen zou de formule veranderen.</a:t>
            </a:r>
          </a:p>
          <a:p xmlns:a="http://schemas.openxmlformats.org/drawingml/2006/main">
            <a:r>
              <a:rPr sz="1400"/>
              <a:t/>
            </a:r>
          </a:p>
          <a:p xmlns:a="http://schemas.openxmlformats.org/drawingml/2006/main">
            <a:r>
              <a:rPr sz="1400"/>
              <a:t>Overgang: Keer de bewerkingen om als het totale bedrag bekend is.</a:t>
            </a:r>
          </a:p>
          <a:p xmlns:a="http://schemas.openxmlformats.org/drawingml/2006/main">
            <a:r>
              <a:rPr sz="1400"/>
              <a:t/>
            </a:r>
          </a:p>
          <a:p xmlns:a="http://schemas.openxmlformats.org/drawingml/2006/main">
            <a:r>
              <a:rPr sz="1400"/>
              <a:t>Bron: Boek 1, tweede editie 2026, gedrukte pagina 27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trek je eerst 12 af en deel je pas daarna?</a:t>
            </a:r>
          </a:p>
          <a:p xmlns:a="http://schemas.openxmlformats.org/drawingml/2006/main">
            <a:r>
              <a:rPr sz="1400"/>
              <a:t/>
            </a:r>
          </a:p>
          <a:p xmlns:a="http://schemas.openxmlformats.org/drawingml/2006/main">
            <a:r>
              <a:rPr sz="1400"/>
              <a:t>Uitleg: Maak de optelling eerst ongedaan door van beide kanten 12 af te trekken. Deel vervolgens beide kanten door 4. De vergelijking blijft gelijkwaardig. Vul het gevonden aantal terug in en controleer ook het bereik.</a:t>
            </a:r>
          </a:p>
          <a:p xmlns:a="http://schemas.openxmlformats.org/drawingml/2006/main">
            <a:r>
              <a:rPr sz="1400"/>
              <a:t/>
            </a:r>
          </a:p>
          <a:p xmlns:a="http://schemas.openxmlformats.org/drawingml/2006/main">
            <a:r>
              <a:rPr sz="1400"/>
              <a:t>Misvatting: Een getal naar de andere kant zetten verklaart nog niet waarom de gelijkheid behouden blijft.</a:t>
            </a:r>
          </a:p>
          <a:p xmlns:a="http://schemas.openxmlformats.org/drawingml/2006/main">
            <a:r>
              <a:rPr sz="1400"/>
              <a:t/>
            </a:r>
          </a:p>
          <a:p xmlns:a="http://schemas.openxmlformats.org/drawingml/2006/main">
            <a:r>
              <a:rPr sz="1400"/>
              <a:t>Overgang: Vergelijk twee aantallen in dezelfde betaalregel.</a:t>
            </a:r>
          </a:p>
          <a:p xmlns:a="http://schemas.openxmlformats.org/drawingml/2006/main">
            <a:r>
              <a:rPr sz="1400"/>
              <a:t/>
            </a:r>
          </a:p>
          <a:p xmlns:a="http://schemas.openxmlformats.org/drawingml/2006/main">
            <a:r>
              <a:rPr sz="1400"/>
              <a:t>Bron: Boek 1, tweede editie 2026, gedrukte pagina 27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deel wordt bij tweemaal zoveel spellen wel tweemaal zo groot?</a:t>
            </a:r>
          </a:p>
          <a:p xmlns:a="http://schemas.openxmlformats.org/drawingml/2006/main">
            <a:r>
              <a:rPr sz="1400"/>
              <a:t/>
            </a:r>
          </a:p>
          <a:p xmlns:a="http://schemas.openxmlformats.org/drawingml/2006/main">
            <a:r>
              <a:rPr sz="1400"/>
              <a:t>Uitleg: Bij verdubbeling van n verdubbelt alleen 4n. De 12 wordt niet verdubbeld. Het totaal gaat van 24 naar 36, terwijl een verdubbeld totaal 48 zou zijn. Dit bereidt zelfstandig 28c voor met andere context en data. We voegen geen kostenterminologie toe.</a:t>
            </a:r>
          </a:p>
          <a:p xmlns:a="http://schemas.openxmlformats.org/drawingml/2006/main">
            <a:r>
              <a:rPr sz="1400"/>
              <a:t/>
            </a:r>
          </a:p>
          <a:p xmlns:a="http://schemas.openxmlformats.org/drawingml/2006/main">
            <a:r>
              <a:rPr sz="1400"/>
              <a:t>Misvatting: Een lineaire formule met een startbedrag is niet automatisch een evenredig verband.</a:t>
            </a:r>
          </a:p>
          <a:p xmlns:a="http://schemas.openxmlformats.org/drawingml/2006/main">
            <a:r>
              <a:rPr sz="1400"/>
              <a:t/>
            </a:r>
          </a:p>
          <a:p xmlns:a="http://schemas.openxmlformats.org/drawingml/2006/main">
            <a:r>
              <a:rPr sz="1400"/>
              <a:t>Overgang: Ga naar posities op een plattegrond.</a:t>
            </a:r>
          </a:p>
          <a:p xmlns:a="http://schemas.openxmlformats.org/drawingml/2006/main">
            <a:r>
              <a:rPr sz="1400"/>
              <a:t/>
            </a:r>
          </a:p>
          <a:p xmlns:a="http://schemas.openxmlformats.org/drawingml/2006/main">
            <a:r>
              <a:rPr sz="1400"/>
              <a:t>Bron: Boek 1, tweede editie 2026, gedrukte pagina 27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hoogte 3 meter en niet 5 meter?</a:t>
            </a:r>
          </a:p>
          <a:p xmlns:a="http://schemas.openxmlformats.org/drawingml/2006/main">
            <a:r>
              <a:rPr sz="1400"/>
              <a:t/>
            </a:r>
          </a:p>
          <a:p xmlns:a="http://schemas.openxmlformats.org/drawingml/2006/main">
            <a:r>
              <a:rPr sz="1400"/>
              <a:t>Uitleg: De figuren zijn een eigen plattegrondvoorbeeld. Beide assen geven een positie in meter. De basis loopt van 3 tot 10, de hoogte van 2 tot 5. Wijs beide afstanden aan. Bij de driehoek staat de hoogte loodrecht op de horizontale basis.</a:t>
            </a:r>
          </a:p>
          <a:p xmlns:a="http://schemas.openxmlformats.org/drawingml/2006/main">
            <a:r>
              <a:rPr sz="1400"/>
              <a:t/>
            </a:r>
          </a:p>
          <a:p xmlns:a="http://schemas.openxmlformats.org/drawingml/2006/main">
            <a:r>
              <a:rPr sz="1400"/>
              <a:t>Misvatting: Een aspositie of een schuine zijde is niet automatisch de hoogte.</a:t>
            </a:r>
          </a:p>
          <a:p xmlns:a="http://schemas.openxmlformats.org/drawingml/2006/main">
            <a:r>
              <a:rPr sz="1400"/>
              <a:t/>
            </a:r>
          </a:p>
          <a:p xmlns:a="http://schemas.openxmlformats.org/drawingml/2006/main">
            <a:r>
              <a:rPr sz="1400"/>
              <a:t>Overgang: Gebruik die twee afstanden in de oppervlakteformules.</a:t>
            </a:r>
          </a:p>
          <a:p xmlns:a="http://schemas.openxmlformats.org/drawingml/2006/main">
            <a:r>
              <a:rPr sz="1400"/>
              <a:t/>
            </a:r>
          </a:p>
          <a:p xmlns:a="http://schemas.openxmlformats.org/drawingml/2006/main">
            <a:r>
              <a:rPr sz="1400"/>
              <a:t>Bron: Boek 1, tweede editie 2026, gedrukte pagina 28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staat bij de driehoek de factor een half?</a:t>
            </a:r>
          </a:p>
          <a:p xmlns:a="http://schemas.openxmlformats.org/drawingml/2006/main">
            <a:r>
              <a:rPr sz="1400"/>
              <a:t/>
            </a:r>
          </a:p>
          <a:p xmlns:a="http://schemas.openxmlformats.org/drawingml/2006/main">
            <a:r>
              <a:rPr sz="1400"/>
              <a:t>Uitleg: Het product van de afstanden 7 en 3 is 21 vierkante meter. De driehoek beslaat de helft van de rechthoek met dezelfde basis en hoogte: 10,5 vierkante meter. Meters maal meters geeft vierkante meter. Hier behandelen we uitsluitend geometrie.</a:t>
            </a:r>
          </a:p>
          <a:p xmlns:a="http://schemas.openxmlformats.org/drawingml/2006/main">
            <a:r>
              <a:rPr sz="1400"/>
              <a:t/>
            </a:r>
          </a:p>
          <a:p xmlns:a="http://schemas.openxmlformats.org/drawingml/2006/main">
            <a:r>
              <a:rPr sz="1400"/>
              <a:t>Misvatting: Er hoort hier geen economische surplusbetekenis bij de oppervlakte.</a:t>
            </a:r>
          </a:p>
          <a:p xmlns:a="http://schemas.openxmlformats.org/drawingml/2006/main">
            <a:r>
              <a:rPr sz="1400"/>
              <a:t/>
            </a:r>
          </a:p>
          <a:p xmlns:a="http://schemas.openxmlformats.org/drawingml/2006/main">
            <a:r>
              <a:rPr sz="1400"/>
              <a:t>Overgang: Een tijdreeks vraagt weer andere asbetekenissen.</a:t>
            </a:r>
          </a:p>
          <a:p xmlns:a="http://schemas.openxmlformats.org/drawingml/2006/main">
            <a:r>
              <a:rPr sz="1400"/>
              <a:t/>
            </a:r>
          </a:p>
          <a:p xmlns:a="http://schemas.openxmlformats.org/drawingml/2006/main">
            <a:r>
              <a:rPr sz="1400"/>
              <a:t>Bron: Boek 1, tweede editie 2026, gedrukte pagina 28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deel je de toename 18 door 3?</a:t>
            </a:r>
          </a:p>
          <a:p xmlns:a="http://schemas.openxmlformats.org/drawingml/2006/main">
            <a:r>
              <a:rPr sz="1400"/>
              <a:t/>
            </a:r>
          </a:p>
          <a:p xmlns:a="http://schemas.openxmlformats.org/drawingml/2006/main">
            <a:r>
              <a:rPr sz="1400"/>
              <a:t>Uitleg: Een eigen fictieve inzamelingsactiviteit telt inschrijvingen op drie dagen. Tijd staat horizontaal. De eerste tabelstap duurt drie dagen, de tweede twee. Bereken bij de eerste stap 18 gedeeld door 3, en bij de tweede 12 gedeeld door 2: beide gemiddeld 6 per dag. De verbonden meetpunten helpen het verloop te lezen, maar zijn geen bewijs voor precies zes op elke afzonderlijke dag.</a:t>
            </a:r>
          </a:p>
          <a:p xmlns:a="http://schemas.openxmlformats.org/drawingml/2006/main">
            <a:r>
              <a:rPr sz="1400"/>
              <a:t/>
            </a:r>
          </a:p>
          <a:p xmlns:a="http://schemas.openxmlformats.org/drawingml/2006/main">
            <a:r>
              <a:rPr sz="1400"/>
              <a:t>Misvatting: Eén stap in de tabel is niet altijd één dag.</a:t>
            </a:r>
          </a:p>
          <a:p xmlns:a="http://schemas.openxmlformats.org/drawingml/2006/main">
            <a:r>
              <a:rPr sz="1400"/>
              <a:t/>
            </a:r>
          </a:p>
          <a:p xmlns:a="http://schemas.openxmlformats.org/drawingml/2006/main">
            <a:r>
              <a:rPr sz="1400"/>
              <a:t>Overgang: Pas de keuze van de noemer toe op een verschil per euro.</a:t>
            </a:r>
          </a:p>
          <a:p xmlns:a="http://schemas.openxmlformats.org/drawingml/2006/main">
            <a:r>
              <a:rPr sz="1400"/>
              <a:t/>
            </a:r>
          </a:p>
          <a:p xmlns:a="http://schemas.openxmlformats.org/drawingml/2006/main">
            <a:r>
              <a:rPr sz="1400"/>
              <a:t>Bron: Boek 1, tweede editie 2026, gedrukte pagina 29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deel je hier door 8 en niet door 80?</a:t>
            </a:r>
          </a:p>
          <a:p xmlns:a="http://schemas.openxmlformats.org/drawingml/2006/main">
            <a:r>
              <a:rPr sz="1400"/>
              <a:t/>
            </a:r>
          </a:p>
          <a:p xmlns:a="http://schemas.openxmlformats.org/drawingml/2006/main">
            <a:r>
              <a:rPr sz="1400"/>
              <a:t>Uitleg: Dezelfde methode krijgt een andere noemer: per euro prijsstijging vraagt om delen door het prijsverschil. Dat verschil is 11 − 3 = 8 euro. De hoeveelheid daalt met 180 − 100 = 80 reserveringen, dus gemiddeld 10 reserveringen minder per euro prijsstijging. In de prijs–hoeveelheidsgrafiek staat P verticaal; de gevraagde eenheid bepaalt toch dat het prijsverschil onder de deelstreep komt. Dit is een verandering in modeluitkomsten, geen algemene vraagwet. Het eigene museumvoorbeeld houdt de toegewezen opgave 27d beschikbaar voor zelfstandig werk.</a:t>
            </a:r>
          </a:p>
          <a:p xmlns:a="http://schemas.openxmlformats.org/drawingml/2006/main">
            <a:r>
              <a:rPr sz="1400"/>
              <a:t/>
            </a:r>
          </a:p>
          <a:p xmlns:a="http://schemas.openxmlformats.org/drawingml/2006/main">
            <a:r>
              <a:rPr sz="1400"/>
              <a:t>Misvatting: De horizontale as bepaalt niet automatisch wat onder de deelstreep komt. Lees wat per eenheid gevraagd wordt.</a:t>
            </a:r>
          </a:p>
          <a:p xmlns:a="http://schemas.openxmlformats.org/drawingml/2006/main">
            <a:r>
              <a:rPr sz="1400"/>
              <a:t/>
            </a:r>
          </a:p>
          <a:p xmlns:a="http://schemas.openxmlformats.org/drawingml/2006/main">
            <a:r>
              <a:rPr sz="1400"/>
              <a:t>Overgang: Begrens wat een bron ondersteunt.</a:t>
            </a:r>
          </a:p>
          <a:p xmlns:a="http://schemas.openxmlformats.org/drawingml/2006/main">
            <a:r>
              <a:rPr sz="1400"/>
              <a:t/>
            </a:r>
          </a:p>
          <a:p xmlns:a="http://schemas.openxmlformats.org/drawingml/2006/main">
            <a:r>
              <a:rPr sz="1400"/>
              <a:t>Bron: Boek 1, tweede editie 2026, gedrukte pagina 13, 29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Kun je weten of op dag 2 precies 18 inschrijvingen waren?</a:t>
            </a:r>
          </a:p>
          <a:p xmlns:a="http://schemas.openxmlformats.org/drawingml/2006/main">
            <a:r>
              <a:rPr sz="1400"/>
              <a:t/>
            </a:r>
          </a:p>
          <a:p xmlns:a="http://schemas.openxmlformats.org/drawingml/2006/main">
            <a:r>
              <a:rPr sz="1400"/>
              <a:t>Uitleg: Vergelijk expliciete modelaannames met meetpunten. Binnen het lineaire model volgt de tussenwaarde uit de afspraak. Bij waarnemingen is lineair interpoleren een schatting. De tijdreeks zegt ook niets over een oorzaak: een herinneringsbericht is niet in de bron vermeld. Laat leerlingen één ondersteunde en één niet-ondersteunde uitspraak noemen.</a:t>
            </a:r>
          </a:p>
          <a:p xmlns:a="http://schemas.openxmlformats.org/drawingml/2006/main">
            <a:r>
              <a:rPr sz="1400"/>
              <a:t/>
            </a:r>
          </a:p>
          <a:p xmlns:a="http://schemas.openxmlformats.org/drawingml/2006/main">
            <a:r>
              <a:rPr sz="1400"/>
              <a:t>Misvatting: Een lijn tussen metingen bewijst geen exacte tussenwaarden; tijdsvolgorde bewijst geen causaliteit.</a:t>
            </a:r>
          </a:p>
          <a:p xmlns:a="http://schemas.openxmlformats.org/drawingml/2006/main">
            <a:r>
              <a:rPr sz="1400"/>
              <a:t/>
            </a:r>
          </a:p>
          <a:p xmlns:a="http://schemas.openxmlformats.org/drawingml/2006/main">
            <a:r>
              <a:rPr sz="1400"/>
              <a:t>Overgang: Keer terug naar start 23 en begin daarna bij basis 24–26.</a:t>
            </a:r>
          </a:p>
          <a:p xmlns:a="http://schemas.openxmlformats.org/drawingml/2006/main">
            <a:r>
              <a:rPr sz="1400"/>
              <a:t/>
            </a:r>
          </a:p>
          <a:p xmlns:a="http://schemas.openxmlformats.org/drawingml/2006/main">
            <a:r>
              <a:rPr sz="1400"/>
              <a:t>Bron: Boek 1, tweede editie 2026, gedrukte pagina 26, 29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Auteursvoorbeeld: eigen context en getallen voor deze lespresentatie.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hoort bij de eerste coördinaat?</a:t>
            </a:r>
          </a:p>
          <a:p xmlns:a="http://schemas.openxmlformats.org/drawingml/2006/main">
            <a:r>
              <a:rPr sz="1400"/>
              <a:t/>
            </a:r>
          </a:p>
          <a:p xmlns:a="http://schemas.openxmlformats.org/drawingml/2006/main">
            <a:r>
              <a:rPr sz="1400"/>
              <a:t>Uitleg: Laat het overzicht staan tijdens zelfstandig werken. Start: 22–23 op p. 32. Basis: 24 op p. 32, 25–26 op p. 33. Zelfstandig: 27 op p. 34, 28–29 op p. 35. Doel: 30 op p. 36. Huiswerk: 24, 25, 26, 27, 28, 29 en 30 maken en nakijken. Bonus 31 en herhaling 32–33 zijn niet toegewezen. De complete route mag meerdere lesmomenten beslaan.</a:t>
            </a:r>
          </a:p>
          <a:p xmlns:a="http://schemas.openxmlformats.org/drawingml/2006/main">
            <a:r>
              <a:rPr sz="1400"/>
              <a:t/>
            </a:r>
          </a:p>
          <a:p xmlns:a="http://schemas.openxmlformats.org/drawingml/2006/main">
            <a:r>
              <a:rPr sz="1400"/>
              <a:t>Voorkennis: 22a geeft aftrekken en delen expliciet in de opdracht; 22b gebruikt de procentuele verandering die op p. 14 is onderwezen. Controleer bij 22b de oude waarde als noemer. Opgave 23 is verkennend: de volgorde van coördinaten en het verschil tussen een prijs–hoeveelheidsgrafiek en een tijdreeks zijn nieuwe handelingen. Laat leerlingen bij 23 de uitleg en figuren op p. 24–25 gebruiken, vooral horizontale waarde eerst en het kader over tijdreeksen. Laat ze de gebruikte steun aanwijzen en hun twijfel noteren. Vraag nog geen onbegeleide beheersing.</a:t>
            </a:r>
          </a:p>
          <a:p xmlns:a="http://schemas.openxmlformats.org/drawingml/2006/main">
            <a:r>
              <a:rPr sz="1400"/>
              <a:t/>
            </a:r>
          </a:p>
          <a:p xmlns:a="http://schemas.openxmlformats.org/drawingml/2006/main">
            <a:r>
              <a:rPr sz="1400"/>
              <a:t>Bij terugkeer vóór het basiswerk: laat 23 opnieuw proberen, bespreek welke grootheid horizontaal staat en waarom, en herstel eventuele verwarring. De opgaven beginnen pas na die terugkeer. Houd liniaal en ruitjespapier klaar.</a:t>
            </a:r>
          </a:p>
          <a:p xmlns:a="http://schemas.openxmlformats.org/drawingml/2006/main">
            <a:r>
              <a:rPr sz="1400"/>
              <a:t/>
            </a:r>
          </a:p>
          <a:p xmlns:a="http://schemas.openxmlformats.org/drawingml/2006/main">
            <a:r>
              <a:rPr sz="1400"/>
              <a:t>Misvatting: Een gemaakte startopgave bewijst nog geen duurzame beheersing.</a:t>
            </a:r>
          </a:p>
          <a:p xmlns:a="http://schemas.openxmlformats.org/drawingml/2006/main">
            <a:r>
              <a:rPr sz="1400"/>
              <a:t/>
            </a:r>
          </a:p>
          <a:p xmlns:a="http://schemas.openxmlformats.org/drawingml/2006/main">
            <a:r>
              <a:rPr sz="1400"/>
              <a:t>Overgang: Startfase: begin met het eigen uitlegvoorbeeld. Oefenfase: basis 24–26. Afsluiting: noteer het resterende huiswerk.</a:t>
            </a:r>
          </a:p>
          <a:p xmlns:a="http://schemas.openxmlformats.org/drawingml/2006/main">
            <a:r>
              <a:rPr sz="1400"/>
              <a:t/>
            </a:r>
          </a:p>
          <a:p xmlns:a="http://schemas.openxmlformats.org/drawingml/2006/main">
            <a:r>
              <a:rPr sz="1400"/>
              <a:t>Bron: Boek 1, tweede editie 2026, gedrukte pagina 24–25, 32–36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informatie is een modelaanname?</a:t>
            </a:r>
          </a:p>
          <a:p xmlns:a="http://schemas.openxmlformats.org/drawingml/2006/main">
            <a:r>
              <a:rPr sz="1400"/>
              <a:t/>
            </a:r>
          </a:p>
          <a:p xmlns:a="http://schemas.openxmlformats.org/drawingml/2006/main">
            <a:r>
              <a:rPr sz="1400"/>
              <a:t>Uitleg: Dit is de werkelijke doelopgave 30 uit het boek. Start de bespreking nadat leerlingen deze zelf hebben geprobeerd. De drie bronnen A, B en C zijn afzonderlijke situaties. Deze dia toont bron A zonder antwoord.</a:t>
            </a:r>
          </a:p>
          <a:p xmlns:a="http://schemas.openxmlformats.org/drawingml/2006/main">
            <a:r>
              <a:rPr sz="1400"/>
              <a:t/>
            </a:r>
          </a:p>
          <a:p xmlns:a="http://schemas.openxmlformats.org/drawingml/2006/main">
            <a:r>
              <a:rPr sz="1400"/>
              <a:t>Misvatting: Verwar de gegevens van bron A niet met de formule of plattegrond.</a:t>
            </a:r>
          </a:p>
          <a:p xmlns:a="http://schemas.openxmlformats.org/drawingml/2006/main">
            <a:r>
              <a:rPr sz="1400"/>
              <a:t/>
            </a:r>
          </a:p>
          <a:p xmlns:a="http://schemas.openxmlformats.org/drawingml/2006/main">
            <a:r>
              <a:rPr sz="1400"/>
              <a:t>Overgang: Toon a, b en c, daarna de andere bronnen en vragen.</a:t>
            </a:r>
          </a:p>
          <a:p xmlns:a="http://schemas.openxmlformats.org/drawingml/2006/main">
            <a:r>
              <a:rPr sz="1400"/>
              <a:t/>
            </a:r>
          </a:p>
          <a:p xmlns:a="http://schemas.openxmlformats.org/drawingml/2006/main">
            <a:r>
              <a:rPr sz="1400"/>
              <a:t>Bron: Boek 1, tweede editie 2026, gedrukte pagina 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weergave maak je zelf bij a?</a:t>
            </a:r>
          </a:p>
          <a:p xmlns:a="http://schemas.openxmlformats.org/drawingml/2006/main">
            <a:r>
              <a:rPr sz="1400"/>
              <a:t/>
            </a:r>
          </a:p>
          <a:p xmlns:a="http://schemas.openxmlformats.org/drawingml/2006/main">
            <a:r>
              <a:rPr sz="1400"/>
              <a:t>Uitleg: Lees alle deelvragen bij bron A. De bronwaarden blijven op de vorige dia beschikbaar. Geef nog geen antwoorden: ook d tot en met g moeten eerst voor iedereen zichtbaar zijn.</a:t>
            </a:r>
          </a:p>
          <a:p xmlns:a="http://schemas.openxmlformats.org/drawingml/2006/main">
            <a:r>
              <a:rPr sz="1400"/>
              <a:t/>
            </a:r>
          </a:p>
          <a:p xmlns:a="http://schemas.openxmlformats.org/drawingml/2006/main">
            <a:r>
              <a:rPr sz="1400"/>
              <a:t>Misvatting: Bij c is een onderbouwd oordeel nodig.</a:t>
            </a:r>
          </a:p>
          <a:p xmlns:a="http://schemas.openxmlformats.org/drawingml/2006/main">
            <a:r>
              <a:rPr sz="1400"/>
              <a:t/>
            </a:r>
          </a:p>
          <a:p xmlns:a="http://schemas.openxmlformats.org/drawingml/2006/main">
            <a:r>
              <a:rPr sz="1400"/>
              <a:t>Overgang: Toon bron B en vragen d en e.</a:t>
            </a:r>
          </a:p>
          <a:p xmlns:a="http://schemas.openxmlformats.org/drawingml/2006/main">
            <a:r>
              <a:rPr sz="1400"/>
              <a:t/>
            </a:r>
          </a:p>
          <a:p xmlns:a="http://schemas.openxmlformats.org/drawingml/2006/main">
            <a:r>
              <a:rPr sz="1400"/>
              <a:t>Bron: Boek 1, tweede editie 2026, gedrukte pagina 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bij d bekend en wat bij e?</a:t>
            </a:r>
          </a:p>
          <a:p xmlns:a="http://schemas.openxmlformats.org/drawingml/2006/main">
            <a:r>
              <a:rPr sz="1400"/>
              <a:t/>
            </a:r>
          </a:p>
          <a:p xmlns:a="http://schemas.openxmlformats.org/drawingml/2006/main">
            <a:r>
              <a:rPr sz="1400"/>
              <a:t>Uitleg: De rekenregel en het geldige aantal zijn letterlijk uit bron B. Benoem de betekenis van T en n, maar stel nog geen uitwerking op.</a:t>
            </a:r>
          </a:p>
          <a:p xmlns:a="http://schemas.openxmlformats.org/drawingml/2006/main">
            <a:r>
              <a:rPr sz="1400"/>
              <a:t/>
            </a:r>
          </a:p>
          <a:p xmlns:a="http://schemas.openxmlformats.org/drawingml/2006/main">
            <a:r>
              <a:rPr sz="1400"/>
              <a:t>Misvatting: De letter n staat voor lampjes, niet voor reserveringen uit bron A.</a:t>
            </a:r>
          </a:p>
          <a:p xmlns:a="http://schemas.openxmlformats.org/drawingml/2006/main">
            <a:r>
              <a:rPr sz="1400"/>
              <a:t/>
            </a:r>
          </a:p>
          <a:p xmlns:a="http://schemas.openxmlformats.org/drawingml/2006/main">
            <a:r>
              <a:rPr sz="1400"/>
              <a:t>Overgang: Toon ook bron C en de laatste twee vragen.</a:t>
            </a:r>
          </a:p>
          <a:p xmlns:a="http://schemas.openxmlformats.org/drawingml/2006/main">
            <a:r>
              <a:rPr sz="1400"/>
              <a:t/>
            </a:r>
          </a:p>
          <a:p xmlns:a="http://schemas.openxmlformats.org/drawingml/2006/main">
            <a:r>
              <a:rPr sz="1400"/>
              <a:t>Bron: Boek 1, tweede editie 2026, gedrukte pagina 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posities begrenzen de hoogte?</a:t>
            </a:r>
          </a:p>
          <a:p xmlns:a="http://schemas.openxmlformats.org/drawingml/2006/main">
            <a:r>
              <a:rPr sz="1400"/>
              <a:t/>
            </a:r>
          </a:p>
          <a:p xmlns:a="http://schemas.openxmlformats.org/drawingml/2006/main">
            <a:r>
              <a:rPr sz="1400"/>
              <a:t>Uitleg: De plattegrond is als bewerkbare figuur overgenomen uit bron C: horizontale posities 2 en 8; verticale posities 4 en 8. De rechthoek en driehoek hebben dezelfde basis en hoogte. De grafiek bevat geen uitkomsten. Nu zijn alle bronnen en vragen a tot en met g getoond.</a:t>
            </a:r>
          </a:p>
          <a:p xmlns:a="http://schemas.openxmlformats.org/drawingml/2006/main">
            <a:r>
              <a:rPr sz="1400"/>
              <a:t/>
            </a:r>
          </a:p>
          <a:p xmlns:a="http://schemas.openxmlformats.org/drawingml/2006/main">
            <a:r>
              <a:rPr sz="1400"/>
              <a:t>Misvatting: De prijs–hoeveelheidsgrafiek uit a hoort niet bij deze plattegrond.</a:t>
            </a:r>
          </a:p>
          <a:p xmlns:a="http://schemas.openxmlformats.org/drawingml/2006/main">
            <a:r>
              <a:rPr sz="1400"/>
              <a:t/>
            </a:r>
          </a:p>
          <a:p xmlns:a="http://schemas.openxmlformats.org/drawingml/2006/main">
            <a:r>
              <a:rPr sz="1400"/>
              <a:t>Overgang: Begin pas nu met de oplossingen, bij bron A.</a:t>
            </a:r>
          </a:p>
          <a:p xmlns:a="http://schemas.openxmlformats.org/drawingml/2006/main">
            <a:r>
              <a:rPr sz="1400"/>
              <a:t/>
            </a:r>
          </a:p>
          <a:p xmlns:a="http://schemas.openxmlformats.org/drawingml/2006/main">
            <a:r>
              <a:rPr sz="1400"/>
              <a:t>Bron: Boek 1, tweede editie 2026, gedrukte pagina 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ligt (70; 5) tussen de schaalwaarden?</a:t>
            </a:r>
          </a:p>
          <a:p xmlns:a="http://schemas.openxmlformats.org/drawingml/2006/main">
            <a:r>
              <a:rPr sz="1400"/>
              <a:t/>
            </a:r>
          </a:p>
          <a:p xmlns:a="http://schemas.openxmlformats.org/drawingml/2006/main">
            <a:r>
              <a:rPr sz="1400"/>
              <a:t>Uitleg: Kies bijvoorbeeld Q van 0 tot 120 in stappen van 20 en P van 0 tot 10 in stappen van 2. Plaats de drie punten met de horizontale waarde eerst. Verbind ze met rechte lijnstukken, alleen tussen de opgegeven eindpunten. Controleer elk punt met de tabel.</a:t>
            </a:r>
          </a:p>
          <a:p xmlns:a="http://schemas.openxmlformats.org/drawingml/2006/main">
            <a:r>
              <a:rPr sz="1400"/>
              <a:t/>
            </a:r>
          </a:p>
          <a:p xmlns:a="http://schemas.openxmlformats.org/drawingml/2006/main">
            <a:r>
              <a:rPr sz="1400"/>
              <a:t>Misvatting: 70 en 5 hoeven geen benoemde grote schaalstrepen te zijn: plaats ze evenredig ertussen.</a:t>
            </a:r>
          </a:p>
          <a:p xmlns:a="http://schemas.openxmlformats.org/drawingml/2006/main">
            <a:r>
              <a:rPr sz="1400"/>
              <a:t/>
            </a:r>
          </a:p>
          <a:p xmlns:a="http://schemas.openxmlformats.org/drawingml/2006/main">
            <a:r>
              <a:rPr sz="1400"/>
              <a:t>Overgang: Gebruik de lijn voor P = 4.</a:t>
            </a:r>
          </a:p>
          <a:p xmlns:a="http://schemas.openxmlformats.org/drawingml/2006/main">
            <a:r>
              <a:rPr sz="1400"/>
              <a:t/>
            </a:r>
          </a:p>
          <a:p xmlns:a="http://schemas.openxmlformats.org/drawingml/2006/main">
            <a:r>
              <a:rPr sz="1400"/>
              <a:t>Bron: Boek 1, tweede editie 2026, gedrukte pagina 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trek je 20 af?</a:t>
            </a:r>
          </a:p>
          <a:p xmlns:a="http://schemas.openxmlformats.org/drawingml/2006/main">
            <a:r>
              <a:rPr sz="1400"/>
              <a:t/>
            </a:r>
          </a:p>
          <a:p xmlns:a="http://schemas.openxmlformats.org/drawingml/2006/main">
            <a:r>
              <a:rPr sz="1400"/>
              <a:t>Uitleg: Het prijsinterval is 3 euro. De prijs 4 ligt 2 euro boven 2, dus op twee derde van het interval. Q daalt over het hele stuk met 100 − 70 = 30. Twee derde daarvan is 20, dus 100 − 20 = 80. De hulplijnen sluiten aan bij het punt (80; 4). Controleer dat 80 tussen 70 en 100 ligt en bij de gegeven rechte lijn past.</a:t>
            </a:r>
          </a:p>
          <a:p xmlns:a="http://schemas.openxmlformats.org/drawingml/2006/main">
            <a:r>
              <a:rPr sz="1400"/>
              <a:t/>
            </a:r>
          </a:p>
          <a:p xmlns:a="http://schemas.openxmlformats.org/drawingml/2006/main">
            <a:r>
              <a:rPr sz="1400"/>
              <a:t>Misvatting: P = 4 is niet het midden van 2 en 5.</a:t>
            </a:r>
          </a:p>
          <a:p xmlns:a="http://schemas.openxmlformats.org/drawingml/2006/main">
            <a:r>
              <a:rPr sz="1400"/>
              <a:t/>
            </a:r>
          </a:p>
          <a:p xmlns:a="http://schemas.openxmlformats.org/drawingml/2006/main">
            <a:r>
              <a:rPr sz="1400"/>
              <a:t>Overgang: Controleer de claim met de oude hoeveelheid als basis.</a:t>
            </a:r>
          </a:p>
          <a:p xmlns:a="http://schemas.openxmlformats.org/drawingml/2006/main">
            <a:r>
              <a:rPr sz="1400"/>
              <a:t/>
            </a:r>
          </a:p>
          <a:p xmlns:a="http://schemas.openxmlformats.org/drawingml/2006/main">
            <a:r>
              <a:rPr sz="1400"/>
              <a:t>Bron: Boek 1, tweede editie 2026, gedrukte pagina 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komt de foutieve 43% ongeveer vandaan?</a:t>
            </a:r>
          </a:p>
          <a:p xmlns:a="http://schemas.openxmlformats.org/drawingml/2006/main">
            <a:r>
              <a:rPr sz="1400"/>
              <a:t/>
            </a:r>
          </a:p>
          <a:p xmlns:a="http://schemas.openxmlformats.org/drawingml/2006/main">
            <a:r>
              <a:rPr sz="1400"/>
              <a:t>Uitleg: De daling is 30 ten opzichte van 100. De procentuele verandering is daarom min 30 procent. De ongeveer 43 procent ontstaat bij 30 gedeeld door de nieuwe 70, maar dat is niet de gevraagde daling ten opzichte van oud. De conclusie blijft een modeluitkomst voor deze reserveringstabel.</a:t>
            </a:r>
          </a:p>
          <a:p xmlns:a="http://schemas.openxmlformats.org/drawingml/2006/main">
            <a:r>
              <a:rPr sz="1400"/>
              <a:t/>
            </a:r>
          </a:p>
          <a:p xmlns:a="http://schemas.openxmlformats.org/drawingml/2006/main">
            <a:r>
              <a:rPr sz="1400"/>
              <a:t>Misvatting: De verkeerde noemer kan een plausibel percentage opleveren.</a:t>
            </a:r>
          </a:p>
          <a:p xmlns:a="http://schemas.openxmlformats.org/drawingml/2006/main">
            <a:r>
              <a:rPr sz="1400"/>
              <a:t/>
            </a:r>
          </a:p>
          <a:p xmlns:a="http://schemas.openxmlformats.org/drawingml/2006/main">
            <a:r>
              <a:rPr sz="1400"/>
              <a:t>Overgang: Ga naar de onafhankelijke betaalregel van bron B.</a:t>
            </a:r>
          </a:p>
          <a:p xmlns:a="http://schemas.openxmlformats.org/drawingml/2006/main">
            <a:r>
              <a:rPr sz="1400"/>
              <a:t/>
            </a:r>
          </a:p>
          <a:p xmlns:a="http://schemas.openxmlformats.org/drawingml/2006/main">
            <a:r>
              <a:rPr sz="1400"/>
              <a:t>Bron: Boek 1, tweede editie 2026, gedrukte pagina 14, 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bewerking doe je als eerste?</a:t>
            </a:r>
          </a:p>
          <a:p xmlns:a="http://schemas.openxmlformats.org/drawingml/2006/main">
            <a:r>
              <a:rPr sz="1400"/>
              <a:t/>
            </a:r>
          </a:p>
          <a:p xmlns:a="http://schemas.openxmlformats.org/drawingml/2006/main">
            <a:r>
              <a:rPr sz="1400"/>
              <a:t>Uitleg: Vervang n door 6. Bereken eerst 2 maal 6 en tel daarna 8 op. Het resultaat is 20 euro. De eenheid van T is een totaalbedrag in euro, niet euro per lampje.</a:t>
            </a:r>
          </a:p>
          <a:p xmlns:a="http://schemas.openxmlformats.org/drawingml/2006/main">
            <a:r>
              <a:rPr sz="1400"/>
              <a:t/>
            </a:r>
          </a:p>
          <a:p xmlns:a="http://schemas.openxmlformats.org/drawingml/2006/main">
            <a:r>
              <a:rPr sz="1400"/>
              <a:t>Misvatting: Tel 8 en 2 niet eerst op.</a:t>
            </a:r>
          </a:p>
          <a:p xmlns:a="http://schemas.openxmlformats.org/drawingml/2006/main">
            <a:r>
              <a:rPr sz="1400"/>
              <a:t/>
            </a:r>
          </a:p>
          <a:p xmlns:a="http://schemas.openxmlformats.org/drawingml/2006/main">
            <a:r>
              <a:rPr sz="1400"/>
              <a:t>Overgang: Reken nu terug van het bedrag naar het aantal.</a:t>
            </a:r>
          </a:p>
          <a:p xmlns:a="http://schemas.openxmlformats.org/drawingml/2006/main">
            <a:r>
              <a:rPr sz="1400"/>
              <a:t/>
            </a:r>
          </a:p>
          <a:p xmlns:a="http://schemas.openxmlformats.org/drawingml/2006/main">
            <a:r>
              <a:rPr sz="1400"/>
              <a:t>Bron: Boek 1, tweede editie 2026, gedrukte pagina 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het antwoord in de oorspronkelijke formule?</a:t>
            </a:r>
          </a:p>
          <a:p xmlns:a="http://schemas.openxmlformats.org/drawingml/2006/main">
            <a:r>
              <a:rPr sz="1400"/>
              <a:t/>
            </a:r>
          </a:p>
          <a:p xmlns:a="http://schemas.openxmlformats.org/drawingml/2006/main">
            <a:r>
              <a:rPr sz="1400"/>
              <a:t>Uitleg: Laat iedere stap en dezelfde bewerking aan beide kanten zien. Trek 8 af, deel door 2. Het gevonden antwoord geeft na invullen weer 32 euro en valt binnen de geldige aantallen. Beide controles horen bij een volledig antwoord.</a:t>
            </a:r>
          </a:p>
          <a:p xmlns:a="http://schemas.openxmlformats.org/drawingml/2006/main">
            <a:r>
              <a:rPr sz="1400"/>
              <a:t/>
            </a:r>
          </a:p>
          <a:p xmlns:a="http://schemas.openxmlformats.org/drawingml/2006/main">
            <a:r>
              <a:rPr sz="1400"/>
              <a:t>Misvatting: Een juist rekenantwoord kan buiten het geldige bereik van de bron liggen; hier is dat niet zo.</a:t>
            </a:r>
          </a:p>
          <a:p xmlns:a="http://schemas.openxmlformats.org/drawingml/2006/main">
            <a:r>
              <a:rPr sz="1400"/>
              <a:t/>
            </a:r>
          </a:p>
          <a:p xmlns:a="http://schemas.openxmlformats.org/drawingml/2006/main">
            <a:r>
              <a:rPr sz="1400"/>
              <a:t>Overgang: Gebruik voor bron C de afstanden tussen posities.</a:t>
            </a:r>
          </a:p>
          <a:p xmlns:a="http://schemas.openxmlformats.org/drawingml/2006/main">
            <a:r>
              <a:rPr sz="1400"/>
              <a:t/>
            </a:r>
          </a:p>
          <a:p xmlns:a="http://schemas.openxmlformats.org/drawingml/2006/main">
            <a:r>
              <a:rPr sz="1400"/>
              <a:t>Bron: Boek 1, tweede editie 2026, gedrukte pagina 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hoogte niet 8 meter?</a:t>
            </a:r>
          </a:p>
          <a:p xmlns:a="http://schemas.openxmlformats.org/drawingml/2006/main">
            <a:r>
              <a:rPr sz="1400"/>
              <a:t/>
            </a:r>
          </a:p>
          <a:p xmlns:a="http://schemas.openxmlformats.org/drawingml/2006/main">
            <a:r>
              <a:rPr sz="1400"/>
              <a:t>Uitleg: Neem horizontaal het verschil 8 min 2 en verticaal 8 min 4. De rechthoek is 6 meter breed en 4 meter hoog. De oppervlakte is 24 vierkante meter. Wijs de gebruikte afstanden op de plattegrond aan.</a:t>
            </a:r>
          </a:p>
          <a:p xmlns:a="http://schemas.openxmlformats.org/drawingml/2006/main">
            <a:r>
              <a:rPr sz="1400"/>
              <a:t/>
            </a:r>
          </a:p>
          <a:p xmlns:a="http://schemas.openxmlformats.org/drawingml/2006/main">
            <a:r>
              <a:rPr sz="1400"/>
              <a:t>Misvatting: De vorm begint verticaal op 4 meter. Vermenigvuldig dus niet 6 met 8.</a:t>
            </a:r>
          </a:p>
          <a:p xmlns:a="http://schemas.openxmlformats.org/drawingml/2006/main">
            <a:r>
              <a:rPr sz="1400"/>
              <a:t/>
            </a:r>
          </a:p>
          <a:p xmlns:a="http://schemas.openxmlformats.org/drawingml/2006/main">
            <a:r>
              <a:rPr sz="1400"/>
              <a:t>Overgang: Gebruik voor de driehoek dezelfde afstanden.</a:t>
            </a:r>
          </a:p>
          <a:p xmlns:a="http://schemas.openxmlformats.org/drawingml/2006/main">
            <a:r>
              <a:rPr sz="1400"/>
              <a:t/>
            </a:r>
          </a:p>
          <a:p xmlns:a="http://schemas.openxmlformats.org/drawingml/2006/main">
            <a:r>
              <a:rPr sz="1400"/>
              <a:t>Bron: Boek 1, tweede editie 2026, gedrukte pagina 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zijde staat loodrecht op de basis?</a:t>
            </a:r>
          </a:p>
          <a:p xmlns:a="http://schemas.openxmlformats.org/drawingml/2006/main">
            <a:r>
              <a:rPr sz="1400"/>
              <a:t/>
            </a:r>
          </a:p>
          <a:p xmlns:a="http://schemas.openxmlformats.org/drawingml/2006/main">
            <a:r>
              <a:rPr sz="1400"/>
              <a:t>Uitleg: De driehoek gebruikt dezelfde horizontale basis van 6 en dezelfde loodrechte hoogte van 4 als de rechthoek. Met de factor een half ontstaat 12 vierkante meter. Controle: het resultaat is de helft van 24.</a:t>
            </a:r>
          </a:p>
          <a:p xmlns:a="http://schemas.openxmlformats.org/drawingml/2006/main">
            <a:r>
              <a:rPr sz="1400"/>
              <a:t/>
            </a:r>
          </a:p>
          <a:p xmlns:a="http://schemas.openxmlformats.org/drawingml/2006/main">
            <a:r>
              <a:rPr sz="1400"/>
              <a:t>Misvatting: Gebruik niet de schuine zijde als hoogte.</a:t>
            </a:r>
          </a:p>
          <a:p xmlns:a="http://schemas.openxmlformats.org/drawingml/2006/main">
            <a:r>
              <a:rPr sz="1400"/>
              <a:t/>
            </a:r>
          </a:p>
          <a:p xmlns:a="http://schemas.openxmlformats.org/drawingml/2006/main">
            <a:r>
              <a:rPr sz="1400"/>
              <a:t>Overgang: Laat leerlingen ontbrekende stappen in hun eigen werk herstellen.</a:t>
            </a:r>
          </a:p>
          <a:p xmlns:a="http://schemas.openxmlformats.org/drawingml/2006/main">
            <a:r>
              <a:rPr sz="1400"/>
              <a:t/>
            </a:r>
          </a:p>
          <a:p xmlns:a="http://schemas.openxmlformats.org/drawingml/2006/main">
            <a:r>
              <a:rPr sz="1400"/>
              <a:t>Bron: Boek 1, tweede editie 2026, gedrukte pagina 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voeg je nog toe?</a:t>
            </a:r>
          </a:p>
          <a:p xmlns:a="http://schemas.openxmlformats.org/drawingml/2006/main">
            <a:r>
              <a:rPr sz="1400"/>
              <a:t/>
            </a:r>
          </a:p>
          <a:p xmlns:a="http://schemas.openxmlformats.org/drawingml/2006/main">
            <a:r>
              <a:rPr sz="1400"/>
              <a:t>Uitleg: Laat leerlingen hun uitwerking vergelijken met de volledige bespreking. Antwoorden: a (100;2), (70;5), (40;8); b 80 reserveringen per middag; c daling 30%; d 20 euro; e 12 lampjes met controle; f 24 m²; g 12 m². Vraag herstel van de berekening of verklaring, niet alleen het overschrijven van een eindgetal.</a:t>
            </a:r>
          </a:p>
          <a:p xmlns:a="http://schemas.openxmlformats.org/drawingml/2006/main">
            <a:r>
              <a:rPr sz="1400"/>
              <a:t/>
            </a:r>
          </a:p>
          <a:p xmlns:a="http://schemas.openxmlformats.org/drawingml/2006/main">
            <a:r>
              <a:rPr sz="1400"/>
              <a:t>Misvatting: Een getal zonder eenheid of gevraagde redenering is geen volledig antwoord.</a:t>
            </a:r>
          </a:p>
          <a:p xmlns:a="http://schemas.openxmlformats.org/drawingml/2006/main">
            <a:r>
              <a:rPr sz="1400"/>
              <a:t/>
            </a:r>
          </a:p>
          <a:p xmlns:a="http://schemas.openxmlformats.org/drawingml/2006/main">
            <a:r>
              <a:rPr sz="1400"/>
              <a:t>Overgang: Toon het identieke overzicht voor de agenda.</a:t>
            </a:r>
          </a:p>
          <a:p xmlns:a="http://schemas.openxmlformats.org/drawingml/2006/main">
            <a:r>
              <a:rPr sz="1400"/>
              <a:t/>
            </a:r>
          </a:p>
          <a:p xmlns:a="http://schemas.openxmlformats.org/drawingml/2006/main">
            <a:r>
              <a:rPr sz="1400"/>
              <a:t>Bron: Boek 1, tweede editie 2026, gedrukte pagina 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hoort bij de eerste coördinaat?</a:t>
            </a:r>
          </a:p>
          <a:p xmlns:a="http://schemas.openxmlformats.org/drawingml/2006/main">
            <a:r>
              <a:rPr sz="1400"/>
              <a:t/>
            </a:r>
          </a:p>
          <a:p xmlns:a="http://schemas.openxmlformats.org/drawingml/2006/main">
            <a:r>
              <a:rPr sz="1400"/>
              <a:t>Uitleg: Laat het overzicht staan tijdens afsluiting / huiswerk. Start: 22–23 op p. 32. Basis: 24 op p. 32, 25–26 op p. 33. Zelfstandig: 27 op p. 34, 28–29 op p. 35. Doel: 30 op p. 36. Huiswerk: 24, 25, 26, 27, 28, 29 en 30 maken en nakijken. Bonus 31 en herhaling 32–33 zijn niet toegewezen. De complete route mag meerdere lesmomenten beslaan.</a:t>
            </a:r>
          </a:p>
          <a:p xmlns:a="http://schemas.openxmlformats.org/drawingml/2006/main">
            <a:r>
              <a:rPr sz="1400"/>
              <a:t/>
            </a:r>
          </a:p>
          <a:p xmlns:a="http://schemas.openxmlformats.org/drawingml/2006/main">
            <a:r>
              <a:rPr sz="1400"/>
              <a:t>Voorkennis: 22a geeft aftrekken en delen expliciet in de opdracht; 22b gebruikt de procentuele verandering die op p. 14 is onderwezen. Controleer bij 22b de oude waarde als noemer. Opgave 23 is verkennend: de volgorde van coördinaten en het verschil tussen een prijs–hoeveelheidsgrafiek en een tijdreeks zijn nieuwe handelingen. Laat leerlingen bij 23 de uitleg en figuren op p. 24–25 gebruiken, vooral horizontale waarde eerst en het kader over tijdreeksen. Laat ze de gebruikte steun aanwijzen en hun twijfel noteren. Vraag nog geen onbegeleide beheersing.</a:t>
            </a:r>
          </a:p>
          <a:p xmlns:a="http://schemas.openxmlformats.org/drawingml/2006/main">
            <a:r>
              <a:rPr sz="1400"/>
              <a:t/>
            </a:r>
          </a:p>
          <a:p xmlns:a="http://schemas.openxmlformats.org/drawingml/2006/main">
            <a:r>
              <a:rPr sz="1400"/>
              <a:t>Bij terugkeer vóór het basiswerk: laat 23 opnieuw proberen, bespreek welke grootheid horizontaal staat en waarom, en herstel eventuele verwarring. De opgaven beginnen pas na die terugkeer. Houd liniaal en ruitjespapier klaar.</a:t>
            </a:r>
          </a:p>
          <a:p xmlns:a="http://schemas.openxmlformats.org/drawingml/2006/main">
            <a:r>
              <a:rPr sz="1400"/>
              <a:t/>
            </a:r>
          </a:p>
          <a:p xmlns:a="http://schemas.openxmlformats.org/drawingml/2006/main">
            <a:r>
              <a:rPr sz="1400"/>
              <a:t>Misvatting: Een gemaakte startopgave bewijst nog geen duurzame beheersing.</a:t>
            </a:r>
          </a:p>
          <a:p xmlns:a="http://schemas.openxmlformats.org/drawingml/2006/main">
            <a:r>
              <a:rPr sz="1400"/>
              <a:t/>
            </a:r>
          </a:p>
          <a:p xmlns:a="http://schemas.openxmlformats.org/drawingml/2006/main">
            <a:r>
              <a:rPr sz="1400"/>
              <a:t>Overgang: Startfase: begin met het eigen uitlegvoorbeeld. Oefenfase: basis 24–26. Afsluiting: noteer het resterende huiswerk.</a:t>
            </a:r>
          </a:p>
          <a:p xmlns:a="http://schemas.openxmlformats.org/drawingml/2006/main">
            <a:r>
              <a:rPr sz="1400"/>
              <a:t/>
            </a:r>
          </a:p>
          <a:p xmlns:a="http://schemas.openxmlformats.org/drawingml/2006/main">
            <a:r>
              <a:rPr sz="1400"/>
              <a:t>Bron: Boek 1, tweede editie 2026, gedrukte pagina 24–25, 32–36 van het complete leerlingenboek. https://github.com/meijer1973/4veco-lessen/blob/173aa9a803897965c572df2c4e7f83cdb135eb1c/Boek%201%20-%20Grondslagen%2C%20vraag%20en%20aanbod/edities/tweede-editie-2026/boek/Boek_1_Compleet_Tweede_editie.pdf</a:t>
            </a:r>
          </a:p>
          <a:p xmlns:a="http://schemas.openxmlformats.org/drawingml/2006/main">
            <a:r>
              <a:rPr sz="1400"/>
              <a:t>Lesbron: https://github.com/meijer1973/4veco-lessen/blob/173aa9a803897965c572df2c4e7f83cdb135eb1c/Boek%201%20-%20Grondslagen%2C%20vraag%20en%20aanbod/edities/tweede-editie-2026/bronnen/H1/1.1.3%20Tabellen%2C%20grafieken%20en%20formules%20%E2%80%93%20paragraaf.md</a:t>
            </a:r>
          </a:p>
          <a:p xmlns:a="http://schemas.openxmlformats.org/drawingml/2006/main">
            <a:r>
              <a:rPr sz="1400"/>
              <a:t>Antwoordmodel: https://github.com/meijer1973/4veco-lessen/blob/173aa9a803897965c572df2c4e7f83cdb135eb1c/Boek%201%20-%20Grondslagen%2C%20vraag%20en%20aanbod/edities/tweede-editie-2026/bronnen/H1/Antwoorden.md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029bd01a8841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2b5707cc514045" /><Relationship Type="http://schemas.openxmlformats.org/officeDocument/2006/relationships/slideLayout" Target="/ppt/slideLayouts/slideLayout1.xml" Id="R6a03511a567343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03511a567343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642c7b0f644b74" /><Relationship Type="http://schemas.openxmlformats.org/officeDocument/2006/relationships/notesSlide" Target="/ppt/notesSlides/notesSlide1.xml" Id="R01d5df9c0b5944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b5140850e24c2a" /><Relationship Type="http://schemas.openxmlformats.org/officeDocument/2006/relationships/notesSlide" Target="/ppt/notesSlides/notesSlide2.xml" Id="Reb76c5fdc81045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3e28f8a1c14a2c" /><Relationship Type="http://schemas.openxmlformats.org/officeDocument/2006/relationships/chart" Target="/ppt/slides/charts/chart1.xml" Id="R91dfd4d14c3e4ed6" /><Relationship Type="http://schemas.openxmlformats.org/officeDocument/2006/relationships/notesSlide" Target="/ppt/notesSlides/notesSlide3.xml" Id="R5cb46a5ac3b64d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4e2a2588b24722" /><Relationship Type="http://schemas.openxmlformats.org/officeDocument/2006/relationships/chart" Target="/ppt/slides/charts/chart2.xml" Id="R3d84ec54024743e6" /><Relationship Type="http://schemas.openxmlformats.org/officeDocument/2006/relationships/notesSlide" Target="/ppt/notesSlides/notesSlide4.xml" Id="R9fef8cfa44df49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d43cdcf04a499c" /><Relationship Type="http://schemas.openxmlformats.org/officeDocument/2006/relationships/chart" Target="/ppt/slides/charts/chart3.xml" Id="R9ab2e9036c35402b" /><Relationship Type="http://schemas.openxmlformats.org/officeDocument/2006/relationships/notesSlide" Target="/ppt/notesSlides/notesSlide5.xml" Id="Rc3ae7b70ac0746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1660c290184fae" /><Relationship Type="http://schemas.openxmlformats.org/officeDocument/2006/relationships/chart" Target="/ppt/slides/charts/chart4.xml" Id="R095af8401e414f52" /><Relationship Type="http://schemas.openxmlformats.org/officeDocument/2006/relationships/notesSlide" Target="/ppt/notesSlides/notesSlide6.xml" Id="R1dc3c249d99746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91afa38fa94a5d" /><Relationship Type="http://schemas.openxmlformats.org/officeDocument/2006/relationships/notesSlide" Target="/ppt/notesSlides/notesSlide7.xml" Id="R860106b796e441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e17f2032621426c" /><Relationship Type="http://schemas.openxmlformats.org/officeDocument/2006/relationships/notesSlide" Target="/ppt/notesSlides/notesSlide8.xml" Id="Rdc0b8f85e34948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c98ad71130d4f57" /><Relationship Type="http://schemas.openxmlformats.org/officeDocument/2006/relationships/notesSlide" Target="/ppt/notesSlides/notesSlide9.xml" Id="Rbcb6d2058f874a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6e6cd290ca4a7d" /><Relationship Type="http://schemas.openxmlformats.org/officeDocument/2006/relationships/notesSlide" Target="/ppt/notesSlides/notesSlide10.xml" Id="R3231e224642143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c75a4044b924d85" /><Relationship Type="http://schemas.openxmlformats.org/officeDocument/2006/relationships/notesSlide" Target="/ppt/notesSlides/notesSlide11.xml" Id="Refa2f9a9d9104b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44a46c97cb240cb" /><Relationship Type="http://schemas.openxmlformats.org/officeDocument/2006/relationships/notesSlide" Target="/ppt/notesSlides/notesSlide12.xml" Id="Rf22a966592a645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4a485ad3df24754" /><Relationship Type="http://schemas.openxmlformats.org/officeDocument/2006/relationships/chart" Target="/ppt/slides/charts/chart5.xml" Id="R636a39e3f8984458" /><Relationship Type="http://schemas.openxmlformats.org/officeDocument/2006/relationships/notesSlide" Target="/ppt/notesSlides/notesSlide13.xml" Id="Re74963829a3c41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711fb18f90b49e4" /><Relationship Type="http://schemas.openxmlformats.org/officeDocument/2006/relationships/notesSlide" Target="/ppt/notesSlides/notesSlide14.xml" Id="Raf40b80f92be43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2b04d78842c44bc" /><Relationship Type="http://schemas.openxmlformats.org/officeDocument/2006/relationships/notesSlide" Target="/ppt/notesSlides/notesSlide15.xml" Id="R07c6fc8762f443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0d595b397884d58" /><Relationship Type="http://schemas.openxmlformats.org/officeDocument/2006/relationships/notesSlide" Target="/ppt/notesSlides/notesSlide16.xml" Id="Rf197cc4d11724f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0850d200de24fe3" /><Relationship Type="http://schemas.openxmlformats.org/officeDocument/2006/relationships/notesSlide" Target="/ppt/notesSlides/notesSlide17.xml" Id="Rea5e377f721e47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53ef29f9ab4c71" /><Relationship Type="http://schemas.openxmlformats.org/officeDocument/2006/relationships/notesSlide" Target="/ppt/notesSlides/notesSlide18.xml" Id="Recabb9b8305441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8756a41874148a8" /><Relationship Type="http://schemas.openxmlformats.org/officeDocument/2006/relationships/notesSlide" Target="/ppt/notesSlides/notesSlide19.xml" Id="R3f7cefdee80b45a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e161abec79a47c7" /><Relationship Type="http://schemas.openxmlformats.org/officeDocument/2006/relationships/notesSlide" Target="/ppt/notesSlides/notesSlide20.xml" Id="R313cf48ca24a4a7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0bd5d952b174b54" /><Relationship Type="http://schemas.openxmlformats.org/officeDocument/2006/relationships/chart" Target="/ppt/slides/charts/chart6.xml" Id="R7dc674e508d24732" /><Relationship Type="http://schemas.openxmlformats.org/officeDocument/2006/relationships/notesSlide" Target="/ppt/notesSlides/notesSlide21.xml" Id="R00be6cbb7aa343b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c3ac1317c2445ef" /><Relationship Type="http://schemas.openxmlformats.org/officeDocument/2006/relationships/chart" Target="/ppt/slides/charts/chart7.xml" Id="R9acd03efcf844627" /><Relationship Type="http://schemas.openxmlformats.org/officeDocument/2006/relationships/notesSlide" Target="/ppt/notesSlides/notesSlide22.xml" Id="R0063835e7b18470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8d32b0a3eec494b" /><Relationship Type="http://schemas.openxmlformats.org/officeDocument/2006/relationships/notesSlide" Target="/ppt/notesSlides/notesSlide23.xml" Id="Rd07fac81503645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cff6dd030d643a0" /><Relationship Type="http://schemas.openxmlformats.org/officeDocument/2006/relationships/notesSlide" Target="/ppt/notesSlides/notesSlide24.xml" Id="Rdfc7d575aeb1490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c3aec57625241de" /><Relationship Type="http://schemas.openxmlformats.org/officeDocument/2006/relationships/notesSlide" Target="/ppt/notesSlides/notesSlide25.xml" Id="R470dd77315784b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2c04cbf27c34058" /><Relationship Type="http://schemas.openxmlformats.org/officeDocument/2006/relationships/notesSlide" Target="/ppt/notesSlides/notesSlide26.xml" Id="R924ceb30892f49e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76ab6cb788c40e1" /><Relationship Type="http://schemas.openxmlformats.org/officeDocument/2006/relationships/notesSlide" Target="/ppt/notesSlides/notesSlide27.xml" Id="R76588607b91b4ef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7cde12d68f24e21" /><Relationship Type="http://schemas.openxmlformats.org/officeDocument/2006/relationships/notesSlide" Target="/ppt/notesSlides/notesSlide28.xml" Id="R999faaabe34840c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c1e5c8b48bb4463" /><Relationship Type="http://schemas.openxmlformats.org/officeDocument/2006/relationships/notesSlide" Target="/ppt/notesSlides/notesSlide29.xml" Id="R85d4a4b5d5534dc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Assenframe</c:v>
          </c:tx>
          <c:spPr>
            <a:ln xmlns:a="http://schemas.openxmlformats.org/drawingml/2006/main" w="0">
              <a:solidFill>
                <a:srgbClr val="FFFFFF"/>
              </a:solidFill>
            </a:ln>
          </c:spPr>
          <c:marker>
            <c:symbol val="none"/>
            <c:size val="8"/>
          </c:marker>
          <c:xVal>
            <c:numRef>
              <c:f>'Chart Data'!$A$2:$A$3</c:f>
              <c:numCache>
                <c:formatCode>General</c:formatCode>
                <c:ptCount val="2"/>
                <c:pt idx="0">
                  <c:v>0</c:v>
                </c:pt>
                <c:pt idx="1">
                  <c:v>200</c:v>
                </c:pt>
              </c:numCache>
            </c:numRef>
          </c:xVal>
          <c:yVal>
            <c:numRef>
              <c:f>'Chart Data'!$B$2:$B$3</c:f>
              <c:numCache>
                <c:formatCode>0</c:formatCode>
                <c:ptCount val="2"/>
                <c:pt idx="0">
                  <c:v>0</c:v>
                </c:pt>
                <c:pt idx="1">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reservering)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200"/>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(reserveringen per middag)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Punt (180; 3)</c:v>
          </c:tx>
          <c:spPr>
            <a:solidFill xmlns:a="http://schemas.openxmlformats.org/drawingml/2006/main">
              <a:srgbClr val="17658A"/>
            </a:solidFill>
            <a:ln xmlns:a="http://schemas.openxmlformats.org/drawingml/2006/main" w="9525">
              <a:solidFill>
                <a:srgbClr val="17658A"/>
              </a:solidFill>
            </a:ln>
          </c:spPr>
          <c:marker>
            <c:symbol val="circle"/>
            <c:size val="8"/>
            <c:spPr>
              <a:solidFill xmlns:a="http://schemas.openxmlformats.org/drawingml/2006/main">
                <a:srgbClr val="17658A"/>
              </a:solidFill>
            </c:spPr>
          </c:marker>
          <c:xVal>
            <c:numRef>
              <c:f>'Chart Data'!$A$2:$A$2</c:f>
              <c:numCache>
                <c:formatCode>General</c:formatCode>
                <c:ptCount val="1"/>
                <c:pt idx="0">
                  <c:v>180</c:v>
                </c:pt>
              </c:numCache>
            </c:numRef>
          </c:xVal>
          <c:yVal>
            <c:numRef>
              <c:f>'Chart Data'!$B$2:$B$2</c:f>
              <c:numCache>
                <c:formatCode>0</c:formatCode>
                <c:ptCount val="1"/>
                <c:pt idx="0">
                  <c:v>3</c:v>
                </c:pt>
              </c:numCache>
            </c:numRef>
          </c:yVal>
        </c:ser>
        <c:ser>
          <c:idx val="1"/>
          <c:order val="1"/>
          <c:tx>
            <c:v>Punt (140; 7)</c:v>
          </c:tx>
          <c:spPr>
            <a:solidFill xmlns:a="http://schemas.openxmlformats.org/drawingml/2006/main">
              <a:srgbClr val="17658A"/>
            </a:solidFill>
            <a:ln xmlns:a="http://schemas.openxmlformats.org/drawingml/2006/main" w="9525">
              <a:solidFill>
                <a:srgbClr val="17658A"/>
              </a:solidFill>
            </a:ln>
          </c:spPr>
          <c:marker>
            <c:symbol val="circle"/>
            <c:size val="8"/>
            <c:spPr>
              <a:solidFill xmlns:a="http://schemas.openxmlformats.org/drawingml/2006/main">
                <a:srgbClr val="17658A"/>
              </a:solidFill>
            </c:spPr>
          </c:marker>
          <c:xVal>
            <c:numRef>
              <c:f>'Chart Data'!$C$2:$C$2</c:f>
              <c:numCache>
                <c:formatCode>General</c:formatCode>
                <c:ptCount val="1"/>
                <c:pt idx="0">
                  <c:v>140</c:v>
                </c:pt>
              </c:numCache>
            </c:numRef>
          </c:xVal>
          <c:yVal>
            <c:numRef>
              <c:f>'Chart Data'!$D$2:$D$2</c:f>
              <c:numCache>
                <c:formatCode>0</c:formatCode>
                <c:ptCount val="1"/>
                <c:pt idx="0">
                  <c:v>7</c:v>
                </c:pt>
              </c:numCache>
            </c:numRef>
          </c:yVal>
        </c:ser>
        <c:ser>
          <c:idx val="2"/>
          <c:order val="2"/>
          <c:tx>
            <c:v>Punt (100; 11)</c:v>
          </c:tx>
          <c:spPr>
            <a:solidFill xmlns:a="http://schemas.openxmlformats.org/drawingml/2006/main">
              <a:srgbClr val="17658A"/>
            </a:solidFill>
            <a:ln xmlns:a="http://schemas.openxmlformats.org/drawingml/2006/main" w="9525">
              <a:solidFill>
                <a:srgbClr val="17658A"/>
              </a:solidFill>
            </a:ln>
          </c:spPr>
          <c:marker>
            <c:symbol val="circle"/>
            <c:size val="8"/>
            <c:spPr>
              <a:solidFill xmlns:a="http://schemas.openxmlformats.org/drawingml/2006/main">
                <a:srgbClr val="17658A"/>
              </a:solidFill>
            </c:spPr>
          </c:marker>
          <c:xVal>
            <c:numRef>
              <c:f>'Chart Data'!$E$2:$E$2</c:f>
              <c:numCache>
                <c:formatCode>General</c:formatCode>
                <c:ptCount val="1"/>
                <c:pt idx="0">
                  <c:v>100</c:v>
                </c:pt>
              </c:numCache>
            </c:numRef>
          </c:xVal>
          <c:yVal>
            <c:numRef>
              <c:f>'Chart Data'!$F$2:$F$2</c:f>
              <c:numCache>
                <c:formatCode>0</c:formatCode>
                <c:ptCount val="1"/>
                <c:pt idx="0">
                  <c:v>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reservering)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200"/>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(reserveringen per middag)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Gegeven model</c:v>
          </c:tx>
          <c:spPr>
            <a:ln xmlns:a="http://schemas.openxmlformats.org/drawingml/2006/main" w="38100">
              <a:solidFill>
                <a:srgbClr val="17658A"/>
              </a:solidFill>
            </a:ln>
          </c:spPr>
          <c:marker>
            <c:symbol val="circle"/>
            <c:size val="8"/>
            <c:spPr>
              <a:solidFill xmlns:a="http://schemas.openxmlformats.org/drawingml/2006/main">
                <a:srgbClr val="17658A"/>
              </a:solidFill>
            </c:spPr>
          </c:marker>
          <c:xVal>
            <c:numRef>
              <c:f>'Chart Data'!$A$2:$A$4</c:f>
              <c:numCache>
                <c:formatCode>General</c:formatCode>
                <c:ptCount val="3"/>
                <c:pt idx="0">
                  <c:v>180</c:v>
                </c:pt>
                <c:pt idx="1">
                  <c:v>140</c:v>
                </c:pt>
                <c:pt idx="2">
                  <c:v>100</c:v>
                </c:pt>
              </c:numCache>
            </c:numRef>
          </c:xVal>
          <c:yVal>
            <c:numRef>
              <c:f>'Chart Data'!$B$2:$B$4</c:f>
              <c:numCache>
                <c:formatCode>0</c:formatCode>
                <c:ptCount val="3"/>
                <c:pt idx="0">
                  <c:v>3</c:v>
                </c:pt>
                <c:pt idx="1">
                  <c:v>7</c:v>
                </c:pt>
                <c:pt idx="2">
                  <c:v>11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reservering)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200"/>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(reserveringen per middag)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Gegeven model</c:v>
          </c:tx>
          <c:spPr>
            <a:ln xmlns:a="http://schemas.openxmlformats.org/drawingml/2006/main" w="38100">
              <a:solidFill>
                <a:srgbClr val="17658A"/>
              </a:solidFill>
            </a:ln>
          </c:spPr>
          <c:marker>
            <c:symbol val="circle"/>
            <c:size val="8"/>
            <c:spPr>
              <a:solidFill xmlns:a="http://schemas.openxmlformats.org/drawingml/2006/main">
                <a:srgbClr val="17658A"/>
              </a:solidFill>
            </c:spPr>
          </c:marker>
          <c:xVal>
            <c:numRef>
              <c:f>'Chart Data'!$A$2:$A$4</c:f>
              <c:numCache>
                <c:formatCode>General</c:formatCode>
                <c:ptCount val="3"/>
                <c:pt idx="0">
                  <c:v>180</c:v>
                </c:pt>
                <c:pt idx="1">
                  <c:v>140</c:v>
                </c:pt>
                <c:pt idx="2">
                  <c:v>100</c:v>
                </c:pt>
              </c:numCache>
            </c:numRef>
          </c:xVal>
          <c:yVal>
            <c:numRef>
              <c:f>'Chart Data'!$B$2:$B$4</c:f>
              <c:numCache>
                <c:formatCode>0</c:formatCode>
                <c:ptCount val="3"/>
                <c:pt idx="0">
                  <c:v>3</c:v>
                </c:pt>
                <c:pt idx="1">
                  <c:v>7</c:v>
                </c:pt>
                <c:pt idx="2">
                  <c:v>11</c:v>
                </c:pt>
              </c:numCache>
            </c:numRef>
          </c:yVal>
          <c:smooth val="0"/>
        </c:ser>
        <c:ser>
          <c:idx val="1"/>
          <c:order val="1"/>
          <c:tx>
            <c:v>Afleeshulp</c:v>
          </c:tx>
          <c:spPr>
            <a:ln xmlns:a="http://schemas.openxmlformats.org/drawingml/2006/main" w="19050">
              <a:solidFill>
                <a:srgbClr val="A94D16"/>
              </a:solidFill>
              <a:prstDash val="dash"/>
            </a:ln>
          </c:spPr>
          <c:marker>
            <c:symbol val="none"/>
            <c:size val="4"/>
          </c:marker>
          <c:xVal>
            <c:numRef>
              <c:f>'Chart Data'!$C$2:$C$4</c:f>
              <c:numCache>
                <c:formatCode>General</c:formatCode>
                <c:ptCount val="3"/>
                <c:pt idx="0">
                  <c:v>0</c:v>
                </c:pt>
                <c:pt idx="1">
                  <c:v>150</c:v>
                </c:pt>
                <c:pt idx="2">
                  <c:v>150</c:v>
                </c:pt>
              </c:numCache>
            </c:numRef>
          </c:xVal>
          <c:yVal>
            <c:numRef>
              <c:f>'Chart Data'!$D$2:$D$4</c:f>
              <c:numCache>
                <c:formatCode>0</c:formatCode>
                <c:ptCount val="3"/>
                <c:pt idx="0">
                  <c:v>6</c:v>
                </c:pt>
                <c:pt idx="1">
                  <c:v>6</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reservering)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200"/>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(reserveringen per middag)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Inschrijvingen</c:v>
          </c:tx>
          <c:spPr>
            <a:ln xmlns:a="http://schemas.openxmlformats.org/drawingml/2006/main" w="38100">
              <a:solidFill>
                <a:srgbClr val="17658A"/>
              </a:solidFill>
            </a:ln>
          </c:spPr>
          <c:marker>
            <c:symbol val="circle"/>
            <c:size val="8"/>
            <c:spPr>
              <a:solidFill xmlns:a="http://schemas.openxmlformats.org/drawingml/2006/main">
                <a:srgbClr val="17658A"/>
              </a:solidFill>
            </c:spPr>
          </c:marker>
          <c:xVal>
            <c:numRef>
              <c:f>'Chart Data'!$A$2:$A$4</c:f>
              <c:numCache>
                <c:formatCode>General</c:formatCode>
                <c:ptCount val="3"/>
                <c:pt idx="0">
                  <c:v>1</c:v>
                </c:pt>
                <c:pt idx="1">
                  <c:v>4</c:v>
                </c:pt>
                <c:pt idx="2">
                  <c:v>6</c:v>
                </c:pt>
              </c:numCache>
            </c:numRef>
          </c:xVal>
          <c:yVal>
            <c:numRef>
              <c:f>'Chart Data'!$B$2:$B$4</c:f>
              <c:numCache>
                <c:formatCode>0</c:formatCode>
                <c:ptCount val="3"/>
                <c:pt idx="0">
                  <c:v>12</c:v>
                </c:pt>
                <c:pt idx="1">
                  <c:v>30</c:v>
                </c:pt>
                <c:pt idx="2">
                  <c:v>42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Totaal aantal inschrijvingen</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2"/>
      </c:valAx>
      <c:valAx>
        <c:axId val="48650112"/>
        <c:scaling>
          <c:orientation val="minMax"/>
          <c:max val="6"/>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Dag 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Gegeven model</c:v>
          </c:tx>
          <c:spPr>
            <a:ln xmlns:a="http://schemas.openxmlformats.org/drawingml/2006/main" w="38100">
              <a:solidFill>
                <a:srgbClr val="17658A"/>
              </a:solidFill>
            </a:ln>
          </c:spPr>
          <c:marker>
            <c:symbol val="circle"/>
            <c:size val="8"/>
            <c:spPr>
              <a:solidFill xmlns:a="http://schemas.openxmlformats.org/drawingml/2006/main">
                <a:srgbClr val="17658A"/>
              </a:solidFill>
            </c:spPr>
          </c:marker>
          <c:xVal>
            <c:numRef>
              <c:f>'Chart Data'!$A$2:$A$4</c:f>
              <c:numCache>
                <c:formatCode>General</c:formatCode>
                <c:ptCount val="3"/>
                <c:pt idx="0">
                  <c:v>100</c:v>
                </c:pt>
                <c:pt idx="1">
                  <c:v>70</c:v>
                </c:pt>
                <c:pt idx="2">
                  <c:v>40</c:v>
                </c:pt>
              </c:numCache>
            </c:numRef>
          </c:xVal>
          <c:yVal>
            <c:numRef>
              <c:f>'Chart Data'!$B$2:$B$4</c:f>
              <c:numCache>
                <c:formatCode>0</c:formatCode>
                <c:ptCount val="3"/>
                <c:pt idx="0">
                  <c:v>2</c:v>
                </c:pt>
                <c:pt idx="1">
                  <c:v>5</c:v>
                </c:pt>
                <c:pt idx="2">
                  <c:v>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reservering)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120"/>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(reserveringen per middag)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Marker"/>
        <c:ser>
          <c:idx val="0"/>
          <c:order val="0"/>
          <c:tx>
            <c:v>Gegeven model</c:v>
          </c:tx>
          <c:spPr>
            <a:ln xmlns:a="http://schemas.openxmlformats.org/drawingml/2006/main" w="38100">
              <a:solidFill>
                <a:srgbClr val="17658A"/>
              </a:solidFill>
            </a:ln>
          </c:spPr>
          <c:marker>
            <c:symbol val="circle"/>
            <c:size val="8"/>
            <c:spPr>
              <a:solidFill xmlns:a="http://schemas.openxmlformats.org/drawingml/2006/main">
                <a:srgbClr val="17658A"/>
              </a:solidFill>
            </c:spPr>
          </c:marker>
          <c:xVal>
            <c:numRef>
              <c:f>'Chart Data'!$A$2:$A$4</c:f>
              <c:numCache>
                <c:formatCode>General</c:formatCode>
                <c:ptCount val="3"/>
                <c:pt idx="0">
                  <c:v>100</c:v>
                </c:pt>
                <c:pt idx="1">
                  <c:v>70</c:v>
                </c:pt>
                <c:pt idx="2">
                  <c:v>40</c:v>
                </c:pt>
              </c:numCache>
            </c:numRef>
          </c:xVal>
          <c:yVal>
            <c:numRef>
              <c:f>'Chart Data'!$B$2:$B$4</c:f>
              <c:numCache>
                <c:formatCode>0</c:formatCode>
                <c:ptCount val="3"/>
                <c:pt idx="0">
                  <c:v>2</c:v>
                </c:pt>
                <c:pt idx="1">
                  <c:v>5</c:v>
                </c:pt>
                <c:pt idx="2">
                  <c:v>8</c:v>
                </c:pt>
              </c:numCache>
            </c:numRef>
          </c:yVal>
          <c:smooth val="0"/>
        </c:ser>
        <c:ser>
          <c:idx val="1"/>
          <c:order val="1"/>
          <c:tx>
            <c:v>Afleeshulp</c:v>
          </c:tx>
          <c:spPr>
            <a:ln xmlns:a="http://schemas.openxmlformats.org/drawingml/2006/main" w="19050">
              <a:solidFill>
                <a:srgbClr val="A94D16"/>
              </a:solidFill>
              <a:prstDash val="dash"/>
            </a:ln>
          </c:spPr>
          <c:marker>
            <c:symbol val="none"/>
            <c:size val="4"/>
          </c:marker>
          <c:xVal>
            <c:numRef>
              <c:f>'Chart Data'!$C$2:$C$4</c:f>
              <c:numCache>
                <c:formatCode>General</c:formatCode>
                <c:ptCount val="3"/>
                <c:pt idx="0">
                  <c:v>0</c:v>
                </c:pt>
                <c:pt idx="1">
                  <c:v>80</c:v>
                </c:pt>
                <c:pt idx="2">
                  <c:v>80</c:v>
                </c:pt>
              </c:numCache>
            </c:numRef>
          </c:xVal>
          <c:yVal>
            <c:numRef>
              <c:f>'Chart Data'!$D$2:$D$4</c:f>
              <c:numCache>
                <c:formatCode>0</c:formatCode>
                <c:ptCount val="3"/>
                <c:pt idx="0">
                  <c:v>4</c:v>
                </c:pt>
                <c:pt idx="1">
                  <c:v>4</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reservering)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120"/>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(reserveringen per middag)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1.3 Tabellen, grafieken en formules">
            <a:extLst xmlns:a="http://schemas.openxmlformats.org/drawingml/2006/main">
              <a:ext uri="{FF2B5EF4-FFF2-40B4-BE49-F238E27FC236}">
                <a16:creationId xmlns:a16="http://schemas.microsoft.com/office/drawing/2014/main" id="{149A5F25-531B-49EF-AF7B-E3232187A288}"/>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§1.1.3 Tabellen, grafieken en formules</a:t>
            </a:r>
          </a:p>
        </p:txBody>
      </p:sp>
      <p:sp>
        <p:nvSpPr>
          <p:cNvPr id="2" name="">
            <a:extLst xmlns:a="http://schemas.openxmlformats.org/drawingml/2006/main">
              <a:ext uri="{FF2B5EF4-FFF2-40B4-BE49-F238E27FC236}">
                <a16:creationId xmlns:a16="http://schemas.microsoft.com/office/drawing/2014/main" id="{29F8B3B2-7513-4BEA-BCAD-80B12CB2F91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BF2C18E0-7552-471F-9B8D-A010E38CBD4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ABB393CA-4ABC-4F86-B619-A997001688B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B549DDD1-A150-47A6-99E6-B2F4127BFF40}"/>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71898096-11D9-4FA5-A567-E8B995AF071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BEEE7D9B-78DB-4DD4-B5CE-5624A362D799}"/>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6F183375-F6EC-4D30-BACF-0FF9230AA2E5}"/>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55422B3F-9F8B-408D-B6C4-F95886E39C89}"/>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37F1357A-A65F-49F2-BF3E-84F06BEC5D43}"/>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E520FCE5-E874-4304-88AF-2EF568D8A1F4}"/>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E9C73C2B-7239-4786-BC13-A66FE19C29B1}"/>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E8B4C35F-71FF-449C-B592-7A257B74EF83}"/>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8FBCA948-9A8D-45B7-81DC-B2305C1492AE}"/>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F212B404-5BD8-4B84-BBA4-CB8D44660170}"/>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C652AD9F-3874-4992-9A85-3F3718FE9B57}"/>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11EE2B89-1A8E-42D7-BA3C-E8A0661994E6}"/>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9322934-A0B2-4D51-8A00-C1A88B0DA2E9}"/>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30.</a:t>
            </a:r>
          </a:p>
        </p:txBody>
      </p:sp>
      <p:sp>
        <p:nvSpPr>
          <p:cNvPr id="19" name="route-number-7">
            <a:extLst xmlns:a="http://schemas.openxmlformats.org/drawingml/2006/main">
              <a:ext uri="{FF2B5EF4-FFF2-40B4-BE49-F238E27FC236}">
                <a16:creationId xmlns:a16="http://schemas.microsoft.com/office/drawing/2014/main" id="{0E4342B1-736A-4AD3-BE5D-A3A3AA6B8957}"/>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3FBCABE-097D-4354-A67A-46971B73F945}"/>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BD48C7E4-705E-4FF6-82B4-F7092199F90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93089167-EB50-4AE0-A511-D256EBBEB2C3}"/>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Grafieken tekenen en interpoleren,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formules gebruiken, oppervlaktes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bepalen en claims controleren.</a:t>
            </a:r>
          </a:p>
        </p:txBody>
      </p:sp>
      <p:sp>
        <p:nvSpPr>
          <p:cNvPr id="23" name="">
            <a:extLst xmlns:a="http://schemas.openxmlformats.org/drawingml/2006/main">
              <a:ext uri="{FF2B5EF4-FFF2-40B4-BE49-F238E27FC236}">
                <a16:creationId xmlns:a16="http://schemas.microsoft.com/office/drawing/2014/main" id="{7FFACE0E-5BBA-452F-AD95-9AF2F623E1B3}"/>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prstDash val="solid"/>
          </a:ln>
        </p:spPr>
      </p:sp>
      <p:sp>
        <p:nvSpPr>
          <p:cNvPr id="24" name="Startopdracht">
            <a:extLst xmlns:a="http://schemas.openxmlformats.org/drawingml/2006/main">
              <a:ext uri="{FF2B5EF4-FFF2-40B4-BE49-F238E27FC236}">
                <a16:creationId xmlns:a16="http://schemas.microsoft.com/office/drawing/2014/main" id="{63978026-27C0-4D4F-AE7A-815E3A9AF609}"/>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66FB92D1-D34B-4C14-AAC2-80487A52C9D9}"/>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32 · Opgaven 22 en 23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23: verkennen, theorie p. 24–25</a:t>
            </a:r>
          </a:p>
        </p:txBody>
      </p:sp>
      <p:sp>
        <p:nvSpPr>
          <p:cNvPr id="26" name="">
            <a:extLst xmlns:a="http://schemas.openxmlformats.org/drawingml/2006/main">
              <a:ext uri="{FF2B5EF4-FFF2-40B4-BE49-F238E27FC236}">
                <a16:creationId xmlns:a16="http://schemas.microsoft.com/office/drawing/2014/main" id="{1A053715-D390-48B1-A9CB-59B1DD37D156}"/>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prstDash val="solid"/>
          </a:ln>
        </p:spPr>
      </p:sp>
      <p:sp>
        <p:nvSpPr>
          <p:cNvPr id="27" name="Huiswerk">
            <a:extLst xmlns:a="http://schemas.openxmlformats.org/drawingml/2006/main">
              <a:ext uri="{FF2B5EF4-FFF2-40B4-BE49-F238E27FC236}">
                <a16:creationId xmlns:a16="http://schemas.microsoft.com/office/drawing/2014/main" id="{AF091C9A-33AD-46E4-865F-B2E47DFACD68}"/>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6EDC9A1-05F9-453B-BA40-3AA507AD8052}"/>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24, 25 en 26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27, 28 en 29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4952828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model voor een museumworkshop">
            <a:extLst xmlns:a="http://schemas.openxmlformats.org/drawingml/2006/main">
              <a:ext uri="{FF2B5EF4-FFF2-40B4-BE49-F238E27FC236}">
                <a16:creationId xmlns:a16="http://schemas.microsoft.com/office/drawing/2014/main" id="{CF6B43B6-2314-4F9A-937A-36C9F7D51BC1}"/>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model voor een museumworkshop</a:t>
            </a:r>
          </a:p>
        </p:txBody>
      </p:sp>
      <p:sp>
        <p:nvSpPr>
          <p:cNvPr id="2" name="">
            <a:extLst xmlns:a="http://schemas.openxmlformats.org/drawingml/2006/main">
              <a:ext uri="{FF2B5EF4-FFF2-40B4-BE49-F238E27FC236}">
                <a16:creationId xmlns:a16="http://schemas.microsoft.com/office/drawing/2014/main" id="{383B71D8-71E4-4FB9-A0FA-26A2967AE65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4042E075-8EA0-461D-A809-7DD6033DEC5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2C221592-AAC7-42CD-ADD4-D22D75B7A79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Uitlegvoorbeeld — niet uit het boek">
            <a:extLst xmlns:a="http://schemas.openxmlformats.org/drawingml/2006/main">
              <a:ext uri="{FF2B5EF4-FFF2-40B4-BE49-F238E27FC236}">
                <a16:creationId xmlns:a16="http://schemas.microsoft.com/office/drawing/2014/main" id="{501637D6-C718-4488-B93F-D6D3D9EF70D8}"/>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sp>
        <p:nvSpPr>
          <p:cNvPr id="6" name="Een museum verwacht reserveringen bij drie mogelijke prijzen">
            <a:extLst xmlns:a="http://schemas.openxmlformats.org/drawingml/2006/main">
              <a:ext uri="{FF2B5EF4-FFF2-40B4-BE49-F238E27FC236}">
                <a16:creationId xmlns:a16="http://schemas.microsoft.com/office/drawing/2014/main" id="{8119A85E-0B79-4A52-BF4D-00D57EE49BEA}"/>
              </a:ext>
            </a:extLst>
          </p:cNvPr>
          <p:cNvSpPr>
            <a:spLocks xmlns:a="http://schemas.openxmlformats.org/drawingml/2006/main" noGrp="1"/>
          </p:cNvSpPr>
          <p:nvPr/>
        </p:nvSpPr>
        <p:spPr>
          <a:xfrm xmlns:a="http://schemas.openxmlformats.org/drawingml/2006/main">
            <a:off x="571500" y="23336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Een museum verwacht reserveringen bij drie mogelijke prijzen.</a:t>
            </a:r>
          </a:p>
        </p:txBody>
      </p:sp>
      <p:graphicFrame>
        <p:nvGraphicFramePr>
          <p:cNvPr id="15" name=""/>
          <p:cNvGraphicFramePr/>
          <p:nvPr/>
        </p:nvGraphicFramePr>
        <p:xfrm>
          <a:off xmlns:a="http://schemas.openxmlformats.org/drawingml/2006/main" x="571500" y="3438525"/>
          <a:ext xmlns:a="http://schemas.openxmlformats.org/drawingml/2006/main" cx="14097000" cy="1905000"/>
        </p:xfrm>
        <a:graphic xmlns:a="http://schemas.openxmlformats.org/drawingml/2006/main">
          <a:graphicData uri="http://schemas.openxmlformats.org/drawingml/2006/table">
            <a:tbl>
              <a:tblPr/>
              <a:tblGrid>
                <a:gridCol w="7524750"/>
                <a:gridCol w="2190750"/>
                <a:gridCol w="2190750"/>
                <a:gridCol w="2190750"/>
              </a:tblGrid>
              <a:tr h="952500">
                <a:tc>
                  <a:txBody>
                    <a:bodyPr lIns="171450" tIns="95250" rIns="152400" bIns="95250"/>
                    <a:lstStyle/>
                    <a:p>
                      <a:r>
                        <a:rPr sz="2550" b="1">
                          <a:solidFill>
                            <a:srgbClr val="FFFFFF"/>
                          </a:solidFill>
                          <a:latin typeface="Arial"/>
                          <a:ea typeface="Arial"/>
                          <a:cs typeface="Arial"/>
                        </a:rPr>
                        <a:t>P (€ per reservering)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3</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7</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11</a:t>
                      </a:r>
                    </a:p>
                  </a:txBody>
                  <a:tcPr marL="91440" marR="91440" marT="45720" marB="45720" anchor="ctr">
                    <a:solidFill>
                      <a:srgbClr val="183247"/>
                    </a:solidFill>
                  </a:tcPr>
                </a:tc>
              </a:tr>
              <a:tr h="952500">
                <a:tc>
                  <a:txBody>
                    <a:bodyPr lIns="171450" tIns="95250" rIns="152400" bIns="95250"/>
                    <a:lstStyle/>
                    <a:p>
                      <a:r>
                        <a:rPr sz="2550" b="0">
                          <a:solidFill>
                            <a:srgbClr val="183247"/>
                          </a:solidFill>
                          <a:latin typeface="Arial"/>
                          <a:ea typeface="Arial"/>
                          <a:cs typeface="Arial"/>
                        </a:rPr>
                        <a:t>Q (reserveringen per middag)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180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140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100</a:t>
                      </a:r>
                    </a:p>
                  </a:txBody>
                  <a:tcPr marL="91440" marR="91440" marT="45720" marB="45720" anchor="ctr">
                    <a:solidFill>
                      <a:srgbClr val="FFFFFF"/>
                    </a:solidFill>
                  </a:tcPr>
                </a:tc>
              </a:tr>
            </a:tbl>
          </a:graphicData>
        </a:graphic>
      </p:graphicFrame>
      <p:sp>
        <p:nvSpPr>
          <p:cNvPr id="8" name="Overige omstandigheden blijven gelijk.&#10;Tussen de drie punten">
            <a:extLst xmlns:a="http://schemas.openxmlformats.org/drawingml/2006/main">
              <a:ext uri="{FF2B5EF4-FFF2-40B4-BE49-F238E27FC236}">
                <a16:creationId xmlns:a16="http://schemas.microsoft.com/office/drawing/2014/main" id="{7D69E352-3048-4D8B-97DA-F52110E9AE0E}"/>
              </a:ext>
            </a:extLst>
          </p:cNvPr>
          <p:cNvSpPr>
            <a:spLocks xmlns:a="http://schemas.openxmlformats.org/drawingml/2006/main" noGrp="1"/>
          </p:cNvSpPr>
          <p:nvPr/>
        </p:nvSpPr>
        <p:spPr>
          <a:xfrm xmlns:a="http://schemas.openxmlformats.org/drawingml/2006/main">
            <a:off x="571500" y="5991225"/>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Overige omstandigheden blijven gelijk.</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Tussen de drie punten gebruiken we een rechte lijn.</a:t>
            </a:r>
          </a:p>
        </p:txBody>
      </p:sp>
    </p:spTree>
    <p:extLst>
      <p:ext uri="{BB962C8B-B14F-4D97-AF65-F5344CB8AC3E}">
        <p14:creationId xmlns:p14="http://schemas.microsoft.com/office/powerpoint/2010/main" val="11944681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ssen en schaal">
            <a:extLst xmlns:a="http://schemas.openxmlformats.org/drawingml/2006/main">
              <a:ext uri="{FF2B5EF4-FFF2-40B4-BE49-F238E27FC236}">
                <a16:creationId xmlns:a16="http://schemas.microsoft.com/office/drawing/2014/main" id="{E9DBE562-89D8-4AC0-ACB9-AF0A37BEBE78}"/>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Assen en schaal</a:t>
            </a:r>
          </a:p>
        </p:txBody>
      </p:sp>
      <p:sp>
        <p:nvSpPr>
          <p:cNvPr id="2" name="">
            <a:extLst xmlns:a="http://schemas.openxmlformats.org/drawingml/2006/main">
              <a:ext uri="{FF2B5EF4-FFF2-40B4-BE49-F238E27FC236}">
                <a16:creationId xmlns:a16="http://schemas.microsoft.com/office/drawing/2014/main" id="{EA4A4AA5-CDDB-42D3-9A50-D14A99A6CF5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3CC4DA09-6111-4CE2-8F1E-3B3BDA05358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4363F104-BF76-4EB8-8BE2-117919079E0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9DAB9B98-749D-454F-B860-05C8490A8BBD}"/>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247900"/>
          <a:ext xmlns:a="http://schemas.openxmlformats.org/drawingml/2006/main" cx="9525000" cy="5286375"/>
        </p:xfrm>
        <a:graphic xmlns:a="http://schemas.openxmlformats.org/drawingml/2006/main">
          <a:graphicData uri="http://schemas.openxmlformats.org/drawingml/2006/chart">
            <c:chart xmlns:r="http://schemas.openxmlformats.org/officeDocument/2006/relationships" xmlns:c="http://schemas.openxmlformats.org/drawingml/2006/chart" r:id="R91dfd4d14c3e4ed6"/>
          </a:graphicData>
        </a:graphic>
      </p:graphicFrame>
      <p:sp>
        <p:nvSpPr>
          <p:cNvPr id="7" name="Horizontaal: Q&#10;0 tot 200, stappen van 20">
            <a:extLst xmlns:a="http://schemas.openxmlformats.org/drawingml/2006/main">
              <a:ext uri="{FF2B5EF4-FFF2-40B4-BE49-F238E27FC236}">
                <a16:creationId xmlns:a16="http://schemas.microsoft.com/office/drawing/2014/main" id="{9A489667-DA2B-470D-96BF-19C761AFFDAF}"/>
              </a:ext>
            </a:extLst>
          </p:cNvPr>
          <p:cNvSpPr>
            <a:spLocks xmlns:a="http://schemas.openxmlformats.org/drawingml/2006/main" noGrp="1"/>
          </p:cNvSpPr>
          <p:nvPr/>
        </p:nvSpPr>
        <p:spPr>
          <a:xfrm xmlns:a="http://schemas.openxmlformats.org/drawingml/2006/main">
            <a:off x="10477500" y="2476500"/>
            <a:ext cx="4191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Horizontaal: Q</a:t>
            </a:r>
          </a:p>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0 tot 200, stappen van 20</a:t>
            </a:r>
          </a:p>
        </p:txBody>
      </p:sp>
      <p:sp>
        <p:nvSpPr>
          <p:cNvPr id="8" name="Verticaal: P&#10;0 tot 12, stappen van 2">
            <a:extLst xmlns:a="http://schemas.openxmlformats.org/drawingml/2006/main">
              <a:ext uri="{FF2B5EF4-FFF2-40B4-BE49-F238E27FC236}">
                <a16:creationId xmlns:a16="http://schemas.microsoft.com/office/drawing/2014/main" id="{4E0C4076-3666-4626-8F1B-6886A1D749D8}"/>
              </a:ext>
            </a:extLst>
          </p:cNvPr>
          <p:cNvSpPr>
            <a:spLocks xmlns:a="http://schemas.openxmlformats.org/drawingml/2006/main" noGrp="1"/>
          </p:cNvSpPr>
          <p:nvPr/>
        </p:nvSpPr>
        <p:spPr>
          <a:xfrm xmlns:a="http://schemas.openxmlformats.org/drawingml/2006/main">
            <a:off x="10477500" y="4191000"/>
            <a:ext cx="4191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Verticaal: P</a:t>
            </a:r>
          </a:p>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0 tot 12, stappen van 2</a:t>
            </a:r>
          </a:p>
        </p:txBody>
      </p:sp>
      <p:sp>
        <p:nvSpPr>
          <p:cNvPr id="9" name="Gelijke afstanden op één as&#10;geven gelijke verschillen.">
            <a:extLst xmlns:a="http://schemas.openxmlformats.org/drawingml/2006/main">
              <a:ext uri="{FF2B5EF4-FFF2-40B4-BE49-F238E27FC236}">
                <a16:creationId xmlns:a16="http://schemas.microsoft.com/office/drawing/2014/main" id="{D622DD45-7258-429A-8A46-05A8A93181A9}"/>
              </a:ext>
            </a:extLst>
          </p:cNvPr>
          <p:cNvSpPr>
            <a:spLocks xmlns:a="http://schemas.openxmlformats.org/drawingml/2006/main" noGrp="1"/>
          </p:cNvSpPr>
          <p:nvPr/>
        </p:nvSpPr>
        <p:spPr>
          <a:xfrm xmlns:a="http://schemas.openxmlformats.org/drawingml/2006/main">
            <a:off x="10477500" y="6105525"/>
            <a:ext cx="41910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Gelijke afstanden op één as</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geven gelijke verschillen.</a:t>
            </a:r>
          </a:p>
        </p:txBody>
      </p:sp>
    </p:spTree>
    <p:extLst>
      <p:ext uri="{BB962C8B-B14F-4D97-AF65-F5344CB8AC3E}">
        <p14:creationId xmlns:p14="http://schemas.microsoft.com/office/powerpoint/2010/main" val="7934562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ördinaten: horizontaal eerst">
            <a:extLst xmlns:a="http://schemas.openxmlformats.org/drawingml/2006/main">
              <a:ext uri="{FF2B5EF4-FFF2-40B4-BE49-F238E27FC236}">
                <a16:creationId xmlns:a16="http://schemas.microsoft.com/office/drawing/2014/main" id="{19BF5EEB-AFDA-47E9-AD79-90D157CF2EB0}"/>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Coördinaten: horizontaal eerst</a:t>
            </a:r>
          </a:p>
        </p:txBody>
      </p:sp>
      <p:sp>
        <p:nvSpPr>
          <p:cNvPr id="2" name="">
            <a:extLst xmlns:a="http://schemas.openxmlformats.org/drawingml/2006/main">
              <a:ext uri="{FF2B5EF4-FFF2-40B4-BE49-F238E27FC236}">
                <a16:creationId xmlns:a16="http://schemas.microsoft.com/office/drawing/2014/main" id="{836197B4-2522-4F0A-8B43-F8FFCDA77C4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FA538495-0CF7-4272-A288-57E99DD5331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15C65F41-D039-4D22-B1C3-1F8962ED391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355DDB3E-A2CA-41D1-90D9-196EDBF5D071}"/>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247900"/>
          <a:ext xmlns:a="http://schemas.openxmlformats.org/drawingml/2006/main" cx="9525000" cy="5286375"/>
        </p:xfrm>
        <a:graphic xmlns:a="http://schemas.openxmlformats.org/drawingml/2006/main">
          <a:graphicData uri="http://schemas.openxmlformats.org/drawingml/2006/chart">
            <c:chart xmlns:r="http://schemas.openxmlformats.org/officeDocument/2006/relationships" xmlns:c="http://schemas.openxmlformats.org/drawingml/2006/chart" r:id="R3d84ec54024743e6"/>
          </a:graphicData>
        </a:graphic>
      </p:graphicFrame>
      <p:sp>
        <p:nvSpPr>
          <p:cNvPr id="7" name="P = 3 en Q = 180&#10;wordt (180; 3)">
            <a:extLst xmlns:a="http://schemas.openxmlformats.org/drawingml/2006/main">
              <a:ext uri="{FF2B5EF4-FFF2-40B4-BE49-F238E27FC236}">
                <a16:creationId xmlns:a16="http://schemas.microsoft.com/office/drawing/2014/main" id="{C16759D5-4AD2-45EE-B413-B195637E461F}"/>
              </a:ext>
            </a:extLst>
          </p:cNvPr>
          <p:cNvSpPr>
            <a:spLocks xmlns:a="http://schemas.openxmlformats.org/drawingml/2006/main" noGrp="1"/>
          </p:cNvSpPr>
          <p:nvPr/>
        </p:nvSpPr>
        <p:spPr>
          <a:xfrm xmlns:a="http://schemas.openxmlformats.org/drawingml/2006/main">
            <a:off x="10477500" y="2476500"/>
            <a:ext cx="4191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P = 3 en Q = 180</a:t>
            </a:r>
          </a:p>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wordt (180; 3)</a:t>
            </a:r>
          </a:p>
        </p:txBody>
      </p:sp>
      <p:sp>
        <p:nvSpPr>
          <p:cNvPr id="8" name="(140; 7)&#10;(100; 11)">
            <a:extLst xmlns:a="http://schemas.openxmlformats.org/drawingml/2006/main">
              <a:ext uri="{FF2B5EF4-FFF2-40B4-BE49-F238E27FC236}">
                <a16:creationId xmlns:a16="http://schemas.microsoft.com/office/drawing/2014/main" id="{CFA06452-2642-412E-A43A-888811FA50EF}"/>
              </a:ext>
            </a:extLst>
          </p:cNvPr>
          <p:cNvSpPr>
            <a:spLocks xmlns:a="http://schemas.openxmlformats.org/drawingml/2006/main" noGrp="1"/>
          </p:cNvSpPr>
          <p:nvPr/>
        </p:nvSpPr>
        <p:spPr>
          <a:xfrm xmlns:a="http://schemas.openxmlformats.org/drawingml/2006/main">
            <a:off x="10477500" y="4191000"/>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(140; 7)</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(100; 11)</a:t>
            </a:r>
          </a:p>
        </p:txBody>
      </p:sp>
      <p:sp>
        <p:nvSpPr>
          <p:cNvPr id="9" name="Controleer ieder punt&#10;met de tabel.">
            <a:extLst xmlns:a="http://schemas.openxmlformats.org/drawingml/2006/main">
              <a:ext uri="{FF2B5EF4-FFF2-40B4-BE49-F238E27FC236}">
                <a16:creationId xmlns:a16="http://schemas.microsoft.com/office/drawing/2014/main" id="{9EADF920-B165-468D-950A-5778827D764C}"/>
              </a:ext>
            </a:extLst>
          </p:cNvPr>
          <p:cNvSpPr>
            <a:spLocks xmlns:a="http://schemas.openxmlformats.org/drawingml/2006/main" noGrp="1"/>
          </p:cNvSpPr>
          <p:nvPr/>
        </p:nvSpPr>
        <p:spPr>
          <a:xfrm xmlns:a="http://schemas.openxmlformats.org/drawingml/2006/main">
            <a:off x="10477500" y="6105525"/>
            <a:ext cx="41910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Controleer ieder punt</a:t>
            </a:r>
          </a:p>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met de tabel.</a:t>
            </a:r>
          </a:p>
        </p:txBody>
      </p:sp>
    </p:spTree>
    <p:extLst>
      <p:ext uri="{BB962C8B-B14F-4D97-AF65-F5344CB8AC3E}">
        <p14:creationId xmlns:p14="http://schemas.microsoft.com/office/powerpoint/2010/main" val="207595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t gegeven rechte lijnstuk">
            <a:extLst xmlns:a="http://schemas.openxmlformats.org/drawingml/2006/main">
              <a:ext uri="{FF2B5EF4-FFF2-40B4-BE49-F238E27FC236}">
                <a16:creationId xmlns:a16="http://schemas.microsoft.com/office/drawing/2014/main" id="{71B91FA4-12CC-4BFA-8BFB-A1B87E9E1783}"/>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Het gegeven rechte lijnstuk</a:t>
            </a:r>
          </a:p>
        </p:txBody>
      </p:sp>
      <p:sp>
        <p:nvSpPr>
          <p:cNvPr id="2" name="">
            <a:extLst xmlns:a="http://schemas.openxmlformats.org/drawingml/2006/main">
              <a:ext uri="{FF2B5EF4-FFF2-40B4-BE49-F238E27FC236}">
                <a16:creationId xmlns:a16="http://schemas.microsoft.com/office/drawing/2014/main" id="{F04D9F4A-BA28-4D56-B676-16F2520345F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87B2F5DB-155C-48FD-A401-6CA30858217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DB133F83-B502-46FB-8892-9D66C50E31B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FC197D5C-54DD-4735-9EA1-763926F53756}"/>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247900"/>
          <a:ext xmlns:a="http://schemas.openxmlformats.org/drawingml/2006/main" cx="9525000" cy="5286375"/>
        </p:xfrm>
        <a:graphic xmlns:a="http://schemas.openxmlformats.org/drawingml/2006/main">
          <a:graphicData uri="http://schemas.openxmlformats.org/drawingml/2006/chart">
            <c:chart xmlns:r="http://schemas.openxmlformats.org/officeDocument/2006/relationships" xmlns:c="http://schemas.openxmlformats.org/drawingml/2006/chart" r:id="R9ab2e9036c35402b"/>
          </a:graphicData>
        </a:graphic>
      </p:graphicFrame>
      <p:sp>
        <p:nvSpPr>
          <p:cNvPr id="7" name="P = 3 en Q = 180&#10;wordt (180; 3)">
            <a:extLst xmlns:a="http://schemas.openxmlformats.org/drawingml/2006/main">
              <a:ext uri="{FF2B5EF4-FFF2-40B4-BE49-F238E27FC236}">
                <a16:creationId xmlns:a16="http://schemas.microsoft.com/office/drawing/2014/main" id="{4F14B276-7ADE-4861-9780-F5565F85E6FA}"/>
              </a:ext>
            </a:extLst>
          </p:cNvPr>
          <p:cNvSpPr>
            <a:spLocks xmlns:a="http://schemas.openxmlformats.org/drawingml/2006/main" noGrp="1"/>
          </p:cNvSpPr>
          <p:nvPr/>
        </p:nvSpPr>
        <p:spPr>
          <a:xfrm xmlns:a="http://schemas.openxmlformats.org/drawingml/2006/main">
            <a:off x="10477500" y="2476500"/>
            <a:ext cx="4191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P = 3 en Q = 180</a:t>
            </a:r>
          </a:p>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wordt (180; 3)</a:t>
            </a:r>
          </a:p>
        </p:txBody>
      </p:sp>
      <p:sp>
        <p:nvSpPr>
          <p:cNvPr id="8" name="(140; 7)&#10;(100; 11)">
            <a:extLst xmlns:a="http://schemas.openxmlformats.org/drawingml/2006/main">
              <a:ext uri="{FF2B5EF4-FFF2-40B4-BE49-F238E27FC236}">
                <a16:creationId xmlns:a16="http://schemas.microsoft.com/office/drawing/2014/main" id="{C241DA38-F13C-4B0F-A28D-07B4E7221591}"/>
              </a:ext>
            </a:extLst>
          </p:cNvPr>
          <p:cNvSpPr>
            <a:spLocks xmlns:a="http://schemas.openxmlformats.org/drawingml/2006/main" noGrp="1"/>
          </p:cNvSpPr>
          <p:nvPr/>
        </p:nvSpPr>
        <p:spPr>
          <a:xfrm xmlns:a="http://schemas.openxmlformats.org/drawingml/2006/main">
            <a:off x="10477500" y="4191000"/>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(140; 7)</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(100; 11)</a:t>
            </a:r>
          </a:p>
        </p:txBody>
      </p:sp>
      <p:sp>
        <p:nvSpPr>
          <p:cNvPr id="9" name="Alleen tussen&#10;de gegeven punten.">
            <a:extLst xmlns:a="http://schemas.openxmlformats.org/drawingml/2006/main">
              <a:ext uri="{FF2B5EF4-FFF2-40B4-BE49-F238E27FC236}">
                <a16:creationId xmlns:a16="http://schemas.microsoft.com/office/drawing/2014/main" id="{4CA0DE41-6104-4B04-B8DC-A47E71C68819}"/>
              </a:ext>
            </a:extLst>
          </p:cNvPr>
          <p:cNvSpPr>
            <a:spLocks xmlns:a="http://schemas.openxmlformats.org/drawingml/2006/main" noGrp="1"/>
          </p:cNvSpPr>
          <p:nvPr/>
        </p:nvSpPr>
        <p:spPr>
          <a:xfrm xmlns:a="http://schemas.openxmlformats.org/drawingml/2006/main">
            <a:off x="10477500" y="6105525"/>
            <a:ext cx="41910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Alleen tussen</a:t>
            </a:r>
          </a:p>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de gegeven punten.</a:t>
            </a:r>
          </a:p>
        </p:txBody>
      </p:sp>
    </p:spTree>
    <p:extLst>
      <p:ext uri="{BB962C8B-B14F-4D97-AF65-F5344CB8AC3E}">
        <p14:creationId xmlns:p14="http://schemas.microsoft.com/office/powerpoint/2010/main" val="17238130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nterpoleren bij P = € 6">
            <a:extLst xmlns:a="http://schemas.openxmlformats.org/drawingml/2006/main">
              <a:ext uri="{FF2B5EF4-FFF2-40B4-BE49-F238E27FC236}">
                <a16:creationId xmlns:a16="http://schemas.microsoft.com/office/drawing/2014/main" id="{6823763A-CD05-4292-9AD1-AA0E66EB6F1B}"/>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Interpoleren bij P = € 6</a:t>
            </a:r>
          </a:p>
        </p:txBody>
      </p:sp>
      <p:sp>
        <p:nvSpPr>
          <p:cNvPr id="2" name="">
            <a:extLst xmlns:a="http://schemas.openxmlformats.org/drawingml/2006/main">
              <a:ext uri="{FF2B5EF4-FFF2-40B4-BE49-F238E27FC236}">
                <a16:creationId xmlns:a16="http://schemas.microsoft.com/office/drawing/2014/main" id="{0B4AA1A1-FCCF-4DCD-B8CE-6C331BA1179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BA97662D-7F23-44C6-A1FB-0CB30523D3B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9E5D2AD3-6E83-4736-8720-B589AF5A144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170B0501-E586-46F7-A285-F924BD2A085A}"/>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graphicFrame>
        <p:nvGraphicFramePr>
          <p:cNvPr id="16" name="Chart"/>
          <p:cNvGraphicFramePr/>
          <p:nvPr/>
        </p:nvGraphicFramePr>
        <p:xfrm>
          <a:off xmlns:a="http://schemas.openxmlformats.org/drawingml/2006/main" x="571500" y="2247900"/>
          <a:ext xmlns:a="http://schemas.openxmlformats.org/drawingml/2006/main" cx="9525000" cy="5286375"/>
        </p:xfrm>
        <a:graphic xmlns:a="http://schemas.openxmlformats.org/drawingml/2006/main">
          <a:graphicData uri="http://schemas.openxmlformats.org/drawingml/2006/chart">
            <c:chart xmlns:r="http://schemas.openxmlformats.org/officeDocument/2006/relationships" xmlns:c="http://schemas.openxmlformats.org/drawingml/2006/chart" r:id="R095af8401e414f52"/>
          </a:graphicData>
        </a:graphic>
      </p:graphicFrame>
      <p:sp>
        <p:nvSpPr>
          <p:cNvPr id="7" name="Van € 3 naar € 7">
            <a:extLst xmlns:a="http://schemas.openxmlformats.org/drawingml/2006/main">
              <a:ext uri="{FF2B5EF4-FFF2-40B4-BE49-F238E27FC236}">
                <a16:creationId xmlns:a16="http://schemas.microsoft.com/office/drawing/2014/main" id="{7F095D3F-B691-46D3-8BF0-38F51A24C729}"/>
              </a:ext>
            </a:extLst>
          </p:cNvPr>
          <p:cNvSpPr>
            <a:spLocks xmlns:a="http://schemas.openxmlformats.org/drawingml/2006/main" noGrp="1"/>
          </p:cNvSpPr>
          <p:nvPr/>
        </p:nvSpPr>
        <p:spPr>
          <a:xfrm xmlns:a="http://schemas.openxmlformats.org/drawingml/2006/main">
            <a:off x="10477500" y="238125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Van € 3 naar € 7</a:t>
            </a:r>
          </a:p>
        </p:txBody>
      </p:sp>
      <p:sp>
        <p:nvSpPr>
          <p:cNvPr id="8" name="Deel van het interval:&#10;(6 − 3) / (7 − 3) = ¾">
            <a:extLst xmlns:a="http://schemas.openxmlformats.org/drawingml/2006/main">
              <a:ext uri="{FF2B5EF4-FFF2-40B4-BE49-F238E27FC236}">
                <a16:creationId xmlns:a16="http://schemas.microsoft.com/office/drawing/2014/main" id="{FF8B9F4E-7344-455C-85EA-C397077952F6}"/>
              </a:ext>
            </a:extLst>
          </p:cNvPr>
          <p:cNvSpPr>
            <a:spLocks xmlns:a="http://schemas.openxmlformats.org/drawingml/2006/main" noGrp="1"/>
          </p:cNvSpPr>
          <p:nvPr/>
        </p:nvSpPr>
        <p:spPr>
          <a:xfrm xmlns:a="http://schemas.openxmlformats.org/drawingml/2006/main">
            <a:off x="10477500" y="3171825"/>
            <a:ext cx="4191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Deel van het interval:</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(6 − 3) / (7 − 3) = ¾</a:t>
            </a:r>
          </a:p>
        </p:txBody>
      </p:sp>
      <p:sp>
        <p:nvSpPr>
          <p:cNvPr id="9" name="Daling: ¾ × 40 = 30">
            <a:extLst xmlns:a="http://schemas.openxmlformats.org/drawingml/2006/main">
              <a:ext uri="{FF2B5EF4-FFF2-40B4-BE49-F238E27FC236}">
                <a16:creationId xmlns:a16="http://schemas.microsoft.com/office/drawing/2014/main" id="{23F55777-E329-4A6E-ACDD-1BC8B082C4E7}"/>
              </a:ext>
            </a:extLst>
          </p:cNvPr>
          <p:cNvSpPr>
            <a:spLocks xmlns:a="http://schemas.openxmlformats.org/drawingml/2006/main" noGrp="1"/>
          </p:cNvSpPr>
          <p:nvPr/>
        </p:nvSpPr>
        <p:spPr>
          <a:xfrm xmlns:a="http://schemas.openxmlformats.org/drawingml/2006/main">
            <a:off x="10477500" y="4914900"/>
            <a:ext cx="4191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Daling: ¾ × 40 = 30</a:t>
            </a:r>
          </a:p>
        </p:txBody>
      </p:sp>
      <p:sp>
        <p:nvSpPr>
          <p:cNvPr id="10" name="Q = 180 − 30 = 150&#10;reserveringen per middag">
            <a:extLst xmlns:a="http://schemas.openxmlformats.org/drawingml/2006/main">
              <a:ext uri="{FF2B5EF4-FFF2-40B4-BE49-F238E27FC236}">
                <a16:creationId xmlns:a16="http://schemas.microsoft.com/office/drawing/2014/main" id="{E0C5AFB2-3FDD-4366-B935-A6CE37C44438}"/>
              </a:ext>
            </a:extLst>
          </p:cNvPr>
          <p:cNvSpPr>
            <a:spLocks xmlns:a="http://schemas.openxmlformats.org/drawingml/2006/main" noGrp="1"/>
          </p:cNvSpPr>
          <p:nvPr/>
        </p:nvSpPr>
        <p:spPr>
          <a:xfrm xmlns:a="http://schemas.openxmlformats.org/drawingml/2006/main">
            <a:off x="10477500" y="6400800"/>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Q = 180 − 30 = 150</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reserveringen per middag</a:t>
            </a:r>
          </a:p>
        </p:txBody>
      </p:sp>
    </p:spTree>
    <p:extLst>
      <p:ext uri="{BB962C8B-B14F-4D97-AF65-F5344CB8AC3E}">
        <p14:creationId xmlns:p14="http://schemas.microsoft.com/office/powerpoint/2010/main" val="18001016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procentuele claim controleren">
            <a:extLst xmlns:a="http://schemas.openxmlformats.org/drawingml/2006/main">
              <a:ext uri="{FF2B5EF4-FFF2-40B4-BE49-F238E27FC236}">
                <a16:creationId xmlns:a16="http://schemas.microsoft.com/office/drawing/2014/main" id="{86284976-0C98-496A-9C4E-31644AAA3DBD}"/>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procentuele claim controleren</a:t>
            </a:r>
          </a:p>
        </p:txBody>
      </p:sp>
      <p:sp>
        <p:nvSpPr>
          <p:cNvPr id="2" name="">
            <a:extLst xmlns:a="http://schemas.openxmlformats.org/drawingml/2006/main">
              <a:ext uri="{FF2B5EF4-FFF2-40B4-BE49-F238E27FC236}">
                <a16:creationId xmlns:a16="http://schemas.microsoft.com/office/drawing/2014/main" id="{39583288-0F11-463F-9D8B-5BDE39A3310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C4D1D69D-328E-4ABB-B5B6-B8D5BA98769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09042E9E-2A29-406A-9C94-218B0C6637A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2FD261F8-B83C-4AA8-80F1-414D709586AC}"/>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sp>
        <p:nvSpPr>
          <p:cNvPr id="6" name="“Van € 3 naar € 7 daalt het aantal met 40%.”">
            <a:extLst xmlns:a="http://schemas.openxmlformats.org/drawingml/2006/main">
              <a:ext uri="{FF2B5EF4-FFF2-40B4-BE49-F238E27FC236}">
                <a16:creationId xmlns:a16="http://schemas.microsoft.com/office/drawing/2014/main" id="{AFBDF373-E3C0-4F45-AC3D-D318B5375638}"/>
              </a:ext>
            </a:extLst>
          </p:cNvPr>
          <p:cNvSpPr>
            <a:spLocks xmlns:a="http://schemas.openxmlformats.org/drawingml/2006/main" noGrp="1"/>
          </p:cNvSpPr>
          <p:nvPr/>
        </p:nvSpPr>
        <p:spPr>
          <a:xfrm xmlns:a="http://schemas.openxmlformats.org/drawingml/2006/main">
            <a:off x="571500" y="232410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“Van € 3 naar € 7 daalt het aantal met 40%.”</a:t>
            </a:r>
          </a:p>
        </p:txBody>
      </p:sp>
      <p:graphicFrame>
        <p:nvGraphicFramePr>
          <p:cNvPr id="16" name=""/>
          <p:cNvGraphicFramePr/>
          <p:nvPr/>
        </p:nvGraphicFramePr>
        <p:xfrm>
          <a:off xmlns:a="http://schemas.openxmlformats.org/drawingml/2006/main" x="571500" y="3619500"/>
          <a:ext xmlns:a="http://schemas.openxmlformats.org/drawingml/2006/main" cx="14097000" cy="1714500"/>
        </p:xfrm>
        <a:graphic xmlns:a="http://schemas.openxmlformats.org/drawingml/2006/main">
          <a:graphicData uri="http://schemas.openxmlformats.org/drawingml/2006/table">
            <a:tbl>
              <a:tblPr/>
              <a:tblGrid>
                <a:gridCol w="7620000"/>
                <a:gridCol w="3238500"/>
                <a:gridCol w="3238500"/>
              </a:tblGrid>
              <a:tr h="857250">
                <a:tc>
                  <a:txBody>
                    <a:bodyPr lIns="171450" tIns="95250" rIns="152400" bIns="95250"/>
                    <a:lstStyle/>
                    <a:p>
                      <a:r>
                        <a:rPr sz="2550" b="1">
                          <a:solidFill>
                            <a:srgbClr val="FFFFFF"/>
                          </a:solidFill>
                          <a:latin typeface="Arial"/>
                          <a:ea typeface="Arial"/>
                          <a:cs typeface="Arial"/>
                        </a:rPr>
                        <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Nieuw</a:t>
                      </a:r>
                    </a:p>
                  </a:txBody>
                  <a:tcPr marL="91440" marR="91440" marT="45720" marB="45720" anchor="ctr">
                    <a:solidFill>
                      <a:srgbClr val="183247"/>
                    </a:solidFill>
                  </a:tcPr>
                </a:tc>
              </a:tr>
              <a:tr h="857250">
                <a:tc>
                  <a:txBody>
                    <a:bodyPr lIns="171450" tIns="95250" rIns="152400" bIns="95250"/>
                    <a:lstStyle/>
                    <a:p>
                      <a:r>
                        <a:rPr sz="2550" b="0">
                          <a:solidFill>
                            <a:srgbClr val="183247"/>
                          </a:solidFill>
                          <a:latin typeface="Arial"/>
                          <a:ea typeface="Arial"/>
                          <a:cs typeface="Arial"/>
                        </a:rPr>
                        <a:t>Reserveringen per middag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180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140</a:t>
                      </a:r>
                    </a:p>
                  </a:txBody>
                  <a:tcPr marL="91440" marR="91440" marT="45720" marB="45720" anchor="ctr">
                    <a:solidFill>
                      <a:srgbClr val="FFFFFF"/>
                    </a:solidFill>
                  </a:tcPr>
                </a:tc>
              </a:tr>
            </a:tbl>
          </a:graphicData>
        </a:graphic>
      </p:graphicFrame>
      <p:sp>
        <p:nvSpPr>
          <p:cNvPr id="8" name="(nieuw − oud) / oud × 100%">
            <a:extLst xmlns:a="http://schemas.openxmlformats.org/drawingml/2006/main">
              <a:ext uri="{FF2B5EF4-FFF2-40B4-BE49-F238E27FC236}">
                <a16:creationId xmlns:a16="http://schemas.microsoft.com/office/drawing/2014/main" id="{3A9E2D43-B5C9-4A5A-9781-93B47AE3FCD5}"/>
              </a:ext>
            </a:extLst>
          </p:cNvPr>
          <p:cNvSpPr>
            <a:spLocks xmlns:a="http://schemas.openxmlformats.org/drawingml/2006/main" noGrp="1"/>
          </p:cNvSpPr>
          <p:nvPr/>
        </p:nvSpPr>
        <p:spPr>
          <a:xfrm xmlns:a="http://schemas.openxmlformats.org/drawingml/2006/main">
            <a:off x="571500" y="57912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(nieuw − oud) / oud × 100%</a:t>
            </a:r>
          </a:p>
        </p:txBody>
      </p:sp>
      <p:sp>
        <p:nvSpPr>
          <p:cNvPr id="9" name="(140 − 180) / 180 × 100% ≈ −22,22%">
            <a:extLst xmlns:a="http://schemas.openxmlformats.org/drawingml/2006/main">
              <a:ext uri="{FF2B5EF4-FFF2-40B4-BE49-F238E27FC236}">
                <a16:creationId xmlns:a16="http://schemas.microsoft.com/office/drawing/2014/main" id="{0383D515-D147-4378-B3FA-DC9DFD12403E}"/>
              </a:ext>
            </a:extLst>
          </p:cNvPr>
          <p:cNvSpPr>
            <a:spLocks xmlns:a="http://schemas.openxmlformats.org/drawingml/2006/main" noGrp="1"/>
          </p:cNvSpPr>
          <p:nvPr/>
        </p:nvSpPr>
        <p:spPr>
          <a:xfrm xmlns:a="http://schemas.openxmlformats.org/drawingml/2006/main">
            <a:off x="571500" y="67056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(140 − 180) / 180 × 100% ≈ −22,22%</a:t>
            </a:r>
          </a:p>
        </p:txBody>
      </p:sp>
    </p:spTree>
    <p:extLst>
      <p:ext uri="{BB962C8B-B14F-4D97-AF65-F5344CB8AC3E}">
        <p14:creationId xmlns:p14="http://schemas.microsoft.com/office/powerpoint/2010/main" val="5269302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en formule invullen">
            <a:extLst xmlns:a="http://schemas.openxmlformats.org/drawingml/2006/main">
              <a:ext uri="{FF2B5EF4-FFF2-40B4-BE49-F238E27FC236}">
                <a16:creationId xmlns:a16="http://schemas.microsoft.com/office/drawing/2014/main" id="{FBB009B3-2200-48FF-A16B-8E159987DCBC}"/>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formule invullen</a:t>
            </a:r>
          </a:p>
        </p:txBody>
      </p:sp>
      <p:sp>
        <p:nvSpPr>
          <p:cNvPr id="2" name="">
            <a:extLst xmlns:a="http://schemas.openxmlformats.org/drawingml/2006/main">
              <a:ext uri="{FF2B5EF4-FFF2-40B4-BE49-F238E27FC236}">
                <a16:creationId xmlns:a16="http://schemas.microsoft.com/office/drawing/2014/main" id="{4F85FE68-494C-41FF-A5FD-A1A346C2079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1CAA408D-E745-49AB-B846-0C7B6B140CD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646BF41A-F904-424A-9588-75875BD1CCF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39EEF59E-06E1-48E1-8E96-F48A16FBFD6B}"/>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sp>
        <p:nvSpPr>
          <p:cNvPr id="6" name="Spellenhuur: T = 12 + 4n">
            <a:extLst xmlns:a="http://schemas.openxmlformats.org/drawingml/2006/main">
              <a:ext uri="{FF2B5EF4-FFF2-40B4-BE49-F238E27FC236}">
                <a16:creationId xmlns:a16="http://schemas.microsoft.com/office/drawing/2014/main" id="{F4FAF5E0-8317-4112-A254-440706182DF4}"/>
              </a:ext>
            </a:extLst>
          </p:cNvPr>
          <p:cNvSpPr>
            <a:spLocks xmlns:a="http://schemas.openxmlformats.org/drawingml/2006/main" noGrp="1"/>
          </p:cNvSpPr>
          <p:nvPr/>
        </p:nvSpPr>
        <p:spPr>
          <a:xfrm xmlns:a="http://schemas.openxmlformats.org/drawingml/2006/main">
            <a:off x="571500" y="232410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58A"/>
                </a:solidFill>
                <a:latin typeface="Arial"/>
                <a:ea typeface="Arial"/>
                <a:cs typeface="Arial"/>
              </a:defRPr>
            </a:pPr>
            <a:r>
              <a:rPr sz="3900" b="1">
                <a:solidFill>
                  <a:srgbClr val="17658A"/>
                </a:solidFill>
                <a:latin typeface="Arial"/>
                <a:ea typeface="Arial"/>
                <a:cs typeface="Arial"/>
              </a:rPr>
              <a:t>Spellenhuur: T = 12 + 4n</a:t>
            </a:r>
          </a:p>
        </p:txBody>
      </p:sp>
      <p:sp>
        <p:nvSpPr>
          <p:cNvPr id="7" name="T: bedrag in euro. n: aantal spellen, hele aantallen 0 t/m 1">
            <a:extLst xmlns:a="http://schemas.openxmlformats.org/drawingml/2006/main">
              <a:ext uri="{FF2B5EF4-FFF2-40B4-BE49-F238E27FC236}">
                <a16:creationId xmlns:a16="http://schemas.microsoft.com/office/drawing/2014/main" id="{8CB3BD7E-34F0-4187-8858-DB0B641EB7F4}"/>
              </a:ext>
            </a:extLst>
          </p:cNvPr>
          <p:cNvSpPr>
            <a:spLocks xmlns:a="http://schemas.openxmlformats.org/drawingml/2006/main" noGrp="1"/>
          </p:cNvSpPr>
          <p:nvPr/>
        </p:nvSpPr>
        <p:spPr>
          <a:xfrm xmlns:a="http://schemas.openxmlformats.org/drawingml/2006/main">
            <a:off x="571500" y="33432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T: bedrag in euro. n: aantal spellen, hele aantallen 0 t/m 15.</a:t>
            </a:r>
          </a:p>
        </p:txBody>
      </p:sp>
      <p:graphicFrame>
        <p:nvGraphicFramePr>
          <p:cNvPr id="19" name=""/>
          <p:cNvGraphicFramePr/>
          <p:nvPr/>
        </p:nvGraphicFramePr>
        <p:xfrm>
          <a:off xmlns:a="http://schemas.openxmlformats.org/drawingml/2006/main" x="571500" y="4295775"/>
          <a:ext xmlns:a="http://schemas.openxmlformats.org/drawingml/2006/main" cx="6572250" cy="2190750"/>
        </p:xfrm>
        <a:graphic xmlns:a="http://schemas.openxmlformats.org/drawingml/2006/main">
          <a:graphicData uri="http://schemas.openxmlformats.org/drawingml/2006/table">
            <a:tbl>
              <a:tblPr/>
              <a:tblGrid>
                <a:gridCol w="3429000"/>
                <a:gridCol w="3143250"/>
              </a:tblGrid>
              <a:tr h="730250">
                <a:tc>
                  <a:txBody>
                    <a:bodyPr lIns="171450" tIns="95250" rIns="152400" bIns="95250"/>
                    <a:lstStyle/>
                    <a:p>
                      <a:r>
                        <a:rPr sz="2400" b="1">
                          <a:solidFill>
                            <a:srgbClr val="FFFFFF"/>
                          </a:solidFill>
                          <a:latin typeface="Arial"/>
                          <a:ea typeface="Arial"/>
                          <a:cs typeface="Arial"/>
                        </a:rPr>
                        <a:t>Betekenis</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Bedrag</a:t>
                      </a:r>
                    </a:p>
                  </a:txBody>
                  <a:tcPr marL="91440" marR="91440" marT="45720" marB="45720" anchor="ctr">
                    <a:solidFill>
                      <a:srgbClr val="183247"/>
                    </a:solidFill>
                  </a:tcPr>
                </a:tc>
              </a:tr>
              <a:tr h="730250">
                <a:tc>
                  <a:txBody>
                    <a:bodyPr lIns="171450" tIns="95250" rIns="152400" bIns="95250"/>
                    <a:lstStyle/>
                    <a:p>
                      <a:r>
                        <a:rPr sz="2400" b="0">
                          <a:solidFill>
                            <a:srgbClr val="183247"/>
                          </a:solidFill>
                          <a:latin typeface="Arial"/>
                          <a:ea typeface="Arial"/>
                          <a:cs typeface="Arial"/>
                        </a:rPr>
                        <a:t>Startbedrag</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€ 12</a:t>
                      </a:r>
                    </a:p>
                  </a:txBody>
                  <a:tcPr marL="91440" marR="91440" marT="45720" marB="45720" anchor="ctr">
                    <a:solidFill>
                      <a:srgbClr val="FFFFFF"/>
                    </a:solidFill>
                  </a:tcPr>
                </a:tc>
              </a:tr>
              <a:tr h="730250">
                <a:tc>
                  <a:txBody>
                    <a:bodyPr lIns="171450" tIns="95250" rIns="152400" bIns="95250"/>
                    <a:lstStyle/>
                    <a:p>
                      <a:r>
                        <a:rPr sz="2400" b="0">
                          <a:solidFill>
                            <a:srgbClr val="183247"/>
                          </a:solidFill>
                          <a:latin typeface="Arial"/>
                          <a:ea typeface="Arial"/>
                          <a:cs typeface="Arial"/>
                        </a:rPr>
                        <a:t>Per spel</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€ 4</a:t>
                      </a:r>
                    </a:p>
                  </a:txBody>
                  <a:tcPr marL="91440" marR="91440" marT="45720" marB="45720" anchor="ctr">
                    <a:solidFill>
                      <a:srgbClr val="EFF4F7"/>
                    </a:solidFill>
                  </a:tcPr>
                </a:tc>
              </a:tr>
            </a:tbl>
          </a:graphicData>
        </a:graphic>
      </p:graphicFrame>
      <p:sp>
        <p:nvSpPr>
          <p:cNvPr id="9" name="Bij n = 3">
            <a:extLst xmlns:a="http://schemas.openxmlformats.org/drawingml/2006/main">
              <a:ext uri="{FF2B5EF4-FFF2-40B4-BE49-F238E27FC236}">
                <a16:creationId xmlns:a16="http://schemas.microsoft.com/office/drawing/2014/main" id="{62F9BF65-3413-4A27-82A8-6A95D87AB5DB}"/>
              </a:ext>
            </a:extLst>
          </p:cNvPr>
          <p:cNvSpPr>
            <a:spLocks xmlns:a="http://schemas.openxmlformats.org/drawingml/2006/main" noGrp="1"/>
          </p:cNvSpPr>
          <p:nvPr/>
        </p:nvSpPr>
        <p:spPr>
          <a:xfrm xmlns:a="http://schemas.openxmlformats.org/drawingml/2006/main">
            <a:off x="8096250" y="4352925"/>
            <a:ext cx="657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Bij n = 3</a:t>
            </a:r>
          </a:p>
        </p:txBody>
      </p:sp>
      <p:sp>
        <p:nvSpPr>
          <p:cNvPr id="10" name="T = 12 + 4 × 3&#10;T = 12 + 12 = € 24">
            <a:extLst xmlns:a="http://schemas.openxmlformats.org/drawingml/2006/main">
              <a:ext uri="{FF2B5EF4-FFF2-40B4-BE49-F238E27FC236}">
                <a16:creationId xmlns:a16="http://schemas.microsoft.com/office/drawing/2014/main" id="{A1D7DEE1-AD45-4F37-80DD-DF3C3F80B3C2}"/>
              </a:ext>
            </a:extLst>
          </p:cNvPr>
          <p:cNvSpPr>
            <a:spLocks xmlns:a="http://schemas.openxmlformats.org/drawingml/2006/main" noGrp="1"/>
          </p:cNvSpPr>
          <p:nvPr/>
        </p:nvSpPr>
        <p:spPr>
          <a:xfrm xmlns:a="http://schemas.openxmlformats.org/drawingml/2006/main">
            <a:off x="8096250" y="5276850"/>
            <a:ext cx="6572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T = 12 + 4 × 3</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T = 12 + 12 = € 24</a:t>
            </a:r>
          </a:p>
        </p:txBody>
      </p:sp>
      <p:sp>
        <p:nvSpPr>
          <p:cNvPr id="11" name="Eerst vermenigvuldigen, daarna optellen.">
            <a:extLst xmlns:a="http://schemas.openxmlformats.org/drawingml/2006/main">
              <a:ext uri="{FF2B5EF4-FFF2-40B4-BE49-F238E27FC236}">
                <a16:creationId xmlns:a16="http://schemas.microsoft.com/office/drawing/2014/main" id="{CFEE61E1-5943-4696-B98D-B01F11B8A6AD}"/>
              </a:ext>
            </a:extLst>
          </p:cNvPr>
          <p:cNvSpPr>
            <a:spLocks xmlns:a="http://schemas.openxmlformats.org/drawingml/2006/main" noGrp="1"/>
          </p:cNvSpPr>
          <p:nvPr/>
        </p:nvSpPr>
        <p:spPr>
          <a:xfrm xmlns:a="http://schemas.openxmlformats.org/drawingml/2006/main">
            <a:off x="571500" y="731520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Eerst vermenigvuldigen, daarna optellen.</a:t>
            </a:r>
          </a:p>
        </p:txBody>
      </p:sp>
    </p:spTree>
    <p:extLst>
      <p:ext uri="{BB962C8B-B14F-4D97-AF65-F5344CB8AC3E}">
        <p14:creationId xmlns:p14="http://schemas.microsoft.com/office/powerpoint/2010/main" val="12352602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rugrekenen met dezelfde bewerking aan beide kanten">
            <a:extLst xmlns:a="http://schemas.openxmlformats.org/drawingml/2006/main">
              <a:ext uri="{FF2B5EF4-FFF2-40B4-BE49-F238E27FC236}">
                <a16:creationId xmlns:a16="http://schemas.microsoft.com/office/drawing/2014/main" id="{B061BBC5-C9A9-47E7-9067-6A5F2AF3FA4E}"/>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Terugrekenen met dezelfde bewerking aan beide kanten</a:t>
            </a:r>
          </a:p>
        </p:txBody>
      </p:sp>
      <p:sp>
        <p:nvSpPr>
          <p:cNvPr id="2" name="">
            <a:extLst xmlns:a="http://schemas.openxmlformats.org/drawingml/2006/main">
              <a:ext uri="{FF2B5EF4-FFF2-40B4-BE49-F238E27FC236}">
                <a16:creationId xmlns:a16="http://schemas.microsoft.com/office/drawing/2014/main" id="{8D7D3109-35D5-4BA0-8F23-09019D2BBD5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281ED6B3-C20B-4A54-9D0A-CF0BFF07427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94C05C05-EF18-48FC-A595-757DF8EC505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72E5E40C-9EA0-468F-964F-19CD0D04EA66}"/>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sp>
        <p:nvSpPr>
          <p:cNvPr id="6" name="Spellenhuur: T = 12 + 4n. Gegeven: T = € 44.">
            <a:extLst xmlns:a="http://schemas.openxmlformats.org/drawingml/2006/main">
              <a:ext uri="{FF2B5EF4-FFF2-40B4-BE49-F238E27FC236}">
                <a16:creationId xmlns:a16="http://schemas.microsoft.com/office/drawing/2014/main" id="{C72CF37D-3560-414D-83A4-D999A88E841F}"/>
              </a:ext>
            </a:extLst>
          </p:cNvPr>
          <p:cNvSpPr>
            <a:spLocks xmlns:a="http://schemas.openxmlformats.org/drawingml/2006/main" noGrp="1"/>
          </p:cNvSpPr>
          <p:nvPr/>
        </p:nvSpPr>
        <p:spPr>
          <a:xfrm xmlns:a="http://schemas.openxmlformats.org/drawingml/2006/main">
            <a:off x="571500" y="2295525"/>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Spellenhuur: T = 12 + 4n. Gegeven: T = € 44.</a:t>
            </a:r>
          </a:p>
        </p:txBody>
      </p:sp>
      <p:graphicFrame>
        <p:nvGraphicFramePr>
          <p:cNvPr id="15" name=""/>
          <p:cNvGraphicFramePr/>
          <p:nvPr/>
        </p:nvGraphicFramePr>
        <p:xfrm>
          <a:off xmlns:a="http://schemas.openxmlformats.org/drawingml/2006/main" x="571500" y="3333750"/>
          <a:ext xmlns:a="http://schemas.openxmlformats.org/drawingml/2006/main" cx="14097000" cy="3324225"/>
        </p:xfrm>
        <a:graphic xmlns:a="http://schemas.openxmlformats.org/drawingml/2006/main">
          <a:graphicData uri="http://schemas.openxmlformats.org/drawingml/2006/table">
            <a:tbl>
              <a:tblPr/>
              <a:tblGrid>
                <a:gridCol w="6953250"/>
                <a:gridCol w="7143750"/>
              </a:tblGrid>
              <a:tr h="664845">
                <a:tc>
                  <a:txBody>
                    <a:bodyPr lIns="171450" tIns="95250" rIns="152400" bIns="95250"/>
                    <a:lstStyle/>
                    <a:p>
                      <a:r>
                        <a:rPr sz="2400" b="1">
                          <a:solidFill>
                            <a:srgbClr val="FFFFFF"/>
                          </a:solidFill>
                          <a:latin typeface="Arial"/>
                          <a:ea typeface="Arial"/>
                          <a:cs typeface="Arial"/>
                        </a:rPr>
                        <a:t>Vergelijking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Bewerking</a:t>
                      </a:r>
                    </a:p>
                  </a:txBody>
                  <a:tcPr marL="91440" marR="91440" marT="45720" marB="45720" anchor="ctr">
                    <a:solidFill>
                      <a:srgbClr val="183247"/>
                    </a:solidFill>
                  </a:tcPr>
                </a:tc>
              </a:tr>
              <a:tr h="664845">
                <a:tc>
                  <a:txBody>
                    <a:bodyPr lIns="171450" tIns="95250" rIns="152400" bIns="95250"/>
                    <a:lstStyle/>
                    <a:p>
                      <a:r>
                        <a:rPr sz="2400" b="0">
                          <a:solidFill>
                            <a:srgbClr val="183247"/>
                          </a:solidFill>
                          <a:latin typeface="Arial"/>
                          <a:ea typeface="Arial"/>
                          <a:cs typeface="Arial"/>
                        </a:rPr>
                        <a:t>44 = 12 + 4n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Aan beide kanten 12 aftrekken</a:t>
                      </a:r>
                    </a:p>
                  </a:txBody>
                  <a:tcPr marL="91440" marR="91440" marT="45720" marB="45720" anchor="ctr">
                    <a:solidFill>
                      <a:srgbClr val="FFFFFF"/>
                    </a:solidFill>
                  </a:tcPr>
                </a:tc>
              </a:tr>
              <a:tr h="664845">
                <a:tc>
                  <a:txBody>
                    <a:bodyPr lIns="171450" tIns="95250" rIns="152400" bIns="95250"/>
                    <a:lstStyle/>
                    <a:p>
                      <a:r>
                        <a:rPr sz="2400" b="0">
                          <a:solidFill>
                            <a:srgbClr val="183247"/>
                          </a:solidFill>
                          <a:latin typeface="Arial"/>
                          <a:ea typeface="Arial"/>
                          <a:cs typeface="Arial"/>
                        </a:rPr>
                        <a:t>44 − 12 = 12 + 4n − 12</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Dus 32 = 4n</a:t>
                      </a:r>
                    </a:p>
                  </a:txBody>
                  <a:tcPr marL="91440" marR="91440" marT="45720" marB="45720" anchor="ctr">
                    <a:solidFill>
                      <a:srgbClr val="EFF4F7"/>
                    </a:solidFill>
                  </a:tcPr>
                </a:tc>
              </a:tr>
              <a:tr h="664845">
                <a:tc>
                  <a:txBody>
                    <a:bodyPr lIns="171450" tIns="95250" rIns="152400" bIns="95250"/>
                    <a:lstStyle/>
                    <a:p>
                      <a:r>
                        <a:rPr sz="2400" b="0">
                          <a:solidFill>
                            <a:srgbClr val="183247"/>
                          </a:solidFill>
                          <a:latin typeface="Arial"/>
                          <a:ea typeface="Arial"/>
                          <a:cs typeface="Arial"/>
                        </a:rPr>
                        <a:t>32 / 4 = 4n / 4</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Aan beide kanten delen door 4</a:t>
                      </a:r>
                    </a:p>
                  </a:txBody>
                  <a:tcPr marL="91440" marR="91440" marT="45720" marB="45720" anchor="ctr">
                    <a:solidFill>
                      <a:srgbClr val="FFFFFF"/>
                    </a:solidFill>
                  </a:tcPr>
                </a:tc>
              </a:tr>
              <a:tr h="664845">
                <a:tc>
                  <a:txBody>
                    <a:bodyPr lIns="171450" tIns="95250" rIns="152400" bIns="95250"/>
                    <a:lstStyle/>
                    <a:p>
                      <a:r>
                        <a:rPr sz="2400" b="0">
                          <a:solidFill>
                            <a:srgbClr val="183247"/>
                          </a:solidFill>
                          <a:latin typeface="Arial"/>
                          <a:ea typeface="Arial"/>
                          <a:cs typeface="Arial"/>
                        </a:rPr>
                        <a:t>n = 8 spellen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Geheel aantal binnen 0 t/m 15</a:t>
                      </a:r>
                    </a:p>
                  </a:txBody>
                  <a:tcPr marL="91440" marR="91440" marT="45720" marB="45720" anchor="ctr">
                    <a:solidFill>
                      <a:srgbClr val="EFF4F7"/>
                    </a:solidFill>
                  </a:tcPr>
                </a:tc>
              </a:tr>
            </a:tbl>
          </a:graphicData>
        </a:graphic>
      </p:graphicFrame>
      <p:sp>
        <p:nvSpPr>
          <p:cNvPr id="8" name="Controle: 12 + 4 × 8 = € 44">
            <a:extLst xmlns:a="http://schemas.openxmlformats.org/drawingml/2006/main">
              <a:ext uri="{FF2B5EF4-FFF2-40B4-BE49-F238E27FC236}">
                <a16:creationId xmlns:a16="http://schemas.microsoft.com/office/drawing/2014/main" id="{04010063-56A2-4EC1-905F-DC678C8E9C5D}"/>
              </a:ext>
            </a:extLst>
          </p:cNvPr>
          <p:cNvSpPr>
            <a:spLocks xmlns:a="http://schemas.openxmlformats.org/drawingml/2006/main" noGrp="1"/>
          </p:cNvSpPr>
          <p:nvPr/>
        </p:nvSpPr>
        <p:spPr>
          <a:xfrm xmlns:a="http://schemas.openxmlformats.org/drawingml/2006/main">
            <a:off x="571500" y="716280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Controle: 12 + 4 × 8 = € 44</a:t>
            </a:r>
          </a:p>
        </p:txBody>
      </p:sp>
    </p:spTree>
    <p:extLst>
      <p:ext uri="{BB962C8B-B14F-4D97-AF65-F5344CB8AC3E}">
        <p14:creationId xmlns:p14="http://schemas.microsoft.com/office/powerpoint/2010/main" val="21307602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weemaal zoveel spellen">
            <a:extLst xmlns:a="http://schemas.openxmlformats.org/drawingml/2006/main">
              <a:ext uri="{FF2B5EF4-FFF2-40B4-BE49-F238E27FC236}">
                <a16:creationId xmlns:a16="http://schemas.microsoft.com/office/drawing/2014/main" id="{EF4DE0F0-174C-4924-89DA-C54B59B3C61D}"/>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Tweemaal zoveel spellen</a:t>
            </a:r>
          </a:p>
        </p:txBody>
      </p:sp>
      <p:sp>
        <p:nvSpPr>
          <p:cNvPr id="2" name="">
            <a:extLst xmlns:a="http://schemas.openxmlformats.org/drawingml/2006/main">
              <a:ext uri="{FF2B5EF4-FFF2-40B4-BE49-F238E27FC236}">
                <a16:creationId xmlns:a16="http://schemas.microsoft.com/office/drawing/2014/main" id="{4C8450F3-A91C-4032-BA74-55135558DB5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9EEA5481-F6E7-40AD-BADA-C69ECF58853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D75121FB-ADDE-4E86-81CF-2ED337DA302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3C6B7D58-3D06-441E-8509-2B520BFC17AF}"/>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sp>
        <p:nvSpPr>
          <p:cNvPr id="6" name="Dezelfde betaalregel: T = 12 + 4n">
            <a:extLst xmlns:a="http://schemas.openxmlformats.org/drawingml/2006/main">
              <a:ext uri="{FF2B5EF4-FFF2-40B4-BE49-F238E27FC236}">
                <a16:creationId xmlns:a16="http://schemas.microsoft.com/office/drawing/2014/main" id="{1EAB1ECF-D7F6-46E2-9086-0BA471A72A9F}"/>
              </a:ext>
            </a:extLst>
          </p:cNvPr>
          <p:cNvSpPr>
            <a:spLocks xmlns:a="http://schemas.openxmlformats.org/drawingml/2006/main" noGrp="1"/>
          </p:cNvSpPr>
          <p:nvPr/>
        </p:nvSpPr>
        <p:spPr>
          <a:xfrm xmlns:a="http://schemas.openxmlformats.org/drawingml/2006/main">
            <a:off x="571500" y="23431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Dezelfde betaalregel: T = 12 + 4n</a:t>
            </a:r>
          </a:p>
        </p:txBody>
      </p:sp>
      <p:graphicFrame>
        <p:nvGraphicFramePr>
          <p:cNvPr id="15" name=""/>
          <p:cNvGraphicFramePr/>
          <p:nvPr/>
        </p:nvGraphicFramePr>
        <p:xfrm>
          <a:off xmlns:a="http://schemas.openxmlformats.org/drawingml/2006/main" x="571500" y="3486150"/>
          <a:ext xmlns:a="http://schemas.openxmlformats.org/drawingml/2006/main" cx="14097000" cy="2667000"/>
        </p:xfrm>
        <a:graphic xmlns:a="http://schemas.openxmlformats.org/drawingml/2006/main">
          <a:graphicData uri="http://schemas.openxmlformats.org/drawingml/2006/table">
            <a:tbl>
              <a:tblPr/>
              <a:tblGrid>
                <a:gridCol w="4000500"/>
                <a:gridCol w="6286500"/>
                <a:gridCol w="3810000"/>
              </a:tblGrid>
              <a:tr h="889000">
                <a:tc>
                  <a:txBody>
                    <a:bodyPr lIns="171450" tIns="95250" rIns="152400" bIns="95250"/>
                    <a:lstStyle/>
                    <a:p>
                      <a:r>
                        <a:rPr sz="2550" b="1">
                          <a:solidFill>
                            <a:srgbClr val="FFFFFF"/>
                          </a:solidFill>
                          <a:latin typeface="Arial"/>
                          <a:ea typeface="Arial"/>
                          <a:cs typeface="Arial"/>
                        </a:rPr>
                        <a:t>Aantal spellen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Bedrag</a:t>
                      </a:r>
                    </a:p>
                  </a:txBody>
                  <a:tcPr marL="91440" marR="91440" marT="45720" marB="45720" anchor="ctr">
                    <a:solidFill>
                      <a:srgbClr val="183247"/>
                    </a:solidFill>
                  </a:tcPr>
                </a:tc>
              </a:tr>
              <a:tr h="889000">
                <a:tc>
                  <a:txBody>
                    <a:bodyPr lIns="171450" tIns="95250" rIns="152400" bIns="95250"/>
                    <a:lstStyle/>
                    <a:p>
                      <a:r>
                        <a:rPr sz="2550" b="0">
                          <a:solidFill>
                            <a:srgbClr val="183247"/>
                          </a:solidFill>
                          <a:latin typeface="Arial"/>
                          <a:ea typeface="Arial"/>
                          <a:cs typeface="Arial"/>
                        </a:rPr>
                        <a:t>3</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12 + 4 × 3</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€ 24</a:t>
                      </a:r>
                    </a:p>
                  </a:txBody>
                  <a:tcPr marL="91440" marR="91440" marT="45720" marB="45720" anchor="ctr">
                    <a:solidFill>
                      <a:srgbClr val="FFFFFF"/>
                    </a:solidFill>
                  </a:tcPr>
                </a:tc>
              </a:tr>
              <a:tr h="889000">
                <a:tc>
                  <a:txBody>
                    <a:bodyPr lIns="171450" tIns="95250" rIns="152400" bIns="95250"/>
                    <a:lstStyle/>
                    <a:p>
                      <a:r>
                        <a:rPr sz="2550" b="0">
                          <a:solidFill>
                            <a:srgbClr val="183247"/>
                          </a:solidFill>
                          <a:latin typeface="Arial"/>
                          <a:ea typeface="Arial"/>
                          <a:cs typeface="Arial"/>
                        </a:rPr>
                        <a:t>6</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12 + 4 × 6</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€ 36</a:t>
                      </a:r>
                    </a:p>
                  </a:txBody>
                  <a:tcPr marL="91440" marR="91440" marT="45720" marB="45720" anchor="ctr">
                    <a:solidFill>
                      <a:srgbClr val="EFF4F7"/>
                    </a:solidFill>
                  </a:tcPr>
                </a:tc>
              </a:tr>
            </a:tbl>
          </a:graphicData>
        </a:graphic>
      </p:graphicFrame>
      <p:sp>
        <p:nvSpPr>
          <p:cNvPr id="8" name="Het startbedrag blijft € 12.">
            <a:extLst xmlns:a="http://schemas.openxmlformats.org/drawingml/2006/main">
              <a:ext uri="{FF2B5EF4-FFF2-40B4-BE49-F238E27FC236}">
                <a16:creationId xmlns:a16="http://schemas.microsoft.com/office/drawing/2014/main" id="{B5DB1F4B-B51A-4337-89C7-F5820BF0C812}"/>
              </a:ext>
            </a:extLst>
          </p:cNvPr>
          <p:cNvSpPr>
            <a:spLocks xmlns:a="http://schemas.openxmlformats.org/drawingml/2006/main" noGrp="1"/>
          </p:cNvSpPr>
          <p:nvPr/>
        </p:nvSpPr>
        <p:spPr>
          <a:xfrm xmlns:a="http://schemas.openxmlformats.org/drawingml/2006/main">
            <a:off x="571500" y="68008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Het startbedrag blijft € 12.</a:t>
            </a:r>
          </a:p>
        </p:txBody>
      </p:sp>
    </p:spTree>
    <p:extLst>
      <p:ext uri="{BB962C8B-B14F-4D97-AF65-F5344CB8AC3E}">
        <p14:creationId xmlns:p14="http://schemas.microsoft.com/office/powerpoint/2010/main" val="15150054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Basis en hoogte zijn afstanden">
            <a:extLst xmlns:a="http://schemas.openxmlformats.org/drawingml/2006/main">
              <a:ext uri="{FF2B5EF4-FFF2-40B4-BE49-F238E27FC236}">
                <a16:creationId xmlns:a16="http://schemas.microsoft.com/office/drawing/2014/main" id="{247D18B5-DD71-4638-A21C-65574A95A5D1}"/>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Basis en hoogte zijn afstanden</a:t>
            </a:r>
          </a:p>
        </p:txBody>
      </p:sp>
      <p:sp>
        <p:nvSpPr>
          <p:cNvPr id="2" name="">
            <a:extLst xmlns:a="http://schemas.openxmlformats.org/drawingml/2006/main">
              <a:ext uri="{FF2B5EF4-FFF2-40B4-BE49-F238E27FC236}">
                <a16:creationId xmlns:a16="http://schemas.microsoft.com/office/drawing/2014/main" id="{1CC87918-9EA0-4B78-AEA2-F18CE09FA7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07AFF544-20A9-44E4-A003-83F472BE198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F0944157-B961-46E3-99A5-4EB1A60D3B9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9877FCAB-1312-4ED0-BBCA-A506206AC5C1}"/>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sp>
        <p:nvSpPr>
          <p:cNvPr id="6" name="Twee vormen op een tuinplattegrond">
            <a:extLst xmlns:a="http://schemas.openxmlformats.org/drawingml/2006/main">
              <a:ext uri="{FF2B5EF4-FFF2-40B4-BE49-F238E27FC236}">
                <a16:creationId xmlns:a16="http://schemas.microsoft.com/office/drawing/2014/main" id="{908D9812-72BF-49D6-A74F-66F995ED9B16}"/>
              </a:ext>
            </a:extLst>
          </p:cNvPr>
          <p:cNvSpPr>
            <a:spLocks xmlns:a="http://schemas.openxmlformats.org/drawingml/2006/main" noGrp="1"/>
          </p:cNvSpPr>
          <p:nvPr/>
        </p:nvSpPr>
        <p:spPr>
          <a:xfrm xmlns:a="http://schemas.openxmlformats.org/drawingml/2006/main">
            <a:off x="571500" y="225742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Twee vormen op een tuinplattegrond</a:t>
            </a:r>
          </a:p>
        </p:txBody>
      </p:sp>
      <p:sp>
        <p:nvSpPr>
          <p:cNvPr id="7" name="">
            <a:extLst xmlns:a="http://schemas.openxmlformats.org/drawingml/2006/main">
              <a:ext uri="{FF2B5EF4-FFF2-40B4-BE49-F238E27FC236}">
                <a16:creationId xmlns:a16="http://schemas.microsoft.com/office/drawing/2014/main" id="{730EBBC2-8AD0-41E3-B56C-01ED83F11A73}"/>
              </a:ext>
            </a:extLst>
          </p:cNvPr>
          <p:cNvSpPr>
            <a:spLocks xmlns:a="http://schemas.openxmlformats.org/drawingml/2006/main" noGrp="1"/>
          </p:cNvSpPr>
          <p:nvPr/>
        </p:nvSpPr>
        <p:spPr>
          <a:xfrm xmlns:a="http://schemas.openxmlformats.org/drawingml/2006/main">
            <a:off x="1333500" y="6448425"/>
            <a:ext cx="5095875" cy="0"/>
          </a:xfrm>
          <a:prstGeom xmlns:a="http://schemas.openxmlformats.org/drawingml/2006/main" prst="line">
            <a:avLst/>
          </a:prstGeom>
          <a:ln xmlns:a="http://schemas.openxmlformats.org/drawingml/2006/main" w="19050">
            <a:solidFill>
              <a:srgbClr val="183247"/>
            </a:solidFill>
            <a:prstDash val="solid"/>
          </a:ln>
        </p:spPr>
      </p:sp>
      <p:sp>
        <p:nvSpPr>
          <p:cNvPr id="8" name="">
            <a:extLst xmlns:a="http://schemas.openxmlformats.org/drawingml/2006/main">
              <a:ext uri="{FF2B5EF4-FFF2-40B4-BE49-F238E27FC236}">
                <a16:creationId xmlns:a16="http://schemas.microsoft.com/office/drawing/2014/main" id="{2B78D77C-98B1-4BBB-8D6F-0F01F8AFFA46}"/>
              </a:ext>
            </a:extLst>
          </p:cNvPr>
          <p:cNvSpPr>
            <a:spLocks xmlns:a="http://schemas.openxmlformats.org/drawingml/2006/main" noGrp="1"/>
          </p:cNvSpPr>
          <p:nvPr/>
        </p:nvSpPr>
        <p:spPr>
          <a:xfrm xmlns:a="http://schemas.openxmlformats.org/drawingml/2006/main">
            <a:off x="1333500" y="3571875"/>
            <a:ext cx="0" cy="2876550"/>
          </a:xfrm>
          <a:prstGeom xmlns:a="http://schemas.openxmlformats.org/drawingml/2006/main" prst="line">
            <a:avLst/>
          </a:prstGeom>
          <a:ln xmlns:a="http://schemas.openxmlformats.org/drawingml/2006/main" w="19050">
            <a:solidFill>
              <a:srgbClr val="183247"/>
            </a:solidFill>
            <a:prstDash val="solid"/>
          </a:ln>
        </p:spPr>
      </p:sp>
      <p:sp>
        <p:nvSpPr>
          <p:cNvPr id="9" name="Verticale positie (m)">
            <a:extLst xmlns:a="http://schemas.openxmlformats.org/drawingml/2006/main">
              <a:ext uri="{FF2B5EF4-FFF2-40B4-BE49-F238E27FC236}">
                <a16:creationId xmlns:a16="http://schemas.microsoft.com/office/drawing/2014/main" id="{34E888F5-16D4-4376-B721-8451B6E261E2}"/>
              </a:ext>
            </a:extLst>
          </p:cNvPr>
          <p:cNvSpPr>
            <a:spLocks xmlns:a="http://schemas.openxmlformats.org/drawingml/2006/main" noGrp="1"/>
          </p:cNvSpPr>
          <p:nvPr/>
        </p:nvSpPr>
        <p:spPr>
          <a:xfrm xmlns:a="http://schemas.openxmlformats.org/drawingml/2006/main">
            <a:off x="619125" y="3133725"/>
            <a:ext cx="609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45B6B"/>
                </a:solidFill>
                <a:latin typeface="Arial"/>
                <a:ea typeface="Arial"/>
                <a:cs typeface="Arial"/>
              </a:defRPr>
            </a:pPr>
            <a:r>
              <a:rPr sz="1725" b="0">
                <a:solidFill>
                  <a:srgbClr val="445B6B"/>
                </a:solidFill>
                <a:latin typeface="Arial"/>
                <a:ea typeface="Arial"/>
                <a:cs typeface="Arial"/>
              </a:rPr>
              <a:t>Verticale positie (m)</a:t>
            </a:r>
          </a:p>
        </p:txBody>
      </p:sp>
      <p:sp>
        <p:nvSpPr>
          <p:cNvPr id="10" name="Horizontale positie (m)">
            <a:extLst xmlns:a="http://schemas.openxmlformats.org/drawingml/2006/main">
              <a:ext uri="{FF2B5EF4-FFF2-40B4-BE49-F238E27FC236}">
                <a16:creationId xmlns:a16="http://schemas.microsoft.com/office/drawing/2014/main" id="{896D76A3-A433-4FCF-9286-A07CB28DE776}"/>
              </a:ext>
            </a:extLst>
          </p:cNvPr>
          <p:cNvSpPr>
            <a:spLocks xmlns:a="http://schemas.openxmlformats.org/drawingml/2006/main" noGrp="1"/>
          </p:cNvSpPr>
          <p:nvPr/>
        </p:nvSpPr>
        <p:spPr>
          <a:xfrm xmlns:a="http://schemas.openxmlformats.org/drawingml/2006/main">
            <a:off x="857250" y="6867525"/>
            <a:ext cx="595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445B6B"/>
                </a:solidFill>
                <a:latin typeface="Arial"/>
                <a:ea typeface="Arial"/>
                <a:cs typeface="Arial"/>
              </a:defRPr>
            </a:pPr>
            <a:r>
              <a:rPr sz="1725" b="0">
                <a:solidFill>
                  <a:srgbClr val="445B6B"/>
                </a:solidFill>
                <a:latin typeface="Arial"/>
                <a:ea typeface="Arial"/>
                <a:cs typeface="Arial"/>
              </a:rPr>
              <a:t>Horizontale positie (m)</a:t>
            </a:r>
          </a:p>
        </p:txBody>
      </p:sp>
      <p:sp>
        <p:nvSpPr>
          <p:cNvPr id="11" name="0">
            <a:extLst xmlns:a="http://schemas.openxmlformats.org/drawingml/2006/main">
              <a:ext uri="{FF2B5EF4-FFF2-40B4-BE49-F238E27FC236}">
                <a16:creationId xmlns:a16="http://schemas.microsoft.com/office/drawing/2014/main" id="{BF8E30C5-8361-4AD7-91FF-921F81B57D50}"/>
              </a:ext>
            </a:extLst>
          </p:cNvPr>
          <p:cNvSpPr>
            <a:spLocks xmlns:a="http://schemas.openxmlformats.org/drawingml/2006/main" noGrp="1"/>
          </p:cNvSpPr>
          <p:nvPr/>
        </p:nvSpPr>
        <p:spPr>
          <a:xfrm xmlns:a="http://schemas.openxmlformats.org/drawingml/2006/main">
            <a:off x="1123950" y="65722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0</a:t>
            </a:r>
          </a:p>
        </p:txBody>
      </p:sp>
      <p:sp>
        <p:nvSpPr>
          <p:cNvPr id="12" name="3">
            <a:extLst xmlns:a="http://schemas.openxmlformats.org/drawingml/2006/main">
              <a:ext uri="{FF2B5EF4-FFF2-40B4-BE49-F238E27FC236}">
                <a16:creationId xmlns:a16="http://schemas.microsoft.com/office/drawing/2014/main" id="{C9C2B001-97AB-425E-AFDB-88577116F326}"/>
              </a:ext>
            </a:extLst>
          </p:cNvPr>
          <p:cNvSpPr>
            <a:spLocks xmlns:a="http://schemas.openxmlformats.org/drawingml/2006/main" noGrp="1"/>
          </p:cNvSpPr>
          <p:nvPr/>
        </p:nvSpPr>
        <p:spPr>
          <a:xfrm xmlns:a="http://schemas.openxmlformats.org/drawingml/2006/main">
            <a:off x="2397919" y="65722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3</a:t>
            </a:r>
          </a:p>
        </p:txBody>
      </p:sp>
      <p:sp>
        <p:nvSpPr>
          <p:cNvPr id="13" name="10">
            <a:extLst xmlns:a="http://schemas.openxmlformats.org/drawingml/2006/main">
              <a:ext uri="{FF2B5EF4-FFF2-40B4-BE49-F238E27FC236}">
                <a16:creationId xmlns:a16="http://schemas.microsoft.com/office/drawing/2014/main" id="{AA480C55-BC56-454C-BE5E-09501B05A4E5}"/>
              </a:ext>
            </a:extLst>
          </p:cNvPr>
          <p:cNvSpPr>
            <a:spLocks xmlns:a="http://schemas.openxmlformats.org/drawingml/2006/main" noGrp="1"/>
          </p:cNvSpPr>
          <p:nvPr/>
        </p:nvSpPr>
        <p:spPr>
          <a:xfrm xmlns:a="http://schemas.openxmlformats.org/drawingml/2006/main">
            <a:off x="5370513" y="65722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10</a:t>
            </a:r>
          </a:p>
        </p:txBody>
      </p:sp>
      <p:sp>
        <p:nvSpPr>
          <p:cNvPr id="14" name="2">
            <a:extLst xmlns:a="http://schemas.openxmlformats.org/drawingml/2006/main">
              <a:ext uri="{FF2B5EF4-FFF2-40B4-BE49-F238E27FC236}">
                <a16:creationId xmlns:a16="http://schemas.microsoft.com/office/drawing/2014/main" id="{F6795D5A-27F4-4CCD-B8C4-1D4C9B212D59}"/>
              </a:ext>
            </a:extLst>
          </p:cNvPr>
          <p:cNvSpPr>
            <a:spLocks xmlns:a="http://schemas.openxmlformats.org/drawingml/2006/main" noGrp="1"/>
          </p:cNvSpPr>
          <p:nvPr/>
        </p:nvSpPr>
        <p:spPr>
          <a:xfrm xmlns:a="http://schemas.openxmlformats.org/drawingml/2006/main">
            <a:off x="885825" y="571119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96E842F8-3248-43E9-8710-4091940597DC}"/>
              </a:ext>
            </a:extLst>
          </p:cNvPr>
          <p:cNvSpPr>
            <a:spLocks xmlns:a="http://schemas.openxmlformats.org/drawingml/2006/main" noGrp="1"/>
          </p:cNvSpPr>
          <p:nvPr/>
        </p:nvSpPr>
        <p:spPr>
          <a:xfrm xmlns:a="http://schemas.openxmlformats.org/drawingml/2006/main">
            <a:off x="1333500" y="5873115"/>
            <a:ext cx="1273969" cy="0"/>
          </a:xfrm>
          <a:prstGeom xmlns:a="http://schemas.openxmlformats.org/drawingml/2006/main" prst="line">
            <a:avLst/>
          </a:prstGeom>
          <a:ln xmlns:a="http://schemas.openxmlformats.org/drawingml/2006/main" w="9525">
            <a:solidFill>
              <a:srgbClr val="445B6B"/>
            </a:solidFill>
            <a:prstDash val="dash"/>
          </a:ln>
        </p:spPr>
      </p:sp>
      <p:sp>
        <p:nvSpPr>
          <p:cNvPr id="16" name="5">
            <a:extLst xmlns:a="http://schemas.openxmlformats.org/drawingml/2006/main">
              <a:ext uri="{FF2B5EF4-FFF2-40B4-BE49-F238E27FC236}">
                <a16:creationId xmlns:a16="http://schemas.microsoft.com/office/drawing/2014/main" id="{7CD0935B-0440-4BAC-9C68-F394FB2F347E}"/>
              </a:ext>
            </a:extLst>
          </p:cNvPr>
          <p:cNvSpPr>
            <a:spLocks xmlns:a="http://schemas.openxmlformats.org/drawingml/2006/main" noGrp="1"/>
          </p:cNvSpPr>
          <p:nvPr/>
        </p:nvSpPr>
        <p:spPr>
          <a:xfrm xmlns:a="http://schemas.openxmlformats.org/drawingml/2006/main">
            <a:off x="885825" y="4848225"/>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822ECF59-73F7-4348-B582-805E84EC86BC}"/>
              </a:ext>
            </a:extLst>
          </p:cNvPr>
          <p:cNvSpPr>
            <a:spLocks xmlns:a="http://schemas.openxmlformats.org/drawingml/2006/main" noGrp="1"/>
          </p:cNvSpPr>
          <p:nvPr/>
        </p:nvSpPr>
        <p:spPr>
          <a:xfrm xmlns:a="http://schemas.openxmlformats.org/drawingml/2006/main">
            <a:off x="1333500" y="5010150"/>
            <a:ext cx="1273969" cy="0"/>
          </a:xfrm>
          <a:prstGeom xmlns:a="http://schemas.openxmlformats.org/drawingml/2006/main" prst="line">
            <a:avLst/>
          </a:prstGeom>
          <a:ln xmlns:a="http://schemas.openxmlformats.org/drawingml/2006/main" w="9525">
            <a:solidFill>
              <a:srgbClr val="445B6B"/>
            </a:solidFill>
            <a:prstDash val="dash"/>
          </a:ln>
        </p:spPr>
      </p:sp>
      <p:sp>
        <p:nvSpPr>
          <p:cNvPr id="18" name="">
            <a:extLst xmlns:a="http://schemas.openxmlformats.org/drawingml/2006/main">
              <a:ext uri="{FF2B5EF4-FFF2-40B4-BE49-F238E27FC236}">
                <a16:creationId xmlns:a16="http://schemas.microsoft.com/office/drawing/2014/main" id="{915C1AE6-387B-41B0-ADDD-A37A53995443}"/>
              </a:ext>
            </a:extLst>
          </p:cNvPr>
          <p:cNvSpPr>
            <a:spLocks xmlns:a="http://schemas.openxmlformats.org/drawingml/2006/main" noGrp="1"/>
          </p:cNvSpPr>
          <p:nvPr/>
        </p:nvSpPr>
        <p:spPr>
          <a:xfrm xmlns:a="http://schemas.openxmlformats.org/drawingml/2006/main">
            <a:off x="2607469" y="5873115"/>
            <a:ext cx="0" cy="575310"/>
          </a:xfrm>
          <a:prstGeom xmlns:a="http://schemas.openxmlformats.org/drawingml/2006/main" prst="line">
            <a:avLst/>
          </a:prstGeom>
          <a:ln xmlns:a="http://schemas.openxmlformats.org/drawingml/2006/main" w="9525">
            <a:solidFill>
              <a:srgbClr val="445B6B"/>
            </a:solidFill>
            <a:prstDash val="dash"/>
          </a:ln>
        </p:spPr>
      </p:sp>
      <p:sp>
        <p:nvSpPr>
          <p:cNvPr id="19" name="">
            <a:extLst xmlns:a="http://schemas.openxmlformats.org/drawingml/2006/main">
              <a:ext uri="{FF2B5EF4-FFF2-40B4-BE49-F238E27FC236}">
                <a16:creationId xmlns:a16="http://schemas.microsoft.com/office/drawing/2014/main" id="{3F2AE695-75FF-4779-A88E-57E92E2B4A9A}"/>
              </a:ext>
            </a:extLst>
          </p:cNvPr>
          <p:cNvSpPr>
            <a:spLocks xmlns:a="http://schemas.openxmlformats.org/drawingml/2006/main" noGrp="1"/>
          </p:cNvSpPr>
          <p:nvPr/>
        </p:nvSpPr>
        <p:spPr>
          <a:xfrm xmlns:a="http://schemas.openxmlformats.org/drawingml/2006/main">
            <a:off x="5580063" y="5873115"/>
            <a:ext cx="0" cy="575310"/>
          </a:xfrm>
          <a:prstGeom xmlns:a="http://schemas.openxmlformats.org/drawingml/2006/main" prst="line">
            <a:avLst/>
          </a:prstGeom>
          <a:ln xmlns:a="http://schemas.openxmlformats.org/drawingml/2006/main" w="9525">
            <a:solidFill>
              <a:srgbClr val="445B6B"/>
            </a:solidFill>
            <a:prstDash val="dash"/>
          </a:ln>
        </p:spPr>
      </p:sp>
      <p:sp>
        <p:nvSpPr>
          <p:cNvPr id="20" name="plattegrond-rechthoek">
            <a:extLst xmlns:a="http://schemas.openxmlformats.org/drawingml/2006/main">
              <a:ext uri="{FF2B5EF4-FFF2-40B4-BE49-F238E27FC236}">
                <a16:creationId xmlns:a16="http://schemas.microsoft.com/office/drawing/2014/main" id="{2E4FA818-B2F6-4A89-BC7E-904F97D8572B}"/>
              </a:ext>
            </a:extLst>
          </p:cNvPr>
          <p:cNvSpPr>
            <a:spLocks xmlns:a="http://schemas.openxmlformats.org/drawingml/2006/main" noGrp="1"/>
          </p:cNvSpPr>
          <p:nvPr/>
        </p:nvSpPr>
        <p:spPr>
          <a:xfrm xmlns:a="http://schemas.openxmlformats.org/drawingml/2006/main">
            <a:off x="2607469" y="5010150"/>
            <a:ext cx="2972594" cy="862965"/>
          </a:xfrm>
          <a:custGeom xmlns:a="http://schemas.openxmlformats.org/drawingml/2006/main">
            <a:pathLst>
              <a:path w="2972594" h="862965">
                <a:moveTo>
                  <a:pt x="0" y="862965"/>
                </a:moveTo>
                <a:lnTo>
                  <a:pt x="2972594" y="862965"/>
                </a:lnTo>
                <a:lnTo>
                  <a:pt x="2972594" y="0"/>
                </a:lnTo>
                <a:lnTo>
                  <a:pt x="0" y="0"/>
                </a:lnTo>
                <a:close/>
              </a:path>
            </a:pathLst>
          </a:custGeom>
          <a:solidFill xmlns:a="http://schemas.openxmlformats.org/drawingml/2006/main">
            <a:srgbClr val="D5E6EF"/>
          </a:solidFill>
          <a:ln xmlns:a="http://schemas.openxmlformats.org/drawingml/2006/main" w="28575">
            <a:solidFill>
              <a:srgbClr val="17658A"/>
            </a:solidFill>
          </a:ln>
        </p:spPr>
      </p:sp>
      <p:sp>
        <p:nvSpPr>
          <p:cNvPr id="21" name="Rechthoek">
            <a:extLst xmlns:a="http://schemas.openxmlformats.org/drawingml/2006/main">
              <a:ext uri="{FF2B5EF4-FFF2-40B4-BE49-F238E27FC236}">
                <a16:creationId xmlns:a16="http://schemas.microsoft.com/office/drawing/2014/main" id="{AD23DFDD-04F7-4468-93B1-4ABF1908EBCE}"/>
              </a:ext>
            </a:extLst>
          </p:cNvPr>
          <p:cNvSpPr>
            <a:spLocks xmlns:a="http://schemas.openxmlformats.org/drawingml/2006/main" noGrp="1"/>
          </p:cNvSpPr>
          <p:nvPr/>
        </p:nvSpPr>
        <p:spPr>
          <a:xfrm xmlns:a="http://schemas.openxmlformats.org/drawingml/2006/main">
            <a:off x="1333500" y="6477000"/>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7658A"/>
                </a:solidFill>
                <a:latin typeface="Arial"/>
                <a:ea typeface="Arial"/>
                <a:cs typeface="Arial"/>
              </a:defRPr>
            </a:pPr>
            <a:r>
              <a:rPr sz="2025" b="1">
                <a:solidFill>
                  <a:srgbClr val="17658A"/>
                </a:solidFill>
                <a:latin typeface="Arial"/>
                <a:ea typeface="Arial"/>
                <a:cs typeface="Arial"/>
              </a:rPr>
              <a:t>Rechthoek</a:t>
            </a:r>
          </a:p>
        </p:txBody>
      </p:sp>
      <p:sp>
        <p:nvSpPr>
          <p:cNvPr id="22" name="">
            <a:extLst xmlns:a="http://schemas.openxmlformats.org/drawingml/2006/main">
              <a:ext uri="{FF2B5EF4-FFF2-40B4-BE49-F238E27FC236}">
                <a16:creationId xmlns:a16="http://schemas.microsoft.com/office/drawing/2014/main" id="{A1CB796B-097E-4C19-BF70-E7CCCBE38426}"/>
              </a:ext>
            </a:extLst>
          </p:cNvPr>
          <p:cNvSpPr>
            <a:spLocks xmlns:a="http://schemas.openxmlformats.org/drawingml/2006/main" noGrp="1"/>
          </p:cNvSpPr>
          <p:nvPr/>
        </p:nvSpPr>
        <p:spPr>
          <a:xfrm xmlns:a="http://schemas.openxmlformats.org/drawingml/2006/main">
            <a:off x="8763000" y="6448425"/>
            <a:ext cx="5095875" cy="0"/>
          </a:xfrm>
          <a:prstGeom xmlns:a="http://schemas.openxmlformats.org/drawingml/2006/main" prst="line">
            <a:avLst/>
          </a:prstGeom>
          <a:ln xmlns:a="http://schemas.openxmlformats.org/drawingml/2006/main" w="19050">
            <a:solidFill>
              <a:srgbClr val="183247"/>
            </a:solidFill>
            <a:prstDash val="solid"/>
          </a:ln>
        </p:spPr>
      </p:sp>
      <p:sp>
        <p:nvSpPr>
          <p:cNvPr id="23" name="">
            <a:extLst xmlns:a="http://schemas.openxmlformats.org/drawingml/2006/main">
              <a:ext uri="{FF2B5EF4-FFF2-40B4-BE49-F238E27FC236}">
                <a16:creationId xmlns:a16="http://schemas.microsoft.com/office/drawing/2014/main" id="{A5CE962D-594A-4A69-8F95-794DEF876DD3}"/>
              </a:ext>
            </a:extLst>
          </p:cNvPr>
          <p:cNvSpPr>
            <a:spLocks xmlns:a="http://schemas.openxmlformats.org/drawingml/2006/main" noGrp="1"/>
          </p:cNvSpPr>
          <p:nvPr/>
        </p:nvSpPr>
        <p:spPr>
          <a:xfrm xmlns:a="http://schemas.openxmlformats.org/drawingml/2006/main">
            <a:off x="8763000" y="3571875"/>
            <a:ext cx="0" cy="2876550"/>
          </a:xfrm>
          <a:prstGeom xmlns:a="http://schemas.openxmlformats.org/drawingml/2006/main" prst="line">
            <a:avLst/>
          </a:prstGeom>
          <a:ln xmlns:a="http://schemas.openxmlformats.org/drawingml/2006/main" w="19050">
            <a:solidFill>
              <a:srgbClr val="183247"/>
            </a:solidFill>
            <a:prstDash val="solid"/>
          </a:ln>
        </p:spPr>
      </p:sp>
      <p:sp>
        <p:nvSpPr>
          <p:cNvPr id="24" name="Verticale positie (m)">
            <a:extLst xmlns:a="http://schemas.openxmlformats.org/drawingml/2006/main">
              <a:ext uri="{FF2B5EF4-FFF2-40B4-BE49-F238E27FC236}">
                <a16:creationId xmlns:a16="http://schemas.microsoft.com/office/drawing/2014/main" id="{F4E84770-B3DB-42C3-9994-7497BEADEDB0}"/>
              </a:ext>
            </a:extLst>
          </p:cNvPr>
          <p:cNvSpPr>
            <a:spLocks xmlns:a="http://schemas.openxmlformats.org/drawingml/2006/main" noGrp="1"/>
          </p:cNvSpPr>
          <p:nvPr/>
        </p:nvSpPr>
        <p:spPr>
          <a:xfrm xmlns:a="http://schemas.openxmlformats.org/drawingml/2006/main">
            <a:off x="8048625" y="3133725"/>
            <a:ext cx="609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45B6B"/>
                </a:solidFill>
                <a:latin typeface="Arial"/>
                <a:ea typeface="Arial"/>
                <a:cs typeface="Arial"/>
              </a:defRPr>
            </a:pPr>
            <a:r>
              <a:rPr sz="1725" b="0">
                <a:solidFill>
                  <a:srgbClr val="445B6B"/>
                </a:solidFill>
                <a:latin typeface="Arial"/>
                <a:ea typeface="Arial"/>
                <a:cs typeface="Arial"/>
              </a:rPr>
              <a:t>Verticale positie (m)</a:t>
            </a:r>
          </a:p>
        </p:txBody>
      </p:sp>
      <p:sp>
        <p:nvSpPr>
          <p:cNvPr id="25" name="Horizontale positie (m)">
            <a:extLst xmlns:a="http://schemas.openxmlformats.org/drawingml/2006/main">
              <a:ext uri="{FF2B5EF4-FFF2-40B4-BE49-F238E27FC236}">
                <a16:creationId xmlns:a16="http://schemas.microsoft.com/office/drawing/2014/main" id="{1A3A02B4-02E4-49AB-9383-92214C98E906}"/>
              </a:ext>
            </a:extLst>
          </p:cNvPr>
          <p:cNvSpPr>
            <a:spLocks xmlns:a="http://schemas.openxmlformats.org/drawingml/2006/main" noGrp="1"/>
          </p:cNvSpPr>
          <p:nvPr/>
        </p:nvSpPr>
        <p:spPr>
          <a:xfrm xmlns:a="http://schemas.openxmlformats.org/drawingml/2006/main">
            <a:off x="8286750" y="6867525"/>
            <a:ext cx="595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445B6B"/>
                </a:solidFill>
                <a:latin typeface="Arial"/>
                <a:ea typeface="Arial"/>
                <a:cs typeface="Arial"/>
              </a:defRPr>
            </a:pPr>
            <a:r>
              <a:rPr sz="1725" b="0">
                <a:solidFill>
                  <a:srgbClr val="445B6B"/>
                </a:solidFill>
                <a:latin typeface="Arial"/>
                <a:ea typeface="Arial"/>
                <a:cs typeface="Arial"/>
              </a:rPr>
              <a:t>Horizontale positie (m)</a:t>
            </a:r>
          </a:p>
        </p:txBody>
      </p:sp>
      <p:sp>
        <p:nvSpPr>
          <p:cNvPr id="26" name="0">
            <a:extLst xmlns:a="http://schemas.openxmlformats.org/drawingml/2006/main">
              <a:ext uri="{FF2B5EF4-FFF2-40B4-BE49-F238E27FC236}">
                <a16:creationId xmlns:a16="http://schemas.microsoft.com/office/drawing/2014/main" id="{06FB6632-F6FE-41E3-A8D5-B78D37CE6B81}"/>
              </a:ext>
            </a:extLst>
          </p:cNvPr>
          <p:cNvSpPr>
            <a:spLocks xmlns:a="http://schemas.openxmlformats.org/drawingml/2006/main" noGrp="1"/>
          </p:cNvSpPr>
          <p:nvPr/>
        </p:nvSpPr>
        <p:spPr>
          <a:xfrm xmlns:a="http://schemas.openxmlformats.org/drawingml/2006/main">
            <a:off x="8553450" y="65722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0</a:t>
            </a:r>
          </a:p>
        </p:txBody>
      </p:sp>
      <p:sp>
        <p:nvSpPr>
          <p:cNvPr id="27" name="3">
            <a:extLst xmlns:a="http://schemas.openxmlformats.org/drawingml/2006/main">
              <a:ext uri="{FF2B5EF4-FFF2-40B4-BE49-F238E27FC236}">
                <a16:creationId xmlns:a16="http://schemas.microsoft.com/office/drawing/2014/main" id="{EB91A401-E5AD-4C74-B8E8-D5C2C6DCDC0B}"/>
              </a:ext>
            </a:extLst>
          </p:cNvPr>
          <p:cNvSpPr>
            <a:spLocks xmlns:a="http://schemas.openxmlformats.org/drawingml/2006/main" noGrp="1"/>
          </p:cNvSpPr>
          <p:nvPr/>
        </p:nvSpPr>
        <p:spPr>
          <a:xfrm xmlns:a="http://schemas.openxmlformats.org/drawingml/2006/main">
            <a:off x="9827419" y="65722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3</a:t>
            </a:r>
          </a:p>
        </p:txBody>
      </p:sp>
      <p:sp>
        <p:nvSpPr>
          <p:cNvPr id="28" name="10">
            <a:extLst xmlns:a="http://schemas.openxmlformats.org/drawingml/2006/main">
              <a:ext uri="{FF2B5EF4-FFF2-40B4-BE49-F238E27FC236}">
                <a16:creationId xmlns:a16="http://schemas.microsoft.com/office/drawing/2014/main" id="{E0A8486D-6895-4507-B2AD-6797BD81B602}"/>
              </a:ext>
            </a:extLst>
          </p:cNvPr>
          <p:cNvSpPr>
            <a:spLocks xmlns:a="http://schemas.openxmlformats.org/drawingml/2006/main" noGrp="1"/>
          </p:cNvSpPr>
          <p:nvPr/>
        </p:nvSpPr>
        <p:spPr>
          <a:xfrm xmlns:a="http://schemas.openxmlformats.org/drawingml/2006/main">
            <a:off x="12800013" y="65722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10</a:t>
            </a:r>
          </a:p>
        </p:txBody>
      </p:sp>
      <p:sp>
        <p:nvSpPr>
          <p:cNvPr id="29" name="2">
            <a:extLst xmlns:a="http://schemas.openxmlformats.org/drawingml/2006/main">
              <a:ext uri="{FF2B5EF4-FFF2-40B4-BE49-F238E27FC236}">
                <a16:creationId xmlns:a16="http://schemas.microsoft.com/office/drawing/2014/main" id="{56B31363-69B1-4D64-88FE-6A8CA9F68715}"/>
              </a:ext>
            </a:extLst>
          </p:cNvPr>
          <p:cNvSpPr>
            <a:spLocks xmlns:a="http://schemas.openxmlformats.org/drawingml/2006/main" noGrp="1"/>
          </p:cNvSpPr>
          <p:nvPr/>
        </p:nvSpPr>
        <p:spPr>
          <a:xfrm xmlns:a="http://schemas.openxmlformats.org/drawingml/2006/main">
            <a:off x="8315325" y="571119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2</a:t>
            </a:r>
          </a:p>
        </p:txBody>
      </p:sp>
      <p:sp>
        <p:nvSpPr>
          <p:cNvPr id="30" name="">
            <a:extLst xmlns:a="http://schemas.openxmlformats.org/drawingml/2006/main">
              <a:ext uri="{FF2B5EF4-FFF2-40B4-BE49-F238E27FC236}">
                <a16:creationId xmlns:a16="http://schemas.microsoft.com/office/drawing/2014/main" id="{895EE69E-710F-4940-81D7-A1FEC0DC9D82}"/>
              </a:ext>
            </a:extLst>
          </p:cNvPr>
          <p:cNvSpPr>
            <a:spLocks xmlns:a="http://schemas.openxmlformats.org/drawingml/2006/main" noGrp="1"/>
          </p:cNvSpPr>
          <p:nvPr/>
        </p:nvSpPr>
        <p:spPr>
          <a:xfrm xmlns:a="http://schemas.openxmlformats.org/drawingml/2006/main">
            <a:off x="8763000" y="5873115"/>
            <a:ext cx="1273969" cy="0"/>
          </a:xfrm>
          <a:prstGeom xmlns:a="http://schemas.openxmlformats.org/drawingml/2006/main" prst="line">
            <a:avLst/>
          </a:prstGeom>
          <a:ln xmlns:a="http://schemas.openxmlformats.org/drawingml/2006/main" w="9525">
            <a:solidFill>
              <a:srgbClr val="445B6B"/>
            </a:solidFill>
            <a:prstDash val="dash"/>
          </a:ln>
        </p:spPr>
      </p:sp>
      <p:sp>
        <p:nvSpPr>
          <p:cNvPr id="31" name="5">
            <a:extLst xmlns:a="http://schemas.openxmlformats.org/drawingml/2006/main">
              <a:ext uri="{FF2B5EF4-FFF2-40B4-BE49-F238E27FC236}">
                <a16:creationId xmlns:a16="http://schemas.microsoft.com/office/drawing/2014/main" id="{36E1E6DA-BD17-4E3F-B2D0-A366D125FEF1}"/>
              </a:ext>
            </a:extLst>
          </p:cNvPr>
          <p:cNvSpPr>
            <a:spLocks xmlns:a="http://schemas.openxmlformats.org/drawingml/2006/main" noGrp="1"/>
          </p:cNvSpPr>
          <p:nvPr/>
        </p:nvSpPr>
        <p:spPr>
          <a:xfrm xmlns:a="http://schemas.openxmlformats.org/drawingml/2006/main">
            <a:off x="8315325" y="4848225"/>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5</a:t>
            </a:r>
          </a:p>
        </p:txBody>
      </p:sp>
      <p:sp>
        <p:nvSpPr>
          <p:cNvPr id="32" name="">
            <a:extLst xmlns:a="http://schemas.openxmlformats.org/drawingml/2006/main">
              <a:ext uri="{FF2B5EF4-FFF2-40B4-BE49-F238E27FC236}">
                <a16:creationId xmlns:a16="http://schemas.microsoft.com/office/drawing/2014/main" id="{46A2E811-9E45-4A23-95D0-834B2587905C}"/>
              </a:ext>
            </a:extLst>
          </p:cNvPr>
          <p:cNvSpPr>
            <a:spLocks xmlns:a="http://schemas.openxmlformats.org/drawingml/2006/main" noGrp="1"/>
          </p:cNvSpPr>
          <p:nvPr/>
        </p:nvSpPr>
        <p:spPr>
          <a:xfrm xmlns:a="http://schemas.openxmlformats.org/drawingml/2006/main">
            <a:off x="8763000" y="5010150"/>
            <a:ext cx="1273969" cy="0"/>
          </a:xfrm>
          <a:prstGeom xmlns:a="http://schemas.openxmlformats.org/drawingml/2006/main" prst="line">
            <a:avLst/>
          </a:prstGeom>
          <a:ln xmlns:a="http://schemas.openxmlformats.org/drawingml/2006/main" w="9525">
            <a:solidFill>
              <a:srgbClr val="445B6B"/>
            </a:solidFill>
            <a:prstDash val="dash"/>
          </a:ln>
        </p:spPr>
      </p:sp>
      <p:sp>
        <p:nvSpPr>
          <p:cNvPr id="33" name="">
            <a:extLst xmlns:a="http://schemas.openxmlformats.org/drawingml/2006/main">
              <a:ext uri="{FF2B5EF4-FFF2-40B4-BE49-F238E27FC236}">
                <a16:creationId xmlns:a16="http://schemas.microsoft.com/office/drawing/2014/main" id="{9056DCE4-9E87-4B5B-99AB-B58A0A59FF75}"/>
              </a:ext>
            </a:extLst>
          </p:cNvPr>
          <p:cNvSpPr>
            <a:spLocks xmlns:a="http://schemas.openxmlformats.org/drawingml/2006/main" noGrp="1"/>
          </p:cNvSpPr>
          <p:nvPr/>
        </p:nvSpPr>
        <p:spPr>
          <a:xfrm xmlns:a="http://schemas.openxmlformats.org/drawingml/2006/main">
            <a:off x="10036969" y="5873115"/>
            <a:ext cx="0" cy="575310"/>
          </a:xfrm>
          <a:prstGeom xmlns:a="http://schemas.openxmlformats.org/drawingml/2006/main" prst="line">
            <a:avLst/>
          </a:prstGeom>
          <a:ln xmlns:a="http://schemas.openxmlformats.org/drawingml/2006/main" w="9525">
            <a:solidFill>
              <a:srgbClr val="445B6B"/>
            </a:solidFill>
            <a:prstDash val="dash"/>
          </a:ln>
        </p:spPr>
      </p:sp>
      <p:sp>
        <p:nvSpPr>
          <p:cNvPr id="34" name="">
            <a:extLst xmlns:a="http://schemas.openxmlformats.org/drawingml/2006/main">
              <a:ext uri="{FF2B5EF4-FFF2-40B4-BE49-F238E27FC236}">
                <a16:creationId xmlns:a16="http://schemas.microsoft.com/office/drawing/2014/main" id="{859D5214-FFEB-45AF-8171-A28CE0E3C1CB}"/>
              </a:ext>
            </a:extLst>
          </p:cNvPr>
          <p:cNvSpPr>
            <a:spLocks xmlns:a="http://schemas.openxmlformats.org/drawingml/2006/main" noGrp="1"/>
          </p:cNvSpPr>
          <p:nvPr/>
        </p:nvSpPr>
        <p:spPr>
          <a:xfrm xmlns:a="http://schemas.openxmlformats.org/drawingml/2006/main">
            <a:off x="13009563" y="5873115"/>
            <a:ext cx="0" cy="575310"/>
          </a:xfrm>
          <a:prstGeom xmlns:a="http://schemas.openxmlformats.org/drawingml/2006/main" prst="line">
            <a:avLst/>
          </a:prstGeom>
          <a:ln xmlns:a="http://schemas.openxmlformats.org/drawingml/2006/main" w="9525">
            <a:solidFill>
              <a:srgbClr val="445B6B"/>
            </a:solidFill>
            <a:prstDash val="dash"/>
          </a:ln>
        </p:spPr>
      </p:sp>
      <p:sp>
        <p:nvSpPr>
          <p:cNvPr id="35" name="plattegrond-driehoek">
            <a:extLst xmlns:a="http://schemas.openxmlformats.org/drawingml/2006/main">
              <a:ext uri="{FF2B5EF4-FFF2-40B4-BE49-F238E27FC236}">
                <a16:creationId xmlns:a16="http://schemas.microsoft.com/office/drawing/2014/main" id="{E16E8956-3EC3-4403-88FA-0545AD38E992}"/>
              </a:ext>
            </a:extLst>
          </p:cNvPr>
          <p:cNvSpPr>
            <a:spLocks xmlns:a="http://schemas.openxmlformats.org/drawingml/2006/main" noGrp="1"/>
          </p:cNvSpPr>
          <p:nvPr/>
        </p:nvSpPr>
        <p:spPr>
          <a:xfrm xmlns:a="http://schemas.openxmlformats.org/drawingml/2006/main">
            <a:off x="10036969" y="5010150"/>
            <a:ext cx="2972594" cy="862965"/>
          </a:xfrm>
          <a:custGeom xmlns:a="http://schemas.openxmlformats.org/drawingml/2006/main">
            <a:pathLst>
              <a:path w="2972594" h="862965">
                <a:moveTo>
                  <a:pt x="0" y="862965"/>
                </a:moveTo>
                <a:lnTo>
                  <a:pt x="2972594" y="862965"/>
                </a:lnTo>
                <a:lnTo>
                  <a:pt x="0" y="0"/>
                </a:lnTo>
                <a:close/>
              </a:path>
            </a:pathLst>
          </a:custGeom>
          <a:solidFill xmlns:a="http://schemas.openxmlformats.org/drawingml/2006/main">
            <a:srgbClr val="D4E5DF"/>
          </a:solidFill>
          <a:ln xmlns:a="http://schemas.openxmlformats.org/drawingml/2006/main" w="28575">
            <a:solidFill>
              <a:srgbClr val="20665B"/>
            </a:solidFill>
          </a:ln>
        </p:spPr>
      </p:sp>
      <p:sp>
        <p:nvSpPr>
          <p:cNvPr id="36" name="Driehoek">
            <a:extLst xmlns:a="http://schemas.openxmlformats.org/drawingml/2006/main">
              <a:ext uri="{FF2B5EF4-FFF2-40B4-BE49-F238E27FC236}">
                <a16:creationId xmlns:a16="http://schemas.microsoft.com/office/drawing/2014/main" id="{43514D43-463E-4BDF-9B09-8649BD125F24}"/>
              </a:ext>
            </a:extLst>
          </p:cNvPr>
          <p:cNvSpPr>
            <a:spLocks xmlns:a="http://schemas.openxmlformats.org/drawingml/2006/main" noGrp="1"/>
          </p:cNvSpPr>
          <p:nvPr/>
        </p:nvSpPr>
        <p:spPr>
          <a:xfrm xmlns:a="http://schemas.openxmlformats.org/drawingml/2006/main">
            <a:off x="8763000" y="6477000"/>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20665B"/>
                </a:solidFill>
                <a:latin typeface="Arial"/>
                <a:ea typeface="Arial"/>
                <a:cs typeface="Arial"/>
              </a:defRPr>
            </a:pPr>
            <a:r>
              <a:rPr sz="2025" b="1">
                <a:solidFill>
                  <a:srgbClr val="20665B"/>
                </a:solidFill>
                <a:latin typeface="Arial"/>
                <a:ea typeface="Arial"/>
                <a:cs typeface="Arial"/>
              </a:rPr>
              <a:t>Driehoek</a:t>
            </a:r>
          </a:p>
        </p:txBody>
      </p:sp>
      <p:sp>
        <p:nvSpPr>
          <p:cNvPr id="37" name="Basis = 10 − 3 = 7 m">
            <a:extLst xmlns:a="http://schemas.openxmlformats.org/drawingml/2006/main">
              <a:ext uri="{FF2B5EF4-FFF2-40B4-BE49-F238E27FC236}">
                <a16:creationId xmlns:a16="http://schemas.microsoft.com/office/drawing/2014/main" id="{7C00B619-DA84-4B6B-BC94-9AEF556CB951}"/>
              </a:ext>
            </a:extLst>
          </p:cNvPr>
          <p:cNvSpPr>
            <a:spLocks xmlns:a="http://schemas.openxmlformats.org/drawingml/2006/main" noGrp="1"/>
          </p:cNvSpPr>
          <p:nvPr/>
        </p:nvSpPr>
        <p:spPr>
          <a:xfrm xmlns:a="http://schemas.openxmlformats.org/drawingml/2006/main">
            <a:off x="571500" y="7458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Basis = 10 − 3 = 7 m</a:t>
            </a:r>
          </a:p>
        </p:txBody>
      </p:sp>
      <p:sp>
        <p:nvSpPr>
          <p:cNvPr id="38" name="Hoogte = 5 − 2 = 3 m">
            <a:extLst xmlns:a="http://schemas.openxmlformats.org/drawingml/2006/main">
              <a:ext uri="{FF2B5EF4-FFF2-40B4-BE49-F238E27FC236}">
                <a16:creationId xmlns:a16="http://schemas.microsoft.com/office/drawing/2014/main" id="{65FCB7E6-052C-4B86-9E1B-D8DFE98CA351}"/>
              </a:ext>
            </a:extLst>
          </p:cNvPr>
          <p:cNvSpPr>
            <a:spLocks xmlns:a="http://schemas.openxmlformats.org/drawingml/2006/main" noGrp="1"/>
          </p:cNvSpPr>
          <p:nvPr/>
        </p:nvSpPr>
        <p:spPr>
          <a:xfrm xmlns:a="http://schemas.openxmlformats.org/drawingml/2006/main">
            <a:off x="8001000" y="7458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Hoogte = 5 − 2 = 3 m</a:t>
            </a:r>
          </a:p>
        </p:txBody>
      </p:sp>
    </p:spTree>
    <p:extLst>
      <p:ext uri="{BB962C8B-B14F-4D97-AF65-F5344CB8AC3E}">
        <p14:creationId xmlns:p14="http://schemas.microsoft.com/office/powerpoint/2010/main" val="11098961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Oppervlakte met dezelfde basis en hoogte">
            <a:extLst xmlns:a="http://schemas.openxmlformats.org/drawingml/2006/main">
              <a:ext uri="{FF2B5EF4-FFF2-40B4-BE49-F238E27FC236}">
                <a16:creationId xmlns:a16="http://schemas.microsoft.com/office/drawing/2014/main" id="{8A0EA34B-3AC8-4B40-A384-5CFC393EA02E}"/>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Oppervlakte met dezelfde basis en hoogte</a:t>
            </a:r>
          </a:p>
        </p:txBody>
      </p:sp>
      <p:sp>
        <p:nvSpPr>
          <p:cNvPr id="2" name="">
            <a:extLst xmlns:a="http://schemas.openxmlformats.org/drawingml/2006/main">
              <a:ext uri="{FF2B5EF4-FFF2-40B4-BE49-F238E27FC236}">
                <a16:creationId xmlns:a16="http://schemas.microsoft.com/office/drawing/2014/main" id="{C89A8AF3-FB48-4EA3-B5D6-D0C07164E2B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D3EF2DF0-33F0-4F0B-A1C9-4B191434A32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E35B6802-F527-4CFA-AAA9-10A0EB46E63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72B8F925-B7A9-4065-9D9E-D6D791ABE946}"/>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sp>
        <p:nvSpPr>
          <p:cNvPr id="6" name="">
            <a:extLst xmlns:a="http://schemas.openxmlformats.org/drawingml/2006/main">
              <a:ext uri="{FF2B5EF4-FFF2-40B4-BE49-F238E27FC236}">
                <a16:creationId xmlns:a16="http://schemas.microsoft.com/office/drawing/2014/main" id="{58D74B7D-7156-4757-BD44-C4E395353683}"/>
              </a:ext>
            </a:extLst>
          </p:cNvPr>
          <p:cNvSpPr>
            <a:spLocks xmlns:a="http://schemas.openxmlformats.org/drawingml/2006/main" noGrp="1"/>
          </p:cNvSpPr>
          <p:nvPr/>
        </p:nvSpPr>
        <p:spPr>
          <a:xfrm xmlns:a="http://schemas.openxmlformats.org/drawingml/2006/main">
            <a:off x="1333500" y="5553075"/>
            <a:ext cx="5095875" cy="0"/>
          </a:xfrm>
          <a:prstGeom xmlns:a="http://schemas.openxmlformats.org/drawingml/2006/main" prst="line">
            <a:avLst/>
          </a:prstGeom>
          <a:ln xmlns:a="http://schemas.openxmlformats.org/drawingml/2006/main" w="19050">
            <a:solidFill>
              <a:srgbClr val="183247"/>
            </a:solidFill>
            <a:prstDash val="solid"/>
          </a:ln>
        </p:spPr>
      </p:sp>
      <p:sp>
        <p:nvSpPr>
          <p:cNvPr id="7" name="">
            <a:extLst xmlns:a="http://schemas.openxmlformats.org/drawingml/2006/main">
              <a:ext uri="{FF2B5EF4-FFF2-40B4-BE49-F238E27FC236}">
                <a16:creationId xmlns:a16="http://schemas.microsoft.com/office/drawing/2014/main" id="{6A2C320C-391A-4B65-8222-1F7DB7B17426}"/>
              </a:ext>
            </a:extLst>
          </p:cNvPr>
          <p:cNvSpPr>
            <a:spLocks xmlns:a="http://schemas.openxmlformats.org/drawingml/2006/main" noGrp="1"/>
          </p:cNvSpPr>
          <p:nvPr/>
        </p:nvSpPr>
        <p:spPr>
          <a:xfrm xmlns:a="http://schemas.openxmlformats.org/drawingml/2006/main">
            <a:off x="1333500" y="2981325"/>
            <a:ext cx="0" cy="2571750"/>
          </a:xfrm>
          <a:prstGeom xmlns:a="http://schemas.openxmlformats.org/drawingml/2006/main" prst="line">
            <a:avLst/>
          </a:prstGeom>
          <a:ln xmlns:a="http://schemas.openxmlformats.org/drawingml/2006/main" w="19050">
            <a:solidFill>
              <a:srgbClr val="183247"/>
            </a:solidFill>
            <a:prstDash val="solid"/>
          </a:ln>
        </p:spPr>
      </p:sp>
      <p:sp>
        <p:nvSpPr>
          <p:cNvPr id="8" name="Verticale positie (m)">
            <a:extLst xmlns:a="http://schemas.openxmlformats.org/drawingml/2006/main">
              <a:ext uri="{FF2B5EF4-FFF2-40B4-BE49-F238E27FC236}">
                <a16:creationId xmlns:a16="http://schemas.microsoft.com/office/drawing/2014/main" id="{C1B7F5A7-A1FA-4732-BD1F-F0AD72591402}"/>
              </a:ext>
            </a:extLst>
          </p:cNvPr>
          <p:cNvSpPr>
            <a:spLocks xmlns:a="http://schemas.openxmlformats.org/drawingml/2006/main" noGrp="1"/>
          </p:cNvSpPr>
          <p:nvPr/>
        </p:nvSpPr>
        <p:spPr>
          <a:xfrm xmlns:a="http://schemas.openxmlformats.org/drawingml/2006/main">
            <a:off x="619125" y="2543175"/>
            <a:ext cx="609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45B6B"/>
                </a:solidFill>
                <a:latin typeface="Arial"/>
                <a:ea typeface="Arial"/>
                <a:cs typeface="Arial"/>
              </a:defRPr>
            </a:pPr>
            <a:r>
              <a:rPr sz="1725" b="0">
                <a:solidFill>
                  <a:srgbClr val="445B6B"/>
                </a:solidFill>
                <a:latin typeface="Arial"/>
                <a:ea typeface="Arial"/>
                <a:cs typeface="Arial"/>
              </a:rPr>
              <a:t>Verticale positie (m)</a:t>
            </a:r>
          </a:p>
        </p:txBody>
      </p:sp>
      <p:sp>
        <p:nvSpPr>
          <p:cNvPr id="9" name="Horizontale positie (m)">
            <a:extLst xmlns:a="http://schemas.openxmlformats.org/drawingml/2006/main">
              <a:ext uri="{FF2B5EF4-FFF2-40B4-BE49-F238E27FC236}">
                <a16:creationId xmlns:a16="http://schemas.microsoft.com/office/drawing/2014/main" id="{F87E524C-0A6C-4BC6-BB90-A583FFD962FC}"/>
              </a:ext>
            </a:extLst>
          </p:cNvPr>
          <p:cNvSpPr>
            <a:spLocks xmlns:a="http://schemas.openxmlformats.org/drawingml/2006/main" noGrp="1"/>
          </p:cNvSpPr>
          <p:nvPr/>
        </p:nvSpPr>
        <p:spPr>
          <a:xfrm xmlns:a="http://schemas.openxmlformats.org/drawingml/2006/main">
            <a:off x="857250" y="5972175"/>
            <a:ext cx="595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445B6B"/>
                </a:solidFill>
                <a:latin typeface="Arial"/>
                <a:ea typeface="Arial"/>
                <a:cs typeface="Arial"/>
              </a:defRPr>
            </a:pPr>
            <a:r>
              <a:rPr sz="1725" b="0">
                <a:solidFill>
                  <a:srgbClr val="445B6B"/>
                </a:solidFill>
                <a:latin typeface="Arial"/>
                <a:ea typeface="Arial"/>
                <a:cs typeface="Arial"/>
              </a:rPr>
              <a:t>Horizontale positie (m)</a:t>
            </a:r>
          </a:p>
        </p:txBody>
      </p:sp>
      <p:sp>
        <p:nvSpPr>
          <p:cNvPr id="10" name="0">
            <a:extLst xmlns:a="http://schemas.openxmlformats.org/drawingml/2006/main">
              <a:ext uri="{FF2B5EF4-FFF2-40B4-BE49-F238E27FC236}">
                <a16:creationId xmlns:a16="http://schemas.microsoft.com/office/drawing/2014/main" id="{AD64D8D6-87AC-46A1-ADD7-426E017EA03F}"/>
              </a:ext>
            </a:extLst>
          </p:cNvPr>
          <p:cNvSpPr>
            <a:spLocks xmlns:a="http://schemas.openxmlformats.org/drawingml/2006/main" noGrp="1"/>
          </p:cNvSpPr>
          <p:nvPr/>
        </p:nvSpPr>
        <p:spPr>
          <a:xfrm xmlns:a="http://schemas.openxmlformats.org/drawingml/2006/main">
            <a:off x="1123950" y="567690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0</a:t>
            </a:r>
          </a:p>
        </p:txBody>
      </p:sp>
      <p:sp>
        <p:nvSpPr>
          <p:cNvPr id="11" name="3">
            <a:extLst xmlns:a="http://schemas.openxmlformats.org/drawingml/2006/main">
              <a:ext uri="{FF2B5EF4-FFF2-40B4-BE49-F238E27FC236}">
                <a16:creationId xmlns:a16="http://schemas.microsoft.com/office/drawing/2014/main" id="{082FD971-9BCC-4B4C-9B3A-C5761C53F618}"/>
              </a:ext>
            </a:extLst>
          </p:cNvPr>
          <p:cNvSpPr>
            <a:spLocks xmlns:a="http://schemas.openxmlformats.org/drawingml/2006/main" noGrp="1"/>
          </p:cNvSpPr>
          <p:nvPr/>
        </p:nvSpPr>
        <p:spPr>
          <a:xfrm xmlns:a="http://schemas.openxmlformats.org/drawingml/2006/main">
            <a:off x="2397919" y="567690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3</a:t>
            </a:r>
          </a:p>
        </p:txBody>
      </p:sp>
      <p:sp>
        <p:nvSpPr>
          <p:cNvPr id="12" name="10">
            <a:extLst xmlns:a="http://schemas.openxmlformats.org/drawingml/2006/main">
              <a:ext uri="{FF2B5EF4-FFF2-40B4-BE49-F238E27FC236}">
                <a16:creationId xmlns:a16="http://schemas.microsoft.com/office/drawing/2014/main" id="{6B0CF268-C21B-4FFD-A252-320050C82D17}"/>
              </a:ext>
            </a:extLst>
          </p:cNvPr>
          <p:cNvSpPr>
            <a:spLocks xmlns:a="http://schemas.openxmlformats.org/drawingml/2006/main" noGrp="1"/>
          </p:cNvSpPr>
          <p:nvPr/>
        </p:nvSpPr>
        <p:spPr>
          <a:xfrm xmlns:a="http://schemas.openxmlformats.org/drawingml/2006/main">
            <a:off x="5370513" y="567690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10</a:t>
            </a:r>
          </a:p>
        </p:txBody>
      </p:sp>
      <p:sp>
        <p:nvSpPr>
          <p:cNvPr id="13" name="2">
            <a:extLst xmlns:a="http://schemas.openxmlformats.org/drawingml/2006/main">
              <a:ext uri="{FF2B5EF4-FFF2-40B4-BE49-F238E27FC236}">
                <a16:creationId xmlns:a16="http://schemas.microsoft.com/office/drawing/2014/main" id="{EB48A8B6-4A0F-4794-892F-EF62242B8C04}"/>
              </a:ext>
            </a:extLst>
          </p:cNvPr>
          <p:cNvSpPr>
            <a:spLocks xmlns:a="http://schemas.openxmlformats.org/drawingml/2006/main" noGrp="1"/>
          </p:cNvSpPr>
          <p:nvPr/>
        </p:nvSpPr>
        <p:spPr>
          <a:xfrm xmlns:a="http://schemas.openxmlformats.org/drawingml/2006/main">
            <a:off x="885825" y="48768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86B762CF-F2D6-4D6E-A111-957F4323C77D}"/>
              </a:ext>
            </a:extLst>
          </p:cNvPr>
          <p:cNvSpPr>
            <a:spLocks xmlns:a="http://schemas.openxmlformats.org/drawingml/2006/main" noGrp="1"/>
          </p:cNvSpPr>
          <p:nvPr/>
        </p:nvSpPr>
        <p:spPr>
          <a:xfrm xmlns:a="http://schemas.openxmlformats.org/drawingml/2006/main">
            <a:off x="1333500" y="5038725"/>
            <a:ext cx="1273969" cy="0"/>
          </a:xfrm>
          <a:prstGeom xmlns:a="http://schemas.openxmlformats.org/drawingml/2006/main" prst="line">
            <a:avLst/>
          </a:prstGeom>
          <a:ln xmlns:a="http://schemas.openxmlformats.org/drawingml/2006/main" w="9525">
            <a:solidFill>
              <a:srgbClr val="445B6B"/>
            </a:solidFill>
            <a:prstDash val="dash"/>
          </a:ln>
        </p:spPr>
      </p:sp>
      <p:sp>
        <p:nvSpPr>
          <p:cNvPr id="15" name="5">
            <a:extLst xmlns:a="http://schemas.openxmlformats.org/drawingml/2006/main">
              <a:ext uri="{FF2B5EF4-FFF2-40B4-BE49-F238E27FC236}">
                <a16:creationId xmlns:a16="http://schemas.microsoft.com/office/drawing/2014/main" id="{B8029892-A282-4D37-AFAD-633263C0F27B}"/>
              </a:ext>
            </a:extLst>
          </p:cNvPr>
          <p:cNvSpPr>
            <a:spLocks xmlns:a="http://schemas.openxmlformats.org/drawingml/2006/main" noGrp="1"/>
          </p:cNvSpPr>
          <p:nvPr/>
        </p:nvSpPr>
        <p:spPr>
          <a:xfrm xmlns:a="http://schemas.openxmlformats.org/drawingml/2006/main">
            <a:off x="885825" y="4105275"/>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A8C36D40-866F-4DDE-A59C-381FD636AD38}"/>
              </a:ext>
            </a:extLst>
          </p:cNvPr>
          <p:cNvSpPr>
            <a:spLocks xmlns:a="http://schemas.openxmlformats.org/drawingml/2006/main" noGrp="1"/>
          </p:cNvSpPr>
          <p:nvPr/>
        </p:nvSpPr>
        <p:spPr>
          <a:xfrm xmlns:a="http://schemas.openxmlformats.org/drawingml/2006/main">
            <a:off x="1333500" y="4267200"/>
            <a:ext cx="1273969" cy="0"/>
          </a:xfrm>
          <a:prstGeom xmlns:a="http://schemas.openxmlformats.org/drawingml/2006/main" prst="line">
            <a:avLst/>
          </a:prstGeom>
          <a:ln xmlns:a="http://schemas.openxmlformats.org/drawingml/2006/main" w="9525">
            <a:solidFill>
              <a:srgbClr val="445B6B"/>
            </a:solidFill>
            <a:prstDash val="dash"/>
          </a:ln>
        </p:spPr>
      </p:sp>
      <p:sp>
        <p:nvSpPr>
          <p:cNvPr id="17" name="">
            <a:extLst xmlns:a="http://schemas.openxmlformats.org/drawingml/2006/main">
              <a:ext uri="{FF2B5EF4-FFF2-40B4-BE49-F238E27FC236}">
                <a16:creationId xmlns:a16="http://schemas.microsoft.com/office/drawing/2014/main" id="{BC5C4FFB-1042-4B92-8A0D-162EC759CA79}"/>
              </a:ext>
            </a:extLst>
          </p:cNvPr>
          <p:cNvSpPr>
            <a:spLocks xmlns:a="http://schemas.openxmlformats.org/drawingml/2006/main" noGrp="1"/>
          </p:cNvSpPr>
          <p:nvPr/>
        </p:nvSpPr>
        <p:spPr>
          <a:xfrm xmlns:a="http://schemas.openxmlformats.org/drawingml/2006/main">
            <a:off x="2607469" y="5038725"/>
            <a:ext cx="0" cy="514350"/>
          </a:xfrm>
          <a:prstGeom xmlns:a="http://schemas.openxmlformats.org/drawingml/2006/main" prst="line">
            <a:avLst/>
          </a:prstGeom>
          <a:ln xmlns:a="http://schemas.openxmlformats.org/drawingml/2006/main" w="9525">
            <a:solidFill>
              <a:srgbClr val="445B6B"/>
            </a:solidFill>
            <a:prstDash val="dash"/>
          </a:ln>
        </p:spPr>
      </p:sp>
      <p:sp>
        <p:nvSpPr>
          <p:cNvPr id="18" name="">
            <a:extLst xmlns:a="http://schemas.openxmlformats.org/drawingml/2006/main">
              <a:ext uri="{FF2B5EF4-FFF2-40B4-BE49-F238E27FC236}">
                <a16:creationId xmlns:a16="http://schemas.microsoft.com/office/drawing/2014/main" id="{8AF62827-599C-4DA7-B10D-600189F2EDE0}"/>
              </a:ext>
            </a:extLst>
          </p:cNvPr>
          <p:cNvSpPr>
            <a:spLocks xmlns:a="http://schemas.openxmlformats.org/drawingml/2006/main" noGrp="1"/>
          </p:cNvSpPr>
          <p:nvPr/>
        </p:nvSpPr>
        <p:spPr>
          <a:xfrm xmlns:a="http://schemas.openxmlformats.org/drawingml/2006/main">
            <a:off x="5580063" y="5038725"/>
            <a:ext cx="0" cy="514350"/>
          </a:xfrm>
          <a:prstGeom xmlns:a="http://schemas.openxmlformats.org/drawingml/2006/main" prst="line">
            <a:avLst/>
          </a:prstGeom>
          <a:ln xmlns:a="http://schemas.openxmlformats.org/drawingml/2006/main" w="9525">
            <a:solidFill>
              <a:srgbClr val="445B6B"/>
            </a:solidFill>
            <a:prstDash val="dash"/>
          </a:ln>
        </p:spPr>
      </p:sp>
      <p:sp>
        <p:nvSpPr>
          <p:cNvPr id="19" name="plattegrond-rechthoek">
            <a:extLst xmlns:a="http://schemas.openxmlformats.org/drawingml/2006/main">
              <a:ext uri="{FF2B5EF4-FFF2-40B4-BE49-F238E27FC236}">
                <a16:creationId xmlns:a16="http://schemas.microsoft.com/office/drawing/2014/main" id="{FBB09073-984E-4B21-ACCC-98D7F63CAD9A}"/>
              </a:ext>
            </a:extLst>
          </p:cNvPr>
          <p:cNvSpPr>
            <a:spLocks xmlns:a="http://schemas.openxmlformats.org/drawingml/2006/main" noGrp="1"/>
          </p:cNvSpPr>
          <p:nvPr/>
        </p:nvSpPr>
        <p:spPr>
          <a:xfrm xmlns:a="http://schemas.openxmlformats.org/drawingml/2006/main">
            <a:off x="2607469" y="4267200"/>
            <a:ext cx="2972594" cy="771525"/>
          </a:xfrm>
          <a:custGeom xmlns:a="http://schemas.openxmlformats.org/drawingml/2006/main">
            <a:pathLst>
              <a:path w="2972594" h="771525">
                <a:moveTo>
                  <a:pt x="0" y="771525"/>
                </a:moveTo>
                <a:lnTo>
                  <a:pt x="2972594" y="771525"/>
                </a:lnTo>
                <a:lnTo>
                  <a:pt x="2972594" y="0"/>
                </a:lnTo>
                <a:lnTo>
                  <a:pt x="0" y="0"/>
                </a:lnTo>
                <a:close/>
              </a:path>
            </a:pathLst>
          </a:custGeom>
          <a:solidFill xmlns:a="http://schemas.openxmlformats.org/drawingml/2006/main">
            <a:srgbClr val="D5E6EF"/>
          </a:solidFill>
          <a:ln xmlns:a="http://schemas.openxmlformats.org/drawingml/2006/main" w="28575">
            <a:solidFill>
              <a:srgbClr val="17658A"/>
            </a:solidFill>
          </a:ln>
        </p:spPr>
      </p:sp>
      <p:sp>
        <p:nvSpPr>
          <p:cNvPr id="20" name="Rechthoek">
            <a:extLst xmlns:a="http://schemas.openxmlformats.org/drawingml/2006/main">
              <a:ext uri="{FF2B5EF4-FFF2-40B4-BE49-F238E27FC236}">
                <a16:creationId xmlns:a16="http://schemas.microsoft.com/office/drawing/2014/main" id="{99D92D92-5D28-4AAF-9959-28E3302E927F}"/>
              </a:ext>
            </a:extLst>
          </p:cNvPr>
          <p:cNvSpPr>
            <a:spLocks xmlns:a="http://schemas.openxmlformats.org/drawingml/2006/main" noGrp="1"/>
          </p:cNvSpPr>
          <p:nvPr/>
        </p:nvSpPr>
        <p:spPr>
          <a:xfrm xmlns:a="http://schemas.openxmlformats.org/drawingml/2006/main">
            <a:off x="1333500" y="5581650"/>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7658A"/>
                </a:solidFill>
                <a:latin typeface="Arial"/>
                <a:ea typeface="Arial"/>
                <a:cs typeface="Arial"/>
              </a:defRPr>
            </a:pPr>
            <a:r>
              <a:rPr sz="2025" b="1">
                <a:solidFill>
                  <a:srgbClr val="17658A"/>
                </a:solidFill>
                <a:latin typeface="Arial"/>
                <a:ea typeface="Arial"/>
                <a:cs typeface="Arial"/>
              </a:rPr>
              <a:t>Rechthoek</a:t>
            </a:r>
          </a:p>
        </p:txBody>
      </p:sp>
      <p:sp>
        <p:nvSpPr>
          <p:cNvPr id="21" name="">
            <a:extLst xmlns:a="http://schemas.openxmlformats.org/drawingml/2006/main">
              <a:ext uri="{FF2B5EF4-FFF2-40B4-BE49-F238E27FC236}">
                <a16:creationId xmlns:a16="http://schemas.microsoft.com/office/drawing/2014/main" id="{818030B6-68AC-4900-A769-A023BF45945B}"/>
              </a:ext>
            </a:extLst>
          </p:cNvPr>
          <p:cNvSpPr>
            <a:spLocks xmlns:a="http://schemas.openxmlformats.org/drawingml/2006/main" noGrp="1"/>
          </p:cNvSpPr>
          <p:nvPr/>
        </p:nvSpPr>
        <p:spPr>
          <a:xfrm xmlns:a="http://schemas.openxmlformats.org/drawingml/2006/main">
            <a:off x="8763000" y="5553075"/>
            <a:ext cx="5095875" cy="0"/>
          </a:xfrm>
          <a:prstGeom xmlns:a="http://schemas.openxmlformats.org/drawingml/2006/main" prst="line">
            <a:avLst/>
          </a:prstGeom>
          <a:ln xmlns:a="http://schemas.openxmlformats.org/drawingml/2006/main" w="19050">
            <a:solidFill>
              <a:srgbClr val="183247"/>
            </a:solidFill>
            <a:prstDash val="solid"/>
          </a:ln>
        </p:spPr>
      </p:sp>
      <p:sp>
        <p:nvSpPr>
          <p:cNvPr id="22" name="">
            <a:extLst xmlns:a="http://schemas.openxmlformats.org/drawingml/2006/main">
              <a:ext uri="{FF2B5EF4-FFF2-40B4-BE49-F238E27FC236}">
                <a16:creationId xmlns:a16="http://schemas.microsoft.com/office/drawing/2014/main" id="{7CBCF502-D627-44D4-A244-3B3EC146785F}"/>
              </a:ext>
            </a:extLst>
          </p:cNvPr>
          <p:cNvSpPr>
            <a:spLocks xmlns:a="http://schemas.openxmlformats.org/drawingml/2006/main" noGrp="1"/>
          </p:cNvSpPr>
          <p:nvPr/>
        </p:nvSpPr>
        <p:spPr>
          <a:xfrm xmlns:a="http://schemas.openxmlformats.org/drawingml/2006/main">
            <a:off x="8763000" y="2981325"/>
            <a:ext cx="0" cy="2571750"/>
          </a:xfrm>
          <a:prstGeom xmlns:a="http://schemas.openxmlformats.org/drawingml/2006/main" prst="line">
            <a:avLst/>
          </a:prstGeom>
          <a:ln xmlns:a="http://schemas.openxmlformats.org/drawingml/2006/main" w="19050">
            <a:solidFill>
              <a:srgbClr val="183247"/>
            </a:solidFill>
            <a:prstDash val="solid"/>
          </a:ln>
        </p:spPr>
      </p:sp>
      <p:sp>
        <p:nvSpPr>
          <p:cNvPr id="23" name="Verticale positie (m)">
            <a:extLst xmlns:a="http://schemas.openxmlformats.org/drawingml/2006/main">
              <a:ext uri="{FF2B5EF4-FFF2-40B4-BE49-F238E27FC236}">
                <a16:creationId xmlns:a16="http://schemas.microsoft.com/office/drawing/2014/main" id="{E19A9A79-5A11-4772-A840-94593E8EFB10}"/>
              </a:ext>
            </a:extLst>
          </p:cNvPr>
          <p:cNvSpPr>
            <a:spLocks xmlns:a="http://schemas.openxmlformats.org/drawingml/2006/main" noGrp="1"/>
          </p:cNvSpPr>
          <p:nvPr/>
        </p:nvSpPr>
        <p:spPr>
          <a:xfrm xmlns:a="http://schemas.openxmlformats.org/drawingml/2006/main">
            <a:off x="8048625" y="2543175"/>
            <a:ext cx="609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45B6B"/>
                </a:solidFill>
                <a:latin typeface="Arial"/>
                <a:ea typeface="Arial"/>
                <a:cs typeface="Arial"/>
              </a:defRPr>
            </a:pPr>
            <a:r>
              <a:rPr sz="1725" b="0">
                <a:solidFill>
                  <a:srgbClr val="445B6B"/>
                </a:solidFill>
                <a:latin typeface="Arial"/>
                <a:ea typeface="Arial"/>
                <a:cs typeface="Arial"/>
              </a:rPr>
              <a:t>Verticale positie (m)</a:t>
            </a:r>
          </a:p>
        </p:txBody>
      </p:sp>
      <p:sp>
        <p:nvSpPr>
          <p:cNvPr id="24" name="Horizontale positie (m)">
            <a:extLst xmlns:a="http://schemas.openxmlformats.org/drawingml/2006/main">
              <a:ext uri="{FF2B5EF4-FFF2-40B4-BE49-F238E27FC236}">
                <a16:creationId xmlns:a16="http://schemas.microsoft.com/office/drawing/2014/main" id="{5F31BEA5-0074-445D-9EE1-18F49C111C1C}"/>
              </a:ext>
            </a:extLst>
          </p:cNvPr>
          <p:cNvSpPr>
            <a:spLocks xmlns:a="http://schemas.openxmlformats.org/drawingml/2006/main" noGrp="1"/>
          </p:cNvSpPr>
          <p:nvPr/>
        </p:nvSpPr>
        <p:spPr>
          <a:xfrm xmlns:a="http://schemas.openxmlformats.org/drawingml/2006/main">
            <a:off x="8286750" y="5972175"/>
            <a:ext cx="595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445B6B"/>
                </a:solidFill>
                <a:latin typeface="Arial"/>
                <a:ea typeface="Arial"/>
                <a:cs typeface="Arial"/>
              </a:defRPr>
            </a:pPr>
            <a:r>
              <a:rPr sz="1725" b="0">
                <a:solidFill>
                  <a:srgbClr val="445B6B"/>
                </a:solidFill>
                <a:latin typeface="Arial"/>
                <a:ea typeface="Arial"/>
                <a:cs typeface="Arial"/>
              </a:rPr>
              <a:t>Horizontale positie (m)</a:t>
            </a:r>
          </a:p>
        </p:txBody>
      </p:sp>
      <p:sp>
        <p:nvSpPr>
          <p:cNvPr id="25" name="0">
            <a:extLst xmlns:a="http://schemas.openxmlformats.org/drawingml/2006/main">
              <a:ext uri="{FF2B5EF4-FFF2-40B4-BE49-F238E27FC236}">
                <a16:creationId xmlns:a16="http://schemas.microsoft.com/office/drawing/2014/main" id="{3986997A-8095-4710-A9D0-1162536D9432}"/>
              </a:ext>
            </a:extLst>
          </p:cNvPr>
          <p:cNvSpPr>
            <a:spLocks xmlns:a="http://schemas.openxmlformats.org/drawingml/2006/main" noGrp="1"/>
          </p:cNvSpPr>
          <p:nvPr/>
        </p:nvSpPr>
        <p:spPr>
          <a:xfrm xmlns:a="http://schemas.openxmlformats.org/drawingml/2006/main">
            <a:off x="8553450" y="567690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0</a:t>
            </a:r>
          </a:p>
        </p:txBody>
      </p:sp>
      <p:sp>
        <p:nvSpPr>
          <p:cNvPr id="26" name="3">
            <a:extLst xmlns:a="http://schemas.openxmlformats.org/drawingml/2006/main">
              <a:ext uri="{FF2B5EF4-FFF2-40B4-BE49-F238E27FC236}">
                <a16:creationId xmlns:a16="http://schemas.microsoft.com/office/drawing/2014/main" id="{E7946DEF-71CA-451A-B7F3-BA37C36A3B34}"/>
              </a:ext>
            </a:extLst>
          </p:cNvPr>
          <p:cNvSpPr>
            <a:spLocks xmlns:a="http://schemas.openxmlformats.org/drawingml/2006/main" noGrp="1"/>
          </p:cNvSpPr>
          <p:nvPr/>
        </p:nvSpPr>
        <p:spPr>
          <a:xfrm xmlns:a="http://schemas.openxmlformats.org/drawingml/2006/main">
            <a:off x="9827419" y="567690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3</a:t>
            </a:r>
          </a:p>
        </p:txBody>
      </p:sp>
      <p:sp>
        <p:nvSpPr>
          <p:cNvPr id="27" name="10">
            <a:extLst xmlns:a="http://schemas.openxmlformats.org/drawingml/2006/main">
              <a:ext uri="{FF2B5EF4-FFF2-40B4-BE49-F238E27FC236}">
                <a16:creationId xmlns:a16="http://schemas.microsoft.com/office/drawing/2014/main" id="{3B9A3DF3-F044-4C41-8AC2-B7DAD83F0FFE}"/>
              </a:ext>
            </a:extLst>
          </p:cNvPr>
          <p:cNvSpPr>
            <a:spLocks xmlns:a="http://schemas.openxmlformats.org/drawingml/2006/main" noGrp="1"/>
          </p:cNvSpPr>
          <p:nvPr/>
        </p:nvSpPr>
        <p:spPr>
          <a:xfrm xmlns:a="http://schemas.openxmlformats.org/drawingml/2006/main">
            <a:off x="12800013" y="567690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10</a:t>
            </a:r>
          </a:p>
        </p:txBody>
      </p:sp>
      <p:sp>
        <p:nvSpPr>
          <p:cNvPr id="28" name="2">
            <a:extLst xmlns:a="http://schemas.openxmlformats.org/drawingml/2006/main">
              <a:ext uri="{FF2B5EF4-FFF2-40B4-BE49-F238E27FC236}">
                <a16:creationId xmlns:a16="http://schemas.microsoft.com/office/drawing/2014/main" id="{363E4531-FE3A-4C18-8318-DB1EE6E79927}"/>
              </a:ext>
            </a:extLst>
          </p:cNvPr>
          <p:cNvSpPr>
            <a:spLocks xmlns:a="http://schemas.openxmlformats.org/drawingml/2006/main" noGrp="1"/>
          </p:cNvSpPr>
          <p:nvPr/>
        </p:nvSpPr>
        <p:spPr>
          <a:xfrm xmlns:a="http://schemas.openxmlformats.org/drawingml/2006/main">
            <a:off x="8315325" y="48768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2</a:t>
            </a:r>
          </a:p>
        </p:txBody>
      </p:sp>
      <p:sp>
        <p:nvSpPr>
          <p:cNvPr id="29" name="">
            <a:extLst xmlns:a="http://schemas.openxmlformats.org/drawingml/2006/main">
              <a:ext uri="{FF2B5EF4-FFF2-40B4-BE49-F238E27FC236}">
                <a16:creationId xmlns:a16="http://schemas.microsoft.com/office/drawing/2014/main" id="{BFD3CD46-B402-4364-8F30-52A213CB40C0}"/>
              </a:ext>
            </a:extLst>
          </p:cNvPr>
          <p:cNvSpPr>
            <a:spLocks xmlns:a="http://schemas.openxmlformats.org/drawingml/2006/main" noGrp="1"/>
          </p:cNvSpPr>
          <p:nvPr/>
        </p:nvSpPr>
        <p:spPr>
          <a:xfrm xmlns:a="http://schemas.openxmlformats.org/drawingml/2006/main">
            <a:off x="8763000" y="5038725"/>
            <a:ext cx="1273969" cy="0"/>
          </a:xfrm>
          <a:prstGeom xmlns:a="http://schemas.openxmlformats.org/drawingml/2006/main" prst="line">
            <a:avLst/>
          </a:prstGeom>
          <a:ln xmlns:a="http://schemas.openxmlformats.org/drawingml/2006/main" w="9525">
            <a:solidFill>
              <a:srgbClr val="445B6B"/>
            </a:solidFill>
            <a:prstDash val="dash"/>
          </a:ln>
        </p:spPr>
      </p:sp>
      <p:sp>
        <p:nvSpPr>
          <p:cNvPr id="30" name="5">
            <a:extLst xmlns:a="http://schemas.openxmlformats.org/drawingml/2006/main">
              <a:ext uri="{FF2B5EF4-FFF2-40B4-BE49-F238E27FC236}">
                <a16:creationId xmlns:a16="http://schemas.microsoft.com/office/drawing/2014/main" id="{887C7E92-FD34-4D15-931C-F4C20CB8DCA7}"/>
              </a:ext>
            </a:extLst>
          </p:cNvPr>
          <p:cNvSpPr>
            <a:spLocks xmlns:a="http://schemas.openxmlformats.org/drawingml/2006/main" noGrp="1"/>
          </p:cNvSpPr>
          <p:nvPr/>
        </p:nvSpPr>
        <p:spPr>
          <a:xfrm xmlns:a="http://schemas.openxmlformats.org/drawingml/2006/main">
            <a:off x="8315325" y="4105275"/>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5</a:t>
            </a:r>
          </a:p>
        </p:txBody>
      </p:sp>
      <p:sp>
        <p:nvSpPr>
          <p:cNvPr id="31" name="">
            <a:extLst xmlns:a="http://schemas.openxmlformats.org/drawingml/2006/main">
              <a:ext uri="{FF2B5EF4-FFF2-40B4-BE49-F238E27FC236}">
                <a16:creationId xmlns:a16="http://schemas.microsoft.com/office/drawing/2014/main" id="{DE65881E-8892-4400-AD20-4B25CB6550A5}"/>
              </a:ext>
            </a:extLst>
          </p:cNvPr>
          <p:cNvSpPr>
            <a:spLocks xmlns:a="http://schemas.openxmlformats.org/drawingml/2006/main" noGrp="1"/>
          </p:cNvSpPr>
          <p:nvPr/>
        </p:nvSpPr>
        <p:spPr>
          <a:xfrm xmlns:a="http://schemas.openxmlformats.org/drawingml/2006/main">
            <a:off x="8763000" y="4267200"/>
            <a:ext cx="1273969" cy="0"/>
          </a:xfrm>
          <a:prstGeom xmlns:a="http://schemas.openxmlformats.org/drawingml/2006/main" prst="line">
            <a:avLst/>
          </a:prstGeom>
          <a:ln xmlns:a="http://schemas.openxmlformats.org/drawingml/2006/main" w="9525">
            <a:solidFill>
              <a:srgbClr val="445B6B"/>
            </a:solidFill>
            <a:prstDash val="dash"/>
          </a:ln>
        </p:spPr>
      </p:sp>
      <p:sp>
        <p:nvSpPr>
          <p:cNvPr id="32" name="">
            <a:extLst xmlns:a="http://schemas.openxmlformats.org/drawingml/2006/main">
              <a:ext uri="{FF2B5EF4-FFF2-40B4-BE49-F238E27FC236}">
                <a16:creationId xmlns:a16="http://schemas.microsoft.com/office/drawing/2014/main" id="{CCBC8913-B004-4297-8165-F67A291B7FA3}"/>
              </a:ext>
            </a:extLst>
          </p:cNvPr>
          <p:cNvSpPr>
            <a:spLocks xmlns:a="http://schemas.openxmlformats.org/drawingml/2006/main" noGrp="1"/>
          </p:cNvSpPr>
          <p:nvPr/>
        </p:nvSpPr>
        <p:spPr>
          <a:xfrm xmlns:a="http://schemas.openxmlformats.org/drawingml/2006/main">
            <a:off x="10036969" y="5038725"/>
            <a:ext cx="0" cy="514350"/>
          </a:xfrm>
          <a:prstGeom xmlns:a="http://schemas.openxmlformats.org/drawingml/2006/main" prst="line">
            <a:avLst/>
          </a:prstGeom>
          <a:ln xmlns:a="http://schemas.openxmlformats.org/drawingml/2006/main" w="9525">
            <a:solidFill>
              <a:srgbClr val="445B6B"/>
            </a:solidFill>
            <a:prstDash val="dash"/>
          </a:ln>
        </p:spPr>
      </p:sp>
      <p:sp>
        <p:nvSpPr>
          <p:cNvPr id="33" name="">
            <a:extLst xmlns:a="http://schemas.openxmlformats.org/drawingml/2006/main">
              <a:ext uri="{FF2B5EF4-FFF2-40B4-BE49-F238E27FC236}">
                <a16:creationId xmlns:a16="http://schemas.microsoft.com/office/drawing/2014/main" id="{681B01E0-304F-44F3-82DC-10DDDF748E96}"/>
              </a:ext>
            </a:extLst>
          </p:cNvPr>
          <p:cNvSpPr>
            <a:spLocks xmlns:a="http://schemas.openxmlformats.org/drawingml/2006/main" noGrp="1"/>
          </p:cNvSpPr>
          <p:nvPr/>
        </p:nvSpPr>
        <p:spPr>
          <a:xfrm xmlns:a="http://schemas.openxmlformats.org/drawingml/2006/main">
            <a:off x="13009563" y="5038725"/>
            <a:ext cx="0" cy="514350"/>
          </a:xfrm>
          <a:prstGeom xmlns:a="http://schemas.openxmlformats.org/drawingml/2006/main" prst="line">
            <a:avLst/>
          </a:prstGeom>
          <a:ln xmlns:a="http://schemas.openxmlformats.org/drawingml/2006/main" w="9525">
            <a:solidFill>
              <a:srgbClr val="445B6B"/>
            </a:solidFill>
            <a:prstDash val="dash"/>
          </a:ln>
        </p:spPr>
      </p:sp>
      <p:sp>
        <p:nvSpPr>
          <p:cNvPr id="34" name="plattegrond-driehoek">
            <a:extLst xmlns:a="http://schemas.openxmlformats.org/drawingml/2006/main">
              <a:ext uri="{FF2B5EF4-FFF2-40B4-BE49-F238E27FC236}">
                <a16:creationId xmlns:a16="http://schemas.microsoft.com/office/drawing/2014/main" id="{D737EE87-B4F1-45E7-A702-486950A6388B}"/>
              </a:ext>
            </a:extLst>
          </p:cNvPr>
          <p:cNvSpPr>
            <a:spLocks xmlns:a="http://schemas.openxmlformats.org/drawingml/2006/main" noGrp="1"/>
          </p:cNvSpPr>
          <p:nvPr/>
        </p:nvSpPr>
        <p:spPr>
          <a:xfrm xmlns:a="http://schemas.openxmlformats.org/drawingml/2006/main">
            <a:off x="10036969" y="4267200"/>
            <a:ext cx="2972594" cy="771525"/>
          </a:xfrm>
          <a:custGeom xmlns:a="http://schemas.openxmlformats.org/drawingml/2006/main">
            <a:pathLst>
              <a:path w="2972594" h="771525">
                <a:moveTo>
                  <a:pt x="0" y="771525"/>
                </a:moveTo>
                <a:lnTo>
                  <a:pt x="2972594" y="771525"/>
                </a:lnTo>
                <a:lnTo>
                  <a:pt x="0" y="0"/>
                </a:lnTo>
                <a:close/>
              </a:path>
            </a:pathLst>
          </a:custGeom>
          <a:solidFill xmlns:a="http://schemas.openxmlformats.org/drawingml/2006/main">
            <a:srgbClr val="D4E5DF"/>
          </a:solidFill>
          <a:ln xmlns:a="http://schemas.openxmlformats.org/drawingml/2006/main" w="28575">
            <a:solidFill>
              <a:srgbClr val="20665B"/>
            </a:solidFill>
          </a:ln>
        </p:spPr>
      </p:sp>
      <p:sp>
        <p:nvSpPr>
          <p:cNvPr id="35" name="Driehoek">
            <a:extLst xmlns:a="http://schemas.openxmlformats.org/drawingml/2006/main">
              <a:ext uri="{FF2B5EF4-FFF2-40B4-BE49-F238E27FC236}">
                <a16:creationId xmlns:a16="http://schemas.microsoft.com/office/drawing/2014/main" id="{5E72680B-DB86-40B6-8CA6-A8C3E37FAE5F}"/>
              </a:ext>
            </a:extLst>
          </p:cNvPr>
          <p:cNvSpPr>
            <a:spLocks xmlns:a="http://schemas.openxmlformats.org/drawingml/2006/main" noGrp="1"/>
          </p:cNvSpPr>
          <p:nvPr/>
        </p:nvSpPr>
        <p:spPr>
          <a:xfrm xmlns:a="http://schemas.openxmlformats.org/drawingml/2006/main">
            <a:off x="8763000" y="5581650"/>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20665B"/>
                </a:solidFill>
                <a:latin typeface="Arial"/>
                <a:ea typeface="Arial"/>
                <a:cs typeface="Arial"/>
              </a:defRPr>
            </a:pPr>
            <a:r>
              <a:rPr sz="2025" b="1">
                <a:solidFill>
                  <a:srgbClr val="20665B"/>
                </a:solidFill>
                <a:latin typeface="Arial"/>
                <a:ea typeface="Arial"/>
                <a:cs typeface="Arial"/>
              </a:rPr>
              <a:t>Driehoek</a:t>
            </a:r>
          </a:p>
        </p:txBody>
      </p:sp>
      <p:sp>
        <p:nvSpPr>
          <p:cNvPr id="36" name="Rechthoek = basis × hoogte&#10;7 × 3 = 21 m²">
            <a:extLst xmlns:a="http://schemas.openxmlformats.org/drawingml/2006/main">
              <a:ext uri="{FF2B5EF4-FFF2-40B4-BE49-F238E27FC236}">
                <a16:creationId xmlns:a16="http://schemas.microsoft.com/office/drawing/2014/main" id="{D85BC560-8536-433F-9BCB-88499676E87C}"/>
              </a:ext>
            </a:extLst>
          </p:cNvPr>
          <p:cNvSpPr>
            <a:spLocks xmlns:a="http://schemas.openxmlformats.org/drawingml/2006/main" noGrp="1"/>
          </p:cNvSpPr>
          <p:nvPr/>
        </p:nvSpPr>
        <p:spPr>
          <a:xfrm xmlns:a="http://schemas.openxmlformats.org/drawingml/2006/main">
            <a:off x="571500" y="6677025"/>
            <a:ext cx="6667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Rechthoek = basis × hoogte</a:t>
            </a:r>
          </a:p>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7 × 3 = 21 m²</a:t>
            </a:r>
          </a:p>
        </p:txBody>
      </p:sp>
      <p:sp>
        <p:nvSpPr>
          <p:cNvPr id="37" name="Driehoek = ½ × basis × hoogte&#10;½ × 7 × 3 = 10,5 m²">
            <a:extLst xmlns:a="http://schemas.openxmlformats.org/drawingml/2006/main">
              <a:ext uri="{FF2B5EF4-FFF2-40B4-BE49-F238E27FC236}">
                <a16:creationId xmlns:a16="http://schemas.microsoft.com/office/drawing/2014/main" id="{8176589D-3D5D-4DDA-9A21-4F8240C87CCD}"/>
              </a:ext>
            </a:extLst>
          </p:cNvPr>
          <p:cNvSpPr>
            <a:spLocks xmlns:a="http://schemas.openxmlformats.org/drawingml/2006/main" noGrp="1"/>
          </p:cNvSpPr>
          <p:nvPr/>
        </p:nvSpPr>
        <p:spPr>
          <a:xfrm xmlns:a="http://schemas.openxmlformats.org/drawingml/2006/main">
            <a:off x="8001000" y="6677025"/>
            <a:ext cx="6667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Driehoek = ½ × basis × hoogte</a:t>
            </a:r>
          </a:p>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½ × 7 × 3 = 10,5 m²</a:t>
            </a:r>
          </a:p>
        </p:txBody>
      </p:sp>
    </p:spTree>
    <p:extLst>
      <p:ext uri="{BB962C8B-B14F-4D97-AF65-F5344CB8AC3E}">
        <p14:creationId xmlns:p14="http://schemas.microsoft.com/office/powerpoint/2010/main" val="10753911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erschil per dag bij ongelijke intervallen">
            <a:extLst xmlns:a="http://schemas.openxmlformats.org/drawingml/2006/main">
              <a:ext uri="{FF2B5EF4-FFF2-40B4-BE49-F238E27FC236}">
                <a16:creationId xmlns:a16="http://schemas.microsoft.com/office/drawing/2014/main" id="{6ECB513C-B543-4427-908D-2CDC70FC8B1C}"/>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Verschil per dag bij ongelijke intervallen</a:t>
            </a:r>
          </a:p>
        </p:txBody>
      </p:sp>
      <p:sp>
        <p:nvSpPr>
          <p:cNvPr id="2" name="">
            <a:extLst xmlns:a="http://schemas.openxmlformats.org/drawingml/2006/main">
              <a:ext uri="{FF2B5EF4-FFF2-40B4-BE49-F238E27FC236}">
                <a16:creationId xmlns:a16="http://schemas.microsoft.com/office/drawing/2014/main" id="{41430B9D-007E-480C-9BDF-C7551B7F98D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53D6F7E7-59A8-4906-B7A3-A45131F0127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943494CA-9968-4C1C-A55C-C6EEC52BC8E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C619C278-5C6C-4DCE-9693-B8B9CC6B14B9}"/>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590800"/>
          <a:ext xmlns:a="http://schemas.openxmlformats.org/drawingml/2006/main" cx="8763000" cy="5038725"/>
        </p:xfrm>
        <a:graphic xmlns:a="http://schemas.openxmlformats.org/drawingml/2006/main">
          <a:graphicData uri="http://schemas.openxmlformats.org/drawingml/2006/chart">
            <c:chart xmlns:r="http://schemas.openxmlformats.org/officeDocument/2006/relationships" xmlns:c="http://schemas.openxmlformats.org/drawingml/2006/chart" r:id="R636a39e3f8984458"/>
          </a:graphicData>
        </a:graphic>
      </p:graphicFrame>
      <p:graphicFrame>
        <p:nvGraphicFramePr>
          <p:cNvPr id="16" name=""/>
          <p:cNvGraphicFramePr/>
          <p:nvPr/>
        </p:nvGraphicFramePr>
        <p:xfrm>
          <a:off xmlns:a="http://schemas.openxmlformats.org/drawingml/2006/main" x="9810750" y="2600325"/>
          <a:ext xmlns:a="http://schemas.openxmlformats.org/drawingml/2006/main" cx="4857750" cy="1333500"/>
        </p:xfrm>
        <a:graphic xmlns:a="http://schemas.openxmlformats.org/drawingml/2006/main">
          <a:graphicData uri="http://schemas.openxmlformats.org/drawingml/2006/table">
            <a:tbl>
              <a:tblPr/>
              <a:tblGrid>
                <a:gridCol w="1657350"/>
                <a:gridCol w="1066800"/>
                <a:gridCol w="1066800"/>
                <a:gridCol w="1066800"/>
              </a:tblGrid>
              <a:tr h="666750">
                <a:tc>
                  <a:txBody>
                    <a:bodyPr lIns="171450" tIns="95250" rIns="152400" bIns="95250"/>
                    <a:lstStyle/>
                    <a:p>
                      <a:r>
                        <a:rPr sz="2175" b="1">
                          <a:solidFill>
                            <a:srgbClr val="FFFFFF"/>
                          </a:solidFill>
                          <a:latin typeface="Arial"/>
                          <a:ea typeface="Arial"/>
                          <a:cs typeface="Arial"/>
                        </a:rPr>
                        <a:t>Dag</a:t>
                      </a:r>
                    </a:p>
                  </a:txBody>
                  <a:tcPr marL="91440" marR="91440" marT="45720" marB="45720" anchor="ctr">
                    <a:solidFill>
                      <a:srgbClr val="183247"/>
                    </a:solidFill>
                  </a:tcPr>
                </a:tc>
                <a:tc>
                  <a:txBody>
                    <a:bodyPr lIns="171450" tIns="95250" rIns="152400" bIns="95250"/>
                    <a:lstStyle/>
                    <a:p>
                      <a:r>
                        <a:rPr sz="2175" b="1">
                          <a:solidFill>
                            <a:srgbClr val="FFFFFF"/>
                          </a:solidFill>
                          <a:latin typeface="Arial"/>
                          <a:ea typeface="Arial"/>
                          <a:cs typeface="Arial"/>
                        </a:rPr>
                        <a:t>1</a:t>
                      </a:r>
                    </a:p>
                  </a:txBody>
                  <a:tcPr marL="91440" marR="91440" marT="45720" marB="45720" anchor="ctr">
                    <a:solidFill>
                      <a:srgbClr val="183247"/>
                    </a:solidFill>
                  </a:tcPr>
                </a:tc>
                <a:tc>
                  <a:txBody>
                    <a:bodyPr lIns="171450" tIns="95250" rIns="152400" bIns="95250"/>
                    <a:lstStyle/>
                    <a:p>
                      <a:r>
                        <a:rPr sz="2175" b="1">
                          <a:solidFill>
                            <a:srgbClr val="FFFFFF"/>
                          </a:solidFill>
                          <a:latin typeface="Arial"/>
                          <a:ea typeface="Arial"/>
                          <a:cs typeface="Arial"/>
                        </a:rPr>
                        <a:t>4</a:t>
                      </a:r>
                    </a:p>
                  </a:txBody>
                  <a:tcPr marL="91440" marR="91440" marT="45720" marB="45720" anchor="ctr">
                    <a:solidFill>
                      <a:srgbClr val="183247"/>
                    </a:solidFill>
                  </a:tcPr>
                </a:tc>
                <a:tc>
                  <a:txBody>
                    <a:bodyPr lIns="171450" tIns="95250" rIns="152400" bIns="95250"/>
                    <a:lstStyle/>
                    <a:p>
                      <a:r>
                        <a:rPr sz="2175" b="1">
                          <a:solidFill>
                            <a:srgbClr val="FFFFFF"/>
                          </a:solidFill>
                          <a:latin typeface="Arial"/>
                          <a:ea typeface="Arial"/>
                          <a:cs typeface="Arial"/>
                        </a:rPr>
                        <a:t>6</a:t>
                      </a:r>
                    </a:p>
                  </a:txBody>
                  <a:tcPr marL="91440" marR="91440" marT="45720" marB="45720" anchor="ctr">
                    <a:solidFill>
                      <a:srgbClr val="183247"/>
                    </a:solidFill>
                  </a:tcPr>
                </a:tc>
              </a:tr>
              <a:tr h="666750">
                <a:tc>
                  <a:txBody>
                    <a:bodyPr lIns="171450" tIns="95250" rIns="152400" bIns="95250"/>
                    <a:lstStyle/>
                    <a:p>
                      <a:r>
                        <a:rPr sz="2175" b="0">
                          <a:solidFill>
                            <a:srgbClr val="183247"/>
                          </a:solidFill>
                          <a:latin typeface="Arial"/>
                          <a:ea typeface="Arial"/>
                          <a:cs typeface="Arial"/>
                        </a:rPr>
                        <a:t>Totaal</a:t>
                      </a:r>
                    </a:p>
                  </a:txBody>
                  <a:tcPr marL="91440" marR="91440" marT="45720" marB="45720" anchor="ctr">
                    <a:solidFill>
                      <a:srgbClr val="FFFFFF"/>
                    </a:solidFill>
                  </a:tcPr>
                </a:tc>
                <a:tc>
                  <a:txBody>
                    <a:bodyPr lIns="171450" tIns="95250" rIns="152400" bIns="95250"/>
                    <a:lstStyle/>
                    <a:p>
                      <a:r>
                        <a:rPr sz="2175" b="0">
                          <a:solidFill>
                            <a:srgbClr val="183247"/>
                          </a:solidFill>
                          <a:latin typeface="Arial"/>
                          <a:ea typeface="Arial"/>
                          <a:cs typeface="Arial"/>
                        </a:rPr>
                        <a:t>12</a:t>
                      </a:r>
                    </a:p>
                  </a:txBody>
                  <a:tcPr marL="91440" marR="91440" marT="45720" marB="45720" anchor="ctr">
                    <a:solidFill>
                      <a:srgbClr val="FFFFFF"/>
                    </a:solidFill>
                  </a:tcPr>
                </a:tc>
                <a:tc>
                  <a:txBody>
                    <a:bodyPr lIns="171450" tIns="95250" rIns="152400" bIns="95250"/>
                    <a:lstStyle/>
                    <a:p>
                      <a:r>
                        <a:rPr sz="2175" b="0">
                          <a:solidFill>
                            <a:srgbClr val="183247"/>
                          </a:solidFill>
                          <a:latin typeface="Arial"/>
                          <a:ea typeface="Arial"/>
                          <a:cs typeface="Arial"/>
                        </a:rPr>
                        <a:t>30</a:t>
                      </a:r>
                    </a:p>
                  </a:txBody>
                  <a:tcPr marL="91440" marR="91440" marT="45720" marB="45720" anchor="ctr">
                    <a:solidFill>
                      <a:srgbClr val="FFFFFF"/>
                    </a:solidFill>
                  </a:tcPr>
                </a:tc>
                <a:tc>
                  <a:txBody>
                    <a:bodyPr lIns="171450" tIns="95250" rIns="152400" bIns="95250"/>
                    <a:lstStyle/>
                    <a:p>
                      <a:r>
                        <a:rPr sz="2175" b="0">
                          <a:solidFill>
                            <a:srgbClr val="183247"/>
                          </a:solidFill>
                          <a:latin typeface="Arial"/>
                          <a:ea typeface="Arial"/>
                          <a:cs typeface="Arial"/>
                        </a:rPr>
                        <a:t>42</a:t>
                      </a:r>
                    </a:p>
                  </a:txBody>
                  <a:tcPr marL="91440" marR="91440" marT="45720" marB="45720" anchor="ctr">
                    <a:solidFill>
                      <a:srgbClr val="FFFFFF"/>
                    </a:solidFill>
                  </a:tcPr>
                </a:tc>
              </a:tr>
            </a:tbl>
          </a:graphicData>
        </a:graphic>
      </p:graphicFrame>
      <p:sp>
        <p:nvSpPr>
          <p:cNvPr id="8" name="Van dag 1 tot dag 4">
            <a:extLst xmlns:a="http://schemas.openxmlformats.org/drawingml/2006/main">
              <a:ext uri="{FF2B5EF4-FFF2-40B4-BE49-F238E27FC236}">
                <a16:creationId xmlns:a16="http://schemas.microsoft.com/office/drawing/2014/main" id="{168747EE-543A-460D-BD6F-E8549C0AD3AB}"/>
              </a:ext>
            </a:extLst>
          </p:cNvPr>
          <p:cNvSpPr>
            <a:spLocks xmlns:a="http://schemas.openxmlformats.org/drawingml/2006/main" noGrp="1"/>
          </p:cNvSpPr>
          <p:nvPr/>
        </p:nvSpPr>
        <p:spPr>
          <a:xfrm xmlns:a="http://schemas.openxmlformats.org/drawingml/2006/main">
            <a:off x="9810750" y="43910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Van dag 1 tot dag 4</a:t>
            </a:r>
          </a:p>
        </p:txBody>
      </p:sp>
      <p:sp>
        <p:nvSpPr>
          <p:cNvPr id="9" name="(30 − 12) / (4 − 1)&#10;= 18 / 3&#10;= 6 inschrijvingen per dag">
            <a:extLst xmlns:a="http://schemas.openxmlformats.org/drawingml/2006/main">
              <a:ext uri="{FF2B5EF4-FFF2-40B4-BE49-F238E27FC236}">
                <a16:creationId xmlns:a16="http://schemas.microsoft.com/office/drawing/2014/main" id="{7F8E8052-9E5B-4B23-94AD-1F0825932845}"/>
              </a:ext>
            </a:extLst>
          </p:cNvPr>
          <p:cNvSpPr>
            <a:spLocks xmlns:a="http://schemas.openxmlformats.org/drawingml/2006/main" noGrp="1"/>
          </p:cNvSpPr>
          <p:nvPr/>
        </p:nvSpPr>
        <p:spPr>
          <a:xfrm xmlns:a="http://schemas.openxmlformats.org/drawingml/2006/main">
            <a:off x="9810750" y="5248275"/>
            <a:ext cx="48577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(30 − 12) / (4 − 1)</a:t>
            </a:r>
          </a:p>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 18 / 3</a:t>
            </a:r>
          </a:p>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 6 inschrijvingen per dag</a:t>
            </a:r>
          </a:p>
        </p:txBody>
      </p:sp>
    </p:spTree>
    <p:extLst>
      <p:ext uri="{BB962C8B-B14F-4D97-AF65-F5344CB8AC3E}">
        <p14:creationId xmlns:p14="http://schemas.microsoft.com/office/powerpoint/2010/main" val="725481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erschil per euro prijsstijging">
            <a:extLst xmlns:a="http://schemas.openxmlformats.org/drawingml/2006/main">
              <a:ext uri="{FF2B5EF4-FFF2-40B4-BE49-F238E27FC236}">
                <a16:creationId xmlns:a16="http://schemas.microsoft.com/office/drawing/2014/main" id="{F8012642-FB8E-4043-8A86-672B2282BE5D}"/>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Verschil per euro prijsstijging</a:t>
            </a:r>
          </a:p>
        </p:txBody>
      </p:sp>
      <p:sp>
        <p:nvSpPr>
          <p:cNvPr id="2" name="">
            <a:extLst xmlns:a="http://schemas.openxmlformats.org/drawingml/2006/main">
              <a:ext uri="{FF2B5EF4-FFF2-40B4-BE49-F238E27FC236}">
                <a16:creationId xmlns:a16="http://schemas.microsoft.com/office/drawing/2014/main" id="{B7D6B0B3-B083-40F4-8005-6606642E98D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A6A645CA-72E0-4630-A6E3-4E2481CF04D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F8ECD5B6-FF2F-411F-8A81-64E0C684874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Uitlegvoorbeeld — niet uit het boek">
            <a:extLst xmlns:a="http://schemas.openxmlformats.org/drawingml/2006/main">
              <a:ext uri="{FF2B5EF4-FFF2-40B4-BE49-F238E27FC236}">
                <a16:creationId xmlns:a16="http://schemas.microsoft.com/office/drawing/2014/main" id="{9D4404A6-37E6-4B6D-B25E-CEDD458F0C68}"/>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sp>
        <p:nvSpPr>
          <p:cNvPr id="6" name="Terug naar de museumworkshop">
            <a:extLst xmlns:a="http://schemas.openxmlformats.org/drawingml/2006/main">
              <a:ext uri="{FF2B5EF4-FFF2-40B4-BE49-F238E27FC236}">
                <a16:creationId xmlns:a16="http://schemas.microsoft.com/office/drawing/2014/main" id="{CB2D2CEE-DF28-4623-9061-1D4A2CBD7559}"/>
              </a:ext>
            </a:extLst>
          </p:cNvPr>
          <p:cNvSpPr>
            <a:spLocks xmlns:a="http://schemas.openxmlformats.org/drawingml/2006/main" noGrp="1"/>
          </p:cNvSpPr>
          <p:nvPr/>
        </p:nvSpPr>
        <p:spPr>
          <a:xfrm xmlns:a="http://schemas.openxmlformats.org/drawingml/2006/main">
            <a:off x="571500" y="22764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Terug naar de museumworkshop</a:t>
            </a:r>
          </a:p>
        </p:txBody>
      </p:sp>
      <p:graphicFrame>
        <p:nvGraphicFramePr>
          <p:cNvPr id="16" name=""/>
          <p:cNvGraphicFramePr/>
          <p:nvPr/>
        </p:nvGraphicFramePr>
        <p:xfrm>
          <a:off xmlns:a="http://schemas.openxmlformats.org/drawingml/2006/main" x="571500" y="3286125"/>
          <a:ext xmlns:a="http://schemas.openxmlformats.org/drawingml/2006/main" cx="14097000" cy="1809750"/>
        </p:xfrm>
        <a:graphic xmlns:a="http://schemas.openxmlformats.org/drawingml/2006/main">
          <a:graphicData uri="http://schemas.openxmlformats.org/drawingml/2006/table">
            <a:tbl>
              <a:tblPr/>
              <a:tblGrid>
                <a:gridCol w="7620000"/>
                <a:gridCol w="3238500"/>
                <a:gridCol w="3238500"/>
              </a:tblGrid>
              <a:tr h="904875">
                <a:tc>
                  <a:txBody>
                    <a:bodyPr lIns="171450" tIns="95250" rIns="152400" bIns="95250"/>
                    <a:lstStyle/>
                    <a:p>
                      <a:r>
                        <a:rPr sz="2475" b="1">
                          <a:solidFill>
                            <a:srgbClr val="FFFFFF"/>
                          </a:solidFill>
                          <a:latin typeface="Arial"/>
                          <a:ea typeface="Arial"/>
                          <a:cs typeface="Arial"/>
                        </a:rPr>
                        <a:t>Prijs P (€ per reservering)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3</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11</a:t>
                      </a:r>
                    </a:p>
                  </a:txBody>
                  <a:tcPr marL="91440" marR="91440" marT="45720" marB="45720" anchor="ctr">
                    <a:solidFill>
                      <a:srgbClr val="183247"/>
                    </a:solidFill>
                  </a:tcPr>
                </a:tc>
              </a:tr>
              <a:tr h="904875">
                <a:tc>
                  <a:txBody>
                    <a:bodyPr lIns="171450" tIns="95250" rIns="152400" bIns="95250"/>
                    <a:lstStyle/>
                    <a:p>
                      <a:r>
                        <a:rPr sz="2475" b="0">
                          <a:solidFill>
                            <a:srgbClr val="183247"/>
                          </a:solidFill>
                          <a:latin typeface="Arial"/>
                          <a:ea typeface="Arial"/>
                          <a:cs typeface="Arial"/>
                        </a:rPr>
                        <a:t>Q (reserveringen per middag)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180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100</a:t>
                      </a:r>
                    </a:p>
                  </a:txBody>
                  <a:tcPr marL="91440" marR="91440" marT="45720" marB="45720" anchor="ctr">
                    <a:solidFill>
                      <a:srgbClr val="FFFFFF"/>
                    </a:solidFill>
                  </a:tcPr>
                </a:tc>
              </a:tr>
            </a:tbl>
          </a:graphicData>
        </a:graphic>
      </p:graphicFrame>
      <p:sp>
        <p:nvSpPr>
          <p:cNvPr id="8" name="Afname / prijsverschil = (180 − 100) / (11 − 3)">
            <a:extLst xmlns:a="http://schemas.openxmlformats.org/drawingml/2006/main">
              <a:ext uri="{FF2B5EF4-FFF2-40B4-BE49-F238E27FC236}">
                <a16:creationId xmlns:a16="http://schemas.microsoft.com/office/drawing/2014/main" id="{CBF59C29-C99E-406C-AD16-A94534133D9B}"/>
              </a:ext>
            </a:extLst>
          </p:cNvPr>
          <p:cNvSpPr>
            <a:spLocks xmlns:a="http://schemas.openxmlformats.org/drawingml/2006/main" noGrp="1"/>
          </p:cNvSpPr>
          <p:nvPr/>
        </p:nvSpPr>
        <p:spPr>
          <a:xfrm xmlns:a="http://schemas.openxmlformats.org/drawingml/2006/main">
            <a:off x="571500" y="56959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Afname / prijsverschil = (180 − 100) / (11 − 3)</a:t>
            </a:r>
          </a:p>
        </p:txBody>
      </p:sp>
      <p:sp>
        <p:nvSpPr>
          <p:cNvPr id="9" name="80 / 8 = 10 reserveringen minder per euro prijsstijging">
            <a:extLst xmlns:a="http://schemas.openxmlformats.org/drawingml/2006/main">
              <a:ext uri="{FF2B5EF4-FFF2-40B4-BE49-F238E27FC236}">
                <a16:creationId xmlns:a16="http://schemas.microsoft.com/office/drawing/2014/main" id="{EE86C5C4-3C7F-4BC7-BB4B-E7F267A8DDD4}"/>
              </a:ext>
            </a:extLst>
          </p:cNvPr>
          <p:cNvSpPr>
            <a:spLocks xmlns:a="http://schemas.openxmlformats.org/drawingml/2006/main" noGrp="1"/>
          </p:cNvSpPr>
          <p:nvPr/>
        </p:nvSpPr>
        <p:spPr>
          <a:xfrm xmlns:a="http://schemas.openxmlformats.org/drawingml/2006/main">
            <a:off x="571500" y="66675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80 / 8 = 10 reserveringen minder per euro prijsstijging</a:t>
            </a:r>
          </a:p>
        </p:txBody>
      </p:sp>
    </p:spTree>
    <p:extLst>
      <p:ext uri="{BB962C8B-B14F-4D97-AF65-F5344CB8AC3E}">
        <p14:creationId xmlns:p14="http://schemas.microsoft.com/office/powerpoint/2010/main" val="4899373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at ondersteunt de bron?">
            <a:extLst xmlns:a="http://schemas.openxmlformats.org/drawingml/2006/main">
              <a:ext uri="{FF2B5EF4-FFF2-40B4-BE49-F238E27FC236}">
                <a16:creationId xmlns:a16="http://schemas.microsoft.com/office/drawing/2014/main" id="{DD8565BC-D4DA-4441-9E0C-5B4316C7207E}"/>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Wat ondersteunt de bron?</a:t>
            </a:r>
          </a:p>
        </p:txBody>
      </p:sp>
      <p:sp>
        <p:nvSpPr>
          <p:cNvPr id="2" name="">
            <a:extLst xmlns:a="http://schemas.openxmlformats.org/drawingml/2006/main">
              <a:ext uri="{FF2B5EF4-FFF2-40B4-BE49-F238E27FC236}">
                <a16:creationId xmlns:a16="http://schemas.microsoft.com/office/drawing/2014/main" id="{106FD61D-9C25-4813-ABDE-26A3F02603C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1A92A6EC-1BA0-4784-88E7-78871E969D0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D152D87B-A449-4BC4-B832-6906369B2BC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Uitlegvoorbeeld — niet uit het boek">
            <a:extLst xmlns:a="http://schemas.openxmlformats.org/drawingml/2006/main">
              <a:ext uri="{FF2B5EF4-FFF2-40B4-BE49-F238E27FC236}">
                <a16:creationId xmlns:a16="http://schemas.microsoft.com/office/drawing/2014/main" id="{0E7846C7-B35B-46AB-85E6-18AF090D9AB4}"/>
              </a:ext>
            </a:extLst>
          </p:cNvPr>
          <p:cNvSpPr>
            <a:spLocks xmlns:a="http://schemas.openxmlformats.org/drawingml/2006/main" noGrp="1"/>
          </p:cNvSpPr>
          <p:nvPr/>
        </p:nvSpPr>
        <p:spPr>
          <a:xfrm xmlns:a="http://schemas.openxmlformats.org/drawingml/2006/main">
            <a:off x="571500" y="16192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658A"/>
                </a:solidFill>
                <a:latin typeface="Arial"/>
                <a:ea typeface="Arial"/>
                <a:cs typeface="Arial"/>
              </a:defRPr>
            </a:pPr>
            <a:r>
              <a:rPr sz="2025" b="1">
                <a:solidFill>
                  <a:srgbClr val="17658A"/>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514600"/>
          <a:ext xmlns:a="http://schemas.openxmlformats.org/drawingml/2006/main" cx="14097000" cy="3724275"/>
        </p:xfrm>
        <a:graphic xmlns:a="http://schemas.openxmlformats.org/drawingml/2006/main">
          <a:graphicData uri="http://schemas.openxmlformats.org/drawingml/2006/table">
            <a:tbl>
              <a:tblPr/>
              <a:tblGrid>
                <a:gridCol w="7048500"/>
                <a:gridCol w="7048500"/>
              </a:tblGrid>
              <a:tr h="931069">
                <a:tc>
                  <a:txBody>
                    <a:bodyPr lIns="171450" tIns="95250" rIns="152400" bIns="95250"/>
                    <a:lstStyle/>
                    <a:p>
                      <a:r>
                        <a:rPr sz="2400" b="1">
                          <a:solidFill>
                            <a:srgbClr val="FFFFFF"/>
                          </a:solidFill>
                          <a:latin typeface="Arial"/>
                          <a:ea typeface="Arial"/>
                          <a:cs typeface="Arial"/>
                        </a:rPr>
                        <a:t>Model museumworkshop</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Waarnemingen inschrijvingen</a:t>
                      </a:r>
                    </a:p>
                  </a:txBody>
                  <a:tcPr marL="91440" marR="91440" marT="45720" marB="45720" anchor="ctr">
                    <a:solidFill>
                      <a:srgbClr val="183247"/>
                    </a:solidFill>
                  </a:tcPr>
                </a:tc>
              </a:tr>
              <a:tr h="931069">
                <a:tc>
                  <a:txBody>
                    <a:bodyPr lIns="171450" tIns="95250" rIns="152400" bIns="95250"/>
                    <a:lstStyle/>
                    <a:p>
                      <a:r>
                        <a:rPr sz="2400" b="0">
                          <a:solidFill>
                            <a:srgbClr val="183247"/>
                          </a:solidFill>
                          <a:latin typeface="Arial"/>
                          <a:ea typeface="Arial"/>
                          <a:cs typeface="Arial"/>
                        </a:rPr>
                        <a:t>Rechte lijn tussen punten is gegeven.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Alleen dag 1, 4 en 6 zijn geregistreerd.</a:t>
                      </a:r>
                    </a:p>
                  </a:txBody>
                  <a:tcPr marL="91440" marR="91440" marT="45720" marB="45720" anchor="ctr">
                    <a:solidFill>
                      <a:srgbClr val="FFFFFF"/>
                    </a:solidFill>
                  </a:tcPr>
                </a:tc>
              </a:tr>
              <a:tr h="931069">
                <a:tc>
                  <a:txBody>
                    <a:bodyPr lIns="171450" tIns="95250" rIns="152400" bIns="95250"/>
                    <a:lstStyle/>
                    <a:p>
                      <a:r>
                        <a:rPr sz="2400" b="0">
                          <a:solidFill>
                            <a:srgbClr val="183247"/>
                          </a:solidFill>
                          <a:latin typeface="Arial"/>
                          <a:ea typeface="Arial"/>
                          <a:cs typeface="Arial"/>
                        </a:rPr>
                        <a:t>P = € 6 geeft Q = 150 in het model.</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Gemiddeld 6 per dag over elk interval.</a:t>
                      </a:r>
                    </a:p>
                  </a:txBody>
                  <a:tcPr marL="91440" marR="91440" marT="45720" marB="45720" anchor="ctr">
                    <a:solidFill>
                      <a:srgbClr val="EFF4F7"/>
                    </a:solidFill>
                  </a:tcPr>
                </a:tc>
              </a:tr>
              <a:tr h="931069">
                <a:tc>
                  <a:txBody>
                    <a:bodyPr lIns="171450" tIns="95250" rIns="152400" bIns="95250"/>
                    <a:lstStyle/>
                    <a:p>
                      <a:r>
                        <a:rPr sz="2400" b="0">
                          <a:solidFill>
                            <a:srgbClr val="183247"/>
                          </a:solidFill>
                          <a:latin typeface="Arial"/>
                          <a:ea typeface="Arial"/>
                          <a:cs typeface="Arial"/>
                        </a:rPr>
                        <a:t>Buiten de eindpunten geen voorspelling.</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Verloop tussendoor blijft onbekend.</a:t>
                      </a:r>
                    </a:p>
                  </a:txBody>
                  <a:tcPr marL="91440" marR="91440" marT="45720" marB="45720" anchor="ctr">
                    <a:solidFill>
                      <a:srgbClr val="FFFFFF"/>
                    </a:solidFill>
                  </a:tcPr>
                </a:tc>
              </a:tr>
            </a:tbl>
          </a:graphicData>
        </a:graphic>
      </p:graphicFrame>
      <p:sp>
        <p:nvSpPr>
          <p:cNvPr id="7" name="“De stijging komt door een herinneringsbericht.”">
            <a:extLst xmlns:a="http://schemas.openxmlformats.org/drawingml/2006/main">
              <a:ext uri="{FF2B5EF4-FFF2-40B4-BE49-F238E27FC236}">
                <a16:creationId xmlns:a16="http://schemas.microsoft.com/office/drawing/2014/main" id="{5B3D7500-6975-4E28-B5FD-18C859DBF7FC}"/>
              </a:ext>
            </a:extLst>
          </p:cNvPr>
          <p:cNvSpPr>
            <a:spLocks xmlns:a="http://schemas.openxmlformats.org/drawingml/2006/main" noGrp="1"/>
          </p:cNvSpPr>
          <p:nvPr/>
        </p:nvSpPr>
        <p:spPr>
          <a:xfrm xmlns:a="http://schemas.openxmlformats.org/drawingml/2006/main">
            <a:off x="571500" y="666750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“De stijging komt door een herinneringsbericht.”</a:t>
            </a:r>
          </a:p>
        </p:txBody>
      </p:sp>
      <p:sp>
        <p:nvSpPr>
          <p:cNvPr id="8" name="De bron bevat geen informatie over de oorzaak.">
            <a:extLst xmlns:a="http://schemas.openxmlformats.org/drawingml/2006/main">
              <a:ext uri="{FF2B5EF4-FFF2-40B4-BE49-F238E27FC236}">
                <a16:creationId xmlns:a16="http://schemas.microsoft.com/office/drawing/2014/main" id="{3AED976B-11AF-461F-82E5-9F5489E7C888}"/>
              </a:ext>
            </a:extLst>
          </p:cNvPr>
          <p:cNvSpPr>
            <a:spLocks xmlns:a="http://schemas.openxmlformats.org/drawingml/2006/main" noGrp="1"/>
          </p:cNvSpPr>
          <p:nvPr/>
        </p:nvSpPr>
        <p:spPr>
          <a:xfrm xmlns:a="http://schemas.openxmlformats.org/drawingml/2006/main">
            <a:off x="571500" y="7477125"/>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De bron bevat geen informatie over de oorzaak.</a:t>
            </a:r>
          </a:p>
        </p:txBody>
      </p:sp>
    </p:spTree>
    <p:extLst>
      <p:ext uri="{BB962C8B-B14F-4D97-AF65-F5344CB8AC3E}">
        <p14:creationId xmlns:p14="http://schemas.microsoft.com/office/powerpoint/2010/main" val="3246904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1.3 Tabellen, grafieken en formules">
            <a:extLst xmlns:a="http://schemas.openxmlformats.org/drawingml/2006/main">
              <a:ext uri="{FF2B5EF4-FFF2-40B4-BE49-F238E27FC236}">
                <a16:creationId xmlns:a16="http://schemas.microsoft.com/office/drawing/2014/main" id="{D4FBCFE5-3F9E-413E-8FB6-11EB12E6E823}"/>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§1.1.3 Tabellen, grafieken en formules</a:t>
            </a:r>
          </a:p>
        </p:txBody>
      </p:sp>
      <p:sp>
        <p:nvSpPr>
          <p:cNvPr id="2" name="">
            <a:extLst xmlns:a="http://schemas.openxmlformats.org/drawingml/2006/main">
              <a:ext uri="{FF2B5EF4-FFF2-40B4-BE49-F238E27FC236}">
                <a16:creationId xmlns:a16="http://schemas.microsoft.com/office/drawing/2014/main" id="{F7908E19-DEA8-4540-9B7B-41AF7690E6A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89230E45-0715-4423-BB1E-20DCE6F9861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D7BD4D83-0A0B-4850-918B-6C7F890E81B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phase">
            <a:extLst xmlns:a="http://schemas.openxmlformats.org/drawingml/2006/main">
              <a:ext uri="{FF2B5EF4-FFF2-40B4-BE49-F238E27FC236}">
                <a16:creationId xmlns:a16="http://schemas.microsoft.com/office/drawing/2014/main" id="{395004ED-55F2-4561-B38E-69AF5A3F04BC}"/>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4BE4B0E6-A349-4368-80BF-6F6C49D10A7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2BE46584-F717-4286-A604-90B0D6FFFBE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2F198A50-FD7D-4366-BD1D-5BD1D118785F}"/>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FFA02384-E389-4F3D-AC32-18B32C446E62}"/>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154B8FBF-E7DF-4744-B6DE-5FBD41E7973D}"/>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CC90B6DF-A240-4440-AE82-DCA7DF265134}"/>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28DBFD0A-2495-44D7-A351-CC44A9515A05}"/>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256A3209-E7EC-4B69-8A86-EAB5CAD6FDDD}"/>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12AED3E9-D03C-42A4-B0E4-3E0E48DE791D}"/>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3CA261AA-5DEE-4DA4-BCDC-CBA5725A199F}"/>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09C60FAF-B733-440D-BA57-B64AFB9A176F}"/>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7321E936-F9A3-4A25-BD11-42CC1304D999}"/>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C7EA28D9-7EBA-4E06-9F77-313E7D5682B1}"/>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30.</a:t>
            </a:r>
          </a:p>
        </p:txBody>
      </p:sp>
      <p:sp>
        <p:nvSpPr>
          <p:cNvPr id="19" name="route-number-7">
            <a:extLst xmlns:a="http://schemas.openxmlformats.org/drawingml/2006/main">
              <a:ext uri="{FF2B5EF4-FFF2-40B4-BE49-F238E27FC236}">
                <a16:creationId xmlns:a16="http://schemas.microsoft.com/office/drawing/2014/main" id="{288DB4A2-06B3-4BF8-AEDA-5CFC3969E5CD}"/>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E6174300-0009-44F1-B7B0-369E9DAED74A}"/>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5B63D349-CBCE-439C-8AC8-31F59970D5BC}"/>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CCB14ED2-506A-4062-A327-F03C0ADB33AD}"/>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Grafieken tekenen en interpoleren,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formules gebruiken, oppervlaktes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bepalen en claims controleren.</a:t>
            </a:r>
          </a:p>
        </p:txBody>
      </p:sp>
      <p:sp>
        <p:nvSpPr>
          <p:cNvPr id="23" name="">
            <a:extLst xmlns:a="http://schemas.openxmlformats.org/drawingml/2006/main">
              <a:ext uri="{FF2B5EF4-FFF2-40B4-BE49-F238E27FC236}">
                <a16:creationId xmlns:a16="http://schemas.microsoft.com/office/drawing/2014/main" id="{6ED96542-A16D-4C7B-A08C-F2A72860CEB1}"/>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prstDash val="solid"/>
          </a:ln>
        </p:spPr>
      </p:sp>
      <p:sp>
        <p:nvSpPr>
          <p:cNvPr id="24" name="Startopdracht">
            <a:extLst xmlns:a="http://schemas.openxmlformats.org/drawingml/2006/main">
              <a:ext uri="{FF2B5EF4-FFF2-40B4-BE49-F238E27FC236}">
                <a16:creationId xmlns:a16="http://schemas.microsoft.com/office/drawing/2014/main" id="{05730569-AAEC-4405-B2A0-2D75A214D9FD}"/>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AB5CDA67-1757-49E0-AC1F-3407CC41EB23}"/>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32 · Opgaven 22 en 23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23: verkennen, theorie p. 24–25</a:t>
            </a:r>
          </a:p>
        </p:txBody>
      </p:sp>
      <p:sp>
        <p:nvSpPr>
          <p:cNvPr id="26" name="">
            <a:extLst xmlns:a="http://schemas.openxmlformats.org/drawingml/2006/main">
              <a:ext uri="{FF2B5EF4-FFF2-40B4-BE49-F238E27FC236}">
                <a16:creationId xmlns:a16="http://schemas.microsoft.com/office/drawing/2014/main" id="{F92C01F4-C926-4C34-86C0-8A420FF7A634}"/>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prstDash val="solid"/>
          </a:ln>
        </p:spPr>
      </p:sp>
      <p:sp>
        <p:nvSpPr>
          <p:cNvPr id="27" name="Huiswerk">
            <a:extLst xmlns:a="http://schemas.openxmlformats.org/drawingml/2006/main">
              <a:ext uri="{FF2B5EF4-FFF2-40B4-BE49-F238E27FC236}">
                <a16:creationId xmlns:a16="http://schemas.microsoft.com/office/drawing/2014/main" id="{61D5B5D7-963C-4E38-B6E9-4A32DE9F44B8}"/>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D3C096FD-8FFA-476D-9E75-3F3E4D2CA0C6}"/>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24, 25 en 26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27, 28 en 29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69899181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0 · Bron A">
            <a:extLst xmlns:a="http://schemas.openxmlformats.org/drawingml/2006/main">
              <a:ext uri="{FF2B5EF4-FFF2-40B4-BE49-F238E27FC236}">
                <a16:creationId xmlns:a16="http://schemas.microsoft.com/office/drawing/2014/main" id="{C3C1E2CA-053A-4827-9803-688821A3EEE0}"/>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30 · Bron A</a:t>
            </a:r>
          </a:p>
        </p:txBody>
      </p:sp>
      <p:sp>
        <p:nvSpPr>
          <p:cNvPr id="2" name="">
            <a:extLst xmlns:a="http://schemas.openxmlformats.org/drawingml/2006/main">
              <a:ext uri="{FF2B5EF4-FFF2-40B4-BE49-F238E27FC236}">
                <a16:creationId xmlns:a16="http://schemas.microsoft.com/office/drawing/2014/main" id="{F8BCD18B-9369-4ED4-A881-1C684DDA784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 Opgave 30 · Boekpagina 36">
            <a:extLst xmlns:a="http://schemas.openxmlformats.org/drawingml/2006/main">
              <a:ext uri="{FF2B5EF4-FFF2-40B4-BE49-F238E27FC236}">
                <a16:creationId xmlns:a16="http://schemas.microsoft.com/office/drawing/2014/main" id="{84EF9B19-D24C-493F-89F0-91A810A0487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 Opgave 30 · Boekpagina 36</a:t>
            </a:r>
          </a:p>
        </p:txBody>
      </p:sp>
      <p:sp>
        <p:nvSpPr>
          <p:cNvPr id="4" name="slide-number">
            <a:extLst xmlns:a="http://schemas.openxmlformats.org/drawingml/2006/main">
              <a:ext uri="{FF2B5EF4-FFF2-40B4-BE49-F238E27FC236}">
                <a16:creationId xmlns:a16="http://schemas.microsoft.com/office/drawing/2014/main" id="{DD9072FA-A46D-4B20-ACF0-731CD3A81D1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Reserveren, huren en meten">
            <a:extLst xmlns:a="http://schemas.openxmlformats.org/drawingml/2006/main">
              <a:ext uri="{FF2B5EF4-FFF2-40B4-BE49-F238E27FC236}">
                <a16:creationId xmlns:a16="http://schemas.microsoft.com/office/drawing/2014/main" id="{C869D60D-CD51-49C7-9DB5-1AE302A1960C}"/>
              </a:ext>
            </a:extLst>
          </p:cNvPr>
          <p:cNvSpPr>
            <a:spLocks xmlns:a="http://schemas.openxmlformats.org/drawingml/2006/main" noGrp="1"/>
          </p:cNvSpPr>
          <p:nvPr/>
        </p:nvSpPr>
        <p:spPr>
          <a:xfrm xmlns:a="http://schemas.openxmlformats.org/drawingml/2006/main">
            <a:off x="571500" y="17716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Reserveren, huren en meten</a:t>
            </a:r>
          </a:p>
        </p:txBody>
      </p:sp>
      <p:sp>
        <p:nvSpPr>
          <p:cNvPr id="6" name="Een verhuurder gebruikt onderstaande reserveringstabel voor ">
            <a:extLst xmlns:a="http://schemas.openxmlformats.org/drawingml/2006/main">
              <a:ext uri="{FF2B5EF4-FFF2-40B4-BE49-F238E27FC236}">
                <a16:creationId xmlns:a16="http://schemas.microsoft.com/office/drawing/2014/main" id="{3DC0E9F4-7D68-4888-9109-6A71ECC30599}"/>
              </a:ext>
            </a:extLst>
          </p:cNvPr>
          <p:cNvSpPr>
            <a:spLocks xmlns:a="http://schemas.openxmlformats.org/drawingml/2006/main" noGrp="1"/>
          </p:cNvSpPr>
          <p:nvPr/>
        </p:nvSpPr>
        <p:spPr>
          <a:xfrm xmlns:a="http://schemas.openxmlformats.org/drawingml/2006/main">
            <a:off x="571500" y="2867025"/>
            <a:ext cx="140970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Een verhuurder gebruikt onderstaande reserveringstabel voor één middag. De overige omstandigheden blijven gelijk. Tussen de punten geldt een rechte lijn.</a:t>
            </a:r>
          </a:p>
        </p:txBody>
      </p:sp>
      <p:graphicFrame>
        <p:nvGraphicFramePr>
          <p:cNvPr id="14" name=""/>
          <p:cNvGraphicFramePr/>
          <p:nvPr/>
        </p:nvGraphicFramePr>
        <p:xfrm>
          <a:off xmlns:a="http://schemas.openxmlformats.org/drawingml/2006/main" x="571500" y="5153025"/>
          <a:ext xmlns:a="http://schemas.openxmlformats.org/drawingml/2006/main" cx="14097000" cy="1905000"/>
        </p:xfrm>
        <a:graphic xmlns:a="http://schemas.openxmlformats.org/drawingml/2006/main">
          <a:graphicData uri="http://schemas.openxmlformats.org/drawingml/2006/table">
            <a:tbl>
              <a:tblPr/>
              <a:tblGrid>
                <a:gridCol w="7524750"/>
                <a:gridCol w="2190750"/>
                <a:gridCol w="2190750"/>
                <a:gridCol w="2190750"/>
              </a:tblGrid>
              <a:tr h="952500">
                <a:tc>
                  <a:txBody>
                    <a:bodyPr lIns="171450" tIns="95250" rIns="152400" bIns="95250"/>
                    <a:lstStyle/>
                    <a:p>
                      <a:r>
                        <a:rPr sz="2550" b="1">
                          <a:solidFill>
                            <a:srgbClr val="FFFFFF"/>
                          </a:solidFill>
                          <a:latin typeface="Arial"/>
                          <a:ea typeface="Arial"/>
                          <a:cs typeface="Arial"/>
                        </a:rPr>
                        <a:t>P (€ per reservering)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2</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5</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8</a:t>
                      </a:r>
                    </a:p>
                  </a:txBody>
                  <a:tcPr marL="91440" marR="91440" marT="45720" marB="45720" anchor="ctr">
                    <a:solidFill>
                      <a:srgbClr val="183247"/>
                    </a:solidFill>
                  </a:tcPr>
                </a:tc>
              </a:tr>
              <a:tr h="952500">
                <a:tc>
                  <a:txBody>
                    <a:bodyPr lIns="171450" tIns="95250" rIns="152400" bIns="95250"/>
                    <a:lstStyle/>
                    <a:p>
                      <a:r>
                        <a:rPr sz="2550" b="0">
                          <a:solidFill>
                            <a:srgbClr val="183247"/>
                          </a:solidFill>
                          <a:latin typeface="Arial"/>
                          <a:ea typeface="Arial"/>
                          <a:cs typeface="Arial"/>
                        </a:rPr>
                        <a:t>Q (reserveringen per middag)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70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40</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78412575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0 · Vragen bij bron A">
            <a:extLst xmlns:a="http://schemas.openxmlformats.org/drawingml/2006/main">
              <a:ext uri="{FF2B5EF4-FFF2-40B4-BE49-F238E27FC236}">
                <a16:creationId xmlns:a16="http://schemas.microsoft.com/office/drawing/2014/main" id="{868FF500-A626-457F-BA87-DC6083E23B2A}"/>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30 · Vragen bij bron A</a:t>
            </a:r>
          </a:p>
        </p:txBody>
      </p:sp>
      <p:sp>
        <p:nvSpPr>
          <p:cNvPr id="2" name="">
            <a:extLst xmlns:a="http://schemas.openxmlformats.org/drawingml/2006/main">
              <a:ext uri="{FF2B5EF4-FFF2-40B4-BE49-F238E27FC236}">
                <a16:creationId xmlns:a16="http://schemas.microsoft.com/office/drawing/2014/main" id="{15897301-13DE-4E25-94DF-18D01D68DE3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 Opgave 30 · Boekpagina 36">
            <a:extLst xmlns:a="http://schemas.openxmlformats.org/drawingml/2006/main">
              <a:ext uri="{FF2B5EF4-FFF2-40B4-BE49-F238E27FC236}">
                <a16:creationId xmlns:a16="http://schemas.microsoft.com/office/drawing/2014/main" id="{DD0FAB4A-B4EA-4321-B2EF-BCF72C1EED6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 Opgave 30 · Boekpagina 36</a:t>
            </a:r>
          </a:p>
        </p:txBody>
      </p:sp>
      <p:sp>
        <p:nvSpPr>
          <p:cNvPr id="4" name="slide-number">
            <a:extLst xmlns:a="http://schemas.openxmlformats.org/drawingml/2006/main">
              <a:ext uri="{FF2B5EF4-FFF2-40B4-BE49-F238E27FC236}">
                <a16:creationId xmlns:a16="http://schemas.microsoft.com/office/drawing/2014/main" id="{837E6935-6D6E-4BD1-BDCA-DEA7C970EA3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a. Teken bij bron A zelf een prijs–hoeveelheidsgrafiek op ru">
            <a:extLst xmlns:a="http://schemas.openxmlformats.org/drawingml/2006/main">
              <a:ext uri="{FF2B5EF4-FFF2-40B4-BE49-F238E27FC236}">
                <a16:creationId xmlns:a16="http://schemas.microsoft.com/office/drawing/2014/main" id="{5090192A-5ECF-4CF6-B55F-24942817E187}"/>
              </a:ext>
            </a:extLst>
          </p:cNvPr>
          <p:cNvSpPr>
            <a:spLocks xmlns:a="http://schemas.openxmlformats.org/drawingml/2006/main" noGrp="1"/>
          </p:cNvSpPr>
          <p:nvPr/>
        </p:nvSpPr>
        <p:spPr>
          <a:xfrm xmlns:a="http://schemas.openxmlformats.org/drawingml/2006/main">
            <a:off x="571500" y="2047875"/>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a. Teken bij bron A zelf een prijs–hoeveelheidsgrafiek op ruitjespapier, met schalen, eenheden en de drie punten.</a:t>
            </a:r>
          </a:p>
        </p:txBody>
      </p:sp>
      <p:sp>
        <p:nvSpPr>
          <p:cNvPr id="6" name="">
            <a:extLst xmlns:a="http://schemas.openxmlformats.org/drawingml/2006/main">
              <a:ext uri="{FF2B5EF4-FFF2-40B4-BE49-F238E27FC236}">
                <a16:creationId xmlns:a16="http://schemas.microsoft.com/office/drawing/2014/main" id="{5FF4C7E6-0845-4799-949F-016BAD0640EA}"/>
              </a:ext>
            </a:extLst>
          </p:cNvPr>
          <p:cNvSpPr>
            <a:spLocks xmlns:a="http://schemas.openxmlformats.org/drawingml/2006/main" noGrp="1"/>
          </p:cNvSpPr>
          <p:nvPr/>
        </p:nvSpPr>
        <p:spPr>
          <a:xfrm xmlns:a="http://schemas.openxmlformats.org/drawingml/2006/main">
            <a:off x="571500" y="3714750"/>
            <a:ext cx="14097000" cy="0"/>
          </a:xfrm>
          <a:prstGeom xmlns:a="http://schemas.openxmlformats.org/drawingml/2006/main" prst="line">
            <a:avLst/>
          </a:prstGeom>
          <a:ln xmlns:a="http://schemas.openxmlformats.org/drawingml/2006/main" w="19050">
            <a:solidFill>
              <a:srgbClr val="C6D2DB"/>
            </a:solidFill>
            <a:prstDash val="solid"/>
          </a:ln>
        </p:spPr>
      </p:sp>
      <p:sp>
        <p:nvSpPr>
          <p:cNvPr id="7" name="b. Bepaal met lineaire interpolatie Q bij P = € 4.">
            <a:extLst xmlns:a="http://schemas.openxmlformats.org/drawingml/2006/main">
              <a:ext uri="{FF2B5EF4-FFF2-40B4-BE49-F238E27FC236}">
                <a16:creationId xmlns:a16="http://schemas.microsoft.com/office/drawing/2014/main" id="{50C9EFDF-37A7-4518-89CF-272ED8983D20}"/>
              </a:ext>
            </a:extLst>
          </p:cNvPr>
          <p:cNvSpPr>
            <a:spLocks xmlns:a="http://schemas.openxmlformats.org/drawingml/2006/main" noGrp="1"/>
          </p:cNvSpPr>
          <p:nvPr/>
        </p:nvSpPr>
        <p:spPr>
          <a:xfrm xmlns:a="http://schemas.openxmlformats.org/drawingml/2006/main">
            <a:off x="571500" y="4133850"/>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 Bepaal met lineaire interpolatie Q bij P = € 4.</a:t>
            </a:r>
          </a:p>
        </p:txBody>
      </p:sp>
      <p:sp>
        <p:nvSpPr>
          <p:cNvPr id="8" name="">
            <a:extLst xmlns:a="http://schemas.openxmlformats.org/drawingml/2006/main">
              <a:ext uri="{FF2B5EF4-FFF2-40B4-BE49-F238E27FC236}">
                <a16:creationId xmlns:a16="http://schemas.microsoft.com/office/drawing/2014/main" id="{646BBADA-E991-4BDF-885E-40A656F47897}"/>
              </a:ext>
            </a:extLst>
          </p:cNvPr>
          <p:cNvSpPr>
            <a:spLocks xmlns:a="http://schemas.openxmlformats.org/drawingml/2006/main" noGrp="1"/>
          </p:cNvSpPr>
          <p:nvPr/>
        </p:nvSpPr>
        <p:spPr>
          <a:xfrm xmlns:a="http://schemas.openxmlformats.org/drawingml/2006/main">
            <a:off x="571500" y="5600700"/>
            <a:ext cx="14097000" cy="0"/>
          </a:xfrm>
          <a:prstGeom xmlns:a="http://schemas.openxmlformats.org/drawingml/2006/main" prst="line">
            <a:avLst/>
          </a:prstGeom>
          <a:ln xmlns:a="http://schemas.openxmlformats.org/drawingml/2006/main" w="19050">
            <a:solidFill>
              <a:srgbClr val="C6D2DB"/>
            </a:solidFill>
            <a:prstDash val="solid"/>
          </a:ln>
        </p:spPr>
      </p:sp>
      <p:sp>
        <p:nvSpPr>
          <p:cNvPr id="9" name="c. Een bericht stelt: “Tussen P = € 2 en P = € 5 daalt het a">
            <a:extLst xmlns:a="http://schemas.openxmlformats.org/drawingml/2006/main">
              <a:ext uri="{FF2B5EF4-FFF2-40B4-BE49-F238E27FC236}">
                <a16:creationId xmlns:a16="http://schemas.microsoft.com/office/drawing/2014/main" id="{10A8D8C8-47E7-4ADB-B24C-A69C0FB0D23C}"/>
              </a:ext>
            </a:extLst>
          </p:cNvPr>
          <p:cNvSpPr>
            <a:spLocks xmlns:a="http://schemas.openxmlformats.org/drawingml/2006/main" noGrp="1"/>
          </p:cNvSpPr>
          <p:nvPr/>
        </p:nvSpPr>
        <p:spPr>
          <a:xfrm xmlns:a="http://schemas.openxmlformats.org/drawingml/2006/main">
            <a:off x="571500" y="6057900"/>
            <a:ext cx="14097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c. Een bericht stelt: “Tussen P = € 2 en P = € 5 daalt het aantal met ongeveer 43%.” Controleer de uitspraak.</a:t>
            </a:r>
          </a:p>
        </p:txBody>
      </p:sp>
    </p:spTree>
    <p:extLst>
      <p:ext uri="{BB962C8B-B14F-4D97-AF65-F5344CB8AC3E}">
        <p14:creationId xmlns:p14="http://schemas.microsoft.com/office/powerpoint/2010/main" val="69741178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0 · Bron B en vragen d–e">
            <a:extLst xmlns:a="http://schemas.openxmlformats.org/drawingml/2006/main">
              <a:ext uri="{FF2B5EF4-FFF2-40B4-BE49-F238E27FC236}">
                <a16:creationId xmlns:a16="http://schemas.microsoft.com/office/drawing/2014/main" id="{8EF1F026-2628-473E-B05D-DD64690F4BE5}"/>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30 · Bron B en vragen d–e</a:t>
            </a:r>
          </a:p>
        </p:txBody>
      </p:sp>
      <p:sp>
        <p:nvSpPr>
          <p:cNvPr id="2" name="">
            <a:extLst xmlns:a="http://schemas.openxmlformats.org/drawingml/2006/main">
              <a:ext uri="{FF2B5EF4-FFF2-40B4-BE49-F238E27FC236}">
                <a16:creationId xmlns:a16="http://schemas.microsoft.com/office/drawing/2014/main" id="{9FB7D5E9-8418-4448-B44F-AEB14AC5E99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 Opgave 30 · Boekpagina 36">
            <a:extLst xmlns:a="http://schemas.openxmlformats.org/drawingml/2006/main">
              <a:ext uri="{FF2B5EF4-FFF2-40B4-BE49-F238E27FC236}">
                <a16:creationId xmlns:a16="http://schemas.microsoft.com/office/drawing/2014/main" id="{34B92DEF-4C18-43CF-AAAA-88E92C0879F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 Opgave 30 · Boekpagina 36</a:t>
            </a:r>
          </a:p>
        </p:txBody>
      </p:sp>
      <p:sp>
        <p:nvSpPr>
          <p:cNvPr id="4" name="slide-number">
            <a:extLst xmlns:a="http://schemas.openxmlformats.org/drawingml/2006/main">
              <a:ext uri="{FF2B5EF4-FFF2-40B4-BE49-F238E27FC236}">
                <a16:creationId xmlns:a16="http://schemas.microsoft.com/office/drawing/2014/main" id="{4B183024-D88F-4C5B-A4FB-486322392E5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Voor de huur van verlichting geldt T = 8 + 2n.">
            <a:extLst xmlns:a="http://schemas.openxmlformats.org/drawingml/2006/main">
              <a:ext uri="{FF2B5EF4-FFF2-40B4-BE49-F238E27FC236}">
                <a16:creationId xmlns:a16="http://schemas.microsoft.com/office/drawing/2014/main" id="{8F4F0ABF-00C0-40E3-905E-CCC1915F2836}"/>
              </a:ext>
            </a:extLst>
          </p:cNvPr>
          <p:cNvSpPr>
            <a:spLocks xmlns:a="http://schemas.openxmlformats.org/drawingml/2006/main" noGrp="1"/>
          </p:cNvSpPr>
          <p:nvPr/>
        </p:nvSpPr>
        <p:spPr>
          <a:xfrm xmlns:a="http://schemas.openxmlformats.org/drawingml/2006/main">
            <a:off x="571500" y="2028825"/>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Voor de huur van verlichting geldt T = 8 + 2n.</a:t>
            </a:r>
          </a:p>
        </p:txBody>
      </p:sp>
      <p:sp>
        <p:nvSpPr>
          <p:cNvPr id="6" name="T is het bedrag in euro.&#10;n is het aantal lampjes, van 0 tot ">
            <a:extLst xmlns:a="http://schemas.openxmlformats.org/drawingml/2006/main">
              <a:ext uri="{FF2B5EF4-FFF2-40B4-BE49-F238E27FC236}">
                <a16:creationId xmlns:a16="http://schemas.microsoft.com/office/drawing/2014/main" id="{B636A946-5A41-4DEC-AB2B-B93EF57CA10E}"/>
              </a:ext>
            </a:extLst>
          </p:cNvPr>
          <p:cNvSpPr>
            <a:spLocks xmlns:a="http://schemas.openxmlformats.org/drawingml/2006/main" noGrp="1"/>
          </p:cNvSpPr>
          <p:nvPr/>
        </p:nvSpPr>
        <p:spPr>
          <a:xfrm xmlns:a="http://schemas.openxmlformats.org/drawingml/2006/main">
            <a:off x="571500" y="3067050"/>
            <a:ext cx="14097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 is het bedrag in euro.</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n is het aantal lampjes, van 0 tot en met 30.</a:t>
            </a:r>
          </a:p>
        </p:txBody>
      </p:sp>
      <p:sp>
        <p:nvSpPr>
          <p:cNvPr id="7" name="">
            <a:extLst xmlns:a="http://schemas.openxmlformats.org/drawingml/2006/main">
              <a:ext uri="{FF2B5EF4-FFF2-40B4-BE49-F238E27FC236}">
                <a16:creationId xmlns:a16="http://schemas.microsoft.com/office/drawing/2014/main" id="{1B66CA07-DBBE-4E18-9E8D-D04893B02547}"/>
              </a:ext>
            </a:extLst>
          </p:cNvPr>
          <p:cNvSpPr>
            <a:spLocks xmlns:a="http://schemas.openxmlformats.org/drawingml/2006/main" noGrp="1"/>
          </p:cNvSpPr>
          <p:nvPr/>
        </p:nvSpPr>
        <p:spPr>
          <a:xfrm xmlns:a="http://schemas.openxmlformats.org/drawingml/2006/main">
            <a:off x="571500" y="4724400"/>
            <a:ext cx="14097000" cy="0"/>
          </a:xfrm>
          <a:prstGeom xmlns:a="http://schemas.openxmlformats.org/drawingml/2006/main" prst="line">
            <a:avLst/>
          </a:prstGeom>
          <a:ln xmlns:a="http://schemas.openxmlformats.org/drawingml/2006/main" w="19050">
            <a:solidFill>
              <a:srgbClr val="C6D2DB"/>
            </a:solidFill>
            <a:prstDash val="solid"/>
          </a:ln>
        </p:spPr>
      </p:sp>
      <p:sp>
        <p:nvSpPr>
          <p:cNvPr id="8" name="d. Bereken met bron B het bedrag bij n = 6.">
            <a:extLst xmlns:a="http://schemas.openxmlformats.org/drawingml/2006/main">
              <a:ext uri="{FF2B5EF4-FFF2-40B4-BE49-F238E27FC236}">
                <a16:creationId xmlns:a16="http://schemas.microsoft.com/office/drawing/2014/main" id="{591E9C14-101B-4DC9-88E0-1C6CFF830925}"/>
              </a:ext>
            </a:extLst>
          </p:cNvPr>
          <p:cNvSpPr>
            <a:spLocks xmlns:a="http://schemas.openxmlformats.org/drawingml/2006/main" noGrp="1"/>
          </p:cNvSpPr>
          <p:nvPr/>
        </p:nvSpPr>
        <p:spPr>
          <a:xfrm xmlns:a="http://schemas.openxmlformats.org/drawingml/2006/main">
            <a:off x="571500" y="52197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 Bereken met bron B het bedrag bij n = 6.</a:t>
            </a:r>
          </a:p>
        </p:txBody>
      </p:sp>
      <p:sp>
        <p:nvSpPr>
          <p:cNvPr id="9" name="e. Bereken met bron B het aantal lampjes bij T = € 32. Contr">
            <a:extLst xmlns:a="http://schemas.openxmlformats.org/drawingml/2006/main">
              <a:ext uri="{FF2B5EF4-FFF2-40B4-BE49-F238E27FC236}">
                <a16:creationId xmlns:a16="http://schemas.microsoft.com/office/drawing/2014/main" id="{0D03F5CA-BE3E-4ADD-A73F-2814AA7D7D03}"/>
              </a:ext>
            </a:extLst>
          </p:cNvPr>
          <p:cNvSpPr>
            <a:spLocks xmlns:a="http://schemas.openxmlformats.org/drawingml/2006/main" noGrp="1"/>
          </p:cNvSpPr>
          <p:nvPr/>
        </p:nvSpPr>
        <p:spPr>
          <a:xfrm xmlns:a="http://schemas.openxmlformats.org/drawingml/2006/main">
            <a:off x="571500" y="6619875"/>
            <a:ext cx="14097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 Bereken met bron B het aantal lampjes bij T = € 32. Controleer.</a:t>
            </a:r>
          </a:p>
        </p:txBody>
      </p:sp>
    </p:spTree>
    <p:extLst>
      <p:ext uri="{BB962C8B-B14F-4D97-AF65-F5344CB8AC3E}">
        <p14:creationId xmlns:p14="http://schemas.microsoft.com/office/powerpoint/2010/main" val="175376534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Opgave 30 · Bron C en vragen f–g">
            <a:extLst xmlns:a="http://schemas.openxmlformats.org/drawingml/2006/main">
              <a:ext uri="{FF2B5EF4-FFF2-40B4-BE49-F238E27FC236}">
                <a16:creationId xmlns:a16="http://schemas.microsoft.com/office/drawing/2014/main" id="{57D4EEBC-B5D1-4EC9-995B-783614889339}"/>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30 · Bron C en vragen f–g</a:t>
            </a:r>
          </a:p>
        </p:txBody>
      </p:sp>
      <p:sp>
        <p:nvSpPr>
          <p:cNvPr id="2" name="">
            <a:extLst xmlns:a="http://schemas.openxmlformats.org/drawingml/2006/main">
              <a:ext uri="{FF2B5EF4-FFF2-40B4-BE49-F238E27FC236}">
                <a16:creationId xmlns:a16="http://schemas.microsoft.com/office/drawing/2014/main" id="{CD2D9CE1-751A-4D1E-98D8-CDEAEFAE7AC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 Opgave 30 · Boekpagina 36">
            <a:extLst xmlns:a="http://schemas.openxmlformats.org/drawingml/2006/main">
              <a:ext uri="{FF2B5EF4-FFF2-40B4-BE49-F238E27FC236}">
                <a16:creationId xmlns:a16="http://schemas.microsoft.com/office/drawing/2014/main" id="{C6E153F0-B8B0-433F-A365-3377F85BAE6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 Opgave 30 · Boekpagina 36</a:t>
            </a:r>
          </a:p>
        </p:txBody>
      </p:sp>
      <p:sp>
        <p:nvSpPr>
          <p:cNvPr id="4" name="slide-number">
            <a:extLst xmlns:a="http://schemas.openxmlformats.org/drawingml/2006/main">
              <a:ext uri="{FF2B5EF4-FFF2-40B4-BE49-F238E27FC236}">
                <a16:creationId xmlns:a16="http://schemas.microsoft.com/office/drawing/2014/main" id="{37F87967-6AB5-4167-A8EB-571BDB96FD6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De figuur is een plattegrond met posities in meters.">
            <a:extLst xmlns:a="http://schemas.openxmlformats.org/drawingml/2006/main">
              <a:ext uri="{FF2B5EF4-FFF2-40B4-BE49-F238E27FC236}">
                <a16:creationId xmlns:a16="http://schemas.microsoft.com/office/drawing/2014/main" id="{871525A3-7E15-4C8B-9082-25527A68D6D2}"/>
              </a:ext>
            </a:extLst>
          </p:cNvPr>
          <p:cNvSpPr>
            <a:spLocks xmlns:a="http://schemas.openxmlformats.org/drawingml/2006/main" noGrp="1"/>
          </p:cNvSpPr>
          <p:nvPr/>
        </p:nvSpPr>
        <p:spPr>
          <a:xfrm xmlns:a="http://schemas.openxmlformats.org/drawingml/2006/main">
            <a:off x="571500" y="173355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De figuur is een plattegrond met posities in meters.</a:t>
            </a:r>
          </a:p>
        </p:txBody>
      </p:sp>
      <p:sp>
        <p:nvSpPr>
          <p:cNvPr id="6" name="">
            <a:extLst xmlns:a="http://schemas.openxmlformats.org/drawingml/2006/main">
              <a:ext uri="{FF2B5EF4-FFF2-40B4-BE49-F238E27FC236}">
                <a16:creationId xmlns:a16="http://schemas.microsoft.com/office/drawing/2014/main" id="{17AD7FE4-214A-4269-9C08-8113E978AF1D}"/>
              </a:ext>
            </a:extLst>
          </p:cNvPr>
          <p:cNvSpPr>
            <a:spLocks xmlns:a="http://schemas.openxmlformats.org/drawingml/2006/main" noGrp="1"/>
          </p:cNvSpPr>
          <p:nvPr/>
        </p:nvSpPr>
        <p:spPr>
          <a:xfrm xmlns:a="http://schemas.openxmlformats.org/drawingml/2006/main">
            <a:off x="1428750" y="5334000"/>
            <a:ext cx="5095875" cy="0"/>
          </a:xfrm>
          <a:prstGeom xmlns:a="http://schemas.openxmlformats.org/drawingml/2006/main" prst="line">
            <a:avLst/>
          </a:prstGeom>
          <a:ln xmlns:a="http://schemas.openxmlformats.org/drawingml/2006/main" w="19050">
            <a:solidFill>
              <a:srgbClr val="183247"/>
            </a:solidFill>
            <a:prstDash val="solid"/>
          </a:ln>
        </p:spPr>
      </p:sp>
      <p:sp>
        <p:nvSpPr>
          <p:cNvPr id="7" name="">
            <a:extLst xmlns:a="http://schemas.openxmlformats.org/drawingml/2006/main">
              <a:ext uri="{FF2B5EF4-FFF2-40B4-BE49-F238E27FC236}">
                <a16:creationId xmlns:a16="http://schemas.microsoft.com/office/drawing/2014/main" id="{61C6419C-5C3B-48CB-ADF3-919D48F97E55}"/>
              </a:ext>
            </a:extLst>
          </p:cNvPr>
          <p:cNvSpPr>
            <a:spLocks xmlns:a="http://schemas.openxmlformats.org/drawingml/2006/main" noGrp="1"/>
          </p:cNvSpPr>
          <p:nvPr/>
        </p:nvSpPr>
        <p:spPr>
          <a:xfrm xmlns:a="http://schemas.openxmlformats.org/drawingml/2006/main">
            <a:off x="1428750" y="3095625"/>
            <a:ext cx="0" cy="2238375"/>
          </a:xfrm>
          <a:prstGeom xmlns:a="http://schemas.openxmlformats.org/drawingml/2006/main" prst="line">
            <a:avLst/>
          </a:prstGeom>
          <a:ln xmlns:a="http://schemas.openxmlformats.org/drawingml/2006/main" w="19050">
            <a:solidFill>
              <a:srgbClr val="183247"/>
            </a:solidFill>
            <a:prstDash val="solid"/>
          </a:ln>
        </p:spPr>
      </p:sp>
      <p:sp>
        <p:nvSpPr>
          <p:cNvPr id="8" name="Verticale positie (m)">
            <a:extLst xmlns:a="http://schemas.openxmlformats.org/drawingml/2006/main">
              <a:ext uri="{FF2B5EF4-FFF2-40B4-BE49-F238E27FC236}">
                <a16:creationId xmlns:a16="http://schemas.microsoft.com/office/drawing/2014/main" id="{2BAFA81D-2AB3-490D-B297-81B0EDFA57FB}"/>
              </a:ext>
            </a:extLst>
          </p:cNvPr>
          <p:cNvSpPr>
            <a:spLocks xmlns:a="http://schemas.openxmlformats.org/drawingml/2006/main" noGrp="1"/>
          </p:cNvSpPr>
          <p:nvPr/>
        </p:nvSpPr>
        <p:spPr>
          <a:xfrm xmlns:a="http://schemas.openxmlformats.org/drawingml/2006/main">
            <a:off x="714375" y="2657475"/>
            <a:ext cx="609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45B6B"/>
                </a:solidFill>
                <a:latin typeface="Arial"/>
                <a:ea typeface="Arial"/>
                <a:cs typeface="Arial"/>
              </a:defRPr>
            </a:pPr>
            <a:r>
              <a:rPr sz="1725" b="0">
                <a:solidFill>
                  <a:srgbClr val="445B6B"/>
                </a:solidFill>
                <a:latin typeface="Arial"/>
                <a:ea typeface="Arial"/>
                <a:cs typeface="Arial"/>
              </a:rPr>
              <a:t>Verticale positie (m)</a:t>
            </a:r>
          </a:p>
        </p:txBody>
      </p:sp>
      <p:sp>
        <p:nvSpPr>
          <p:cNvPr id="9" name="Horizontale positie (m)">
            <a:extLst xmlns:a="http://schemas.openxmlformats.org/drawingml/2006/main">
              <a:ext uri="{FF2B5EF4-FFF2-40B4-BE49-F238E27FC236}">
                <a16:creationId xmlns:a16="http://schemas.microsoft.com/office/drawing/2014/main" id="{13CCE94D-8038-49B7-B93C-0BB9BEA830D6}"/>
              </a:ext>
            </a:extLst>
          </p:cNvPr>
          <p:cNvSpPr>
            <a:spLocks xmlns:a="http://schemas.openxmlformats.org/drawingml/2006/main" noGrp="1"/>
          </p:cNvSpPr>
          <p:nvPr/>
        </p:nvSpPr>
        <p:spPr>
          <a:xfrm xmlns:a="http://schemas.openxmlformats.org/drawingml/2006/main">
            <a:off x="952500" y="5753100"/>
            <a:ext cx="595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445B6B"/>
                </a:solidFill>
                <a:latin typeface="Arial"/>
                <a:ea typeface="Arial"/>
                <a:cs typeface="Arial"/>
              </a:defRPr>
            </a:pPr>
            <a:r>
              <a:rPr sz="1725" b="0">
                <a:solidFill>
                  <a:srgbClr val="445B6B"/>
                </a:solidFill>
                <a:latin typeface="Arial"/>
                <a:ea typeface="Arial"/>
                <a:cs typeface="Arial"/>
              </a:rPr>
              <a:t>Horizontale positie (m)</a:t>
            </a:r>
          </a:p>
        </p:txBody>
      </p:sp>
      <p:sp>
        <p:nvSpPr>
          <p:cNvPr id="10" name="0">
            <a:extLst xmlns:a="http://schemas.openxmlformats.org/drawingml/2006/main">
              <a:ext uri="{FF2B5EF4-FFF2-40B4-BE49-F238E27FC236}">
                <a16:creationId xmlns:a16="http://schemas.microsoft.com/office/drawing/2014/main" id="{D64F52F0-DB3F-41A6-8F2B-8708E7251420}"/>
              </a:ext>
            </a:extLst>
          </p:cNvPr>
          <p:cNvSpPr>
            <a:spLocks xmlns:a="http://schemas.openxmlformats.org/drawingml/2006/main" noGrp="1"/>
          </p:cNvSpPr>
          <p:nvPr/>
        </p:nvSpPr>
        <p:spPr>
          <a:xfrm xmlns:a="http://schemas.openxmlformats.org/drawingml/2006/main">
            <a:off x="1219200" y="5457825"/>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0</a:t>
            </a:r>
          </a:p>
        </p:txBody>
      </p:sp>
      <p:sp>
        <p:nvSpPr>
          <p:cNvPr id="11" name="2">
            <a:extLst xmlns:a="http://schemas.openxmlformats.org/drawingml/2006/main">
              <a:ext uri="{FF2B5EF4-FFF2-40B4-BE49-F238E27FC236}">
                <a16:creationId xmlns:a16="http://schemas.microsoft.com/office/drawing/2014/main" id="{E98C92E0-EC22-47CE-9716-8E8B54B8A52F}"/>
              </a:ext>
            </a:extLst>
          </p:cNvPr>
          <p:cNvSpPr>
            <a:spLocks xmlns:a="http://schemas.openxmlformats.org/drawingml/2006/main" noGrp="1"/>
          </p:cNvSpPr>
          <p:nvPr/>
        </p:nvSpPr>
        <p:spPr>
          <a:xfrm xmlns:a="http://schemas.openxmlformats.org/drawingml/2006/main">
            <a:off x="2238375" y="5457825"/>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2</a:t>
            </a:r>
          </a:p>
        </p:txBody>
      </p:sp>
      <p:sp>
        <p:nvSpPr>
          <p:cNvPr id="12" name="8">
            <a:extLst xmlns:a="http://schemas.openxmlformats.org/drawingml/2006/main">
              <a:ext uri="{FF2B5EF4-FFF2-40B4-BE49-F238E27FC236}">
                <a16:creationId xmlns:a16="http://schemas.microsoft.com/office/drawing/2014/main" id="{684F53C5-3B43-4D85-B6C4-0F29FBD9BBB5}"/>
              </a:ext>
            </a:extLst>
          </p:cNvPr>
          <p:cNvSpPr>
            <a:spLocks xmlns:a="http://schemas.openxmlformats.org/drawingml/2006/main" noGrp="1"/>
          </p:cNvSpPr>
          <p:nvPr/>
        </p:nvSpPr>
        <p:spPr>
          <a:xfrm xmlns:a="http://schemas.openxmlformats.org/drawingml/2006/main">
            <a:off x="5295900" y="5457825"/>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8</a:t>
            </a:r>
          </a:p>
        </p:txBody>
      </p:sp>
      <p:sp>
        <p:nvSpPr>
          <p:cNvPr id="13" name="4">
            <a:extLst xmlns:a="http://schemas.openxmlformats.org/drawingml/2006/main">
              <a:ext uri="{FF2B5EF4-FFF2-40B4-BE49-F238E27FC236}">
                <a16:creationId xmlns:a16="http://schemas.microsoft.com/office/drawing/2014/main" id="{C2C2A952-9596-4BEA-8367-CF9B2C28DDC8}"/>
              </a:ext>
            </a:extLst>
          </p:cNvPr>
          <p:cNvSpPr>
            <a:spLocks xmlns:a="http://schemas.openxmlformats.org/drawingml/2006/main" noGrp="1"/>
          </p:cNvSpPr>
          <p:nvPr/>
        </p:nvSpPr>
        <p:spPr>
          <a:xfrm xmlns:a="http://schemas.openxmlformats.org/drawingml/2006/main">
            <a:off x="981075" y="4177242"/>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E09E6BE8-D269-4AA6-9400-BC667FCE4760}"/>
              </a:ext>
            </a:extLst>
          </p:cNvPr>
          <p:cNvSpPr>
            <a:spLocks xmlns:a="http://schemas.openxmlformats.org/drawingml/2006/main" noGrp="1"/>
          </p:cNvSpPr>
          <p:nvPr/>
        </p:nvSpPr>
        <p:spPr>
          <a:xfrm xmlns:a="http://schemas.openxmlformats.org/drawingml/2006/main">
            <a:off x="1428750" y="4339167"/>
            <a:ext cx="1019175" cy="0"/>
          </a:xfrm>
          <a:prstGeom xmlns:a="http://schemas.openxmlformats.org/drawingml/2006/main" prst="line">
            <a:avLst/>
          </a:prstGeom>
          <a:ln xmlns:a="http://schemas.openxmlformats.org/drawingml/2006/main" w="9525">
            <a:solidFill>
              <a:srgbClr val="445B6B"/>
            </a:solidFill>
            <a:prstDash val="dash"/>
          </a:ln>
        </p:spPr>
      </p:sp>
      <p:sp>
        <p:nvSpPr>
          <p:cNvPr id="15" name="8">
            <a:extLst xmlns:a="http://schemas.openxmlformats.org/drawingml/2006/main">
              <a:ext uri="{FF2B5EF4-FFF2-40B4-BE49-F238E27FC236}">
                <a16:creationId xmlns:a16="http://schemas.microsoft.com/office/drawing/2014/main" id="{B20F82BD-1BA4-43D1-AB1C-ACBC5E9A892B}"/>
              </a:ext>
            </a:extLst>
          </p:cNvPr>
          <p:cNvSpPr>
            <a:spLocks xmlns:a="http://schemas.openxmlformats.org/drawingml/2006/main" noGrp="1"/>
          </p:cNvSpPr>
          <p:nvPr/>
        </p:nvSpPr>
        <p:spPr>
          <a:xfrm xmlns:a="http://schemas.openxmlformats.org/drawingml/2006/main">
            <a:off x="981075" y="3182408"/>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8</a:t>
            </a:r>
          </a:p>
        </p:txBody>
      </p:sp>
      <p:sp>
        <p:nvSpPr>
          <p:cNvPr id="16" name="">
            <a:extLst xmlns:a="http://schemas.openxmlformats.org/drawingml/2006/main">
              <a:ext uri="{FF2B5EF4-FFF2-40B4-BE49-F238E27FC236}">
                <a16:creationId xmlns:a16="http://schemas.microsoft.com/office/drawing/2014/main" id="{81DD10C7-CD8E-4DD8-B99B-B854C91A54FF}"/>
              </a:ext>
            </a:extLst>
          </p:cNvPr>
          <p:cNvSpPr>
            <a:spLocks xmlns:a="http://schemas.openxmlformats.org/drawingml/2006/main" noGrp="1"/>
          </p:cNvSpPr>
          <p:nvPr/>
        </p:nvSpPr>
        <p:spPr>
          <a:xfrm xmlns:a="http://schemas.openxmlformats.org/drawingml/2006/main">
            <a:off x="1428750" y="3344333"/>
            <a:ext cx="1019175" cy="0"/>
          </a:xfrm>
          <a:prstGeom xmlns:a="http://schemas.openxmlformats.org/drawingml/2006/main" prst="line">
            <a:avLst/>
          </a:prstGeom>
          <a:ln xmlns:a="http://schemas.openxmlformats.org/drawingml/2006/main" w="9525">
            <a:solidFill>
              <a:srgbClr val="445B6B"/>
            </a:solidFill>
            <a:prstDash val="dash"/>
          </a:ln>
        </p:spPr>
      </p:sp>
      <p:sp>
        <p:nvSpPr>
          <p:cNvPr id="17" name="">
            <a:extLst xmlns:a="http://schemas.openxmlformats.org/drawingml/2006/main">
              <a:ext uri="{FF2B5EF4-FFF2-40B4-BE49-F238E27FC236}">
                <a16:creationId xmlns:a16="http://schemas.microsoft.com/office/drawing/2014/main" id="{183E3BBE-EDEE-4632-A928-BF16B9CAD14B}"/>
              </a:ext>
            </a:extLst>
          </p:cNvPr>
          <p:cNvSpPr>
            <a:spLocks xmlns:a="http://schemas.openxmlformats.org/drawingml/2006/main" noGrp="1"/>
          </p:cNvSpPr>
          <p:nvPr/>
        </p:nvSpPr>
        <p:spPr>
          <a:xfrm xmlns:a="http://schemas.openxmlformats.org/drawingml/2006/main">
            <a:off x="2447925" y="4339167"/>
            <a:ext cx="0" cy="994833"/>
          </a:xfrm>
          <a:prstGeom xmlns:a="http://schemas.openxmlformats.org/drawingml/2006/main" prst="line">
            <a:avLst/>
          </a:prstGeom>
          <a:ln xmlns:a="http://schemas.openxmlformats.org/drawingml/2006/main" w="9525">
            <a:solidFill>
              <a:srgbClr val="445B6B"/>
            </a:solidFill>
            <a:prstDash val="dash"/>
          </a:ln>
        </p:spPr>
      </p:sp>
      <p:sp>
        <p:nvSpPr>
          <p:cNvPr id="18" name="">
            <a:extLst xmlns:a="http://schemas.openxmlformats.org/drawingml/2006/main">
              <a:ext uri="{FF2B5EF4-FFF2-40B4-BE49-F238E27FC236}">
                <a16:creationId xmlns:a16="http://schemas.microsoft.com/office/drawing/2014/main" id="{E4F657C2-9688-49B0-929C-29C58D235DDD}"/>
              </a:ext>
            </a:extLst>
          </p:cNvPr>
          <p:cNvSpPr>
            <a:spLocks xmlns:a="http://schemas.openxmlformats.org/drawingml/2006/main" noGrp="1"/>
          </p:cNvSpPr>
          <p:nvPr/>
        </p:nvSpPr>
        <p:spPr>
          <a:xfrm xmlns:a="http://schemas.openxmlformats.org/drawingml/2006/main">
            <a:off x="5505450" y="4339167"/>
            <a:ext cx="0" cy="994833"/>
          </a:xfrm>
          <a:prstGeom xmlns:a="http://schemas.openxmlformats.org/drawingml/2006/main" prst="line">
            <a:avLst/>
          </a:prstGeom>
          <a:ln xmlns:a="http://schemas.openxmlformats.org/drawingml/2006/main" w="9525">
            <a:solidFill>
              <a:srgbClr val="445B6B"/>
            </a:solidFill>
            <a:prstDash val="dash"/>
          </a:ln>
        </p:spPr>
      </p:sp>
      <p:sp>
        <p:nvSpPr>
          <p:cNvPr id="19" name="plattegrond-rechthoek">
            <a:extLst xmlns:a="http://schemas.openxmlformats.org/drawingml/2006/main">
              <a:ext uri="{FF2B5EF4-FFF2-40B4-BE49-F238E27FC236}">
                <a16:creationId xmlns:a16="http://schemas.microsoft.com/office/drawing/2014/main" id="{14954C09-0A82-48EB-B05D-42EB7EF1BA47}"/>
              </a:ext>
            </a:extLst>
          </p:cNvPr>
          <p:cNvSpPr>
            <a:spLocks xmlns:a="http://schemas.openxmlformats.org/drawingml/2006/main" noGrp="1"/>
          </p:cNvSpPr>
          <p:nvPr/>
        </p:nvSpPr>
        <p:spPr>
          <a:xfrm xmlns:a="http://schemas.openxmlformats.org/drawingml/2006/main">
            <a:off x="2447925" y="3344333"/>
            <a:ext cx="3057525" cy="994833"/>
          </a:xfrm>
          <a:custGeom xmlns:a="http://schemas.openxmlformats.org/drawingml/2006/main">
            <a:pathLst>
              <a:path w="3057525" h="994833">
                <a:moveTo>
                  <a:pt x="0" y="994833"/>
                </a:moveTo>
                <a:lnTo>
                  <a:pt x="3057525" y="994833"/>
                </a:lnTo>
                <a:lnTo>
                  <a:pt x="3057525" y="0"/>
                </a:lnTo>
                <a:lnTo>
                  <a:pt x="0" y="0"/>
                </a:lnTo>
                <a:close/>
              </a:path>
            </a:pathLst>
          </a:custGeom>
          <a:solidFill xmlns:a="http://schemas.openxmlformats.org/drawingml/2006/main">
            <a:srgbClr val="D5E6EF"/>
          </a:solidFill>
          <a:ln xmlns:a="http://schemas.openxmlformats.org/drawingml/2006/main" w="28575">
            <a:solidFill>
              <a:srgbClr val="17658A"/>
            </a:solidFill>
          </a:ln>
        </p:spPr>
      </p:sp>
      <p:sp>
        <p:nvSpPr>
          <p:cNvPr id="20" name="Rechthoek">
            <a:extLst xmlns:a="http://schemas.openxmlformats.org/drawingml/2006/main">
              <a:ext uri="{FF2B5EF4-FFF2-40B4-BE49-F238E27FC236}">
                <a16:creationId xmlns:a16="http://schemas.microsoft.com/office/drawing/2014/main" id="{876A83B5-3E28-4EFD-A821-2E5C165653E7}"/>
              </a:ext>
            </a:extLst>
          </p:cNvPr>
          <p:cNvSpPr>
            <a:spLocks xmlns:a="http://schemas.openxmlformats.org/drawingml/2006/main" noGrp="1"/>
          </p:cNvSpPr>
          <p:nvPr/>
        </p:nvSpPr>
        <p:spPr>
          <a:xfrm xmlns:a="http://schemas.openxmlformats.org/drawingml/2006/main">
            <a:off x="1428750" y="5362575"/>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7658A"/>
                </a:solidFill>
                <a:latin typeface="Arial"/>
                <a:ea typeface="Arial"/>
                <a:cs typeface="Arial"/>
              </a:defRPr>
            </a:pPr>
            <a:r>
              <a:rPr sz="2025" b="1">
                <a:solidFill>
                  <a:srgbClr val="17658A"/>
                </a:solidFill>
                <a:latin typeface="Arial"/>
                <a:ea typeface="Arial"/>
                <a:cs typeface="Arial"/>
              </a:rPr>
              <a:t>Rechthoek</a:t>
            </a:r>
          </a:p>
        </p:txBody>
      </p:sp>
      <p:sp>
        <p:nvSpPr>
          <p:cNvPr id="21" name="">
            <a:extLst xmlns:a="http://schemas.openxmlformats.org/drawingml/2006/main">
              <a:ext uri="{FF2B5EF4-FFF2-40B4-BE49-F238E27FC236}">
                <a16:creationId xmlns:a16="http://schemas.microsoft.com/office/drawing/2014/main" id="{51C0CFC6-5132-40AF-B73C-10714BC97480}"/>
              </a:ext>
            </a:extLst>
          </p:cNvPr>
          <p:cNvSpPr>
            <a:spLocks xmlns:a="http://schemas.openxmlformats.org/drawingml/2006/main" noGrp="1"/>
          </p:cNvSpPr>
          <p:nvPr/>
        </p:nvSpPr>
        <p:spPr>
          <a:xfrm xmlns:a="http://schemas.openxmlformats.org/drawingml/2006/main">
            <a:off x="8763000" y="5334000"/>
            <a:ext cx="5095875" cy="0"/>
          </a:xfrm>
          <a:prstGeom xmlns:a="http://schemas.openxmlformats.org/drawingml/2006/main" prst="line">
            <a:avLst/>
          </a:prstGeom>
          <a:ln xmlns:a="http://schemas.openxmlformats.org/drawingml/2006/main" w="19050">
            <a:solidFill>
              <a:srgbClr val="183247"/>
            </a:solidFill>
            <a:prstDash val="solid"/>
          </a:ln>
        </p:spPr>
      </p:sp>
      <p:sp>
        <p:nvSpPr>
          <p:cNvPr id="22" name="">
            <a:extLst xmlns:a="http://schemas.openxmlformats.org/drawingml/2006/main">
              <a:ext uri="{FF2B5EF4-FFF2-40B4-BE49-F238E27FC236}">
                <a16:creationId xmlns:a16="http://schemas.microsoft.com/office/drawing/2014/main" id="{2EF1D1EB-67A1-4E2B-8959-409D58CEED66}"/>
              </a:ext>
            </a:extLst>
          </p:cNvPr>
          <p:cNvSpPr>
            <a:spLocks xmlns:a="http://schemas.openxmlformats.org/drawingml/2006/main" noGrp="1"/>
          </p:cNvSpPr>
          <p:nvPr/>
        </p:nvSpPr>
        <p:spPr>
          <a:xfrm xmlns:a="http://schemas.openxmlformats.org/drawingml/2006/main">
            <a:off x="8763000" y="3095625"/>
            <a:ext cx="0" cy="2238375"/>
          </a:xfrm>
          <a:prstGeom xmlns:a="http://schemas.openxmlformats.org/drawingml/2006/main" prst="line">
            <a:avLst/>
          </a:prstGeom>
          <a:ln xmlns:a="http://schemas.openxmlformats.org/drawingml/2006/main" w="19050">
            <a:solidFill>
              <a:srgbClr val="183247"/>
            </a:solidFill>
            <a:prstDash val="solid"/>
          </a:ln>
        </p:spPr>
      </p:sp>
      <p:sp>
        <p:nvSpPr>
          <p:cNvPr id="23" name="Verticale positie (m)">
            <a:extLst xmlns:a="http://schemas.openxmlformats.org/drawingml/2006/main">
              <a:ext uri="{FF2B5EF4-FFF2-40B4-BE49-F238E27FC236}">
                <a16:creationId xmlns:a16="http://schemas.microsoft.com/office/drawing/2014/main" id="{771E5E83-76DB-42FB-ABD6-E8FAD613FA97}"/>
              </a:ext>
            </a:extLst>
          </p:cNvPr>
          <p:cNvSpPr>
            <a:spLocks xmlns:a="http://schemas.openxmlformats.org/drawingml/2006/main" noGrp="1"/>
          </p:cNvSpPr>
          <p:nvPr/>
        </p:nvSpPr>
        <p:spPr>
          <a:xfrm xmlns:a="http://schemas.openxmlformats.org/drawingml/2006/main">
            <a:off x="8048625" y="2657475"/>
            <a:ext cx="609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45B6B"/>
                </a:solidFill>
                <a:latin typeface="Arial"/>
                <a:ea typeface="Arial"/>
                <a:cs typeface="Arial"/>
              </a:defRPr>
            </a:pPr>
            <a:r>
              <a:rPr sz="1725" b="0">
                <a:solidFill>
                  <a:srgbClr val="445B6B"/>
                </a:solidFill>
                <a:latin typeface="Arial"/>
                <a:ea typeface="Arial"/>
                <a:cs typeface="Arial"/>
              </a:rPr>
              <a:t>Verticale positie (m)</a:t>
            </a:r>
          </a:p>
        </p:txBody>
      </p:sp>
      <p:sp>
        <p:nvSpPr>
          <p:cNvPr id="24" name="Horizontale positie (m)">
            <a:extLst xmlns:a="http://schemas.openxmlformats.org/drawingml/2006/main">
              <a:ext uri="{FF2B5EF4-FFF2-40B4-BE49-F238E27FC236}">
                <a16:creationId xmlns:a16="http://schemas.microsoft.com/office/drawing/2014/main" id="{A902C739-1554-4A8A-8F6D-63213A85BA28}"/>
              </a:ext>
            </a:extLst>
          </p:cNvPr>
          <p:cNvSpPr>
            <a:spLocks xmlns:a="http://schemas.openxmlformats.org/drawingml/2006/main" noGrp="1"/>
          </p:cNvSpPr>
          <p:nvPr/>
        </p:nvSpPr>
        <p:spPr>
          <a:xfrm xmlns:a="http://schemas.openxmlformats.org/drawingml/2006/main">
            <a:off x="8286750" y="5753100"/>
            <a:ext cx="595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445B6B"/>
                </a:solidFill>
                <a:latin typeface="Arial"/>
                <a:ea typeface="Arial"/>
                <a:cs typeface="Arial"/>
              </a:defRPr>
            </a:pPr>
            <a:r>
              <a:rPr sz="1725" b="0">
                <a:solidFill>
                  <a:srgbClr val="445B6B"/>
                </a:solidFill>
                <a:latin typeface="Arial"/>
                <a:ea typeface="Arial"/>
                <a:cs typeface="Arial"/>
              </a:rPr>
              <a:t>Horizontale positie (m)</a:t>
            </a:r>
          </a:p>
        </p:txBody>
      </p:sp>
      <p:sp>
        <p:nvSpPr>
          <p:cNvPr id="25" name="0">
            <a:extLst xmlns:a="http://schemas.openxmlformats.org/drawingml/2006/main">
              <a:ext uri="{FF2B5EF4-FFF2-40B4-BE49-F238E27FC236}">
                <a16:creationId xmlns:a16="http://schemas.microsoft.com/office/drawing/2014/main" id="{FD7324F8-F311-4881-BBAB-1B9BA5132C3E}"/>
              </a:ext>
            </a:extLst>
          </p:cNvPr>
          <p:cNvSpPr>
            <a:spLocks xmlns:a="http://schemas.openxmlformats.org/drawingml/2006/main" noGrp="1"/>
          </p:cNvSpPr>
          <p:nvPr/>
        </p:nvSpPr>
        <p:spPr>
          <a:xfrm xmlns:a="http://schemas.openxmlformats.org/drawingml/2006/main">
            <a:off x="8553450" y="5457825"/>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0</a:t>
            </a:r>
          </a:p>
        </p:txBody>
      </p:sp>
      <p:sp>
        <p:nvSpPr>
          <p:cNvPr id="26" name="2">
            <a:extLst xmlns:a="http://schemas.openxmlformats.org/drawingml/2006/main">
              <a:ext uri="{FF2B5EF4-FFF2-40B4-BE49-F238E27FC236}">
                <a16:creationId xmlns:a16="http://schemas.microsoft.com/office/drawing/2014/main" id="{74DBB3D8-7D43-4952-BCA1-F7C796F833C3}"/>
              </a:ext>
            </a:extLst>
          </p:cNvPr>
          <p:cNvSpPr>
            <a:spLocks xmlns:a="http://schemas.openxmlformats.org/drawingml/2006/main" noGrp="1"/>
          </p:cNvSpPr>
          <p:nvPr/>
        </p:nvSpPr>
        <p:spPr>
          <a:xfrm xmlns:a="http://schemas.openxmlformats.org/drawingml/2006/main">
            <a:off x="9572625" y="5457825"/>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2</a:t>
            </a:r>
          </a:p>
        </p:txBody>
      </p:sp>
      <p:sp>
        <p:nvSpPr>
          <p:cNvPr id="27" name="8">
            <a:extLst xmlns:a="http://schemas.openxmlformats.org/drawingml/2006/main">
              <a:ext uri="{FF2B5EF4-FFF2-40B4-BE49-F238E27FC236}">
                <a16:creationId xmlns:a16="http://schemas.microsoft.com/office/drawing/2014/main" id="{2E7498E1-9170-4294-B8CC-B008D316167C}"/>
              </a:ext>
            </a:extLst>
          </p:cNvPr>
          <p:cNvSpPr>
            <a:spLocks xmlns:a="http://schemas.openxmlformats.org/drawingml/2006/main" noGrp="1"/>
          </p:cNvSpPr>
          <p:nvPr/>
        </p:nvSpPr>
        <p:spPr>
          <a:xfrm xmlns:a="http://schemas.openxmlformats.org/drawingml/2006/main">
            <a:off x="12630150" y="5457825"/>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8</a:t>
            </a:r>
          </a:p>
        </p:txBody>
      </p:sp>
      <p:sp>
        <p:nvSpPr>
          <p:cNvPr id="28" name="4">
            <a:extLst xmlns:a="http://schemas.openxmlformats.org/drawingml/2006/main">
              <a:ext uri="{FF2B5EF4-FFF2-40B4-BE49-F238E27FC236}">
                <a16:creationId xmlns:a16="http://schemas.microsoft.com/office/drawing/2014/main" id="{DEEDF1A6-F2CB-45CF-AA46-3C54753D2C18}"/>
              </a:ext>
            </a:extLst>
          </p:cNvPr>
          <p:cNvSpPr>
            <a:spLocks xmlns:a="http://schemas.openxmlformats.org/drawingml/2006/main" noGrp="1"/>
          </p:cNvSpPr>
          <p:nvPr/>
        </p:nvSpPr>
        <p:spPr>
          <a:xfrm xmlns:a="http://schemas.openxmlformats.org/drawingml/2006/main">
            <a:off x="8315325" y="4177242"/>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4</a:t>
            </a:r>
          </a:p>
        </p:txBody>
      </p:sp>
      <p:sp>
        <p:nvSpPr>
          <p:cNvPr id="29" name="">
            <a:extLst xmlns:a="http://schemas.openxmlformats.org/drawingml/2006/main">
              <a:ext uri="{FF2B5EF4-FFF2-40B4-BE49-F238E27FC236}">
                <a16:creationId xmlns:a16="http://schemas.microsoft.com/office/drawing/2014/main" id="{8A1C0D98-A9DE-40A4-9644-8C8A0D395160}"/>
              </a:ext>
            </a:extLst>
          </p:cNvPr>
          <p:cNvSpPr>
            <a:spLocks xmlns:a="http://schemas.openxmlformats.org/drawingml/2006/main" noGrp="1"/>
          </p:cNvSpPr>
          <p:nvPr/>
        </p:nvSpPr>
        <p:spPr>
          <a:xfrm xmlns:a="http://schemas.openxmlformats.org/drawingml/2006/main">
            <a:off x="8763000" y="4339167"/>
            <a:ext cx="1019175" cy="0"/>
          </a:xfrm>
          <a:prstGeom xmlns:a="http://schemas.openxmlformats.org/drawingml/2006/main" prst="line">
            <a:avLst/>
          </a:prstGeom>
          <a:ln xmlns:a="http://schemas.openxmlformats.org/drawingml/2006/main" w="9525">
            <a:solidFill>
              <a:srgbClr val="445B6B"/>
            </a:solidFill>
            <a:prstDash val="dash"/>
          </a:ln>
        </p:spPr>
      </p:sp>
      <p:sp>
        <p:nvSpPr>
          <p:cNvPr id="30" name="8">
            <a:extLst xmlns:a="http://schemas.openxmlformats.org/drawingml/2006/main">
              <a:ext uri="{FF2B5EF4-FFF2-40B4-BE49-F238E27FC236}">
                <a16:creationId xmlns:a16="http://schemas.microsoft.com/office/drawing/2014/main" id="{7DDCF9C7-B145-4D7E-941A-7F218C58C327}"/>
              </a:ext>
            </a:extLst>
          </p:cNvPr>
          <p:cNvSpPr>
            <a:spLocks xmlns:a="http://schemas.openxmlformats.org/drawingml/2006/main" noGrp="1"/>
          </p:cNvSpPr>
          <p:nvPr/>
        </p:nvSpPr>
        <p:spPr>
          <a:xfrm xmlns:a="http://schemas.openxmlformats.org/drawingml/2006/main">
            <a:off x="8315325" y="3182408"/>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8</a:t>
            </a:r>
          </a:p>
        </p:txBody>
      </p:sp>
      <p:sp>
        <p:nvSpPr>
          <p:cNvPr id="31" name="">
            <a:extLst xmlns:a="http://schemas.openxmlformats.org/drawingml/2006/main">
              <a:ext uri="{FF2B5EF4-FFF2-40B4-BE49-F238E27FC236}">
                <a16:creationId xmlns:a16="http://schemas.microsoft.com/office/drawing/2014/main" id="{714B31AA-16C0-487E-B0C3-91392B46A708}"/>
              </a:ext>
            </a:extLst>
          </p:cNvPr>
          <p:cNvSpPr>
            <a:spLocks xmlns:a="http://schemas.openxmlformats.org/drawingml/2006/main" noGrp="1"/>
          </p:cNvSpPr>
          <p:nvPr/>
        </p:nvSpPr>
        <p:spPr>
          <a:xfrm xmlns:a="http://schemas.openxmlformats.org/drawingml/2006/main">
            <a:off x="8763000" y="3344333"/>
            <a:ext cx="1019175" cy="0"/>
          </a:xfrm>
          <a:prstGeom xmlns:a="http://schemas.openxmlformats.org/drawingml/2006/main" prst="line">
            <a:avLst/>
          </a:prstGeom>
          <a:ln xmlns:a="http://schemas.openxmlformats.org/drawingml/2006/main" w="9525">
            <a:solidFill>
              <a:srgbClr val="445B6B"/>
            </a:solidFill>
            <a:prstDash val="dash"/>
          </a:ln>
        </p:spPr>
      </p:sp>
      <p:sp>
        <p:nvSpPr>
          <p:cNvPr id="32" name="">
            <a:extLst xmlns:a="http://schemas.openxmlformats.org/drawingml/2006/main">
              <a:ext uri="{FF2B5EF4-FFF2-40B4-BE49-F238E27FC236}">
                <a16:creationId xmlns:a16="http://schemas.microsoft.com/office/drawing/2014/main" id="{2B69E165-FA36-49D8-A306-05C9253DEAF7}"/>
              </a:ext>
            </a:extLst>
          </p:cNvPr>
          <p:cNvSpPr>
            <a:spLocks xmlns:a="http://schemas.openxmlformats.org/drawingml/2006/main" noGrp="1"/>
          </p:cNvSpPr>
          <p:nvPr/>
        </p:nvSpPr>
        <p:spPr>
          <a:xfrm xmlns:a="http://schemas.openxmlformats.org/drawingml/2006/main">
            <a:off x="9782175" y="4339167"/>
            <a:ext cx="0" cy="994833"/>
          </a:xfrm>
          <a:prstGeom xmlns:a="http://schemas.openxmlformats.org/drawingml/2006/main" prst="line">
            <a:avLst/>
          </a:prstGeom>
          <a:ln xmlns:a="http://schemas.openxmlformats.org/drawingml/2006/main" w="9525">
            <a:solidFill>
              <a:srgbClr val="445B6B"/>
            </a:solidFill>
            <a:prstDash val="dash"/>
          </a:ln>
        </p:spPr>
      </p:sp>
      <p:sp>
        <p:nvSpPr>
          <p:cNvPr id="33" name="">
            <a:extLst xmlns:a="http://schemas.openxmlformats.org/drawingml/2006/main">
              <a:ext uri="{FF2B5EF4-FFF2-40B4-BE49-F238E27FC236}">
                <a16:creationId xmlns:a16="http://schemas.microsoft.com/office/drawing/2014/main" id="{D8395B4A-48F5-4274-BA7E-D872247A8E14}"/>
              </a:ext>
            </a:extLst>
          </p:cNvPr>
          <p:cNvSpPr>
            <a:spLocks xmlns:a="http://schemas.openxmlformats.org/drawingml/2006/main" noGrp="1"/>
          </p:cNvSpPr>
          <p:nvPr/>
        </p:nvSpPr>
        <p:spPr>
          <a:xfrm xmlns:a="http://schemas.openxmlformats.org/drawingml/2006/main">
            <a:off x="12839700" y="4339167"/>
            <a:ext cx="0" cy="994833"/>
          </a:xfrm>
          <a:prstGeom xmlns:a="http://schemas.openxmlformats.org/drawingml/2006/main" prst="line">
            <a:avLst/>
          </a:prstGeom>
          <a:ln xmlns:a="http://schemas.openxmlformats.org/drawingml/2006/main" w="9525">
            <a:solidFill>
              <a:srgbClr val="445B6B"/>
            </a:solidFill>
            <a:prstDash val="dash"/>
          </a:ln>
        </p:spPr>
      </p:sp>
      <p:sp>
        <p:nvSpPr>
          <p:cNvPr id="34" name="plattegrond-driehoek">
            <a:extLst xmlns:a="http://schemas.openxmlformats.org/drawingml/2006/main">
              <a:ext uri="{FF2B5EF4-FFF2-40B4-BE49-F238E27FC236}">
                <a16:creationId xmlns:a16="http://schemas.microsoft.com/office/drawing/2014/main" id="{266B1E36-7BB1-4312-96A0-86AE3D06D5E6}"/>
              </a:ext>
            </a:extLst>
          </p:cNvPr>
          <p:cNvSpPr>
            <a:spLocks xmlns:a="http://schemas.openxmlformats.org/drawingml/2006/main" noGrp="1"/>
          </p:cNvSpPr>
          <p:nvPr/>
        </p:nvSpPr>
        <p:spPr>
          <a:xfrm xmlns:a="http://schemas.openxmlformats.org/drawingml/2006/main">
            <a:off x="9782175" y="3344333"/>
            <a:ext cx="3057525" cy="994833"/>
          </a:xfrm>
          <a:custGeom xmlns:a="http://schemas.openxmlformats.org/drawingml/2006/main">
            <a:pathLst>
              <a:path w="3057525" h="994833">
                <a:moveTo>
                  <a:pt x="0" y="994833"/>
                </a:moveTo>
                <a:lnTo>
                  <a:pt x="3057525" y="994833"/>
                </a:lnTo>
                <a:lnTo>
                  <a:pt x="0" y="0"/>
                </a:lnTo>
                <a:close/>
              </a:path>
            </a:pathLst>
          </a:custGeom>
          <a:solidFill xmlns:a="http://schemas.openxmlformats.org/drawingml/2006/main">
            <a:srgbClr val="D4E5DF"/>
          </a:solidFill>
          <a:ln xmlns:a="http://schemas.openxmlformats.org/drawingml/2006/main" w="28575">
            <a:solidFill>
              <a:srgbClr val="20665B"/>
            </a:solidFill>
          </a:ln>
        </p:spPr>
      </p:sp>
      <p:sp>
        <p:nvSpPr>
          <p:cNvPr id="35" name="Driehoek">
            <a:extLst xmlns:a="http://schemas.openxmlformats.org/drawingml/2006/main">
              <a:ext uri="{FF2B5EF4-FFF2-40B4-BE49-F238E27FC236}">
                <a16:creationId xmlns:a16="http://schemas.microsoft.com/office/drawing/2014/main" id="{ACC45912-64AF-439C-881C-4FF75091F0F0}"/>
              </a:ext>
            </a:extLst>
          </p:cNvPr>
          <p:cNvSpPr>
            <a:spLocks xmlns:a="http://schemas.openxmlformats.org/drawingml/2006/main" noGrp="1"/>
          </p:cNvSpPr>
          <p:nvPr/>
        </p:nvSpPr>
        <p:spPr>
          <a:xfrm xmlns:a="http://schemas.openxmlformats.org/drawingml/2006/main">
            <a:off x="8763000" y="5362575"/>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20665B"/>
                </a:solidFill>
                <a:latin typeface="Arial"/>
                <a:ea typeface="Arial"/>
                <a:cs typeface="Arial"/>
              </a:defRPr>
            </a:pPr>
            <a:r>
              <a:rPr sz="2025" b="1">
                <a:solidFill>
                  <a:srgbClr val="20665B"/>
                </a:solidFill>
                <a:latin typeface="Arial"/>
                <a:ea typeface="Arial"/>
                <a:cs typeface="Arial"/>
              </a:rPr>
              <a:t>Driehoek</a:t>
            </a:r>
          </a:p>
        </p:txBody>
      </p:sp>
      <p:sp>
        <p:nvSpPr>
          <p:cNvPr id="36" name="f. Bereken met bron C de oppervlakte van de rechthoek.">
            <a:extLst xmlns:a="http://schemas.openxmlformats.org/drawingml/2006/main">
              <a:ext uri="{FF2B5EF4-FFF2-40B4-BE49-F238E27FC236}">
                <a16:creationId xmlns:a16="http://schemas.microsoft.com/office/drawing/2014/main" id="{04F542D2-C3CC-4E2B-9D34-F20D732593F5}"/>
              </a:ext>
            </a:extLst>
          </p:cNvPr>
          <p:cNvSpPr>
            <a:spLocks xmlns:a="http://schemas.openxmlformats.org/drawingml/2006/main" noGrp="1"/>
          </p:cNvSpPr>
          <p:nvPr/>
        </p:nvSpPr>
        <p:spPr>
          <a:xfrm xmlns:a="http://schemas.openxmlformats.org/drawingml/2006/main">
            <a:off x="571500" y="64198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f. Bereken met bron C de oppervlakte van de rechthoek.</a:t>
            </a:r>
          </a:p>
        </p:txBody>
      </p:sp>
      <p:sp>
        <p:nvSpPr>
          <p:cNvPr id="37" name="g. Bereken met bron C de oppervlakte van de driehoek.&#10;Laat z">
            <a:extLst xmlns:a="http://schemas.openxmlformats.org/drawingml/2006/main">
              <a:ext uri="{FF2B5EF4-FFF2-40B4-BE49-F238E27FC236}">
                <a16:creationId xmlns:a16="http://schemas.microsoft.com/office/drawing/2014/main" id="{6CAEFAC5-5EC0-4ED1-88D7-892E5230AF04}"/>
              </a:ext>
            </a:extLst>
          </p:cNvPr>
          <p:cNvSpPr>
            <a:spLocks xmlns:a="http://schemas.openxmlformats.org/drawingml/2006/main" noGrp="1"/>
          </p:cNvSpPr>
          <p:nvPr/>
        </p:nvSpPr>
        <p:spPr>
          <a:xfrm xmlns:a="http://schemas.openxmlformats.org/drawingml/2006/main">
            <a:off x="571500" y="707707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g. Bereken met bron C de oppervlakte van de driehoek.</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Laat zien welke basis en hoogte je gebruikt.</a:t>
            </a:r>
          </a:p>
        </p:txBody>
      </p:sp>
    </p:spTree>
    <p:extLst>
      <p:ext uri="{BB962C8B-B14F-4D97-AF65-F5344CB8AC3E}">
        <p14:creationId xmlns:p14="http://schemas.microsoft.com/office/powerpoint/2010/main" val="126399515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0a · Punten en lijnstukken">
            <a:extLst xmlns:a="http://schemas.openxmlformats.org/drawingml/2006/main">
              <a:ext uri="{FF2B5EF4-FFF2-40B4-BE49-F238E27FC236}">
                <a16:creationId xmlns:a16="http://schemas.microsoft.com/office/drawing/2014/main" id="{DEC0BED3-2120-4B5A-A642-A38904B64F27}"/>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30a · Punten en lijnstukken</a:t>
            </a:r>
          </a:p>
        </p:txBody>
      </p:sp>
      <p:sp>
        <p:nvSpPr>
          <p:cNvPr id="2" name="">
            <a:extLst xmlns:a="http://schemas.openxmlformats.org/drawingml/2006/main">
              <a:ext uri="{FF2B5EF4-FFF2-40B4-BE49-F238E27FC236}">
                <a16:creationId xmlns:a16="http://schemas.microsoft.com/office/drawing/2014/main" id="{20C65D1A-E9D0-4C76-AA7A-1DEA58CF34E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 Opgave 30 · Boekpagina 36">
            <a:extLst xmlns:a="http://schemas.openxmlformats.org/drawingml/2006/main">
              <a:ext uri="{FF2B5EF4-FFF2-40B4-BE49-F238E27FC236}">
                <a16:creationId xmlns:a16="http://schemas.microsoft.com/office/drawing/2014/main" id="{5DCD04BE-14E8-4CEF-AA27-3A95D8C7082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 Opgave 30 · Boekpagina 36</a:t>
            </a:r>
          </a:p>
        </p:txBody>
      </p:sp>
      <p:sp>
        <p:nvSpPr>
          <p:cNvPr id="4" name="slide-number">
            <a:extLst xmlns:a="http://schemas.openxmlformats.org/drawingml/2006/main">
              <a:ext uri="{FF2B5EF4-FFF2-40B4-BE49-F238E27FC236}">
                <a16:creationId xmlns:a16="http://schemas.microsoft.com/office/drawing/2014/main" id="{58ECB449-104E-4405-A30D-699A140757E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3" name="Chart"/>
          <p:cNvGraphicFramePr/>
          <p:nvPr/>
        </p:nvGraphicFramePr>
        <p:xfrm>
          <a:off xmlns:a="http://schemas.openxmlformats.org/drawingml/2006/main" x="571500" y="2247900"/>
          <a:ext xmlns:a="http://schemas.openxmlformats.org/drawingml/2006/main" cx="9525000" cy="5286375"/>
        </p:xfrm>
        <a:graphic xmlns:a="http://schemas.openxmlformats.org/drawingml/2006/main">
          <a:graphicData uri="http://schemas.openxmlformats.org/drawingml/2006/chart">
            <c:chart xmlns:r="http://schemas.openxmlformats.org/officeDocument/2006/relationships" xmlns:c="http://schemas.openxmlformats.org/drawingml/2006/chart" r:id="R7dc674e508d24732"/>
          </a:graphicData>
        </a:graphic>
      </p:graphicFrame>
      <p:sp>
        <p:nvSpPr>
          <p:cNvPr id="6" name="Q horizontaal&#10;P verticaal">
            <a:extLst xmlns:a="http://schemas.openxmlformats.org/drawingml/2006/main">
              <a:ext uri="{FF2B5EF4-FFF2-40B4-BE49-F238E27FC236}">
                <a16:creationId xmlns:a16="http://schemas.microsoft.com/office/drawing/2014/main" id="{4E5EE47F-AEF7-41F0-AFC4-399CD1A35A8C}"/>
              </a:ext>
            </a:extLst>
          </p:cNvPr>
          <p:cNvSpPr>
            <a:spLocks xmlns:a="http://schemas.openxmlformats.org/drawingml/2006/main" noGrp="1"/>
          </p:cNvSpPr>
          <p:nvPr/>
        </p:nvSpPr>
        <p:spPr>
          <a:xfrm xmlns:a="http://schemas.openxmlformats.org/drawingml/2006/main">
            <a:off x="10477500" y="2266950"/>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Q horizontaal</a:t>
            </a:r>
          </a:p>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P verticaal</a:t>
            </a:r>
          </a:p>
        </p:txBody>
      </p:sp>
      <p:sp>
        <p:nvSpPr>
          <p:cNvPr id="7" name="(100; 2)&#10;(70; 5)&#10;(40; 8)">
            <a:extLst xmlns:a="http://schemas.openxmlformats.org/drawingml/2006/main">
              <a:ext uri="{FF2B5EF4-FFF2-40B4-BE49-F238E27FC236}">
                <a16:creationId xmlns:a16="http://schemas.microsoft.com/office/drawing/2014/main" id="{4EA5790F-FB6E-4DE0-9029-42B9DB319490}"/>
              </a:ext>
            </a:extLst>
          </p:cNvPr>
          <p:cNvSpPr>
            <a:spLocks xmlns:a="http://schemas.openxmlformats.org/drawingml/2006/main" noGrp="1"/>
          </p:cNvSpPr>
          <p:nvPr/>
        </p:nvSpPr>
        <p:spPr>
          <a:xfrm xmlns:a="http://schemas.openxmlformats.org/drawingml/2006/main">
            <a:off x="10477500" y="3895725"/>
            <a:ext cx="41910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(100; 2)</a:t>
            </a:r>
          </a:p>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(70; 5)</a:t>
            </a:r>
          </a:p>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(40; 8)</a:t>
            </a:r>
          </a:p>
        </p:txBody>
      </p:sp>
      <p:sp>
        <p:nvSpPr>
          <p:cNvPr id="8" name="Schalen, eenheden&#10;en drie punten">
            <a:extLst xmlns:a="http://schemas.openxmlformats.org/drawingml/2006/main">
              <a:ext uri="{FF2B5EF4-FFF2-40B4-BE49-F238E27FC236}">
                <a16:creationId xmlns:a16="http://schemas.microsoft.com/office/drawing/2014/main" id="{6A114EDA-15D6-4BC1-B3C9-05EC6A314616}"/>
              </a:ext>
            </a:extLst>
          </p:cNvPr>
          <p:cNvSpPr>
            <a:spLocks xmlns:a="http://schemas.openxmlformats.org/drawingml/2006/main" noGrp="1"/>
          </p:cNvSpPr>
          <p:nvPr/>
        </p:nvSpPr>
        <p:spPr>
          <a:xfrm xmlns:a="http://schemas.openxmlformats.org/drawingml/2006/main">
            <a:off x="10477500" y="6324600"/>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Schalen, eenheden</a:t>
            </a:r>
          </a:p>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en drie punten</a:t>
            </a:r>
          </a:p>
        </p:txBody>
      </p:sp>
    </p:spTree>
    <p:extLst>
      <p:ext uri="{BB962C8B-B14F-4D97-AF65-F5344CB8AC3E}">
        <p14:creationId xmlns:p14="http://schemas.microsoft.com/office/powerpoint/2010/main" val="183930178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0b · Lineair interpoleren">
            <a:extLst xmlns:a="http://schemas.openxmlformats.org/drawingml/2006/main">
              <a:ext uri="{FF2B5EF4-FFF2-40B4-BE49-F238E27FC236}">
                <a16:creationId xmlns:a16="http://schemas.microsoft.com/office/drawing/2014/main" id="{539C2F62-5FA1-4D39-8FBB-F131A0C8D5C5}"/>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30b · Lineair interpoleren</a:t>
            </a:r>
          </a:p>
        </p:txBody>
      </p:sp>
      <p:sp>
        <p:nvSpPr>
          <p:cNvPr id="2" name="">
            <a:extLst xmlns:a="http://schemas.openxmlformats.org/drawingml/2006/main">
              <a:ext uri="{FF2B5EF4-FFF2-40B4-BE49-F238E27FC236}">
                <a16:creationId xmlns:a16="http://schemas.microsoft.com/office/drawing/2014/main" id="{29791C65-9640-4E3E-ACF7-D8E13A4C68F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 Opgave 30 · Boekpagina 36">
            <a:extLst xmlns:a="http://schemas.openxmlformats.org/drawingml/2006/main">
              <a:ext uri="{FF2B5EF4-FFF2-40B4-BE49-F238E27FC236}">
                <a16:creationId xmlns:a16="http://schemas.microsoft.com/office/drawing/2014/main" id="{6205DEAA-D9B6-443E-94A3-FCB600801BC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 Opgave 30 · Boekpagina 36</a:t>
            </a:r>
          </a:p>
        </p:txBody>
      </p:sp>
      <p:sp>
        <p:nvSpPr>
          <p:cNvPr id="4" name="slide-number">
            <a:extLst xmlns:a="http://schemas.openxmlformats.org/drawingml/2006/main">
              <a:ext uri="{FF2B5EF4-FFF2-40B4-BE49-F238E27FC236}">
                <a16:creationId xmlns:a16="http://schemas.microsoft.com/office/drawing/2014/main" id="{584A87A7-AB71-4B88-8CE4-912C670325A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4" name="Chart"/>
          <p:cNvGraphicFramePr/>
          <p:nvPr/>
        </p:nvGraphicFramePr>
        <p:xfrm>
          <a:off xmlns:a="http://schemas.openxmlformats.org/drawingml/2006/main" x="571500" y="2247900"/>
          <a:ext xmlns:a="http://schemas.openxmlformats.org/drawingml/2006/main" cx="9525000" cy="5286375"/>
        </p:xfrm>
        <a:graphic xmlns:a="http://schemas.openxmlformats.org/drawingml/2006/main">
          <a:graphicData uri="http://schemas.openxmlformats.org/drawingml/2006/chart">
            <c:chart xmlns:r="http://schemas.openxmlformats.org/officeDocument/2006/relationships" xmlns:c="http://schemas.openxmlformats.org/drawingml/2006/chart" r:id="R9acd03efcf844627"/>
          </a:graphicData>
        </a:graphic>
      </p:graphicFrame>
      <p:sp>
        <p:nvSpPr>
          <p:cNvPr id="6" name="Prijsinterval € 2 tot € 5">
            <a:extLst xmlns:a="http://schemas.openxmlformats.org/drawingml/2006/main">
              <a:ext uri="{FF2B5EF4-FFF2-40B4-BE49-F238E27FC236}">
                <a16:creationId xmlns:a16="http://schemas.microsoft.com/office/drawing/2014/main" id="{83B0A08C-3998-4CFA-8C08-C087CEBA658A}"/>
              </a:ext>
            </a:extLst>
          </p:cNvPr>
          <p:cNvSpPr>
            <a:spLocks xmlns:a="http://schemas.openxmlformats.org/drawingml/2006/main" noGrp="1"/>
          </p:cNvSpPr>
          <p:nvPr/>
        </p:nvSpPr>
        <p:spPr>
          <a:xfrm xmlns:a="http://schemas.openxmlformats.org/drawingml/2006/main">
            <a:off x="10477500" y="22764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Prijsinterval € 2 tot € 5</a:t>
            </a:r>
          </a:p>
        </p:txBody>
      </p:sp>
      <p:sp>
        <p:nvSpPr>
          <p:cNvPr id="7" name="(4 − 2) / (5 − 2) = ⅔">
            <a:extLst xmlns:a="http://schemas.openxmlformats.org/drawingml/2006/main">
              <a:ext uri="{FF2B5EF4-FFF2-40B4-BE49-F238E27FC236}">
                <a16:creationId xmlns:a16="http://schemas.microsoft.com/office/drawing/2014/main" id="{20DEBC7D-E91F-42DC-A729-1CCB32CF53BF}"/>
              </a:ext>
            </a:extLst>
          </p:cNvPr>
          <p:cNvSpPr>
            <a:spLocks xmlns:a="http://schemas.openxmlformats.org/drawingml/2006/main" noGrp="1"/>
          </p:cNvSpPr>
          <p:nvPr/>
        </p:nvSpPr>
        <p:spPr>
          <a:xfrm xmlns:a="http://schemas.openxmlformats.org/drawingml/2006/main">
            <a:off x="10477500" y="3533775"/>
            <a:ext cx="4191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(4 − 2) / (5 − 2) = ⅔</a:t>
            </a:r>
          </a:p>
        </p:txBody>
      </p:sp>
      <p:sp>
        <p:nvSpPr>
          <p:cNvPr id="8" name="Q = 100 − ⅔ × 30&#10;Q = 80">
            <a:extLst xmlns:a="http://schemas.openxmlformats.org/drawingml/2006/main">
              <a:ext uri="{FF2B5EF4-FFF2-40B4-BE49-F238E27FC236}">
                <a16:creationId xmlns:a16="http://schemas.microsoft.com/office/drawing/2014/main" id="{DC1602E2-FE4C-4885-A3C1-98200C144AF0}"/>
              </a:ext>
            </a:extLst>
          </p:cNvPr>
          <p:cNvSpPr>
            <a:spLocks xmlns:a="http://schemas.openxmlformats.org/drawingml/2006/main" noGrp="1"/>
          </p:cNvSpPr>
          <p:nvPr/>
        </p:nvSpPr>
        <p:spPr>
          <a:xfrm xmlns:a="http://schemas.openxmlformats.org/drawingml/2006/main">
            <a:off x="10477500" y="4953000"/>
            <a:ext cx="4191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Q = 100 − ⅔ × 30</a:t>
            </a:r>
          </a:p>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Q = 80</a:t>
            </a:r>
          </a:p>
        </p:txBody>
      </p:sp>
      <p:sp>
        <p:nvSpPr>
          <p:cNvPr id="9" name="80 reserveringen&#10;per middag">
            <a:extLst xmlns:a="http://schemas.openxmlformats.org/drawingml/2006/main">
              <a:ext uri="{FF2B5EF4-FFF2-40B4-BE49-F238E27FC236}">
                <a16:creationId xmlns:a16="http://schemas.microsoft.com/office/drawing/2014/main" id="{36CC42ED-3182-4229-8164-98C9287AC97E}"/>
              </a:ext>
            </a:extLst>
          </p:cNvPr>
          <p:cNvSpPr>
            <a:spLocks xmlns:a="http://schemas.openxmlformats.org/drawingml/2006/main" noGrp="1"/>
          </p:cNvSpPr>
          <p:nvPr/>
        </p:nvSpPr>
        <p:spPr>
          <a:xfrm xmlns:a="http://schemas.openxmlformats.org/drawingml/2006/main">
            <a:off x="10477500" y="6762750"/>
            <a:ext cx="4191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80 reserveringen</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per middag</a:t>
            </a:r>
          </a:p>
        </p:txBody>
      </p:sp>
    </p:spTree>
    <p:extLst>
      <p:ext uri="{BB962C8B-B14F-4D97-AF65-F5344CB8AC3E}">
        <p14:creationId xmlns:p14="http://schemas.microsoft.com/office/powerpoint/2010/main" val="17143637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0c · De juiste vergelijkingsbasis">
            <a:extLst xmlns:a="http://schemas.openxmlformats.org/drawingml/2006/main">
              <a:ext uri="{FF2B5EF4-FFF2-40B4-BE49-F238E27FC236}">
                <a16:creationId xmlns:a16="http://schemas.microsoft.com/office/drawing/2014/main" id="{7D275F2E-90E8-4B46-9928-364DAB5DEF9B}"/>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30c · De juiste vergelijkingsbasis</a:t>
            </a:r>
          </a:p>
        </p:txBody>
      </p:sp>
      <p:sp>
        <p:nvSpPr>
          <p:cNvPr id="2" name="">
            <a:extLst xmlns:a="http://schemas.openxmlformats.org/drawingml/2006/main">
              <a:ext uri="{FF2B5EF4-FFF2-40B4-BE49-F238E27FC236}">
                <a16:creationId xmlns:a16="http://schemas.microsoft.com/office/drawing/2014/main" id="{EE65664D-10A7-476A-9991-1439770030B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 Opgave 30 · Boekpagina 36">
            <a:extLst xmlns:a="http://schemas.openxmlformats.org/drawingml/2006/main">
              <a:ext uri="{FF2B5EF4-FFF2-40B4-BE49-F238E27FC236}">
                <a16:creationId xmlns:a16="http://schemas.microsoft.com/office/drawing/2014/main" id="{DF911609-4D32-4E0C-8A3C-1D2DAE269B9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 Opgave 30 · Boekpagina 36</a:t>
            </a:r>
          </a:p>
        </p:txBody>
      </p:sp>
      <p:sp>
        <p:nvSpPr>
          <p:cNvPr id="4" name="slide-number">
            <a:extLst xmlns:a="http://schemas.openxmlformats.org/drawingml/2006/main">
              <a:ext uri="{FF2B5EF4-FFF2-40B4-BE49-F238E27FC236}">
                <a16:creationId xmlns:a16="http://schemas.microsoft.com/office/drawing/2014/main" id="{BA25FF70-5245-4B9C-9342-4726C50AB27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3" name=""/>
          <p:cNvGraphicFramePr/>
          <p:nvPr/>
        </p:nvGraphicFramePr>
        <p:xfrm>
          <a:off xmlns:a="http://schemas.openxmlformats.org/drawingml/2006/main" x="571500" y="2066925"/>
          <a:ext xmlns:a="http://schemas.openxmlformats.org/drawingml/2006/main" cx="14097000" cy="1828800"/>
        </p:xfrm>
        <a:graphic xmlns:a="http://schemas.openxmlformats.org/drawingml/2006/main">
          <a:graphicData uri="http://schemas.openxmlformats.org/drawingml/2006/table">
            <a:tbl>
              <a:tblPr/>
              <a:tblGrid>
                <a:gridCol w="7524750"/>
                <a:gridCol w="3286125"/>
                <a:gridCol w="3286125"/>
              </a:tblGrid>
              <a:tr h="914400">
                <a:tc>
                  <a:txBody>
                    <a:bodyPr lIns="171450" tIns="95250" rIns="152400" bIns="95250"/>
                    <a:lstStyle/>
                    <a:p>
                      <a:r>
                        <a:rPr sz="2550" b="1">
                          <a:solidFill>
                            <a:srgbClr val="FFFFFF"/>
                          </a:solidFill>
                          <a:latin typeface="Arial"/>
                          <a:ea typeface="Arial"/>
                          <a:cs typeface="Arial"/>
                        </a:rPr>
                        <a:t>Prijs P</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€ 2</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€ 5</a:t>
                      </a:r>
                    </a:p>
                  </a:txBody>
                  <a:tcPr marL="91440" marR="91440" marT="45720" marB="45720" anchor="ctr">
                    <a:solidFill>
                      <a:srgbClr val="183247"/>
                    </a:solidFill>
                  </a:tcPr>
                </a:tc>
              </a:tr>
              <a:tr h="914400">
                <a:tc>
                  <a:txBody>
                    <a:bodyPr lIns="171450" tIns="95250" rIns="152400" bIns="95250"/>
                    <a:lstStyle/>
                    <a:p>
                      <a:r>
                        <a:rPr sz="2550" b="0">
                          <a:solidFill>
                            <a:srgbClr val="183247"/>
                          </a:solidFill>
                          <a:latin typeface="Arial"/>
                          <a:ea typeface="Arial"/>
                          <a:cs typeface="Arial"/>
                        </a:rPr>
                        <a:t>Q (reserveringen per middag)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70</a:t>
                      </a:r>
                    </a:p>
                  </a:txBody>
                  <a:tcPr marL="91440" marR="91440" marT="45720" marB="45720" anchor="ctr">
                    <a:solidFill>
                      <a:srgbClr val="FFFFFF"/>
                    </a:solidFill>
                  </a:tcPr>
                </a:tc>
              </a:tr>
            </a:tbl>
          </a:graphicData>
        </a:graphic>
      </p:graphicFrame>
      <p:sp>
        <p:nvSpPr>
          <p:cNvPr id="6" name="(70 − 100) / 100 × 100% = −30%">
            <a:extLst xmlns:a="http://schemas.openxmlformats.org/drawingml/2006/main">
              <a:ext uri="{FF2B5EF4-FFF2-40B4-BE49-F238E27FC236}">
                <a16:creationId xmlns:a16="http://schemas.microsoft.com/office/drawing/2014/main" id="{26DA7E80-1BAA-4AC1-9A73-2A82C438D84F}"/>
              </a:ext>
            </a:extLst>
          </p:cNvPr>
          <p:cNvSpPr>
            <a:spLocks xmlns:a="http://schemas.openxmlformats.org/drawingml/2006/main" noGrp="1"/>
          </p:cNvSpPr>
          <p:nvPr/>
        </p:nvSpPr>
        <p:spPr>
          <a:xfrm xmlns:a="http://schemas.openxmlformats.org/drawingml/2006/main">
            <a:off x="571500" y="457200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(70 − 100) / 100 × 100% = −30%</a:t>
            </a:r>
          </a:p>
        </p:txBody>
      </p:sp>
      <p:sp>
        <p:nvSpPr>
          <p:cNvPr id="7" name="De uitspraak is onjuist: het aantal daalt met 30%.">
            <a:extLst xmlns:a="http://schemas.openxmlformats.org/drawingml/2006/main">
              <a:ext uri="{FF2B5EF4-FFF2-40B4-BE49-F238E27FC236}">
                <a16:creationId xmlns:a16="http://schemas.microsoft.com/office/drawing/2014/main" id="{3623A0F0-2D73-431B-90AB-5C0038B24AD7}"/>
              </a:ext>
            </a:extLst>
          </p:cNvPr>
          <p:cNvSpPr>
            <a:spLocks xmlns:a="http://schemas.openxmlformats.org/drawingml/2006/main" noGrp="1"/>
          </p:cNvSpPr>
          <p:nvPr/>
        </p:nvSpPr>
        <p:spPr>
          <a:xfrm xmlns:a="http://schemas.openxmlformats.org/drawingml/2006/main">
            <a:off x="571500" y="577215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De uitspraak is onjuist: het aantal daalt met 30%.</a:t>
            </a:r>
          </a:p>
        </p:txBody>
      </p:sp>
      <p:sp>
        <p:nvSpPr>
          <p:cNvPr id="8" name="De oude 100 is de basis. Delen door 70 gebruikt de nieuwe wa">
            <a:extLst xmlns:a="http://schemas.openxmlformats.org/drawingml/2006/main">
              <a:ext uri="{FF2B5EF4-FFF2-40B4-BE49-F238E27FC236}">
                <a16:creationId xmlns:a16="http://schemas.microsoft.com/office/drawing/2014/main" id="{CDB687C0-06DA-49A7-943B-A5FE22F7BD52}"/>
              </a:ext>
            </a:extLst>
          </p:cNvPr>
          <p:cNvSpPr>
            <a:spLocks xmlns:a="http://schemas.openxmlformats.org/drawingml/2006/main" noGrp="1"/>
          </p:cNvSpPr>
          <p:nvPr/>
        </p:nvSpPr>
        <p:spPr>
          <a:xfrm xmlns:a="http://schemas.openxmlformats.org/drawingml/2006/main">
            <a:off x="571500" y="71818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A94D16"/>
                </a:solidFill>
                <a:latin typeface="Arial"/>
                <a:ea typeface="Arial"/>
                <a:cs typeface="Arial"/>
              </a:defRPr>
            </a:pPr>
            <a:r>
              <a:rPr sz="2550" b="0">
                <a:solidFill>
                  <a:srgbClr val="A94D16"/>
                </a:solidFill>
                <a:latin typeface="Arial"/>
                <a:ea typeface="Arial"/>
                <a:cs typeface="Arial"/>
              </a:rPr>
              <a:t>De oude 100 is de basis. Delen door 70 gebruikt de nieuwe waarde.</a:t>
            </a:r>
          </a:p>
        </p:txBody>
      </p:sp>
    </p:spTree>
    <p:extLst>
      <p:ext uri="{BB962C8B-B14F-4D97-AF65-F5344CB8AC3E}">
        <p14:creationId xmlns:p14="http://schemas.microsoft.com/office/powerpoint/2010/main" val="164619009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0d · Het bedrag bij zes lampjes">
            <a:extLst xmlns:a="http://schemas.openxmlformats.org/drawingml/2006/main">
              <a:ext uri="{FF2B5EF4-FFF2-40B4-BE49-F238E27FC236}">
                <a16:creationId xmlns:a16="http://schemas.microsoft.com/office/drawing/2014/main" id="{03D7F3BE-015C-438D-A710-4C041463897C}"/>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30d · Het bedrag bij zes lampjes</a:t>
            </a:r>
          </a:p>
        </p:txBody>
      </p:sp>
      <p:sp>
        <p:nvSpPr>
          <p:cNvPr id="2" name="">
            <a:extLst xmlns:a="http://schemas.openxmlformats.org/drawingml/2006/main">
              <a:ext uri="{FF2B5EF4-FFF2-40B4-BE49-F238E27FC236}">
                <a16:creationId xmlns:a16="http://schemas.microsoft.com/office/drawing/2014/main" id="{F3371365-540D-4E94-A5AD-79E863B7C83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 Opgave 30 · Boekpagina 36">
            <a:extLst xmlns:a="http://schemas.openxmlformats.org/drawingml/2006/main">
              <a:ext uri="{FF2B5EF4-FFF2-40B4-BE49-F238E27FC236}">
                <a16:creationId xmlns:a16="http://schemas.microsoft.com/office/drawing/2014/main" id="{C7675170-EA6C-45A0-A192-34095304EB4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 Opgave 30 · Boekpagina 36</a:t>
            </a:r>
          </a:p>
        </p:txBody>
      </p:sp>
      <p:sp>
        <p:nvSpPr>
          <p:cNvPr id="4" name="slide-number">
            <a:extLst xmlns:a="http://schemas.openxmlformats.org/drawingml/2006/main">
              <a:ext uri="{FF2B5EF4-FFF2-40B4-BE49-F238E27FC236}">
                <a16:creationId xmlns:a16="http://schemas.microsoft.com/office/drawing/2014/main" id="{EBF59BAC-3F71-44C5-BF05-246FD6CE64C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Bron B: T = 8 + 2n">
            <a:extLst xmlns:a="http://schemas.openxmlformats.org/drawingml/2006/main">
              <a:ext uri="{FF2B5EF4-FFF2-40B4-BE49-F238E27FC236}">
                <a16:creationId xmlns:a16="http://schemas.microsoft.com/office/drawing/2014/main" id="{05E21FA1-573D-4CD2-9899-8250FA7D252E}"/>
              </a:ext>
            </a:extLst>
          </p:cNvPr>
          <p:cNvSpPr>
            <a:spLocks xmlns:a="http://schemas.openxmlformats.org/drawingml/2006/main" noGrp="1"/>
          </p:cNvSpPr>
          <p:nvPr/>
        </p:nvSpPr>
        <p:spPr>
          <a:xfrm xmlns:a="http://schemas.openxmlformats.org/drawingml/2006/main">
            <a:off x="571500" y="20478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58A"/>
                </a:solidFill>
                <a:latin typeface="Arial"/>
                <a:ea typeface="Arial"/>
                <a:cs typeface="Arial"/>
              </a:defRPr>
            </a:pPr>
            <a:r>
              <a:rPr sz="3900" b="1">
                <a:solidFill>
                  <a:srgbClr val="17658A"/>
                </a:solidFill>
                <a:latin typeface="Arial"/>
                <a:ea typeface="Arial"/>
                <a:cs typeface="Arial"/>
              </a:rPr>
              <a:t>Bron B: T = 8 + 2n</a:t>
            </a:r>
          </a:p>
        </p:txBody>
      </p:sp>
      <p:sp>
        <p:nvSpPr>
          <p:cNvPr id="6" name="n = 6">
            <a:extLst xmlns:a="http://schemas.openxmlformats.org/drawingml/2006/main">
              <a:ext uri="{FF2B5EF4-FFF2-40B4-BE49-F238E27FC236}">
                <a16:creationId xmlns:a16="http://schemas.microsoft.com/office/drawing/2014/main" id="{7432113D-CA46-4E26-83A7-AAC3F39E231D}"/>
              </a:ext>
            </a:extLst>
          </p:cNvPr>
          <p:cNvSpPr>
            <a:spLocks xmlns:a="http://schemas.openxmlformats.org/drawingml/2006/main" noGrp="1"/>
          </p:cNvSpPr>
          <p:nvPr/>
        </p:nvSpPr>
        <p:spPr>
          <a:xfrm xmlns:a="http://schemas.openxmlformats.org/drawingml/2006/main">
            <a:off x="571500" y="33718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n = 6</a:t>
            </a:r>
          </a:p>
        </p:txBody>
      </p:sp>
      <p:sp>
        <p:nvSpPr>
          <p:cNvPr id="7" name="T = 8 + 2 × 6&#10;T = 8 + 12&#10;T = € 20">
            <a:extLst xmlns:a="http://schemas.openxmlformats.org/drawingml/2006/main">
              <a:ext uri="{FF2B5EF4-FFF2-40B4-BE49-F238E27FC236}">
                <a16:creationId xmlns:a16="http://schemas.microsoft.com/office/drawing/2014/main" id="{672A5B0C-1DB9-47C1-811C-3C5B6C6274C4}"/>
              </a:ext>
            </a:extLst>
          </p:cNvPr>
          <p:cNvSpPr>
            <a:spLocks xmlns:a="http://schemas.openxmlformats.org/drawingml/2006/main" noGrp="1"/>
          </p:cNvSpPr>
          <p:nvPr/>
        </p:nvSpPr>
        <p:spPr>
          <a:xfrm xmlns:a="http://schemas.openxmlformats.org/drawingml/2006/main">
            <a:off x="571500" y="4524375"/>
            <a:ext cx="140970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 = 8 + 2 × 6</a:t>
            </a:r>
          </a:p>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 = 8 + 12</a:t>
            </a:r>
          </a:p>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 = € 20</a:t>
            </a:r>
          </a:p>
        </p:txBody>
      </p:sp>
      <p:sp>
        <p:nvSpPr>
          <p:cNvPr id="8" name="6 lampjes valt binnen 0 tot en met 30.">
            <a:extLst xmlns:a="http://schemas.openxmlformats.org/drawingml/2006/main">
              <a:ext uri="{FF2B5EF4-FFF2-40B4-BE49-F238E27FC236}">
                <a16:creationId xmlns:a16="http://schemas.microsoft.com/office/drawing/2014/main" id="{F6D15972-3C4E-445C-9A99-AF366BD3ECBA}"/>
              </a:ext>
            </a:extLst>
          </p:cNvPr>
          <p:cNvSpPr>
            <a:spLocks xmlns:a="http://schemas.openxmlformats.org/drawingml/2006/main" noGrp="1"/>
          </p:cNvSpPr>
          <p:nvPr/>
        </p:nvSpPr>
        <p:spPr>
          <a:xfrm xmlns:a="http://schemas.openxmlformats.org/drawingml/2006/main">
            <a:off x="571500" y="7458075"/>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20665B"/>
                </a:solidFill>
                <a:latin typeface="Arial"/>
                <a:ea typeface="Arial"/>
                <a:cs typeface="Arial"/>
              </a:defRPr>
            </a:pPr>
            <a:r>
              <a:rPr sz="2550" b="0">
                <a:solidFill>
                  <a:srgbClr val="20665B"/>
                </a:solidFill>
                <a:latin typeface="Arial"/>
                <a:ea typeface="Arial"/>
                <a:cs typeface="Arial"/>
              </a:rPr>
              <a:t>6 lampjes valt binnen 0 tot en met 30.</a:t>
            </a:r>
          </a:p>
        </p:txBody>
      </p:sp>
    </p:spTree>
    <p:extLst>
      <p:ext uri="{BB962C8B-B14F-4D97-AF65-F5344CB8AC3E}">
        <p14:creationId xmlns:p14="http://schemas.microsoft.com/office/powerpoint/2010/main" val="77861492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0e · Het aantal bij € 32">
            <a:extLst xmlns:a="http://schemas.openxmlformats.org/drawingml/2006/main">
              <a:ext uri="{FF2B5EF4-FFF2-40B4-BE49-F238E27FC236}">
                <a16:creationId xmlns:a16="http://schemas.microsoft.com/office/drawing/2014/main" id="{42E216D6-542D-4FDE-862C-160009130CFB}"/>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30e · Het aantal bij € 32</a:t>
            </a:r>
          </a:p>
        </p:txBody>
      </p:sp>
      <p:sp>
        <p:nvSpPr>
          <p:cNvPr id="2" name="">
            <a:extLst xmlns:a="http://schemas.openxmlformats.org/drawingml/2006/main">
              <a:ext uri="{FF2B5EF4-FFF2-40B4-BE49-F238E27FC236}">
                <a16:creationId xmlns:a16="http://schemas.microsoft.com/office/drawing/2014/main" id="{A1C19A2C-B2BB-4F8B-887F-FE2B8D4F1C0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 Opgave 30 · Boekpagina 36">
            <a:extLst xmlns:a="http://schemas.openxmlformats.org/drawingml/2006/main">
              <a:ext uri="{FF2B5EF4-FFF2-40B4-BE49-F238E27FC236}">
                <a16:creationId xmlns:a16="http://schemas.microsoft.com/office/drawing/2014/main" id="{A6B3FEA6-2D67-4F19-9C76-E5B8DDA9586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 Opgave 30 · Boekpagina 36</a:t>
            </a:r>
          </a:p>
        </p:txBody>
      </p:sp>
      <p:sp>
        <p:nvSpPr>
          <p:cNvPr id="4" name="slide-number">
            <a:extLst xmlns:a="http://schemas.openxmlformats.org/drawingml/2006/main">
              <a:ext uri="{FF2B5EF4-FFF2-40B4-BE49-F238E27FC236}">
                <a16:creationId xmlns:a16="http://schemas.microsoft.com/office/drawing/2014/main" id="{8BFE435E-B941-4C3C-B394-382BB6A088C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graphicFrame>
        <p:nvGraphicFramePr>
          <p:cNvPr id="12" name=""/>
          <p:cNvGraphicFramePr/>
          <p:nvPr/>
        </p:nvGraphicFramePr>
        <p:xfrm>
          <a:off xmlns:a="http://schemas.openxmlformats.org/drawingml/2006/main" x="571500" y="2105025"/>
          <a:ext xmlns:a="http://schemas.openxmlformats.org/drawingml/2006/main" cx="14097000" cy="3648075"/>
        </p:xfrm>
        <a:graphic xmlns:a="http://schemas.openxmlformats.org/drawingml/2006/main">
          <a:graphicData uri="http://schemas.openxmlformats.org/drawingml/2006/table">
            <a:tbl>
              <a:tblPr/>
              <a:tblGrid>
                <a:gridCol w="6953250"/>
                <a:gridCol w="7143750"/>
              </a:tblGrid>
              <a:tr h="729615">
                <a:tc>
                  <a:txBody>
                    <a:bodyPr lIns="171450" tIns="95250" rIns="152400" bIns="95250"/>
                    <a:lstStyle/>
                    <a:p>
                      <a:r>
                        <a:rPr sz="2475" b="1">
                          <a:solidFill>
                            <a:srgbClr val="FFFFFF"/>
                          </a:solidFill>
                          <a:latin typeface="Arial"/>
                          <a:ea typeface="Arial"/>
                          <a:cs typeface="Arial"/>
                        </a:rPr>
                        <a:t>Vergelijking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Bewerking</a:t>
                      </a:r>
                    </a:p>
                  </a:txBody>
                  <a:tcPr marL="91440" marR="91440" marT="45720" marB="45720" anchor="ctr">
                    <a:solidFill>
                      <a:srgbClr val="183247"/>
                    </a:solidFill>
                  </a:tcPr>
                </a:tc>
              </a:tr>
              <a:tr h="729615">
                <a:tc>
                  <a:txBody>
                    <a:bodyPr lIns="171450" tIns="95250" rIns="152400" bIns="95250"/>
                    <a:lstStyle/>
                    <a:p>
                      <a:r>
                        <a:rPr sz="2475" b="0">
                          <a:solidFill>
                            <a:srgbClr val="183247"/>
                          </a:solidFill>
                          <a:latin typeface="Arial"/>
                          <a:ea typeface="Arial"/>
                          <a:cs typeface="Arial"/>
                        </a:rPr>
                        <a:t>32 = 8 + 2n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Aan beide kanten 8 aftrekken</a:t>
                      </a:r>
                    </a:p>
                  </a:txBody>
                  <a:tcPr marL="91440" marR="91440" marT="45720" marB="45720" anchor="ctr">
                    <a:solidFill>
                      <a:srgbClr val="FFFFFF"/>
                    </a:solidFill>
                  </a:tcPr>
                </a:tc>
              </a:tr>
              <a:tr h="729615">
                <a:tc>
                  <a:txBody>
                    <a:bodyPr lIns="171450" tIns="95250" rIns="152400" bIns="95250"/>
                    <a:lstStyle/>
                    <a:p>
                      <a:r>
                        <a:rPr sz="2475" b="0">
                          <a:solidFill>
                            <a:srgbClr val="183247"/>
                          </a:solidFill>
                          <a:latin typeface="Arial"/>
                          <a:ea typeface="Arial"/>
                          <a:cs typeface="Arial"/>
                        </a:rPr>
                        <a:t>32 − 8 = 8 + 2n − 8</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Dus 24 = 2n</a:t>
                      </a:r>
                    </a:p>
                  </a:txBody>
                  <a:tcPr marL="91440" marR="91440" marT="45720" marB="45720" anchor="ctr">
                    <a:solidFill>
                      <a:srgbClr val="EFF4F7"/>
                    </a:solidFill>
                  </a:tcPr>
                </a:tc>
              </a:tr>
              <a:tr h="729615">
                <a:tc>
                  <a:txBody>
                    <a:bodyPr lIns="171450" tIns="95250" rIns="152400" bIns="95250"/>
                    <a:lstStyle/>
                    <a:p>
                      <a:r>
                        <a:rPr sz="2475" b="0">
                          <a:solidFill>
                            <a:srgbClr val="183247"/>
                          </a:solidFill>
                          <a:latin typeface="Arial"/>
                          <a:ea typeface="Arial"/>
                          <a:cs typeface="Arial"/>
                        </a:rPr>
                        <a:t>24 / 2 = 2n / 2</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Aan beide kanten delen door 2</a:t>
                      </a:r>
                    </a:p>
                  </a:txBody>
                  <a:tcPr marL="91440" marR="91440" marT="45720" marB="45720" anchor="ctr">
                    <a:solidFill>
                      <a:srgbClr val="FFFFFF"/>
                    </a:solidFill>
                  </a:tcPr>
                </a:tc>
              </a:tr>
              <a:tr h="729615">
                <a:tc>
                  <a:txBody>
                    <a:bodyPr lIns="171450" tIns="95250" rIns="152400" bIns="95250"/>
                    <a:lstStyle/>
                    <a:p>
                      <a:r>
                        <a:rPr sz="2475" b="0">
                          <a:solidFill>
                            <a:srgbClr val="183247"/>
                          </a:solidFill>
                          <a:latin typeface="Arial"/>
                          <a:ea typeface="Arial"/>
                          <a:cs typeface="Arial"/>
                        </a:rPr>
                        <a:t>n = 12 lampjes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12 is een geldig geheel aantal</a:t>
                      </a:r>
                    </a:p>
                  </a:txBody>
                  <a:tcPr marL="91440" marR="91440" marT="45720" marB="45720" anchor="ctr">
                    <a:solidFill>
                      <a:srgbClr val="EFF4F7"/>
                    </a:solidFill>
                  </a:tcPr>
                </a:tc>
              </a:tr>
            </a:tbl>
          </a:graphicData>
        </a:graphic>
      </p:graphicFrame>
      <p:sp>
        <p:nvSpPr>
          <p:cNvPr id="6" name="Controle: 8 + 2 × 12 = € 32">
            <a:extLst xmlns:a="http://schemas.openxmlformats.org/drawingml/2006/main">
              <a:ext uri="{FF2B5EF4-FFF2-40B4-BE49-F238E27FC236}">
                <a16:creationId xmlns:a16="http://schemas.microsoft.com/office/drawing/2014/main" id="{32321388-750E-441B-9614-097F997E69B0}"/>
              </a:ext>
            </a:extLst>
          </p:cNvPr>
          <p:cNvSpPr>
            <a:spLocks xmlns:a="http://schemas.openxmlformats.org/drawingml/2006/main" noGrp="1"/>
          </p:cNvSpPr>
          <p:nvPr/>
        </p:nvSpPr>
        <p:spPr>
          <a:xfrm xmlns:a="http://schemas.openxmlformats.org/drawingml/2006/main">
            <a:off x="571500" y="629602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Controle: 8 + 2 × 12 = € 32</a:t>
            </a:r>
          </a:p>
        </p:txBody>
      </p:sp>
      <p:sp>
        <p:nvSpPr>
          <p:cNvPr id="7" name="12 ligt tussen 0 en 30.">
            <a:extLst xmlns:a="http://schemas.openxmlformats.org/drawingml/2006/main">
              <a:ext uri="{FF2B5EF4-FFF2-40B4-BE49-F238E27FC236}">
                <a16:creationId xmlns:a16="http://schemas.microsoft.com/office/drawing/2014/main" id="{75245C97-FFFF-49EA-AFAB-035933F9AD23}"/>
              </a:ext>
            </a:extLst>
          </p:cNvPr>
          <p:cNvSpPr>
            <a:spLocks xmlns:a="http://schemas.openxmlformats.org/drawingml/2006/main" noGrp="1"/>
          </p:cNvSpPr>
          <p:nvPr/>
        </p:nvSpPr>
        <p:spPr>
          <a:xfrm xmlns:a="http://schemas.openxmlformats.org/drawingml/2006/main">
            <a:off x="571500" y="741045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12 ligt tussen 0 en 30.</a:t>
            </a:r>
          </a:p>
        </p:txBody>
      </p:sp>
    </p:spTree>
    <p:extLst>
      <p:ext uri="{BB962C8B-B14F-4D97-AF65-F5344CB8AC3E}">
        <p14:creationId xmlns:p14="http://schemas.microsoft.com/office/powerpoint/2010/main" val="28148575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Opgave 30f · De rechthoek">
            <a:extLst xmlns:a="http://schemas.openxmlformats.org/drawingml/2006/main">
              <a:ext uri="{FF2B5EF4-FFF2-40B4-BE49-F238E27FC236}">
                <a16:creationId xmlns:a16="http://schemas.microsoft.com/office/drawing/2014/main" id="{88FBBCDE-2D25-4810-984F-79098D8B2F37}"/>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30f · De rechthoek</a:t>
            </a:r>
          </a:p>
        </p:txBody>
      </p:sp>
      <p:sp>
        <p:nvSpPr>
          <p:cNvPr id="2" name="">
            <a:extLst xmlns:a="http://schemas.openxmlformats.org/drawingml/2006/main">
              <a:ext uri="{FF2B5EF4-FFF2-40B4-BE49-F238E27FC236}">
                <a16:creationId xmlns:a16="http://schemas.microsoft.com/office/drawing/2014/main" id="{B264F3E2-944D-4264-8B3E-7C918CB6DC0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 Opgave 30 · Boekpagina 36">
            <a:extLst xmlns:a="http://schemas.openxmlformats.org/drawingml/2006/main">
              <a:ext uri="{FF2B5EF4-FFF2-40B4-BE49-F238E27FC236}">
                <a16:creationId xmlns:a16="http://schemas.microsoft.com/office/drawing/2014/main" id="{DB9CA3EB-42B8-4064-A18A-CA6071EC9C5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 Opgave 30 · Boekpagina 36</a:t>
            </a:r>
          </a:p>
        </p:txBody>
      </p:sp>
      <p:sp>
        <p:nvSpPr>
          <p:cNvPr id="4" name="slide-number">
            <a:extLst xmlns:a="http://schemas.openxmlformats.org/drawingml/2006/main">
              <a:ext uri="{FF2B5EF4-FFF2-40B4-BE49-F238E27FC236}">
                <a16:creationId xmlns:a16="http://schemas.microsoft.com/office/drawing/2014/main" id="{C38CA531-81C6-4FC6-BF3D-43D4F64AEE4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F5912A3B-E017-4381-8CF6-212C3BAD3C78}"/>
              </a:ext>
            </a:extLst>
          </p:cNvPr>
          <p:cNvSpPr>
            <a:spLocks xmlns:a="http://schemas.openxmlformats.org/drawingml/2006/main" noGrp="1"/>
          </p:cNvSpPr>
          <p:nvPr/>
        </p:nvSpPr>
        <p:spPr>
          <a:xfrm xmlns:a="http://schemas.openxmlformats.org/drawingml/2006/main">
            <a:off x="1333500" y="6238875"/>
            <a:ext cx="5476875" cy="0"/>
          </a:xfrm>
          <a:prstGeom xmlns:a="http://schemas.openxmlformats.org/drawingml/2006/main" prst="line">
            <a:avLst/>
          </a:prstGeom>
          <a:ln xmlns:a="http://schemas.openxmlformats.org/drawingml/2006/main" w="19050">
            <a:solidFill>
              <a:srgbClr val="183247"/>
            </a:solidFill>
            <a:prstDash val="solid"/>
          </a:ln>
        </p:spPr>
      </p:sp>
      <p:sp>
        <p:nvSpPr>
          <p:cNvPr id="6" name="">
            <a:extLst xmlns:a="http://schemas.openxmlformats.org/drawingml/2006/main">
              <a:ext uri="{FF2B5EF4-FFF2-40B4-BE49-F238E27FC236}">
                <a16:creationId xmlns:a16="http://schemas.microsoft.com/office/drawing/2014/main" id="{C3F1554E-38F2-47B3-B8AC-4E53B5FC7F9A}"/>
              </a:ext>
            </a:extLst>
          </p:cNvPr>
          <p:cNvSpPr>
            <a:spLocks xmlns:a="http://schemas.openxmlformats.org/drawingml/2006/main" noGrp="1"/>
          </p:cNvSpPr>
          <p:nvPr/>
        </p:nvSpPr>
        <p:spPr>
          <a:xfrm xmlns:a="http://schemas.openxmlformats.org/drawingml/2006/main">
            <a:off x="1333500" y="2952750"/>
            <a:ext cx="0" cy="3286125"/>
          </a:xfrm>
          <a:prstGeom xmlns:a="http://schemas.openxmlformats.org/drawingml/2006/main" prst="line">
            <a:avLst/>
          </a:prstGeom>
          <a:ln xmlns:a="http://schemas.openxmlformats.org/drawingml/2006/main" w="19050">
            <a:solidFill>
              <a:srgbClr val="183247"/>
            </a:solidFill>
            <a:prstDash val="solid"/>
          </a:ln>
        </p:spPr>
      </p:sp>
      <p:sp>
        <p:nvSpPr>
          <p:cNvPr id="7" name="Verticale positie (m)">
            <a:extLst xmlns:a="http://schemas.openxmlformats.org/drawingml/2006/main">
              <a:ext uri="{FF2B5EF4-FFF2-40B4-BE49-F238E27FC236}">
                <a16:creationId xmlns:a16="http://schemas.microsoft.com/office/drawing/2014/main" id="{20E9F370-6DD4-4BAE-A9D5-2228B5C7334E}"/>
              </a:ext>
            </a:extLst>
          </p:cNvPr>
          <p:cNvSpPr>
            <a:spLocks xmlns:a="http://schemas.openxmlformats.org/drawingml/2006/main" noGrp="1"/>
          </p:cNvSpPr>
          <p:nvPr/>
        </p:nvSpPr>
        <p:spPr>
          <a:xfrm xmlns:a="http://schemas.openxmlformats.org/drawingml/2006/main">
            <a:off x="619125" y="2514600"/>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45B6B"/>
                </a:solidFill>
                <a:latin typeface="Arial"/>
                <a:ea typeface="Arial"/>
                <a:cs typeface="Arial"/>
              </a:defRPr>
            </a:pPr>
            <a:r>
              <a:rPr sz="1725" b="0">
                <a:solidFill>
                  <a:srgbClr val="445B6B"/>
                </a:solidFill>
                <a:latin typeface="Arial"/>
                <a:ea typeface="Arial"/>
                <a:cs typeface="Arial"/>
              </a:rPr>
              <a:t>Verticale positie (m)</a:t>
            </a:r>
          </a:p>
        </p:txBody>
      </p:sp>
      <p:sp>
        <p:nvSpPr>
          <p:cNvPr id="8" name="Horizontale positie (m)">
            <a:extLst xmlns:a="http://schemas.openxmlformats.org/drawingml/2006/main">
              <a:ext uri="{FF2B5EF4-FFF2-40B4-BE49-F238E27FC236}">
                <a16:creationId xmlns:a16="http://schemas.microsoft.com/office/drawing/2014/main" id="{A883A969-DD42-4FE6-BF1F-88D5EB0E907B}"/>
              </a:ext>
            </a:extLst>
          </p:cNvPr>
          <p:cNvSpPr>
            <a:spLocks xmlns:a="http://schemas.openxmlformats.org/drawingml/2006/main" noGrp="1"/>
          </p:cNvSpPr>
          <p:nvPr/>
        </p:nvSpPr>
        <p:spPr>
          <a:xfrm xmlns:a="http://schemas.openxmlformats.org/drawingml/2006/main">
            <a:off x="857250" y="6657975"/>
            <a:ext cx="6334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445B6B"/>
                </a:solidFill>
                <a:latin typeface="Arial"/>
                <a:ea typeface="Arial"/>
                <a:cs typeface="Arial"/>
              </a:defRPr>
            </a:pPr>
            <a:r>
              <a:rPr sz="1725" b="0">
                <a:solidFill>
                  <a:srgbClr val="445B6B"/>
                </a:solidFill>
                <a:latin typeface="Arial"/>
                <a:ea typeface="Arial"/>
                <a:cs typeface="Arial"/>
              </a:rPr>
              <a:t>Horizontale positie (m)</a:t>
            </a:r>
          </a:p>
        </p:txBody>
      </p:sp>
      <p:sp>
        <p:nvSpPr>
          <p:cNvPr id="9" name="0">
            <a:extLst xmlns:a="http://schemas.openxmlformats.org/drawingml/2006/main">
              <a:ext uri="{FF2B5EF4-FFF2-40B4-BE49-F238E27FC236}">
                <a16:creationId xmlns:a16="http://schemas.microsoft.com/office/drawing/2014/main" id="{12EDB3ED-B6AC-431C-AF5D-E1007A6D60E5}"/>
              </a:ext>
            </a:extLst>
          </p:cNvPr>
          <p:cNvSpPr>
            <a:spLocks xmlns:a="http://schemas.openxmlformats.org/drawingml/2006/main" noGrp="1"/>
          </p:cNvSpPr>
          <p:nvPr/>
        </p:nvSpPr>
        <p:spPr>
          <a:xfrm xmlns:a="http://schemas.openxmlformats.org/drawingml/2006/main">
            <a:off x="1123950" y="636270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0</a:t>
            </a:r>
          </a:p>
        </p:txBody>
      </p:sp>
      <p:sp>
        <p:nvSpPr>
          <p:cNvPr id="10" name="2">
            <a:extLst xmlns:a="http://schemas.openxmlformats.org/drawingml/2006/main">
              <a:ext uri="{FF2B5EF4-FFF2-40B4-BE49-F238E27FC236}">
                <a16:creationId xmlns:a16="http://schemas.microsoft.com/office/drawing/2014/main" id="{73B260DD-9196-41BF-8F39-729DD5C5A2E2}"/>
              </a:ext>
            </a:extLst>
          </p:cNvPr>
          <p:cNvSpPr>
            <a:spLocks xmlns:a="http://schemas.openxmlformats.org/drawingml/2006/main" noGrp="1"/>
          </p:cNvSpPr>
          <p:nvPr/>
        </p:nvSpPr>
        <p:spPr>
          <a:xfrm xmlns:a="http://schemas.openxmlformats.org/drawingml/2006/main">
            <a:off x="2219325" y="636270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2</a:t>
            </a:r>
          </a:p>
        </p:txBody>
      </p:sp>
      <p:sp>
        <p:nvSpPr>
          <p:cNvPr id="11" name="8">
            <a:extLst xmlns:a="http://schemas.openxmlformats.org/drawingml/2006/main">
              <a:ext uri="{FF2B5EF4-FFF2-40B4-BE49-F238E27FC236}">
                <a16:creationId xmlns:a16="http://schemas.microsoft.com/office/drawing/2014/main" id="{3750A8E3-A12C-40B2-B46F-3B47F2DA0652}"/>
              </a:ext>
            </a:extLst>
          </p:cNvPr>
          <p:cNvSpPr>
            <a:spLocks xmlns:a="http://schemas.openxmlformats.org/drawingml/2006/main" noGrp="1"/>
          </p:cNvSpPr>
          <p:nvPr/>
        </p:nvSpPr>
        <p:spPr>
          <a:xfrm xmlns:a="http://schemas.openxmlformats.org/drawingml/2006/main">
            <a:off x="5505450" y="636270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8</a:t>
            </a:r>
          </a:p>
        </p:txBody>
      </p:sp>
      <p:sp>
        <p:nvSpPr>
          <p:cNvPr id="12" name="4">
            <a:extLst xmlns:a="http://schemas.openxmlformats.org/drawingml/2006/main">
              <a:ext uri="{FF2B5EF4-FFF2-40B4-BE49-F238E27FC236}">
                <a16:creationId xmlns:a16="http://schemas.microsoft.com/office/drawing/2014/main" id="{D9892DAF-E42D-4118-A444-9A21B8138E9A}"/>
              </a:ext>
            </a:extLst>
          </p:cNvPr>
          <p:cNvSpPr>
            <a:spLocks xmlns:a="http://schemas.openxmlformats.org/drawingml/2006/main" noGrp="1"/>
          </p:cNvSpPr>
          <p:nvPr/>
        </p:nvSpPr>
        <p:spPr>
          <a:xfrm xmlns:a="http://schemas.openxmlformats.org/drawingml/2006/main">
            <a:off x="885825" y="46164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01883AC8-DF38-40FA-B270-293C80E8B083}"/>
              </a:ext>
            </a:extLst>
          </p:cNvPr>
          <p:cNvSpPr>
            <a:spLocks xmlns:a="http://schemas.openxmlformats.org/drawingml/2006/main" noGrp="1"/>
          </p:cNvSpPr>
          <p:nvPr/>
        </p:nvSpPr>
        <p:spPr>
          <a:xfrm xmlns:a="http://schemas.openxmlformats.org/drawingml/2006/main">
            <a:off x="1333500" y="4778375"/>
            <a:ext cx="1095375" cy="0"/>
          </a:xfrm>
          <a:prstGeom xmlns:a="http://schemas.openxmlformats.org/drawingml/2006/main" prst="line">
            <a:avLst/>
          </a:prstGeom>
          <a:ln xmlns:a="http://schemas.openxmlformats.org/drawingml/2006/main" w="9525">
            <a:solidFill>
              <a:srgbClr val="445B6B"/>
            </a:solidFill>
            <a:prstDash val="dash"/>
          </a:ln>
        </p:spPr>
      </p:sp>
      <p:sp>
        <p:nvSpPr>
          <p:cNvPr id="14" name="8">
            <a:extLst xmlns:a="http://schemas.openxmlformats.org/drawingml/2006/main">
              <a:ext uri="{FF2B5EF4-FFF2-40B4-BE49-F238E27FC236}">
                <a16:creationId xmlns:a16="http://schemas.microsoft.com/office/drawing/2014/main" id="{F5D4A377-4659-4784-A20A-DBA5D111146B}"/>
              </a:ext>
            </a:extLst>
          </p:cNvPr>
          <p:cNvSpPr>
            <a:spLocks xmlns:a="http://schemas.openxmlformats.org/drawingml/2006/main" noGrp="1"/>
          </p:cNvSpPr>
          <p:nvPr/>
        </p:nvSpPr>
        <p:spPr>
          <a:xfrm xmlns:a="http://schemas.openxmlformats.org/drawingml/2006/main">
            <a:off x="885825" y="31559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8</a:t>
            </a:r>
          </a:p>
        </p:txBody>
      </p:sp>
      <p:sp>
        <p:nvSpPr>
          <p:cNvPr id="15" name="">
            <a:extLst xmlns:a="http://schemas.openxmlformats.org/drawingml/2006/main">
              <a:ext uri="{FF2B5EF4-FFF2-40B4-BE49-F238E27FC236}">
                <a16:creationId xmlns:a16="http://schemas.microsoft.com/office/drawing/2014/main" id="{EBCAB730-4947-4422-BB12-B81CB5C43689}"/>
              </a:ext>
            </a:extLst>
          </p:cNvPr>
          <p:cNvSpPr>
            <a:spLocks xmlns:a="http://schemas.openxmlformats.org/drawingml/2006/main" noGrp="1"/>
          </p:cNvSpPr>
          <p:nvPr/>
        </p:nvSpPr>
        <p:spPr>
          <a:xfrm xmlns:a="http://schemas.openxmlformats.org/drawingml/2006/main">
            <a:off x="1333500" y="3317875"/>
            <a:ext cx="1095375" cy="0"/>
          </a:xfrm>
          <a:prstGeom xmlns:a="http://schemas.openxmlformats.org/drawingml/2006/main" prst="line">
            <a:avLst/>
          </a:prstGeom>
          <a:ln xmlns:a="http://schemas.openxmlformats.org/drawingml/2006/main" w="9525">
            <a:solidFill>
              <a:srgbClr val="445B6B"/>
            </a:solidFill>
            <a:prstDash val="dash"/>
          </a:ln>
        </p:spPr>
      </p:sp>
      <p:sp>
        <p:nvSpPr>
          <p:cNvPr id="16" name="">
            <a:extLst xmlns:a="http://schemas.openxmlformats.org/drawingml/2006/main">
              <a:ext uri="{FF2B5EF4-FFF2-40B4-BE49-F238E27FC236}">
                <a16:creationId xmlns:a16="http://schemas.microsoft.com/office/drawing/2014/main" id="{A8361B4A-FB29-42A4-B4BF-595BCF95C134}"/>
              </a:ext>
            </a:extLst>
          </p:cNvPr>
          <p:cNvSpPr>
            <a:spLocks xmlns:a="http://schemas.openxmlformats.org/drawingml/2006/main" noGrp="1"/>
          </p:cNvSpPr>
          <p:nvPr/>
        </p:nvSpPr>
        <p:spPr>
          <a:xfrm xmlns:a="http://schemas.openxmlformats.org/drawingml/2006/main">
            <a:off x="2428875" y="4778375"/>
            <a:ext cx="0" cy="1460500"/>
          </a:xfrm>
          <a:prstGeom xmlns:a="http://schemas.openxmlformats.org/drawingml/2006/main" prst="line">
            <a:avLst/>
          </a:prstGeom>
          <a:ln xmlns:a="http://schemas.openxmlformats.org/drawingml/2006/main" w="9525">
            <a:solidFill>
              <a:srgbClr val="445B6B"/>
            </a:solidFill>
            <a:prstDash val="dash"/>
          </a:ln>
        </p:spPr>
      </p:sp>
      <p:sp>
        <p:nvSpPr>
          <p:cNvPr id="17" name="">
            <a:extLst xmlns:a="http://schemas.openxmlformats.org/drawingml/2006/main">
              <a:ext uri="{FF2B5EF4-FFF2-40B4-BE49-F238E27FC236}">
                <a16:creationId xmlns:a16="http://schemas.microsoft.com/office/drawing/2014/main" id="{686FC487-01DE-4A1B-9781-DD7D534B0659}"/>
              </a:ext>
            </a:extLst>
          </p:cNvPr>
          <p:cNvSpPr>
            <a:spLocks xmlns:a="http://schemas.openxmlformats.org/drawingml/2006/main" noGrp="1"/>
          </p:cNvSpPr>
          <p:nvPr/>
        </p:nvSpPr>
        <p:spPr>
          <a:xfrm xmlns:a="http://schemas.openxmlformats.org/drawingml/2006/main">
            <a:off x="5715000" y="4778375"/>
            <a:ext cx="0" cy="1460500"/>
          </a:xfrm>
          <a:prstGeom xmlns:a="http://schemas.openxmlformats.org/drawingml/2006/main" prst="line">
            <a:avLst/>
          </a:prstGeom>
          <a:ln xmlns:a="http://schemas.openxmlformats.org/drawingml/2006/main" w="9525">
            <a:solidFill>
              <a:srgbClr val="445B6B"/>
            </a:solidFill>
            <a:prstDash val="dash"/>
          </a:ln>
        </p:spPr>
      </p:sp>
      <p:sp>
        <p:nvSpPr>
          <p:cNvPr id="18" name="plattegrond-rechthoek">
            <a:extLst xmlns:a="http://schemas.openxmlformats.org/drawingml/2006/main">
              <a:ext uri="{FF2B5EF4-FFF2-40B4-BE49-F238E27FC236}">
                <a16:creationId xmlns:a16="http://schemas.microsoft.com/office/drawing/2014/main" id="{DFA632FD-0152-4C00-A27A-4D1576D58C69}"/>
              </a:ext>
            </a:extLst>
          </p:cNvPr>
          <p:cNvSpPr>
            <a:spLocks xmlns:a="http://schemas.openxmlformats.org/drawingml/2006/main" noGrp="1"/>
          </p:cNvSpPr>
          <p:nvPr/>
        </p:nvSpPr>
        <p:spPr>
          <a:xfrm xmlns:a="http://schemas.openxmlformats.org/drawingml/2006/main">
            <a:off x="2428875" y="3317875"/>
            <a:ext cx="3286125" cy="1460500"/>
          </a:xfrm>
          <a:custGeom xmlns:a="http://schemas.openxmlformats.org/drawingml/2006/main">
            <a:pathLst>
              <a:path w="3286125" h="1460500">
                <a:moveTo>
                  <a:pt x="0" y="1460500"/>
                </a:moveTo>
                <a:lnTo>
                  <a:pt x="3286125" y="1460500"/>
                </a:lnTo>
                <a:lnTo>
                  <a:pt x="3286125" y="0"/>
                </a:lnTo>
                <a:lnTo>
                  <a:pt x="0" y="0"/>
                </a:lnTo>
                <a:close/>
              </a:path>
            </a:pathLst>
          </a:custGeom>
          <a:solidFill xmlns:a="http://schemas.openxmlformats.org/drawingml/2006/main">
            <a:srgbClr val="D5E6EF"/>
          </a:solidFill>
          <a:ln xmlns:a="http://schemas.openxmlformats.org/drawingml/2006/main" w="28575">
            <a:solidFill>
              <a:srgbClr val="17658A"/>
            </a:solidFill>
          </a:ln>
        </p:spPr>
      </p:sp>
      <p:sp>
        <p:nvSpPr>
          <p:cNvPr id="19" name="Rechthoek">
            <a:extLst xmlns:a="http://schemas.openxmlformats.org/drawingml/2006/main">
              <a:ext uri="{FF2B5EF4-FFF2-40B4-BE49-F238E27FC236}">
                <a16:creationId xmlns:a16="http://schemas.microsoft.com/office/drawing/2014/main" id="{54818B87-82F1-49E1-85C7-1A4C24DEED50}"/>
              </a:ext>
            </a:extLst>
          </p:cNvPr>
          <p:cNvSpPr>
            <a:spLocks xmlns:a="http://schemas.openxmlformats.org/drawingml/2006/main" noGrp="1"/>
          </p:cNvSpPr>
          <p:nvPr/>
        </p:nvSpPr>
        <p:spPr>
          <a:xfrm xmlns:a="http://schemas.openxmlformats.org/drawingml/2006/main">
            <a:off x="1333500" y="6267450"/>
            <a:ext cx="547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7658A"/>
                </a:solidFill>
                <a:latin typeface="Arial"/>
                <a:ea typeface="Arial"/>
                <a:cs typeface="Arial"/>
              </a:defRPr>
            </a:pPr>
            <a:r>
              <a:rPr sz="2025" b="1">
                <a:solidFill>
                  <a:srgbClr val="17658A"/>
                </a:solidFill>
                <a:latin typeface="Arial"/>
                <a:ea typeface="Arial"/>
                <a:cs typeface="Arial"/>
              </a:rPr>
              <a:t>Rechthoek</a:t>
            </a:r>
          </a:p>
        </p:txBody>
      </p:sp>
      <p:sp>
        <p:nvSpPr>
          <p:cNvPr id="20" name="Basis = 8 − 2 = 6 m">
            <a:extLst xmlns:a="http://schemas.openxmlformats.org/drawingml/2006/main">
              <a:ext uri="{FF2B5EF4-FFF2-40B4-BE49-F238E27FC236}">
                <a16:creationId xmlns:a16="http://schemas.microsoft.com/office/drawing/2014/main" id="{001DBF32-8750-42CA-B5D0-3EB09E3FC363}"/>
              </a:ext>
            </a:extLst>
          </p:cNvPr>
          <p:cNvSpPr>
            <a:spLocks xmlns:a="http://schemas.openxmlformats.org/drawingml/2006/main" noGrp="1"/>
          </p:cNvSpPr>
          <p:nvPr/>
        </p:nvSpPr>
        <p:spPr>
          <a:xfrm xmlns:a="http://schemas.openxmlformats.org/drawingml/2006/main">
            <a:off x="8382000" y="237172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Basis = 8 − 2 = 6 m</a:t>
            </a:r>
          </a:p>
        </p:txBody>
      </p:sp>
      <p:sp>
        <p:nvSpPr>
          <p:cNvPr id="21" name="Hoogte = 8 − 4 = 4 m">
            <a:extLst xmlns:a="http://schemas.openxmlformats.org/drawingml/2006/main">
              <a:ext uri="{FF2B5EF4-FFF2-40B4-BE49-F238E27FC236}">
                <a16:creationId xmlns:a16="http://schemas.microsoft.com/office/drawing/2014/main" id="{A0160231-62D9-4225-911D-C4B923E2E719}"/>
              </a:ext>
            </a:extLst>
          </p:cNvPr>
          <p:cNvSpPr>
            <a:spLocks xmlns:a="http://schemas.openxmlformats.org/drawingml/2006/main" noGrp="1"/>
          </p:cNvSpPr>
          <p:nvPr/>
        </p:nvSpPr>
        <p:spPr>
          <a:xfrm xmlns:a="http://schemas.openxmlformats.org/drawingml/2006/main">
            <a:off x="8382000" y="3581400"/>
            <a:ext cx="6191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Hoogte = 8 − 4 = 4 m</a:t>
            </a:r>
          </a:p>
        </p:txBody>
      </p:sp>
      <p:sp>
        <p:nvSpPr>
          <p:cNvPr id="22" name="Oppervlakte = basis × hoogte&#10;= 6 × 4&#10;= 24 m²">
            <a:extLst xmlns:a="http://schemas.openxmlformats.org/drawingml/2006/main">
              <a:ext uri="{FF2B5EF4-FFF2-40B4-BE49-F238E27FC236}">
                <a16:creationId xmlns:a16="http://schemas.microsoft.com/office/drawing/2014/main" id="{E140BDBD-41E3-4F81-AD09-C7CB24886F6A}"/>
              </a:ext>
            </a:extLst>
          </p:cNvPr>
          <p:cNvSpPr>
            <a:spLocks xmlns:a="http://schemas.openxmlformats.org/drawingml/2006/main" noGrp="1"/>
          </p:cNvSpPr>
          <p:nvPr/>
        </p:nvSpPr>
        <p:spPr>
          <a:xfrm xmlns:a="http://schemas.openxmlformats.org/drawingml/2006/main">
            <a:off x="8382000" y="5095875"/>
            <a:ext cx="61912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Oppervlakte = basis × hoogte</a:t>
            </a:r>
          </a:p>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 6 × 4</a:t>
            </a:r>
          </a:p>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 24 m²</a:t>
            </a:r>
          </a:p>
        </p:txBody>
      </p:sp>
    </p:spTree>
    <p:extLst>
      <p:ext uri="{BB962C8B-B14F-4D97-AF65-F5344CB8AC3E}">
        <p14:creationId xmlns:p14="http://schemas.microsoft.com/office/powerpoint/2010/main" val="98093492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Opgave 30g · De driehoek">
            <a:extLst xmlns:a="http://schemas.openxmlformats.org/drawingml/2006/main">
              <a:ext uri="{FF2B5EF4-FFF2-40B4-BE49-F238E27FC236}">
                <a16:creationId xmlns:a16="http://schemas.microsoft.com/office/drawing/2014/main" id="{8FB614DD-067E-47D6-B9FA-B040E946368C}"/>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30g · De driehoek</a:t>
            </a:r>
          </a:p>
        </p:txBody>
      </p:sp>
      <p:sp>
        <p:nvSpPr>
          <p:cNvPr id="2" name="">
            <a:extLst xmlns:a="http://schemas.openxmlformats.org/drawingml/2006/main">
              <a:ext uri="{FF2B5EF4-FFF2-40B4-BE49-F238E27FC236}">
                <a16:creationId xmlns:a16="http://schemas.microsoft.com/office/drawing/2014/main" id="{F0F3604F-52D3-406A-BA9A-6AB05DD0B8B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 Opgave 30 · Boekpagina 36">
            <a:extLst xmlns:a="http://schemas.openxmlformats.org/drawingml/2006/main">
              <a:ext uri="{FF2B5EF4-FFF2-40B4-BE49-F238E27FC236}">
                <a16:creationId xmlns:a16="http://schemas.microsoft.com/office/drawing/2014/main" id="{685908F1-8894-4C27-8286-7534006B7AF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 Opgave 30 · Boekpagina 36</a:t>
            </a:r>
          </a:p>
        </p:txBody>
      </p:sp>
      <p:sp>
        <p:nvSpPr>
          <p:cNvPr id="4" name="slide-number">
            <a:extLst xmlns:a="http://schemas.openxmlformats.org/drawingml/2006/main">
              <a:ext uri="{FF2B5EF4-FFF2-40B4-BE49-F238E27FC236}">
                <a16:creationId xmlns:a16="http://schemas.microsoft.com/office/drawing/2014/main" id="{3138D740-CE3A-4546-B59B-474FF860665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9BA94E34-E6A8-4B70-AFCA-616C12113F14}"/>
              </a:ext>
            </a:extLst>
          </p:cNvPr>
          <p:cNvSpPr>
            <a:spLocks xmlns:a="http://schemas.openxmlformats.org/drawingml/2006/main" noGrp="1"/>
          </p:cNvSpPr>
          <p:nvPr/>
        </p:nvSpPr>
        <p:spPr>
          <a:xfrm xmlns:a="http://schemas.openxmlformats.org/drawingml/2006/main">
            <a:off x="1333500" y="6238875"/>
            <a:ext cx="5476875" cy="0"/>
          </a:xfrm>
          <a:prstGeom xmlns:a="http://schemas.openxmlformats.org/drawingml/2006/main" prst="line">
            <a:avLst/>
          </a:prstGeom>
          <a:ln xmlns:a="http://schemas.openxmlformats.org/drawingml/2006/main" w="19050">
            <a:solidFill>
              <a:srgbClr val="183247"/>
            </a:solidFill>
            <a:prstDash val="solid"/>
          </a:ln>
        </p:spPr>
      </p:sp>
      <p:sp>
        <p:nvSpPr>
          <p:cNvPr id="6" name="">
            <a:extLst xmlns:a="http://schemas.openxmlformats.org/drawingml/2006/main">
              <a:ext uri="{FF2B5EF4-FFF2-40B4-BE49-F238E27FC236}">
                <a16:creationId xmlns:a16="http://schemas.microsoft.com/office/drawing/2014/main" id="{1F1FD01B-4A47-4F7B-BDB0-870424380BA8}"/>
              </a:ext>
            </a:extLst>
          </p:cNvPr>
          <p:cNvSpPr>
            <a:spLocks xmlns:a="http://schemas.openxmlformats.org/drawingml/2006/main" noGrp="1"/>
          </p:cNvSpPr>
          <p:nvPr/>
        </p:nvSpPr>
        <p:spPr>
          <a:xfrm xmlns:a="http://schemas.openxmlformats.org/drawingml/2006/main">
            <a:off x="1333500" y="2952750"/>
            <a:ext cx="0" cy="3286125"/>
          </a:xfrm>
          <a:prstGeom xmlns:a="http://schemas.openxmlformats.org/drawingml/2006/main" prst="line">
            <a:avLst/>
          </a:prstGeom>
          <a:ln xmlns:a="http://schemas.openxmlformats.org/drawingml/2006/main" w="19050">
            <a:solidFill>
              <a:srgbClr val="183247"/>
            </a:solidFill>
            <a:prstDash val="solid"/>
          </a:ln>
        </p:spPr>
      </p:sp>
      <p:sp>
        <p:nvSpPr>
          <p:cNvPr id="7" name="Verticale positie (m)">
            <a:extLst xmlns:a="http://schemas.openxmlformats.org/drawingml/2006/main">
              <a:ext uri="{FF2B5EF4-FFF2-40B4-BE49-F238E27FC236}">
                <a16:creationId xmlns:a16="http://schemas.microsoft.com/office/drawing/2014/main" id="{5F32C997-9161-4414-922E-39EDE9B5DAEE}"/>
              </a:ext>
            </a:extLst>
          </p:cNvPr>
          <p:cNvSpPr>
            <a:spLocks xmlns:a="http://schemas.openxmlformats.org/drawingml/2006/main" noGrp="1"/>
          </p:cNvSpPr>
          <p:nvPr/>
        </p:nvSpPr>
        <p:spPr>
          <a:xfrm xmlns:a="http://schemas.openxmlformats.org/drawingml/2006/main">
            <a:off x="619125" y="2514600"/>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45B6B"/>
                </a:solidFill>
                <a:latin typeface="Arial"/>
                <a:ea typeface="Arial"/>
                <a:cs typeface="Arial"/>
              </a:defRPr>
            </a:pPr>
            <a:r>
              <a:rPr sz="1725" b="0">
                <a:solidFill>
                  <a:srgbClr val="445B6B"/>
                </a:solidFill>
                <a:latin typeface="Arial"/>
                <a:ea typeface="Arial"/>
                <a:cs typeface="Arial"/>
              </a:rPr>
              <a:t>Verticale positie (m)</a:t>
            </a:r>
          </a:p>
        </p:txBody>
      </p:sp>
      <p:sp>
        <p:nvSpPr>
          <p:cNvPr id="8" name="Horizontale positie (m)">
            <a:extLst xmlns:a="http://schemas.openxmlformats.org/drawingml/2006/main">
              <a:ext uri="{FF2B5EF4-FFF2-40B4-BE49-F238E27FC236}">
                <a16:creationId xmlns:a16="http://schemas.microsoft.com/office/drawing/2014/main" id="{DD9A67EA-2E7A-44FA-9A9D-5128C5606F60}"/>
              </a:ext>
            </a:extLst>
          </p:cNvPr>
          <p:cNvSpPr>
            <a:spLocks xmlns:a="http://schemas.openxmlformats.org/drawingml/2006/main" noGrp="1"/>
          </p:cNvSpPr>
          <p:nvPr/>
        </p:nvSpPr>
        <p:spPr>
          <a:xfrm xmlns:a="http://schemas.openxmlformats.org/drawingml/2006/main">
            <a:off x="857250" y="6657975"/>
            <a:ext cx="6334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445B6B"/>
                </a:solidFill>
                <a:latin typeface="Arial"/>
                <a:ea typeface="Arial"/>
                <a:cs typeface="Arial"/>
              </a:defRPr>
            </a:pPr>
            <a:r>
              <a:rPr sz="1725" b="0">
                <a:solidFill>
                  <a:srgbClr val="445B6B"/>
                </a:solidFill>
                <a:latin typeface="Arial"/>
                <a:ea typeface="Arial"/>
                <a:cs typeface="Arial"/>
              </a:rPr>
              <a:t>Horizontale positie (m)</a:t>
            </a:r>
          </a:p>
        </p:txBody>
      </p:sp>
      <p:sp>
        <p:nvSpPr>
          <p:cNvPr id="9" name="0">
            <a:extLst xmlns:a="http://schemas.openxmlformats.org/drawingml/2006/main">
              <a:ext uri="{FF2B5EF4-FFF2-40B4-BE49-F238E27FC236}">
                <a16:creationId xmlns:a16="http://schemas.microsoft.com/office/drawing/2014/main" id="{8D2C3C8D-EAB5-4BEE-8BB2-82E44B125563}"/>
              </a:ext>
            </a:extLst>
          </p:cNvPr>
          <p:cNvSpPr>
            <a:spLocks xmlns:a="http://schemas.openxmlformats.org/drawingml/2006/main" noGrp="1"/>
          </p:cNvSpPr>
          <p:nvPr/>
        </p:nvSpPr>
        <p:spPr>
          <a:xfrm xmlns:a="http://schemas.openxmlformats.org/drawingml/2006/main">
            <a:off x="1123950" y="636270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0</a:t>
            </a:r>
          </a:p>
        </p:txBody>
      </p:sp>
      <p:sp>
        <p:nvSpPr>
          <p:cNvPr id="10" name="2">
            <a:extLst xmlns:a="http://schemas.openxmlformats.org/drawingml/2006/main">
              <a:ext uri="{FF2B5EF4-FFF2-40B4-BE49-F238E27FC236}">
                <a16:creationId xmlns:a16="http://schemas.microsoft.com/office/drawing/2014/main" id="{35303379-58D9-4416-A4B7-6731AF8D77B5}"/>
              </a:ext>
            </a:extLst>
          </p:cNvPr>
          <p:cNvSpPr>
            <a:spLocks xmlns:a="http://schemas.openxmlformats.org/drawingml/2006/main" noGrp="1"/>
          </p:cNvSpPr>
          <p:nvPr/>
        </p:nvSpPr>
        <p:spPr>
          <a:xfrm xmlns:a="http://schemas.openxmlformats.org/drawingml/2006/main">
            <a:off x="2219325" y="636270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2</a:t>
            </a:r>
          </a:p>
        </p:txBody>
      </p:sp>
      <p:sp>
        <p:nvSpPr>
          <p:cNvPr id="11" name="8">
            <a:extLst xmlns:a="http://schemas.openxmlformats.org/drawingml/2006/main">
              <a:ext uri="{FF2B5EF4-FFF2-40B4-BE49-F238E27FC236}">
                <a16:creationId xmlns:a16="http://schemas.microsoft.com/office/drawing/2014/main" id="{ED17D489-9883-457D-A3C1-4BD973041DDA}"/>
              </a:ext>
            </a:extLst>
          </p:cNvPr>
          <p:cNvSpPr>
            <a:spLocks xmlns:a="http://schemas.openxmlformats.org/drawingml/2006/main" noGrp="1"/>
          </p:cNvSpPr>
          <p:nvPr/>
        </p:nvSpPr>
        <p:spPr>
          <a:xfrm xmlns:a="http://schemas.openxmlformats.org/drawingml/2006/main">
            <a:off x="5505450" y="636270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183247"/>
                </a:solidFill>
                <a:latin typeface="Arial"/>
                <a:ea typeface="Arial"/>
                <a:cs typeface="Arial"/>
              </a:defRPr>
            </a:pPr>
            <a:r>
              <a:rPr sz="1800" b="0">
                <a:solidFill>
                  <a:srgbClr val="183247"/>
                </a:solidFill>
                <a:latin typeface="Arial"/>
                <a:ea typeface="Arial"/>
                <a:cs typeface="Arial"/>
              </a:rPr>
              <a:t>8</a:t>
            </a:r>
          </a:p>
        </p:txBody>
      </p:sp>
      <p:sp>
        <p:nvSpPr>
          <p:cNvPr id="12" name="4">
            <a:extLst xmlns:a="http://schemas.openxmlformats.org/drawingml/2006/main">
              <a:ext uri="{FF2B5EF4-FFF2-40B4-BE49-F238E27FC236}">
                <a16:creationId xmlns:a16="http://schemas.microsoft.com/office/drawing/2014/main" id="{7E9A1DFB-AD3C-43A9-9AFF-23DFEED7CA84}"/>
              </a:ext>
            </a:extLst>
          </p:cNvPr>
          <p:cNvSpPr>
            <a:spLocks xmlns:a="http://schemas.openxmlformats.org/drawingml/2006/main" noGrp="1"/>
          </p:cNvSpPr>
          <p:nvPr/>
        </p:nvSpPr>
        <p:spPr>
          <a:xfrm xmlns:a="http://schemas.openxmlformats.org/drawingml/2006/main">
            <a:off x="885825" y="46164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6FC002FD-C637-497C-892B-95879A559375}"/>
              </a:ext>
            </a:extLst>
          </p:cNvPr>
          <p:cNvSpPr>
            <a:spLocks xmlns:a="http://schemas.openxmlformats.org/drawingml/2006/main" noGrp="1"/>
          </p:cNvSpPr>
          <p:nvPr/>
        </p:nvSpPr>
        <p:spPr>
          <a:xfrm xmlns:a="http://schemas.openxmlformats.org/drawingml/2006/main">
            <a:off x="1333500" y="4778375"/>
            <a:ext cx="1095375" cy="0"/>
          </a:xfrm>
          <a:prstGeom xmlns:a="http://schemas.openxmlformats.org/drawingml/2006/main" prst="line">
            <a:avLst/>
          </a:prstGeom>
          <a:ln xmlns:a="http://schemas.openxmlformats.org/drawingml/2006/main" w="9525">
            <a:solidFill>
              <a:srgbClr val="445B6B"/>
            </a:solidFill>
            <a:prstDash val="dash"/>
          </a:ln>
        </p:spPr>
      </p:sp>
      <p:sp>
        <p:nvSpPr>
          <p:cNvPr id="14" name="8">
            <a:extLst xmlns:a="http://schemas.openxmlformats.org/drawingml/2006/main">
              <a:ext uri="{FF2B5EF4-FFF2-40B4-BE49-F238E27FC236}">
                <a16:creationId xmlns:a16="http://schemas.microsoft.com/office/drawing/2014/main" id="{AA964299-4DCF-4BFD-B909-21F504F0045A}"/>
              </a:ext>
            </a:extLst>
          </p:cNvPr>
          <p:cNvSpPr>
            <a:spLocks xmlns:a="http://schemas.openxmlformats.org/drawingml/2006/main" noGrp="1"/>
          </p:cNvSpPr>
          <p:nvPr/>
        </p:nvSpPr>
        <p:spPr>
          <a:xfrm xmlns:a="http://schemas.openxmlformats.org/drawingml/2006/main">
            <a:off x="885825" y="31559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183247"/>
                </a:solidFill>
                <a:latin typeface="Arial"/>
                <a:ea typeface="Arial"/>
                <a:cs typeface="Arial"/>
              </a:defRPr>
            </a:pPr>
            <a:r>
              <a:rPr sz="1800" b="0">
                <a:solidFill>
                  <a:srgbClr val="183247"/>
                </a:solidFill>
                <a:latin typeface="Arial"/>
                <a:ea typeface="Arial"/>
                <a:cs typeface="Arial"/>
              </a:rPr>
              <a:t>8</a:t>
            </a:r>
          </a:p>
        </p:txBody>
      </p:sp>
      <p:sp>
        <p:nvSpPr>
          <p:cNvPr id="15" name="">
            <a:extLst xmlns:a="http://schemas.openxmlformats.org/drawingml/2006/main">
              <a:ext uri="{FF2B5EF4-FFF2-40B4-BE49-F238E27FC236}">
                <a16:creationId xmlns:a16="http://schemas.microsoft.com/office/drawing/2014/main" id="{B869E27E-30A4-4812-B0D3-D6100C02B385}"/>
              </a:ext>
            </a:extLst>
          </p:cNvPr>
          <p:cNvSpPr>
            <a:spLocks xmlns:a="http://schemas.openxmlformats.org/drawingml/2006/main" noGrp="1"/>
          </p:cNvSpPr>
          <p:nvPr/>
        </p:nvSpPr>
        <p:spPr>
          <a:xfrm xmlns:a="http://schemas.openxmlformats.org/drawingml/2006/main">
            <a:off x="1333500" y="3317875"/>
            <a:ext cx="1095375" cy="0"/>
          </a:xfrm>
          <a:prstGeom xmlns:a="http://schemas.openxmlformats.org/drawingml/2006/main" prst="line">
            <a:avLst/>
          </a:prstGeom>
          <a:ln xmlns:a="http://schemas.openxmlformats.org/drawingml/2006/main" w="9525">
            <a:solidFill>
              <a:srgbClr val="445B6B"/>
            </a:solidFill>
            <a:prstDash val="dash"/>
          </a:ln>
        </p:spPr>
      </p:sp>
      <p:sp>
        <p:nvSpPr>
          <p:cNvPr id="16" name="">
            <a:extLst xmlns:a="http://schemas.openxmlformats.org/drawingml/2006/main">
              <a:ext uri="{FF2B5EF4-FFF2-40B4-BE49-F238E27FC236}">
                <a16:creationId xmlns:a16="http://schemas.microsoft.com/office/drawing/2014/main" id="{48C9B8A1-89A8-4CA8-A378-154E4DE2FA6E}"/>
              </a:ext>
            </a:extLst>
          </p:cNvPr>
          <p:cNvSpPr>
            <a:spLocks xmlns:a="http://schemas.openxmlformats.org/drawingml/2006/main" noGrp="1"/>
          </p:cNvSpPr>
          <p:nvPr/>
        </p:nvSpPr>
        <p:spPr>
          <a:xfrm xmlns:a="http://schemas.openxmlformats.org/drawingml/2006/main">
            <a:off x="2428875" y="4778375"/>
            <a:ext cx="0" cy="1460500"/>
          </a:xfrm>
          <a:prstGeom xmlns:a="http://schemas.openxmlformats.org/drawingml/2006/main" prst="line">
            <a:avLst/>
          </a:prstGeom>
          <a:ln xmlns:a="http://schemas.openxmlformats.org/drawingml/2006/main" w="9525">
            <a:solidFill>
              <a:srgbClr val="445B6B"/>
            </a:solidFill>
            <a:prstDash val="dash"/>
          </a:ln>
        </p:spPr>
      </p:sp>
      <p:sp>
        <p:nvSpPr>
          <p:cNvPr id="17" name="">
            <a:extLst xmlns:a="http://schemas.openxmlformats.org/drawingml/2006/main">
              <a:ext uri="{FF2B5EF4-FFF2-40B4-BE49-F238E27FC236}">
                <a16:creationId xmlns:a16="http://schemas.microsoft.com/office/drawing/2014/main" id="{ACE9822B-1469-443D-93EE-0939358B36A9}"/>
              </a:ext>
            </a:extLst>
          </p:cNvPr>
          <p:cNvSpPr>
            <a:spLocks xmlns:a="http://schemas.openxmlformats.org/drawingml/2006/main" noGrp="1"/>
          </p:cNvSpPr>
          <p:nvPr/>
        </p:nvSpPr>
        <p:spPr>
          <a:xfrm xmlns:a="http://schemas.openxmlformats.org/drawingml/2006/main">
            <a:off x="5715000" y="4778375"/>
            <a:ext cx="0" cy="1460500"/>
          </a:xfrm>
          <a:prstGeom xmlns:a="http://schemas.openxmlformats.org/drawingml/2006/main" prst="line">
            <a:avLst/>
          </a:prstGeom>
          <a:ln xmlns:a="http://schemas.openxmlformats.org/drawingml/2006/main" w="9525">
            <a:solidFill>
              <a:srgbClr val="445B6B"/>
            </a:solidFill>
            <a:prstDash val="dash"/>
          </a:ln>
        </p:spPr>
      </p:sp>
      <p:sp>
        <p:nvSpPr>
          <p:cNvPr id="18" name="plattegrond-driehoek">
            <a:extLst xmlns:a="http://schemas.openxmlformats.org/drawingml/2006/main">
              <a:ext uri="{FF2B5EF4-FFF2-40B4-BE49-F238E27FC236}">
                <a16:creationId xmlns:a16="http://schemas.microsoft.com/office/drawing/2014/main" id="{D5266ECC-05C9-4882-9483-E62241991735}"/>
              </a:ext>
            </a:extLst>
          </p:cNvPr>
          <p:cNvSpPr>
            <a:spLocks xmlns:a="http://schemas.openxmlformats.org/drawingml/2006/main" noGrp="1"/>
          </p:cNvSpPr>
          <p:nvPr/>
        </p:nvSpPr>
        <p:spPr>
          <a:xfrm xmlns:a="http://schemas.openxmlformats.org/drawingml/2006/main">
            <a:off x="2428875" y="3317875"/>
            <a:ext cx="3286125" cy="1460500"/>
          </a:xfrm>
          <a:custGeom xmlns:a="http://schemas.openxmlformats.org/drawingml/2006/main">
            <a:pathLst>
              <a:path w="3286125" h="1460500">
                <a:moveTo>
                  <a:pt x="0" y="1460500"/>
                </a:moveTo>
                <a:lnTo>
                  <a:pt x="3286125" y="1460500"/>
                </a:lnTo>
                <a:lnTo>
                  <a:pt x="0" y="0"/>
                </a:lnTo>
                <a:close/>
              </a:path>
            </a:pathLst>
          </a:custGeom>
          <a:solidFill xmlns:a="http://schemas.openxmlformats.org/drawingml/2006/main">
            <a:srgbClr val="D4E5DF"/>
          </a:solidFill>
          <a:ln xmlns:a="http://schemas.openxmlformats.org/drawingml/2006/main" w="28575">
            <a:solidFill>
              <a:srgbClr val="20665B"/>
            </a:solidFill>
          </a:ln>
        </p:spPr>
      </p:sp>
      <p:sp>
        <p:nvSpPr>
          <p:cNvPr id="19" name="Driehoek">
            <a:extLst xmlns:a="http://schemas.openxmlformats.org/drawingml/2006/main">
              <a:ext uri="{FF2B5EF4-FFF2-40B4-BE49-F238E27FC236}">
                <a16:creationId xmlns:a16="http://schemas.microsoft.com/office/drawing/2014/main" id="{C25C6310-52DB-4953-9656-5736D2E2A1A6}"/>
              </a:ext>
            </a:extLst>
          </p:cNvPr>
          <p:cNvSpPr>
            <a:spLocks xmlns:a="http://schemas.openxmlformats.org/drawingml/2006/main" noGrp="1"/>
          </p:cNvSpPr>
          <p:nvPr/>
        </p:nvSpPr>
        <p:spPr>
          <a:xfrm xmlns:a="http://schemas.openxmlformats.org/drawingml/2006/main">
            <a:off x="1333500" y="6267450"/>
            <a:ext cx="547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20665B"/>
                </a:solidFill>
                <a:latin typeface="Arial"/>
                <a:ea typeface="Arial"/>
                <a:cs typeface="Arial"/>
              </a:defRPr>
            </a:pPr>
            <a:r>
              <a:rPr sz="2025" b="1">
                <a:solidFill>
                  <a:srgbClr val="20665B"/>
                </a:solidFill>
                <a:latin typeface="Arial"/>
                <a:ea typeface="Arial"/>
                <a:cs typeface="Arial"/>
              </a:rPr>
              <a:t>Driehoek</a:t>
            </a:r>
          </a:p>
        </p:txBody>
      </p:sp>
      <p:sp>
        <p:nvSpPr>
          <p:cNvPr id="20" name="Basis = 8 − 2 = 6 m">
            <a:extLst xmlns:a="http://schemas.openxmlformats.org/drawingml/2006/main">
              <a:ext uri="{FF2B5EF4-FFF2-40B4-BE49-F238E27FC236}">
                <a16:creationId xmlns:a16="http://schemas.microsoft.com/office/drawing/2014/main" id="{85875754-826B-4463-B4E1-1C10C84062ED}"/>
              </a:ext>
            </a:extLst>
          </p:cNvPr>
          <p:cNvSpPr>
            <a:spLocks xmlns:a="http://schemas.openxmlformats.org/drawingml/2006/main" noGrp="1"/>
          </p:cNvSpPr>
          <p:nvPr/>
        </p:nvSpPr>
        <p:spPr>
          <a:xfrm xmlns:a="http://schemas.openxmlformats.org/drawingml/2006/main">
            <a:off x="8382000" y="237172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Basis = 8 − 2 = 6 m</a:t>
            </a:r>
          </a:p>
        </p:txBody>
      </p:sp>
      <p:sp>
        <p:nvSpPr>
          <p:cNvPr id="21" name="Hoogte = 8 − 4 = 4 m">
            <a:extLst xmlns:a="http://schemas.openxmlformats.org/drawingml/2006/main">
              <a:ext uri="{FF2B5EF4-FFF2-40B4-BE49-F238E27FC236}">
                <a16:creationId xmlns:a16="http://schemas.microsoft.com/office/drawing/2014/main" id="{BCD6BDB0-1AB0-4062-9DCD-178A2AD982A1}"/>
              </a:ext>
            </a:extLst>
          </p:cNvPr>
          <p:cNvSpPr>
            <a:spLocks xmlns:a="http://schemas.openxmlformats.org/drawingml/2006/main" noGrp="1"/>
          </p:cNvSpPr>
          <p:nvPr/>
        </p:nvSpPr>
        <p:spPr>
          <a:xfrm xmlns:a="http://schemas.openxmlformats.org/drawingml/2006/main">
            <a:off x="8382000" y="3581400"/>
            <a:ext cx="6191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Hoogte = 8 − 4 = 4 m</a:t>
            </a:r>
          </a:p>
        </p:txBody>
      </p:sp>
      <p:sp>
        <p:nvSpPr>
          <p:cNvPr id="22" name="Oppervlakte = ½ × basis × hoogte&#10;= ½ × 6 × 4&#10;= 12 m²">
            <a:extLst xmlns:a="http://schemas.openxmlformats.org/drawingml/2006/main">
              <a:ext uri="{FF2B5EF4-FFF2-40B4-BE49-F238E27FC236}">
                <a16:creationId xmlns:a16="http://schemas.microsoft.com/office/drawing/2014/main" id="{02058BC5-4838-4CCB-931B-D29E12B35E48}"/>
              </a:ext>
            </a:extLst>
          </p:cNvPr>
          <p:cNvSpPr>
            <a:spLocks xmlns:a="http://schemas.openxmlformats.org/drawingml/2006/main" noGrp="1"/>
          </p:cNvSpPr>
          <p:nvPr/>
        </p:nvSpPr>
        <p:spPr>
          <a:xfrm xmlns:a="http://schemas.openxmlformats.org/drawingml/2006/main">
            <a:off x="8382000" y="5095875"/>
            <a:ext cx="61912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Oppervlakte = ½ × basis × hoogte</a:t>
            </a:r>
          </a:p>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 ½ × 6 × 4</a:t>
            </a:r>
          </a:p>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 12 m²</a:t>
            </a:r>
          </a:p>
        </p:txBody>
      </p:sp>
    </p:spTree>
    <p:extLst>
      <p:ext uri="{BB962C8B-B14F-4D97-AF65-F5344CB8AC3E}">
        <p14:creationId xmlns:p14="http://schemas.microsoft.com/office/powerpoint/2010/main" val="103055927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ntwoordcontrole bij opgave 30">
            <a:extLst xmlns:a="http://schemas.openxmlformats.org/drawingml/2006/main">
              <a:ext uri="{FF2B5EF4-FFF2-40B4-BE49-F238E27FC236}">
                <a16:creationId xmlns:a16="http://schemas.microsoft.com/office/drawing/2014/main" id="{B0AD502C-A3C7-4C6E-9ACB-683194E709BD}"/>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bij opgave 30</a:t>
            </a:r>
          </a:p>
        </p:txBody>
      </p:sp>
      <p:sp>
        <p:nvSpPr>
          <p:cNvPr id="2" name="">
            <a:extLst xmlns:a="http://schemas.openxmlformats.org/drawingml/2006/main">
              <a:ext uri="{FF2B5EF4-FFF2-40B4-BE49-F238E27FC236}">
                <a16:creationId xmlns:a16="http://schemas.microsoft.com/office/drawing/2014/main" id="{8228945D-0440-4ADC-9B10-5433D25B3A3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 Opgave 30 · Boekpagina 36">
            <a:extLst xmlns:a="http://schemas.openxmlformats.org/drawingml/2006/main">
              <a:ext uri="{FF2B5EF4-FFF2-40B4-BE49-F238E27FC236}">
                <a16:creationId xmlns:a16="http://schemas.microsoft.com/office/drawing/2014/main" id="{BC2B2142-5BBF-4EA0-A7E3-A26B65AEC34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 Opgave 30 · Boekpagina 36</a:t>
            </a:r>
          </a:p>
        </p:txBody>
      </p:sp>
      <p:sp>
        <p:nvSpPr>
          <p:cNvPr id="4" name="slide-number">
            <a:extLst xmlns:a="http://schemas.openxmlformats.org/drawingml/2006/main">
              <a:ext uri="{FF2B5EF4-FFF2-40B4-BE49-F238E27FC236}">
                <a16:creationId xmlns:a16="http://schemas.microsoft.com/office/drawing/2014/main" id="{64493237-829A-4F31-B9EC-3DA8A30AAAF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28</a:t>
            </a:r>
          </a:p>
        </p:txBody>
      </p:sp>
      <p:sp>
        <p:nvSpPr>
          <p:cNvPr id="5" name="a–c · Bron A">
            <a:extLst xmlns:a="http://schemas.openxmlformats.org/drawingml/2006/main">
              <a:ext uri="{FF2B5EF4-FFF2-40B4-BE49-F238E27FC236}">
                <a16:creationId xmlns:a16="http://schemas.microsoft.com/office/drawing/2014/main" id="{BDE7C9AF-CA25-4085-A6D9-4C67A3D6694A}"/>
              </a:ext>
            </a:extLst>
          </p:cNvPr>
          <p:cNvSpPr>
            <a:spLocks xmlns:a="http://schemas.openxmlformats.org/drawingml/2006/main" noGrp="1"/>
          </p:cNvSpPr>
          <p:nvPr/>
        </p:nvSpPr>
        <p:spPr>
          <a:xfrm xmlns:a="http://schemas.openxmlformats.org/drawingml/2006/main">
            <a:off x="571500" y="2190750"/>
            <a:ext cx="4143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a–c · Bron A</a:t>
            </a:r>
          </a:p>
        </p:txBody>
      </p:sp>
      <p:sp>
        <p:nvSpPr>
          <p:cNvPr id="6" name="Schalen, eenheden, drie punten, tussenwaarde en juiste basis">
            <a:extLst xmlns:a="http://schemas.openxmlformats.org/drawingml/2006/main">
              <a:ext uri="{FF2B5EF4-FFF2-40B4-BE49-F238E27FC236}">
                <a16:creationId xmlns:a16="http://schemas.microsoft.com/office/drawing/2014/main" id="{AA25539E-03A9-4A1D-AD0F-5C4847BCBBD5}"/>
              </a:ext>
            </a:extLst>
          </p:cNvPr>
          <p:cNvSpPr>
            <a:spLocks xmlns:a="http://schemas.openxmlformats.org/drawingml/2006/main" noGrp="1"/>
          </p:cNvSpPr>
          <p:nvPr/>
        </p:nvSpPr>
        <p:spPr>
          <a:xfrm xmlns:a="http://schemas.openxmlformats.org/drawingml/2006/main">
            <a:off x="5143500" y="2190750"/>
            <a:ext cx="942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Schalen, eenheden, drie punten, tussenwaarde en juiste basis.</a:t>
            </a:r>
          </a:p>
        </p:txBody>
      </p:sp>
      <p:sp>
        <p:nvSpPr>
          <p:cNvPr id="7" name="d–e · Bron B">
            <a:extLst xmlns:a="http://schemas.openxmlformats.org/drawingml/2006/main">
              <a:ext uri="{FF2B5EF4-FFF2-40B4-BE49-F238E27FC236}">
                <a16:creationId xmlns:a16="http://schemas.microsoft.com/office/drawing/2014/main" id="{1C249DF6-9CB9-4BCD-AD0E-D477B303AD52}"/>
              </a:ext>
            </a:extLst>
          </p:cNvPr>
          <p:cNvSpPr>
            <a:spLocks xmlns:a="http://schemas.openxmlformats.org/drawingml/2006/main" noGrp="1"/>
          </p:cNvSpPr>
          <p:nvPr/>
        </p:nvSpPr>
        <p:spPr>
          <a:xfrm xmlns:a="http://schemas.openxmlformats.org/drawingml/2006/main">
            <a:off x="571500" y="3848100"/>
            <a:ext cx="4143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d–e · Bron B</a:t>
            </a:r>
          </a:p>
        </p:txBody>
      </p:sp>
      <p:sp>
        <p:nvSpPr>
          <p:cNvPr id="8" name="Invullen, beide kanten gelijk bewerken en terug controleren.">
            <a:extLst xmlns:a="http://schemas.openxmlformats.org/drawingml/2006/main">
              <a:ext uri="{FF2B5EF4-FFF2-40B4-BE49-F238E27FC236}">
                <a16:creationId xmlns:a16="http://schemas.microsoft.com/office/drawing/2014/main" id="{AC9D72DD-A39F-4806-A38D-4ADB3E39B3FF}"/>
              </a:ext>
            </a:extLst>
          </p:cNvPr>
          <p:cNvSpPr>
            <a:spLocks xmlns:a="http://schemas.openxmlformats.org/drawingml/2006/main" noGrp="1"/>
          </p:cNvSpPr>
          <p:nvPr/>
        </p:nvSpPr>
        <p:spPr>
          <a:xfrm xmlns:a="http://schemas.openxmlformats.org/drawingml/2006/main">
            <a:off x="5143500" y="3848100"/>
            <a:ext cx="942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Invullen, beide kanten gelijk bewerken en terug controleren.</a:t>
            </a:r>
          </a:p>
        </p:txBody>
      </p:sp>
      <p:sp>
        <p:nvSpPr>
          <p:cNvPr id="9" name="f–g · Bron C">
            <a:extLst xmlns:a="http://schemas.openxmlformats.org/drawingml/2006/main">
              <a:ext uri="{FF2B5EF4-FFF2-40B4-BE49-F238E27FC236}">
                <a16:creationId xmlns:a16="http://schemas.microsoft.com/office/drawing/2014/main" id="{92225321-2401-45FD-8FD7-DFEA49B0BA74}"/>
              </a:ext>
            </a:extLst>
          </p:cNvPr>
          <p:cNvSpPr>
            <a:spLocks xmlns:a="http://schemas.openxmlformats.org/drawingml/2006/main" noGrp="1"/>
          </p:cNvSpPr>
          <p:nvPr/>
        </p:nvSpPr>
        <p:spPr>
          <a:xfrm xmlns:a="http://schemas.openxmlformats.org/drawingml/2006/main">
            <a:off x="571500" y="5505450"/>
            <a:ext cx="4143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f–g · Bron C</a:t>
            </a:r>
          </a:p>
        </p:txBody>
      </p:sp>
      <p:sp>
        <p:nvSpPr>
          <p:cNvPr id="10" name="Afstanden als basis en hoogte, daarna oppervlakte in m².">
            <a:extLst xmlns:a="http://schemas.openxmlformats.org/drawingml/2006/main">
              <a:ext uri="{FF2B5EF4-FFF2-40B4-BE49-F238E27FC236}">
                <a16:creationId xmlns:a16="http://schemas.microsoft.com/office/drawing/2014/main" id="{080BA708-0917-4F48-B629-C8BCA60AA7FD}"/>
              </a:ext>
            </a:extLst>
          </p:cNvPr>
          <p:cNvSpPr>
            <a:spLocks xmlns:a="http://schemas.openxmlformats.org/drawingml/2006/main" noGrp="1"/>
          </p:cNvSpPr>
          <p:nvPr/>
        </p:nvSpPr>
        <p:spPr>
          <a:xfrm xmlns:a="http://schemas.openxmlformats.org/drawingml/2006/main">
            <a:off x="5143500" y="5505450"/>
            <a:ext cx="942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Afstanden als basis en hoogte, daarna oppervlakte in m².</a:t>
            </a:r>
          </a:p>
        </p:txBody>
      </p:sp>
      <p:sp>
        <p:nvSpPr>
          <p:cNvPr id="11" name="Verbeter één ontbrekende stap of onjuiste uitleg in je eigen">
            <a:extLst xmlns:a="http://schemas.openxmlformats.org/drawingml/2006/main">
              <a:ext uri="{FF2B5EF4-FFF2-40B4-BE49-F238E27FC236}">
                <a16:creationId xmlns:a16="http://schemas.microsoft.com/office/drawing/2014/main" id="{92EA4972-6E3F-41AC-A535-0E52D00ACCBA}"/>
              </a:ext>
            </a:extLst>
          </p:cNvPr>
          <p:cNvSpPr>
            <a:spLocks xmlns:a="http://schemas.openxmlformats.org/drawingml/2006/main" noGrp="1"/>
          </p:cNvSpPr>
          <p:nvPr/>
        </p:nvSpPr>
        <p:spPr>
          <a:xfrm xmlns:a="http://schemas.openxmlformats.org/drawingml/2006/main">
            <a:off x="571500" y="75342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Verbeter één ontbrekende stap of onjuiste uitleg in je eigen antwoord.</a:t>
            </a:r>
          </a:p>
        </p:txBody>
      </p:sp>
    </p:spTree>
    <p:extLst>
      <p:ext uri="{BB962C8B-B14F-4D97-AF65-F5344CB8AC3E}">
        <p14:creationId xmlns:p14="http://schemas.microsoft.com/office/powerpoint/2010/main" val="163795655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1.3 Tabellen, grafieken en formules">
            <a:extLst xmlns:a="http://schemas.openxmlformats.org/drawingml/2006/main">
              <a:ext uri="{FF2B5EF4-FFF2-40B4-BE49-F238E27FC236}">
                <a16:creationId xmlns:a16="http://schemas.microsoft.com/office/drawing/2014/main" id="{4DFD4A56-EE2A-4356-9C4F-15A910976BB4}"/>
              </a:ext>
            </a:extLst>
          </p:cNvPr>
          <p:cNvSpPr>
            <a:spLocks xmlns:a="http://schemas.openxmlformats.org/drawingml/2006/main" noGrp="1"/>
          </p:cNvSpPr>
          <p:nvPr/>
        </p:nvSpPr>
        <p:spPr>
          <a:xfrm xmlns:a="http://schemas.openxmlformats.org/drawingml/2006/main">
            <a:off x="571500" y="4000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§1.1.3 Tabellen, grafieken en formules</a:t>
            </a:r>
          </a:p>
        </p:txBody>
      </p:sp>
      <p:sp>
        <p:nvSpPr>
          <p:cNvPr id="2" name="">
            <a:extLst xmlns:a="http://schemas.openxmlformats.org/drawingml/2006/main">
              <a:ext uri="{FF2B5EF4-FFF2-40B4-BE49-F238E27FC236}">
                <a16:creationId xmlns:a16="http://schemas.microsoft.com/office/drawing/2014/main" id="{F317E5BB-7676-413D-9024-B0679CA239C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prstDash val="solid"/>
          </a:ln>
        </p:spPr>
      </p:sp>
      <p:sp>
        <p:nvSpPr>
          <p:cNvPr id="3" name="§1.1.3 Tabellen, grafieken en formules">
            <a:extLst xmlns:a="http://schemas.openxmlformats.org/drawingml/2006/main">
              <a:ext uri="{FF2B5EF4-FFF2-40B4-BE49-F238E27FC236}">
                <a16:creationId xmlns:a16="http://schemas.microsoft.com/office/drawing/2014/main" id="{5931BA5D-C647-41ED-AFEC-32483816785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§1.1.3 Tabellen, grafieken en formules</a:t>
            </a:r>
          </a:p>
        </p:txBody>
      </p:sp>
      <p:sp>
        <p:nvSpPr>
          <p:cNvPr id="4" name="slide-number">
            <a:extLst xmlns:a="http://schemas.openxmlformats.org/drawingml/2006/main">
              <a:ext uri="{FF2B5EF4-FFF2-40B4-BE49-F238E27FC236}">
                <a16:creationId xmlns:a16="http://schemas.microsoft.com/office/drawing/2014/main" id="{C286523B-1D48-4012-B549-3D17AB04482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29</a:t>
            </a:r>
          </a:p>
        </p:txBody>
      </p:sp>
      <p:sp>
        <p:nvSpPr>
          <p:cNvPr id="5" name="phase">
            <a:extLst xmlns:a="http://schemas.openxmlformats.org/drawingml/2006/main">
              <a:ext uri="{FF2B5EF4-FFF2-40B4-BE49-F238E27FC236}">
                <a16:creationId xmlns:a16="http://schemas.microsoft.com/office/drawing/2014/main" id="{47666D19-F6A4-4ABE-8950-B1A985D0D0A8}"/>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99FBC15C-D97D-4812-A71A-13582B2A8F5D}"/>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1647C731-2050-49EB-8070-A1C45BA32B5F}"/>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38E56755-C472-4B14-9973-0F54930428CC}"/>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C8D3D931-1E18-459D-8530-76F8644CA30A}"/>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3155C18C-7177-48D0-AC86-4D1A2CF941FF}"/>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72DB5F75-1A6C-40CE-BB93-9AC8C3E9FBCA}"/>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A89AA295-7625-4A80-8AED-34628399323B}"/>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9981E0B8-1BA3-4E3F-B2C8-983DF0EFD321}"/>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AA9D53A5-30BC-43EA-96D0-528543E21B24}"/>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F5B1EF97-F8F6-4DC9-B8F1-05048A58005B}"/>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901D7732-A960-4751-BAD7-357D06DB8ED8}"/>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94C4AD18-F336-46CD-9FCE-02552B826194}"/>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02220228-6688-4255-98D3-48D1D9606F37}"/>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30.</a:t>
            </a:r>
          </a:p>
        </p:txBody>
      </p:sp>
      <p:sp>
        <p:nvSpPr>
          <p:cNvPr id="19" name="route-number-7">
            <a:extLst xmlns:a="http://schemas.openxmlformats.org/drawingml/2006/main">
              <a:ext uri="{FF2B5EF4-FFF2-40B4-BE49-F238E27FC236}">
                <a16:creationId xmlns:a16="http://schemas.microsoft.com/office/drawing/2014/main" id="{7B5C7747-0E70-4AC5-AEFE-F190BD9701FD}"/>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BF6BF95B-21FF-401D-9E75-9E5B763B4AC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32334583-9E1E-4B0E-B394-D151E753129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94A9571-9457-42E1-9FCB-DDA217CF5A5B}"/>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Grafieken tekenen en interpoleren,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formules gebruiken, oppervlaktes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bepalen en claims controleren.</a:t>
            </a:r>
          </a:p>
        </p:txBody>
      </p:sp>
      <p:sp>
        <p:nvSpPr>
          <p:cNvPr id="23" name="">
            <a:extLst xmlns:a="http://schemas.openxmlformats.org/drawingml/2006/main">
              <a:ext uri="{FF2B5EF4-FFF2-40B4-BE49-F238E27FC236}">
                <a16:creationId xmlns:a16="http://schemas.microsoft.com/office/drawing/2014/main" id="{920627DE-12AE-4C38-9844-AEFCD590BAE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prstDash val="solid"/>
          </a:ln>
        </p:spPr>
      </p:sp>
      <p:sp>
        <p:nvSpPr>
          <p:cNvPr id="24" name="Startopdracht">
            <a:extLst xmlns:a="http://schemas.openxmlformats.org/drawingml/2006/main">
              <a:ext uri="{FF2B5EF4-FFF2-40B4-BE49-F238E27FC236}">
                <a16:creationId xmlns:a16="http://schemas.microsoft.com/office/drawing/2014/main" id="{760B826F-423C-45D1-8C84-BDCCA33AE52E}"/>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FD570B9B-25AA-4493-85CA-AB610E04CE96}"/>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32 · Opgaven 22 en 23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23: verkennen, theorie p. 24–25</a:t>
            </a:r>
          </a:p>
        </p:txBody>
      </p:sp>
      <p:sp>
        <p:nvSpPr>
          <p:cNvPr id="26" name="">
            <a:extLst xmlns:a="http://schemas.openxmlformats.org/drawingml/2006/main">
              <a:ext uri="{FF2B5EF4-FFF2-40B4-BE49-F238E27FC236}">
                <a16:creationId xmlns:a16="http://schemas.microsoft.com/office/drawing/2014/main" id="{ABC0893E-1F87-49BC-88C4-397D65260D1A}"/>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prstDash val="solid"/>
          </a:ln>
        </p:spPr>
      </p:sp>
      <p:sp>
        <p:nvSpPr>
          <p:cNvPr id="27" name="Huiswerk">
            <a:extLst xmlns:a="http://schemas.openxmlformats.org/drawingml/2006/main">
              <a:ext uri="{FF2B5EF4-FFF2-40B4-BE49-F238E27FC236}">
                <a16:creationId xmlns:a16="http://schemas.microsoft.com/office/drawing/2014/main" id="{A7055131-A3E8-45DA-A638-B695401D3F86}"/>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52A3FA5D-98FF-4500-97A9-8E73D46909A7}"/>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§1.1.3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24, 25 en 26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27, 28 en 29</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30</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7885551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2026-10-03T14:02:27.5270000Z</dcterms:created>
  <dcterms:modified xsi:type="dcterms:W3CDTF">2026-10-03T14:02:27.5270000Z</dcterms:modified>
</coreProperties>
</file>