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43235833f40489a" /><Relationship Type="http://schemas.openxmlformats.org/officeDocument/2006/relationships/extended-properties" Target="/docProps/app.xml" Id="R468f8373d9c74ba4" /><Relationship Type="http://schemas.openxmlformats.org/officeDocument/2006/relationships/officeDocument" Target="/ppt/presentation.xml" Id="R3c276dbf00d746d0" /></Relationships>
</file>

<file path=ppt/presentation.xml><?xml version="1.0" encoding="utf-8"?>
<p:presentation xmlns:p="http://schemas.openxmlformats.org/presentationml/2006/main">
  <p:sldMasterIdLst>
    <p:sldMasterId xmlns:r="http://schemas.openxmlformats.org/officeDocument/2006/relationships" id="2147483648" r:id="R4053815ed4644ba7"/>
  </p:sldMasterIdLst>
  <p:notesMasterIdLst>
    <p:notesMasterId xmlns:r="http://schemas.openxmlformats.org/officeDocument/2006/relationships" r:id="R178e2ca93cc848c4"/>
  </p:notesMasterIdLst>
  <p:sldIdLst>
    <p:sldId xmlns:r="http://schemas.openxmlformats.org/officeDocument/2006/relationships" id="256" r:id="Rd2c17660ea4d47e9"/>
    <p:sldId xmlns:r="http://schemas.openxmlformats.org/officeDocument/2006/relationships" id="257" r:id="R3c00e05210414dda"/>
    <p:sldId xmlns:r="http://schemas.openxmlformats.org/officeDocument/2006/relationships" id="258" r:id="R88ee775465214ba8"/>
    <p:sldId xmlns:r="http://schemas.openxmlformats.org/officeDocument/2006/relationships" id="259" r:id="Rbf47b42a452b42e0"/>
    <p:sldId xmlns:r="http://schemas.openxmlformats.org/officeDocument/2006/relationships" id="260" r:id="Rbf89f43b72f24d95"/>
    <p:sldId xmlns:r="http://schemas.openxmlformats.org/officeDocument/2006/relationships" id="261" r:id="Rd33003b266ce443e"/>
    <p:sldId xmlns:r="http://schemas.openxmlformats.org/officeDocument/2006/relationships" id="262" r:id="Rbf14bd7a24f54e3f"/>
    <p:sldId xmlns:r="http://schemas.openxmlformats.org/officeDocument/2006/relationships" id="263" r:id="R84cd5b19d0b448e2"/>
    <p:sldId xmlns:r="http://schemas.openxmlformats.org/officeDocument/2006/relationships" id="264" r:id="R89a22f8bb04f4340"/>
    <p:sldId xmlns:r="http://schemas.openxmlformats.org/officeDocument/2006/relationships" id="265" r:id="Rf9b37e80cc6a44a0"/>
    <p:sldId xmlns:r="http://schemas.openxmlformats.org/officeDocument/2006/relationships" id="266" r:id="Re4b3fff9bf194dda"/>
    <p:sldId xmlns:r="http://schemas.openxmlformats.org/officeDocument/2006/relationships" id="267" r:id="R2ab93e82be5842a4"/>
    <p:sldId xmlns:r="http://schemas.openxmlformats.org/officeDocument/2006/relationships" id="268" r:id="R9fa865ca0e754df7"/>
    <p:sldId xmlns:r="http://schemas.openxmlformats.org/officeDocument/2006/relationships" id="269" r:id="R11ad615c11764e51"/>
    <p:sldId xmlns:r="http://schemas.openxmlformats.org/officeDocument/2006/relationships" id="270" r:id="R7454b86f500d49ca"/>
    <p:sldId xmlns:r="http://schemas.openxmlformats.org/officeDocument/2006/relationships" id="271" r:id="Rb394c7887f3d423a"/>
    <p:sldId xmlns:r="http://schemas.openxmlformats.org/officeDocument/2006/relationships" id="272" r:id="R82c7eca3308e4ea4"/>
    <p:sldId xmlns:r="http://schemas.openxmlformats.org/officeDocument/2006/relationships" id="273" r:id="Rc093bb0aab034aa7"/>
    <p:sldId xmlns:r="http://schemas.openxmlformats.org/officeDocument/2006/relationships" id="274" r:id="Rf8a747df1d17465f"/>
    <p:sldId xmlns:r="http://schemas.openxmlformats.org/officeDocument/2006/relationships" id="275" r:id="R1f2de8caa47c4de3"/>
    <p:sldId xmlns:r="http://schemas.openxmlformats.org/officeDocument/2006/relationships" id="276" r:id="R36e68e4291294df1"/>
    <p:sldId xmlns:r="http://schemas.openxmlformats.org/officeDocument/2006/relationships" id="277" r:id="Rb433dd30ab31473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cdbd000a9c463e" /><Relationship Type="http://schemas.openxmlformats.org/officeDocument/2006/relationships/slideMaster" Target="/ppt/slideMasters/slideMaster1.xml" Id="R4053815ed4644ba7" /><Relationship Type="http://schemas.openxmlformats.org/officeDocument/2006/relationships/notesMaster" Target="/ppt/notesMasters/notesMaster1.xml" Id="R178e2ca93cc848c4" /><Relationship Type="http://schemas.openxmlformats.org/officeDocument/2006/relationships/presProps" Target="/ppt/presProps.xml" Id="R80de2f7934184e69" /><Relationship Type="http://schemas.openxmlformats.org/officeDocument/2006/relationships/tableStyles" Target="/ppt/tableStyles.xml" Id="R12329db44d124b9d" /><Relationship Type="http://schemas.openxmlformats.org/officeDocument/2006/relationships/slide" Target="/ppt/slides/slide1.xml" Id="Rd2c17660ea4d47e9" /><Relationship Type="http://schemas.openxmlformats.org/officeDocument/2006/relationships/slide" Target="/ppt/slides/slide2.xml" Id="R3c00e05210414dda" /><Relationship Type="http://schemas.openxmlformats.org/officeDocument/2006/relationships/slide" Target="/ppt/slides/slide3.xml" Id="R88ee775465214ba8" /><Relationship Type="http://schemas.openxmlformats.org/officeDocument/2006/relationships/slide" Target="/ppt/slides/slide4.xml" Id="Rbf47b42a452b42e0" /><Relationship Type="http://schemas.openxmlformats.org/officeDocument/2006/relationships/slide" Target="/ppt/slides/slide5.xml" Id="Rbf89f43b72f24d95" /><Relationship Type="http://schemas.openxmlformats.org/officeDocument/2006/relationships/slide" Target="/ppt/slides/slide6.xml" Id="Rd33003b266ce443e" /><Relationship Type="http://schemas.openxmlformats.org/officeDocument/2006/relationships/slide" Target="/ppt/slides/slide7.xml" Id="Rbf14bd7a24f54e3f" /><Relationship Type="http://schemas.openxmlformats.org/officeDocument/2006/relationships/slide" Target="/ppt/slides/slide8.xml" Id="R84cd5b19d0b448e2" /><Relationship Type="http://schemas.openxmlformats.org/officeDocument/2006/relationships/slide" Target="/ppt/slides/slide9.xml" Id="R89a22f8bb04f4340" /><Relationship Type="http://schemas.openxmlformats.org/officeDocument/2006/relationships/slide" Target="/ppt/slides/slide10.xml" Id="Rf9b37e80cc6a44a0" /><Relationship Type="http://schemas.openxmlformats.org/officeDocument/2006/relationships/slide" Target="/ppt/slides/slide11.xml" Id="Re4b3fff9bf194dda" /><Relationship Type="http://schemas.openxmlformats.org/officeDocument/2006/relationships/slide" Target="/ppt/slides/slide12.xml" Id="R2ab93e82be5842a4" /><Relationship Type="http://schemas.openxmlformats.org/officeDocument/2006/relationships/slide" Target="/ppt/slides/slide13.xml" Id="R9fa865ca0e754df7" /><Relationship Type="http://schemas.openxmlformats.org/officeDocument/2006/relationships/slide" Target="/ppt/slides/slide14.xml" Id="R11ad615c11764e51" /><Relationship Type="http://schemas.openxmlformats.org/officeDocument/2006/relationships/slide" Target="/ppt/slides/slide15.xml" Id="R7454b86f500d49ca" /><Relationship Type="http://schemas.openxmlformats.org/officeDocument/2006/relationships/slide" Target="/ppt/slides/slide16.xml" Id="Rb394c7887f3d423a" /><Relationship Type="http://schemas.openxmlformats.org/officeDocument/2006/relationships/slide" Target="/ppt/slides/slide17.xml" Id="R82c7eca3308e4ea4" /><Relationship Type="http://schemas.openxmlformats.org/officeDocument/2006/relationships/slide" Target="/ppt/slides/slide18.xml" Id="Rc093bb0aab034aa7" /><Relationship Type="http://schemas.openxmlformats.org/officeDocument/2006/relationships/slide" Target="/ppt/slides/slide19.xml" Id="Rf8a747df1d17465f" /><Relationship Type="http://schemas.openxmlformats.org/officeDocument/2006/relationships/slide" Target="/ppt/slides/slide20.xml" Id="R1f2de8caa47c4de3" /><Relationship Type="http://schemas.openxmlformats.org/officeDocument/2006/relationships/slide" Target="/ppt/slides/slide21.xml" Id="R36e68e4291294df1" /><Relationship Type="http://schemas.openxmlformats.org/officeDocument/2006/relationships/slide" Target="/ppt/slides/slide22.xml" Id="Rb433dd30ab3147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bca0f6aa9943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743be64e2c4f2c" /><Relationship Type="http://schemas.openxmlformats.org/officeDocument/2006/relationships/notesMaster" Target="/ppt/notesMasters/notesMaster1.xml" Id="Rb0ecb6a85a0048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c6325c42b14fa2" /><Relationship Type="http://schemas.openxmlformats.org/officeDocument/2006/relationships/notesMaster" Target="/ppt/notesMasters/notesMaster1.xml" Id="R925fdafdca2740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e6735444a64ee9" /><Relationship Type="http://schemas.openxmlformats.org/officeDocument/2006/relationships/notesMaster" Target="/ppt/notesMasters/notesMaster1.xml" Id="Rd9a9d0a9e5ce43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ebb2359ed045c1" /><Relationship Type="http://schemas.openxmlformats.org/officeDocument/2006/relationships/notesMaster" Target="/ppt/notesMasters/notesMaster1.xml" Id="R8c1e3358c3eb4c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518323453d453f" /><Relationship Type="http://schemas.openxmlformats.org/officeDocument/2006/relationships/notesMaster" Target="/ppt/notesMasters/notesMaster1.xml" Id="R00a07a998deb4f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fe6e3c20c24e63" /><Relationship Type="http://schemas.openxmlformats.org/officeDocument/2006/relationships/notesMaster" Target="/ppt/notesMasters/notesMaster1.xml" Id="Re55ee335ce7644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137cc6e25e4418" /><Relationship Type="http://schemas.openxmlformats.org/officeDocument/2006/relationships/notesMaster" Target="/ppt/notesMasters/notesMaster1.xml" Id="R7721ab7f389e48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12bdede2184742" /><Relationship Type="http://schemas.openxmlformats.org/officeDocument/2006/relationships/notesMaster" Target="/ppt/notesMasters/notesMaster1.xml" Id="R8f9922732c3c4b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221c8fb4d84b92" /><Relationship Type="http://schemas.openxmlformats.org/officeDocument/2006/relationships/notesMaster" Target="/ppt/notesMasters/notesMaster1.xml" Id="R114135abc49f47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bd9718617541d4" /><Relationship Type="http://schemas.openxmlformats.org/officeDocument/2006/relationships/notesMaster" Target="/ppt/notesMasters/notesMaster1.xml" Id="R3be0312c514846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60f5087b8e49e2" /><Relationship Type="http://schemas.openxmlformats.org/officeDocument/2006/relationships/notesMaster" Target="/ppt/notesMasters/notesMaster1.xml" Id="R5579a180bcfd47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8ab73c33a149ae" /><Relationship Type="http://schemas.openxmlformats.org/officeDocument/2006/relationships/notesMaster" Target="/ppt/notesMasters/notesMaster1.xml" Id="R6253cd65bd5845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d7abb902774455" /><Relationship Type="http://schemas.openxmlformats.org/officeDocument/2006/relationships/notesMaster" Target="/ppt/notesMasters/notesMaster1.xml" Id="R82487e96b3b749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caa1c79dc94b74" /><Relationship Type="http://schemas.openxmlformats.org/officeDocument/2006/relationships/notesMaster" Target="/ppt/notesMasters/notesMaster1.xml" Id="Rccfa5a91db034ce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3f6e0673e84f57" /><Relationship Type="http://schemas.openxmlformats.org/officeDocument/2006/relationships/notesMaster" Target="/ppt/notesMasters/notesMaster1.xml" Id="Raa1c2df558454a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9c981fc95d4b41" /><Relationship Type="http://schemas.openxmlformats.org/officeDocument/2006/relationships/notesMaster" Target="/ppt/notesMasters/notesMaster1.xml" Id="Rcfa0e41dd64641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67f289e82345d7" /><Relationship Type="http://schemas.openxmlformats.org/officeDocument/2006/relationships/notesMaster" Target="/ppt/notesMasters/notesMaster1.xml" Id="Ra5ea41d7e54d47a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db7e705d3e41f5" /><Relationship Type="http://schemas.openxmlformats.org/officeDocument/2006/relationships/notesMaster" Target="/ppt/notesMasters/notesMaster1.xml" Id="R7f2693abce8947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ccf0cfd66bd421e" /><Relationship Type="http://schemas.openxmlformats.org/officeDocument/2006/relationships/notesMaster" Target="/ppt/notesMasters/notesMaster1.xml" Id="Re26e60d299f84b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1f3c1e9fa24cb9" /><Relationship Type="http://schemas.openxmlformats.org/officeDocument/2006/relationships/notesMaster" Target="/ppt/notesMasters/notesMaster1.xml" Id="R7b08819bf9ad4f5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28ae30692b4876" /><Relationship Type="http://schemas.openxmlformats.org/officeDocument/2006/relationships/notesMaster" Target="/ppt/notesMasters/notesMaster1.xml" Id="R29cb99713eaa46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8c71d27b5d24579" /><Relationship Type="http://schemas.openxmlformats.org/officeDocument/2006/relationships/notesMaster" Target="/ppt/notesMasters/notesMaster1.xml" Id="Rff3c1af458a045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vergelijk je bij opgave 34?</a:t>
            </a:r>
          </a:p>
          <a:p xmlns:a="http://schemas.openxmlformats.org/drawingml/2006/main">
            <a:r>
              <a:rPr sz="1400"/>
              <a:t/>
            </a:r>
          </a:p>
          <a:p xmlns:a="http://schemas.openxmlformats.org/drawingml/2006/main">
            <a:r>
              <a:rPr sz="1400"/>
              <a:t>Uitleg: Laat het overzicht staan tijdens startopdracht. Start met de eerste echte opgave: 34 op p.39. De complete gemengde set 34,35,36,37,38 is huiswerk: maken en nakijken, ook de extra gemengde oefening 37–38. In het boek bestaan geen begeleide basisopgaven voor deze gemengde paragraaf. Werk van 34–35 naar doel 36, daarna 37–38. Bespreek 36 omdat deze keuze, grafiek, index en brongebonden advies combineert. Bronnen van 36 staan op p.40, alle vragen op p.41. Opgave 34 haalt eerder onderwezen handelingen op: per eenheid p.13, verandering p.14 en index p.16. Een gemaakte startopgave bewijst nog geen duurzame beheersing. Neem twijfel mee naar de korte herhaling. De volledige set hoeft niet binnen één les af te zijn.</a:t>
            </a:r>
          </a:p>
          <a:p xmlns:a="http://schemas.openxmlformats.org/drawingml/2006/main">
            <a:r>
              <a:rPr sz="1400"/>
              <a:t/>
            </a:r>
          </a:p>
          <a:p xmlns:a="http://schemas.openxmlformats.org/drawingml/2006/main">
            <a:r>
              <a:rPr sz="1400"/>
              <a:t>Misvatting: Een totaalbedrag en een prijs per beker kunnen verschillend veranderen.</a:t>
            </a:r>
          </a:p>
          <a:p xmlns:a="http://schemas.openxmlformats.org/drawingml/2006/main">
            <a:r>
              <a:rPr sz="1400"/>
              <a:t/>
            </a:r>
          </a:p>
          <a:p xmlns:a="http://schemas.openxmlformats.org/drawingml/2006/main">
            <a:r>
              <a:rPr sz="1400"/>
              <a:t>Overgang: Volg de volgende lesfase en laat leerlingen hun eerdere aanpak bijstellen.</a:t>
            </a:r>
          </a:p>
          <a:p xmlns:a="http://schemas.openxmlformats.org/drawingml/2006/main">
            <a:r>
              <a:rPr sz="1400"/>
              <a:t/>
            </a:r>
          </a:p>
          <a:p xmlns:a="http://schemas.openxmlformats.org/drawingml/2006/main">
            <a:r>
              <a:rPr sz="1400"/>
              <a:t>Bron: Boek 1, tweede editie 2026, gedrukte boekpagina 39–42.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noemer hoort bij een prijsverandering?</a:t>
            </a:r>
          </a:p>
          <a:p xmlns:a="http://schemas.openxmlformats.org/drawingml/2006/main">
            <a:r>
              <a:rPr sz="1400"/>
              <a:t/>
            </a:r>
          </a:p>
          <a:p xmlns:a="http://schemas.openxmlformats.org/drawingml/2006/main">
            <a:r>
              <a:rPr sz="1400"/>
              <a:t>Uitleg: Dit is een korte herhaling, geen nieuwe theorie. Koppel de aanpak aan de lesdoelen: een bron kiezen, eerdere methoden combineren en een conclusie onderbouwen. Vraag bij een keuze naar middel, doel en het beste haalbare alternatief (p.6–8). Bij de start: eerst totaal/aantal, daarna dezelfde prijzen per beker vergelijken, met de oude prijs als basis (p.13–16). Voor een prijs–hoeveelheidsgrafiek: Q horizontaal, P verticaal, punten (Q;P), gelijke stappen en alleen de gegeven rechte lijnstukken (p.24–26). Voor 37: eerst invullen of beide zijden bewerken, daarna terug invullen en domein controleren (p.27). Een hoogte is bovenkant min onderkant; rechthoek b×h, driehoek ½b×h, m×m geeft m² (p.28). Tijdvolgorde alleen bewijst geen oorzaak (p.29). Vraag een korte mondelinge herinnering en geef zo nodig het paginanummer voor herstel. Werk geen toegewezen opgave voor.</a:t>
            </a:r>
          </a:p>
          <a:p xmlns:a="http://schemas.openxmlformats.org/drawingml/2006/main">
            <a:r>
              <a:rPr sz="1400"/>
              <a:t/>
            </a:r>
          </a:p>
          <a:p xmlns:a="http://schemas.openxmlformats.org/drawingml/2006/main">
            <a:r>
              <a:rPr sz="1400"/>
              <a:t>Misvatting: Een eerder gemaakte opgave is geen bewijs dat iedereen de handeling beheerst.</a:t>
            </a:r>
          </a:p>
          <a:p xmlns:a="http://schemas.openxmlformats.org/drawingml/2006/main">
            <a:r>
              <a:rPr sz="1400"/>
              <a:t/>
            </a:r>
          </a:p>
          <a:p xmlns:a="http://schemas.openxmlformats.org/drawingml/2006/main">
            <a:r>
              <a:rPr sz="1400"/>
              <a:t>Overgang: Gebruik een nieuw voorbeeld om bronkeuze te oefenen.</a:t>
            </a:r>
          </a:p>
          <a:p xmlns:a="http://schemas.openxmlformats.org/drawingml/2006/main">
            <a:r>
              <a:rPr sz="1400"/>
              <a:t/>
            </a:r>
          </a:p>
          <a:p xmlns:a="http://schemas.openxmlformats.org/drawingml/2006/main">
            <a:r>
              <a:rPr sz="1400"/>
              <a:t>Bron: Boek 1, tweede editie 2026, gedrukte boekpagina 6–8, 13–16, 24–29, 38.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gaat over jaren, en welke over een prijskeuze voor één avond?</a:t>
            </a:r>
          </a:p>
          <a:p xmlns:a="http://schemas.openxmlformats.org/drawingml/2006/main">
            <a:r>
              <a:rPr sz="1400"/>
              <a:t/>
            </a:r>
          </a:p>
          <a:p xmlns:a="http://schemas.openxmlformats.org/drawingml/2006/main">
            <a:r>
              <a:rPr sz="1400"/>
              <a:t>Uitleg: Eigen uitlegvoorbeeld met geconstrueerde theaterdata, niet uit een boekopgave. Bron A beschrijft prijzen in verschillende jaren. Bron B modelleert één avond bij verschillende prijzen. De gelijke bedragen 10 en 11 maken bronnen niet uitwisselbaar. Laat eerst de juiste bron kiezen. De index van het basisjaar is 100. De volgende twee dia’s bespreken uitsluitend deze eigen data.</a:t>
            </a:r>
          </a:p>
          <a:p xmlns:a="http://schemas.openxmlformats.org/drawingml/2006/main">
            <a:r>
              <a:rPr sz="1400"/>
              <a:t/>
            </a:r>
          </a:p>
          <a:p xmlns:a="http://schemas.openxmlformats.org/drawingml/2006/main">
            <a:r>
              <a:rPr sz="1400"/>
              <a:t>Misvatting: Maak van de jaarprijzen geen model voor bezoekers.</a:t>
            </a:r>
          </a:p>
          <a:p xmlns:a="http://schemas.openxmlformats.org/drawingml/2006/main">
            <a:r>
              <a:rPr sz="1400"/>
              <a:t/>
            </a:r>
          </a:p>
          <a:p xmlns:a="http://schemas.openxmlformats.org/drawingml/2006/main">
            <a:r>
              <a:rPr sz="1400"/>
              <a:t>Overgang: Werk eerst de jaarvergelijking uit.</a:t>
            </a:r>
          </a:p>
          <a:p xmlns:a="http://schemas.openxmlformats.org/drawingml/2006/main">
            <a:r>
              <a:rPr sz="1400"/>
              <a:t/>
            </a:r>
          </a:p>
          <a:p xmlns:a="http://schemas.openxmlformats.org/drawingml/2006/main">
            <a:r>
              <a:rPr sz="1400"/>
              <a:t>Bron: Boek 1, tweede editie 2026, gedrukte boekpagina 16, 26, 38.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De genoemde boekpagina’s onderbouwen alleen de methoden. Context en data zijn voor deze les geschreven.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voor deze groei niet door de index van het basisjaar?</a:t>
            </a:r>
          </a:p>
          <a:p xmlns:a="http://schemas.openxmlformats.org/drawingml/2006/main">
            <a:r>
              <a:rPr sz="1400"/>
              <a:t/>
            </a:r>
          </a:p>
          <a:p xmlns:a="http://schemas.openxmlformats.org/drawingml/2006/main">
            <a:r>
              <a:rPr sz="1400"/>
              <a:t>Uitleg: Eigen voorbeeld. Selecteer bron A. Jaar 2: 11/10×100=110, jaar 3: 12,10/10×100=121. Het verschil is 11 indexpunten. Voor groei van jaar 2 naar 3 is jaar 2 de oude waarde: (121−110)/110×100%=10%. Controleer rechtstreeks met de prijzen: het verschil van 1,10 is 10% van 11. Bij de index staat geen euroteken.</a:t>
            </a:r>
          </a:p>
          <a:p xmlns:a="http://schemas.openxmlformats.org/drawingml/2006/main">
            <a:r>
              <a:rPr sz="1400"/>
              <a:t/>
            </a:r>
          </a:p>
          <a:p xmlns:a="http://schemas.openxmlformats.org/drawingml/2006/main">
            <a:r>
              <a:rPr sz="1400"/>
              <a:t>Misvatting: Een verschil in indexpunten is alleen numeriek gelijk aan procentuele groei als de oude index 100 is.</a:t>
            </a:r>
          </a:p>
          <a:p xmlns:a="http://schemas.openxmlformats.org/drawingml/2006/main">
            <a:r>
              <a:rPr sz="1400"/>
              <a:t/>
            </a:r>
          </a:p>
          <a:p xmlns:a="http://schemas.openxmlformats.org/drawingml/2006/main">
            <a:r>
              <a:rPr sz="1400"/>
              <a:t>Overgang: Gebruik bron B voor de andere vraag.</a:t>
            </a:r>
          </a:p>
          <a:p xmlns:a="http://schemas.openxmlformats.org/drawingml/2006/main">
            <a:r>
              <a:rPr sz="1400"/>
              <a:t/>
            </a:r>
          </a:p>
          <a:p xmlns:a="http://schemas.openxmlformats.org/drawingml/2006/main">
            <a:r>
              <a:rPr sz="1400"/>
              <a:t>Bron: Boek 1, tweede editie 2026, gedrukte boekpagina 14, 16, 38.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Uitlegvoorbeeld — niet uit het boek. De boekpagina’s zijn methodebronnen.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 maakt halverwege rekenen hier mogelijk?</a:t>
            </a:r>
          </a:p>
          <a:p xmlns:a="http://schemas.openxmlformats.org/drawingml/2006/main">
            <a:r>
              <a:rPr sz="1400"/>
              <a:t/>
            </a:r>
          </a:p>
          <a:p xmlns:a="http://schemas.openxmlformats.org/drawingml/2006/main">
            <a:r>
              <a:rPr sz="1400"/>
              <a:t>Uitleg: Eigen voorbeeld. Selecteer bron B. De prijsstap is 1 van 2 euro, dus de helft. De volledige daling van het aantal is 20, dus neem de helft van 20: 90−10=80 bezoekers per avond. Controleer dat 80 tussen 90 en 70 ligt. Bij een prijs–hoeveelheidsgrafiek wordt dit punt (80;11). De rechte lijn en gelijkblijvende omstandigheden zijn aannames. Een modeluitkomst garandeert geen echt aantal. Haal desgewenst het verschil tussen voorspellen en causaliteit op: meer bezoekers na een actie bewijst zonder meer informatie niet het effect van die actie.</a:t>
            </a:r>
          </a:p>
          <a:p xmlns:a="http://schemas.openxmlformats.org/drawingml/2006/main">
            <a:r>
              <a:rPr sz="1400"/>
              <a:t/>
            </a:r>
          </a:p>
          <a:p xmlns:a="http://schemas.openxmlformats.org/drawingml/2006/main">
            <a:r>
              <a:rPr sz="1400"/>
              <a:t>Misvatting: De jaarprijs uit bron A verklaart geen bezoekers in bron B.</a:t>
            </a:r>
          </a:p>
          <a:p xmlns:a="http://schemas.openxmlformats.org/drawingml/2006/main">
            <a:r>
              <a:rPr sz="1400"/>
              <a:t/>
            </a:r>
          </a:p>
          <a:p xmlns:a="http://schemas.openxmlformats.org/drawingml/2006/main">
            <a:r>
              <a:rPr sz="1400"/>
              <a:t>Overgang: Laat leerlingen teruggaan naar hun eigen gemengde werk.</a:t>
            </a:r>
          </a:p>
          <a:p xmlns:a="http://schemas.openxmlformats.org/drawingml/2006/main">
            <a:r>
              <a:rPr sz="1400"/>
              <a:t/>
            </a:r>
          </a:p>
          <a:p xmlns:a="http://schemas.openxmlformats.org/drawingml/2006/main">
            <a:r>
              <a:rPr sz="1400"/>
              <a:t>Bron: Boek 1, tweede editie 2026, gedrukte boekpagina 26, 29, 38.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Uitlegvoorbeeld — niet uit het boek. De boekpagina’s onderbouwen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vraagt nog uitleg?</a:t>
            </a:r>
          </a:p>
          <a:p xmlns:a="http://schemas.openxmlformats.org/drawingml/2006/main">
            <a:r>
              <a:rPr sz="1400"/>
              <a:t/>
            </a:r>
          </a:p>
          <a:p xmlns:a="http://schemas.openxmlformats.org/drawingml/2006/main">
            <a:r>
              <a:rPr sz="1400"/>
              <a:t>Uitleg: Laat het overzicht staan tijdens gemengde opgaven. Start met de eerste echte opgave: 34 op p.39. De complete gemengde set 34,35,36,37,38 is huiswerk: maken en nakijken, ook de extra gemengde oefening 37–38. In het boek bestaan geen begeleide basisopgaven voor deze gemengde paragraaf. Werk van 34–35 naar doel 36, daarna 37–38. Bespreek 36 omdat deze keuze, grafiek, index en brongebonden advies combineert. Bronnen van 36 staan op p.40, alle vragen op p.41. Opgave 34 haalt eerder onderwezen handelingen op: per eenheid p.13, verandering p.14 en index p.16. Een gemaakte startopgave bewijst nog geen duurzame beheersing. Neem twijfel mee naar de korte herhaling. De volledige set hoeft niet binnen één les af te zijn.</a:t>
            </a:r>
          </a:p>
          <a:p xmlns:a="http://schemas.openxmlformats.org/drawingml/2006/main">
            <a:r>
              <a:rPr sz="1400"/>
              <a:t/>
            </a:r>
          </a:p>
          <a:p xmlns:a="http://schemas.openxmlformats.org/drawingml/2006/main">
            <a:r>
              <a:rPr sz="1400"/>
              <a:t>Misvatting: Een totaalbedrag en een prijs per beker kunnen verschillend veranderen.</a:t>
            </a:r>
          </a:p>
          <a:p xmlns:a="http://schemas.openxmlformats.org/drawingml/2006/main">
            <a:r>
              <a:rPr sz="1400"/>
              <a:t/>
            </a:r>
          </a:p>
          <a:p xmlns:a="http://schemas.openxmlformats.org/drawingml/2006/main">
            <a:r>
              <a:rPr sz="1400"/>
              <a:t>Overgang: Volg de volgende lesfase en laat leerlingen hun eerdere aanpak bijstellen.</a:t>
            </a:r>
          </a:p>
          <a:p xmlns:a="http://schemas.openxmlformats.org/drawingml/2006/main">
            <a:r>
              <a:rPr sz="1400"/>
              <a:t/>
            </a:r>
          </a:p>
          <a:p xmlns:a="http://schemas.openxmlformats.org/drawingml/2006/main">
            <a:r>
              <a:rPr sz="1400"/>
              <a:t>Bron: Boek 1, tweede editie 2026, gedrukte boekpagina 39–42.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beperking geldt voor de middag?</a:t>
            </a:r>
          </a:p>
          <a:p xmlns:a="http://schemas.openxmlformats.org/drawingml/2006/main">
            <a:r>
              <a:rPr sz="1400"/>
              <a:t/>
            </a:r>
          </a:p>
          <a:p xmlns:a="http://schemas.openxmlformats.org/drawingml/2006/main">
            <a:r>
              <a:rPr sz="1400"/>
              <a:t>Uitleg: Presenteer eerst de volledige opgave, nog zonder antwoorden. Dit is bron A. Beide plannen zijn uitvoerbaar en gebruiken de volledige twee beschikbare uren. De bedragen zijn al na alle uitgaven. De middag en avond zijn losse plannen. Alle bronnen zijn geconstrueerde gegevens voor deze opgave.</a:t>
            </a:r>
          </a:p>
          <a:p xmlns:a="http://schemas.openxmlformats.org/drawingml/2006/main">
            <a:r>
              <a:rPr sz="1400"/>
              <a:t/>
            </a:r>
          </a:p>
          <a:p xmlns:a="http://schemas.openxmlformats.org/drawingml/2006/main">
            <a:r>
              <a:rPr sz="1400"/>
              <a:t>Misvatting: Een bedrag per uur is nog geen totaal.</a:t>
            </a:r>
          </a:p>
          <a:p xmlns:a="http://schemas.openxmlformats.org/drawingml/2006/main">
            <a:r>
              <a:rPr sz="1400"/>
              <a:t/>
            </a:r>
          </a:p>
          <a:p xmlns:a="http://schemas.openxmlformats.org/drawingml/2006/main">
            <a:r>
              <a:rPr sz="1400"/>
              <a:t>Overgang: Bekijk eerst de vragen a en b.</a:t>
            </a:r>
          </a:p>
          <a:p xmlns:a="http://schemas.openxmlformats.org/drawingml/2006/main">
            <a:r>
              <a:rPr sz="1400"/>
              <a:t/>
            </a:r>
          </a:p>
          <a:p xmlns:a="http://schemas.openxmlformats.org/drawingml/2006/main">
            <a:r>
              <a:rPr sz="1400"/>
              <a:t>Bron: Boek 1, tweede editie 2026, gedrukte boekpagina 40.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onderdelen vraagt a, behalve een keuze?</a:t>
            </a:r>
          </a:p>
          <a:p xmlns:a="http://schemas.openxmlformats.org/drawingml/2006/main">
            <a:r>
              <a:rPr sz="1400"/>
              <a:t/>
            </a:r>
          </a:p>
          <a:p xmlns:a="http://schemas.openxmlformats.org/drawingml/2006/main">
            <a:r>
              <a:rPr sz="1400"/>
              <a:t>Uitleg: Toon de volledige algemene rekeninstructie en de beide deelvragen uit het boek. De vorige dia bevat bron A. Beide vragen vragen om een berekening én uitleg. Geef nu nog geen oplossing: alle bronnen en vragen gaan vooraf aan de antwoorddia’s.</a:t>
            </a:r>
          </a:p>
          <a:p xmlns:a="http://schemas.openxmlformats.org/drawingml/2006/main">
            <a:r>
              <a:rPr sz="1400"/>
              <a:t/>
            </a:r>
          </a:p>
          <a:p xmlns:a="http://schemas.openxmlformats.org/drawingml/2006/main">
            <a:r>
              <a:rPr sz="1400"/>
              <a:t>Misvatting: Alleen het gekozen plan noemen is niet voldoende.</a:t>
            </a:r>
          </a:p>
          <a:p xmlns:a="http://schemas.openxmlformats.org/drawingml/2006/main">
            <a:r>
              <a:rPr sz="1400"/>
              <a:t/>
            </a:r>
          </a:p>
          <a:p xmlns:a="http://schemas.openxmlformats.org/drawingml/2006/main">
            <a:r>
              <a:rPr sz="1400"/>
              <a:t>Overgang: Bekijk bron B voordat we antwoorden onthullen.</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binnen deze bron, en wat houden we gelijk?</a:t>
            </a:r>
          </a:p>
          <a:p xmlns:a="http://schemas.openxmlformats.org/drawingml/2006/main">
            <a:r>
              <a:rPr sz="1400"/>
              <a:t/>
            </a:r>
          </a:p>
          <a:p xmlns:a="http://schemas.openxmlformats.org/drawingml/2006/main">
            <a:r>
              <a:rPr sz="1400"/>
              <a:t>Uitleg: Lees bron B met alle voorwaarden. Het gaat om één aparte avond en verschillende mogelijke prijzen. De getallen zijn modelvoorspellingen, geen geobserveerde tijdreeks. Het model geldt tussen de gegeven punten. Noem de voldoende zaalcapaciteit en het bezoekersdoel van 130. Nog geen oplossing op deze dia.</a:t>
            </a:r>
          </a:p>
          <a:p xmlns:a="http://schemas.openxmlformats.org/drawingml/2006/main">
            <a:r>
              <a:rPr sz="1400"/>
              <a:t/>
            </a:r>
          </a:p>
          <a:p xmlns:a="http://schemas.openxmlformats.org/drawingml/2006/main">
            <a:r>
              <a:rPr sz="1400"/>
              <a:t>Misvatting: Behandel de drie prijzen niet als drie achtereenvolgende jaren.</a:t>
            </a:r>
          </a:p>
          <a:p xmlns:a="http://schemas.openxmlformats.org/drawingml/2006/main">
            <a:r>
              <a:rPr sz="1400"/>
              <a:t/>
            </a:r>
          </a:p>
          <a:p xmlns:a="http://schemas.openxmlformats.org/drawingml/2006/main">
            <a:r>
              <a:rPr sz="1400"/>
              <a:t>Overgang: Bekijk de vragen bij bron B.</a:t>
            </a:r>
          </a:p>
          <a:p xmlns:a="http://schemas.openxmlformats.org/drawingml/2006/main">
            <a:r>
              <a:rPr sz="1400"/>
              <a:t/>
            </a:r>
          </a:p>
          <a:p xmlns:a="http://schemas.openxmlformats.org/drawingml/2006/main">
            <a:r>
              <a:rPr sz="1400"/>
              <a:t>Bron: Boek 1, tweede editie 2026, gedrukte boekpagina 40.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delen van je eigen uitwerking heb je nodig voor het advies?</a:t>
            </a:r>
          </a:p>
          <a:p xmlns:a="http://schemas.openxmlformats.org/drawingml/2006/main">
            <a:r>
              <a:rPr sz="1400"/>
              <a:t/>
            </a:r>
          </a:p>
          <a:p xmlns:a="http://schemas.openxmlformats.org/drawingml/2006/main">
            <a:r>
              <a:rPr sz="1400"/>
              <a:t>Uitleg: Alle handelingen uit c, d en g staan op de dia. Verwijs terug naar de volledige bron B op de vorige dia. Instructie: geef gebruikte waarden en eenheden. Vraag g staat hier naast c en d omdat zij dezelfde bron gebruikt; e en f komen hierna, nog steeds vóór elke oplossing.</a:t>
            </a:r>
          </a:p>
          <a:p xmlns:a="http://schemas.openxmlformats.org/drawingml/2006/main">
            <a:r>
              <a:rPr sz="1400"/>
              <a:t/>
            </a:r>
          </a:p>
          <a:p xmlns:a="http://schemas.openxmlformats.org/drawingml/2006/main">
            <a:r>
              <a:rPr sz="1400"/>
              <a:t>Misvatting: Een advies zonder vergelijking met het doel of zonder modelbeperking beantwoordt g niet volledig.</a:t>
            </a:r>
          </a:p>
          <a:p xmlns:a="http://schemas.openxmlformats.org/drawingml/2006/main">
            <a:r>
              <a:rPr sz="1400"/>
              <a:t/>
            </a:r>
          </a:p>
          <a:p xmlns:a="http://schemas.openxmlformats.org/drawingml/2006/main">
            <a:r>
              <a:rPr sz="1400"/>
              <a:t>Overgang: Bekijk als laatste bron C met e en f.</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oude waarde hoort bij de verandering van jaar 2 naar jaar 3?</a:t>
            </a:r>
          </a:p>
          <a:p xmlns:a="http://schemas.openxmlformats.org/drawingml/2006/main">
            <a:r>
              <a:rPr sz="1400"/>
              <a:t/>
            </a:r>
          </a:p>
          <a:p xmlns:a="http://schemas.openxmlformats.org/drawingml/2006/main">
            <a:r>
              <a:rPr sz="1400"/>
              <a:t>Uitleg: Dit is de volledige bron C: dezelfde jaarlijkse voorstelling, prijs 4, 4,80 en 6 euro, basisjaar index 100, en de onjuiste claim. Alle zeven deelvragen zijn nu beschikbaar, zonder oplossingen. Laat leerlingen even hun eigen antwoorden en gebruikte bronnen klaarleggen. Bewaak de scheiding met de avondkeuze uit B.</a:t>
            </a:r>
          </a:p>
          <a:p xmlns:a="http://schemas.openxmlformats.org/drawingml/2006/main">
            <a:r>
              <a:rPr sz="1400"/>
              <a:t/>
            </a:r>
          </a:p>
          <a:p xmlns:a="http://schemas.openxmlformats.org/drawingml/2006/main">
            <a:r>
              <a:rPr sz="1400"/>
              <a:t>Misvatting: Een stijging in punten is niet vanzelf dezelfde procentuele stijging.</a:t>
            </a:r>
          </a:p>
          <a:p xmlns:a="http://schemas.openxmlformats.org/drawingml/2006/main">
            <a:r>
              <a:rPr sz="1400"/>
              <a:t/>
            </a:r>
          </a:p>
          <a:p xmlns:a="http://schemas.openxmlformats.org/drawingml/2006/main">
            <a:r>
              <a:rPr sz="1400"/>
              <a:t>Overgang: Start de bespreking met a, nadat alle vragen zichtbaar zijn geweest.</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criterium bepaalt hier de keuze?</a:t>
            </a:r>
          </a:p>
          <a:p xmlns:a="http://schemas.openxmlformats.org/drawingml/2006/main">
            <a:r>
              <a:rPr sz="1400"/>
              <a:t/>
            </a:r>
          </a:p>
          <a:p xmlns:a="http://schemas.openxmlformats.org/drawingml/2006/main">
            <a:r>
              <a:rPr sz="1400"/>
              <a:t>Uitleg: a: Het beperkte middel is de aula gedurende die twee uur. Beide plannen vragen het hele tijdvak en kunnen niet worden gecombineerd. Daarom moet de school kiezen. Bereken beide totalen expliciet met uur maal euro per uur: 120 en 150 euro voor het goede doel. Kies cultuuratelier omdat het doel het hoogste bedrag is. Er hoeven geen kosten meer af: de bron geeft bedragen na alle uitgaven. Controle: 150&gt;120 en beide opties duren twee uur.</a:t>
            </a:r>
          </a:p>
          <a:p xmlns:a="http://schemas.openxmlformats.org/drawingml/2006/main">
            <a:r>
              <a:rPr sz="1400"/>
              <a:t/>
            </a:r>
          </a:p>
          <a:p xmlns:a="http://schemas.openxmlformats.org/drawingml/2006/main">
            <a:r>
              <a:rPr sz="1400"/>
              <a:t>Misvatting: De grootste prijs of omzet is geen algemeen keuzecriterium. Het gegeven doel en netto bedragen bepalen deze keuze.</a:t>
            </a:r>
          </a:p>
          <a:p xmlns:a="http://schemas.openxmlformats.org/drawingml/2006/main">
            <a:r>
              <a:rPr sz="1400"/>
              <a:t/>
            </a:r>
          </a:p>
          <a:p xmlns:a="http://schemas.openxmlformats.org/drawingml/2006/main">
            <a:r>
              <a:rPr sz="1400"/>
              <a:t>Overgang: Bespreek wat de school door deze keuze opgeeft.</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volledig plan laat de school liggen?</a:t>
            </a:r>
          </a:p>
          <a:p xmlns:a="http://schemas.openxmlformats.org/drawingml/2006/main">
            <a:r>
              <a:rPr sz="1400"/>
              <a:t/>
            </a:r>
          </a:p>
          <a:p xmlns:a="http://schemas.openxmlformats.org/drawingml/2006/main">
            <a:r>
              <a:rPr sz="1400"/>
              <a:t>Uitleg: b: De school mist 120 euro van de boekenruil. Dat is de waarde van het beste haalbare opgegeven alternatief. De 30 euro is het voordeel van cultuuratelier ten opzichte van boekenruil. Het zijn verschillende grootheden en antwoorden op verschillende vragen. Alternatieve kosten worden hier aan niemand betaald.</a:t>
            </a:r>
          </a:p>
          <a:p xmlns:a="http://schemas.openxmlformats.org/drawingml/2006/main">
            <a:r>
              <a:rPr sz="1400"/>
              <a:t/>
            </a:r>
          </a:p>
          <a:p xmlns:a="http://schemas.openxmlformats.org/drawingml/2006/main">
            <a:r>
              <a:rPr sz="1400"/>
              <a:t>Misvatting: Noem niet 30 euro als alternatieve kosten en tel de uitkomsten niet bij elkaar op.</a:t>
            </a:r>
          </a:p>
          <a:p xmlns:a="http://schemas.openxmlformats.org/drawingml/2006/main">
            <a:r>
              <a:rPr sz="1400"/>
              <a:t/>
            </a:r>
          </a:p>
          <a:p xmlns:a="http://schemas.openxmlformats.org/drawingml/2006/main">
            <a:r>
              <a:rPr sz="1400"/>
              <a:t>Overgang: Zet nu de aparte bron B om in een grafiek.</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in het coördinatenpaar hoort bij de horizontale as?</a:t>
            </a:r>
          </a:p>
          <a:p xmlns:a="http://schemas.openxmlformats.org/drawingml/2006/main">
            <a:r>
              <a:rPr sz="1400"/>
              <a:t/>
            </a:r>
          </a:p>
          <a:p xmlns:a="http://schemas.openxmlformats.org/drawingml/2006/main">
            <a:r>
              <a:rPr sz="1400"/>
              <a:t>Uitleg: c: Kies Q horizontaal in bezoekers per avond, P verticaal in euro per bezoeker. Schaal Q van 0 tot 200 met stap 20 en P van 0 tot 10 met stap 2. Schrijf elk tabelpaar in de juiste volgorde: (180;4),(140;6),(100;8). De grafiek toont alleen punten; de verbinding volgt hierna. Andere nette, correcte schalen zijn mogelijk.</a:t>
            </a:r>
          </a:p>
          <a:p xmlns:a="http://schemas.openxmlformats.org/drawingml/2006/main">
            <a:r>
              <a:rPr sz="1400"/>
              <a:t/>
            </a:r>
          </a:p>
          <a:p xmlns:a="http://schemas.openxmlformats.org/drawingml/2006/main">
            <a:r>
              <a:rPr sz="1400"/>
              <a:t>Misvatting: Wissel Q en P niet om en gebruik geen jaartallen uit bron C.</a:t>
            </a:r>
          </a:p>
          <a:p xmlns:a="http://schemas.openxmlformats.org/drawingml/2006/main">
            <a:r>
              <a:rPr sz="1400"/>
              <a:t/>
            </a:r>
          </a:p>
          <a:p xmlns:a="http://schemas.openxmlformats.org/drawingml/2006/main">
            <a:r>
              <a:rPr sz="1400"/>
              <a:t>Overgang: Verbind nu de punten.</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in het coördinatenpaar hoort bij de horizontale as?</a:t>
            </a:r>
          </a:p>
          <a:p xmlns:a="http://schemas.openxmlformats.org/drawingml/2006/main">
            <a:r>
              <a:rPr sz="1400"/>
              <a:t/>
            </a:r>
          </a:p>
          <a:p xmlns:a="http://schemas.openxmlformats.org/drawingml/2006/main">
            <a:r>
              <a:rPr sz="1400"/>
              <a:t>Uitleg: c: Verbind de drie tabelpunten met rechte lijnstukken volgens de gegeven modelaanname. De lijn loopt alleen van (100;8) tot (180;4); trek hem niet naar de assen of buiten de brondata. Controleer minstens twee punten tegen bron B. De schaal is dezelfde als op de vorige dia.</a:t>
            </a:r>
          </a:p>
          <a:p xmlns:a="http://schemas.openxmlformats.org/drawingml/2006/main">
            <a:r>
              <a:rPr sz="1400"/>
              <a:t/>
            </a:r>
          </a:p>
          <a:p xmlns:a="http://schemas.openxmlformats.org/drawingml/2006/main">
            <a:r>
              <a:rPr sz="1400"/>
              <a:t>Misvatting: Wissel Q en P niet om en gebruik geen jaartallen uit bron C.</a:t>
            </a:r>
          </a:p>
          <a:p xmlns:a="http://schemas.openxmlformats.org/drawingml/2006/main">
            <a:r>
              <a:rPr sz="1400"/>
              <a:t/>
            </a:r>
          </a:p>
          <a:p xmlns:a="http://schemas.openxmlformats.org/drawingml/2006/main">
            <a:r>
              <a:rPr sz="1400"/>
              <a:t>Overgang: Lees en bereken de tussenwaarde bij zeven euro.</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van het prijsinterval gebruik je?</a:t>
            </a:r>
          </a:p>
          <a:p xmlns:a="http://schemas.openxmlformats.org/drawingml/2006/main">
            <a:r>
              <a:rPr sz="1400"/>
              <a:t/>
            </a:r>
          </a:p>
          <a:p xmlns:a="http://schemas.openxmlformats.org/drawingml/2006/main">
            <a:r>
              <a:rPr sz="1400"/>
              <a:t>Uitleg: d: Het prijsverschil tussen 6 en 8 is 2 euro. 7−6=1 euro is de helft. Over het hele interval daalt Q van 140 naar 100: 40 bezoekers. De helft daarvan is 20. Q=140−20=120 bezoekers per avond. De guides eindigen op (120;7). Controle: 120 ligt halverwege 100 en 140. Dit volgt uit de rechte-lijnaanname en gelijkblijvende omstandigheden.</a:t>
            </a:r>
          </a:p>
          <a:p xmlns:a="http://schemas.openxmlformats.org/drawingml/2006/main">
            <a:r>
              <a:rPr sz="1400"/>
              <a:t/>
            </a:r>
          </a:p>
          <a:p xmlns:a="http://schemas.openxmlformats.org/drawingml/2006/main">
            <a:r>
              <a:rPr sz="1400"/>
              <a:t>Misvatting: De tussenwaarde is een modelverwachting, geen gemeten bezoekersaantal.</a:t>
            </a:r>
          </a:p>
          <a:p xmlns:a="http://schemas.openxmlformats.org/drawingml/2006/main">
            <a:r>
              <a:rPr sz="1400"/>
              <a:t/>
            </a:r>
          </a:p>
          <a:p xmlns:a="http://schemas.openxmlformats.org/drawingml/2006/main">
            <a:r>
              <a:rPr sz="1400"/>
              <a:t>Overgang: Bereken daarna de indexcijfers uit de afzonderlijke bron C.</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noemer blijft voor beide indexen hetzelfde?</a:t>
            </a:r>
          </a:p>
          <a:p xmlns:a="http://schemas.openxmlformats.org/drawingml/2006/main">
            <a:r>
              <a:rPr sz="1400"/>
              <a:t/>
            </a:r>
          </a:p>
          <a:p xmlns:a="http://schemas.openxmlformats.org/drawingml/2006/main">
            <a:r>
              <a:rPr sz="1400"/>
              <a:t>Uitleg: e, eerste stap: de basisprijs is 4 euro. Deel elke prijs door diezelfde 4 euro en vermenigvuldig met 100. De basisindex is 100, jaar 2 wordt 120 en jaar 3 wordt 150. Controleer de betekenis: 20% en 50% hoger dan de basisprijs. Bij indexcijfers staat geen euroteken. De procentuele verandering van jaar 2 naar 3 volgt op de volgende dia.</a:t>
            </a:r>
          </a:p>
          <a:p xmlns:a="http://schemas.openxmlformats.org/drawingml/2006/main">
            <a:r>
              <a:rPr sz="1400"/>
              <a:t/>
            </a:r>
          </a:p>
          <a:p xmlns:a="http://schemas.openxmlformats.org/drawingml/2006/main">
            <a:r>
              <a:rPr sz="1400"/>
              <a:t>Misvatting: De basis voor een index is iets anders dan de oude waarde voor een verandering tussen twee andere jaren.</a:t>
            </a:r>
          </a:p>
          <a:p xmlns:a="http://schemas.openxmlformats.org/drawingml/2006/main">
            <a:r>
              <a:rPr sz="1400"/>
              <a:t/>
            </a:r>
          </a:p>
          <a:p xmlns:a="http://schemas.openxmlformats.org/drawingml/2006/main">
            <a:r>
              <a:rPr sz="1400"/>
              <a:t>Overgang: Vergelijk nu jaar 3 met jaar 2.</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120 hier de vergelijkingsbasis?</a:t>
            </a:r>
          </a:p>
          <a:p xmlns:a="http://schemas.openxmlformats.org/drawingml/2006/main">
            <a:r>
              <a:rPr sz="1400"/>
              <a:t/>
            </a:r>
          </a:p>
          <a:p xmlns:a="http://schemas.openxmlformats.org/drawingml/2006/main">
            <a:r>
              <a:rPr sz="1400"/>
              <a:t>Uitleg: e, tweede stap: voor deze groei is jaar 2 oud. Het indexverschil 30 wordt daarom gedeeld door 120, niet door 100. 30/120×100%=25%. Controleer rechtstreeks met de bronprijzen: 1,20/4,80×100%=25%. Een prijs van 6 euro is dus 25% hoger dan 4,80. Gebruik dezelfde grootheid en eenheid in teller en noemer.</a:t>
            </a:r>
          </a:p>
          <a:p xmlns:a="http://schemas.openxmlformats.org/drawingml/2006/main">
            <a:r>
              <a:rPr sz="1400"/>
              <a:t/>
            </a:r>
          </a:p>
          <a:p xmlns:a="http://schemas.openxmlformats.org/drawingml/2006/main">
            <a:r>
              <a:rPr sz="1400"/>
              <a:t>Misvatting: Dertig indexpunten wordt niet automatisch dertig procent.</a:t>
            </a:r>
          </a:p>
          <a:p xmlns:a="http://schemas.openxmlformats.org/drawingml/2006/main">
            <a:r>
              <a:rPr sz="1400"/>
              <a:t/>
            </a:r>
          </a:p>
          <a:p xmlns:a="http://schemas.openxmlformats.org/drawingml/2006/main">
            <a:r>
              <a:rPr sz="1400"/>
              <a:t>Overgang: Formuleer het verbeterde bericht.</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Staan zowel de grootheid als het vergelijkingsjaar in je zin?</a:t>
            </a:r>
          </a:p>
          <a:p xmlns:a="http://schemas.openxmlformats.org/drawingml/2006/main">
            <a:r>
              <a:rPr sz="1400"/>
              <a:t/>
            </a:r>
          </a:p>
          <a:p xmlns:a="http://schemas.openxmlformats.org/drawingml/2006/main">
            <a:r>
              <a:rPr sz="1400"/>
              <a:t>Uitleg: f: Het eerste deel van het oorspronkelijke bericht geeft het puntenverschil, maar de gevolgtrekking van 30% is fout. De verbeterde zin behoudt 30 indexpunten en geeft 25% relatieve prijsstijging met jaar 2 als vergelijkingsjaar. Laat leerlingen de zin in hun eigen werk herstellen.</a:t>
            </a:r>
          </a:p>
          <a:p xmlns:a="http://schemas.openxmlformats.org/drawingml/2006/main">
            <a:r>
              <a:rPr sz="1400"/>
              <a:t/>
            </a:r>
          </a:p>
          <a:p xmlns:a="http://schemas.openxmlformats.org/drawingml/2006/main">
            <a:r>
              <a:rPr sz="1400"/>
              <a:t>Misvatting: Verwar indexpunten niet met procentpunten: hier vergelijken we indexcijfers, geen aandelen in procenten.</a:t>
            </a:r>
          </a:p>
          <a:p xmlns:a="http://schemas.openxmlformats.org/drawingml/2006/main">
            <a:r>
              <a:rPr sz="1400"/>
              <a:t/>
            </a:r>
          </a:p>
          <a:p xmlns:a="http://schemas.openxmlformats.org/drawingml/2006/main">
            <a:r>
              <a:rPr sz="1400"/>
              <a:t>Overgang: Keer voor het bezoekersadvies terug naar bron B.</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drie onderdelen maken dit advies onderbouwd?</a:t>
            </a:r>
          </a:p>
          <a:p xmlns:a="http://schemas.openxmlformats.org/drawingml/2006/main">
            <a:r>
              <a:rPr sz="1400"/>
              <a:t/>
            </a:r>
          </a:p>
          <a:p xmlns:a="http://schemas.openxmlformats.org/drawingml/2006/main">
            <a:r>
              <a:rPr sz="1400"/>
              <a:t>Uitleg: g: Gebruik bron B en de eigen uitkomst van d: 120 bezoekers per avond bij 7 euro. Dat is lager dan het doel van minstens 130. Adviseer het voorstel niet te kiezen als dit bezoekersdoel leidend is. Noem één concrete modelbeperking: andere omstandigheden moeten gelijk blijven, of de tussenwaarde volgt uit de rechte-lijnaanname. Het model garandeert geen werkelijke opkomst. Een optimale nieuwe prijs hoeft voor deze vraag niet te worden berekend.</a:t>
            </a:r>
          </a:p>
          <a:p xmlns:a="http://schemas.openxmlformats.org/drawingml/2006/main">
            <a:r>
              <a:rPr sz="1400"/>
              <a:t/>
            </a:r>
          </a:p>
          <a:p xmlns:a="http://schemas.openxmlformats.org/drawingml/2006/main">
            <a:r>
              <a:rPr sz="1400"/>
              <a:t>Misvatting: Gebruik de jaarindex uit C niet voor het bezoekersadvies.</a:t>
            </a:r>
          </a:p>
          <a:p xmlns:a="http://schemas.openxmlformats.org/drawingml/2006/main">
            <a:r>
              <a:rPr sz="1400"/>
              <a:t/>
            </a:r>
          </a:p>
          <a:p xmlns:a="http://schemas.openxmlformats.org/drawingml/2006/main">
            <a:r>
              <a:rPr sz="1400"/>
              <a:t>Overgang: Controleer of elk antwoord bij de juiste bron staat.</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of controle ontbrak nog in jouw antwoord?</a:t>
            </a:r>
          </a:p>
          <a:p xmlns:a="http://schemas.openxmlformats.org/drawingml/2006/main">
            <a:r>
              <a:rPr sz="1400"/>
              <a:t/>
            </a:r>
          </a:p>
          <a:p xmlns:a="http://schemas.openxmlformats.org/drawingml/2006/main">
            <a:r>
              <a:rPr sz="1400"/>
              <a:t>Uitleg: Loop a–g langs zonder nieuwe rekenstof toe te voegen. a: beperkte aula, twee uur, 120 en 150, cultuuratelier. b: 120 gemist alternatief tegenover 30 voordeel. c: juiste (Q;P)-paren en lijnstukken. d: 120 bezoekers. e: 120 en 150, 25% groei. f: 30 indexpunten en 25%. g: 120&lt;130, advies en een modelbeperking. Vraag leerlingen een concrete ontbrekende stap te verbeteren. Dit is een controle van hun eigen uitwerking, geen claim dat alle handelingen duurzaam beheerst zijn.</a:t>
            </a:r>
          </a:p>
          <a:p xmlns:a="http://schemas.openxmlformats.org/drawingml/2006/main">
            <a:r>
              <a:rPr sz="1400"/>
              <a:t/>
            </a:r>
          </a:p>
          <a:p xmlns:a="http://schemas.openxmlformats.org/drawingml/2006/main">
            <a:r>
              <a:rPr sz="1400"/>
              <a:t>Misvatting: Een juist eindgetal vervangt de gevraagde redenering of eenheid niet.</a:t>
            </a:r>
          </a:p>
          <a:p xmlns:a="http://schemas.openxmlformats.org/drawingml/2006/main">
            <a:r>
              <a:rPr sz="1400"/>
              <a:t/>
            </a:r>
          </a:p>
          <a:p xmlns:a="http://schemas.openxmlformats.org/drawingml/2006/main">
            <a:r>
              <a:rPr sz="1400"/>
              <a:t>Overgang: Sluit af met hetzelfde overzicht en het volledige huiswerk.</a:t>
            </a:r>
          </a:p>
          <a:p xmlns:a="http://schemas.openxmlformats.org/drawingml/2006/main">
            <a:r>
              <a:rPr sz="1400"/>
              <a:t/>
            </a:r>
          </a:p>
          <a:p xmlns:a="http://schemas.openxmlformats.org/drawingml/2006/main">
            <a:r>
              <a:rPr sz="1400"/>
              <a:t>Bron: Boek 1, tweede editie 2026, gedrukte boekpagina 40–41.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vraagt nog uitleg?</a:t>
            </a:r>
          </a:p>
          <a:p xmlns:a="http://schemas.openxmlformats.org/drawingml/2006/main">
            <a:r>
              <a:rPr sz="1400"/>
              <a:t/>
            </a:r>
          </a:p>
          <a:p xmlns:a="http://schemas.openxmlformats.org/drawingml/2006/main">
            <a:r>
              <a:rPr sz="1400"/>
              <a:t>Uitleg: Laat het overzicht staan tijdens afsluiting / huiswerk. Start met de eerste echte opgave: 34 op p.39. De complete gemengde set 34,35,36,37,38 is huiswerk: maken en nakijken, ook de extra gemengde oefening 37–38. In het boek bestaan geen begeleide basisopgaven voor deze gemengde paragraaf. Werk van 34–35 naar doel 36, daarna 37–38. Bespreek 36 omdat deze keuze, grafiek, index en brongebonden advies combineert. Bronnen van 36 staan op p.40, alle vragen op p.41. Opgave 34 haalt eerder onderwezen handelingen op: per eenheid p.13, verandering p.14 en index p.16. Een gemaakte startopgave bewijst nog geen duurzame beheersing. Neem twijfel mee naar de korte herhaling. De volledige set hoeft niet binnen één les af te zijn.</a:t>
            </a:r>
          </a:p>
          <a:p xmlns:a="http://schemas.openxmlformats.org/drawingml/2006/main">
            <a:r>
              <a:rPr sz="1400"/>
              <a:t/>
            </a:r>
          </a:p>
          <a:p xmlns:a="http://schemas.openxmlformats.org/drawingml/2006/main">
            <a:r>
              <a:rPr sz="1400"/>
              <a:t>Misvatting: Een totaalbedrag en een prijs per beker kunnen verschillend veranderen.</a:t>
            </a:r>
          </a:p>
          <a:p xmlns:a="http://schemas.openxmlformats.org/drawingml/2006/main">
            <a:r>
              <a:rPr sz="1400"/>
              <a:t/>
            </a:r>
          </a:p>
          <a:p xmlns:a="http://schemas.openxmlformats.org/drawingml/2006/main">
            <a:r>
              <a:rPr sz="1400"/>
              <a:t>Overgang: Laat alle vijf nummers en maken en nakijken in de agenda zetten.</a:t>
            </a:r>
          </a:p>
          <a:p xmlns:a="http://schemas.openxmlformats.org/drawingml/2006/main">
            <a:r>
              <a:rPr sz="1400"/>
              <a:t/>
            </a:r>
          </a:p>
          <a:p xmlns:a="http://schemas.openxmlformats.org/drawingml/2006/main">
            <a:r>
              <a:rPr sz="1400"/>
              <a:t>Bron: Boek 1, tweede editie 2026, gedrukte boekpagina 39–42.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fb1ac989ba4a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08adf380f24d41" /><Relationship Type="http://schemas.openxmlformats.org/officeDocument/2006/relationships/slideLayout" Target="/ppt/slideLayouts/slideLayout1.xml" Id="R4f190e6e27f042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190e6e27f042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2195916b0a461f" /><Relationship Type="http://schemas.openxmlformats.org/officeDocument/2006/relationships/notesSlide" Target="/ppt/notesSlides/notesSlide1.xml" Id="R357d974ff16943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a516ea4e9e4f83" /><Relationship Type="http://schemas.openxmlformats.org/officeDocument/2006/relationships/notesSlide" Target="/ppt/notesSlides/notesSlide2.xml" Id="R7757252ddbee43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c66709c1694c35" /><Relationship Type="http://schemas.openxmlformats.org/officeDocument/2006/relationships/notesSlide" Target="/ppt/notesSlides/notesSlide3.xml" Id="Rf0a63f6cae8b48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fa6246fe724eee" /><Relationship Type="http://schemas.openxmlformats.org/officeDocument/2006/relationships/notesSlide" Target="/ppt/notesSlides/notesSlide4.xml" Id="R358ada138a2b46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e1eb636c2c4d8c" /><Relationship Type="http://schemas.openxmlformats.org/officeDocument/2006/relationships/notesSlide" Target="/ppt/notesSlides/notesSlide5.xml" Id="Rfda2d2d367f845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d77ac22d634d39" /><Relationship Type="http://schemas.openxmlformats.org/officeDocument/2006/relationships/notesSlide" Target="/ppt/notesSlides/notesSlide6.xml" Id="R560bc0bf0b1e48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c9b9e2ae8444e2" /><Relationship Type="http://schemas.openxmlformats.org/officeDocument/2006/relationships/notesSlide" Target="/ppt/notesSlides/notesSlide7.xml" Id="Rf40e07bdd5da4f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f74ce8e114420f" /><Relationship Type="http://schemas.openxmlformats.org/officeDocument/2006/relationships/notesSlide" Target="/ppt/notesSlides/notesSlide8.xml" Id="R2c813a7577a94d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93476edd3d4d78" /><Relationship Type="http://schemas.openxmlformats.org/officeDocument/2006/relationships/notesSlide" Target="/ppt/notesSlides/notesSlide9.xml" Id="R111e31ec613d4d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a1896ea5ad401e" /><Relationship Type="http://schemas.openxmlformats.org/officeDocument/2006/relationships/notesSlide" Target="/ppt/notesSlides/notesSlide10.xml" Id="R61fd3cd6f5734c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bebb28cb5e24245" /><Relationship Type="http://schemas.openxmlformats.org/officeDocument/2006/relationships/notesSlide" Target="/ppt/notesSlides/notesSlide11.xml" Id="R4c5198b2fe824e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dcb573a5424d84" /><Relationship Type="http://schemas.openxmlformats.org/officeDocument/2006/relationships/notesSlide" Target="/ppt/notesSlides/notesSlide12.xml" Id="Rc2121295809544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7a4a961d9c94ee9" /><Relationship Type="http://schemas.openxmlformats.org/officeDocument/2006/relationships/notesSlide" Target="/ppt/notesSlides/notesSlide13.xml" Id="Rb68ade7ddaf047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616af75b9d4625" /><Relationship Type="http://schemas.openxmlformats.org/officeDocument/2006/relationships/chart" Target="/ppt/slides/charts/chart1.xml" Id="Rb50b4e14af424aa4" /><Relationship Type="http://schemas.openxmlformats.org/officeDocument/2006/relationships/notesSlide" Target="/ppt/notesSlides/notesSlide14.xml" Id="Rc42dbb315b8448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80831f785b48a7" /><Relationship Type="http://schemas.openxmlformats.org/officeDocument/2006/relationships/chart" Target="/ppt/slides/charts/chart2.xml" Id="Rcd4d432514d641d8" /><Relationship Type="http://schemas.openxmlformats.org/officeDocument/2006/relationships/notesSlide" Target="/ppt/notesSlides/notesSlide15.xml" Id="R10227ec0e87846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00929ab392b4851" /><Relationship Type="http://schemas.openxmlformats.org/officeDocument/2006/relationships/chart" Target="/ppt/slides/charts/chart3.xml" Id="Raa104d3d0b044cdb" /><Relationship Type="http://schemas.openxmlformats.org/officeDocument/2006/relationships/notesSlide" Target="/ppt/notesSlides/notesSlide16.xml" Id="R23ac69064f0a483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5f6826d29444bc4" /><Relationship Type="http://schemas.openxmlformats.org/officeDocument/2006/relationships/notesSlide" Target="/ppt/notesSlides/notesSlide17.xml" Id="Rc7509dee102c49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0ba4390730a431d" /><Relationship Type="http://schemas.openxmlformats.org/officeDocument/2006/relationships/notesSlide" Target="/ppt/notesSlides/notesSlide18.xml" Id="Rfdb0acd6484e40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185a90c9b0d4468" /><Relationship Type="http://schemas.openxmlformats.org/officeDocument/2006/relationships/notesSlide" Target="/ppt/notesSlides/notesSlide19.xml" Id="Re595e36eeb6949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3d7ee3e28f94ec6" /><Relationship Type="http://schemas.openxmlformats.org/officeDocument/2006/relationships/notesSlide" Target="/ppt/notesSlides/notesSlide20.xml" Id="Rf348dc2898b4467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95a63e9dbc148e6" /><Relationship Type="http://schemas.openxmlformats.org/officeDocument/2006/relationships/notesSlide" Target="/ppt/notesSlides/notesSlide21.xml" Id="R1fd1e6aaff2b486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a06fe3f15a745ed" /><Relationship Type="http://schemas.openxmlformats.org/officeDocument/2006/relationships/notesSlide" Target="/ppt/notesSlides/notesSlide22.xml" Id="R2265b112482b4f8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Model bron B</c:v>
          </c:tx>
          <c:spPr>
            <a:ln xmlns:a="http://schemas.openxmlformats.org/drawingml/2006/main" w="38100">
              <a:noFill/>
            </a:ln>
          </c:spPr>
          <c:marker>
            <c:symbol val="circle"/>
            <c:size val="12"/>
            <c:spPr>
              <ns0:solidFill xmlns:ns0="http://schemas.openxmlformats.org/drawingml/2006/main">
                <ns0:srgbClr val="17658A"/>
              </ns0:solidFill>
              <ns1:ln xmlns:ns1="http://schemas.openxmlformats.org/drawingml/2006/main" w="19050">
                <ns1:solidFill>
                  <ns1:srgbClr val="17658A"/>
                </ns1:solidFill>
              </ns1:ln>
            </c:spPr>
          </c:marker>
          <c:xVal>
            <c:numRef>
              <c:f>'Chart Data'!$A$2:$A$4</c:f>
              <c:numCache>
                <c:formatCode>General</c:formatCode>
                <c:ptCount val="3"/>
                <c:pt idx="0">
                  <c:v>100</c:v>
                </c:pt>
                <c:pt idx="1">
                  <c:v>140</c:v>
                </c:pt>
                <c:pt idx="2">
                  <c:v>180</c:v>
                </c:pt>
              </c:numCache>
            </c:numRef>
          </c:xVal>
          <c:yVal>
            <c:numRef>
              <c:f>'Chart Data'!$B$2:$B$4</c:f>
              <c:numCache>
                <c:formatCode>0</c:formatCode>
                <c:ptCount val="3"/>
                <c:pt idx="0">
                  <c:v>8</c:v>
                </c:pt>
                <c:pt idx="1">
                  <c:v>6</c:v>
                </c:pt>
                <c:pt idx="2">
                  <c:v>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bezoeker)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(bezoekers per avond)</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Model bron B</c:v>
          </c:tx>
          <c:spPr>
            <a:ln xmlns:a="http://schemas.openxmlformats.org/drawingml/2006/main" w="38100">
              <a:solidFill>
                <a:srgbClr val="17658A"/>
              </a:solidFill>
            </a:ln>
          </c:spPr>
          <c:marker>
            <c:symbol val="circle"/>
            <c:size val="12"/>
            <c:spPr>
              <ns0:solidFill xmlns:ns0="http://schemas.openxmlformats.org/drawingml/2006/main">
                <ns0:srgbClr val="17658A"/>
              </ns0:solidFill>
              <ns1:ln xmlns:ns1="http://schemas.openxmlformats.org/drawingml/2006/main" w="19050">
                <ns1:solidFill>
                  <ns1:srgbClr val="17658A"/>
                </ns1:solidFill>
              </ns1:ln>
            </c:spPr>
          </c:marker>
          <c:xVal>
            <c:numRef>
              <c:f>'Chart Data'!$A$2:$A$4</c:f>
              <c:numCache>
                <c:formatCode>General</c:formatCode>
                <c:ptCount val="3"/>
                <c:pt idx="0">
                  <c:v>100</c:v>
                </c:pt>
                <c:pt idx="1">
                  <c:v>140</c:v>
                </c:pt>
                <c:pt idx="2">
                  <c:v>180</c:v>
                </c:pt>
              </c:numCache>
            </c:numRef>
          </c:xVal>
          <c:yVal>
            <c:numRef>
              <c:f>'Chart Data'!$B$2:$B$4</c:f>
              <c:numCache>
                <c:formatCode>0</c:formatCode>
                <c:ptCount val="3"/>
                <c:pt idx="0">
                  <c:v>8</c:v>
                </c:pt>
                <c:pt idx="1">
                  <c:v>6</c:v>
                </c:pt>
                <c:pt idx="2">
                  <c:v>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bezoeker)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(bezoekers per avond)</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Model bron B</c:v>
          </c:tx>
          <c:spPr>
            <a:ln xmlns:a="http://schemas.openxmlformats.org/drawingml/2006/main" w="38100">
              <a:solidFill>
                <a:srgbClr val="17658A"/>
              </a:solidFill>
            </a:ln>
          </c:spPr>
          <c:marker>
            <c:symbol val="circle"/>
            <c:size val="12"/>
            <c:spPr>
              <ns0:solidFill xmlns:ns0="http://schemas.openxmlformats.org/drawingml/2006/main">
                <ns0:srgbClr val="17658A"/>
              </ns0:solidFill>
              <ns1:ln xmlns:ns1="http://schemas.openxmlformats.org/drawingml/2006/main" w="19050">
                <ns1:solidFill>
                  <ns1:srgbClr val="17658A"/>
                </ns1:solidFill>
              </ns1:ln>
            </c:spPr>
          </c:marker>
          <c:xVal>
            <c:numRef>
              <c:f>'Chart Data'!$A$2:$A$4</c:f>
              <c:numCache>
                <c:formatCode>General</c:formatCode>
                <c:ptCount val="3"/>
                <c:pt idx="0">
                  <c:v>100</c:v>
                </c:pt>
                <c:pt idx="1">
                  <c:v>140</c:v>
                </c:pt>
                <c:pt idx="2">
                  <c:v>180</c:v>
                </c:pt>
              </c:numCache>
            </c:numRef>
          </c:xVal>
          <c:yVal>
            <c:numRef>
              <c:f>'Chart Data'!$B$2:$B$4</c:f>
              <c:numCache>
                <c:formatCode>0</c:formatCode>
                <c:ptCount val="3"/>
                <c:pt idx="0">
                  <c:v>8</c:v>
                </c:pt>
                <c:pt idx="1">
                  <c:v>6</c:v>
                </c:pt>
                <c:pt idx="2">
                  <c:v>4</c:v>
                </c:pt>
              </c:numCache>
            </c:numRef>
          </c:yVal>
          <c:smooth val="0"/>
        </c:ser>
        <c:ser>
          <c:idx val="1"/>
          <c:order val="1"/>
          <c:tx>
            <c:v>Prijs 7</c:v>
          </c:tx>
          <c:spPr>
            <a:ln xmlns:a="http://schemas.openxmlformats.org/drawingml/2006/main" w="19050">
              <a:solidFill>
                <a:srgbClr val="A94D16"/>
              </a:solidFill>
              <a:prstDash val="dash"/>
            </a:ln>
          </c:spPr>
          <c:marker>
            <c:symbol val="none"/>
            <c:size val="2"/>
          </c:marker>
          <c:xVal>
            <c:numRef>
              <c:f>'Chart Data'!$C$2:$C$3</c:f>
              <c:numCache>
                <c:formatCode>General</c:formatCode>
                <c:ptCount val="2"/>
                <c:pt idx="0">
                  <c:v>0</c:v>
                </c:pt>
                <c:pt idx="1">
                  <c:v>120</c:v>
                </c:pt>
              </c:numCache>
            </c:numRef>
          </c:xVal>
          <c:yVal>
            <c:numRef>
              <c:f>'Chart Data'!$D$2:$D$3</c:f>
              <c:numCache>
                <c:formatCode>0</c:formatCode>
                <c:ptCount val="2"/>
                <c:pt idx="0">
                  <c:v>7</c:v>
                </c:pt>
                <c:pt idx="1">
                  <c:v>7</c:v>
                </c:pt>
              </c:numCache>
            </c:numRef>
          </c:yVal>
          <c:smooth val="0"/>
        </c:ser>
        <c:ser>
          <c:idx val="2"/>
          <c:order val="2"/>
          <c:tx>
            <c:v>Aantal 120</c:v>
          </c:tx>
          <c:spPr>
            <a:ln xmlns:a="http://schemas.openxmlformats.org/drawingml/2006/main" w="19050">
              <a:solidFill>
                <a:srgbClr val="A94D16"/>
              </a:solidFill>
              <a:prstDash val="dash"/>
            </a:ln>
          </c:spPr>
          <c:marker>
            <c:symbol val="none"/>
            <c:size val="2"/>
          </c:marker>
          <c:xVal>
            <c:numRef>
              <c:f>'Chart Data'!$E$2:$E$3</c:f>
              <c:numCache>
                <c:formatCode>General</c:formatCode>
                <c:ptCount val="2"/>
                <c:pt idx="0">
                  <c:v>120</c:v>
                </c:pt>
                <c:pt idx="1">
                  <c:v>120</c:v>
                </c:pt>
              </c:numCache>
            </c:numRef>
          </c:xVal>
          <c:yVal>
            <c:numRef>
              <c:f>'Chart Data'!$F$2:$F$3</c:f>
              <c:numCache>
                <c:formatCode>0</c:formatCode>
                <c:ptCount val="2"/>
                <c:pt idx="0">
                  <c:v>0</c:v>
                </c:pt>
                <c:pt idx="1">
                  <c:v>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bezoeker)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(bezoekers per avond)</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4 Gemengde opgaven">
            <a:extLst xmlns:a="http://schemas.openxmlformats.org/drawingml/2006/main">
              <a:ext uri="{FF2B5EF4-FFF2-40B4-BE49-F238E27FC236}">
                <a16:creationId xmlns:a16="http://schemas.microsoft.com/office/drawing/2014/main" id="{51DC28F7-B5B2-4C4D-AE05-533808E2B0F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§1.1.4 Gemengde opgaven</a:t>
            </a:r>
          </a:p>
        </p:txBody>
      </p:sp>
      <p:sp>
        <p:nvSpPr>
          <p:cNvPr id="2" name="">
            <a:extLst xmlns:a="http://schemas.openxmlformats.org/drawingml/2006/main">
              <a:ext uri="{FF2B5EF4-FFF2-40B4-BE49-F238E27FC236}">
                <a16:creationId xmlns:a16="http://schemas.microsoft.com/office/drawing/2014/main" id="{D1C7EA16-E1CC-4174-8C16-22CE33D07E4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1EA0246D-3E80-4225-9EC5-F0AD72CA88E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1">
            <a:extLst xmlns:a="http://schemas.openxmlformats.org/drawingml/2006/main">
              <a:ext uri="{FF2B5EF4-FFF2-40B4-BE49-F238E27FC236}">
                <a16:creationId xmlns:a16="http://schemas.microsoft.com/office/drawing/2014/main" id="{8461589E-E90D-4AD0-9E5C-1996DC6FF0E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F6A12DB3-070A-49E9-9139-D0A0A9FEFB60}"/>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90AABC77-3A77-4559-B8FA-B6386F75233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AFC5FC53-ED2D-4C3E-BC13-F92F14692842}"/>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E28FC2D0-60B0-413C-8D9B-970715043271}"/>
              </a:ext>
            </a:extLst>
          </p:cNvPr>
          <p:cNvSpPr>
            <a:spLocks xmlns:a="http://schemas.openxmlformats.org/drawingml/2006/main" noGrp="1"/>
          </p:cNvSpPr>
          <p:nvPr/>
        </p:nvSpPr>
        <p:spPr>
          <a:xfrm xmlns:a="http://schemas.openxmlformats.org/drawingml/2006/main">
            <a:off x="1104900" y="2324100"/>
            <a:ext cx="7572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pen en rekenmachine.</a:t>
            </a:r>
          </a:p>
        </p:txBody>
      </p:sp>
      <p:sp>
        <p:nvSpPr>
          <p:cNvPr id="9" name="route-number-2">
            <a:extLst xmlns:a="http://schemas.openxmlformats.org/drawingml/2006/main">
              <a:ext uri="{FF2B5EF4-FFF2-40B4-BE49-F238E27FC236}">
                <a16:creationId xmlns:a16="http://schemas.microsoft.com/office/drawing/2014/main" id="{31AC9CAC-DBD8-4236-9AF9-5AB378CC9204}"/>
              </a:ext>
            </a:extLst>
          </p:cNvPr>
          <p:cNvSpPr>
            <a:spLocks xmlns:a="http://schemas.openxmlformats.org/drawingml/2006/main" noGrp="1"/>
          </p:cNvSpPr>
          <p:nvPr/>
        </p:nvSpPr>
        <p:spPr>
          <a:xfrm xmlns:a="http://schemas.openxmlformats.org/drawingml/2006/main">
            <a:off x="571500" y="32575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4452395F-8A6F-47FE-9F84-95A74873232F}"/>
              </a:ext>
            </a:extLst>
          </p:cNvPr>
          <p:cNvSpPr>
            <a:spLocks xmlns:a="http://schemas.openxmlformats.org/drawingml/2006/main" noGrp="1"/>
          </p:cNvSpPr>
          <p:nvPr/>
        </p:nvSpPr>
        <p:spPr>
          <a:xfrm xmlns:a="http://schemas.openxmlformats.org/drawingml/2006/main">
            <a:off x="1104900" y="3257550"/>
            <a:ext cx="757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0903C94B-DE00-4F1F-8D4C-22448DA82336}"/>
              </a:ext>
            </a:extLst>
          </p:cNvPr>
          <p:cNvSpPr>
            <a:spLocks xmlns:a="http://schemas.openxmlformats.org/drawingml/2006/main" noGrp="1"/>
          </p:cNvSpPr>
          <p:nvPr/>
        </p:nvSpPr>
        <p:spPr>
          <a:xfrm xmlns:a="http://schemas.openxmlformats.org/drawingml/2006/main">
            <a:off x="571500" y="38385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6943973-B4E3-4B66-B666-1E3C35FFAF5D}"/>
              </a:ext>
            </a:extLst>
          </p:cNvPr>
          <p:cNvSpPr>
            <a:spLocks xmlns:a="http://schemas.openxmlformats.org/drawingml/2006/main" noGrp="1"/>
          </p:cNvSpPr>
          <p:nvPr/>
        </p:nvSpPr>
        <p:spPr>
          <a:xfrm xmlns:a="http://schemas.openxmlformats.org/drawingml/2006/main">
            <a:off x="1104900" y="3838575"/>
            <a:ext cx="757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857B9308-373C-47B9-88E2-E62F443F4E96}"/>
              </a:ext>
            </a:extLst>
          </p:cNvPr>
          <p:cNvSpPr>
            <a:spLocks xmlns:a="http://schemas.openxmlformats.org/drawingml/2006/main" noGrp="1"/>
          </p:cNvSpPr>
          <p:nvPr/>
        </p:nvSpPr>
        <p:spPr>
          <a:xfrm xmlns:a="http://schemas.openxmlformats.org/drawingml/2006/main">
            <a:off x="571500" y="4457700"/>
            <a:ext cx="457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3EEF32B6-F92D-4742-9CF6-ED249966303C}"/>
              </a:ext>
            </a:extLst>
          </p:cNvPr>
          <p:cNvSpPr>
            <a:spLocks xmlns:a="http://schemas.openxmlformats.org/drawingml/2006/main" noGrp="1"/>
          </p:cNvSpPr>
          <p:nvPr/>
        </p:nvSpPr>
        <p:spPr>
          <a:xfrm xmlns:a="http://schemas.openxmlformats.org/drawingml/2006/main">
            <a:off x="1104900" y="4457700"/>
            <a:ext cx="7572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stel vragen en kijk je antwoorden na.</a:t>
            </a:r>
          </a:p>
        </p:txBody>
      </p:sp>
      <p:sp>
        <p:nvSpPr>
          <p:cNvPr id="15" name="route-number-5">
            <a:extLst xmlns:a="http://schemas.openxmlformats.org/drawingml/2006/main">
              <a:ext uri="{FF2B5EF4-FFF2-40B4-BE49-F238E27FC236}">
                <a16:creationId xmlns:a16="http://schemas.microsoft.com/office/drawing/2014/main" id="{284F752D-E049-4277-95A9-1F9CD288BDE2}"/>
              </a:ext>
            </a:extLst>
          </p:cNvPr>
          <p:cNvSpPr>
            <a:spLocks xmlns:a="http://schemas.openxmlformats.org/drawingml/2006/main" noGrp="1"/>
          </p:cNvSpPr>
          <p:nvPr/>
        </p:nvSpPr>
        <p:spPr>
          <a:xfrm xmlns:a="http://schemas.openxmlformats.org/drawingml/2006/main">
            <a:off x="571500" y="5724525"/>
            <a:ext cx="45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E28FAB3-5FC6-4902-B869-6527D87FFB66}"/>
              </a:ext>
            </a:extLst>
          </p:cNvPr>
          <p:cNvSpPr>
            <a:spLocks xmlns:a="http://schemas.openxmlformats.org/drawingml/2006/main" noGrp="1"/>
          </p:cNvSpPr>
          <p:nvPr/>
        </p:nvSpPr>
        <p:spPr>
          <a:xfrm xmlns:a="http://schemas.openxmlformats.org/drawingml/2006/main">
            <a:off x="1104900" y="5724525"/>
            <a:ext cx="7572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4BB30CA8-9394-463A-9697-2A9A95BAC2B7}"/>
              </a:ext>
            </a:extLst>
          </p:cNvPr>
          <p:cNvSpPr>
            <a:spLocks xmlns:a="http://schemas.openxmlformats.org/drawingml/2006/main" noGrp="1"/>
          </p:cNvSpPr>
          <p:nvPr/>
        </p:nvSpPr>
        <p:spPr>
          <a:xfrm xmlns:a="http://schemas.openxmlformats.org/drawingml/2006/main">
            <a:off x="571500" y="669607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0078BFB1-F6D5-49C3-82E2-A70B0F0ED83E}"/>
              </a:ext>
            </a:extLst>
          </p:cNvPr>
          <p:cNvSpPr>
            <a:spLocks xmlns:a="http://schemas.openxmlformats.org/drawingml/2006/main" noGrp="1"/>
          </p:cNvSpPr>
          <p:nvPr/>
        </p:nvSpPr>
        <p:spPr>
          <a:xfrm xmlns:a="http://schemas.openxmlformats.org/drawingml/2006/main">
            <a:off x="1104900" y="6696075"/>
            <a:ext cx="757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opgave 36.</a:t>
            </a:r>
          </a:p>
        </p:txBody>
      </p:sp>
      <p:sp>
        <p:nvSpPr>
          <p:cNvPr id="19" name="route-number-7">
            <a:extLst xmlns:a="http://schemas.openxmlformats.org/drawingml/2006/main">
              <a:ext uri="{FF2B5EF4-FFF2-40B4-BE49-F238E27FC236}">
                <a16:creationId xmlns:a16="http://schemas.microsoft.com/office/drawing/2014/main" id="{ACCE3C1F-01B2-4041-8839-1F429D15A7C1}"/>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B3F53580-ACBB-498E-B13B-D012C4A302F2}"/>
              </a:ext>
            </a:extLst>
          </p:cNvPr>
          <p:cNvSpPr>
            <a:spLocks xmlns:a="http://schemas.openxmlformats.org/drawingml/2006/main" noGrp="1"/>
          </p:cNvSpPr>
          <p:nvPr/>
        </p:nvSpPr>
        <p:spPr>
          <a:xfrm xmlns:a="http://schemas.openxmlformats.org/drawingml/2006/main">
            <a:off x="1104900" y="7372350"/>
            <a:ext cx="757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5B34EDD-A062-4A9C-8BE5-CD3B6DE5E7DF}"/>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0D614EDB-7980-4313-A96D-BBCB12CBA411}"/>
              </a:ext>
            </a:extLst>
          </p:cNvPr>
          <p:cNvSpPr>
            <a:spLocks xmlns:a="http://schemas.openxmlformats.org/drawingml/2006/main" noGrp="1"/>
          </p:cNvSpPr>
          <p:nvPr/>
        </p:nvSpPr>
        <p:spPr>
          <a:xfrm xmlns:a="http://schemas.openxmlformats.org/drawingml/2006/main">
            <a:off x="9258300" y="2324100"/>
            <a:ext cx="5381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 en methode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Keuze, grafiek en berekening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combineren. Advies onderbouwen.</a:t>
            </a:r>
          </a:p>
        </p:txBody>
      </p:sp>
      <p:sp>
        <p:nvSpPr>
          <p:cNvPr id="23" name="">
            <a:extLst xmlns:a="http://schemas.openxmlformats.org/drawingml/2006/main">
              <a:ext uri="{FF2B5EF4-FFF2-40B4-BE49-F238E27FC236}">
                <a16:creationId xmlns:a16="http://schemas.microsoft.com/office/drawing/2014/main" id="{827A4D6E-598A-43E1-8428-E10C4FB312D3}"/>
              </a:ext>
            </a:extLst>
          </p:cNvPr>
          <p:cNvSpPr>
            <a:spLocks xmlns:a="http://schemas.openxmlformats.org/drawingml/2006/main" noGrp="1"/>
          </p:cNvSpPr>
          <p:nvPr/>
        </p:nvSpPr>
        <p:spPr>
          <a:xfrm xmlns:a="http://schemas.openxmlformats.org/drawingml/2006/main">
            <a:off x="9258300" y="366712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CCBEE70-189D-446C-B6D9-E88EB574A482}"/>
              </a:ext>
            </a:extLst>
          </p:cNvPr>
          <p:cNvSpPr>
            <a:spLocks xmlns:a="http://schemas.openxmlformats.org/drawingml/2006/main" noGrp="1"/>
          </p:cNvSpPr>
          <p:nvPr/>
        </p:nvSpPr>
        <p:spPr>
          <a:xfrm xmlns:a="http://schemas.openxmlformats.org/drawingml/2006/main">
            <a:off x="9258300" y="39052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7702F19-034F-403A-95D0-30C1901A87F9}"/>
              </a:ext>
            </a:extLst>
          </p:cNvPr>
          <p:cNvSpPr>
            <a:spLocks xmlns:a="http://schemas.openxmlformats.org/drawingml/2006/main" noGrp="1"/>
          </p:cNvSpPr>
          <p:nvPr/>
        </p:nvSpPr>
        <p:spPr>
          <a:xfrm xmlns:a="http://schemas.openxmlformats.org/drawingml/2006/main">
            <a:off x="9258300" y="4486275"/>
            <a:ext cx="5381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39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Opgave 34</a:t>
            </a:r>
          </a:p>
        </p:txBody>
      </p:sp>
      <p:sp>
        <p:nvSpPr>
          <p:cNvPr id="26" name="">
            <a:extLst xmlns:a="http://schemas.openxmlformats.org/drawingml/2006/main">
              <a:ext uri="{FF2B5EF4-FFF2-40B4-BE49-F238E27FC236}">
                <a16:creationId xmlns:a16="http://schemas.microsoft.com/office/drawing/2014/main" id="{3A153BF4-2A58-49AC-A81A-AC243FDA1B11}"/>
              </a:ext>
            </a:extLst>
          </p:cNvPr>
          <p:cNvSpPr>
            <a:spLocks xmlns:a="http://schemas.openxmlformats.org/drawingml/2006/main" noGrp="1"/>
          </p:cNvSpPr>
          <p:nvPr/>
        </p:nvSpPr>
        <p:spPr>
          <a:xfrm xmlns:a="http://schemas.openxmlformats.org/drawingml/2006/main">
            <a:off x="9258300" y="55435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1E0B369-48FB-4ADD-AF62-FA4814E2CBC5}"/>
              </a:ext>
            </a:extLst>
          </p:cNvPr>
          <p:cNvSpPr>
            <a:spLocks xmlns:a="http://schemas.openxmlformats.org/drawingml/2006/main" noGrp="1"/>
          </p:cNvSpPr>
          <p:nvPr/>
        </p:nvSpPr>
        <p:spPr>
          <a:xfrm xmlns:a="http://schemas.openxmlformats.org/drawingml/2006/main">
            <a:off x="9258300" y="57816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42A6112-8BD6-4A44-A7B0-84BC217642B5}"/>
              </a:ext>
            </a:extLst>
          </p:cNvPr>
          <p:cNvSpPr>
            <a:spLocks xmlns:a="http://schemas.openxmlformats.org/drawingml/2006/main" noGrp="1"/>
          </p:cNvSpPr>
          <p:nvPr/>
        </p:nvSpPr>
        <p:spPr>
          <a:xfrm xmlns:a="http://schemas.openxmlformats.org/drawingml/2006/main">
            <a:off x="9258300" y="6334125"/>
            <a:ext cx="5381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§1.1.4 Gemengde opgaven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Opgaven 34, 35, 36, 37 en 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Bespreekopgave: 36</a:t>
            </a:r>
          </a:p>
        </p:txBody>
      </p:sp>
    </p:spTree>
    <p:extLst>
      <p:ext uri="{BB962C8B-B14F-4D97-AF65-F5344CB8AC3E}">
        <p14:creationId xmlns:p14="http://schemas.microsoft.com/office/powerpoint/2010/main" val="5690412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en passende aanpak bij elke bron">
            <a:extLst xmlns:a="http://schemas.openxmlformats.org/drawingml/2006/main">
              <a:ext uri="{FF2B5EF4-FFF2-40B4-BE49-F238E27FC236}">
                <a16:creationId xmlns:a16="http://schemas.microsoft.com/office/drawing/2014/main" id="{9C3C301E-C9AD-48CB-831A-6C2C8ECC187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passende aanpak bij elke bron</a:t>
            </a:r>
          </a:p>
        </p:txBody>
      </p:sp>
      <p:sp>
        <p:nvSpPr>
          <p:cNvPr id="2" name="">
            <a:extLst xmlns:a="http://schemas.openxmlformats.org/drawingml/2006/main">
              <a:ext uri="{FF2B5EF4-FFF2-40B4-BE49-F238E27FC236}">
                <a16:creationId xmlns:a16="http://schemas.microsoft.com/office/drawing/2014/main" id="{6076D519-ABBC-4563-93AE-13DC9C151CE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283F2A66-4A08-4329-888C-79602B088E6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2">
            <a:extLst xmlns:a="http://schemas.openxmlformats.org/drawingml/2006/main">
              <a:ext uri="{FF2B5EF4-FFF2-40B4-BE49-F238E27FC236}">
                <a16:creationId xmlns:a16="http://schemas.microsoft.com/office/drawing/2014/main" id="{7D2E2FA5-C928-4EF7-A842-9DA4F2084FF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Lees">
            <a:extLst xmlns:a="http://schemas.openxmlformats.org/drawingml/2006/main">
              <a:ext uri="{FF2B5EF4-FFF2-40B4-BE49-F238E27FC236}">
                <a16:creationId xmlns:a16="http://schemas.microsoft.com/office/drawing/2014/main" id="{0BBB519D-9DE4-4E80-A271-C9469E459410}"/>
              </a:ext>
            </a:extLst>
          </p:cNvPr>
          <p:cNvSpPr>
            <a:spLocks xmlns:a="http://schemas.openxmlformats.org/drawingml/2006/main" noGrp="1"/>
          </p:cNvSpPr>
          <p:nvPr/>
        </p:nvSpPr>
        <p:spPr>
          <a:xfrm xmlns:a="http://schemas.openxmlformats.org/drawingml/2006/main">
            <a:off x="571500" y="200977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Lees</a:t>
            </a:r>
          </a:p>
        </p:txBody>
      </p:sp>
      <p:sp>
        <p:nvSpPr>
          <p:cNvPr id="6" name="Wat moet je kiezen, berekenen of beoordelen?">
            <a:extLst xmlns:a="http://schemas.openxmlformats.org/drawingml/2006/main">
              <a:ext uri="{FF2B5EF4-FFF2-40B4-BE49-F238E27FC236}">
                <a16:creationId xmlns:a16="http://schemas.microsoft.com/office/drawing/2014/main" id="{B4FCDB5A-1039-4A0C-9876-5104A4E5C32E}"/>
              </a:ext>
            </a:extLst>
          </p:cNvPr>
          <p:cNvSpPr>
            <a:spLocks xmlns:a="http://schemas.openxmlformats.org/drawingml/2006/main" noGrp="1"/>
          </p:cNvSpPr>
          <p:nvPr/>
        </p:nvSpPr>
        <p:spPr>
          <a:xfrm xmlns:a="http://schemas.openxmlformats.org/drawingml/2006/main">
            <a:off x="4371975" y="200977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Wat moet je kiezen, berekenen of beoordelen?</a:t>
            </a:r>
          </a:p>
        </p:txBody>
      </p:sp>
      <p:sp>
        <p:nvSpPr>
          <p:cNvPr id="7" name="">
            <a:extLst xmlns:a="http://schemas.openxmlformats.org/drawingml/2006/main">
              <a:ext uri="{FF2B5EF4-FFF2-40B4-BE49-F238E27FC236}">
                <a16:creationId xmlns:a16="http://schemas.microsoft.com/office/drawing/2014/main" id="{91F9D306-7E61-4CC3-914F-E409818A4EBE}"/>
              </a:ext>
            </a:extLst>
          </p:cNvPr>
          <p:cNvSpPr>
            <a:spLocks xmlns:a="http://schemas.openxmlformats.org/drawingml/2006/main" noGrp="1"/>
          </p:cNvSpPr>
          <p:nvPr/>
        </p:nvSpPr>
        <p:spPr>
          <a:xfrm xmlns:a="http://schemas.openxmlformats.org/drawingml/2006/main">
            <a:off x="571500" y="3076575"/>
            <a:ext cx="14097000" cy="0"/>
          </a:xfrm>
          <a:prstGeom xmlns:a="http://schemas.openxmlformats.org/drawingml/2006/main" prst="line">
            <a:avLst/>
          </a:prstGeom>
          <a:ln xmlns:a="http://schemas.openxmlformats.org/drawingml/2006/main" w="19050">
            <a:solidFill>
              <a:srgbClr val="C6D2DB"/>
            </a:solidFill>
          </a:ln>
        </p:spPr>
      </p:sp>
      <p:sp>
        <p:nvSpPr>
          <p:cNvPr id="8" name="Selecteer">
            <a:extLst xmlns:a="http://schemas.openxmlformats.org/drawingml/2006/main">
              <a:ext uri="{FF2B5EF4-FFF2-40B4-BE49-F238E27FC236}">
                <a16:creationId xmlns:a16="http://schemas.microsoft.com/office/drawing/2014/main" id="{5D01680A-7369-48BA-9732-EE2C8B9D95B5}"/>
              </a:ext>
            </a:extLst>
          </p:cNvPr>
          <p:cNvSpPr>
            <a:spLocks xmlns:a="http://schemas.openxmlformats.org/drawingml/2006/main" noGrp="1"/>
          </p:cNvSpPr>
          <p:nvPr/>
        </p:nvSpPr>
        <p:spPr>
          <a:xfrm xmlns:a="http://schemas.openxmlformats.org/drawingml/2006/main">
            <a:off x="571500" y="33718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Selecteer</a:t>
            </a:r>
          </a:p>
        </p:txBody>
      </p:sp>
      <p:sp>
        <p:nvSpPr>
          <p:cNvPr id="9" name="Welke bron, eenheid en vergelijkingsbasis horen er">
            <a:extLst xmlns:a="http://schemas.openxmlformats.org/drawingml/2006/main">
              <a:ext uri="{FF2B5EF4-FFF2-40B4-BE49-F238E27FC236}">
                <a16:creationId xmlns:a16="http://schemas.microsoft.com/office/drawing/2014/main" id="{CC57BC22-7122-4E93-9AD0-88D127698C10}"/>
              </a:ext>
            </a:extLst>
          </p:cNvPr>
          <p:cNvSpPr>
            <a:spLocks xmlns:a="http://schemas.openxmlformats.org/drawingml/2006/main" noGrp="1"/>
          </p:cNvSpPr>
          <p:nvPr/>
        </p:nvSpPr>
        <p:spPr>
          <a:xfrm xmlns:a="http://schemas.openxmlformats.org/drawingml/2006/main">
            <a:off x="4371975" y="33718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Welke bron, eenheid en vergelijkingsbasis horen erbij?</a:t>
            </a:r>
          </a:p>
        </p:txBody>
      </p:sp>
      <p:sp>
        <p:nvSpPr>
          <p:cNvPr id="10" name="">
            <a:extLst xmlns:a="http://schemas.openxmlformats.org/drawingml/2006/main">
              <a:ext uri="{FF2B5EF4-FFF2-40B4-BE49-F238E27FC236}">
                <a16:creationId xmlns:a16="http://schemas.microsoft.com/office/drawing/2014/main" id="{AE971579-C16D-4DA4-ACFD-86FBD17D6BB0}"/>
              </a:ext>
            </a:extLst>
          </p:cNvPr>
          <p:cNvSpPr>
            <a:spLocks xmlns:a="http://schemas.openxmlformats.org/drawingml/2006/main" noGrp="1"/>
          </p:cNvSpPr>
          <p:nvPr/>
        </p:nvSpPr>
        <p:spPr>
          <a:xfrm xmlns:a="http://schemas.openxmlformats.org/drawingml/2006/main">
            <a:off x="571500" y="4438650"/>
            <a:ext cx="14097000" cy="0"/>
          </a:xfrm>
          <a:prstGeom xmlns:a="http://schemas.openxmlformats.org/drawingml/2006/main" prst="line">
            <a:avLst/>
          </a:prstGeom>
          <a:ln xmlns:a="http://schemas.openxmlformats.org/drawingml/2006/main" w="19050">
            <a:solidFill>
              <a:srgbClr val="C6D2DB"/>
            </a:solidFill>
          </a:ln>
        </p:spPr>
      </p:sp>
      <p:sp>
        <p:nvSpPr>
          <p:cNvPr id="11" name="Werk uit">
            <a:extLst xmlns:a="http://schemas.openxmlformats.org/drawingml/2006/main">
              <a:ext uri="{FF2B5EF4-FFF2-40B4-BE49-F238E27FC236}">
                <a16:creationId xmlns:a16="http://schemas.microsoft.com/office/drawing/2014/main" id="{68F7474B-780B-404C-B7CD-0EC16D14C76A}"/>
              </a:ext>
            </a:extLst>
          </p:cNvPr>
          <p:cNvSpPr>
            <a:spLocks xmlns:a="http://schemas.openxmlformats.org/drawingml/2006/main" noGrp="1"/>
          </p:cNvSpPr>
          <p:nvPr/>
        </p:nvSpPr>
        <p:spPr>
          <a:xfrm xmlns:a="http://schemas.openxmlformats.org/drawingml/2006/main">
            <a:off x="571500" y="473392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Werk uit</a:t>
            </a:r>
          </a:p>
        </p:txBody>
      </p:sp>
      <p:sp>
        <p:nvSpPr>
          <p:cNvPr id="12" name="Schrijf de bewerking of teken de juiste coördinate">
            <a:extLst xmlns:a="http://schemas.openxmlformats.org/drawingml/2006/main">
              <a:ext uri="{FF2B5EF4-FFF2-40B4-BE49-F238E27FC236}">
                <a16:creationId xmlns:a16="http://schemas.microsoft.com/office/drawing/2014/main" id="{DA4BEB33-DFDA-47EF-AC9C-87A5234F9217}"/>
              </a:ext>
            </a:extLst>
          </p:cNvPr>
          <p:cNvSpPr>
            <a:spLocks xmlns:a="http://schemas.openxmlformats.org/drawingml/2006/main" noGrp="1"/>
          </p:cNvSpPr>
          <p:nvPr/>
        </p:nvSpPr>
        <p:spPr>
          <a:xfrm xmlns:a="http://schemas.openxmlformats.org/drawingml/2006/main">
            <a:off x="4371975" y="473392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Schrijf de bewerking of teken de juiste coördinaten.</a:t>
            </a:r>
          </a:p>
        </p:txBody>
      </p:sp>
      <p:sp>
        <p:nvSpPr>
          <p:cNvPr id="13" name="">
            <a:extLst xmlns:a="http://schemas.openxmlformats.org/drawingml/2006/main">
              <a:ext uri="{FF2B5EF4-FFF2-40B4-BE49-F238E27FC236}">
                <a16:creationId xmlns:a16="http://schemas.microsoft.com/office/drawing/2014/main" id="{A48E96E4-1460-488E-8D8B-3E400438F31C}"/>
              </a:ext>
            </a:extLst>
          </p:cNvPr>
          <p:cNvSpPr>
            <a:spLocks xmlns:a="http://schemas.openxmlformats.org/drawingml/2006/main" noGrp="1"/>
          </p:cNvSpPr>
          <p:nvPr/>
        </p:nvSpPr>
        <p:spPr>
          <a:xfrm xmlns:a="http://schemas.openxmlformats.org/drawingml/2006/main">
            <a:off x="571500" y="5800725"/>
            <a:ext cx="14097000" cy="0"/>
          </a:xfrm>
          <a:prstGeom xmlns:a="http://schemas.openxmlformats.org/drawingml/2006/main" prst="line">
            <a:avLst/>
          </a:prstGeom>
          <a:ln xmlns:a="http://schemas.openxmlformats.org/drawingml/2006/main" w="19050">
            <a:solidFill>
              <a:srgbClr val="C6D2DB"/>
            </a:solidFill>
          </a:ln>
        </p:spPr>
      </p:sp>
      <p:sp>
        <p:nvSpPr>
          <p:cNvPr id="14" name="Controleer">
            <a:extLst xmlns:a="http://schemas.openxmlformats.org/drawingml/2006/main">
              <a:ext uri="{FF2B5EF4-FFF2-40B4-BE49-F238E27FC236}">
                <a16:creationId xmlns:a16="http://schemas.microsoft.com/office/drawing/2014/main" id="{4F6DAF03-FCCD-40E5-909C-F2083074197C}"/>
              </a:ext>
            </a:extLst>
          </p:cNvPr>
          <p:cNvSpPr>
            <a:spLocks xmlns:a="http://schemas.openxmlformats.org/drawingml/2006/main" noGrp="1"/>
          </p:cNvSpPr>
          <p:nvPr/>
        </p:nvSpPr>
        <p:spPr>
          <a:xfrm xmlns:a="http://schemas.openxmlformats.org/drawingml/2006/main">
            <a:off x="571500" y="609600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Controleer</a:t>
            </a:r>
          </a:p>
        </p:txBody>
      </p:sp>
      <p:sp>
        <p:nvSpPr>
          <p:cNvPr id="15" name="Past je antwoord bij de bron, het doel en de aanna">
            <a:extLst xmlns:a="http://schemas.openxmlformats.org/drawingml/2006/main">
              <a:ext uri="{FF2B5EF4-FFF2-40B4-BE49-F238E27FC236}">
                <a16:creationId xmlns:a16="http://schemas.microsoft.com/office/drawing/2014/main" id="{FC1E2CF7-1085-4AE8-B3D5-1712E1250148}"/>
              </a:ext>
            </a:extLst>
          </p:cNvPr>
          <p:cNvSpPr>
            <a:spLocks xmlns:a="http://schemas.openxmlformats.org/drawingml/2006/main" noGrp="1"/>
          </p:cNvSpPr>
          <p:nvPr/>
        </p:nvSpPr>
        <p:spPr>
          <a:xfrm xmlns:a="http://schemas.openxmlformats.org/drawingml/2006/main">
            <a:off x="4371975" y="609600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Past je antwoord bij de bron, het doel en de aanname?</a:t>
            </a:r>
          </a:p>
        </p:txBody>
      </p:sp>
    </p:spTree>
    <p:extLst>
      <p:ext uri="{BB962C8B-B14F-4D97-AF65-F5344CB8AC3E}">
        <p14:creationId xmlns:p14="http://schemas.microsoft.com/office/powerpoint/2010/main" val="7473780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uurttheater: twee aparte bronnen">
            <a:extLst xmlns:a="http://schemas.openxmlformats.org/drawingml/2006/main">
              <a:ext uri="{FF2B5EF4-FFF2-40B4-BE49-F238E27FC236}">
                <a16:creationId xmlns:a16="http://schemas.microsoft.com/office/drawing/2014/main" id="{4C969E60-2F37-4504-9AEE-0CDC82923E5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Buurttheater: twee aparte bronnen</a:t>
            </a:r>
          </a:p>
        </p:txBody>
      </p:sp>
      <p:sp>
        <p:nvSpPr>
          <p:cNvPr id="2" name="">
            <a:extLst xmlns:a="http://schemas.openxmlformats.org/drawingml/2006/main">
              <a:ext uri="{FF2B5EF4-FFF2-40B4-BE49-F238E27FC236}">
                <a16:creationId xmlns:a16="http://schemas.microsoft.com/office/drawing/2014/main" id="{0C945E48-D0E3-44AC-8CD4-48A2CCF538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CF7466AE-6DF5-4765-8E1C-98E8EE3B850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3">
            <a:extLst xmlns:a="http://schemas.openxmlformats.org/drawingml/2006/main">
              <a:ext uri="{FF2B5EF4-FFF2-40B4-BE49-F238E27FC236}">
                <a16:creationId xmlns:a16="http://schemas.microsoft.com/office/drawing/2014/main" id="{C5CF4C17-5515-45D1-8436-0FC304C4DD2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12FC6D8E-2CEE-4036-BE3F-AE6244F7324E}"/>
              </a:ext>
            </a:extLst>
          </p:cNvPr>
          <p:cNvSpPr>
            <a:spLocks xmlns:a="http://schemas.openxmlformats.org/drawingml/2006/main" noGrp="1"/>
          </p:cNvSpPr>
          <p:nvPr/>
        </p:nvSpPr>
        <p:spPr>
          <a:xfrm xmlns:a="http://schemas.openxmlformats.org/drawingml/2006/main">
            <a:off x="571500" y="1724025"/>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390775"/>
          <a:ext xmlns:a="http://schemas.openxmlformats.org/drawingml/2006/main" cx="14097000" cy="1628775"/>
        </p:xfrm>
        <a:graphic xmlns:a="http://schemas.openxmlformats.org/drawingml/2006/main">
          <a:graphicData uri="http://schemas.openxmlformats.org/drawingml/2006/table">
            <a:tbl>
              <a:tblPr/>
              <a:tblGrid>
                <a:gridCol w="6953250"/>
                <a:gridCol w="2381250"/>
                <a:gridCol w="2381250"/>
                <a:gridCol w="2381250"/>
              </a:tblGrid>
              <a:tr h="814388">
                <a:tc>
                  <a:txBody>
                    <a:bodyPr lIns="171450" tIns="95250" rIns="152400" bIns="95250"/>
                    <a:lstStyle/>
                    <a:p>
                      <a:r>
                        <a:rPr sz="2250" b="1">
                          <a:solidFill>
                            <a:srgbClr val="FFFFFF"/>
                          </a:solidFill>
                          <a:latin typeface="Arial"/>
                          <a:ea typeface="Arial"/>
                          <a:cs typeface="Arial"/>
                        </a:rPr>
                        <a:t>Bron A · Dezelfde kaart door de jaren</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Basisjaar</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Jaar 2</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Jaar 3</a:t>
                      </a:r>
                    </a:p>
                  </a:txBody>
                  <a:tcPr marL="91440" marR="91440" marT="45720" marB="45720" anchor="ctr">
                    <a:solidFill>
                      <a:srgbClr val="183247"/>
                    </a:solidFill>
                  </a:tcPr>
                </a:tc>
              </a:tr>
              <a:tr h="814388">
                <a:tc>
                  <a:txBody>
                    <a:bodyPr lIns="171450" tIns="95250" rIns="152400" bIns="95250"/>
                    <a:lstStyle/>
                    <a:p>
                      <a:r>
                        <a:rPr sz="2250" b="0">
                          <a:solidFill>
                            <a:srgbClr val="183247"/>
                          </a:solidFill>
                          <a:latin typeface="Arial"/>
                          <a:ea typeface="Arial"/>
                          <a:cs typeface="Arial"/>
                        </a:rPr>
                        <a:t>Prijs per kaart</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€ 11</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€ 12,10</a:t>
                      </a:r>
                    </a:p>
                  </a:txBody>
                  <a:tcPr marL="91440" marR="91440" marT="45720" marB="45720" anchor="ctr">
                    <a:solidFill>
                      <a:srgbClr val="FFFFFF"/>
                    </a:solidFill>
                  </a:tcPr>
                </a:tc>
              </a:tr>
            </a:tbl>
          </a:graphicData>
        </a:graphic>
      </p:graphicFrame>
      <p:graphicFrame>
        <p:nvGraphicFramePr>
          <p:cNvPr id="16" name=""/>
          <p:cNvGraphicFramePr/>
          <p:nvPr/>
        </p:nvGraphicFramePr>
        <p:xfrm>
          <a:off xmlns:a="http://schemas.openxmlformats.org/drawingml/2006/main" x="571500" y="4381500"/>
          <a:ext xmlns:a="http://schemas.openxmlformats.org/drawingml/2006/main" cx="14097000" cy="1533525"/>
        </p:xfrm>
        <a:graphic xmlns:a="http://schemas.openxmlformats.org/drawingml/2006/main">
          <a:graphicData uri="http://schemas.openxmlformats.org/drawingml/2006/table">
            <a:tbl>
              <a:tblPr/>
              <a:tblGrid>
                <a:gridCol w="6953250"/>
                <a:gridCol w="3571875"/>
                <a:gridCol w="3571875"/>
              </a:tblGrid>
              <a:tr h="766763">
                <a:tc>
                  <a:txBody>
                    <a:bodyPr lIns="171450" tIns="95250" rIns="152400" bIns="95250"/>
                    <a:lstStyle/>
                    <a:p>
                      <a:r>
                        <a:rPr sz="2250" b="1">
                          <a:solidFill>
                            <a:srgbClr val="FFFFFF"/>
                          </a:solidFill>
                          <a:latin typeface="Arial"/>
                          <a:ea typeface="Arial"/>
                          <a:cs typeface="Arial"/>
                        </a:rPr>
                        <a:t>Bron B · Model voor één avond</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Prijs € 10</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Prijs € 12</a:t>
                      </a:r>
                    </a:p>
                  </a:txBody>
                  <a:tcPr marL="91440" marR="91440" marT="45720" marB="45720" anchor="ctr">
                    <a:solidFill>
                      <a:srgbClr val="183247"/>
                    </a:solidFill>
                  </a:tcPr>
                </a:tc>
              </a:tr>
              <a:tr h="766763">
                <a:tc>
                  <a:txBody>
                    <a:bodyPr lIns="171450" tIns="95250" rIns="152400" bIns="95250"/>
                    <a:lstStyle/>
                    <a:p>
                      <a:r>
                        <a:rPr sz="2250" b="0">
                          <a:solidFill>
                            <a:srgbClr val="183247"/>
                          </a:solidFill>
                          <a:latin typeface="Arial"/>
                          <a:ea typeface="Arial"/>
                          <a:cs typeface="Arial"/>
                        </a:rPr>
                        <a:t>Verwachte bezoekers</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90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70</a:t>
                      </a:r>
                    </a:p>
                  </a:txBody>
                  <a:tcPr marL="91440" marR="91440" marT="45720" marB="45720" anchor="ctr">
                    <a:solidFill>
                      <a:srgbClr val="FFFFFF"/>
                    </a:solidFill>
                  </a:tcPr>
                </a:tc>
              </a:tr>
            </a:tbl>
          </a:graphicData>
        </a:graphic>
      </p:graphicFrame>
      <p:sp>
        <p:nvSpPr>
          <p:cNvPr id="8" name="B: rechte lijn tussen de punten, overige omstandig">
            <a:extLst xmlns:a="http://schemas.openxmlformats.org/drawingml/2006/main">
              <a:ext uri="{FF2B5EF4-FFF2-40B4-BE49-F238E27FC236}">
                <a16:creationId xmlns:a16="http://schemas.microsoft.com/office/drawing/2014/main" id="{F0DD742A-E149-4F55-8985-14513A6132C5}"/>
              </a:ext>
            </a:extLst>
          </p:cNvPr>
          <p:cNvSpPr>
            <a:spLocks xmlns:a="http://schemas.openxmlformats.org/drawingml/2006/main" noGrp="1"/>
          </p:cNvSpPr>
          <p:nvPr/>
        </p:nvSpPr>
        <p:spPr>
          <a:xfrm xmlns:a="http://schemas.openxmlformats.org/drawingml/2006/main">
            <a:off x="571500" y="620077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 rechte lijn tussen de punten, overige omstandigheden gelijk.</a:t>
            </a:r>
          </a:p>
        </p:txBody>
      </p:sp>
      <p:sp>
        <p:nvSpPr>
          <p:cNvPr id="9" name="Welke bron gebruik je voor de prijsstijging van ja">
            <a:extLst xmlns:a="http://schemas.openxmlformats.org/drawingml/2006/main">
              <a:ext uri="{FF2B5EF4-FFF2-40B4-BE49-F238E27FC236}">
                <a16:creationId xmlns:a16="http://schemas.microsoft.com/office/drawing/2014/main" id="{13468F88-CAC4-4153-A3C0-2E6514AFBF73}"/>
              </a:ext>
            </a:extLst>
          </p:cNvPr>
          <p:cNvSpPr>
            <a:spLocks xmlns:a="http://schemas.openxmlformats.org/drawingml/2006/main" noGrp="1"/>
          </p:cNvSpPr>
          <p:nvPr/>
        </p:nvSpPr>
        <p:spPr>
          <a:xfrm xmlns:a="http://schemas.openxmlformats.org/drawingml/2006/main">
            <a:off x="571500" y="70580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Welke bron gebruik je voor de prijsstijging van jaar 2 naar 3?</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Welke bron voorspelt bezoekers bij een kaartprijs van € 11?</a:t>
            </a:r>
          </a:p>
        </p:txBody>
      </p:sp>
    </p:spTree>
    <p:extLst>
      <p:ext uri="{BB962C8B-B14F-4D97-AF65-F5344CB8AC3E}">
        <p14:creationId xmlns:p14="http://schemas.microsoft.com/office/powerpoint/2010/main" val="2021841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on A: de oude waarde bepaalt de groei">
            <a:extLst xmlns:a="http://schemas.openxmlformats.org/drawingml/2006/main">
              <a:ext uri="{FF2B5EF4-FFF2-40B4-BE49-F238E27FC236}">
                <a16:creationId xmlns:a16="http://schemas.microsoft.com/office/drawing/2014/main" id="{A1AC5904-AC5D-43F6-9687-8BEC74FBE89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Bron A: de oude waarde bepaalt de groei</a:t>
            </a:r>
          </a:p>
        </p:txBody>
      </p:sp>
      <p:sp>
        <p:nvSpPr>
          <p:cNvPr id="2" name="">
            <a:extLst xmlns:a="http://schemas.openxmlformats.org/drawingml/2006/main">
              <a:ext uri="{FF2B5EF4-FFF2-40B4-BE49-F238E27FC236}">
                <a16:creationId xmlns:a16="http://schemas.microsoft.com/office/drawing/2014/main" id="{3DA484A7-35A3-457B-A306-CA14CB1F28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5D4E828C-0F65-47BC-AF8E-098552254FE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4">
            <a:extLst xmlns:a="http://schemas.openxmlformats.org/drawingml/2006/main">
              <a:ext uri="{FF2B5EF4-FFF2-40B4-BE49-F238E27FC236}">
                <a16:creationId xmlns:a16="http://schemas.microsoft.com/office/drawing/2014/main" id="{5F7A7BC5-8CC8-49D9-8774-98CA43B29B4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DC6A1C60-3550-49C2-BF56-CD0FD22BC336}"/>
              </a:ext>
            </a:extLst>
          </p:cNvPr>
          <p:cNvSpPr>
            <a:spLocks xmlns:a="http://schemas.openxmlformats.org/drawingml/2006/main" noGrp="1"/>
          </p:cNvSpPr>
          <p:nvPr/>
        </p:nvSpPr>
        <p:spPr>
          <a:xfrm xmlns:a="http://schemas.openxmlformats.org/drawingml/2006/main">
            <a:off x="571500" y="1724025"/>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Uitlegvoorbeeld — niet uit het boek</a:t>
            </a:r>
          </a:p>
        </p:txBody>
      </p:sp>
      <p:sp>
        <p:nvSpPr>
          <p:cNvPr id="6" name="Van € 11 naar € 12,10 per kaart">
            <a:extLst xmlns:a="http://schemas.openxmlformats.org/drawingml/2006/main">
              <a:ext uri="{FF2B5EF4-FFF2-40B4-BE49-F238E27FC236}">
                <a16:creationId xmlns:a16="http://schemas.microsoft.com/office/drawing/2014/main" id="{3C879D47-956E-4752-9C25-91A1B7A4F062}"/>
              </a:ext>
            </a:extLst>
          </p:cNvPr>
          <p:cNvSpPr>
            <a:spLocks xmlns:a="http://schemas.openxmlformats.org/drawingml/2006/main" noGrp="1"/>
          </p:cNvSpPr>
          <p:nvPr/>
        </p:nvSpPr>
        <p:spPr>
          <a:xfrm xmlns:a="http://schemas.openxmlformats.org/drawingml/2006/main">
            <a:off x="571500" y="26384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Van € 11 naar € 12,10 per kaart</a:t>
            </a:r>
          </a:p>
        </p:txBody>
      </p:sp>
      <p:sp>
        <p:nvSpPr>
          <p:cNvPr id="7" name="(12,10 − 11) / 11 × 100% = 10%">
            <a:extLst xmlns:a="http://schemas.openxmlformats.org/drawingml/2006/main">
              <a:ext uri="{FF2B5EF4-FFF2-40B4-BE49-F238E27FC236}">
                <a16:creationId xmlns:a16="http://schemas.microsoft.com/office/drawing/2014/main" id="{0E2147E9-AD2D-41E4-804A-0976B0CBE7AF}"/>
              </a:ext>
            </a:extLst>
          </p:cNvPr>
          <p:cNvSpPr>
            <a:spLocks xmlns:a="http://schemas.openxmlformats.org/drawingml/2006/main" noGrp="1"/>
          </p:cNvSpPr>
          <p:nvPr/>
        </p:nvSpPr>
        <p:spPr>
          <a:xfrm xmlns:a="http://schemas.openxmlformats.org/drawingml/2006/main">
            <a:off x="571500" y="37147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A94D16"/>
                </a:solidFill>
                <a:latin typeface="Arial"/>
                <a:ea typeface="Arial"/>
                <a:cs typeface="Arial"/>
              </a:defRPr>
            </a:pPr>
            <a:r>
              <a:rPr sz="3900" b="1">
                <a:solidFill>
                  <a:srgbClr val="A94D16"/>
                </a:solidFill>
                <a:latin typeface="Arial"/>
                <a:ea typeface="Arial"/>
                <a:cs typeface="Arial"/>
              </a:rPr>
              <a:t>(12,10 − 11) / 11 × 100% = 10%</a:t>
            </a:r>
          </a:p>
        </p:txBody>
      </p:sp>
      <p:sp>
        <p:nvSpPr>
          <p:cNvPr id="8" name="">
            <a:extLst xmlns:a="http://schemas.openxmlformats.org/drawingml/2006/main">
              <a:ext uri="{FF2B5EF4-FFF2-40B4-BE49-F238E27FC236}">
                <a16:creationId xmlns:a16="http://schemas.microsoft.com/office/drawing/2014/main" id="{66B141CA-474A-4B1F-B789-430CE1921FF8}"/>
              </a:ext>
            </a:extLst>
          </p:cNvPr>
          <p:cNvSpPr>
            <a:spLocks xmlns:a="http://schemas.openxmlformats.org/drawingml/2006/main" noGrp="1"/>
          </p:cNvSpPr>
          <p:nvPr/>
        </p:nvSpPr>
        <p:spPr>
          <a:xfrm xmlns:a="http://schemas.openxmlformats.org/drawingml/2006/main">
            <a:off x="571500" y="4857750"/>
            <a:ext cx="14097000" cy="0"/>
          </a:xfrm>
          <a:prstGeom xmlns:a="http://schemas.openxmlformats.org/drawingml/2006/main" prst="line">
            <a:avLst/>
          </a:prstGeom>
          <a:ln xmlns:a="http://schemas.openxmlformats.org/drawingml/2006/main" w="19050">
            <a:solidFill>
              <a:srgbClr val="C6D2DB"/>
            </a:solidFill>
          </a:ln>
        </p:spPr>
      </p:sp>
      <p:sp>
        <p:nvSpPr>
          <p:cNvPr id="9" name="Basis € 10: index 110 en index 121">
            <a:extLst xmlns:a="http://schemas.openxmlformats.org/drawingml/2006/main">
              <a:ext uri="{FF2B5EF4-FFF2-40B4-BE49-F238E27FC236}">
                <a16:creationId xmlns:a16="http://schemas.microsoft.com/office/drawing/2014/main" id="{6EBC77D5-2D5B-492E-8F43-F51942F9C593}"/>
              </a:ext>
            </a:extLst>
          </p:cNvPr>
          <p:cNvSpPr>
            <a:spLocks xmlns:a="http://schemas.openxmlformats.org/drawingml/2006/main" noGrp="1"/>
          </p:cNvSpPr>
          <p:nvPr/>
        </p:nvSpPr>
        <p:spPr>
          <a:xfrm xmlns:a="http://schemas.openxmlformats.org/drawingml/2006/main">
            <a:off x="571500" y="52768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Basis € 10: index 110 en index 121</a:t>
            </a:r>
          </a:p>
        </p:txBody>
      </p:sp>
      <p:sp>
        <p:nvSpPr>
          <p:cNvPr id="10" name="11 indexpunten / oude index 110 × 100% = 10%">
            <a:extLst xmlns:a="http://schemas.openxmlformats.org/drawingml/2006/main">
              <a:ext uri="{FF2B5EF4-FFF2-40B4-BE49-F238E27FC236}">
                <a16:creationId xmlns:a16="http://schemas.microsoft.com/office/drawing/2014/main" id="{21C28062-1AB6-4012-ACBE-E149BE37C798}"/>
              </a:ext>
            </a:extLst>
          </p:cNvPr>
          <p:cNvSpPr>
            <a:spLocks xmlns:a="http://schemas.openxmlformats.org/drawingml/2006/main" noGrp="1"/>
          </p:cNvSpPr>
          <p:nvPr/>
        </p:nvSpPr>
        <p:spPr>
          <a:xfrm xmlns:a="http://schemas.openxmlformats.org/drawingml/2006/main">
            <a:off x="571500" y="62674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11 indexpunten / oude index 110 × 100% = 10%</a:t>
            </a:r>
          </a:p>
        </p:txBody>
      </p:sp>
    </p:spTree>
    <p:extLst>
      <p:ext uri="{BB962C8B-B14F-4D97-AF65-F5344CB8AC3E}">
        <p14:creationId xmlns:p14="http://schemas.microsoft.com/office/powerpoint/2010/main" val="15782325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on B: een verwachting tussen twee punten">
            <a:extLst xmlns:a="http://schemas.openxmlformats.org/drawingml/2006/main">
              <a:ext uri="{FF2B5EF4-FFF2-40B4-BE49-F238E27FC236}">
                <a16:creationId xmlns:a16="http://schemas.microsoft.com/office/drawing/2014/main" id="{17BA32D6-E424-43BE-A756-3D46D008747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Bron B: een verwachting tussen twee punten</a:t>
            </a:r>
          </a:p>
        </p:txBody>
      </p:sp>
      <p:sp>
        <p:nvSpPr>
          <p:cNvPr id="2" name="">
            <a:extLst xmlns:a="http://schemas.openxmlformats.org/drawingml/2006/main">
              <a:ext uri="{FF2B5EF4-FFF2-40B4-BE49-F238E27FC236}">
                <a16:creationId xmlns:a16="http://schemas.microsoft.com/office/drawing/2014/main" id="{A6387668-4F7C-4437-ACB9-B94169A9C6E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388AFD7D-965B-47C5-8A64-1750409B2EA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5">
            <a:extLst xmlns:a="http://schemas.openxmlformats.org/drawingml/2006/main">
              <a:ext uri="{FF2B5EF4-FFF2-40B4-BE49-F238E27FC236}">
                <a16:creationId xmlns:a16="http://schemas.microsoft.com/office/drawing/2014/main" id="{8CE169F7-93DA-4C0A-9A7D-0EE08D2D45D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EA3D6395-52AB-4782-B000-7858C29E2B46}"/>
              </a:ext>
            </a:extLst>
          </p:cNvPr>
          <p:cNvSpPr>
            <a:spLocks xmlns:a="http://schemas.openxmlformats.org/drawingml/2006/main" noGrp="1"/>
          </p:cNvSpPr>
          <p:nvPr/>
        </p:nvSpPr>
        <p:spPr>
          <a:xfrm xmlns:a="http://schemas.openxmlformats.org/drawingml/2006/main">
            <a:off x="571500" y="1724025"/>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533650"/>
          <a:ext xmlns:a="http://schemas.openxmlformats.org/drawingml/2006/main" cx="14097000" cy="1885950"/>
        </p:xfrm>
        <a:graphic xmlns:a="http://schemas.openxmlformats.org/drawingml/2006/main">
          <a:graphicData uri="http://schemas.openxmlformats.org/drawingml/2006/table">
            <a:tbl>
              <a:tblPr/>
              <a:tblGrid>
                <a:gridCol w="6381750"/>
                <a:gridCol w="2571750"/>
                <a:gridCol w="2571750"/>
                <a:gridCol w="2571750"/>
              </a:tblGrid>
              <a:tr h="942975">
                <a:tc>
                  <a:txBody>
                    <a:bodyPr lIns="171450" tIns="95250" rIns="152400" bIns="95250"/>
                    <a:lstStyle/>
                    <a:p>
                      <a:r>
                        <a:rPr sz="2700" b="1">
                          <a:solidFill>
                            <a:srgbClr val="FFFFFF"/>
                          </a:solidFill>
                          <a:latin typeface="Arial"/>
                          <a:ea typeface="Arial"/>
                          <a:cs typeface="Arial"/>
                        </a:rPr>
                        <a:t>Kaartprijs (€)</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10</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11</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12</a:t>
                      </a:r>
                    </a:p>
                  </a:txBody>
                  <a:tcPr marL="91440" marR="91440" marT="45720" marB="45720" anchor="ctr">
                    <a:solidFill>
                      <a:srgbClr val="183247"/>
                    </a:solidFill>
                  </a:tcPr>
                </a:tc>
              </a:tr>
              <a:tr h="942975">
                <a:tc>
                  <a:txBody>
                    <a:bodyPr lIns="171450" tIns="95250" rIns="152400" bIns="95250"/>
                    <a:lstStyle/>
                    <a:p>
                      <a:r>
                        <a:rPr sz="2700" b="0">
                          <a:solidFill>
                            <a:srgbClr val="183247"/>
                          </a:solidFill>
                          <a:latin typeface="Arial"/>
                          <a:ea typeface="Arial"/>
                          <a:cs typeface="Arial"/>
                        </a:rPr>
                        <a:t>Bezoekers per avond</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90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70</a:t>
                      </a:r>
                    </a:p>
                  </a:txBody>
                  <a:tcPr marL="91440" marR="91440" marT="45720" marB="45720" anchor="ctr">
                    <a:solidFill>
                      <a:srgbClr val="FFFFFF"/>
                    </a:solidFill>
                  </a:tcPr>
                </a:tc>
              </a:tr>
            </a:tbl>
          </a:graphicData>
        </a:graphic>
      </p:graphicFrame>
      <p:sp>
        <p:nvSpPr>
          <p:cNvPr id="7" name="€ 11 ligt halverwege € 10 en € 12.">
            <a:extLst xmlns:a="http://schemas.openxmlformats.org/drawingml/2006/main">
              <a:ext uri="{FF2B5EF4-FFF2-40B4-BE49-F238E27FC236}">
                <a16:creationId xmlns:a16="http://schemas.microsoft.com/office/drawing/2014/main" id="{47436FA7-26F2-45C0-BD40-64D40C001B88}"/>
              </a:ext>
            </a:extLst>
          </p:cNvPr>
          <p:cNvSpPr>
            <a:spLocks xmlns:a="http://schemas.openxmlformats.org/drawingml/2006/main" noGrp="1"/>
          </p:cNvSpPr>
          <p:nvPr/>
        </p:nvSpPr>
        <p:spPr>
          <a:xfrm xmlns:a="http://schemas.openxmlformats.org/drawingml/2006/main">
            <a:off x="571500" y="492442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€ 11 ligt halverwege € 10 en € 12.</a:t>
            </a:r>
          </a:p>
        </p:txBody>
      </p:sp>
      <p:sp>
        <p:nvSpPr>
          <p:cNvPr id="8" name="90 − ½ × (90 − 70) = 80 bezoekers per avond">
            <a:extLst xmlns:a="http://schemas.openxmlformats.org/drawingml/2006/main">
              <a:ext uri="{FF2B5EF4-FFF2-40B4-BE49-F238E27FC236}">
                <a16:creationId xmlns:a16="http://schemas.microsoft.com/office/drawing/2014/main" id="{7550737D-6785-4C76-AD64-22BA2B6ACA9F}"/>
              </a:ext>
            </a:extLst>
          </p:cNvPr>
          <p:cNvSpPr>
            <a:spLocks xmlns:a="http://schemas.openxmlformats.org/drawingml/2006/main" noGrp="1"/>
          </p:cNvSpPr>
          <p:nvPr/>
        </p:nvSpPr>
        <p:spPr>
          <a:xfrm xmlns:a="http://schemas.openxmlformats.org/drawingml/2006/main">
            <a:off x="571500" y="58959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90 − ½ × (90 − 70) = 80 bezoekers per avond</a:t>
            </a:r>
          </a:p>
        </p:txBody>
      </p:sp>
      <p:sp>
        <p:nvSpPr>
          <p:cNvPr id="9" name="Dit is een modelverwachting onder de afgesproken a">
            <a:extLst xmlns:a="http://schemas.openxmlformats.org/drawingml/2006/main">
              <a:ext uri="{FF2B5EF4-FFF2-40B4-BE49-F238E27FC236}">
                <a16:creationId xmlns:a16="http://schemas.microsoft.com/office/drawing/2014/main" id="{2A42695C-67D4-4E7A-B9E2-D8801A521412}"/>
              </a:ext>
            </a:extLst>
          </p:cNvPr>
          <p:cNvSpPr>
            <a:spLocks xmlns:a="http://schemas.openxmlformats.org/drawingml/2006/main" noGrp="1"/>
          </p:cNvSpPr>
          <p:nvPr/>
        </p:nvSpPr>
        <p:spPr>
          <a:xfrm xmlns:a="http://schemas.openxmlformats.org/drawingml/2006/main">
            <a:off x="571500" y="71628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Dit is een modelverwachting onder de afgesproken aannames.</a:t>
            </a:r>
          </a:p>
        </p:txBody>
      </p:sp>
    </p:spTree>
    <p:extLst>
      <p:ext uri="{BB962C8B-B14F-4D97-AF65-F5344CB8AC3E}">
        <p14:creationId xmlns:p14="http://schemas.microsoft.com/office/powerpoint/2010/main" val="20290632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4 Gemengde opgaven">
            <a:extLst xmlns:a="http://schemas.openxmlformats.org/drawingml/2006/main">
              <a:ext uri="{FF2B5EF4-FFF2-40B4-BE49-F238E27FC236}">
                <a16:creationId xmlns:a16="http://schemas.microsoft.com/office/drawing/2014/main" id="{349E48AD-D8AA-4E4A-A0F2-2DE4241D84B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§1.1.4 Gemengde opgaven</a:t>
            </a:r>
          </a:p>
        </p:txBody>
      </p:sp>
      <p:sp>
        <p:nvSpPr>
          <p:cNvPr id="2" name="">
            <a:extLst xmlns:a="http://schemas.openxmlformats.org/drawingml/2006/main">
              <a:ext uri="{FF2B5EF4-FFF2-40B4-BE49-F238E27FC236}">
                <a16:creationId xmlns:a16="http://schemas.microsoft.com/office/drawing/2014/main" id="{B1177C01-91BC-42A5-99A1-4A17E8AD0F0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04751623-8884-47C6-8A78-155BFA66DC6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6">
            <a:extLst xmlns:a="http://schemas.openxmlformats.org/drawingml/2006/main">
              <a:ext uri="{FF2B5EF4-FFF2-40B4-BE49-F238E27FC236}">
                <a16:creationId xmlns:a16="http://schemas.microsoft.com/office/drawing/2014/main" id="{ADB5F4B2-A2A9-46C5-AA91-365EEE41245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phase">
            <a:extLst xmlns:a="http://schemas.openxmlformats.org/drawingml/2006/main">
              <a:ext uri="{FF2B5EF4-FFF2-40B4-BE49-F238E27FC236}">
                <a16:creationId xmlns:a16="http://schemas.microsoft.com/office/drawing/2014/main" id="{769FACCE-83CA-408E-ABE7-8CAE3A1BA6CA}"/>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Gemengde opgaven</a:t>
            </a:r>
          </a:p>
        </p:txBody>
      </p:sp>
      <p:sp>
        <p:nvSpPr>
          <p:cNvPr id="6" name="Lesroute">
            <a:extLst xmlns:a="http://schemas.openxmlformats.org/drawingml/2006/main">
              <a:ext uri="{FF2B5EF4-FFF2-40B4-BE49-F238E27FC236}">
                <a16:creationId xmlns:a16="http://schemas.microsoft.com/office/drawing/2014/main" id="{D5A8214D-DCC3-420E-9CDC-6B6A014E5234}"/>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43182969-F0D0-41C0-BBE0-AFA00506B9BE}"/>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8533BDD8-91D4-4561-85C6-ED7F1E77115B}"/>
              </a:ext>
            </a:extLst>
          </p:cNvPr>
          <p:cNvSpPr>
            <a:spLocks xmlns:a="http://schemas.openxmlformats.org/drawingml/2006/main" noGrp="1"/>
          </p:cNvSpPr>
          <p:nvPr/>
        </p:nvSpPr>
        <p:spPr>
          <a:xfrm xmlns:a="http://schemas.openxmlformats.org/drawingml/2006/main">
            <a:off x="1104900" y="2324100"/>
            <a:ext cx="7572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pen en rekenmachine.</a:t>
            </a:r>
          </a:p>
        </p:txBody>
      </p:sp>
      <p:sp>
        <p:nvSpPr>
          <p:cNvPr id="9" name="route-number-2">
            <a:extLst xmlns:a="http://schemas.openxmlformats.org/drawingml/2006/main">
              <a:ext uri="{FF2B5EF4-FFF2-40B4-BE49-F238E27FC236}">
                <a16:creationId xmlns:a16="http://schemas.microsoft.com/office/drawing/2014/main" id="{2C173DEE-923C-4F6F-87E7-2F31981E0085}"/>
              </a:ext>
            </a:extLst>
          </p:cNvPr>
          <p:cNvSpPr>
            <a:spLocks xmlns:a="http://schemas.openxmlformats.org/drawingml/2006/main" noGrp="1"/>
          </p:cNvSpPr>
          <p:nvPr/>
        </p:nvSpPr>
        <p:spPr>
          <a:xfrm xmlns:a="http://schemas.openxmlformats.org/drawingml/2006/main">
            <a:off x="571500" y="32575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DEE4B05-9AFF-4CCC-AAE4-EEB3D8FA9ED0}"/>
              </a:ext>
            </a:extLst>
          </p:cNvPr>
          <p:cNvSpPr>
            <a:spLocks xmlns:a="http://schemas.openxmlformats.org/drawingml/2006/main" noGrp="1"/>
          </p:cNvSpPr>
          <p:nvPr/>
        </p:nvSpPr>
        <p:spPr>
          <a:xfrm xmlns:a="http://schemas.openxmlformats.org/drawingml/2006/main">
            <a:off x="1104900" y="3257550"/>
            <a:ext cx="757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529BAFE6-3203-4495-A232-BB6AF460D364}"/>
              </a:ext>
            </a:extLst>
          </p:cNvPr>
          <p:cNvSpPr>
            <a:spLocks xmlns:a="http://schemas.openxmlformats.org/drawingml/2006/main" noGrp="1"/>
          </p:cNvSpPr>
          <p:nvPr/>
        </p:nvSpPr>
        <p:spPr>
          <a:xfrm xmlns:a="http://schemas.openxmlformats.org/drawingml/2006/main">
            <a:off x="571500" y="38385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7CA96AF-A330-4B6E-A22D-B4C78662DF58}"/>
              </a:ext>
            </a:extLst>
          </p:cNvPr>
          <p:cNvSpPr>
            <a:spLocks xmlns:a="http://schemas.openxmlformats.org/drawingml/2006/main" noGrp="1"/>
          </p:cNvSpPr>
          <p:nvPr/>
        </p:nvSpPr>
        <p:spPr>
          <a:xfrm xmlns:a="http://schemas.openxmlformats.org/drawingml/2006/main">
            <a:off x="1104900" y="3838575"/>
            <a:ext cx="757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0D6693B7-552D-46E3-A675-16F7BF107AA7}"/>
              </a:ext>
            </a:extLst>
          </p:cNvPr>
          <p:cNvSpPr>
            <a:spLocks xmlns:a="http://schemas.openxmlformats.org/drawingml/2006/main" noGrp="1"/>
          </p:cNvSpPr>
          <p:nvPr/>
        </p:nvSpPr>
        <p:spPr>
          <a:xfrm xmlns:a="http://schemas.openxmlformats.org/drawingml/2006/main">
            <a:off x="571500" y="4457700"/>
            <a:ext cx="457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126470B6-0E1C-41C6-A24E-B09E44FBC0B9}"/>
              </a:ext>
            </a:extLst>
          </p:cNvPr>
          <p:cNvSpPr>
            <a:spLocks xmlns:a="http://schemas.openxmlformats.org/drawingml/2006/main" noGrp="1"/>
          </p:cNvSpPr>
          <p:nvPr/>
        </p:nvSpPr>
        <p:spPr>
          <a:xfrm xmlns:a="http://schemas.openxmlformats.org/drawingml/2006/main">
            <a:off x="1104900" y="4457700"/>
            <a:ext cx="7572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a:t>
            </a:r>
          </a:p>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stel vragen en kijk je antwoorden na.</a:t>
            </a:r>
          </a:p>
        </p:txBody>
      </p:sp>
      <p:sp>
        <p:nvSpPr>
          <p:cNvPr id="15" name="route-number-5">
            <a:extLst xmlns:a="http://schemas.openxmlformats.org/drawingml/2006/main">
              <a:ext uri="{FF2B5EF4-FFF2-40B4-BE49-F238E27FC236}">
                <a16:creationId xmlns:a16="http://schemas.microsoft.com/office/drawing/2014/main" id="{5545330A-9D9C-4ABF-9FF7-8F6D6F941A9C}"/>
              </a:ext>
            </a:extLst>
          </p:cNvPr>
          <p:cNvSpPr>
            <a:spLocks xmlns:a="http://schemas.openxmlformats.org/drawingml/2006/main" noGrp="1"/>
          </p:cNvSpPr>
          <p:nvPr/>
        </p:nvSpPr>
        <p:spPr>
          <a:xfrm xmlns:a="http://schemas.openxmlformats.org/drawingml/2006/main">
            <a:off x="571500" y="5724525"/>
            <a:ext cx="45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2182918-44E8-4BAC-83D5-5C795F7768DE}"/>
              </a:ext>
            </a:extLst>
          </p:cNvPr>
          <p:cNvSpPr>
            <a:spLocks xmlns:a="http://schemas.openxmlformats.org/drawingml/2006/main" noGrp="1"/>
          </p:cNvSpPr>
          <p:nvPr/>
        </p:nvSpPr>
        <p:spPr>
          <a:xfrm xmlns:a="http://schemas.openxmlformats.org/drawingml/2006/main">
            <a:off x="1104900" y="5724525"/>
            <a:ext cx="7572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0F786E3-5B88-4544-A320-00A71A9B1FA0}"/>
              </a:ext>
            </a:extLst>
          </p:cNvPr>
          <p:cNvSpPr>
            <a:spLocks xmlns:a="http://schemas.openxmlformats.org/drawingml/2006/main" noGrp="1"/>
          </p:cNvSpPr>
          <p:nvPr/>
        </p:nvSpPr>
        <p:spPr>
          <a:xfrm xmlns:a="http://schemas.openxmlformats.org/drawingml/2006/main">
            <a:off x="571500" y="669607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BD8B37F7-74B4-4A15-9D95-9A50A6D83C42}"/>
              </a:ext>
            </a:extLst>
          </p:cNvPr>
          <p:cNvSpPr>
            <a:spLocks xmlns:a="http://schemas.openxmlformats.org/drawingml/2006/main" noGrp="1"/>
          </p:cNvSpPr>
          <p:nvPr/>
        </p:nvSpPr>
        <p:spPr>
          <a:xfrm xmlns:a="http://schemas.openxmlformats.org/drawingml/2006/main">
            <a:off x="1104900" y="6696075"/>
            <a:ext cx="757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opgave 36.</a:t>
            </a:r>
          </a:p>
        </p:txBody>
      </p:sp>
      <p:sp>
        <p:nvSpPr>
          <p:cNvPr id="19" name="route-number-7">
            <a:extLst xmlns:a="http://schemas.openxmlformats.org/drawingml/2006/main">
              <a:ext uri="{FF2B5EF4-FFF2-40B4-BE49-F238E27FC236}">
                <a16:creationId xmlns:a16="http://schemas.microsoft.com/office/drawing/2014/main" id="{05CC1833-DF7F-4898-9548-25ED972361FB}"/>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2686F155-775D-4FF7-80AB-18BCB45AF9A8}"/>
              </a:ext>
            </a:extLst>
          </p:cNvPr>
          <p:cNvSpPr>
            <a:spLocks xmlns:a="http://schemas.openxmlformats.org/drawingml/2006/main" noGrp="1"/>
          </p:cNvSpPr>
          <p:nvPr/>
        </p:nvSpPr>
        <p:spPr>
          <a:xfrm xmlns:a="http://schemas.openxmlformats.org/drawingml/2006/main">
            <a:off x="1104900" y="7372350"/>
            <a:ext cx="757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1D8680DA-E726-43EA-A512-71ACF1AAE90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3E2A9E8A-16D3-43DC-A1E4-E435E6C8520C}"/>
              </a:ext>
            </a:extLst>
          </p:cNvPr>
          <p:cNvSpPr>
            <a:spLocks xmlns:a="http://schemas.openxmlformats.org/drawingml/2006/main" noGrp="1"/>
          </p:cNvSpPr>
          <p:nvPr/>
        </p:nvSpPr>
        <p:spPr>
          <a:xfrm xmlns:a="http://schemas.openxmlformats.org/drawingml/2006/main">
            <a:off x="9258300" y="2324100"/>
            <a:ext cx="5381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 en methode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Keuze, grafiek en berekening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combineren. Advies onderbouwen.</a:t>
            </a:r>
          </a:p>
        </p:txBody>
      </p:sp>
      <p:sp>
        <p:nvSpPr>
          <p:cNvPr id="23" name="">
            <a:extLst xmlns:a="http://schemas.openxmlformats.org/drawingml/2006/main">
              <a:ext uri="{FF2B5EF4-FFF2-40B4-BE49-F238E27FC236}">
                <a16:creationId xmlns:a16="http://schemas.microsoft.com/office/drawing/2014/main" id="{A2463762-BA6D-46D7-A246-F0D6373FCC07}"/>
              </a:ext>
            </a:extLst>
          </p:cNvPr>
          <p:cNvSpPr>
            <a:spLocks xmlns:a="http://schemas.openxmlformats.org/drawingml/2006/main" noGrp="1"/>
          </p:cNvSpPr>
          <p:nvPr/>
        </p:nvSpPr>
        <p:spPr>
          <a:xfrm xmlns:a="http://schemas.openxmlformats.org/drawingml/2006/main">
            <a:off x="9258300" y="366712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8759FB7-3194-4B24-9BC4-E9E6BC777745}"/>
              </a:ext>
            </a:extLst>
          </p:cNvPr>
          <p:cNvSpPr>
            <a:spLocks xmlns:a="http://schemas.openxmlformats.org/drawingml/2006/main" noGrp="1"/>
          </p:cNvSpPr>
          <p:nvPr/>
        </p:nvSpPr>
        <p:spPr>
          <a:xfrm xmlns:a="http://schemas.openxmlformats.org/drawingml/2006/main">
            <a:off x="9258300" y="39052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068ED23-38C6-4833-B840-551542C8CD3B}"/>
              </a:ext>
            </a:extLst>
          </p:cNvPr>
          <p:cNvSpPr>
            <a:spLocks xmlns:a="http://schemas.openxmlformats.org/drawingml/2006/main" noGrp="1"/>
          </p:cNvSpPr>
          <p:nvPr/>
        </p:nvSpPr>
        <p:spPr>
          <a:xfrm xmlns:a="http://schemas.openxmlformats.org/drawingml/2006/main">
            <a:off x="9258300" y="4486275"/>
            <a:ext cx="5381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39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Opgave 34</a:t>
            </a:r>
          </a:p>
        </p:txBody>
      </p:sp>
      <p:sp>
        <p:nvSpPr>
          <p:cNvPr id="26" name="">
            <a:extLst xmlns:a="http://schemas.openxmlformats.org/drawingml/2006/main">
              <a:ext uri="{FF2B5EF4-FFF2-40B4-BE49-F238E27FC236}">
                <a16:creationId xmlns:a16="http://schemas.microsoft.com/office/drawing/2014/main" id="{4D843E5E-9EC3-4454-B985-47B2EAA84C3D}"/>
              </a:ext>
            </a:extLst>
          </p:cNvPr>
          <p:cNvSpPr>
            <a:spLocks xmlns:a="http://schemas.openxmlformats.org/drawingml/2006/main" noGrp="1"/>
          </p:cNvSpPr>
          <p:nvPr/>
        </p:nvSpPr>
        <p:spPr>
          <a:xfrm xmlns:a="http://schemas.openxmlformats.org/drawingml/2006/main">
            <a:off x="9258300" y="55435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613CFB62-B15D-481F-BEF2-0BD06F1767A2}"/>
              </a:ext>
            </a:extLst>
          </p:cNvPr>
          <p:cNvSpPr>
            <a:spLocks xmlns:a="http://schemas.openxmlformats.org/drawingml/2006/main" noGrp="1"/>
          </p:cNvSpPr>
          <p:nvPr/>
        </p:nvSpPr>
        <p:spPr>
          <a:xfrm xmlns:a="http://schemas.openxmlformats.org/drawingml/2006/main">
            <a:off x="9258300" y="57816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6BD9F5C-B7F6-4A05-8C7F-8E46C6AC16B5}"/>
              </a:ext>
            </a:extLst>
          </p:cNvPr>
          <p:cNvSpPr>
            <a:spLocks xmlns:a="http://schemas.openxmlformats.org/drawingml/2006/main" noGrp="1"/>
          </p:cNvSpPr>
          <p:nvPr/>
        </p:nvSpPr>
        <p:spPr>
          <a:xfrm xmlns:a="http://schemas.openxmlformats.org/drawingml/2006/main">
            <a:off x="9258300" y="6334125"/>
            <a:ext cx="5381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§1.1.4 Gemengde opgaven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Opgaven 34, 35, 36, 37 en 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Bespreekopgave: 36</a:t>
            </a:r>
          </a:p>
        </p:txBody>
      </p:sp>
    </p:spTree>
    <p:extLst>
      <p:ext uri="{BB962C8B-B14F-4D97-AF65-F5344CB8AC3E}">
        <p14:creationId xmlns:p14="http://schemas.microsoft.com/office/powerpoint/2010/main" val="20558657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6 · Een schoolactiviteit plannen">
            <a:extLst xmlns:a="http://schemas.openxmlformats.org/drawingml/2006/main">
              <a:ext uri="{FF2B5EF4-FFF2-40B4-BE49-F238E27FC236}">
                <a16:creationId xmlns:a16="http://schemas.microsoft.com/office/drawing/2014/main" id="{D998BD45-DD3A-483E-B39C-54AB68A02F6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 · Een schoolactiviteit plannen</a:t>
            </a:r>
          </a:p>
        </p:txBody>
      </p:sp>
      <p:sp>
        <p:nvSpPr>
          <p:cNvPr id="2" name="">
            <a:extLst xmlns:a="http://schemas.openxmlformats.org/drawingml/2006/main">
              <a:ext uri="{FF2B5EF4-FFF2-40B4-BE49-F238E27FC236}">
                <a16:creationId xmlns:a16="http://schemas.microsoft.com/office/drawing/2014/main" id="{C75D360A-C018-42C4-B689-F53B2A07BA6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6 · Boekpagina 40 · Eerst alle vragen">
            <a:extLst xmlns:a="http://schemas.openxmlformats.org/drawingml/2006/main">
              <a:ext uri="{FF2B5EF4-FFF2-40B4-BE49-F238E27FC236}">
                <a16:creationId xmlns:a16="http://schemas.microsoft.com/office/drawing/2014/main" id="{74DA40B7-5912-43F0-82DD-4DDE67801AF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36 · Boekpagina 40 · Eerst alle vragen</a:t>
            </a:r>
          </a:p>
        </p:txBody>
      </p:sp>
      <p:sp>
        <p:nvSpPr>
          <p:cNvPr id="4" name="7">
            <a:extLst xmlns:a="http://schemas.openxmlformats.org/drawingml/2006/main">
              <a:ext uri="{FF2B5EF4-FFF2-40B4-BE49-F238E27FC236}">
                <a16:creationId xmlns:a16="http://schemas.microsoft.com/office/drawing/2014/main" id="{E4C6D184-4DA1-42C5-8504-D1D658BDFD5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Eén school, twee beslissingen">
            <a:extLst xmlns:a="http://schemas.openxmlformats.org/drawingml/2006/main">
              <a:ext uri="{FF2B5EF4-FFF2-40B4-BE49-F238E27FC236}">
                <a16:creationId xmlns:a16="http://schemas.microsoft.com/office/drawing/2014/main" id="{A1B78106-7BFA-470A-ABA1-BB28456D3783}"/>
              </a:ext>
            </a:extLst>
          </p:cNvPr>
          <p:cNvSpPr>
            <a:spLocks xmlns:a="http://schemas.openxmlformats.org/drawingml/2006/main" noGrp="1"/>
          </p:cNvSpPr>
          <p:nvPr/>
        </p:nvSpPr>
        <p:spPr>
          <a:xfrm xmlns:a="http://schemas.openxmlformats.org/drawingml/2006/main">
            <a:off x="571500" y="17145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Eén school, twee beslissingen</a:t>
            </a:r>
          </a:p>
        </p:txBody>
      </p:sp>
      <p:sp>
        <p:nvSpPr>
          <p:cNvPr id="6" name="Middagactiviteit en avondvoorstelling zijn afzonde">
            <a:extLst xmlns:a="http://schemas.openxmlformats.org/drawingml/2006/main">
              <a:ext uri="{FF2B5EF4-FFF2-40B4-BE49-F238E27FC236}">
                <a16:creationId xmlns:a16="http://schemas.microsoft.com/office/drawing/2014/main" id="{7B21D3E9-AEE3-4F8E-B016-A17547429F4E}"/>
              </a:ext>
            </a:extLst>
          </p:cNvPr>
          <p:cNvSpPr>
            <a:spLocks xmlns:a="http://schemas.openxmlformats.org/drawingml/2006/main" noGrp="1"/>
          </p:cNvSpPr>
          <p:nvPr/>
        </p:nvSpPr>
        <p:spPr>
          <a:xfrm xmlns:a="http://schemas.openxmlformats.org/drawingml/2006/main">
            <a:off x="571500" y="231457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Middagactiviteit en avondvoorstelling zijn afzonderlijke plannen</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in verschillende tijdvakken. Gebruik per vraag de passende bron.</a:t>
            </a:r>
          </a:p>
        </p:txBody>
      </p:sp>
      <p:sp>
        <p:nvSpPr>
          <p:cNvPr id="7" name="Aula: twee uur beschikbaar. Elk uitvoerbaar plan v">
            <a:extLst xmlns:a="http://schemas.openxmlformats.org/drawingml/2006/main">
              <a:ext uri="{FF2B5EF4-FFF2-40B4-BE49-F238E27FC236}">
                <a16:creationId xmlns:a16="http://schemas.microsoft.com/office/drawing/2014/main" id="{06E00916-C59A-4D21-A393-A0FECA987FCB}"/>
              </a:ext>
            </a:extLst>
          </p:cNvPr>
          <p:cNvSpPr>
            <a:spLocks xmlns:a="http://schemas.openxmlformats.org/drawingml/2006/main" noGrp="1"/>
          </p:cNvSpPr>
          <p:nvPr/>
        </p:nvSpPr>
        <p:spPr>
          <a:xfrm xmlns:a="http://schemas.openxmlformats.org/drawingml/2006/main">
            <a:off x="571500" y="3381375"/>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Aula: twee uur beschikbaar. Elk uitvoerbaar plan vraagt alle twee uur.</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Combineren kan niet. Doel: het hoogste bedrag voor een goed doel.</a:t>
            </a:r>
          </a:p>
        </p:txBody>
      </p:sp>
      <p:graphicFrame>
        <p:nvGraphicFramePr>
          <p:cNvPr id="17" name=""/>
          <p:cNvGraphicFramePr/>
          <p:nvPr/>
        </p:nvGraphicFramePr>
        <p:xfrm>
          <a:off xmlns:a="http://schemas.openxmlformats.org/drawingml/2006/main" x="571500" y="4543425"/>
          <a:ext xmlns:a="http://schemas.openxmlformats.org/drawingml/2006/main" cx="14097000" cy="2486025"/>
        </p:xfrm>
        <a:graphic xmlns:a="http://schemas.openxmlformats.org/drawingml/2006/main">
          <a:graphicData uri="http://schemas.openxmlformats.org/drawingml/2006/table">
            <a:tbl>
              <a:tblPr/>
              <a:tblGrid>
                <a:gridCol w="5905500"/>
                <a:gridCol w="8191500"/>
              </a:tblGrid>
              <a:tr h="828675">
                <a:tc>
                  <a:txBody>
                    <a:bodyPr lIns="171450" tIns="95250" rIns="152400" bIns="95250"/>
                    <a:lstStyle/>
                    <a:p>
                      <a:r>
                        <a:rPr sz="2400" b="1">
                          <a:solidFill>
                            <a:srgbClr val="FFFFFF"/>
                          </a:solidFill>
                          <a:latin typeface="Arial"/>
                          <a:ea typeface="Arial"/>
                          <a:cs typeface="Arial"/>
                        </a:rPr>
                        <a:t>Bron A · Middagactiviteit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Bedrag over per uur, na alle uitgaven</a:t>
                      </a:r>
                    </a:p>
                  </a:txBody>
                  <a:tcPr marL="91440" marR="91440" marT="45720" marB="45720" anchor="ctr">
                    <a:solidFill>
                      <a:srgbClr val="183247"/>
                    </a:solidFill>
                  </a:tcPr>
                </a:tc>
              </a:tr>
              <a:tr h="828675">
                <a:tc>
                  <a:txBody>
                    <a:bodyPr lIns="171450" tIns="95250" rIns="152400" bIns="95250"/>
                    <a:lstStyle/>
                    <a:p>
                      <a:r>
                        <a:rPr sz="2400" b="0">
                          <a:solidFill>
                            <a:srgbClr val="183247"/>
                          </a:solidFill>
                          <a:latin typeface="Arial"/>
                          <a:ea typeface="Arial"/>
                          <a:cs typeface="Arial"/>
                        </a:rPr>
                        <a:t>Boekenruil</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€ 60</a:t>
                      </a:r>
                    </a:p>
                  </a:txBody>
                  <a:tcPr marL="91440" marR="91440" marT="45720" marB="45720" anchor="ctr">
                    <a:solidFill>
                      <a:srgbClr val="FFFFFF"/>
                    </a:solidFill>
                  </a:tcPr>
                </a:tc>
              </a:tr>
              <a:tr h="828675">
                <a:tc>
                  <a:txBody>
                    <a:bodyPr lIns="171450" tIns="95250" rIns="152400" bIns="95250"/>
                    <a:lstStyle/>
                    <a:p>
                      <a:r>
                        <a:rPr sz="2400" b="0">
                          <a:solidFill>
                            <a:srgbClr val="183247"/>
                          </a:solidFill>
                          <a:latin typeface="Arial"/>
                          <a:ea typeface="Arial"/>
                          <a:cs typeface="Arial"/>
                        </a:rPr>
                        <a:t>Cultuuratelier</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€ 75</a:t>
                      </a:r>
                    </a:p>
                  </a:txBody>
                  <a:tcPr marL="91440" marR="91440" marT="45720" marB="45720" anchor="ctr">
                    <a:solidFill>
                      <a:srgbClr val="EFF4F7"/>
                    </a:solidFill>
                  </a:tcPr>
                </a:tc>
              </a:tr>
            </a:tbl>
          </a:graphicData>
        </a:graphic>
      </p:graphicFrame>
      <p:sp>
        <p:nvSpPr>
          <p:cNvPr id="9" name="Alle bronnen zijn geconstrueerde gegevens voor dez">
            <a:extLst xmlns:a="http://schemas.openxmlformats.org/drawingml/2006/main">
              <a:ext uri="{FF2B5EF4-FFF2-40B4-BE49-F238E27FC236}">
                <a16:creationId xmlns:a16="http://schemas.microsoft.com/office/drawing/2014/main" id="{E4B521DD-71B7-474E-BB11-C9B99E300879}"/>
              </a:ext>
            </a:extLst>
          </p:cNvPr>
          <p:cNvSpPr>
            <a:spLocks xmlns:a="http://schemas.openxmlformats.org/drawingml/2006/main" noGrp="1"/>
          </p:cNvSpPr>
          <p:nvPr/>
        </p:nvSpPr>
        <p:spPr>
          <a:xfrm xmlns:a="http://schemas.openxmlformats.org/drawingml/2006/main">
            <a:off x="571500" y="742950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Alle bronnen zijn geconstrueerde gegevens voor deze opgave.</a:t>
            </a:r>
          </a:p>
        </p:txBody>
      </p:sp>
    </p:spTree>
    <p:extLst>
      <p:ext uri="{BB962C8B-B14F-4D97-AF65-F5344CB8AC3E}">
        <p14:creationId xmlns:p14="http://schemas.microsoft.com/office/powerpoint/2010/main" val="4887475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6 · Vragen bij bron A">
            <a:extLst xmlns:a="http://schemas.openxmlformats.org/drawingml/2006/main">
              <a:ext uri="{FF2B5EF4-FFF2-40B4-BE49-F238E27FC236}">
                <a16:creationId xmlns:a16="http://schemas.microsoft.com/office/drawing/2014/main" id="{094D8BC5-725E-4A8B-9792-8B9001AF386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 · Vragen bij bron A</a:t>
            </a:r>
          </a:p>
        </p:txBody>
      </p:sp>
      <p:sp>
        <p:nvSpPr>
          <p:cNvPr id="2" name="">
            <a:extLst xmlns:a="http://schemas.openxmlformats.org/drawingml/2006/main">
              <a:ext uri="{FF2B5EF4-FFF2-40B4-BE49-F238E27FC236}">
                <a16:creationId xmlns:a16="http://schemas.microsoft.com/office/drawing/2014/main" id="{24EDAB19-8C59-42C4-AEBB-2C832494DAB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6 · Boekpagina 41 · Eerst alle vragen">
            <a:extLst xmlns:a="http://schemas.openxmlformats.org/drawingml/2006/main">
              <a:ext uri="{FF2B5EF4-FFF2-40B4-BE49-F238E27FC236}">
                <a16:creationId xmlns:a16="http://schemas.microsoft.com/office/drawing/2014/main" id="{E90E534F-6057-4A38-8C4D-3CF3480577B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36 · Boekpagina 41 · Eerst alle vragen</a:t>
            </a:r>
          </a:p>
        </p:txBody>
      </p:sp>
      <p:sp>
        <p:nvSpPr>
          <p:cNvPr id="4" name="8">
            <a:extLst xmlns:a="http://schemas.openxmlformats.org/drawingml/2006/main">
              <a:ext uri="{FF2B5EF4-FFF2-40B4-BE49-F238E27FC236}">
                <a16:creationId xmlns:a16="http://schemas.microsoft.com/office/drawing/2014/main" id="{D44D03E0-7A8C-46EB-B289-CFA153AB293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Schrijf bij elke berekening welke waarden je gebru">
            <a:extLst xmlns:a="http://schemas.openxmlformats.org/drawingml/2006/main">
              <a:ext uri="{FF2B5EF4-FFF2-40B4-BE49-F238E27FC236}">
                <a16:creationId xmlns:a16="http://schemas.microsoft.com/office/drawing/2014/main" id="{B73C0F5D-6E12-4644-AB7D-5E29E26A4858}"/>
              </a:ext>
            </a:extLst>
          </p:cNvPr>
          <p:cNvSpPr>
            <a:spLocks xmlns:a="http://schemas.openxmlformats.org/drawingml/2006/main" noGrp="1"/>
          </p:cNvSpPr>
          <p:nvPr/>
        </p:nvSpPr>
        <p:spPr>
          <a:xfrm xmlns:a="http://schemas.openxmlformats.org/drawingml/2006/main">
            <a:off x="571500" y="1952625"/>
            <a:ext cx="14097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Schrijf bij elke berekening welke waarden je gebruikt</a:t>
            </a:r>
          </a:p>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en geef de juiste eenheid.</a:t>
            </a:r>
          </a:p>
        </p:txBody>
      </p:sp>
      <p:sp>
        <p:nvSpPr>
          <p:cNvPr id="6" name="a.">
            <a:extLst xmlns:a="http://schemas.openxmlformats.org/drawingml/2006/main">
              <a:ext uri="{FF2B5EF4-FFF2-40B4-BE49-F238E27FC236}">
                <a16:creationId xmlns:a16="http://schemas.microsoft.com/office/drawing/2014/main" id="{7CFD24FF-F307-4F1E-817E-F161EF7FC4BC}"/>
              </a:ext>
            </a:extLst>
          </p:cNvPr>
          <p:cNvSpPr>
            <a:spLocks xmlns:a="http://schemas.openxmlformats.org/drawingml/2006/main" noGrp="1"/>
          </p:cNvSpPr>
          <p:nvPr/>
        </p:nvSpPr>
        <p:spPr>
          <a:xfrm xmlns:a="http://schemas.openxmlformats.org/drawingml/2006/main">
            <a:off x="571500" y="368617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a.</a:t>
            </a:r>
          </a:p>
        </p:txBody>
      </p:sp>
      <p:sp>
        <p:nvSpPr>
          <p:cNvPr id="7" name="Leg met bron A uit waarom de school moet kiezen.&#10;B">
            <a:extLst xmlns:a="http://schemas.openxmlformats.org/drawingml/2006/main">
              <a:ext uri="{FF2B5EF4-FFF2-40B4-BE49-F238E27FC236}">
                <a16:creationId xmlns:a16="http://schemas.microsoft.com/office/drawing/2014/main" id="{DC73CD87-B2EA-4A54-8895-8AA49A96B406}"/>
              </a:ext>
            </a:extLst>
          </p:cNvPr>
          <p:cNvSpPr>
            <a:spLocks xmlns:a="http://schemas.openxmlformats.org/drawingml/2006/main" noGrp="1"/>
          </p:cNvSpPr>
          <p:nvPr/>
        </p:nvSpPr>
        <p:spPr>
          <a:xfrm xmlns:a="http://schemas.openxmlformats.org/drawingml/2006/main">
            <a:off x="1476375" y="3686175"/>
            <a:ext cx="131445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Leg met bron A uit waarom de school moet kiezen.</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beide totaalbedragen en bepaal welk plan</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bij het doel past.</a:t>
            </a:r>
          </a:p>
        </p:txBody>
      </p:sp>
      <p:sp>
        <p:nvSpPr>
          <p:cNvPr id="8" name="b.">
            <a:extLst xmlns:a="http://schemas.openxmlformats.org/drawingml/2006/main">
              <a:ext uri="{FF2B5EF4-FFF2-40B4-BE49-F238E27FC236}">
                <a16:creationId xmlns:a16="http://schemas.microsoft.com/office/drawing/2014/main" id="{138E3E24-752A-4857-AF5F-DCCFCE8EB639}"/>
              </a:ext>
            </a:extLst>
          </p:cNvPr>
          <p:cNvSpPr>
            <a:spLocks xmlns:a="http://schemas.openxmlformats.org/drawingml/2006/main" noGrp="1"/>
          </p:cNvSpPr>
          <p:nvPr/>
        </p:nvSpPr>
        <p:spPr>
          <a:xfrm xmlns:a="http://schemas.openxmlformats.org/drawingml/2006/main">
            <a:off x="571500" y="607695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b.</a:t>
            </a:r>
          </a:p>
        </p:txBody>
      </p:sp>
      <p:sp>
        <p:nvSpPr>
          <p:cNvPr id="9" name="Noem de alternatieve kosten van de keuze uit a.&#10;Ve">
            <a:extLst xmlns:a="http://schemas.openxmlformats.org/drawingml/2006/main">
              <a:ext uri="{FF2B5EF4-FFF2-40B4-BE49-F238E27FC236}">
                <a16:creationId xmlns:a16="http://schemas.microsoft.com/office/drawing/2014/main" id="{E39BDB9C-6ACD-4496-A558-2BD3EAC69793}"/>
              </a:ext>
            </a:extLst>
          </p:cNvPr>
          <p:cNvSpPr>
            <a:spLocks xmlns:a="http://schemas.openxmlformats.org/drawingml/2006/main" noGrp="1"/>
          </p:cNvSpPr>
          <p:nvPr/>
        </p:nvSpPr>
        <p:spPr>
          <a:xfrm xmlns:a="http://schemas.openxmlformats.org/drawingml/2006/main">
            <a:off x="1476375" y="6076950"/>
            <a:ext cx="131445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Noem de alternatieve kosten van de keuze uit a.</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Verklaar waarom het verschil tussen beide</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geldbedragen niet hetzelfde is.</a:t>
            </a:r>
          </a:p>
        </p:txBody>
      </p:sp>
    </p:spTree>
    <p:extLst>
      <p:ext uri="{BB962C8B-B14F-4D97-AF65-F5344CB8AC3E}">
        <p14:creationId xmlns:p14="http://schemas.microsoft.com/office/powerpoint/2010/main" val="8738359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6 · Bron B">
            <a:extLst xmlns:a="http://schemas.openxmlformats.org/drawingml/2006/main">
              <a:ext uri="{FF2B5EF4-FFF2-40B4-BE49-F238E27FC236}">
                <a16:creationId xmlns:a16="http://schemas.microsoft.com/office/drawing/2014/main" id="{93A8B28A-C3AC-4881-818E-0FAECA08E93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 · Bron B</a:t>
            </a:r>
          </a:p>
        </p:txBody>
      </p:sp>
      <p:sp>
        <p:nvSpPr>
          <p:cNvPr id="2" name="">
            <a:extLst xmlns:a="http://schemas.openxmlformats.org/drawingml/2006/main">
              <a:ext uri="{FF2B5EF4-FFF2-40B4-BE49-F238E27FC236}">
                <a16:creationId xmlns:a16="http://schemas.microsoft.com/office/drawing/2014/main" id="{8A60590A-4359-4FAC-9106-DF1511C7007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6 · Boekpagina 40 · Eerst alle vragen">
            <a:extLst xmlns:a="http://schemas.openxmlformats.org/drawingml/2006/main">
              <a:ext uri="{FF2B5EF4-FFF2-40B4-BE49-F238E27FC236}">
                <a16:creationId xmlns:a16="http://schemas.microsoft.com/office/drawing/2014/main" id="{3226DA0A-8095-40FE-BB7A-49861A3B1FE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36 · Boekpagina 40 · Eerst alle vragen</a:t>
            </a:r>
          </a:p>
        </p:txBody>
      </p:sp>
      <p:sp>
        <p:nvSpPr>
          <p:cNvPr id="4" name="9">
            <a:extLst xmlns:a="http://schemas.openxmlformats.org/drawingml/2006/main">
              <a:ext uri="{FF2B5EF4-FFF2-40B4-BE49-F238E27FC236}">
                <a16:creationId xmlns:a16="http://schemas.microsoft.com/office/drawing/2014/main" id="{F47706D8-3FE7-4263-B329-A7B20980A1A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Een aparte avondvoorstelling">
            <a:extLst xmlns:a="http://schemas.openxmlformats.org/drawingml/2006/main">
              <a:ext uri="{FF2B5EF4-FFF2-40B4-BE49-F238E27FC236}">
                <a16:creationId xmlns:a16="http://schemas.microsoft.com/office/drawing/2014/main" id="{A2ECBF98-FB2F-4238-8317-7A9F67913FF0}"/>
              </a:ext>
            </a:extLst>
          </p:cNvPr>
          <p:cNvSpPr>
            <a:spLocks xmlns:a="http://schemas.openxmlformats.org/drawingml/2006/main" noGrp="1"/>
          </p:cNvSpPr>
          <p:nvPr/>
        </p:nvSpPr>
        <p:spPr>
          <a:xfrm xmlns:a="http://schemas.openxmlformats.org/drawingml/2006/main">
            <a:off x="571500" y="1809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Een aparte avondvoorstelling</a:t>
            </a:r>
          </a:p>
        </p:txBody>
      </p:sp>
      <p:sp>
        <p:nvSpPr>
          <p:cNvPr id="6" name="Het model voorspelt bezoekers bij verschillende ti">
            <a:extLst xmlns:a="http://schemas.openxmlformats.org/drawingml/2006/main">
              <a:ext uri="{FF2B5EF4-FFF2-40B4-BE49-F238E27FC236}">
                <a16:creationId xmlns:a16="http://schemas.microsoft.com/office/drawing/2014/main" id="{91D4BD68-2C1B-4379-9ED7-CFB5B8B697BC}"/>
              </a:ext>
            </a:extLst>
          </p:cNvPr>
          <p:cNvSpPr>
            <a:spLocks xmlns:a="http://schemas.openxmlformats.org/drawingml/2006/main" noGrp="1"/>
          </p:cNvSpPr>
          <p:nvPr/>
        </p:nvSpPr>
        <p:spPr>
          <a:xfrm xmlns:a="http://schemas.openxmlformats.org/drawingml/2006/main">
            <a:off x="571500" y="270510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Het model voorspelt bezoekers bij verschillende ticketprijzen.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Andere omstandigheden blijven gelijk. Tussen de drie punten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neemt de commissie een rechte lijn aan.</a:t>
            </a:r>
          </a:p>
        </p:txBody>
      </p:sp>
      <p:graphicFrame>
        <p:nvGraphicFramePr>
          <p:cNvPr id="16" name=""/>
          <p:cNvGraphicFramePr/>
          <p:nvPr/>
        </p:nvGraphicFramePr>
        <p:xfrm>
          <a:off xmlns:a="http://schemas.openxmlformats.org/drawingml/2006/main" x="571500" y="4371975"/>
          <a:ext xmlns:a="http://schemas.openxmlformats.org/drawingml/2006/main" cx="14097000" cy="2009775"/>
        </p:xfrm>
        <a:graphic xmlns:a="http://schemas.openxmlformats.org/drawingml/2006/main">
          <a:graphicData uri="http://schemas.openxmlformats.org/drawingml/2006/table">
            <a:tbl>
              <a:tblPr/>
              <a:tblGrid>
                <a:gridCol w="6953250"/>
                <a:gridCol w="2381250"/>
                <a:gridCol w="2381250"/>
                <a:gridCol w="2381250"/>
              </a:tblGrid>
              <a:tr h="1004888">
                <a:tc>
                  <a:txBody>
                    <a:bodyPr lIns="171450" tIns="95250" rIns="152400" bIns="95250"/>
                    <a:lstStyle/>
                    <a:p>
                      <a:r>
                        <a:rPr sz="2400" b="1">
                          <a:solidFill>
                            <a:srgbClr val="FFFFFF"/>
                          </a:solidFill>
                          <a:latin typeface="Arial"/>
                          <a:ea typeface="Arial"/>
                          <a:cs typeface="Arial"/>
                        </a:rPr>
                        <a:t>Ticketprijs P (€ per bezoeker)</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4</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6</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8</a:t>
                      </a:r>
                    </a:p>
                  </a:txBody>
                  <a:tcPr marL="91440" marR="91440" marT="45720" marB="45720" anchor="ctr">
                    <a:solidFill>
                      <a:srgbClr val="183247"/>
                    </a:solidFill>
                  </a:tcPr>
                </a:tc>
              </a:tr>
              <a:tr h="1004888">
                <a:tc>
                  <a:txBody>
                    <a:bodyPr lIns="171450" tIns="95250" rIns="152400" bIns="95250"/>
                    <a:lstStyle/>
                    <a:p>
                      <a:r>
                        <a:rPr sz="2400" b="0">
                          <a:solidFill>
                            <a:srgbClr val="183247"/>
                          </a:solidFill>
                          <a:latin typeface="Arial"/>
                          <a:ea typeface="Arial"/>
                          <a:cs typeface="Arial"/>
                        </a:rPr>
                        <a:t>Verwacht aantal Q (per avond)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180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140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100</a:t>
                      </a:r>
                    </a:p>
                  </a:txBody>
                  <a:tcPr marL="91440" marR="91440" marT="45720" marB="45720" anchor="ctr">
                    <a:solidFill>
                      <a:srgbClr val="FFFFFF"/>
                    </a:solidFill>
                  </a:tcPr>
                </a:tc>
              </a:tr>
            </a:tbl>
          </a:graphicData>
        </a:graphic>
      </p:graphicFrame>
      <p:sp>
        <p:nvSpPr>
          <p:cNvPr id="8" name="De zaal heeft voldoende plaatsen voor alle getoond">
            <a:extLst xmlns:a="http://schemas.openxmlformats.org/drawingml/2006/main">
              <a:ext uri="{FF2B5EF4-FFF2-40B4-BE49-F238E27FC236}">
                <a16:creationId xmlns:a16="http://schemas.microsoft.com/office/drawing/2014/main" id="{829C5349-A2DE-4BC4-BCE3-B2EE7B55DF8D}"/>
              </a:ext>
            </a:extLst>
          </p:cNvPr>
          <p:cNvSpPr>
            <a:spLocks xmlns:a="http://schemas.openxmlformats.org/drawingml/2006/main" noGrp="1"/>
          </p:cNvSpPr>
          <p:nvPr/>
        </p:nvSpPr>
        <p:spPr>
          <a:xfrm xmlns:a="http://schemas.openxmlformats.org/drawingml/2006/main">
            <a:off x="571500" y="6743700"/>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De zaal heeft voldoende plaatsen voor alle getoonde aantallen.</a:t>
            </a:r>
          </a:p>
        </p:txBody>
      </p:sp>
      <p:sp>
        <p:nvSpPr>
          <p:cNvPr id="9" name="Voorstel: € 7 per ticket. Doel: minstens 130 bezoe">
            <a:extLst xmlns:a="http://schemas.openxmlformats.org/drawingml/2006/main">
              <a:ext uri="{FF2B5EF4-FFF2-40B4-BE49-F238E27FC236}">
                <a16:creationId xmlns:a16="http://schemas.microsoft.com/office/drawing/2014/main" id="{97F464D4-DF0A-4E11-B0AF-F6B688EA9335}"/>
              </a:ext>
            </a:extLst>
          </p:cNvPr>
          <p:cNvSpPr>
            <a:spLocks xmlns:a="http://schemas.openxmlformats.org/drawingml/2006/main" noGrp="1"/>
          </p:cNvSpPr>
          <p:nvPr/>
        </p:nvSpPr>
        <p:spPr>
          <a:xfrm xmlns:a="http://schemas.openxmlformats.org/drawingml/2006/main">
            <a:off x="571500" y="744855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Voorstel: € 7 per ticket. Doel: minstens 130 bezoekers.</a:t>
            </a:r>
          </a:p>
        </p:txBody>
      </p:sp>
    </p:spTree>
    <p:extLst>
      <p:ext uri="{BB962C8B-B14F-4D97-AF65-F5344CB8AC3E}">
        <p14:creationId xmlns:p14="http://schemas.microsoft.com/office/powerpoint/2010/main" val="7484083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6 · Vragen bij bron B">
            <a:extLst xmlns:a="http://schemas.openxmlformats.org/drawingml/2006/main">
              <a:ext uri="{FF2B5EF4-FFF2-40B4-BE49-F238E27FC236}">
                <a16:creationId xmlns:a16="http://schemas.microsoft.com/office/drawing/2014/main" id="{CF6D04EB-C1C0-416A-B1D9-2B7A7A73AFF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 · Vragen bij bron B</a:t>
            </a:r>
          </a:p>
        </p:txBody>
      </p:sp>
      <p:sp>
        <p:nvSpPr>
          <p:cNvPr id="2" name="">
            <a:extLst xmlns:a="http://schemas.openxmlformats.org/drawingml/2006/main">
              <a:ext uri="{FF2B5EF4-FFF2-40B4-BE49-F238E27FC236}">
                <a16:creationId xmlns:a16="http://schemas.microsoft.com/office/drawing/2014/main" id="{E5BE9051-8476-4BEE-A6FB-AC44AF18225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6 · Boekpagina 41 · Eerst alle vragen">
            <a:extLst xmlns:a="http://schemas.openxmlformats.org/drawingml/2006/main">
              <a:ext uri="{FF2B5EF4-FFF2-40B4-BE49-F238E27FC236}">
                <a16:creationId xmlns:a16="http://schemas.microsoft.com/office/drawing/2014/main" id="{B44C2C3A-293E-4B53-B662-3BB8BA8F0BE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36 · Boekpagina 41 · Eerst alle vragen</a:t>
            </a:r>
          </a:p>
        </p:txBody>
      </p:sp>
      <p:sp>
        <p:nvSpPr>
          <p:cNvPr id="4" name="10">
            <a:extLst xmlns:a="http://schemas.openxmlformats.org/drawingml/2006/main">
              <a:ext uri="{FF2B5EF4-FFF2-40B4-BE49-F238E27FC236}">
                <a16:creationId xmlns:a16="http://schemas.microsoft.com/office/drawing/2014/main" id="{FFE468B9-F374-407D-AD86-98982449325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c.">
            <a:extLst xmlns:a="http://schemas.openxmlformats.org/drawingml/2006/main">
              <a:ext uri="{FF2B5EF4-FFF2-40B4-BE49-F238E27FC236}">
                <a16:creationId xmlns:a16="http://schemas.microsoft.com/office/drawing/2014/main" id="{B5B57DAE-BA87-41DD-890A-6AC9DEB2B0A5}"/>
              </a:ext>
            </a:extLst>
          </p:cNvPr>
          <p:cNvSpPr>
            <a:spLocks xmlns:a="http://schemas.openxmlformats.org/drawingml/2006/main" noGrp="1"/>
          </p:cNvSpPr>
          <p:nvPr/>
        </p:nvSpPr>
        <p:spPr>
          <a:xfrm xmlns:a="http://schemas.openxmlformats.org/drawingml/2006/main">
            <a:off x="571500" y="200977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c.</a:t>
            </a:r>
          </a:p>
        </p:txBody>
      </p:sp>
      <p:sp>
        <p:nvSpPr>
          <p:cNvPr id="6" name="Teken zelf een grafiek op ruitjespapier. Benoem as">
            <a:extLst xmlns:a="http://schemas.openxmlformats.org/drawingml/2006/main">
              <a:ext uri="{FF2B5EF4-FFF2-40B4-BE49-F238E27FC236}">
                <a16:creationId xmlns:a16="http://schemas.microsoft.com/office/drawing/2014/main" id="{D18CDE73-7329-45BD-A595-57EBE67EA34D}"/>
              </a:ext>
            </a:extLst>
          </p:cNvPr>
          <p:cNvSpPr>
            <a:spLocks xmlns:a="http://schemas.openxmlformats.org/drawingml/2006/main" noGrp="1"/>
          </p:cNvSpPr>
          <p:nvPr/>
        </p:nvSpPr>
        <p:spPr>
          <a:xfrm xmlns:a="http://schemas.openxmlformats.org/drawingml/2006/main">
            <a:off x="1476375" y="2009775"/>
            <a:ext cx="13144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Teken zelf een grafiek op ruitjespapier. Benoem assen en</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eenheden, kies een schaal en teken de punten en rechte lijnstukken.</a:t>
            </a:r>
          </a:p>
        </p:txBody>
      </p:sp>
      <p:sp>
        <p:nvSpPr>
          <p:cNvPr id="7" name="d.">
            <a:extLst xmlns:a="http://schemas.openxmlformats.org/drawingml/2006/main">
              <a:ext uri="{FF2B5EF4-FFF2-40B4-BE49-F238E27FC236}">
                <a16:creationId xmlns:a16="http://schemas.microsoft.com/office/drawing/2014/main" id="{C04BB553-9DE3-4CD9-A146-EA04A5A8F30C}"/>
              </a:ext>
            </a:extLst>
          </p:cNvPr>
          <p:cNvSpPr>
            <a:spLocks xmlns:a="http://schemas.openxmlformats.org/drawingml/2006/main" noGrp="1"/>
          </p:cNvSpPr>
          <p:nvPr/>
        </p:nvSpPr>
        <p:spPr>
          <a:xfrm xmlns:a="http://schemas.openxmlformats.org/drawingml/2006/main">
            <a:off x="571500" y="398145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a:t>
            </a:r>
          </a:p>
        </p:txBody>
      </p:sp>
      <p:sp>
        <p:nvSpPr>
          <p:cNvPr id="8" name="Bepaal met lineaire interpolatie het verwachte aan">
            <a:extLst xmlns:a="http://schemas.openxmlformats.org/drawingml/2006/main">
              <a:ext uri="{FF2B5EF4-FFF2-40B4-BE49-F238E27FC236}">
                <a16:creationId xmlns:a16="http://schemas.microsoft.com/office/drawing/2014/main" id="{5CF6AD68-B62F-4BD3-8DF8-5504120D7327}"/>
              </a:ext>
            </a:extLst>
          </p:cNvPr>
          <p:cNvSpPr>
            <a:spLocks xmlns:a="http://schemas.openxmlformats.org/drawingml/2006/main" noGrp="1"/>
          </p:cNvSpPr>
          <p:nvPr/>
        </p:nvSpPr>
        <p:spPr>
          <a:xfrm xmlns:a="http://schemas.openxmlformats.org/drawingml/2006/main">
            <a:off x="1476375" y="3981450"/>
            <a:ext cx="13144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Bepaal met lineaire interpolatie het verwachte aantal</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bezoekers bij een ticketprijs van € 7.</a:t>
            </a:r>
          </a:p>
        </p:txBody>
      </p:sp>
      <p:sp>
        <p:nvSpPr>
          <p:cNvPr id="9" name="g.">
            <a:extLst xmlns:a="http://schemas.openxmlformats.org/drawingml/2006/main">
              <a:ext uri="{FF2B5EF4-FFF2-40B4-BE49-F238E27FC236}">
                <a16:creationId xmlns:a16="http://schemas.microsoft.com/office/drawing/2014/main" id="{59D38042-1CDA-4A20-9E42-B245A8EB9582}"/>
              </a:ext>
            </a:extLst>
          </p:cNvPr>
          <p:cNvSpPr>
            <a:spLocks xmlns:a="http://schemas.openxmlformats.org/drawingml/2006/main" noGrp="1"/>
          </p:cNvSpPr>
          <p:nvPr/>
        </p:nvSpPr>
        <p:spPr>
          <a:xfrm xmlns:a="http://schemas.openxmlformats.org/drawingml/2006/main">
            <a:off x="571500" y="595312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g.</a:t>
            </a:r>
          </a:p>
        </p:txBody>
      </p:sp>
      <p:sp>
        <p:nvSpPr>
          <p:cNvPr id="10" name="Past het prijsvoorstel van € 7 bij het doel van mi">
            <a:extLst xmlns:a="http://schemas.openxmlformats.org/drawingml/2006/main">
              <a:ext uri="{FF2B5EF4-FFF2-40B4-BE49-F238E27FC236}">
                <a16:creationId xmlns:a16="http://schemas.microsoft.com/office/drawing/2014/main" id="{30B9D1E3-D189-4B19-9CFE-D62A0B5A693D}"/>
              </a:ext>
            </a:extLst>
          </p:cNvPr>
          <p:cNvSpPr>
            <a:spLocks xmlns:a="http://schemas.openxmlformats.org/drawingml/2006/main" noGrp="1"/>
          </p:cNvSpPr>
          <p:nvPr/>
        </p:nvSpPr>
        <p:spPr>
          <a:xfrm xmlns:a="http://schemas.openxmlformats.org/drawingml/2006/main">
            <a:off x="1476375" y="5953125"/>
            <a:ext cx="13144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Past het prijsvoorstel van € 7 bij het doel van minstens</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130 bezoekers? Geef advies met het berekende aantal</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en één beperking van het model.</a:t>
            </a:r>
          </a:p>
        </p:txBody>
      </p:sp>
    </p:spTree>
    <p:extLst>
      <p:ext uri="{BB962C8B-B14F-4D97-AF65-F5344CB8AC3E}">
        <p14:creationId xmlns:p14="http://schemas.microsoft.com/office/powerpoint/2010/main" val="19709140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6 · Bron C en vragen e–f">
            <a:extLst xmlns:a="http://schemas.openxmlformats.org/drawingml/2006/main">
              <a:ext uri="{FF2B5EF4-FFF2-40B4-BE49-F238E27FC236}">
                <a16:creationId xmlns:a16="http://schemas.microsoft.com/office/drawing/2014/main" id="{0C4F4997-73B3-420A-842B-A7264B497FD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 · Bron C en vragen e–f</a:t>
            </a:r>
          </a:p>
        </p:txBody>
      </p:sp>
      <p:sp>
        <p:nvSpPr>
          <p:cNvPr id="2" name="">
            <a:extLst xmlns:a="http://schemas.openxmlformats.org/drawingml/2006/main">
              <a:ext uri="{FF2B5EF4-FFF2-40B4-BE49-F238E27FC236}">
                <a16:creationId xmlns:a16="http://schemas.microsoft.com/office/drawing/2014/main" id="{36C3DCD2-9740-4E1A-B781-BA2D3F3E3AD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36 · Boekpagina 40–41 · Eerst alle vragen">
            <a:extLst xmlns:a="http://schemas.openxmlformats.org/drawingml/2006/main">
              <a:ext uri="{FF2B5EF4-FFF2-40B4-BE49-F238E27FC236}">
                <a16:creationId xmlns:a16="http://schemas.microsoft.com/office/drawing/2014/main" id="{56E11143-EA15-4509-AB78-A63C9D2A18F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36 · Boekpagina 40–41 · Eerst alle vragen</a:t>
            </a:r>
          </a:p>
        </p:txBody>
      </p:sp>
      <p:sp>
        <p:nvSpPr>
          <p:cNvPr id="4" name="11">
            <a:extLst xmlns:a="http://schemas.openxmlformats.org/drawingml/2006/main">
              <a:ext uri="{FF2B5EF4-FFF2-40B4-BE49-F238E27FC236}">
                <a16:creationId xmlns:a16="http://schemas.microsoft.com/office/drawing/2014/main" id="{2C28810B-089F-46FA-BA1E-8713C35E2EB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Dezelfde jaarlijkse voorstelling, prijzen tussen j">
            <a:extLst xmlns:a="http://schemas.openxmlformats.org/drawingml/2006/main">
              <a:ext uri="{FF2B5EF4-FFF2-40B4-BE49-F238E27FC236}">
                <a16:creationId xmlns:a16="http://schemas.microsoft.com/office/drawing/2014/main" id="{790AD37E-6DAD-4494-A67A-C49B976203E4}"/>
              </a:ext>
            </a:extLst>
          </p:cNvPr>
          <p:cNvSpPr>
            <a:spLocks xmlns:a="http://schemas.openxmlformats.org/drawingml/2006/main" noGrp="1"/>
          </p:cNvSpPr>
          <p:nvPr/>
        </p:nvSpPr>
        <p:spPr>
          <a:xfrm xmlns:a="http://schemas.openxmlformats.org/drawingml/2006/main">
            <a:off x="571500" y="17716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Dezelfde jaarlijkse voorstelling, prijzen tussen jaren</a:t>
            </a:r>
          </a:p>
        </p:txBody>
      </p:sp>
      <p:graphicFrame>
        <p:nvGraphicFramePr>
          <p:cNvPr id="16" name=""/>
          <p:cNvGraphicFramePr/>
          <p:nvPr/>
        </p:nvGraphicFramePr>
        <p:xfrm>
          <a:off xmlns:a="http://schemas.openxmlformats.org/drawingml/2006/main" x="571500" y="2581275"/>
          <a:ext xmlns:a="http://schemas.openxmlformats.org/drawingml/2006/main" cx="14097000" cy="1562100"/>
        </p:xfrm>
        <a:graphic xmlns:a="http://schemas.openxmlformats.org/drawingml/2006/main">
          <a:graphicData uri="http://schemas.openxmlformats.org/drawingml/2006/table">
            <a:tbl>
              <a:tblPr/>
              <a:tblGrid>
                <a:gridCol w="5524500"/>
                <a:gridCol w="2857500"/>
                <a:gridCol w="2857500"/>
                <a:gridCol w="2857500"/>
              </a:tblGrid>
              <a:tr h="781050">
                <a:tc>
                  <a:txBody>
                    <a:bodyPr lIns="171450" tIns="95250" rIns="152400" bIns="95250"/>
                    <a:lstStyle/>
                    <a:p>
                      <a:r>
                        <a:rPr sz="2400" b="1">
                          <a:solidFill>
                            <a:srgbClr val="FFFFFF"/>
                          </a:solidFill>
                          <a:latin typeface="Arial"/>
                          <a:ea typeface="Arial"/>
                          <a:cs typeface="Arial"/>
                        </a:rPr>
                        <a:t>Jaar</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Basisjaar</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Jaar 2</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Jaar 3</a:t>
                      </a:r>
                    </a:p>
                  </a:txBody>
                  <a:tcPr marL="91440" marR="91440" marT="45720" marB="45720" anchor="ctr">
                    <a:solidFill>
                      <a:srgbClr val="183247"/>
                    </a:solidFill>
                  </a:tcPr>
                </a:tc>
              </a:tr>
              <a:tr h="781050">
                <a:tc>
                  <a:txBody>
                    <a:bodyPr lIns="171450" tIns="95250" rIns="152400" bIns="95250"/>
                    <a:lstStyle/>
                    <a:p>
                      <a:r>
                        <a:rPr sz="2400" b="0">
                          <a:solidFill>
                            <a:srgbClr val="183247"/>
                          </a:solidFill>
                          <a:latin typeface="Arial"/>
                          <a:ea typeface="Arial"/>
                          <a:cs typeface="Arial"/>
                        </a:rPr>
                        <a:t>Ticketprijs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€ 4</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€ 4,80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€ 6</a:t>
                      </a:r>
                    </a:p>
                  </a:txBody>
                  <a:tcPr marL="91440" marR="91440" marT="45720" marB="45720" anchor="ctr">
                    <a:solidFill>
                      <a:srgbClr val="FFFFFF"/>
                    </a:solidFill>
                  </a:tcPr>
                </a:tc>
              </a:tr>
            </a:tbl>
          </a:graphicData>
        </a:graphic>
      </p:graphicFrame>
      <p:sp>
        <p:nvSpPr>
          <p:cNvPr id="7" name="Basisjaar = index 100. Dit is een jaarvergelijking">
            <a:extLst xmlns:a="http://schemas.openxmlformats.org/drawingml/2006/main">
              <a:ext uri="{FF2B5EF4-FFF2-40B4-BE49-F238E27FC236}">
                <a16:creationId xmlns:a16="http://schemas.microsoft.com/office/drawing/2014/main" id="{0DEF391A-D065-4B98-AB7B-731A3665E9DB}"/>
              </a:ext>
            </a:extLst>
          </p:cNvPr>
          <p:cNvSpPr>
            <a:spLocks xmlns:a="http://schemas.openxmlformats.org/drawingml/2006/main" noGrp="1"/>
          </p:cNvSpPr>
          <p:nvPr/>
        </p:nvSpPr>
        <p:spPr>
          <a:xfrm xmlns:a="http://schemas.openxmlformats.org/drawingml/2006/main">
            <a:off x="571500" y="4410075"/>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Basisjaar = index 100. Dit is een jaarvergelijking,</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los van het prijsvoorstel van € 7 uit bron B.</a:t>
            </a:r>
          </a:p>
        </p:txBody>
      </p:sp>
      <p:sp>
        <p:nvSpPr>
          <p:cNvPr id="8" name="Bericht: “De prijsindex stijgt van jaar 2 naar jaa">
            <a:extLst xmlns:a="http://schemas.openxmlformats.org/drawingml/2006/main">
              <a:ext uri="{FF2B5EF4-FFF2-40B4-BE49-F238E27FC236}">
                <a16:creationId xmlns:a16="http://schemas.microsoft.com/office/drawing/2014/main" id="{F7A03548-3D73-40A0-97D6-6A23446D34C6}"/>
              </a:ext>
            </a:extLst>
          </p:cNvPr>
          <p:cNvSpPr>
            <a:spLocks xmlns:a="http://schemas.openxmlformats.org/drawingml/2006/main" noGrp="1"/>
          </p:cNvSpPr>
          <p:nvPr/>
        </p:nvSpPr>
        <p:spPr>
          <a:xfrm xmlns:a="http://schemas.openxmlformats.org/drawingml/2006/main">
            <a:off x="571500" y="5457825"/>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Bericht: “De prijsindex stijgt van jaar 2 naar jaar 3 met</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30 punten. Een ticket is dus 30% duurder geworden.”</a:t>
            </a:r>
          </a:p>
        </p:txBody>
      </p:sp>
      <p:sp>
        <p:nvSpPr>
          <p:cNvPr id="9" name="e. Bereken de prijsindexcijfers van jaar 2 en jaar">
            <a:extLst xmlns:a="http://schemas.openxmlformats.org/drawingml/2006/main">
              <a:ext uri="{FF2B5EF4-FFF2-40B4-BE49-F238E27FC236}">
                <a16:creationId xmlns:a16="http://schemas.microsoft.com/office/drawing/2014/main" id="{32EE1011-CE6E-4AE1-AF09-2FEF12BCF8C6}"/>
              </a:ext>
            </a:extLst>
          </p:cNvPr>
          <p:cNvSpPr>
            <a:spLocks xmlns:a="http://schemas.openxmlformats.org/drawingml/2006/main" noGrp="1"/>
          </p:cNvSpPr>
          <p:nvPr/>
        </p:nvSpPr>
        <p:spPr>
          <a:xfrm xmlns:a="http://schemas.openxmlformats.org/drawingml/2006/main">
            <a:off x="571500" y="6696075"/>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e. Bereken de prijsindexcijfers van jaar 2 en jaar 3. Bereken</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    vervolgens de procentuele prijsverandering tussen die jaren.</a:t>
            </a:r>
          </a:p>
        </p:txBody>
      </p:sp>
      <p:sp>
        <p:nvSpPr>
          <p:cNvPr id="10" name="f. Beoordeel het bericht. Schrijf een verbeterde z">
            <a:extLst xmlns:a="http://schemas.openxmlformats.org/drawingml/2006/main">
              <a:ext uri="{FF2B5EF4-FFF2-40B4-BE49-F238E27FC236}">
                <a16:creationId xmlns:a16="http://schemas.microsoft.com/office/drawing/2014/main" id="{FC29C534-F2DC-469A-B3D5-6BCCFA82F01A}"/>
              </a:ext>
            </a:extLst>
          </p:cNvPr>
          <p:cNvSpPr>
            <a:spLocks xmlns:a="http://schemas.openxmlformats.org/drawingml/2006/main" noGrp="1"/>
          </p:cNvSpPr>
          <p:nvPr/>
        </p:nvSpPr>
        <p:spPr>
          <a:xfrm xmlns:a="http://schemas.openxmlformats.org/drawingml/2006/main">
            <a:off x="571500" y="761047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f. Beoordeel het bericht. Schrijf een verbeterde zin.</a:t>
            </a:r>
          </a:p>
        </p:txBody>
      </p:sp>
    </p:spTree>
    <p:extLst>
      <p:ext uri="{BB962C8B-B14F-4D97-AF65-F5344CB8AC3E}">
        <p14:creationId xmlns:p14="http://schemas.microsoft.com/office/powerpoint/2010/main" val="17921309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6a · Keuze voor de middag">
            <a:extLst xmlns:a="http://schemas.openxmlformats.org/drawingml/2006/main">
              <a:ext uri="{FF2B5EF4-FFF2-40B4-BE49-F238E27FC236}">
                <a16:creationId xmlns:a16="http://schemas.microsoft.com/office/drawing/2014/main" id="{35AE97F2-59B4-4B5E-8A52-F670455DF54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36a · Keuze voor de middag</a:t>
            </a:r>
          </a:p>
        </p:txBody>
      </p:sp>
      <p:sp>
        <p:nvSpPr>
          <p:cNvPr id="2" name="">
            <a:extLst xmlns:a="http://schemas.openxmlformats.org/drawingml/2006/main">
              <a:ext uri="{FF2B5EF4-FFF2-40B4-BE49-F238E27FC236}">
                <a16:creationId xmlns:a16="http://schemas.microsoft.com/office/drawing/2014/main" id="{40743B55-0569-4201-A1C0-A61F6186945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6D5DAFC5-518C-4CFA-AD6F-6525C838119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12">
            <a:extLst xmlns:a="http://schemas.openxmlformats.org/drawingml/2006/main">
              <a:ext uri="{FF2B5EF4-FFF2-40B4-BE49-F238E27FC236}">
                <a16:creationId xmlns:a16="http://schemas.microsoft.com/office/drawing/2014/main" id="{840CB53E-E371-4E0B-B3D6-2BC89892EA4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Eén aula, twee uur, twee plannen die het hele tijd">
            <a:extLst xmlns:a="http://schemas.openxmlformats.org/drawingml/2006/main">
              <a:ext uri="{FF2B5EF4-FFF2-40B4-BE49-F238E27FC236}">
                <a16:creationId xmlns:a16="http://schemas.microsoft.com/office/drawing/2014/main" id="{9CBACC8A-DFAE-49AA-B102-AC6CFEF217E4}"/>
              </a:ext>
            </a:extLst>
          </p:cNvPr>
          <p:cNvSpPr>
            <a:spLocks xmlns:a="http://schemas.openxmlformats.org/drawingml/2006/main" noGrp="1"/>
          </p:cNvSpPr>
          <p:nvPr/>
        </p:nvSpPr>
        <p:spPr>
          <a:xfrm xmlns:a="http://schemas.openxmlformats.org/drawingml/2006/main">
            <a:off x="571500" y="1838325"/>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Eén aula, twee uur, twee plannen die het hele tijdvak vragen</a:t>
            </a:r>
          </a:p>
        </p:txBody>
      </p:sp>
      <p:graphicFrame>
        <p:nvGraphicFramePr>
          <p:cNvPr id="14" name=""/>
          <p:cNvGraphicFramePr/>
          <p:nvPr/>
        </p:nvGraphicFramePr>
        <p:xfrm>
          <a:off xmlns:a="http://schemas.openxmlformats.org/drawingml/2006/main" x="571500" y="3009900"/>
          <a:ext xmlns:a="http://schemas.openxmlformats.org/drawingml/2006/main" cx="14097000" cy="2667000"/>
        </p:xfrm>
        <a:graphic xmlns:a="http://schemas.openxmlformats.org/drawingml/2006/main">
          <a:graphicData uri="http://schemas.openxmlformats.org/drawingml/2006/table">
            <a:tbl>
              <a:tblPr/>
              <a:tblGrid>
                <a:gridCol w="4095750"/>
                <a:gridCol w="5619750"/>
                <a:gridCol w="4381500"/>
              </a:tblGrid>
              <a:tr h="889000">
                <a:tc>
                  <a:txBody>
                    <a:bodyPr lIns="171450" tIns="95250" rIns="152400" bIns="95250"/>
                    <a:lstStyle/>
                    <a:p>
                      <a:r>
                        <a:rPr sz="2400" b="1">
                          <a:solidFill>
                            <a:srgbClr val="FFFFFF"/>
                          </a:solidFill>
                          <a:latin typeface="Arial"/>
                          <a:ea typeface="Arial"/>
                          <a:cs typeface="Arial"/>
                        </a:rPr>
                        <a:t>Plan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Bedrag voor het goede doel</a:t>
                      </a:r>
                    </a:p>
                  </a:txBody>
                  <a:tcPr marL="91440" marR="91440" marT="45720" marB="45720" anchor="ctr">
                    <a:solidFill>
                      <a:srgbClr val="183247"/>
                    </a:solidFill>
                  </a:tcPr>
                </a:tc>
              </a:tr>
              <a:tr h="889000">
                <a:tc>
                  <a:txBody>
                    <a:bodyPr lIns="171450" tIns="95250" rIns="152400" bIns="95250"/>
                    <a:lstStyle/>
                    <a:p>
                      <a:r>
                        <a:rPr sz="2400" b="0">
                          <a:solidFill>
                            <a:srgbClr val="183247"/>
                          </a:solidFill>
                          <a:latin typeface="Arial"/>
                          <a:ea typeface="Arial"/>
                          <a:cs typeface="Arial"/>
                        </a:rPr>
                        <a:t>Boekenruil</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 uur × € 60 per uur</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€ 120</a:t>
                      </a:r>
                    </a:p>
                  </a:txBody>
                  <a:tcPr marL="91440" marR="91440" marT="45720" marB="45720" anchor="ctr">
                    <a:solidFill>
                      <a:srgbClr val="FFFFFF"/>
                    </a:solidFill>
                  </a:tcPr>
                </a:tc>
              </a:tr>
              <a:tr h="889000">
                <a:tc>
                  <a:txBody>
                    <a:bodyPr lIns="171450" tIns="95250" rIns="152400" bIns="95250"/>
                    <a:lstStyle/>
                    <a:p>
                      <a:r>
                        <a:rPr sz="2400" b="0">
                          <a:solidFill>
                            <a:srgbClr val="183247"/>
                          </a:solidFill>
                          <a:latin typeface="Arial"/>
                          <a:ea typeface="Arial"/>
                          <a:cs typeface="Arial"/>
                        </a:rPr>
                        <a:t>Cultuuratelier</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 uur × € 75 per uur</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€ 150</a:t>
                      </a:r>
                    </a:p>
                  </a:txBody>
                  <a:tcPr marL="91440" marR="91440" marT="45720" marB="45720" anchor="ctr">
                    <a:solidFill>
                      <a:srgbClr val="EFF4F7"/>
                    </a:solidFill>
                  </a:tcPr>
                </a:tc>
              </a:tr>
            </a:tbl>
          </a:graphicData>
        </a:graphic>
      </p:graphicFrame>
      <p:sp>
        <p:nvSpPr>
          <p:cNvPr id="7" name="Keuze: cultuuratelier">
            <a:extLst xmlns:a="http://schemas.openxmlformats.org/drawingml/2006/main">
              <a:ext uri="{FF2B5EF4-FFF2-40B4-BE49-F238E27FC236}">
                <a16:creationId xmlns:a16="http://schemas.microsoft.com/office/drawing/2014/main" id="{2DB05E63-0D05-48F9-862D-1D39FA85756B}"/>
              </a:ext>
            </a:extLst>
          </p:cNvPr>
          <p:cNvSpPr>
            <a:spLocks xmlns:a="http://schemas.openxmlformats.org/drawingml/2006/main" noGrp="1"/>
          </p:cNvSpPr>
          <p:nvPr/>
        </p:nvSpPr>
        <p:spPr>
          <a:xfrm xmlns:a="http://schemas.openxmlformats.org/drawingml/2006/main">
            <a:off x="571500" y="623887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Keuze: cultuuratelier</a:t>
            </a:r>
          </a:p>
        </p:txBody>
      </p:sp>
      <p:sp>
        <p:nvSpPr>
          <p:cNvPr id="8" name="€ 150 is het hoogste totaal. De twee plannen passe">
            <a:extLst xmlns:a="http://schemas.openxmlformats.org/drawingml/2006/main">
              <a:ext uri="{FF2B5EF4-FFF2-40B4-BE49-F238E27FC236}">
                <a16:creationId xmlns:a16="http://schemas.microsoft.com/office/drawing/2014/main" id="{8EA3886F-9B2B-4F0F-8195-65DCF67172FB}"/>
              </a:ext>
            </a:extLst>
          </p:cNvPr>
          <p:cNvSpPr>
            <a:spLocks xmlns:a="http://schemas.openxmlformats.org/drawingml/2006/main" noGrp="1"/>
          </p:cNvSpPr>
          <p:nvPr/>
        </p:nvSpPr>
        <p:spPr>
          <a:xfrm xmlns:a="http://schemas.openxmlformats.org/drawingml/2006/main">
            <a:off x="571500" y="72771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€ 150 is het hoogste totaal. De twee plannen passen niet samen.</a:t>
            </a:r>
          </a:p>
        </p:txBody>
      </p:sp>
    </p:spTree>
    <p:extLst>
      <p:ext uri="{BB962C8B-B14F-4D97-AF65-F5344CB8AC3E}">
        <p14:creationId xmlns:p14="http://schemas.microsoft.com/office/powerpoint/2010/main" val="47706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6b · Het opgegeven alternatief">
            <a:extLst xmlns:a="http://schemas.openxmlformats.org/drawingml/2006/main">
              <a:ext uri="{FF2B5EF4-FFF2-40B4-BE49-F238E27FC236}">
                <a16:creationId xmlns:a16="http://schemas.microsoft.com/office/drawing/2014/main" id="{CB9B8F60-B8B4-42B6-B988-263E2C15B4A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36b · Het opgegeven alternatief</a:t>
            </a:r>
          </a:p>
        </p:txBody>
      </p:sp>
      <p:sp>
        <p:nvSpPr>
          <p:cNvPr id="2" name="">
            <a:extLst xmlns:a="http://schemas.openxmlformats.org/drawingml/2006/main">
              <a:ext uri="{FF2B5EF4-FFF2-40B4-BE49-F238E27FC236}">
                <a16:creationId xmlns:a16="http://schemas.microsoft.com/office/drawing/2014/main" id="{A3A4C99F-EAAE-4F42-8F14-FDBB833EBC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5228EE1A-2293-4605-90D2-D731CE94F47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13">
            <a:extLst xmlns:a="http://schemas.openxmlformats.org/drawingml/2006/main">
              <a:ext uri="{FF2B5EF4-FFF2-40B4-BE49-F238E27FC236}">
                <a16:creationId xmlns:a16="http://schemas.microsoft.com/office/drawing/2014/main" id="{03EC9439-B5C4-444C-82D8-A145A085E33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Gekozen: cultuuratelier met € 150">
            <a:extLst xmlns:a="http://schemas.openxmlformats.org/drawingml/2006/main">
              <a:ext uri="{FF2B5EF4-FFF2-40B4-BE49-F238E27FC236}">
                <a16:creationId xmlns:a16="http://schemas.microsoft.com/office/drawing/2014/main" id="{54B7E9A8-8A04-4F97-B2A3-D6D44F0CC0ED}"/>
              </a:ext>
            </a:extLst>
          </p:cNvPr>
          <p:cNvSpPr>
            <a:spLocks xmlns:a="http://schemas.openxmlformats.org/drawingml/2006/main" noGrp="1"/>
          </p:cNvSpPr>
          <p:nvPr/>
        </p:nvSpPr>
        <p:spPr>
          <a:xfrm xmlns:a="http://schemas.openxmlformats.org/drawingml/2006/main">
            <a:off x="571500" y="19526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665B"/>
                </a:solidFill>
                <a:latin typeface="Arial"/>
                <a:ea typeface="Arial"/>
                <a:cs typeface="Arial"/>
              </a:defRPr>
            </a:pPr>
            <a:r>
              <a:rPr sz="3300" b="1">
                <a:solidFill>
                  <a:srgbClr val="20665B"/>
                </a:solidFill>
                <a:latin typeface="Arial"/>
                <a:ea typeface="Arial"/>
                <a:cs typeface="Arial"/>
              </a:rPr>
              <a:t>Gekozen: cultuuratelier met € 150</a:t>
            </a:r>
          </a:p>
        </p:txBody>
      </p:sp>
      <p:sp>
        <p:nvSpPr>
          <p:cNvPr id="6" name="Beste haalbare alternatief: boekenruil met € 120">
            <a:extLst xmlns:a="http://schemas.openxmlformats.org/drawingml/2006/main">
              <a:ext uri="{FF2B5EF4-FFF2-40B4-BE49-F238E27FC236}">
                <a16:creationId xmlns:a16="http://schemas.microsoft.com/office/drawing/2014/main" id="{4DB20E9D-9C5A-4AD2-91A8-EE0D1AD3096C}"/>
              </a:ext>
            </a:extLst>
          </p:cNvPr>
          <p:cNvSpPr>
            <a:spLocks xmlns:a="http://schemas.openxmlformats.org/drawingml/2006/main" noGrp="1"/>
          </p:cNvSpPr>
          <p:nvPr/>
        </p:nvSpPr>
        <p:spPr>
          <a:xfrm xmlns:a="http://schemas.openxmlformats.org/drawingml/2006/main">
            <a:off x="571500" y="30003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Beste haalbare alternatief: boekenruil met € 120</a:t>
            </a:r>
          </a:p>
        </p:txBody>
      </p:sp>
      <p:sp>
        <p:nvSpPr>
          <p:cNvPr id="7" name="Alternatieve kosten = € 120">
            <a:extLst xmlns:a="http://schemas.openxmlformats.org/drawingml/2006/main">
              <a:ext uri="{FF2B5EF4-FFF2-40B4-BE49-F238E27FC236}">
                <a16:creationId xmlns:a16="http://schemas.microsoft.com/office/drawing/2014/main" id="{1A2BB3C5-FA9F-4051-AFA1-E1CA98D806DB}"/>
              </a:ext>
            </a:extLst>
          </p:cNvPr>
          <p:cNvSpPr>
            <a:spLocks xmlns:a="http://schemas.openxmlformats.org/drawingml/2006/main" noGrp="1"/>
          </p:cNvSpPr>
          <p:nvPr/>
        </p:nvSpPr>
        <p:spPr>
          <a:xfrm xmlns:a="http://schemas.openxmlformats.org/drawingml/2006/main">
            <a:off x="571500" y="42672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83247"/>
                </a:solidFill>
                <a:latin typeface="Arial"/>
                <a:ea typeface="Arial"/>
                <a:cs typeface="Arial"/>
              </a:defRPr>
            </a:pPr>
            <a:r>
              <a:rPr sz="4200" b="1">
                <a:solidFill>
                  <a:srgbClr val="183247"/>
                </a:solidFill>
                <a:latin typeface="Arial"/>
                <a:ea typeface="Arial"/>
                <a:cs typeface="Arial"/>
              </a:rPr>
              <a:t>Alternatieve kosten = € 120</a:t>
            </a:r>
          </a:p>
        </p:txBody>
      </p:sp>
      <p:sp>
        <p:nvSpPr>
          <p:cNvPr id="8" name="">
            <a:extLst xmlns:a="http://schemas.openxmlformats.org/drawingml/2006/main">
              <a:ext uri="{FF2B5EF4-FFF2-40B4-BE49-F238E27FC236}">
                <a16:creationId xmlns:a16="http://schemas.microsoft.com/office/drawing/2014/main" id="{AA5714C0-9FF9-44B7-9FF3-F67C00BB8F85}"/>
              </a:ext>
            </a:extLst>
          </p:cNvPr>
          <p:cNvSpPr>
            <a:spLocks xmlns:a="http://schemas.openxmlformats.org/drawingml/2006/main" noGrp="1"/>
          </p:cNvSpPr>
          <p:nvPr/>
        </p:nvSpPr>
        <p:spPr>
          <a:xfrm xmlns:a="http://schemas.openxmlformats.org/drawingml/2006/main">
            <a:off x="571500" y="5410200"/>
            <a:ext cx="14097000" cy="0"/>
          </a:xfrm>
          <a:prstGeom xmlns:a="http://schemas.openxmlformats.org/drawingml/2006/main" prst="line">
            <a:avLst/>
          </a:prstGeom>
          <a:ln xmlns:a="http://schemas.openxmlformats.org/drawingml/2006/main" w="19050">
            <a:solidFill>
              <a:srgbClr val="C6D2DB"/>
            </a:solidFill>
          </a:ln>
        </p:spPr>
      </p:sp>
      <p:sp>
        <p:nvSpPr>
          <p:cNvPr id="9" name="Verschil: € 150 − € 120 = € 30">
            <a:extLst xmlns:a="http://schemas.openxmlformats.org/drawingml/2006/main">
              <a:ext uri="{FF2B5EF4-FFF2-40B4-BE49-F238E27FC236}">
                <a16:creationId xmlns:a16="http://schemas.microsoft.com/office/drawing/2014/main" id="{20AD71F0-FEC2-4D0A-8871-7C40FD825EE6}"/>
              </a:ext>
            </a:extLst>
          </p:cNvPr>
          <p:cNvSpPr>
            <a:spLocks xmlns:a="http://schemas.openxmlformats.org/drawingml/2006/main" noGrp="1"/>
          </p:cNvSpPr>
          <p:nvPr/>
        </p:nvSpPr>
        <p:spPr>
          <a:xfrm xmlns:a="http://schemas.openxmlformats.org/drawingml/2006/main">
            <a:off x="571500" y="58769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Verschil: € 150 − € 120 = € 30</a:t>
            </a:r>
          </a:p>
        </p:txBody>
      </p:sp>
      <p:sp>
        <p:nvSpPr>
          <p:cNvPr id="10" name="€ 30 is het extra bedrag door de gekozen activitei">
            <a:extLst xmlns:a="http://schemas.openxmlformats.org/drawingml/2006/main">
              <a:ext uri="{FF2B5EF4-FFF2-40B4-BE49-F238E27FC236}">
                <a16:creationId xmlns:a16="http://schemas.microsoft.com/office/drawing/2014/main" id="{3280B766-5D65-4B28-8268-BEE91166B83F}"/>
              </a:ext>
            </a:extLst>
          </p:cNvPr>
          <p:cNvSpPr>
            <a:spLocks xmlns:a="http://schemas.openxmlformats.org/drawingml/2006/main" noGrp="1"/>
          </p:cNvSpPr>
          <p:nvPr/>
        </p:nvSpPr>
        <p:spPr>
          <a:xfrm xmlns:a="http://schemas.openxmlformats.org/drawingml/2006/main">
            <a:off x="571500" y="7058025"/>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€ 30 is het extra bedrag door de gekozen activiteit.</a:t>
            </a:r>
          </a:p>
        </p:txBody>
      </p:sp>
    </p:spTree>
    <p:extLst>
      <p:ext uri="{BB962C8B-B14F-4D97-AF65-F5344CB8AC3E}">
        <p14:creationId xmlns:p14="http://schemas.microsoft.com/office/powerpoint/2010/main" val="20530696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6c · Assen, schaal en punten">
            <a:extLst xmlns:a="http://schemas.openxmlformats.org/drawingml/2006/main">
              <a:ext uri="{FF2B5EF4-FFF2-40B4-BE49-F238E27FC236}">
                <a16:creationId xmlns:a16="http://schemas.microsoft.com/office/drawing/2014/main" id="{97537F9B-3A25-4438-865A-B9300579DE6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36c · Assen, schaal en punten</a:t>
            </a:r>
          </a:p>
        </p:txBody>
      </p:sp>
      <p:sp>
        <p:nvSpPr>
          <p:cNvPr id="2" name="">
            <a:extLst xmlns:a="http://schemas.openxmlformats.org/drawingml/2006/main">
              <a:ext uri="{FF2B5EF4-FFF2-40B4-BE49-F238E27FC236}">
                <a16:creationId xmlns:a16="http://schemas.microsoft.com/office/drawing/2014/main" id="{3B610BFF-08E2-4AB0-913C-C05304FEBFC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D97B57F5-1D05-4A0A-8410-1C81BEA7EF8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14">
            <a:extLst xmlns:a="http://schemas.openxmlformats.org/drawingml/2006/main">
              <a:ext uri="{FF2B5EF4-FFF2-40B4-BE49-F238E27FC236}">
                <a16:creationId xmlns:a16="http://schemas.microsoft.com/office/drawing/2014/main" id="{E045AB93-C4AD-46EE-A750-F643BA72B1C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graphicFrame>
        <p:nvGraphicFramePr>
          <p:cNvPr id="13" name="Chart"/>
          <p:cNvGraphicFramePr/>
          <p:nvPr/>
        </p:nvGraphicFramePr>
        <p:xfrm>
          <a:off xmlns:a="http://schemas.openxmlformats.org/drawingml/2006/main" x="428625" y="1905000"/>
          <a:ext xmlns:a="http://schemas.openxmlformats.org/drawingml/2006/main" cx="10191750" cy="5715000"/>
        </p:xfrm>
        <a:graphic xmlns:a="http://schemas.openxmlformats.org/drawingml/2006/main">
          <a:graphicData uri="http://schemas.openxmlformats.org/drawingml/2006/chart">
            <c:chart xmlns:r="http://schemas.openxmlformats.org/officeDocument/2006/relationships" xmlns:c="http://schemas.openxmlformats.org/drawingml/2006/chart" r:id="Rb50b4e14af424aa4"/>
          </a:graphicData>
        </a:graphic>
      </p:graphicFrame>
      <p:sp>
        <p:nvSpPr>
          <p:cNvPr id="6" name="Model bron B">
            <a:extLst xmlns:a="http://schemas.openxmlformats.org/drawingml/2006/main">
              <a:ext uri="{FF2B5EF4-FFF2-40B4-BE49-F238E27FC236}">
                <a16:creationId xmlns:a16="http://schemas.microsoft.com/office/drawing/2014/main" id="{380E8E67-0285-45D4-A86B-BE0C37B8BBD2}"/>
              </a:ext>
            </a:extLst>
          </p:cNvPr>
          <p:cNvSpPr>
            <a:spLocks xmlns:a="http://schemas.openxmlformats.org/drawingml/2006/main" noGrp="1"/>
          </p:cNvSpPr>
          <p:nvPr/>
        </p:nvSpPr>
        <p:spPr>
          <a:xfrm xmlns:a="http://schemas.openxmlformats.org/drawingml/2006/main">
            <a:off x="10744200" y="1924050"/>
            <a:ext cx="3924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Model bron B</a:t>
            </a:r>
          </a:p>
        </p:txBody>
      </p:sp>
      <p:sp>
        <p:nvSpPr>
          <p:cNvPr id="7" name="(Q; P)&#10;(180; 4)&#10;(140; 6)&#10;(100; 8)">
            <a:extLst xmlns:a="http://schemas.openxmlformats.org/drawingml/2006/main">
              <a:ext uri="{FF2B5EF4-FFF2-40B4-BE49-F238E27FC236}">
                <a16:creationId xmlns:a16="http://schemas.microsoft.com/office/drawing/2014/main" id="{AE4BA533-E121-4706-93BE-15093025EF66}"/>
              </a:ext>
            </a:extLst>
          </p:cNvPr>
          <p:cNvSpPr>
            <a:spLocks xmlns:a="http://schemas.openxmlformats.org/drawingml/2006/main" noGrp="1"/>
          </p:cNvSpPr>
          <p:nvPr/>
        </p:nvSpPr>
        <p:spPr>
          <a:xfrm xmlns:a="http://schemas.openxmlformats.org/drawingml/2006/main">
            <a:off x="10744200" y="2743200"/>
            <a:ext cx="39243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(Q; P)</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(180; 4)</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(140; 6)</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(100; 8)</a:t>
            </a:r>
          </a:p>
        </p:txBody>
      </p:sp>
      <p:sp>
        <p:nvSpPr>
          <p:cNvPr id="8" name="Q horizontaal&#10;P verticaal&#10;&#10;Gelijke afstanden:&#10;geli">
            <a:extLst xmlns:a="http://schemas.openxmlformats.org/drawingml/2006/main">
              <a:ext uri="{FF2B5EF4-FFF2-40B4-BE49-F238E27FC236}">
                <a16:creationId xmlns:a16="http://schemas.microsoft.com/office/drawing/2014/main" id="{4575EC48-4E83-46EE-B9A8-57A4E9AEB514}"/>
              </a:ext>
            </a:extLst>
          </p:cNvPr>
          <p:cNvSpPr>
            <a:spLocks xmlns:a="http://schemas.openxmlformats.org/drawingml/2006/main" noGrp="1"/>
          </p:cNvSpPr>
          <p:nvPr/>
        </p:nvSpPr>
        <p:spPr>
          <a:xfrm xmlns:a="http://schemas.openxmlformats.org/drawingml/2006/main">
            <a:off x="10744200" y="5286375"/>
            <a:ext cx="39243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Q horizontaal</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P verticaal</a:t>
            </a:r>
          </a:p>
          <a:p xmlns:a="http://schemas.openxmlformats.org/drawingml/2006/main">
            <a:r>
              <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Gelijke afstanden:</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gelijke stappen.</a:t>
            </a:r>
          </a:p>
        </p:txBody>
      </p:sp>
    </p:spTree>
    <p:extLst>
      <p:ext uri="{BB962C8B-B14F-4D97-AF65-F5344CB8AC3E}">
        <p14:creationId xmlns:p14="http://schemas.microsoft.com/office/powerpoint/2010/main" val="2708950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6c · Rechte lijnstukken">
            <a:extLst xmlns:a="http://schemas.openxmlformats.org/drawingml/2006/main">
              <a:ext uri="{FF2B5EF4-FFF2-40B4-BE49-F238E27FC236}">
                <a16:creationId xmlns:a16="http://schemas.microsoft.com/office/drawing/2014/main" id="{13041930-082A-427A-B6BE-9752D64C077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36c · Rechte lijnstukken</a:t>
            </a:r>
          </a:p>
        </p:txBody>
      </p:sp>
      <p:sp>
        <p:nvSpPr>
          <p:cNvPr id="2" name="">
            <a:extLst xmlns:a="http://schemas.openxmlformats.org/drawingml/2006/main">
              <a:ext uri="{FF2B5EF4-FFF2-40B4-BE49-F238E27FC236}">
                <a16:creationId xmlns:a16="http://schemas.microsoft.com/office/drawing/2014/main" id="{73B082BA-F254-4B05-92FF-AE0E350C2FD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D5F07A4D-B01B-450A-99EF-12B4A7B257F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15">
            <a:extLst xmlns:a="http://schemas.openxmlformats.org/drawingml/2006/main">
              <a:ext uri="{FF2B5EF4-FFF2-40B4-BE49-F238E27FC236}">
                <a16:creationId xmlns:a16="http://schemas.microsoft.com/office/drawing/2014/main" id="{2B095584-DC99-4A90-A06F-C2854D171E6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13" name="Chart"/>
          <p:cNvGraphicFramePr/>
          <p:nvPr/>
        </p:nvGraphicFramePr>
        <p:xfrm>
          <a:off xmlns:a="http://schemas.openxmlformats.org/drawingml/2006/main" x="428625" y="1905000"/>
          <a:ext xmlns:a="http://schemas.openxmlformats.org/drawingml/2006/main" cx="10191750" cy="5715000"/>
        </p:xfrm>
        <a:graphic xmlns:a="http://schemas.openxmlformats.org/drawingml/2006/main">
          <a:graphicData uri="http://schemas.openxmlformats.org/drawingml/2006/chart">
            <c:chart xmlns:r="http://schemas.openxmlformats.org/officeDocument/2006/relationships" xmlns:c="http://schemas.openxmlformats.org/drawingml/2006/chart" r:id="Rcd4d432514d641d8"/>
          </a:graphicData>
        </a:graphic>
      </p:graphicFrame>
      <p:sp>
        <p:nvSpPr>
          <p:cNvPr id="6" name="Model bron B">
            <a:extLst xmlns:a="http://schemas.openxmlformats.org/drawingml/2006/main">
              <a:ext uri="{FF2B5EF4-FFF2-40B4-BE49-F238E27FC236}">
                <a16:creationId xmlns:a16="http://schemas.microsoft.com/office/drawing/2014/main" id="{E61D6D83-2905-4C7B-9C94-D2B95C7184F5}"/>
              </a:ext>
            </a:extLst>
          </p:cNvPr>
          <p:cNvSpPr>
            <a:spLocks xmlns:a="http://schemas.openxmlformats.org/drawingml/2006/main" noGrp="1"/>
          </p:cNvSpPr>
          <p:nvPr/>
        </p:nvSpPr>
        <p:spPr>
          <a:xfrm xmlns:a="http://schemas.openxmlformats.org/drawingml/2006/main">
            <a:off x="10744200" y="1924050"/>
            <a:ext cx="3924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Model bron B</a:t>
            </a:r>
          </a:p>
        </p:txBody>
      </p:sp>
      <p:sp>
        <p:nvSpPr>
          <p:cNvPr id="7" name="(Q; P)&#10;(180; 4)&#10;(140; 6)&#10;(100; 8)">
            <a:extLst xmlns:a="http://schemas.openxmlformats.org/drawingml/2006/main">
              <a:ext uri="{FF2B5EF4-FFF2-40B4-BE49-F238E27FC236}">
                <a16:creationId xmlns:a16="http://schemas.microsoft.com/office/drawing/2014/main" id="{4FAE7C09-14CE-4370-A9AC-24BA8561ECBF}"/>
              </a:ext>
            </a:extLst>
          </p:cNvPr>
          <p:cNvSpPr>
            <a:spLocks xmlns:a="http://schemas.openxmlformats.org/drawingml/2006/main" noGrp="1"/>
          </p:cNvSpPr>
          <p:nvPr/>
        </p:nvSpPr>
        <p:spPr>
          <a:xfrm xmlns:a="http://schemas.openxmlformats.org/drawingml/2006/main">
            <a:off x="10744200" y="2743200"/>
            <a:ext cx="39243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(Q; P)</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(180; 4)</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(140; 6)</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(100; 8)</a:t>
            </a:r>
          </a:p>
        </p:txBody>
      </p:sp>
      <p:sp>
        <p:nvSpPr>
          <p:cNvPr id="8" name="Verbind de punten&#10;met rechte&#10;lijnstukken.&#10;&#10;Buiten ">
            <a:extLst xmlns:a="http://schemas.openxmlformats.org/drawingml/2006/main">
              <a:ext uri="{FF2B5EF4-FFF2-40B4-BE49-F238E27FC236}">
                <a16:creationId xmlns:a16="http://schemas.microsoft.com/office/drawing/2014/main" id="{F42BFE7F-FA11-4A61-8370-D1BA8DB8D799}"/>
              </a:ext>
            </a:extLst>
          </p:cNvPr>
          <p:cNvSpPr>
            <a:spLocks xmlns:a="http://schemas.openxmlformats.org/drawingml/2006/main" noGrp="1"/>
          </p:cNvSpPr>
          <p:nvPr/>
        </p:nvSpPr>
        <p:spPr>
          <a:xfrm xmlns:a="http://schemas.openxmlformats.org/drawingml/2006/main">
            <a:off x="10744200" y="5286375"/>
            <a:ext cx="39243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Verbind de punten</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met rechte</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lijnstukken.</a:t>
            </a:r>
          </a:p>
          <a:p xmlns:a="http://schemas.openxmlformats.org/drawingml/2006/main">
            <a:r>
              <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Buiten deze punten</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geen voorspelling.</a:t>
            </a:r>
          </a:p>
        </p:txBody>
      </p:sp>
    </p:spTree>
    <p:extLst>
      <p:ext uri="{BB962C8B-B14F-4D97-AF65-F5344CB8AC3E}">
        <p14:creationId xmlns:p14="http://schemas.microsoft.com/office/powerpoint/2010/main" val="3724316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6d · Lineair interpoleren">
            <a:extLst xmlns:a="http://schemas.openxmlformats.org/drawingml/2006/main">
              <a:ext uri="{FF2B5EF4-FFF2-40B4-BE49-F238E27FC236}">
                <a16:creationId xmlns:a16="http://schemas.microsoft.com/office/drawing/2014/main" id="{8335025F-931E-464F-B63F-DE6CB937B2E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36d · Lineair interpoleren</a:t>
            </a:r>
          </a:p>
        </p:txBody>
      </p:sp>
      <p:sp>
        <p:nvSpPr>
          <p:cNvPr id="2" name="">
            <a:extLst xmlns:a="http://schemas.openxmlformats.org/drawingml/2006/main">
              <a:ext uri="{FF2B5EF4-FFF2-40B4-BE49-F238E27FC236}">
                <a16:creationId xmlns:a16="http://schemas.microsoft.com/office/drawing/2014/main" id="{57AE44F0-234A-418D-AA55-673340AA6BF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4C6262C4-BBC6-48F1-AF49-51BD3EA2242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16">
            <a:extLst xmlns:a="http://schemas.openxmlformats.org/drawingml/2006/main">
              <a:ext uri="{FF2B5EF4-FFF2-40B4-BE49-F238E27FC236}">
                <a16:creationId xmlns:a16="http://schemas.microsoft.com/office/drawing/2014/main" id="{C3DA2AEA-C7BC-4C54-87E0-89B2D97BB7E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graphicFrame>
        <p:nvGraphicFramePr>
          <p:cNvPr id="14" name="Chart"/>
          <p:cNvGraphicFramePr/>
          <p:nvPr/>
        </p:nvGraphicFramePr>
        <p:xfrm>
          <a:off xmlns:a="http://schemas.openxmlformats.org/drawingml/2006/main" x="428625" y="1905000"/>
          <a:ext xmlns:a="http://schemas.openxmlformats.org/drawingml/2006/main" cx="10191750" cy="5715000"/>
        </p:xfrm>
        <a:graphic xmlns:a="http://schemas.openxmlformats.org/drawingml/2006/main">
          <a:graphicData uri="http://schemas.openxmlformats.org/drawingml/2006/chart">
            <c:chart xmlns:r="http://schemas.openxmlformats.org/officeDocument/2006/relationships" xmlns:c="http://schemas.openxmlformats.org/drawingml/2006/chart" r:id="Raa104d3d0b044cdb"/>
          </a:graphicData>
        </a:graphic>
      </p:graphicFrame>
      <p:sp>
        <p:nvSpPr>
          <p:cNvPr id="6" name="Model bron B">
            <a:extLst xmlns:a="http://schemas.openxmlformats.org/drawingml/2006/main">
              <a:ext uri="{FF2B5EF4-FFF2-40B4-BE49-F238E27FC236}">
                <a16:creationId xmlns:a16="http://schemas.microsoft.com/office/drawing/2014/main" id="{48E5D3CE-CDF5-4E83-A2F6-47A1F7EC99FA}"/>
              </a:ext>
            </a:extLst>
          </p:cNvPr>
          <p:cNvSpPr>
            <a:spLocks xmlns:a="http://schemas.openxmlformats.org/drawingml/2006/main" noGrp="1"/>
          </p:cNvSpPr>
          <p:nvPr/>
        </p:nvSpPr>
        <p:spPr>
          <a:xfrm xmlns:a="http://schemas.openxmlformats.org/drawingml/2006/main">
            <a:off x="10744200" y="1924050"/>
            <a:ext cx="3924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Model bron B</a:t>
            </a:r>
          </a:p>
        </p:txBody>
      </p:sp>
      <p:sp>
        <p:nvSpPr>
          <p:cNvPr id="7" name="€ 7: halverwege&#10;€ 6 en € 8">
            <a:extLst xmlns:a="http://schemas.openxmlformats.org/drawingml/2006/main">
              <a:ext uri="{FF2B5EF4-FFF2-40B4-BE49-F238E27FC236}">
                <a16:creationId xmlns:a16="http://schemas.microsoft.com/office/drawing/2014/main" id="{D1A9B963-52FC-48C6-AF39-EB2157EFF34C}"/>
              </a:ext>
            </a:extLst>
          </p:cNvPr>
          <p:cNvSpPr>
            <a:spLocks xmlns:a="http://schemas.openxmlformats.org/drawingml/2006/main" noGrp="1"/>
          </p:cNvSpPr>
          <p:nvPr/>
        </p:nvSpPr>
        <p:spPr>
          <a:xfrm xmlns:a="http://schemas.openxmlformats.org/drawingml/2006/main">
            <a:off x="10744200" y="2714625"/>
            <a:ext cx="3924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€ 7: halverwege</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€ 6 en € 8</a:t>
            </a:r>
          </a:p>
        </p:txBody>
      </p:sp>
      <p:sp>
        <p:nvSpPr>
          <p:cNvPr id="8" name="140 − ½ × 40&#10;= 120 bezoekers&#10;per avond">
            <a:extLst xmlns:a="http://schemas.openxmlformats.org/drawingml/2006/main">
              <a:ext uri="{FF2B5EF4-FFF2-40B4-BE49-F238E27FC236}">
                <a16:creationId xmlns:a16="http://schemas.microsoft.com/office/drawing/2014/main" id="{1A038E22-A64D-4676-BDD8-B35DFFB54548}"/>
              </a:ext>
            </a:extLst>
          </p:cNvPr>
          <p:cNvSpPr>
            <a:spLocks xmlns:a="http://schemas.openxmlformats.org/drawingml/2006/main" noGrp="1"/>
          </p:cNvSpPr>
          <p:nvPr/>
        </p:nvSpPr>
        <p:spPr>
          <a:xfrm xmlns:a="http://schemas.openxmlformats.org/drawingml/2006/main">
            <a:off x="10744200" y="4210050"/>
            <a:ext cx="39243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140 − ½ × 40</a:t>
            </a:r>
          </a:p>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 120 bezoekers</a:t>
            </a:r>
          </a:p>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per avond</a:t>
            </a:r>
          </a:p>
        </p:txBody>
      </p:sp>
      <p:sp>
        <p:nvSpPr>
          <p:cNvPr id="9" name="Controle:&#10;100 &lt; 120 &lt; 140">
            <a:extLst xmlns:a="http://schemas.openxmlformats.org/drawingml/2006/main">
              <a:ext uri="{FF2B5EF4-FFF2-40B4-BE49-F238E27FC236}">
                <a16:creationId xmlns:a16="http://schemas.microsoft.com/office/drawing/2014/main" id="{F69D3765-5B52-4923-AB0D-2A9B198EC64D}"/>
              </a:ext>
            </a:extLst>
          </p:cNvPr>
          <p:cNvSpPr>
            <a:spLocks xmlns:a="http://schemas.openxmlformats.org/drawingml/2006/main" noGrp="1"/>
          </p:cNvSpPr>
          <p:nvPr/>
        </p:nvSpPr>
        <p:spPr>
          <a:xfrm xmlns:a="http://schemas.openxmlformats.org/drawingml/2006/main">
            <a:off x="10744200" y="6591300"/>
            <a:ext cx="3924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Controle:</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100 &lt; 120 &lt; 140</a:t>
            </a:r>
          </a:p>
        </p:txBody>
      </p:sp>
    </p:spTree>
    <p:extLst>
      <p:ext uri="{BB962C8B-B14F-4D97-AF65-F5344CB8AC3E}">
        <p14:creationId xmlns:p14="http://schemas.microsoft.com/office/powerpoint/2010/main" val="12504070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6e · Indexcijfers met dezelfde basis">
            <a:extLst xmlns:a="http://schemas.openxmlformats.org/drawingml/2006/main">
              <a:ext uri="{FF2B5EF4-FFF2-40B4-BE49-F238E27FC236}">
                <a16:creationId xmlns:a16="http://schemas.microsoft.com/office/drawing/2014/main" id="{9A337E64-86C8-4961-B1B3-576A3DB7895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36e · Indexcijfers met dezelfde basis</a:t>
            </a:r>
          </a:p>
        </p:txBody>
      </p:sp>
      <p:sp>
        <p:nvSpPr>
          <p:cNvPr id="2" name="">
            <a:extLst xmlns:a="http://schemas.openxmlformats.org/drawingml/2006/main">
              <a:ext uri="{FF2B5EF4-FFF2-40B4-BE49-F238E27FC236}">
                <a16:creationId xmlns:a16="http://schemas.microsoft.com/office/drawing/2014/main" id="{9A4B84F5-ABC5-4757-9E87-3EFC2DABE6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074F6A9D-7D37-4C8E-AC55-4472AB125B8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17">
            <a:extLst xmlns:a="http://schemas.openxmlformats.org/drawingml/2006/main">
              <a:ext uri="{FF2B5EF4-FFF2-40B4-BE49-F238E27FC236}">
                <a16:creationId xmlns:a16="http://schemas.microsoft.com/office/drawing/2014/main" id="{7933275C-1B1E-496D-B938-DD385785DC5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Bron C: dezelfde voorstelling door de jaren. Basis">
            <a:extLst xmlns:a="http://schemas.openxmlformats.org/drawingml/2006/main">
              <a:ext uri="{FF2B5EF4-FFF2-40B4-BE49-F238E27FC236}">
                <a16:creationId xmlns:a16="http://schemas.microsoft.com/office/drawing/2014/main" id="{7ABFE2AA-4FFE-4013-8124-5D7BF0AC8330}"/>
              </a:ext>
            </a:extLst>
          </p:cNvPr>
          <p:cNvSpPr>
            <a:spLocks xmlns:a="http://schemas.openxmlformats.org/drawingml/2006/main" noGrp="1"/>
          </p:cNvSpPr>
          <p:nvPr/>
        </p:nvSpPr>
        <p:spPr>
          <a:xfrm xmlns:a="http://schemas.openxmlformats.org/drawingml/2006/main">
            <a:off x="571500" y="18192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C: dezelfde voorstelling door de jaren. Basisprijs = € 4.</a:t>
            </a:r>
          </a:p>
        </p:txBody>
      </p:sp>
      <p:graphicFrame>
        <p:nvGraphicFramePr>
          <p:cNvPr id="13" name=""/>
          <p:cNvGraphicFramePr/>
          <p:nvPr/>
        </p:nvGraphicFramePr>
        <p:xfrm>
          <a:off xmlns:a="http://schemas.openxmlformats.org/drawingml/2006/main" x="571500" y="2990850"/>
          <a:ext xmlns:a="http://schemas.openxmlformats.org/drawingml/2006/main" cx="14097000" cy="3171825"/>
        </p:xfrm>
        <a:graphic xmlns:a="http://schemas.openxmlformats.org/drawingml/2006/main">
          <a:graphicData uri="http://schemas.openxmlformats.org/drawingml/2006/table">
            <a:tbl>
              <a:tblPr/>
              <a:tblGrid>
                <a:gridCol w="3238500"/>
                <a:gridCol w="2714625"/>
                <a:gridCol w="5572125"/>
                <a:gridCol w="2571750"/>
              </a:tblGrid>
              <a:tr h="792956">
                <a:tc>
                  <a:txBody>
                    <a:bodyPr lIns="171450" tIns="95250" rIns="152400" bIns="95250"/>
                    <a:lstStyle/>
                    <a:p>
                      <a:r>
                        <a:rPr sz="2550" b="1">
                          <a:solidFill>
                            <a:srgbClr val="FFFFFF"/>
                          </a:solidFill>
                          <a:latin typeface="Arial"/>
                          <a:ea typeface="Arial"/>
                          <a:cs typeface="Arial"/>
                        </a:rPr>
                        <a:t>Jaar</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Prijs</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Waarde / basis × 100</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Index</a:t>
                      </a:r>
                    </a:p>
                  </a:txBody>
                  <a:tcPr marL="91440" marR="91440" marT="45720" marB="45720" anchor="ctr">
                    <a:solidFill>
                      <a:srgbClr val="183247"/>
                    </a:solidFill>
                  </a:tcPr>
                </a:tc>
              </a:tr>
              <a:tr h="792956">
                <a:tc>
                  <a:txBody>
                    <a:bodyPr lIns="171450" tIns="95250" rIns="152400" bIns="95250"/>
                    <a:lstStyle/>
                    <a:p>
                      <a:r>
                        <a:rPr sz="2550" b="0">
                          <a:solidFill>
                            <a:srgbClr val="183247"/>
                          </a:solidFill>
                          <a:latin typeface="Arial"/>
                          <a:ea typeface="Arial"/>
                          <a:cs typeface="Arial"/>
                        </a:rPr>
                        <a:t>Basisjaar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4 / 4 × 100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a:t>
                      </a:r>
                    </a:p>
                  </a:txBody>
                  <a:tcPr marL="91440" marR="91440" marT="45720" marB="45720" anchor="ctr">
                    <a:solidFill>
                      <a:srgbClr val="FFFFFF"/>
                    </a:solidFill>
                  </a:tcPr>
                </a:tc>
              </a:tr>
              <a:tr h="792956">
                <a:tc>
                  <a:txBody>
                    <a:bodyPr lIns="171450" tIns="95250" rIns="152400" bIns="95250"/>
                    <a:lstStyle/>
                    <a:p>
                      <a:r>
                        <a:rPr sz="2550" b="0">
                          <a:solidFill>
                            <a:srgbClr val="183247"/>
                          </a:solidFill>
                          <a:latin typeface="Arial"/>
                          <a:ea typeface="Arial"/>
                          <a:cs typeface="Arial"/>
                        </a:rPr>
                        <a:t>Jaar 2</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€ 4,80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4,80 / 4 × 100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120</a:t>
                      </a:r>
                    </a:p>
                  </a:txBody>
                  <a:tcPr marL="91440" marR="91440" marT="45720" marB="45720" anchor="ctr">
                    <a:solidFill>
                      <a:srgbClr val="EFF4F7"/>
                    </a:solidFill>
                  </a:tcPr>
                </a:tc>
              </a:tr>
              <a:tr h="792956">
                <a:tc>
                  <a:txBody>
                    <a:bodyPr lIns="171450" tIns="95250" rIns="152400" bIns="95250"/>
                    <a:lstStyle/>
                    <a:p>
                      <a:r>
                        <a:rPr sz="2550" b="0">
                          <a:solidFill>
                            <a:srgbClr val="183247"/>
                          </a:solidFill>
                          <a:latin typeface="Arial"/>
                          <a:ea typeface="Arial"/>
                          <a:cs typeface="Arial"/>
                        </a:rPr>
                        <a:t>Jaar 3</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€ 6</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6 / 4 × 100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150</a:t>
                      </a:r>
                    </a:p>
                  </a:txBody>
                  <a:tcPr marL="91440" marR="91440" marT="45720" marB="45720" anchor="ctr">
                    <a:solidFill>
                      <a:srgbClr val="FFFFFF"/>
                    </a:solidFill>
                  </a:tcPr>
                </a:tc>
              </a:tr>
            </a:tbl>
          </a:graphicData>
        </a:graphic>
      </p:graphicFrame>
      <p:sp>
        <p:nvSpPr>
          <p:cNvPr id="7" name="Controle: jaar 2 ligt 20% boven het basisjaar, jaa">
            <a:extLst xmlns:a="http://schemas.openxmlformats.org/drawingml/2006/main">
              <a:ext uri="{FF2B5EF4-FFF2-40B4-BE49-F238E27FC236}">
                <a16:creationId xmlns:a16="http://schemas.microsoft.com/office/drawing/2014/main" id="{3C9128D4-506C-48F4-9424-CEF0D6C405E5}"/>
              </a:ext>
            </a:extLst>
          </p:cNvPr>
          <p:cNvSpPr>
            <a:spLocks xmlns:a="http://schemas.openxmlformats.org/drawingml/2006/main" noGrp="1"/>
          </p:cNvSpPr>
          <p:nvPr/>
        </p:nvSpPr>
        <p:spPr>
          <a:xfrm xmlns:a="http://schemas.openxmlformats.org/drawingml/2006/main">
            <a:off x="571500" y="69246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Controle: jaar 2 ligt 20% boven het basisjaar, jaar 3 50%.</a:t>
            </a:r>
          </a:p>
        </p:txBody>
      </p:sp>
    </p:spTree>
    <p:extLst>
      <p:ext uri="{BB962C8B-B14F-4D97-AF65-F5344CB8AC3E}">
        <p14:creationId xmlns:p14="http://schemas.microsoft.com/office/powerpoint/2010/main" val="189909806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6e · Groei tussen jaar 2 en jaar 3">
            <a:extLst xmlns:a="http://schemas.openxmlformats.org/drawingml/2006/main">
              <a:ext uri="{FF2B5EF4-FFF2-40B4-BE49-F238E27FC236}">
                <a16:creationId xmlns:a16="http://schemas.microsoft.com/office/drawing/2014/main" id="{8EFE1351-6F68-4326-991B-A758AA1FB25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36e · Groei tussen jaar 2 en jaar 3</a:t>
            </a:r>
          </a:p>
        </p:txBody>
      </p:sp>
      <p:sp>
        <p:nvSpPr>
          <p:cNvPr id="2" name="">
            <a:extLst xmlns:a="http://schemas.openxmlformats.org/drawingml/2006/main">
              <a:ext uri="{FF2B5EF4-FFF2-40B4-BE49-F238E27FC236}">
                <a16:creationId xmlns:a16="http://schemas.microsoft.com/office/drawing/2014/main" id="{148EECF4-9858-4019-865F-A69D21B325B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1609F11D-0FEB-4EF4-8615-790AB2325D8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18">
            <a:extLst xmlns:a="http://schemas.openxmlformats.org/drawingml/2006/main">
              <a:ext uri="{FF2B5EF4-FFF2-40B4-BE49-F238E27FC236}">
                <a16:creationId xmlns:a16="http://schemas.microsoft.com/office/drawing/2014/main" id="{1DDF93DC-F65E-4FFF-989B-051A2E2584D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Oude index 120, nieuwe index 150">
            <a:extLst xmlns:a="http://schemas.openxmlformats.org/drawingml/2006/main">
              <a:ext uri="{FF2B5EF4-FFF2-40B4-BE49-F238E27FC236}">
                <a16:creationId xmlns:a16="http://schemas.microsoft.com/office/drawing/2014/main" id="{7188AC99-9906-450E-8F2A-738AD5E440FA}"/>
              </a:ext>
            </a:extLst>
          </p:cNvPr>
          <p:cNvSpPr>
            <a:spLocks xmlns:a="http://schemas.openxmlformats.org/drawingml/2006/main" noGrp="1"/>
          </p:cNvSpPr>
          <p:nvPr/>
        </p:nvSpPr>
        <p:spPr>
          <a:xfrm xmlns:a="http://schemas.openxmlformats.org/drawingml/2006/main">
            <a:off x="571500" y="19240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Oude index 120, nieuwe index 150</a:t>
            </a:r>
          </a:p>
        </p:txBody>
      </p:sp>
      <p:sp>
        <p:nvSpPr>
          <p:cNvPr id="6" name="Verschil: 150 − 120 = 30 indexpunten">
            <a:extLst xmlns:a="http://schemas.openxmlformats.org/drawingml/2006/main">
              <a:ext uri="{FF2B5EF4-FFF2-40B4-BE49-F238E27FC236}">
                <a16:creationId xmlns:a16="http://schemas.microsoft.com/office/drawing/2014/main" id="{C0048E3B-9297-461B-917B-91EFA0695A18}"/>
              </a:ext>
            </a:extLst>
          </p:cNvPr>
          <p:cNvSpPr>
            <a:spLocks xmlns:a="http://schemas.openxmlformats.org/drawingml/2006/main" noGrp="1"/>
          </p:cNvSpPr>
          <p:nvPr/>
        </p:nvSpPr>
        <p:spPr>
          <a:xfrm xmlns:a="http://schemas.openxmlformats.org/drawingml/2006/main">
            <a:off x="571500" y="309562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Verschil: 150 − 120 = 30 indexpunten</a:t>
            </a:r>
          </a:p>
        </p:txBody>
      </p:sp>
      <p:sp>
        <p:nvSpPr>
          <p:cNvPr id="7" name="(150 − 120) / 120 × 100% = 25%">
            <a:extLst xmlns:a="http://schemas.openxmlformats.org/drawingml/2006/main">
              <a:ext uri="{FF2B5EF4-FFF2-40B4-BE49-F238E27FC236}">
                <a16:creationId xmlns:a16="http://schemas.microsoft.com/office/drawing/2014/main" id="{2B5D426D-5249-4036-B880-9D141FE4505B}"/>
              </a:ext>
            </a:extLst>
          </p:cNvPr>
          <p:cNvSpPr>
            <a:spLocks xmlns:a="http://schemas.openxmlformats.org/drawingml/2006/main" noGrp="1"/>
          </p:cNvSpPr>
          <p:nvPr/>
        </p:nvSpPr>
        <p:spPr>
          <a:xfrm xmlns:a="http://schemas.openxmlformats.org/drawingml/2006/main">
            <a:off x="571500" y="43815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A94D16"/>
                </a:solidFill>
                <a:latin typeface="Arial"/>
                <a:ea typeface="Arial"/>
                <a:cs typeface="Arial"/>
              </a:defRPr>
            </a:pPr>
            <a:r>
              <a:rPr sz="3900" b="1">
                <a:solidFill>
                  <a:srgbClr val="A94D16"/>
                </a:solidFill>
                <a:latin typeface="Arial"/>
                <a:ea typeface="Arial"/>
                <a:cs typeface="Arial"/>
              </a:rPr>
              <a:t>(150 − 120) / 120 × 100% = 25%</a:t>
            </a:r>
          </a:p>
        </p:txBody>
      </p:sp>
      <p:sp>
        <p:nvSpPr>
          <p:cNvPr id="8" name="">
            <a:extLst xmlns:a="http://schemas.openxmlformats.org/drawingml/2006/main">
              <a:ext uri="{FF2B5EF4-FFF2-40B4-BE49-F238E27FC236}">
                <a16:creationId xmlns:a16="http://schemas.microsoft.com/office/drawing/2014/main" id="{9DE18A99-DCF6-4239-9D51-ED7248E1E7C7}"/>
              </a:ext>
            </a:extLst>
          </p:cNvPr>
          <p:cNvSpPr>
            <a:spLocks xmlns:a="http://schemas.openxmlformats.org/drawingml/2006/main" noGrp="1"/>
          </p:cNvSpPr>
          <p:nvPr/>
        </p:nvSpPr>
        <p:spPr>
          <a:xfrm xmlns:a="http://schemas.openxmlformats.org/drawingml/2006/main">
            <a:off x="571500" y="5524500"/>
            <a:ext cx="14097000" cy="0"/>
          </a:xfrm>
          <a:prstGeom xmlns:a="http://schemas.openxmlformats.org/drawingml/2006/main" prst="line">
            <a:avLst/>
          </a:prstGeom>
          <a:ln xmlns:a="http://schemas.openxmlformats.org/drawingml/2006/main" w="19050">
            <a:solidFill>
              <a:srgbClr val="C6D2DB"/>
            </a:solidFill>
          </a:ln>
        </p:spPr>
      </p:sp>
      <p:sp>
        <p:nvSpPr>
          <p:cNvPr id="9" name="Controle met prijzen">
            <a:extLst xmlns:a="http://schemas.openxmlformats.org/drawingml/2006/main">
              <a:ext uri="{FF2B5EF4-FFF2-40B4-BE49-F238E27FC236}">
                <a16:creationId xmlns:a16="http://schemas.microsoft.com/office/drawing/2014/main" id="{259E8854-4B74-4834-A714-C91919BEC412}"/>
              </a:ext>
            </a:extLst>
          </p:cNvPr>
          <p:cNvSpPr>
            <a:spLocks xmlns:a="http://schemas.openxmlformats.org/drawingml/2006/main" noGrp="1"/>
          </p:cNvSpPr>
          <p:nvPr/>
        </p:nvSpPr>
        <p:spPr>
          <a:xfrm xmlns:a="http://schemas.openxmlformats.org/drawingml/2006/main">
            <a:off x="571500" y="59912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Controle met prijzen</a:t>
            </a:r>
          </a:p>
        </p:txBody>
      </p:sp>
      <p:sp>
        <p:nvSpPr>
          <p:cNvPr id="10" name="(€ 6 − € 4,80) / € 4,80 × 100% = 25%">
            <a:extLst xmlns:a="http://schemas.openxmlformats.org/drawingml/2006/main">
              <a:ext uri="{FF2B5EF4-FFF2-40B4-BE49-F238E27FC236}">
                <a16:creationId xmlns:a16="http://schemas.microsoft.com/office/drawing/2014/main" id="{B45C819C-0165-44DA-8BEB-7DE7386C5C2C}"/>
              </a:ext>
            </a:extLst>
          </p:cNvPr>
          <p:cNvSpPr>
            <a:spLocks xmlns:a="http://schemas.openxmlformats.org/drawingml/2006/main" noGrp="1"/>
          </p:cNvSpPr>
          <p:nvPr/>
        </p:nvSpPr>
        <p:spPr>
          <a:xfrm xmlns:a="http://schemas.openxmlformats.org/drawingml/2006/main">
            <a:off x="571500" y="6962775"/>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(€ 6 − € 4,80) / € 4,80 × 100% = 25%</a:t>
            </a:r>
          </a:p>
        </p:txBody>
      </p:sp>
    </p:spTree>
    <p:extLst>
      <p:ext uri="{BB962C8B-B14F-4D97-AF65-F5344CB8AC3E}">
        <p14:creationId xmlns:p14="http://schemas.microsoft.com/office/powerpoint/2010/main" val="14551595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6f · Een correct bericht">
            <a:extLst xmlns:a="http://schemas.openxmlformats.org/drawingml/2006/main">
              <a:ext uri="{FF2B5EF4-FFF2-40B4-BE49-F238E27FC236}">
                <a16:creationId xmlns:a16="http://schemas.microsoft.com/office/drawing/2014/main" id="{0A288E32-C989-42CF-83DD-1DC26D2BF60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36f · Een correct bericht</a:t>
            </a:r>
          </a:p>
        </p:txBody>
      </p:sp>
      <p:sp>
        <p:nvSpPr>
          <p:cNvPr id="2" name="">
            <a:extLst xmlns:a="http://schemas.openxmlformats.org/drawingml/2006/main">
              <a:ext uri="{FF2B5EF4-FFF2-40B4-BE49-F238E27FC236}">
                <a16:creationId xmlns:a16="http://schemas.microsoft.com/office/drawing/2014/main" id="{4576AEAC-FCC8-4680-82C6-3470BFE69E7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A3FC70EC-34B2-47F3-AB6B-5D407E465B0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19">
            <a:extLst xmlns:a="http://schemas.openxmlformats.org/drawingml/2006/main">
              <a:ext uri="{FF2B5EF4-FFF2-40B4-BE49-F238E27FC236}">
                <a16:creationId xmlns:a16="http://schemas.microsoft.com/office/drawing/2014/main" id="{D5C992CF-2357-4AB5-BA88-5C8956464E5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De prijsindex stijgt van jaar 2 naar jaar 3&#10;met 3">
            <a:extLst xmlns:a="http://schemas.openxmlformats.org/drawingml/2006/main">
              <a:ext uri="{FF2B5EF4-FFF2-40B4-BE49-F238E27FC236}">
                <a16:creationId xmlns:a16="http://schemas.microsoft.com/office/drawing/2014/main" id="{9C9CFA44-9DDE-4CAD-A2AF-210C41921E88}"/>
              </a:ext>
            </a:extLst>
          </p:cNvPr>
          <p:cNvSpPr>
            <a:spLocks xmlns:a="http://schemas.openxmlformats.org/drawingml/2006/main" noGrp="1"/>
          </p:cNvSpPr>
          <p:nvPr/>
        </p:nvSpPr>
        <p:spPr>
          <a:xfrm xmlns:a="http://schemas.openxmlformats.org/drawingml/2006/main">
            <a:off x="571500" y="2314575"/>
            <a:ext cx="14097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“De prijsindex stijgt van jaar 2 naar jaar 3</a:t>
            </a:r>
          </a:p>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met 30 indexpunten.</a:t>
            </a:r>
          </a:p>
        </p:txBody>
      </p:sp>
      <p:sp>
        <p:nvSpPr>
          <p:cNvPr id="6" name="Een ticket wordt ten opzichte van jaar 2&#10;25% duurd">
            <a:extLst xmlns:a="http://schemas.openxmlformats.org/drawingml/2006/main">
              <a:ext uri="{FF2B5EF4-FFF2-40B4-BE49-F238E27FC236}">
                <a16:creationId xmlns:a16="http://schemas.microsoft.com/office/drawing/2014/main" id="{4108FAE8-2543-4E48-9914-7D151672A167}"/>
              </a:ext>
            </a:extLst>
          </p:cNvPr>
          <p:cNvSpPr>
            <a:spLocks xmlns:a="http://schemas.openxmlformats.org/drawingml/2006/main" noGrp="1"/>
          </p:cNvSpPr>
          <p:nvPr/>
        </p:nvSpPr>
        <p:spPr>
          <a:xfrm xmlns:a="http://schemas.openxmlformats.org/drawingml/2006/main">
            <a:off x="571500" y="4572000"/>
            <a:ext cx="14097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A94D16"/>
                </a:solidFill>
                <a:latin typeface="Arial"/>
                <a:ea typeface="Arial"/>
                <a:cs typeface="Arial"/>
              </a:defRPr>
            </a:pPr>
            <a:r>
              <a:rPr sz="3600" b="1">
                <a:solidFill>
                  <a:srgbClr val="A94D16"/>
                </a:solidFill>
                <a:latin typeface="Arial"/>
                <a:ea typeface="Arial"/>
                <a:cs typeface="Arial"/>
              </a:rPr>
              <a:t>Een ticket wordt ten opzichte van jaar 2</a:t>
            </a:r>
          </a:p>
          <a:p xmlns:a="http://schemas.openxmlformats.org/drawingml/2006/main">
            <a:pPr algn="l">
              <a:defRPr sz="3600" b="1">
                <a:solidFill>
                  <a:srgbClr val="A94D16"/>
                </a:solidFill>
                <a:latin typeface="Arial"/>
                <a:ea typeface="Arial"/>
                <a:cs typeface="Arial"/>
              </a:defRPr>
            </a:pPr>
            <a:r>
              <a:rPr sz="3600" b="1">
                <a:solidFill>
                  <a:srgbClr val="A94D16"/>
                </a:solidFill>
                <a:latin typeface="Arial"/>
                <a:ea typeface="Arial"/>
                <a:cs typeface="Arial"/>
              </a:rPr>
              <a:t>25% duurder.”</a:t>
            </a:r>
          </a:p>
        </p:txBody>
      </p:sp>
      <p:sp>
        <p:nvSpPr>
          <p:cNvPr id="7" name="Puntenverschil en procentuele verandering gebruike">
            <a:extLst xmlns:a="http://schemas.openxmlformats.org/drawingml/2006/main">
              <a:ext uri="{FF2B5EF4-FFF2-40B4-BE49-F238E27FC236}">
                <a16:creationId xmlns:a16="http://schemas.microsoft.com/office/drawing/2014/main" id="{63C0F826-C5BE-479D-90AB-3839C609C40C}"/>
              </a:ext>
            </a:extLst>
          </p:cNvPr>
          <p:cNvSpPr>
            <a:spLocks xmlns:a="http://schemas.openxmlformats.org/drawingml/2006/main" noGrp="1"/>
          </p:cNvSpPr>
          <p:nvPr/>
        </p:nvSpPr>
        <p:spPr>
          <a:xfrm xmlns:a="http://schemas.openxmlformats.org/drawingml/2006/main">
            <a:off x="571500" y="7077075"/>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Puntenverschil en procentuele verandering gebruiken een andere berekening.</a:t>
            </a:r>
          </a:p>
        </p:txBody>
      </p:sp>
    </p:spTree>
    <p:extLst>
      <p:ext uri="{BB962C8B-B14F-4D97-AF65-F5344CB8AC3E}">
        <p14:creationId xmlns:p14="http://schemas.microsoft.com/office/powerpoint/2010/main" val="34658288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6g · Advies over het avondvoorstel">
            <a:extLst xmlns:a="http://schemas.openxmlformats.org/drawingml/2006/main">
              <a:ext uri="{FF2B5EF4-FFF2-40B4-BE49-F238E27FC236}">
                <a16:creationId xmlns:a16="http://schemas.microsoft.com/office/drawing/2014/main" id="{F13CE9C7-17FE-4363-8130-828D2D9FBDA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36g · Advies over het avondvoorstel</a:t>
            </a:r>
          </a:p>
        </p:txBody>
      </p:sp>
      <p:sp>
        <p:nvSpPr>
          <p:cNvPr id="2" name="">
            <a:extLst xmlns:a="http://schemas.openxmlformats.org/drawingml/2006/main">
              <a:ext uri="{FF2B5EF4-FFF2-40B4-BE49-F238E27FC236}">
                <a16:creationId xmlns:a16="http://schemas.microsoft.com/office/drawing/2014/main" id="{7202DA1D-1B7E-49B8-B83F-3305077F6CF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BBA2210D-C515-4298-823F-D2764AF39B2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20">
            <a:extLst xmlns:a="http://schemas.openxmlformats.org/drawingml/2006/main">
              <a:ext uri="{FF2B5EF4-FFF2-40B4-BE49-F238E27FC236}">
                <a16:creationId xmlns:a16="http://schemas.microsoft.com/office/drawing/2014/main" id="{6E127D7D-7FDE-431C-9060-332F017252C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Bron B: € 7 geeft volgens het model 120 bezoekers ">
            <a:extLst xmlns:a="http://schemas.openxmlformats.org/drawingml/2006/main">
              <a:ext uri="{FF2B5EF4-FFF2-40B4-BE49-F238E27FC236}">
                <a16:creationId xmlns:a16="http://schemas.microsoft.com/office/drawing/2014/main" id="{095B952B-5797-42E0-A346-BB9F7D27C3BF}"/>
              </a:ext>
            </a:extLst>
          </p:cNvPr>
          <p:cNvSpPr>
            <a:spLocks xmlns:a="http://schemas.openxmlformats.org/drawingml/2006/main" noGrp="1"/>
          </p:cNvSpPr>
          <p:nvPr/>
        </p:nvSpPr>
        <p:spPr>
          <a:xfrm xmlns:a="http://schemas.openxmlformats.org/drawingml/2006/main">
            <a:off x="571500" y="19907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Bron B: € 7 geeft volgens het model 120 bezoekers per avond.</a:t>
            </a:r>
          </a:p>
        </p:txBody>
      </p:sp>
      <p:sp>
        <p:nvSpPr>
          <p:cNvPr id="6" name="120 &lt; 130">
            <a:extLst xmlns:a="http://schemas.openxmlformats.org/drawingml/2006/main">
              <a:ext uri="{FF2B5EF4-FFF2-40B4-BE49-F238E27FC236}">
                <a16:creationId xmlns:a16="http://schemas.microsoft.com/office/drawing/2014/main" id="{88C72888-C2B1-4B47-87BE-BA1231D776BA}"/>
              </a:ext>
            </a:extLst>
          </p:cNvPr>
          <p:cNvSpPr>
            <a:spLocks xmlns:a="http://schemas.openxmlformats.org/drawingml/2006/main" noGrp="1"/>
          </p:cNvSpPr>
          <p:nvPr/>
        </p:nvSpPr>
        <p:spPr>
          <a:xfrm xmlns:a="http://schemas.openxmlformats.org/drawingml/2006/main">
            <a:off x="571500" y="33528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A94D16"/>
                </a:solidFill>
                <a:latin typeface="Arial"/>
                <a:ea typeface="Arial"/>
                <a:cs typeface="Arial"/>
              </a:defRPr>
            </a:pPr>
            <a:r>
              <a:rPr sz="4950" b="1">
                <a:solidFill>
                  <a:srgbClr val="A94D16"/>
                </a:solidFill>
                <a:latin typeface="Arial"/>
                <a:ea typeface="Arial"/>
                <a:cs typeface="Arial"/>
              </a:rPr>
              <a:t>120 &lt; 130</a:t>
            </a:r>
          </a:p>
        </p:txBody>
      </p:sp>
      <p:sp>
        <p:nvSpPr>
          <p:cNvPr id="7" name="Het voorstel haalt het bezoekersdoel niet.">
            <a:extLst xmlns:a="http://schemas.openxmlformats.org/drawingml/2006/main">
              <a:ext uri="{FF2B5EF4-FFF2-40B4-BE49-F238E27FC236}">
                <a16:creationId xmlns:a16="http://schemas.microsoft.com/office/drawing/2014/main" id="{E92D1A97-6D3F-4881-8733-97C9C7D36C09}"/>
              </a:ext>
            </a:extLst>
          </p:cNvPr>
          <p:cNvSpPr>
            <a:spLocks xmlns:a="http://schemas.openxmlformats.org/drawingml/2006/main" noGrp="1"/>
          </p:cNvSpPr>
          <p:nvPr/>
        </p:nvSpPr>
        <p:spPr>
          <a:xfrm xmlns:a="http://schemas.openxmlformats.org/drawingml/2006/main">
            <a:off x="571500" y="45529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Het voorstel haalt het bezoekersdoel niet.</a:t>
            </a:r>
          </a:p>
        </p:txBody>
      </p:sp>
      <p:sp>
        <p:nvSpPr>
          <p:cNvPr id="8" name="Advies: kies € 7 niet als minstens 130 bezoekers h">
            <a:extLst xmlns:a="http://schemas.openxmlformats.org/drawingml/2006/main">
              <a:ext uri="{FF2B5EF4-FFF2-40B4-BE49-F238E27FC236}">
                <a16:creationId xmlns:a16="http://schemas.microsoft.com/office/drawing/2014/main" id="{D200D02B-6CF3-492C-93C9-42C1B1552195}"/>
              </a:ext>
            </a:extLst>
          </p:cNvPr>
          <p:cNvSpPr>
            <a:spLocks xmlns:a="http://schemas.openxmlformats.org/drawingml/2006/main" noGrp="1"/>
          </p:cNvSpPr>
          <p:nvPr/>
        </p:nvSpPr>
        <p:spPr>
          <a:xfrm xmlns:a="http://schemas.openxmlformats.org/drawingml/2006/main">
            <a:off x="571500" y="5648325"/>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Advies: kies € 7 niet als minstens 130 bezoekers het doel is.</a:t>
            </a:r>
          </a:p>
        </p:txBody>
      </p:sp>
      <p:sp>
        <p:nvSpPr>
          <p:cNvPr id="9" name="Beperking: de verwachting veronderstelt gelijkblij">
            <a:extLst xmlns:a="http://schemas.openxmlformats.org/drawingml/2006/main">
              <a:ext uri="{FF2B5EF4-FFF2-40B4-BE49-F238E27FC236}">
                <a16:creationId xmlns:a16="http://schemas.microsoft.com/office/drawing/2014/main" id="{884694FD-0B42-4DBA-86DE-B7C7B0B9C14A}"/>
              </a:ext>
            </a:extLst>
          </p:cNvPr>
          <p:cNvSpPr>
            <a:spLocks xmlns:a="http://schemas.openxmlformats.org/drawingml/2006/main" noGrp="1"/>
          </p:cNvSpPr>
          <p:nvPr/>
        </p:nvSpPr>
        <p:spPr>
          <a:xfrm xmlns:a="http://schemas.openxmlformats.org/drawingml/2006/main">
            <a:off x="571500" y="7000875"/>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Beperking: de verwachting veronderstelt gelijkblijvende omstandigheden.</a:t>
            </a:r>
          </a:p>
        </p:txBody>
      </p:sp>
    </p:spTree>
    <p:extLst>
      <p:ext uri="{BB962C8B-B14F-4D97-AF65-F5344CB8AC3E}">
        <p14:creationId xmlns:p14="http://schemas.microsoft.com/office/powerpoint/2010/main" val="208284991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ntwoordcontrole bij opgave 36">
            <a:extLst xmlns:a="http://schemas.openxmlformats.org/drawingml/2006/main">
              <a:ext uri="{FF2B5EF4-FFF2-40B4-BE49-F238E27FC236}">
                <a16:creationId xmlns:a16="http://schemas.microsoft.com/office/drawing/2014/main" id="{1D68A0CA-2A29-4C9B-AEAB-F304B498193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36</a:t>
            </a:r>
          </a:p>
        </p:txBody>
      </p:sp>
      <p:sp>
        <p:nvSpPr>
          <p:cNvPr id="2" name="">
            <a:extLst xmlns:a="http://schemas.openxmlformats.org/drawingml/2006/main">
              <a:ext uri="{FF2B5EF4-FFF2-40B4-BE49-F238E27FC236}">
                <a16:creationId xmlns:a16="http://schemas.microsoft.com/office/drawing/2014/main" id="{70E81027-70F9-49D3-8DBF-493B6199557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C9A0D407-A15D-449D-9C47-047EC3F6333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21">
            <a:extLst xmlns:a="http://schemas.openxmlformats.org/drawingml/2006/main">
              <a:ext uri="{FF2B5EF4-FFF2-40B4-BE49-F238E27FC236}">
                <a16:creationId xmlns:a16="http://schemas.microsoft.com/office/drawing/2014/main" id="{2FE9A8AC-7373-40A6-BD0D-930695529E2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Bron A">
            <a:extLst xmlns:a="http://schemas.openxmlformats.org/drawingml/2006/main">
              <a:ext uri="{FF2B5EF4-FFF2-40B4-BE49-F238E27FC236}">
                <a16:creationId xmlns:a16="http://schemas.microsoft.com/office/drawing/2014/main" id="{8C3A0CA4-B8F1-4F8F-A552-910AF06FF668}"/>
              </a:ext>
            </a:extLst>
          </p:cNvPr>
          <p:cNvSpPr>
            <a:spLocks xmlns:a="http://schemas.openxmlformats.org/drawingml/2006/main" noGrp="1"/>
          </p:cNvSpPr>
          <p:nvPr/>
        </p:nvSpPr>
        <p:spPr>
          <a:xfrm xmlns:a="http://schemas.openxmlformats.org/drawingml/2006/main">
            <a:off x="571500" y="2028825"/>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A</a:t>
            </a:r>
          </a:p>
        </p:txBody>
      </p:sp>
      <p:sp>
        <p:nvSpPr>
          <p:cNvPr id="6" name="a–b: middel, doel, totalen en beste alternatief">
            <a:extLst xmlns:a="http://schemas.openxmlformats.org/drawingml/2006/main">
              <a:ext uri="{FF2B5EF4-FFF2-40B4-BE49-F238E27FC236}">
                <a16:creationId xmlns:a16="http://schemas.microsoft.com/office/drawing/2014/main" id="{743906F8-4157-47D4-8DE7-DDFF7572460C}"/>
              </a:ext>
            </a:extLst>
          </p:cNvPr>
          <p:cNvSpPr>
            <a:spLocks xmlns:a="http://schemas.openxmlformats.org/drawingml/2006/main" noGrp="1"/>
          </p:cNvSpPr>
          <p:nvPr/>
        </p:nvSpPr>
        <p:spPr>
          <a:xfrm xmlns:a="http://schemas.openxmlformats.org/drawingml/2006/main">
            <a:off x="4048125" y="2028825"/>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a–b: middel, doel, totalen en beste alternatief</a:t>
            </a:r>
          </a:p>
        </p:txBody>
      </p:sp>
      <p:sp>
        <p:nvSpPr>
          <p:cNvPr id="7" name="Bron B">
            <a:extLst xmlns:a="http://schemas.openxmlformats.org/drawingml/2006/main">
              <a:ext uri="{FF2B5EF4-FFF2-40B4-BE49-F238E27FC236}">
                <a16:creationId xmlns:a16="http://schemas.microsoft.com/office/drawing/2014/main" id="{F5A6CEB0-750F-4AFE-B791-3F0D2B0E4978}"/>
              </a:ext>
            </a:extLst>
          </p:cNvPr>
          <p:cNvSpPr>
            <a:spLocks xmlns:a="http://schemas.openxmlformats.org/drawingml/2006/main" noGrp="1"/>
          </p:cNvSpPr>
          <p:nvPr/>
        </p:nvSpPr>
        <p:spPr>
          <a:xfrm xmlns:a="http://schemas.openxmlformats.org/drawingml/2006/main">
            <a:off x="571500" y="3343275"/>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B</a:t>
            </a:r>
          </a:p>
        </p:txBody>
      </p:sp>
      <p:sp>
        <p:nvSpPr>
          <p:cNvPr id="8" name="c–d: assen, eenheden, schaal en tussenwaarde">
            <a:extLst xmlns:a="http://schemas.openxmlformats.org/drawingml/2006/main">
              <a:ext uri="{FF2B5EF4-FFF2-40B4-BE49-F238E27FC236}">
                <a16:creationId xmlns:a16="http://schemas.microsoft.com/office/drawing/2014/main" id="{1552BD75-3793-444A-ABF2-1F455D75D4E0}"/>
              </a:ext>
            </a:extLst>
          </p:cNvPr>
          <p:cNvSpPr>
            <a:spLocks xmlns:a="http://schemas.openxmlformats.org/drawingml/2006/main" noGrp="1"/>
          </p:cNvSpPr>
          <p:nvPr/>
        </p:nvSpPr>
        <p:spPr>
          <a:xfrm xmlns:a="http://schemas.openxmlformats.org/drawingml/2006/main">
            <a:off x="4048125" y="3343275"/>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c–d: assen, eenheden, schaal en tussenwaarde</a:t>
            </a:r>
          </a:p>
        </p:txBody>
      </p:sp>
      <p:sp>
        <p:nvSpPr>
          <p:cNvPr id="9" name="Bron C">
            <a:extLst xmlns:a="http://schemas.openxmlformats.org/drawingml/2006/main">
              <a:ext uri="{FF2B5EF4-FFF2-40B4-BE49-F238E27FC236}">
                <a16:creationId xmlns:a16="http://schemas.microsoft.com/office/drawing/2014/main" id="{EBFE2474-CFBD-4355-AB82-196A4AED4D36}"/>
              </a:ext>
            </a:extLst>
          </p:cNvPr>
          <p:cNvSpPr>
            <a:spLocks xmlns:a="http://schemas.openxmlformats.org/drawingml/2006/main" noGrp="1"/>
          </p:cNvSpPr>
          <p:nvPr/>
        </p:nvSpPr>
        <p:spPr>
          <a:xfrm xmlns:a="http://schemas.openxmlformats.org/drawingml/2006/main">
            <a:off x="571500" y="4657725"/>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C</a:t>
            </a:r>
          </a:p>
        </p:txBody>
      </p:sp>
      <p:sp>
        <p:nvSpPr>
          <p:cNvPr id="10" name="e–f: vaste indexbasis en oude waarde voor groei">
            <a:extLst xmlns:a="http://schemas.openxmlformats.org/drawingml/2006/main">
              <a:ext uri="{FF2B5EF4-FFF2-40B4-BE49-F238E27FC236}">
                <a16:creationId xmlns:a16="http://schemas.microsoft.com/office/drawing/2014/main" id="{61C52979-3E12-4979-A009-A0528644F7BA}"/>
              </a:ext>
            </a:extLst>
          </p:cNvPr>
          <p:cNvSpPr>
            <a:spLocks xmlns:a="http://schemas.openxmlformats.org/drawingml/2006/main" noGrp="1"/>
          </p:cNvSpPr>
          <p:nvPr/>
        </p:nvSpPr>
        <p:spPr>
          <a:xfrm xmlns:a="http://schemas.openxmlformats.org/drawingml/2006/main">
            <a:off x="4048125" y="4657725"/>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e–f: vaste indexbasis en oude waarde voor groei</a:t>
            </a:r>
          </a:p>
        </p:txBody>
      </p:sp>
      <p:sp>
        <p:nvSpPr>
          <p:cNvPr id="11" name="Bron B">
            <a:extLst xmlns:a="http://schemas.openxmlformats.org/drawingml/2006/main">
              <a:ext uri="{FF2B5EF4-FFF2-40B4-BE49-F238E27FC236}">
                <a16:creationId xmlns:a16="http://schemas.microsoft.com/office/drawing/2014/main" id="{3F175B95-42E6-4173-8536-A77D7F1C81AE}"/>
              </a:ext>
            </a:extLst>
          </p:cNvPr>
          <p:cNvSpPr>
            <a:spLocks xmlns:a="http://schemas.openxmlformats.org/drawingml/2006/main" noGrp="1"/>
          </p:cNvSpPr>
          <p:nvPr/>
        </p:nvSpPr>
        <p:spPr>
          <a:xfrm xmlns:a="http://schemas.openxmlformats.org/drawingml/2006/main">
            <a:off x="571500" y="5972175"/>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B</a:t>
            </a:r>
          </a:p>
        </p:txBody>
      </p:sp>
      <p:sp>
        <p:nvSpPr>
          <p:cNvPr id="12" name="g: resultaat, bezoekersdoel en modelbeperking">
            <a:extLst xmlns:a="http://schemas.openxmlformats.org/drawingml/2006/main">
              <a:ext uri="{FF2B5EF4-FFF2-40B4-BE49-F238E27FC236}">
                <a16:creationId xmlns:a16="http://schemas.microsoft.com/office/drawing/2014/main" id="{8FC22F47-6CB1-4F0B-8F29-4E27C6B852B7}"/>
              </a:ext>
            </a:extLst>
          </p:cNvPr>
          <p:cNvSpPr>
            <a:spLocks xmlns:a="http://schemas.openxmlformats.org/drawingml/2006/main" noGrp="1"/>
          </p:cNvSpPr>
          <p:nvPr/>
        </p:nvSpPr>
        <p:spPr>
          <a:xfrm xmlns:a="http://schemas.openxmlformats.org/drawingml/2006/main">
            <a:off x="4048125" y="5972175"/>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 resultaat, bezoekersdoel en modelbeperking</a:t>
            </a:r>
          </a:p>
        </p:txBody>
      </p:sp>
      <p:sp>
        <p:nvSpPr>
          <p:cNvPr id="13" name="Verbeter een ontbrekende stap of onjuiste verklari">
            <a:extLst xmlns:a="http://schemas.openxmlformats.org/drawingml/2006/main">
              <a:ext uri="{FF2B5EF4-FFF2-40B4-BE49-F238E27FC236}">
                <a16:creationId xmlns:a16="http://schemas.microsoft.com/office/drawing/2014/main" id="{16076C59-DC86-487D-8F18-DF87AB056396}"/>
              </a:ext>
            </a:extLst>
          </p:cNvPr>
          <p:cNvSpPr>
            <a:spLocks xmlns:a="http://schemas.openxmlformats.org/drawingml/2006/main" noGrp="1"/>
          </p:cNvSpPr>
          <p:nvPr/>
        </p:nvSpPr>
        <p:spPr>
          <a:xfrm xmlns:a="http://schemas.openxmlformats.org/drawingml/2006/main">
            <a:off x="571500" y="75628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Verbeter een ontbrekende stap of onjuiste verklaring in je eigen werk.</a:t>
            </a:r>
          </a:p>
        </p:txBody>
      </p:sp>
    </p:spTree>
    <p:extLst>
      <p:ext uri="{BB962C8B-B14F-4D97-AF65-F5344CB8AC3E}">
        <p14:creationId xmlns:p14="http://schemas.microsoft.com/office/powerpoint/2010/main" val="114690005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4 Gemengde opgaven">
            <a:extLst xmlns:a="http://schemas.openxmlformats.org/drawingml/2006/main">
              <a:ext uri="{FF2B5EF4-FFF2-40B4-BE49-F238E27FC236}">
                <a16:creationId xmlns:a16="http://schemas.microsoft.com/office/drawing/2014/main" id="{D161EBE6-EF4E-48D4-A117-E74CAE764A9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§1.1.4 Gemengde opgaven</a:t>
            </a:r>
          </a:p>
        </p:txBody>
      </p:sp>
      <p:sp>
        <p:nvSpPr>
          <p:cNvPr id="2" name="">
            <a:extLst xmlns:a="http://schemas.openxmlformats.org/drawingml/2006/main">
              <a:ext uri="{FF2B5EF4-FFF2-40B4-BE49-F238E27FC236}">
                <a16:creationId xmlns:a16="http://schemas.microsoft.com/office/drawing/2014/main" id="{538F9667-F7B2-453D-BA78-9E589A60920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4 Gemengde opgaven · Tweede editie 2026">
            <a:extLst xmlns:a="http://schemas.openxmlformats.org/drawingml/2006/main">
              <a:ext uri="{FF2B5EF4-FFF2-40B4-BE49-F238E27FC236}">
                <a16:creationId xmlns:a16="http://schemas.microsoft.com/office/drawing/2014/main" id="{4E6EAD15-CBD6-4955-AA55-A8C7E4C3823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§1.1.4 Gemengde opgaven · Tweede editie 2026</a:t>
            </a:r>
          </a:p>
        </p:txBody>
      </p:sp>
      <p:sp>
        <p:nvSpPr>
          <p:cNvPr id="4" name="22">
            <a:extLst xmlns:a="http://schemas.openxmlformats.org/drawingml/2006/main">
              <a:ext uri="{FF2B5EF4-FFF2-40B4-BE49-F238E27FC236}">
                <a16:creationId xmlns:a16="http://schemas.microsoft.com/office/drawing/2014/main" id="{A9D3400F-5F87-4EBA-9934-4FD979531C4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phase">
            <a:extLst xmlns:a="http://schemas.openxmlformats.org/drawingml/2006/main">
              <a:ext uri="{FF2B5EF4-FFF2-40B4-BE49-F238E27FC236}">
                <a16:creationId xmlns:a16="http://schemas.microsoft.com/office/drawing/2014/main" id="{9274A6DD-E8EC-4AC8-A264-F71F74BDE50F}"/>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9B6A1A4A-8792-463F-9896-AFC3EB669852}"/>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35318CC9-23ED-4FCD-BF05-F82C8EAF868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C2F3DEFB-BBDC-470D-9773-E4BE82ACCCB7}"/>
              </a:ext>
            </a:extLst>
          </p:cNvPr>
          <p:cNvSpPr>
            <a:spLocks xmlns:a="http://schemas.openxmlformats.org/drawingml/2006/main" noGrp="1"/>
          </p:cNvSpPr>
          <p:nvPr/>
        </p:nvSpPr>
        <p:spPr>
          <a:xfrm xmlns:a="http://schemas.openxmlformats.org/drawingml/2006/main">
            <a:off x="1104900" y="2324100"/>
            <a:ext cx="7572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pen en rekenmachine.</a:t>
            </a:r>
          </a:p>
        </p:txBody>
      </p:sp>
      <p:sp>
        <p:nvSpPr>
          <p:cNvPr id="9" name="route-number-2">
            <a:extLst xmlns:a="http://schemas.openxmlformats.org/drawingml/2006/main">
              <a:ext uri="{FF2B5EF4-FFF2-40B4-BE49-F238E27FC236}">
                <a16:creationId xmlns:a16="http://schemas.microsoft.com/office/drawing/2014/main" id="{B0FCD526-E93E-4999-9B42-D848F6106816}"/>
              </a:ext>
            </a:extLst>
          </p:cNvPr>
          <p:cNvSpPr>
            <a:spLocks xmlns:a="http://schemas.openxmlformats.org/drawingml/2006/main" noGrp="1"/>
          </p:cNvSpPr>
          <p:nvPr/>
        </p:nvSpPr>
        <p:spPr>
          <a:xfrm xmlns:a="http://schemas.openxmlformats.org/drawingml/2006/main">
            <a:off x="571500" y="32575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42820B2-AFB9-4BC4-92C9-EE22BE55EADC}"/>
              </a:ext>
            </a:extLst>
          </p:cNvPr>
          <p:cNvSpPr>
            <a:spLocks xmlns:a="http://schemas.openxmlformats.org/drawingml/2006/main" noGrp="1"/>
          </p:cNvSpPr>
          <p:nvPr/>
        </p:nvSpPr>
        <p:spPr>
          <a:xfrm xmlns:a="http://schemas.openxmlformats.org/drawingml/2006/main">
            <a:off x="1104900" y="3257550"/>
            <a:ext cx="757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49952C90-A887-4B69-AC48-D9048A217CB2}"/>
              </a:ext>
            </a:extLst>
          </p:cNvPr>
          <p:cNvSpPr>
            <a:spLocks xmlns:a="http://schemas.openxmlformats.org/drawingml/2006/main" noGrp="1"/>
          </p:cNvSpPr>
          <p:nvPr/>
        </p:nvSpPr>
        <p:spPr>
          <a:xfrm xmlns:a="http://schemas.openxmlformats.org/drawingml/2006/main">
            <a:off x="571500" y="38385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05916871-0E9E-4B17-B0DF-33DD6D528BED}"/>
              </a:ext>
            </a:extLst>
          </p:cNvPr>
          <p:cNvSpPr>
            <a:spLocks xmlns:a="http://schemas.openxmlformats.org/drawingml/2006/main" noGrp="1"/>
          </p:cNvSpPr>
          <p:nvPr/>
        </p:nvSpPr>
        <p:spPr>
          <a:xfrm xmlns:a="http://schemas.openxmlformats.org/drawingml/2006/main">
            <a:off x="1104900" y="3838575"/>
            <a:ext cx="757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1DF13527-616D-4214-94C5-FD8CA18A4FB4}"/>
              </a:ext>
            </a:extLst>
          </p:cNvPr>
          <p:cNvSpPr>
            <a:spLocks xmlns:a="http://schemas.openxmlformats.org/drawingml/2006/main" noGrp="1"/>
          </p:cNvSpPr>
          <p:nvPr/>
        </p:nvSpPr>
        <p:spPr>
          <a:xfrm xmlns:a="http://schemas.openxmlformats.org/drawingml/2006/main">
            <a:off x="571500" y="4457700"/>
            <a:ext cx="457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F30CE32E-F9CD-4851-AF6D-E570DF2AC474}"/>
              </a:ext>
            </a:extLst>
          </p:cNvPr>
          <p:cNvSpPr>
            <a:spLocks xmlns:a="http://schemas.openxmlformats.org/drawingml/2006/main" noGrp="1"/>
          </p:cNvSpPr>
          <p:nvPr/>
        </p:nvSpPr>
        <p:spPr>
          <a:xfrm xmlns:a="http://schemas.openxmlformats.org/drawingml/2006/main">
            <a:off x="1104900" y="4457700"/>
            <a:ext cx="7572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stel vragen en kijk je antwoorden na.</a:t>
            </a:r>
          </a:p>
        </p:txBody>
      </p:sp>
      <p:sp>
        <p:nvSpPr>
          <p:cNvPr id="15" name="route-number-5">
            <a:extLst xmlns:a="http://schemas.openxmlformats.org/drawingml/2006/main">
              <a:ext uri="{FF2B5EF4-FFF2-40B4-BE49-F238E27FC236}">
                <a16:creationId xmlns:a16="http://schemas.microsoft.com/office/drawing/2014/main" id="{7B4FCCF5-5BF6-4626-A8AA-1EEFF9D5AF26}"/>
              </a:ext>
            </a:extLst>
          </p:cNvPr>
          <p:cNvSpPr>
            <a:spLocks xmlns:a="http://schemas.openxmlformats.org/drawingml/2006/main" noGrp="1"/>
          </p:cNvSpPr>
          <p:nvPr/>
        </p:nvSpPr>
        <p:spPr>
          <a:xfrm xmlns:a="http://schemas.openxmlformats.org/drawingml/2006/main">
            <a:off x="571500" y="5724525"/>
            <a:ext cx="45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240E8561-EED5-45B1-BB01-8AA9F8FEE649}"/>
              </a:ext>
            </a:extLst>
          </p:cNvPr>
          <p:cNvSpPr>
            <a:spLocks xmlns:a="http://schemas.openxmlformats.org/drawingml/2006/main" noGrp="1"/>
          </p:cNvSpPr>
          <p:nvPr/>
        </p:nvSpPr>
        <p:spPr>
          <a:xfrm xmlns:a="http://schemas.openxmlformats.org/drawingml/2006/main">
            <a:off x="1104900" y="5724525"/>
            <a:ext cx="7572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2AE282C5-B34E-439B-AD64-DC970930053C}"/>
              </a:ext>
            </a:extLst>
          </p:cNvPr>
          <p:cNvSpPr>
            <a:spLocks xmlns:a="http://schemas.openxmlformats.org/drawingml/2006/main" noGrp="1"/>
          </p:cNvSpPr>
          <p:nvPr/>
        </p:nvSpPr>
        <p:spPr>
          <a:xfrm xmlns:a="http://schemas.openxmlformats.org/drawingml/2006/main">
            <a:off x="571500" y="669607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5F526543-7C55-4E42-AC50-6ED760DCECCB}"/>
              </a:ext>
            </a:extLst>
          </p:cNvPr>
          <p:cNvSpPr>
            <a:spLocks xmlns:a="http://schemas.openxmlformats.org/drawingml/2006/main" noGrp="1"/>
          </p:cNvSpPr>
          <p:nvPr/>
        </p:nvSpPr>
        <p:spPr>
          <a:xfrm xmlns:a="http://schemas.openxmlformats.org/drawingml/2006/main">
            <a:off x="1104900" y="6696075"/>
            <a:ext cx="757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opgave 36.</a:t>
            </a:r>
          </a:p>
        </p:txBody>
      </p:sp>
      <p:sp>
        <p:nvSpPr>
          <p:cNvPr id="19" name="route-number-7">
            <a:extLst xmlns:a="http://schemas.openxmlformats.org/drawingml/2006/main">
              <a:ext uri="{FF2B5EF4-FFF2-40B4-BE49-F238E27FC236}">
                <a16:creationId xmlns:a16="http://schemas.microsoft.com/office/drawing/2014/main" id="{169B167E-7D46-441C-9EAA-5F17D5F0AD39}"/>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C4B6E560-2CC8-4FA2-8808-F927ACF64B6B}"/>
              </a:ext>
            </a:extLst>
          </p:cNvPr>
          <p:cNvSpPr>
            <a:spLocks xmlns:a="http://schemas.openxmlformats.org/drawingml/2006/main" noGrp="1"/>
          </p:cNvSpPr>
          <p:nvPr/>
        </p:nvSpPr>
        <p:spPr>
          <a:xfrm xmlns:a="http://schemas.openxmlformats.org/drawingml/2006/main">
            <a:off x="1104900" y="7372350"/>
            <a:ext cx="757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1CE127A-096B-472B-BDA2-7656B74BE45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D59DD4D-316C-44C6-83C1-DE1429D64079}"/>
              </a:ext>
            </a:extLst>
          </p:cNvPr>
          <p:cNvSpPr>
            <a:spLocks xmlns:a="http://schemas.openxmlformats.org/drawingml/2006/main" noGrp="1"/>
          </p:cNvSpPr>
          <p:nvPr/>
        </p:nvSpPr>
        <p:spPr>
          <a:xfrm xmlns:a="http://schemas.openxmlformats.org/drawingml/2006/main">
            <a:off x="9258300" y="2324100"/>
            <a:ext cx="5381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 en methode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Keuze, grafiek en berekening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combineren. Advies onderbouwen.</a:t>
            </a:r>
          </a:p>
        </p:txBody>
      </p:sp>
      <p:sp>
        <p:nvSpPr>
          <p:cNvPr id="23" name="">
            <a:extLst xmlns:a="http://schemas.openxmlformats.org/drawingml/2006/main">
              <a:ext uri="{FF2B5EF4-FFF2-40B4-BE49-F238E27FC236}">
                <a16:creationId xmlns:a16="http://schemas.microsoft.com/office/drawing/2014/main" id="{4E87E43F-7320-4198-A4FD-4C4603B13E29}"/>
              </a:ext>
            </a:extLst>
          </p:cNvPr>
          <p:cNvSpPr>
            <a:spLocks xmlns:a="http://schemas.openxmlformats.org/drawingml/2006/main" noGrp="1"/>
          </p:cNvSpPr>
          <p:nvPr/>
        </p:nvSpPr>
        <p:spPr>
          <a:xfrm xmlns:a="http://schemas.openxmlformats.org/drawingml/2006/main">
            <a:off x="9258300" y="366712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8F55623-3185-4F60-B810-8BC2FD32451F}"/>
              </a:ext>
            </a:extLst>
          </p:cNvPr>
          <p:cNvSpPr>
            <a:spLocks xmlns:a="http://schemas.openxmlformats.org/drawingml/2006/main" noGrp="1"/>
          </p:cNvSpPr>
          <p:nvPr/>
        </p:nvSpPr>
        <p:spPr>
          <a:xfrm xmlns:a="http://schemas.openxmlformats.org/drawingml/2006/main">
            <a:off x="9258300" y="39052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2054947-80E0-4FB3-B91C-4C1FF7DD9770}"/>
              </a:ext>
            </a:extLst>
          </p:cNvPr>
          <p:cNvSpPr>
            <a:spLocks xmlns:a="http://schemas.openxmlformats.org/drawingml/2006/main" noGrp="1"/>
          </p:cNvSpPr>
          <p:nvPr/>
        </p:nvSpPr>
        <p:spPr>
          <a:xfrm xmlns:a="http://schemas.openxmlformats.org/drawingml/2006/main">
            <a:off x="9258300" y="4486275"/>
            <a:ext cx="5381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39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Opgave 34</a:t>
            </a:r>
          </a:p>
        </p:txBody>
      </p:sp>
      <p:sp>
        <p:nvSpPr>
          <p:cNvPr id="26" name="">
            <a:extLst xmlns:a="http://schemas.openxmlformats.org/drawingml/2006/main">
              <a:ext uri="{FF2B5EF4-FFF2-40B4-BE49-F238E27FC236}">
                <a16:creationId xmlns:a16="http://schemas.microsoft.com/office/drawing/2014/main" id="{4F21B3E8-3B64-4E83-A4EC-FBA2A1E0C285}"/>
              </a:ext>
            </a:extLst>
          </p:cNvPr>
          <p:cNvSpPr>
            <a:spLocks xmlns:a="http://schemas.openxmlformats.org/drawingml/2006/main" noGrp="1"/>
          </p:cNvSpPr>
          <p:nvPr/>
        </p:nvSpPr>
        <p:spPr>
          <a:xfrm xmlns:a="http://schemas.openxmlformats.org/drawingml/2006/main">
            <a:off x="9258300" y="55435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4EA9216-8C58-4856-ABD7-8AECBA467CA6}"/>
              </a:ext>
            </a:extLst>
          </p:cNvPr>
          <p:cNvSpPr>
            <a:spLocks xmlns:a="http://schemas.openxmlformats.org/drawingml/2006/main" noGrp="1"/>
          </p:cNvSpPr>
          <p:nvPr/>
        </p:nvSpPr>
        <p:spPr>
          <a:xfrm xmlns:a="http://schemas.openxmlformats.org/drawingml/2006/main">
            <a:off x="9258300" y="57816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44FB476-2356-4492-85B0-F0034131C6EF}"/>
              </a:ext>
            </a:extLst>
          </p:cNvPr>
          <p:cNvSpPr>
            <a:spLocks xmlns:a="http://schemas.openxmlformats.org/drawingml/2006/main" noGrp="1"/>
          </p:cNvSpPr>
          <p:nvPr/>
        </p:nvSpPr>
        <p:spPr>
          <a:xfrm xmlns:a="http://schemas.openxmlformats.org/drawingml/2006/main">
            <a:off x="9258300" y="6334125"/>
            <a:ext cx="5381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§1.1.4 Gemengde opgaven</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Opgaven 34, 35, 36, 37 en 38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Bespreekopgave: 36</a:t>
            </a:r>
          </a:p>
        </p:txBody>
      </p:sp>
    </p:spTree>
    <p:extLst>
      <p:ext uri="{BB962C8B-B14F-4D97-AF65-F5344CB8AC3E}">
        <p14:creationId xmlns:p14="http://schemas.microsoft.com/office/powerpoint/2010/main" val="818396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2026-10-03T14:36:29.8180000Z</dcterms:created>
  <dcterms:modified xsi:type="dcterms:W3CDTF">2026-10-03T14:36:29.8180000Z</dcterms:modified>
</coreProperties>
</file>