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e89b6c41cb454f" /><Relationship Type="http://schemas.openxmlformats.org/officeDocument/2006/relationships/extended-properties" Target="/docProps/app.xml" Id="R14caa821863842d9" /><Relationship Type="http://schemas.openxmlformats.org/officeDocument/2006/relationships/officeDocument" Target="/ppt/presentation.xml" Id="Re4ee48e41a4645f2" /></Relationships>
</file>

<file path=ppt/presentation.xml><?xml version="1.0" encoding="utf-8"?>
<p:presentation xmlns:p="http://schemas.openxmlformats.org/presentationml/2006/main">
  <p:sldMasterIdLst>
    <p:sldMasterId xmlns:r="http://schemas.openxmlformats.org/officeDocument/2006/relationships" id="2147483648" r:id="R140baa01f0424464"/>
  </p:sldMasterIdLst>
  <p:notesMasterIdLst>
    <p:notesMasterId xmlns:r="http://schemas.openxmlformats.org/officeDocument/2006/relationships" r:id="R021e00bd6b604863"/>
  </p:notesMasterIdLst>
  <p:sldIdLst>
    <p:sldId xmlns:r="http://schemas.openxmlformats.org/officeDocument/2006/relationships" id="256" r:id="Rafb9cd804c7f414b"/>
    <p:sldId xmlns:r="http://schemas.openxmlformats.org/officeDocument/2006/relationships" id="257" r:id="R22f4aa07d037492a"/>
    <p:sldId xmlns:r="http://schemas.openxmlformats.org/officeDocument/2006/relationships" id="258" r:id="Re6c999279485458f"/>
    <p:sldId xmlns:r="http://schemas.openxmlformats.org/officeDocument/2006/relationships" id="259" r:id="Red88fff94c62442b"/>
    <p:sldId xmlns:r="http://schemas.openxmlformats.org/officeDocument/2006/relationships" id="260" r:id="R4749798109d848c3"/>
    <p:sldId xmlns:r="http://schemas.openxmlformats.org/officeDocument/2006/relationships" id="261" r:id="Rcb9d142f21c64109"/>
    <p:sldId xmlns:r="http://schemas.openxmlformats.org/officeDocument/2006/relationships" id="262" r:id="Rcb1a0f2ea06d435a"/>
    <p:sldId xmlns:r="http://schemas.openxmlformats.org/officeDocument/2006/relationships" id="263" r:id="Ra979c9aa0245463d"/>
    <p:sldId xmlns:r="http://schemas.openxmlformats.org/officeDocument/2006/relationships" id="264" r:id="Rbd536ca03dc24f0a"/>
    <p:sldId xmlns:r="http://schemas.openxmlformats.org/officeDocument/2006/relationships" id="265" r:id="R884c5ab5bfd446c2"/>
    <p:sldId xmlns:r="http://schemas.openxmlformats.org/officeDocument/2006/relationships" id="266" r:id="Ref62b147a8c741a6"/>
    <p:sldId xmlns:r="http://schemas.openxmlformats.org/officeDocument/2006/relationships" id="267" r:id="Rb1cf35a9a28046b0"/>
    <p:sldId xmlns:r="http://schemas.openxmlformats.org/officeDocument/2006/relationships" id="268" r:id="R8965c54f08124e1b"/>
    <p:sldId xmlns:r="http://schemas.openxmlformats.org/officeDocument/2006/relationships" id="269" r:id="Rbfc28fbd51de46e4"/>
    <p:sldId xmlns:r="http://schemas.openxmlformats.org/officeDocument/2006/relationships" id="270" r:id="R88735df0539e4554"/>
    <p:sldId xmlns:r="http://schemas.openxmlformats.org/officeDocument/2006/relationships" id="271" r:id="Rbdea2f0ce2554403"/>
    <p:sldId xmlns:r="http://schemas.openxmlformats.org/officeDocument/2006/relationships" id="272" r:id="Rf9b910e4bc664a80"/>
    <p:sldId xmlns:r="http://schemas.openxmlformats.org/officeDocument/2006/relationships" id="273" r:id="R3332814bc7384c02"/>
    <p:sldId xmlns:r="http://schemas.openxmlformats.org/officeDocument/2006/relationships" id="274" r:id="R01a455c100bb4eba"/>
    <p:sldId xmlns:r="http://schemas.openxmlformats.org/officeDocument/2006/relationships" id="275" r:id="R057778dabdab4554"/>
    <p:sldId xmlns:r="http://schemas.openxmlformats.org/officeDocument/2006/relationships" id="276" r:id="Rcf7b814decc04841"/>
    <p:sldId xmlns:r="http://schemas.openxmlformats.org/officeDocument/2006/relationships" id="277" r:id="R975785d779d34d99"/>
    <p:sldId xmlns:r="http://schemas.openxmlformats.org/officeDocument/2006/relationships" id="278" r:id="R487f5a5d89f34181"/>
    <p:sldId xmlns:r="http://schemas.openxmlformats.org/officeDocument/2006/relationships" id="279" r:id="Rdd70793fd52c4975"/>
    <p:sldId xmlns:r="http://schemas.openxmlformats.org/officeDocument/2006/relationships" id="280" r:id="Re1b0b2d2536349ba"/>
    <p:sldId xmlns:r="http://schemas.openxmlformats.org/officeDocument/2006/relationships" id="281" r:id="Rd053feaa088d44d4"/>
    <p:sldId xmlns:r="http://schemas.openxmlformats.org/officeDocument/2006/relationships" id="282" r:id="R939e034c4b134c00"/>
    <p:sldId xmlns:r="http://schemas.openxmlformats.org/officeDocument/2006/relationships" id="283" r:id="R2885634ae50f4e9f"/>
    <p:sldId xmlns:r="http://schemas.openxmlformats.org/officeDocument/2006/relationships" id="284" r:id="Rd44afb96743b42d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f61f552b184fa3" /><Relationship Type="http://schemas.openxmlformats.org/officeDocument/2006/relationships/slideMaster" Target="/ppt/slideMasters/slideMaster1.xml" Id="R140baa01f0424464" /><Relationship Type="http://schemas.openxmlformats.org/officeDocument/2006/relationships/notesMaster" Target="/ppt/notesMasters/notesMaster1.xml" Id="R021e00bd6b604863" /><Relationship Type="http://schemas.openxmlformats.org/officeDocument/2006/relationships/presProps" Target="/ppt/presProps.xml" Id="R0b20c97d8be544a6" /><Relationship Type="http://schemas.openxmlformats.org/officeDocument/2006/relationships/tableStyles" Target="/ppt/tableStyles.xml" Id="R0ec1db97483a4642" /><Relationship Type="http://schemas.openxmlformats.org/officeDocument/2006/relationships/slide" Target="/ppt/slides/slide1.xml" Id="Rafb9cd804c7f414b" /><Relationship Type="http://schemas.openxmlformats.org/officeDocument/2006/relationships/slide" Target="/ppt/slides/slide2.xml" Id="R22f4aa07d037492a" /><Relationship Type="http://schemas.openxmlformats.org/officeDocument/2006/relationships/slide" Target="/ppt/slides/slide3.xml" Id="Re6c999279485458f" /><Relationship Type="http://schemas.openxmlformats.org/officeDocument/2006/relationships/slide" Target="/ppt/slides/slide4.xml" Id="Red88fff94c62442b" /><Relationship Type="http://schemas.openxmlformats.org/officeDocument/2006/relationships/slide" Target="/ppt/slides/slide5.xml" Id="R4749798109d848c3" /><Relationship Type="http://schemas.openxmlformats.org/officeDocument/2006/relationships/slide" Target="/ppt/slides/slide6.xml" Id="Rcb9d142f21c64109" /><Relationship Type="http://schemas.openxmlformats.org/officeDocument/2006/relationships/slide" Target="/ppt/slides/slide7.xml" Id="Rcb1a0f2ea06d435a" /><Relationship Type="http://schemas.openxmlformats.org/officeDocument/2006/relationships/slide" Target="/ppt/slides/slide8.xml" Id="Ra979c9aa0245463d" /><Relationship Type="http://schemas.openxmlformats.org/officeDocument/2006/relationships/slide" Target="/ppt/slides/slide9.xml" Id="Rbd536ca03dc24f0a" /><Relationship Type="http://schemas.openxmlformats.org/officeDocument/2006/relationships/slide" Target="/ppt/slides/slide10.xml" Id="R884c5ab5bfd446c2" /><Relationship Type="http://schemas.openxmlformats.org/officeDocument/2006/relationships/slide" Target="/ppt/slides/slide11.xml" Id="Ref62b147a8c741a6" /><Relationship Type="http://schemas.openxmlformats.org/officeDocument/2006/relationships/slide" Target="/ppt/slides/slide12.xml" Id="Rb1cf35a9a28046b0" /><Relationship Type="http://schemas.openxmlformats.org/officeDocument/2006/relationships/slide" Target="/ppt/slides/slide13.xml" Id="R8965c54f08124e1b" /><Relationship Type="http://schemas.openxmlformats.org/officeDocument/2006/relationships/slide" Target="/ppt/slides/slide14.xml" Id="Rbfc28fbd51de46e4" /><Relationship Type="http://schemas.openxmlformats.org/officeDocument/2006/relationships/slide" Target="/ppt/slides/slide15.xml" Id="R88735df0539e4554" /><Relationship Type="http://schemas.openxmlformats.org/officeDocument/2006/relationships/slide" Target="/ppt/slides/slide16.xml" Id="Rbdea2f0ce2554403" /><Relationship Type="http://schemas.openxmlformats.org/officeDocument/2006/relationships/slide" Target="/ppt/slides/slide17.xml" Id="Rf9b910e4bc664a80" /><Relationship Type="http://schemas.openxmlformats.org/officeDocument/2006/relationships/slide" Target="/ppt/slides/slide18.xml" Id="R3332814bc7384c02" /><Relationship Type="http://schemas.openxmlformats.org/officeDocument/2006/relationships/slide" Target="/ppt/slides/slide19.xml" Id="R01a455c100bb4eba" /><Relationship Type="http://schemas.openxmlformats.org/officeDocument/2006/relationships/slide" Target="/ppt/slides/slide20.xml" Id="R057778dabdab4554" /><Relationship Type="http://schemas.openxmlformats.org/officeDocument/2006/relationships/slide" Target="/ppt/slides/slide21.xml" Id="Rcf7b814decc04841" /><Relationship Type="http://schemas.openxmlformats.org/officeDocument/2006/relationships/slide" Target="/ppt/slides/slide22.xml" Id="R975785d779d34d99" /><Relationship Type="http://schemas.openxmlformats.org/officeDocument/2006/relationships/slide" Target="/ppt/slides/slide23.xml" Id="R487f5a5d89f34181" /><Relationship Type="http://schemas.openxmlformats.org/officeDocument/2006/relationships/slide" Target="/ppt/slides/slide24.xml" Id="Rdd70793fd52c4975" /><Relationship Type="http://schemas.openxmlformats.org/officeDocument/2006/relationships/slide" Target="/ppt/slides/slide25.xml" Id="Re1b0b2d2536349ba" /><Relationship Type="http://schemas.openxmlformats.org/officeDocument/2006/relationships/slide" Target="/ppt/slides/slide26.xml" Id="Rd053feaa088d44d4" /><Relationship Type="http://schemas.openxmlformats.org/officeDocument/2006/relationships/slide" Target="/ppt/slides/slide27.xml" Id="R939e034c4b134c00" /><Relationship Type="http://schemas.openxmlformats.org/officeDocument/2006/relationships/slide" Target="/ppt/slides/slide28.xml" Id="R2885634ae50f4e9f" /><Relationship Type="http://schemas.openxmlformats.org/officeDocument/2006/relationships/slide" Target="/ppt/slides/slide29.xml" Id="Rd44afb96743b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bfb08ab98f43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b494ed1d6548d4" /><Relationship Type="http://schemas.openxmlformats.org/officeDocument/2006/relationships/notesMaster" Target="/ppt/notesMasters/notesMaster1.xml" Id="R00dd152b9d8a4d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73ccc4059442e8" /><Relationship Type="http://schemas.openxmlformats.org/officeDocument/2006/relationships/notesMaster" Target="/ppt/notesMasters/notesMaster1.xml" Id="Rff3e2aaec5a247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8fd1db6ef04c51" /><Relationship Type="http://schemas.openxmlformats.org/officeDocument/2006/relationships/notesMaster" Target="/ppt/notesMasters/notesMaster1.xml" Id="Ref8e658437df48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4b8c58b7b44cd2" /><Relationship Type="http://schemas.openxmlformats.org/officeDocument/2006/relationships/notesMaster" Target="/ppt/notesMasters/notesMaster1.xml" Id="Rbd7c982785224e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e394a55f894aca" /><Relationship Type="http://schemas.openxmlformats.org/officeDocument/2006/relationships/notesMaster" Target="/ppt/notesMasters/notesMaster1.xml" Id="R8f184f1a87f648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a96b49703f489f" /><Relationship Type="http://schemas.openxmlformats.org/officeDocument/2006/relationships/notesMaster" Target="/ppt/notesMasters/notesMaster1.xml" Id="Rf9cd8ce32fc54f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ab7559031f4c3b" /><Relationship Type="http://schemas.openxmlformats.org/officeDocument/2006/relationships/notesMaster" Target="/ppt/notesMasters/notesMaster1.xml" Id="R0ce1ca97e4f344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765a6863a24cb8" /><Relationship Type="http://schemas.openxmlformats.org/officeDocument/2006/relationships/notesMaster" Target="/ppt/notesMasters/notesMaster1.xml" Id="R5708ceb1494349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25d5a34fcc4886" /><Relationship Type="http://schemas.openxmlformats.org/officeDocument/2006/relationships/notesMaster" Target="/ppt/notesMasters/notesMaster1.xml" Id="Rce500f58f31547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cd5aa8fff4417a" /><Relationship Type="http://schemas.openxmlformats.org/officeDocument/2006/relationships/notesMaster" Target="/ppt/notesMasters/notesMaster1.xml" Id="R5706ef235d094d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4ff25615af4fcb" /><Relationship Type="http://schemas.openxmlformats.org/officeDocument/2006/relationships/notesMaster" Target="/ppt/notesMasters/notesMaster1.xml" Id="R74b1aaafd21d49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32bd15495648ae" /><Relationship Type="http://schemas.openxmlformats.org/officeDocument/2006/relationships/notesMaster" Target="/ppt/notesMasters/notesMaster1.xml" Id="R08a7e532e07149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ba410a082b4f9d" /><Relationship Type="http://schemas.openxmlformats.org/officeDocument/2006/relationships/notesMaster" Target="/ppt/notesMasters/notesMaster1.xml" Id="R6a29a747b1e840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1acc1086b84757" /><Relationship Type="http://schemas.openxmlformats.org/officeDocument/2006/relationships/notesMaster" Target="/ppt/notesMasters/notesMaster1.xml" Id="R0697878dbe9346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c6398e97fe42e6" /><Relationship Type="http://schemas.openxmlformats.org/officeDocument/2006/relationships/notesMaster" Target="/ppt/notesMasters/notesMaster1.xml" Id="Rf41cbf3efa7a45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700a3100a740db" /><Relationship Type="http://schemas.openxmlformats.org/officeDocument/2006/relationships/notesMaster" Target="/ppt/notesMasters/notesMaster1.xml" Id="R9f511b3946c04d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4d1e8f667849ea" /><Relationship Type="http://schemas.openxmlformats.org/officeDocument/2006/relationships/notesMaster" Target="/ppt/notesMasters/notesMaster1.xml" Id="R6607fc99611947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adaadcf49b44174" /><Relationship Type="http://schemas.openxmlformats.org/officeDocument/2006/relationships/notesMaster" Target="/ppt/notesMasters/notesMaster1.xml" Id="Rb0f33e26997045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b7ad9fc9df443f" /><Relationship Type="http://schemas.openxmlformats.org/officeDocument/2006/relationships/notesMaster" Target="/ppt/notesMasters/notesMaster1.xml" Id="R3422228de3ed4f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494ff05e484e6a" /><Relationship Type="http://schemas.openxmlformats.org/officeDocument/2006/relationships/notesMaster" Target="/ppt/notesMasters/notesMaster1.xml" Id="R599fbb7cc6f04e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906c9001294306" /><Relationship Type="http://schemas.openxmlformats.org/officeDocument/2006/relationships/notesMaster" Target="/ppt/notesMasters/notesMaster1.xml" Id="Re1ec4e45cb0942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85396e9805845ed" /><Relationship Type="http://schemas.openxmlformats.org/officeDocument/2006/relationships/notesMaster" Target="/ppt/notesMasters/notesMaster1.xml" Id="R9da9662fc1ae4e8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805dce394f4f11" /><Relationship Type="http://schemas.openxmlformats.org/officeDocument/2006/relationships/notesMaster" Target="/ppt/notesMasters/notesMaster1.xml" Id="R67ccf387025641e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f74d6262b64ccb" /><Relationship Type="http://schemas.openxmlformats.org/officeDocument/2006/relationships/notesMaster" Target="/ppt/notesMasters/notesMaster1.xml" Id="Rfd7819dbcf3a4c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8f9c42f78746c4" /><Relationship Type="http://schemas.openxmlformats.org/officeDocument/2006/relationships/notesMaster" Target="/ppt/notesMasters/notesMaster1.xml" Id="Rd312bd548c6142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e439cee4164fbc" /><Relationship Type="http://schemas.openxmlformats.org/officeDocument/2006/relationships/notesMaster" Target="/ppt/notesMasters/notesMaster1.xml" Id="Rb41267fdf94a4c8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38304f0c584528" /><Relationship Type="http://schemas.openxmlformats.org/officeDocument/2006/relationships/notesMaster" Target="/ppt/notesMasters/notesMaster1.xml" Id="Rb4f6fda51eed474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bf6132ca0b4225" /><Relationship Type="http://schemas.openxmlformats.org/officeDocument/2006/relationships/notesMaster" Target="/ppt/notesMasters/notesMaster1.xml" Id="R377d6534690a444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af1cad1b9cf4d7e" /><Relationship Type="http://schemas.openxmlformats.org/officeDocument/2006/relationships/notesMaster" Target="/ppt/notesMasters/notesMaster1.xml" Id="R9df0f599edab4d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regel helpt je bij de startopdracht?</a:t>
            </a:r>
          </a:p>
          <a:p xmlns:a="http://schemas.openxmlformats.org/drawingml/2006/main">
            <a:r>
              <a:rPr sz="1400"/>
              <a:t/>
            </a:r>
          </a:p>
          <a:p xmlns:a="http://schemas.openxmlformats.org/drawingml/2006/main">
            <a:r>
              <a:rPr sz="1400"/>
              <a:t>Uitleg: Laat de dia staan tijdens startopdracht. Start: 10–11 (p. 19). Basis: alle drie opgaven 12–14 (p. 19–20). Zelfstandig: 15–17 (p. 21). Doel: 18 (p. 22). Huiswerk is 12, 13, 14, 15, 16, 17 en 18 maken en nakijken. Bonus 19 en herhaling 20–21 zijn extra, niet toegewezen. Verdeel de complete route over meerdere werkmomenten; er is geen gemeten belofte dat dit in één les past.</a:t>
            </a:r>
          </a:p>
          <a:p xmlns:a="http://schemas.openxmlformats.org/drawingml/2006/main">
            <a:r>
              <a:rPr sz="1400"/>
              <a:t/>
            </a:r>
          </a:p>
          <a:p xmlns:a="http://schemas.openxmlformats.org/drawingml/2006/main">
            <a:r>
              <a:rPr sz="1400"/>
              <a:t>Startbegeleiding: delen en aftrekken in 10 zijn elementaire rekenbewerkingen, maar hun beheersing is niet vastgesteld. Verwijs bij twijfel over per eenheid naar p. 13; laat vermenigvuldigen terug controleren. 11 vraagt nieuwe leerstof: de oude waarde als basis (p. 14), procentpunten en factor (p. 15). Leerlingen mogen de theorie gebruiken, de juiste regel aanwijzen en twijfel noteren. Beoordeel dit als verkenning. Bij terugkeer naar dit overzicht vóór basiswerk: laat 11 opnieuw proberen, vraag per onderdeel om de basis of eenheid en bespreek onzekerheid. Hernemen van 10 houdt delen en eenheden beschikbaar.</a:t>
            </a:r>
          </a:p>
          <a:p xmlns:a="http://schemas.openxmlformats.org/drawingml/2006/main">
            <a:r>
              <a:rPr sz="1400"/>
              <a:t/>
            </a:r>
          </a:p>
          <a:p xmlns:a="http://schemas.openxmlformats.org/drawingml/2006/main">
            <a:r>
              <a:rPr sz="1400"/>
              <a:t>Misvatting: Een startopgave met nieuwe kennis is geen bewijs van al beheerste voorkennis.</a:t>
            </a:r>
          </a:p>
          <a:p xmlns:a="http://schemas.openxmlformats.org/drawingml/2006/main">
            <a:r>
              <a:rPr sz="1400"/>
              <a:t/>
            </a:r>
          </a:p>
          <a:p xmlns:a="http://schemas.openxmlformats.org/drawingml/2006/main">
            <a:r>
              <a:rPr sz="1400"/>
              <a:t>Overgang: Ga verder wanneer de groep klaar is voor de volgende fase.</a:t>
            </a:r>
          </a:p>
          <a:p xmlns:a="http://schemas.openxmlformats.org/drawingml/2006/main">
            <a:r>
              <a:rPr sz="1400"/>
              <a:t/>
            </a:r>
          </a:p>
          <a:p xmlns:a="http://schemas.openxmlformats.org/drawingml/2006/main">
            <a:r>
              <a:rPr sz="1400"/>
              <a:t>Bron: Boek 1, Tweede editie 2026, gedrukte boekpagina 13–16, 19–22.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Waarmee moet je vergelijken om te weten of iets veel is?</a:t>
            </a:r>
          </a:p>
          <a:p xmlns:a="http://schemas.openxmlformats.org/drawingml/2006/main">
            <a:r>
              <a:rPr sz="1400"/>
              <a:t/>
            </a:r>
          </a:p>
          <a:p xmlns:a="http://schemas.openxmlformats.org/drawingml/2006/main">
            <a:r>
              <a:rPr sz="1400"/>
              <a:t>Uitleg: Verbind de doelen met opgave 18: a per deelnemer, b prijsverandering, c factor, d–e index en verandering, f–g aandeel en procentpunten. Geen CPI, koopkracht of elasticiteit. De vorige paragraaf toonde per uur naar totaal (p. 7); terug delen en procentuele vergelijkingen worden hier expliciet onderwezen.</a:t>
            </a:r>
          </a:p>
          <a:p xmlns:a="http://schemas.openxmlformats.org/drawingml/2006/main">
            <a:r>
              <a:rPr sz="1400"/>
              <a:t/>
            </a:r>
          </a:p>
          <a:p xmlns:a="http://schemas.openxmlformats.org/drawingml/2006/main">
            <a:r>
              <a:rPr sz="1400"/>
              <a:t>Misvatting: Een groot totaalbedrag zegt zonder aantal nog niets over het bedrag per deelnemer.</a:t>
            </a:r>
          </a:p>
          <a:p xmlns:a="http://schemas.openxmlformats.org/drawingml/2006/main">
            <a:r>
              <a:rPr sz="1400"/>
              <a:t/>
            </a:r>
          </a:p>
          <a:p xmlns:a="http://schemas.openxmlformats.org/drawingml/2006/main">
            <a:r>
              <a:rPr sz="1400"/>
              <a:t>Overgang: Begin met een totaal verdelen.</a:t>
            </a:r>
          </a:p>
          <a:p xmlns:a="http://schemas.openxmlformats.org/drawingml/2006/main">
            <a:r>
              <a:rPr sz="1400"/>
              <a:t/>
            </a:r>
          </a:p>
          <a:p xmlns:a="http://schemas.openxmlformats.org/drawingml/2006/main">
            <a:r>
              <a:rPr sz="1400"/>
              <a:t>Bron: Boek 1, Tweede editie 2026, gedrukte boekpagina 13–16.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hoort onder de deelstreep?</a:t>
            </a:r>
          </a:p>
          <a:p xmlns:a="http://schemas.openxmlformats.org/drawingml/2006/main">
            <a:r>
              <a:rPr sz="1400"/>
              <a:t/>
            </a:r>
          </a:p>
          <a:p xmlns:a="http://schemas.openxmlformats.org/drawingml/2006/main">
            <a:r>
              <a:rPr sz="1400"/>
              <a:t>Uitleg: Verdeel het totaal over 24 deelnemers. De uitkomst blijft een geldbedrag, met de eenheid euro per deelnemer. De omgekeerde bewerking is vermenigvuldigen: 24 maal 7 geeft het totaal terug. Dit sluit aan bij per uur maal uren uit §1.1.1, gedrukte p. 7. Delen door nul is niet mogelijk.</a:t>
            </a:r>
          </a:p>
          <a:p xmlns:a="http://schemas.openxmlformats.org/drawingml/2006/main">
            <a:r>
              <a:rPr sz="1400"/>
              <a:t/>
            </a:r>
          </a:p>
          <a:p xmlns:a="http://schemas.openxmlformats.org/drawingml/2006/main">
            <a:r>
              <a:rPr sz="1400"/>
              <a:t>Misvatting: € 168 is het totaal; € 7 is het bedrag per deelnemer. Geen percentage berekenen.</a:t>
            </a:r>
          </a:p>
          <a:p xmlns:a="http://schemas.openxmlformats.org/drawingml/2006/main">
            <a:r>
              <a:rPr sz="1400"/>
              <a:t/>
            </a:r>
          </a:p>
          <a:p xmlns:a="http://schemas.openxmlformats.org/drawingml/2006/main">
            <a:r>
              <a:rPr sz="1400"/>
              <a:t>Overgang: Gebruik nu aantallen in teller én noemer.</a:t>
            </a:r>
          </a:p>
          <a:p xmlns:a="http://schemas.openxmlformats.org/drawingml/2006/main">
            <a:r>
              <a:rPr sz="1400"/>
              <a:t/>
            </a:r>
          </a:p>
          <a:p xmlns:a="http://schemas.openxmlformats.org/drawingml/2006/main">
            <a:r>
              <a:rPr sz="1400"/>
              <a:t>Bron: Boek 1, Tweede editie 2026, gedrukte boekpagina 13.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het antwoord nu geen eurobedrag?</a:t>
            </a:r>
          </a:p>
          <a:p xmlns:a="http://schemas.openxmlformats.org/drawingml/2006/main">
            <a:r>
              <a:rPr sz="1400"/>
              <a:t/>
            </a:r>
          </a:p>
          <a:p xmlns:a="http://schemas.openxmlformats.org/drawingml/2006/main">
            <a:r>
              <a:rPr sz="1400"/>
              <a:t>Uitleg: Teller en noemer zijn aantallen leerlingen in dezelfde groep. De breuk 0,25 betekent een kwart van het geheel. Voor procenten vermenigvuldig je met 100%. Om van een percentage naar een aantal te gaan, zet je het percentage om naar een decimaal en vermenigvuldig je met het bijbehorende geheel.</a:t>
            </a:r>
          </a:p>
          <a:p xmlns:a="http://schemas.openxmlformats.org/drawingml/2006/main">
            <a:r>
              <a:rPr sz="1400"/>
              <a:t/>
            </a:r>
          </a:p>
          <a:p xmlns:a="http://schemas.openxmlformats.org/drawingml/2006/main">
            <a:r>
              <a:rPr sz="1400"/>
              <a:t>Misvatting: 25% is niet 25 leerlingen; het aantal hangt van de groepsgrootte af.</a:t>
            </a:r>
          </a:p>
          <a:p xmlns:a="http://schemas.openxmlformats.org/drawingml/2006/main">
            <a:r>
              <a:rPr sz="1400"/>
              <a:t/>
            </a:r>
          </a:p>
          <a:p xmlns:a="http://schemas.openxmlformats.org/drawingml/2006/main">
            <a:r>
              <a:rPr sz="1400"/>
              <a:t>Overgang: Vergelijk hierna een oude en nieuwe prijs.</a:t>
            </a:r>
          </a:p>
          <a:p xmlns:a="http://schemas.openxmlformats.org/drawingml/2006/main">
            <a:r>
              <a:rPr sz="1400"/>
              <a:t/>
            </a:r>
          </a:p>
          <a:p xmlns:a="http://schemas.openxmlformats.org/drawingml/2006/main">
            <a:r>
              <a:rPr sz="1400"/>
              <a:t>Bron: Boek 1, Tweede editie 2026, gedrukte boekpagina 13.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door 16 en niet door 20?</a:t>
            </a:r>
          </a:p>
          <a:p xmlns:a="http://schemas.openxmlformats.org/drawingml/2006/main">
            <a:r>
              <a:rPr sz="1400"/>
              <a:t/>
            </a:r>
          </a:p>
          <a:p xmlns:a="http://schemas.openxmlformats.org/drawingml/2006/main">
            <a:r>
              <a:rPr sz="1400"/>
              <a:t>Uitleg: Het verschil is vier euro. De oude zestien euro is de uitgangssituatie: vier is een kwart van zestien. Gebruik op de rekenmachine haakjes rond nieuw min oud. Controle: 25% van 16 is 4; 16 plus 4 is 20.</a:t>
            </a:r>
          </a:p>
          <a:p xmlns:a="http://schemas.openxmlformats.org/drawingml/2006/main">
            <a:r>
              <a:rPr sz="1400"/>
              <a:t/>
            </a:r>
          </a:p>
          <a:p xmlns:a="http://schemas.openxmlformats.org/drawingml/2006/main">
            <a:r>
              <a:rPr sz="1400"/>
              <a:t>Misvatting: Een absoluut verschil staat in de oorspronkelijke eenheid. Het is niet hetzelfde als procentuele verandering.</a:t>
            </a:r>
          </a:p>
          <a:p xmlns:a="http://schemas.openxmlformats.org/drawingml/2006/main">
            <a:r>
              <a:rPr sz="1400"/>
              <a:t/>
            </a:r>
          </a:p>
          <a:p xmlns:a="http://schemas.openxmlformats.org/drawingml/2006/main">
            <a:r>
              <a:rPr sz="1400"/>
              <a:t>Overgang: Draai de vergelijking om en let opnieuw op oud.</a:t>
            </a:r>
          </a:p>
          <a:p xmlns:a="http://schemas.openxmlformats.org/drawingml/2006/main">
            <a:r>
              <a:rPr sz="1400"/>
              <a:t/>
            </a:r>
          </a:p>
          <a:p xmlns:a="http://schemas.openxmlformats.org/drawingml/2006/main">
            <a:r>
              <a:rPr sz="1400"/>
              <a:t>Bron: Boek 1, Tweede editie 2026, gedrukte boekpagina 14.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de percentages van de heen- en terugweg verschillend?</a:t>
            </a:r>
          </a:p>
          <a:p xmlns:a="http://schemas.openxmlformats.org/drawingml/2006/main">
            <a:r>
              <a:rPr sz="1400"/>
              <a:t/>
            </a:r>
          </a:p>
          <a:p xmlns:a="http://schemas.openxmlformats.org/drawingml/2006/main">
            <a:r>
              <a:rPr sz="1400"/>
              <a:t>Uitleg: De absolute verandering is nu negatief. Absoluut betekent hier oorspronkelijke eenheid, niet altijd positief. De oude waarde van de terugweg is 20. Controle: 20% van 20 is 4; 20 min 4 is 16. De stijging van 16 naar 20 was 25%, de terugweg is een daling van 20%.</a:t>
            </a:r>
          </a:p>
          <a:p xmlns:a="http://schemas.openxmlformats.org/drawingml/2006/main">
            <a:r>
              <a:rPr sz="1400"/>
              <a:t/>
            </a:r>
          </a:p>
          <a:p xmlns:a="http://schemas.openxmlformats.org/drawingml/2006/main">
            <a:r>
              <a:rPr sz="1400"/>
              <a:t>Misvatting: Niet delen door 16 omdat die waarde op de vorige dia oud was. Elke vergelijking heeft haar eigen uitgangssituatie.</a:t>
            </a:r>
          </a:p>
          <a:p xmlns:a="http://schemas.openxmlformats.org/drawingml/2006/main">
            <a:r>
              <a:rPr sz="1400"/>
              <a:t/>
            </a:r>
          </a:p>
          <a:p xmlns:a="http://schemas.openxmlformats.org/drawingml/2006/main">
            <a:r>
              <a:rPr sz="1400"/>
              <a:t>Overgang: Gebruik een gegeven percentage om een nieuwe waarde te berekenen.</a:t>
            </a:r>
          </a:p>
          <a:p xmlns:a="http://schemas.openxmlformats.org/drawingml/2006/main">
            <a:r>
              <a:rPr sz="1400"/>
              <a:t/>
            </a:r>
          </a:p>
          <a:p xmlns:a="http://schemas.openxmlformats.org/drawingml/2006/main">
            <a:r>
              <a:rPr sz="1400"/>
              <a:t>Bron: Boek 1, Tweede editie 2026, gedrukte boekpagina 14.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factor hoort bij 100% min 15%?</a:t>
            </a:r>
          </a:p>
          <a:p xmlns:a="http://schemas.openxmlformats.org/drawingml/2006/main">
            <a:r>
              <a:rPr sz="1400"/>
              <a:t/>
            </a:r>
          </a:p>
          <a:p xmlns:a="http://schemas.openxmlformats.org/drawingml/2006/main">
            <a:r>
              <a:rPr sz="1400"/>
              <a:t>Uitleg: De oude waarde is 100%: bij een stijging blijft die bestaan en komt 6% erbij. 106% is factor 1,06. Bij 15% korting blijft 85% over: factor 0,85. Dit zijn losse alternatieven op dezelfde 22 euro, geen opeenvolgende wijzigingen. Controleer met de euroverandering: +1,32 of −3,30.</a:t>
            </a:r>
          </a:p>
          <a:p xmlns:a="http://schemas.openxmlformats.org/drawingml/2006/main">
            <a:r>
              <a:rPr sz="1400"/>
              <a:t/>
            </a:r>
          </a:p>
          <a:p xmlns:a="http://schemas.openxmlformats.org/drawingml/2006/main">
            <a:r>
              <a:rPr sz="1400"/>
              <a:t>Misvatting: Alleen maal 0,06 geeft de stijging, niet de nieuwe prijs. Procentpunten vormen geen vermenigvuldigingsfactor.</a:t>
            </a:r>
          </a:p>
          <a:p xmlns:a="http://schemas.openxmlformats.org/drawingml/2006/main">
            <a:r>
              <a:rPr sz="1400"/>
              <a:t/>
            </a:r>
          </a:p>
          <a:p xmlns:a="http://schemas.openxmlformats.org/drawingml/2006/main">
            <a:r>
              <a:rPr sz="1400"/>
              <a:t>Overgang: Leg drie jaarprijzen op één vaste indexbasis.</a:t>
            </a:r>
          </a:p>
          <a:p xmlns:a="http://schemas.openxmlformats.org/drawingml/2006/main">
            <a:r>
              <a:rPr sz="1400"/>
              <a:t/>
            </a:r>
          </a:p>
          <a:p xmlns:a="http://schemas.openxmlformats.org/drawingml/2006/main">
            <a:r>
              <a:rPr sz="1400"/>
              <a:t>Bron: Boek 1, Tweede editie 2026, gedrukte boekpagina 15.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noemer blijft in alle drie de rijen staan?</a:t>
            </a:r>
          </a:p>
          <a:p xmlns:a="http://schemas.openxmlformats.org/drawingml/2006/main">
            <a:r>
              <a:rPr sz="1400"/>
              <a:t/>
            </a:r>
          </a:p>
          <a:p xmlns:a="http://schemas.openxmlformats.org/drawingml/2006/main">
            <a:r>
              <a:rPr sz="1400"/>
              <a:t>Uitleg: De vaste basis is steeds de prijs van jaar 1: 16 euro. Index 100 staat voor de hele basiswaarde. Index 137,5 betekent 137,5% van 16 euro, dus 37,5% boven jaar 1. Een index krijgt geen euroteken of procentteken. Vergelijk alleen dezelfde grootheid met dezelfde basis.</a:t>
            </a:r>
          </a:p>
          <a:p xmlns:a="http://schemas.openxmlformats.org/drawingml/2006/main">
            <a:r>
              <a:rPr sz="1400"/>
              <a:t/>
            </a:r>
          </a:p>
          <a:p xmlns:a="http://schemas.openxmlformats.org/drawingml/2006/main">
            <a:r>
              <a:rPr sz="1400"/>
              <a:t>Misvatting: Index 137,5 is geen prijs van € 137,50 en zegt niet hoeveel de prijs sinds jaar 2 steeg.</a:t>
            </a:r>
          </a:p>
          <a:p xmlns:a="http://schemas.openxmlformats.org/drawingml/2006/main">
            <a:r>
              <a:rPr sz="1400"/>
              <a:t/>
            </a:r>
          </a:p>
          <a:p xmlns:a="http://schemas.openxmlformats.org/drawingml/2006/main">
            <a:r>
              <a:rPr sz="1400"/>
              <a:t>Overgang: Maak expliciet onderscheid tussen indexbasis en oude waarde van een verandering.</a:t>
            </a:r>
          </a:p>
          <a:p xmlns:a="http://schemas.openxmlformats.org/drawingml/2006/main">
            <a:r>
              <a:rPr sz="1400"/>
              <a:t/>
            </a:r>
          </a:p>
          <a:p xmlns:a="http://schemas.openxmlformats.org/drawingml/2006/main">
            <a:r>
              <a:rPr sz="1400"/>
              <a:t>Bron: Boek 1, Tweede editie 2026, gedrukte boekpagina 16.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onder deze deelstreep geen 100?</a:t>
            </a:r>
          </a:p>
          <a:p xmlns:a="http://schemas.openxmlformats.org/drawingml/2006/main">
            <a:r>
              <a:rPr sz="1400"/>
              <a:t/>
            </a:r>
          </a:p>
          <a:p xmlns:a="http://schemas.openxmlformats.org/drawingml/2006/main">
            <a:r>
              <a:rPr sz="1400"/>
              <a:t>Uitleg: Beide indexcijfers hebben dezelfde basis, dus je mag ze vergelijken. Voor een indexverschil trek je af. Voor de relatieve verandering tussen jaar 2 en 3 deel je het verschil door 125, de oude index. De indexbasis blijft jaar 1; de uitgangssituatie van deze verandering is jaar 2. Controle met bedragen: (22−20)/20×100%=10%.</a:t>
            </a:r>
          </a:p>
          <a:p xmlns:a="http://schemas.openxmlformats.org/drawingml/2006/main">
            <a:r>
              <a:rPr sz="1400"/>
              <a:t/>
            </a:r>
          </a:p>
          <a:p xmlns:a="http://schemas.openxmlformats.org/drawingml/2006/main">
            <a:r>
              <a:rPr sz="1400"/>
              <a:t>Misvatting: 12,5 indexpunten zijn hier 10%, niet 12,5%.</a:t>
            </a:r>
          </a:p>
          <a:p xmlns:a="http://schemas.openxmlformats.org/drawingml/2006/main">
            <a:r>
              <a:rPr sz="1400"/>
              <a:t/>
            </a:r>
          </a:p>
          <a:p xmlns:a="http://schemas.openxmlformats.org/drawingml/2006/main">
            <a:r>
              <a:rPr sz="1400"/>
              <a:t>Overgang: Reken terug van een index naar euro.</a:t>
            </a:r>
          </a:p>
          <a:p xmlns:a="http://schemas.openxmlformats.org/drawingml/2006/main">
            <a:r>
              <a:rPr sz="1400"/>
              <a:t/>
            </a:r>
          </a:p>
          <a:p xmlns:a="http://schemas.openxmlformats.org/drawingml/2006/main">
            <a:r>
              <a:rPr sz="1400"/>
              <a:t>Bron: Boek 1, Tweede editie 2026, gedrukte boekpagina 16.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geldwaarde moet bekend zijn om terug te rekenen?</a:t>
            </a:r>
          </a:p>
          <a:p xmlns:a="http://schemas.openxmlformats.org/drawingml/2006/main">
            <a:r>
              <a:rPr sz="1400"/>
              <a:t/>
            </a:r>
          </a:p>
          <a:p xmlns:a="http://schemas.openxmlformats.org/drawingml/2006/main">
            <a:r>
              <a:rPr sz="1400"/>
              <a:t>Uitleg: Index 137,5 betekent factor 1,375 ten opzichte van de basisprijs. Daarom vermenigvuldig je 16 met 137,5 en deel je door 100. Deze terugweg is nodig bij zelfstandige opgave 16b. Bereken expliciet en controleer door de index opnieuw te vinden.</a:t>
            </a:r>
          </a:p>
          <a:p xmlns:a="http://schemas.openxmlformats.org/drawingml/2006/main">
            <a:r>
              <a:rPr sz="1400"/>
              <a:t/>
            </a:r>
          </a:p>
          <a:p xmlns:a="http://schemas.openxmlformats.org/drawingml/2006/main">
            <a:r>
              <a:rPr sz="1400"/>
              <a:t>Misvatting: Zonder basisprijs kun je van een index alleen geen eurobedrag maken.</a:t>
            </a:r>
          </a:p>
          <a:p xmlns:a="http://schemas.openxmlformats.org/drawingml/2006/main">
            <a:r>
              <a:rPr sz="1400"/>
              <a:t/>
            </a:r>
          </a:p>
          <a:p xmlns:a="http://schemas.openxmlformats.org/drawingml/2006/main">
            <a:r>
              <a:rPr sz="1400"/>
              <a:t>Overgang: Vergelijk nu deelname: elk jaar heeft zijn eigen groep.</a:t>
            </a:r>
          </a:p>
          <a:p xmlns:a="http://schemas.openxmlformats.org/drawingml/2006/main">
            <a:r>
              <a:rPr sz="1400"/>
              <a:t/>
            </a:r>
          </a:p>
          <a:p xmlns:a="http://schemas.openxmlformats.org/drawingml/2006/main">
            <a:r>
              <a:rPr sz="1400"/>
              <a:t>Bron: Boek 1, Tweede editie 2026, gedrukte boekpagina 16.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bij 60 leden niet 160 als noemer?</a:t>
            </a:r>
          </a:p>
          <a:p xmlns:a="http://schemas.openxmlformats.org/drawingml/2006/main">
            <a:r>
              <a:rPr sz="1400"/>
              <a:t/>
            </a:r>
          </a:p>
          <a:p xmlns:a="http://schemas.openxmlformats.org/drawingml/2006/main">
            <a:r>
              <a:rPr sz="1400"/>
              <a:t>Uitleg: In jaar 1 vormen 40 leden een deel van 160 leerlingen. In jaar 3 vormen 60 leden een deel van 200. Benoem teller en noemer per jaar voordat je rekent. De groepsgrootte is veranderd; een vastgehouden oude noemer geeft een ander, onjuist aandeel voor jaar 3.</a:t>
            </a:r>
          </a:p>
          <a:p xmlns:a="http://schemas.openxmlformats.org/drawingml/2006/main">
            <a:r>
              <a:rPr sz="1400"/>
              <a:t/>
            </a:r>
          </a:p>
          <a:p xmlns:a="http://schemas.openxmlformats.org/drawingml/2006/main">
            <a:r>
              <a:rPr sz="1400"/>
              <a:t>Misvatting: Groei van het aantal leden en groei van het aandeel zijn verschillende vergelijkingen.</a:t>
            </a:r>
          </a:p>
          <a:p xmlns:a="http://schemas.openxmlformats.org/drawingml/2006/main">
            <a:r>
              <a:rPr sz="1400"/>
              <a:t/>
            </a:r>
          </a:p>
          <a:p xmlns:a="http://schemas.openxmlformats.org/drawingml/2006/main">
            <a:r>
              <a:rPr sz="1400"/>
              <a:t>Overgang: Bereken het verschil en de relatieve groei van het aandeel.</a:t>
            </a:r>
          </a:p>
          <a:p xmlns:a="http://schemas.openxmlformats.org/drawingml/2006/main">
            <a:r>
              <a:rPr sz="1400"/>
              <a:t/>
            </a:r>
          </a:p>
          <a:p xmlns:a="http://schemas.openxmlformats.org/drawingml/2006/main">
            <a:r>
              <a:rPr sz="1400"/>
              <a:t>Bron: Boek 1, Tweede editie 2026, gedrukte boekpagina 13, 15, 18.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een aandeel tegelijk 5 procentpunten en 20% stijgen?</a:t>
            </a:r>
          </a:p>
          <a:p xmlns:a="http://schemas.openxmlformats.org/drawingml/2006/main">
            <a:r>
              <a:rPr sz="1400"/>
              <a:t/>
            </a:r>
          </a:p>
          <a:p xmlns:a="http://schemas.openxmlformats.org/drawingml/2006/main">
            <a:r>
              <a:rPr sz="1400"/>
              <a:t>Uitleg: Een procentpunt is het verschil tussen twee percentages. De relatieve groei vraagt vervolgens verschil gedeeld door oud. De 5 procentpunten zijn een vijfde van de oude 25%. Controle: 25% maal 1,20 geeft 30%.</a:t>
            </a:r>
          </a:p>
          <a:p xmlns:a="http://schemas.openxmlformats.org/drawingml/2006/main">
            <a:r>
              <a:rPr sz="1400"/>
              <a:t/>
            </a:r>
          </a:p>
          <a:p xmlns:a="http://schemas.openxmlformats.org/drawingml/2006/main">
            <a:r>
              <a:rPr sz="1400"/>
              <a:t>Misvatting: Schrijf niet 5% als alleen het verschil tussen percentages is berekend.</a:t>
            </a:r>
          </a:p>
          <a:p xmlns:a="http://schemas.openxmlformats.org/drawingml/2006/main">
            <a:r>
              <a:rPr sz="1400"/>
              <a:t/>
            </a:r>
          </a:p>
          <a:p xmlns:a="http://schemas.openxmlformats.org/drawingml/2006/main">
            <a:r>
              <a:rPr sz="1400"/>
              <a:t>Overgang: Laat zien waarom het aantal weer anders groeit.</a:t>
            </a:r>
          </a:p>
          <a:p xmlns:a="http://schemas.openxmlformats.org/drawingml/2006/main">
            <a:r>
              <a:rPr sz="1400"/>
              <a:t/>
            </a:r>
          </a:p>
          <a:p xmlns:a="http://schemas.openxmlformats.org/drawingml/2006/main">
            <a:r>
              <a:rPr sz="1400"/>
              <a:t>Bron: Boek 1, Tweede editie 2026, gedrukte boekpagina 15, 18.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 je gelijk om alleen de invloed van het aandeel te bekijken?</a:t>
            </a:r>
          </a:p>
          <a:p xmlns:a="http://schemas.openxmlformats.org/drawingml/2006/main">
            <a:r>
              <a:rPr sz="1400"/>
              <a:t/>
            </a:r>
          </a:p>
          <a:p xmlns:a="http://schemas.openxmlformats.org/drawingml/2006/main">
            <a:r>
              <a:rPr sz="1400"/>
              <a:t>Uitleg: De twee middelste rijen zijn denkvergelijkingen, geen extra jaren. Houd eerst het geheel gelijk en verander het aandeel; houd dan het aandeel gelijk en verander het geheel. Zet percentages eerst om naar decimalen. In de werkelijke nieuwe situatie verandert beide: 60 leden. Beide veranderingen versterken elkaar. Dit demonstreert de verandering van representatie aandeel naar aantal die opgave 14 vraagt, met eigen cijfers.</a:t>
            </a:r>
          </a:p>
          <a:p xmlns:a="http://schemas.openxmlformats.org/drawingml/2006/main">
            <a:r>
              <a:rPr sz="1400"/>
              <a:t/>
            </a:r>
          </a:p>
          <a:p xmlns:a="http://schemas.openxmlformats.org/drawingml/2006/main">
            <a:r>
              <a:rPr sz="1400"/>
              <a:t>Misvatting: De toename van het aandeel met 20% betekent niet automatisch 20% meer leden wanneer ook het geheel verandert.</a:t>
            </a:r>
          </a:p>
          <a:p xmlns:a="http://schemas.openxmlformats.org/drawingml/2006/main">
            <a:r>
              <a:rPr sz="1400"/>
              <a:t/>
            </a:r>
          </a:p>
          <a:p xmlns:a="http://schemas.openxmlformats.org/drawingml/2006/main">
            <a:r>
              <a:rPr sz="1400"/>
              <a:t>Overgang: Controleer of de drie vergelijkingen uit elkaar blijven.</a:t>
            </a:r>
          </a:p>
          <a:p xmlns:a="http://schemas.openxmlformats.org/drawingml/2006/main">
            <a:r>
              <a:rPr sz="1400"/>
              <a:t/>
            </a:r>
          </a:p>
          <a:p xmlns:a="http://schemas.openxmlformats.org/drawingml/2006/main">
            <a:r>
              <a:rPr sz="1400"/>
              <a:t>Bron: Boek 1, Tweede editie 2026, gedrukte boekpagina 13, 15, 18.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oud getal hoort bij het aandeel en welk bij het aantal?</a:t>
            </a:r>
          </a:p>
          <a:p xmlns:a="http://schemas.openxmlformats.org/drawingml/2006/main">
            <a:r>
              <a:rPr sz="1400"/>
              <a:t/>
            </a:r>
          </a:p>
          <a:p xmlns:a="http://schemas.openxmlformats.org/drawingml/2006/main">
            <a:r>
              <a:rPr sz="1400"/>
              <a:t>Uitleg: Laat leerlingen kort individueel denken en een basis benoemen. Dit is een begripscheck op het uitlegvoorbeeld, geen nieuwe huiswerkopgave. De volgende dia geeft de uitwerking.</a:t>
            </a:r>
          </a:p>
          <a:p xmlns:a="http://schemas.openxmlformats.org/drawingml/2006/main">
            <a:r>
              <a:rPr sz="1400"/>
              <a:t/>
            </a:r>
          </a:p>
          <a:p xmlns:a="http://schemas.openxmlformats.org/drawingml/2006/main">
            <a:r>
              <a:rPr sz="1400"/>
              <a:t>Misvatting: Dezelfde context maakt aandeel en aantal nog niet dezelfde grootheid.</a:t>
            </a:r>
          </a:p>
          <a:p xmlns:a="http://schemas.openxmlformats.org/drawingml/2006/main">
            <a:r>
              <a:rPr sz="1400"/>
              <a:t/>
            </a:r>
          </a:p>
          <a:p xmlns:a="http://schemas.openxmlformats.org/drawingml/2006/main">
            <a:r>
              <a:rPr sz="1400"/>
              <a:t>Overgang: Toon de drie juiste uitspraken.</a:t>
            </a:r>
          </a:p>
          <a:p xmlns:a="http://schemas.openxmlformats.org/drawingml/2006/main">
            <a:r>
              <a:rPr sz="1400"/>
              <a:t/>
            </a:r>
          </a:p>
          <a:p xmlns:a="http://schemas.openxmlformats.org/drawingml/2006/main">
            <a:r>
              <a:rPr sz="1400"/>
              <a:t>Bron: Boek 1, Tweede editie 2026, gedrukte boekpagina 13–16, 18.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beschrijft het aantal mensen?</a:t>
            </a:r>
          </a:p>
          <a:p xmlns:a="http://schemas.openxmlformats.org/drawingml/2006/main">
            <a:r>
              <a:rPr sz="1400"/>
              <a:t/>
            </a:r>
          </a:p>
          <a:p xmlns:a="http://schemas.openxmlformats.org/drawingml/2006/main">
            <a:r>
              <a:rPr sz="1400"/>
              <a:t>Uitleg: Beide delen van de uitspraak waren onjuist. Laat een leerling elke rij in woorden zeggen. Herstel een verkeerde noemer voordat je extra berekeningen vraagt. Laat nu opgave 11 nogmaals proberen met de opgedane uitleg en bespreek onzekerheden vóór het basiswerk.</a:t>
            </a:r>
          </a:p>
          <a:p xmlns:a="http://schemas.openxmlformats.org/drawingml/2006/main">
            <a:r>
              <a:rPr sz="1400"/>
              <a:t/>
            </a:r>
          </a:p>
          <a:p xmlns:a="http://schemas.openxmlformats.org/drawingml/2006/main">
            <a:r>
              <a:rPr sz="1400"/>
              <a:t>Misvatting: Een antwoord zonder procenten of punten blijft dubbelzinnig.</a:t>
            </a:r>
          </a:p>
          <a:p xmlns:a="http://schemas.openxmlformats.org/drawingml/2006/main">
            <a:r>
              <a:rPr sz="1400"/>
              <a:t/>
            </a:r>
          </a:p>
          <a:p xmlns:a="http://schemas.openxmlformats.org/drawingml/2006/main">
            <a:r>
              <a:rPr sz="1400"/>
              <a:t>Overgang: Keer terug naar het overzicht; herneem start 11 en begin daarna bij 12.</a:t>
            </a:r>
          </a:p>
          <a:p xmlns:a="http://schemas.openxmlformats.org/drawingml/2006/main">
            <a:r>
              <a:rPr sz="1400"/>
              <a:t/>
            </a:r>
          </a:p>
          <a:p xmlns:a="http://schemas.openxmlformats.org/drawingml/2006/main">
            <a:r>
              <a:rPr sz="1400"/>
              <a:t>Bron: Boek 1, Tweede editie 2026, gedrukte boekpagina 13–16, 18.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Uitlegvoorbeeld — niet uit het boek. Filmclubcontext en gegevens zijn voor deze presentatie ontworpen.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is je volgende stap?</a:t>
            </a:r>
          </a:p>
          <a:p xmlns:a="http://schemas.openxmlformats.org/drawingml/2006/main">
            <a:r>
              <a:rPr sz="1400"/>
              <a:t/>
            </a:r>
          </a:p>
          <a:p xmlns:a="http://schemas.openxmlformats.org/drawingml/2006/main">
            <a:r>
              <a:rPr sz="1400"/>
              <a:t>Uitleg: Laat de dia staan tijdens zelfstandig werken. Start: 10–11 (p. 19). Basis: alle drie opgaven 12–14 (p. 19–20). Zelfstandig: 15–17 (p. 21). Doel: 18 (p. 22). Huiswerk is 12, 13, 14, 15, 16, 17 en 18 maken en nakijken. Bonus 19 en herhaling 20–21 zijn extra, niet toegewezen. Verdeel de complete route over meerdere werkmomenten; er is geen gemeten belofte dat dit in één les past.</a:t>
            </a:r>
          </a:p>
          <a:p xmlns:a="http://schemas.openxmlformats.org/drawingml/2006/main">
            <a:r>
              <a:rPr sz="1400"/>
              <a:t/>
            </a:r>
          </a:p>
          <a:p xmlns:a="http://schemas.openxmlformats.org/drawingml/2006/main">
            <a:r>
              <a:rPr sz="1400"/>
              <a:t>Startbegeleiding: delen en aftrekken in 10 zijn elementaire rekenbewerkingen, maar hun beheersing is niet vastgesteld. Verwijs bij twijfel over per eenheid naar p. 13; laat vermenigvuldigen terug controleren. 11 vraagt nieuwe leerstof: de oude waarde als basis (p. 14), procentpunten en factor (p. 15). Leerlingen mogen de theorie gebruiken, de juiste regel aanwijzen en twijfel noteren. Beoordeel dit als verkenning. Bij terugkeer naar dit overzicht vóór basiswerk: laat 11 opnieuw proberen, vraag per onderdeel om de basis of eenheid en bespreek onzekerheid. Hernemen van 10 houdt delen en eenheden beschikbaar.</a:t>
            </a:r>
          </a:p>
          <a:p xmlns:a="http://schemas.openxmlformats.org/drawingml/2006/main">
            <a:r>
              <a:rPr sz="1400"/>
              <a:t/>
            </a:r>
          </a:p>
          <a:p xmlns:a="http://schemas.openxmlformats.org/drawingml/2006/main">
            <a:r>
              <a:rPr sz="1400"/>
              <a:t>Misvatting: Een startopgave met nieuwe kennis is geen bewijs van al beheerste voorkennis.</a:t>
            </a:r>
          </a:p>
          <a:p xmlns:a="http://schemas.openxmlformats.org/drawingml/2006/main">
            <a:r>
              <a:rPr sz="1400"/>
              <a:t/>
            </a:r>
          </a:p>
          <a:p xmlns:a="http://schemas.openxmlformats.org/drawingml/2006/main">
            <a:r>
              <a:rPr sz="1400"/>
              <a:t>Overgang: Ga verder wanneer de groep klaar is voor de volgende fase.</a:t>
            </a:r>
          </a:p>
          <a:p xmlns:a="http://schemas.openxmlformats.org/drawingml/2006/main">
            <a:r>
              <a:rPr sz="1400"/>
              <a:t/>
            </a:r>
          </a:p>
          <a:p xmlns:a="http://schemas.openxmlformats.org/drawingml/2006/main">
            <a:r>
              <a:rPr sz="1400"/>
              <a:t>Bron: Boek 1, Tweede editie 2026, gedrukte boekpagina 13–16, 19–22.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is de noemer bij een deelnamepercentage?</a:t>
            </a:r>
          </a:p>
          <a:p xmlns:a="http://schemas.openxmlformats.org/drawingml/2006/main">
            <a:r>
              <a:rPr sz="1400"/>
              <a:t/>
            </a:r>
          </a:p>
          <a:p xmlns:a="http://schemas.openxmlformats.org/drawingml/2006/main">
            <a:r>
              <a:rPr sz="1400"/>
              <a:t>Uitleg: Dit is de volledige context en gegevenstabel van doelopgave 18 uit de tweede editie. Bespreek pas na eigen poging. De drie volgende dia’s tonen alle vragen a–g zonder oplossingen. Laat de groep de boekpagina openhouden zodat alle gegevens beschikbaar blijven.</a:t>
            </a:r>
          </a:p>
          <a:p xmlns:a="http://schemas.openxmlformats.org/drawingml/2006/main">
            <a:r>
              <a:rPr sz="1400"/>
              <a:t/>
            </a:r>
          </a:p>
          <a:p xmlns:a="http://schemas.openxmlformats.org/drawingml/2006/main">
            <a:r>
              <a:rPr sz="1400"/>
              <a:t>Misvatting: Materiaalbedrag en workshopprijs zijn verschillende bedragen.</a:t>
            </a:r>
          </a:p>
          <a:p xmlns:a="http://schemas.openxmlformats.org/drawingml/2006/main">
            <a:r>
              <a:rPr sz="1400"/>
              <a:t/>
            </a:r>
          </a:p>
          <a:p xmlns:a="http://schemas.openxmlformats.org/drawingml/2006/main">
            <a:r>
              <a:rPr sz="1400"/>
              <a:t>Overgang: Toon eerst a–c, dan d–e en f–g voordat een antwoord verschijnt.</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de grootheid bij elk onderdeel?</a:t>
            </a:r>
          </a:p>
          <a:p xmlns:a="http://schemas.openxmlformats.org/drawingml/2006/main">
            <a:r>
              <a:rPr sz="1400"/>
              <a:t/>
            </a:r>
          </a:p>
          <a:p xmlns:a="http://schemas.openxmlformats.org/drawingml/2006/main">
            <a:r>
              <a:rPr sz="1400"/>
              <a:t>Uitleg: Alle vraagteksten zijn afkomstig uit opgave 18. De gegevens staan op de voorgaande dia en p. 22: €216 voor 36, prijzen 10/12/15, stijging na jaar 3 8%. Nog geen antwoorden onthullen.</a:t>
            </a:r>
          </a:p>
          <a:p xmlns:a="http://schemas.openxmlformats.org/drawingml/2006/main">
            <a:r>
              <a:rPr sz="1400"/>
              <a:t/>
            </a:r>
          </a:p>
          <a:p xmlns:a="http://schemas.openxmlformats.org/drawingml/2006/main">
            <a:r>
              <a:rPr sz="1400"/>
              <a:t>Misvatting: Bij c is de prijs van jaar 3 het uitgangspunt.</a:t>
            </a:r>
          </a:p>
          <a:p xmlns:a="http://schemas.openxmlformats.org/drawingml/2006/main">
            <a:r>
              <a:rPr sz="1400"/>
              <a:t/>
            </a:r>
          </a:p>
          <a:p xmlns:a="http://schemas.openxmlformats.org/drawingml/2006/main">
            <a:r>
              <a:rPr sz="1400"/>
              <a:t>Overgang: Toon ook de indexvragen.</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tijdsvergelijkingen staan hier?</a:t>
            </a:r>
          </a:p>
          <a:p xmlns:a="http://schemas.openxmlformats.org/drawingml/2006/main">
            <a:r>
              <a:rPr sz="1400"/>
              <a:t/>
            </a:r>
          </a:p>
          <a:p xmlns:a="http://schemas.openxmlformats.org/drawingml/2006/main">
            <a:r>
              <a:rPr sz="1400"/>
              <a:t>Uitleg: Behoud de twee gevraagde uitkomsten van e. Jaar 1 is de indexbasis, jaar 2 het begin van de verandering in e. Onthul nog geen uitkomsten.</a:t>
            </a:r>
          </a:p>
          <a:p xmlns:a="http://schemas.openxmlformats.org/drawingml/2006/main">
            <a:r>
              <a:rPr sz="1400"/>
              <a:t/>
            </a:r>
          </a:p>
          <a:p xmlns:a="http://schemas.openxmlformats.org/drawingml/2006/main">
            <a:r>
              <a:rPr sz="1400"/>
              <a:t>Misvatting: Een berekening met geldbedragen alleen beantwoordt niet het verzoek om met de indexcijfers te rekenen.</a:t>
            </a:r>
          </a:p>
          <a:p xmlns:a="http://schemas.openxmlformats.org/drawingml/2006/main">
            <a:r>
              <a:rPr sz="1400"/>
              <a:t/>
            </a:r>
          </a:p>
          <a:p xmlns:a="http://schemas.openxmlformats.org/drawingml/2006/main">
            <a:r>
              <a:rPr sz="1400"/>
              <a:t>Overgang: Toon ook f en g voordat de uitwerking begint.</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Gaat het bericht over het aandeel of het aantal deelnemers?</a:t>
            </a:r>
          </a:p>
          <a:p xmlns:a="http://schemas.openxmlformats.org/drawingml/2006/main">
            <a:r>
              <a:rPr sz="1400"/>
              <a:t/>
            </a:r>
          </a:p>
          <a:p xmlns:a="http://schemas.openxmlformats.org/drawingml/2006/main">
            <a:r>
              <a:rPr sz="1400"/>
              <a:t>Uitleg: Dit sluit alle zeven subvragen af. De claim uit g blijft exact behouden. Leerlingen hebben nu context, gegevens en elke vraag gezien zonder antwoorden.</a:t>
            </a:r>
          </a:p>
          <a:p xmlns:a="http://schemas.openxmlformats.org/drawingml/2006/main">
            <a:r>
              <a:rPr sz="1400"/>
              <a:t/>
            </a:r>
          </a:p>
          <a:p xmlns:a="http://schemas.openxmlformats.org/drawingml/2006/main">
            <a:r>
              <a:rPr sz="1400"/>
              <a:t>Misvatting: Een oordeel zonder berekening is bij g niet volledig.</a:t>
            </a:r>
          </a:p>
          <a:p xmlns:a="http://schemas.openxmlformats.org/drawingml/2006/main">
            <a:r>
              <a:rPr sz="1400"/>
              <a:t/>
            </a:r>
          </a:p>
          <a:p xmlns:a="http://schemas.openxmlformats.org/drawingml/2006/main">
            <a:r>
              <a:rPr sz="1400"/>
              <a:t>Overgang: Begin nu bij het materiaalbedrag van a.</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niet door de 150 leerlingen?</a:t>
            </a:r>
          </a:p>
          <a:p xmlns:a="http://schemas.openxmlformats.org/drawingml/2006/main">
            <a:r>
              <a:rPr sz="1400"/>
              <a:t/>
            </a:r>
          </a:p>
          <a:p xmlns:a="http://schemas.openxmlformats.org/drawingml/2006/main">
            <a:r>
              <a:rPr sz="1400"/>
              <a:t>Uitleg: Verdeel 216 euro over alle 36 deelnemers van jaar 3. De uitkomst is euro per deelnemer; het totaal blijft 216 euro. Lees de eenheid hardop en controleer terug.</a:t>
            </a:r>
          </a:p>
          <a:p xmlns:a="http://schemas.openxmlformats.org/drawingml/2006/main">
            <a:r>
              <a:rPr sz="1400"/>
              <a:t/>
            </a:r>
          </a:p>
          <a:p xmlns:a="http://schemas.openxmlformats.org/drawingml/2006/main">
            <a:r>
              <a:rPr sz="1400"/>
              <a:t>Misvatting: Het materiaal is in de vraag gekoppeld aan de werkelijke deelnemers.</a:t>
            </a:r>
          </a:p>
          <a:p xmlns:a="http://schemas.openxmlformats.org/drawingml/2006/main">
            <a:r>
              <a:rPr sz="1400"/>
              <a:t/>
            </a:r>
          </a:p>
          <a:p xmlns:a="http://schemas.openxmlformats.org/drawingml/2006/main">
            <a:r>
              <a:rPr sz="1400"/>
              <a:t>Overgang: Vergelijk de workshopprijzen van jaar 1 en 2.</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de oude waarde in deze vergelijking?</a:t>
            </a:r>
          </a:p>
          <a:p xmlns:a="http://schemas.openxmlformats.org/drawingml/2006/main">
            <a:r>
              <a:rPr sz="1400"/>
              <a:t/>
            </a:r>
          </a:p>
          <a:p xmlns:a="http://schemas.openxmlformats.org/drawingml/2006/main">
            <a:r>
              <a:rPr sz="1400"/>
              <a:t>Uitleg: Oud is jaar 1: 10 euro. Nieuw is jaar 2: 12 euro. Het verschil 2 euro is een vijfde van de oude prijs. Zowel absoluut als procentueel is gevraagd.</a:t>
            </a:r>
          </a:p>
          <a:p xmlns:a="http://schemas.openxmlformats.org/drawingml/2006/main">
            <a:r>
              <a:rPr sz="1400"/>
              <a:t/>
            </a:r>
          </a:p>
          <a:p xmlns:a="http://schemas.openxmlformats.org/drawingml/2006/main">
            <a:r>
              <a:rPr sz="1400"/>
              <a:t>Misvatting: Delen door de nieuwe 12 geeft niet de gevraagde verandering vanaf jaar 1.</a:t>
            </a:r>
          </a:p>
          <a:p xmlns:a="http://schemas.openxmlformats.org/drawingml/2006/main">
            <a:r>
              <a:rPr sz="1400"/>
              <a:t/>
            </a:r>
          </a:p>
          <a:p xmlns:a="http://schemas.openxmlformats.org/drawingml/2006/main">
            <a:r>
              <a:rPr sz="1400"/>
              <a:t>Overgang: Gebruik bij c een nieuw beginbedrag: de prijs van jaar 3.</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blijft voor 100% meetellen?</a:t>
            </a:r>
          </a:p>
          <a:p xmlns:a="http://schemas.openxmlformats.org/drawingml/2006/main">
            <a:r>
              <a:rPr sz="1400"/>
              <a:t/>
            </a:r>
          </a:p>
          <a:p xmlns:a="http://schemas.openxmlformats.org/drawingml/2006/main">
            <a:r>
              <a:rPr sz="1400"/>
              <a:t>Uitleg: De wijziging is aangekondigd na jaar 3, dus 15 euro is de uitgangswaarde. De 100% oude prijs plus 8% wordt factor 1,08. Dit is een aangekondigde nieuwe prijs, geen vierde jaar met geobserveerde gegevens.</a:t>
            </a:r>
          </a:p>
          <a:p xmlns:a="http://schemas.openxmlformats.org/drawingml/2006/main">
            <a:r>
              <a:rPr sz="1400"/>
              <a:t/>
            </a:r>
          </a:p>
          <a:p xmlns:a="http://schemas.openxmlformats.org/drawingml/2006/main">
            <a:r>
              <a:rPr sz="1400"/>
              <a:t>Misvatting: 15 maal 0,08 is alleen de verhoging.</a:t>
            </a:r>
          </a:p>
          <a:p xmlns:a="http://schemas.openxmlformats.org/drawingml/2006/main">
            <a:r>
              <a:rPr sz="1400"/>
              <a:t/>
            </a:r>
          </a:p>
          <a:p xmlns:a="http://schemas.openxmlformats.org/drawingml/2006/main">
            <a:r>
              <a:rPr sz="1400"/>
              <a:t>Overgang: Keer voor de prijsindex terug naar de vaste basis van jaar 1.</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geldwaarde blijft in de noemer staan?</a:t>
            </a:r>
          </a:p>
          <a:p xmlns:a="http://schemas.openxmlformats.org/drawingml/2006/main">
            <a:r>
              <a:rPr sz="1400"/>
              <a:t/>
            </a:r>
          </a:p>
          <a:p xmlns:a="http://schemas.openxmlformats.org/drawingml/2006/main">
            <a:r>
              <a:rPr sz="1400"/>
              <a:t>Uitleg: Jaar 2 is 120% van de basisprijs en krijgt index 120; jaar 3 krijgt index 150. De basisrij is toegevoegd als uitleg, de twee gevraagde indexen zijn jaar 2 en 3. Controleer: 10 maal 1,20 is 12 en 10 maal 1,50 is 15.</a:t>
            </a:r>
          </a:p>
          <a:p xmlns:a="http://schemas.openxmlformats.org/drawingml/2006/main">
            <a:r>
              <a:rPr sz="1400"/>
              <a:t/>
            </a:r>
          </a:p>
          <a:p xmlns:a="http://schemas.openxmlformats.org/drawingml/2006/main">
            <a:r>
              <a:rPr sz="1400"/>
              <a:t>Misvatting: Jaar 3 door jaar 2 delen geeft geen index met jaar 1 als basis.</a:t>
            </a:r>
          </a:p>
          <a:p xmlns:a="http://schemas.openxmlformats.org/drawingml/2006/main">
            <a:r>
              <a:rPr sz="1400"/>
              <a:t/>
            </a:r>
          </a:p>
          <a:p xmlns:a="http://schemas.openxmlformats.org/drawingml/2006/main">
            <a:r>
              <a:rPr sz="1400"/>
              <a:t>Overgang: Bereken met de twee indexen de verandering van jaar 2 naar 3.</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30 indexpunten hier geen 30%?</a:t>
            </a:r>
          </a:p>
          <a:p xmlns:a="http://schemas.openxmlformats.org/drawingml/2006/main">
            <a:r>
              <a:rPr sz="1400"/>
              <a:t/>
            </a:r>
          </a:p>
          <a:p xmlns:a="http://schemas.openxmlformats.org/drawingml/2006/main">
            <a:r>
              <a:rPr sz="1400"/>
              <a:t>Uitleg: Het verschil is 30 indexpunten. Voor de relatieve groei is de oude index 120 de noemer. Het prijsniveau van jaar 1 blijft de indexbasis, maar de vraag vergelijkt jaar 2 met jaar 3. De controle met bedragen bevestigt de uitkomst.</a:t>
            </a:r>
          </a:p>
          <a:p xmlns:a="http://schemas.openxmlformats.org/drawingml/2006/main">
            <a:r>
              <a:rPr sz="1400"/>
              <a:t/>
            </a:r>
          </a:p>
          <a:p xmlns:a="http://schemas.openxmlformats.org/drawingml/2006/main">
            <a:r>
              <a:rPr sz="1400"/>
              <a:t>Misvatting: De gevraagde groei is niet de 50% ten opzichte van jaar 1.</a:t>
            </a:r>
          </a:p>
          <a:p xmlns:a="http://schemas.openxmlformats.org/drawingml/2006/main">
            <a:r>
              <a:rPr sz="1400"/>
              <a:t/>
            </a:r>
          </a:p>
          <a:p xmlns:a="http://schemas.openxmlformats.org/drawingml/2006/main">
            <a:r>
              <a:rPr sz="1400"/>
              <a:t>Overgang: Gebruik voor de deelname een eigen geheel per jaar.</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noemer hoort bij de 36 deelnemers?</a:t>
            </a:r>
          </a:p>
          <a:p xmlns:a="http://schemas.openxmlformats.org/drawingml/2006/main">
            <a:r>
              <a:rPr sz="1400"/>
              <a:t/>
            </a:r>
          </a:p>
          <a:p xmlns:a="http://schemas.openxmlformats.org/drawingml/2006/main">
            <a:r>
              <a:rPr sz="1400"/>
              <a:t>Uitleg: Gebruik bij elk jaar de leerlingen die in datzelfde jaar konden deelnemen. In jaar 1 is 24/120 20%; in jaar 3 is 36/150 24%. Het verschil tussen percentages wordt uitgedrukt in procentpunten.</a:t>
            </a:r>
          </a:p>
          <a:p xmlns:a="http://schemas.openxmlformats.org/drawingml/2006/main">
            <a:r>
              <a:rPr sz="1400"/>
              <a:t/>
            </a:r>
          </a:p>
          <a:p xmlns:a="http://schemas.openxmlformats.org/drawingml/2006/main">
            <a:r>
              <a:rPr sz="1400"/>
              <a:t>Misvatting: 36/120 zou twee verschillende jaren combineren.</a:t>
            </a:r>
          </a:p>
          <a:p xmlns:a="http://schemas.openxmlformats.org/drawingml/2006/main">
            <a:r>
              <a:rPr sz="1400"/>
              <a:t/>
            </a:r>
          </a:p>
          <a:p xmlns:a="http://schemas.openxmlformats.org/drawingml/2006/main">
            <a:r>
              <a:rPr sz="1400"/>
              <a:t>Overgang: Beoordeel het bericht door de 4 procentpunten met het oude aandeel te vergelijken.</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maakt je oordeel controleerbaar?</a:t>
            </a:r>
          </a:p>
          <a:p xmlns:a="http://schemas.openxmlformats.org/drawingml/2006/main">
            <a:r>
              <a:rPr sz="1400"/>
              <a:t/>
            </a:r>
          </a:p>
          <a:p xmlns:a="http://schemas.openxmlformats.org/drawingml/2006/main">
            <a:r>
              <a:rPr sz="1400"/>
              <a:t>Uitleg: De oude 20% is de basis; 4 is een vijfde daarvan. Daarom is de relatieve groei 20%. Het bericht verwart procentpunten met procenten. Controle: 20% maal 1,20 is 24%. Een verandering van het aantal deelnemers is niet gevraagd in dit bericht.</a:t>
            </a:r>
          </a:p>
          <a:p xmlns:a="http://schemas.openxmlformats.org/drawingml/2006/main">
            <a:r>
              <a:rPr sz="1400"/>
              <a:t/>
            </a:r>
          </a:p>
          <a:p xmlns:a="http://schemas.openxmlformats.org/drawingml/2006/main">
            <a:r>
              <a:rPr sz="1400"/>
              <a:t>Misvatting: De noemer 24 hoort bij de nieuwe situatie, niet bij de gevraagde groei vanaf jaar 1.</a:t>
            </a:r>
          </a:p>
          <a:p xmlns:a="http://schemas.openxmlformats.org/drawingml/2006/main">
            <a:r>
              <a:rPr sz="1400"/>
              <a:t/>
            </a:r>
          </a:p>
          <a:p xmlns:a="http://schemas.openxmlformats.org/drawingml/2006/main">
            <a:r>
              <a:rPr sz="1400"/>
              <a:t>Overgang: Controleer het eigen antwoord op volledigheid.</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onderbouwing ontbrak nog in je eigen werk?</a:t>
            </a:r>
          </a:p>
          <a:p xmlns:a="http://schemas.openxmlformats.org/drawingml/2006/main">
            <a:r>
              <a:rPr sz="1400"/>
              <a:t/>
            </a:r>
          </a:p>
          <a:p xmlns:a="http://schemas.openxmlformats.org/drawingml/2006/main">
            <a:r>
              <a:rPr sz="1400"/>
              <a:t>Uitleg: Controleer alle antwoorden: a 6 euro per deelnemer; b +2 euro per workshop en +20%; c 16,20 euro; d 120 en 150; e +30 indexpunten en +25%; f 20%, 24%, +4 procentpunten; g onjuist, +20% relatieve groei. Reken tussendoor met ongeronde waarden; geld waar nodig op centen, percentages en indexen waar nodig op twee decimalen.</a:t>
            </a:r>
          </a:p>
          <a:p xmlns:a="http://schemas.openxmlformats.org/drawingml/2006/main">
            <a:r>
              <a:rPr sz="1400"/>
              <a:t/>
            </a:r>
          </a:p>
          <a:p xmlns:a="http://schemas.openxmlformats.org/drawingml/2006/main">
            <a:r>
              <a:rPr sz="1400"/>
              <a:t>Misvatting: Een juist getal zonder gevraagde eenheid of redenering is nog geen volledig antwoord.</a:t>
            </a:r>
          </a:p>
          <a:p xmlns:a="http://schemas.openxmlformats.org/drawingml/2006/main">
            <a:r>
              <a:rPr sz="1400"/>
              <a:t/>
            </a:r>
          </a:p>
          <a:p xmlns:a="http://schemas.openxmlformats.org/drawingml/2006/main">
            <a:r>
              <a:rPr sz="1400"/>
              <a:t>Overgang: Laat het overzicht staan voor afsluiting en huiswerk.</a:t>
            </a:r>
          </a:p>
          <a:p xmlns:a="http://schemas.openxmlformats.org/drawingml/2006/main">
            <a:r>
              <a:rPr sz="1400"/>
              <a:t/>
            </a:r>
          </a:p>
          <a:p xmlns:a="http://schemas.openxmlformats.org/drawingml/2006/main">
            <a:r>
              <a:rPr sz="1400"/>
              <a:t>Bron: Boek 1, Tweede editie 2026, gedrukte boekpagina 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is je volgende stap?</a:t>
            </a:r>
          </a:p>
          <a:p xmlns:a="http://schemas.openxmlformats.org/drawingml/2006/main">
            <a:r>
              <a:rPr sz="1400"/>
              <a:t/>
            </a:r>
          </a:p>
          <a:p xmlns:a="http://schemas.openxmlformats.org/drawingml/2006/main">
            <a:r>
              <a:rPr sz="1400"/>
              <a:t>Uitleg: Laat de dia staan tijdens afsluiting / huiswerk. Start: 10–11 (p. 19). Basis: alle drie opgaven 12–14 (p. 19–20). Zelfstandig: 15–17 (p. 21). Doel: 18 (p. 22). Huiswerk is 12, 13, 14, 15, 16, 17 en 18 maken en nakijken. Bonus 19 en herhaling 20–21 zijn extra, niet toegewezen. Verdeel de complete route over meerdere werkmomenten; er is geen gemeten belofte dat dit in één les past.</a:t>
            </a:r>
          </a:p>
          <a:p xmlns:a="http://schemas.openxmlformats.org/drawingml/2006/main">
            <a:r>
              <a:rPr sz="1400"/>
              <a:t/>
            </a:r>
          </a:p>
          <a:p xmlns:a="http://schemas.openxmlformats.org/drawingml/2006/main">
            <a:r>
              <a:rPr sz="1400"/>
              <a:t>Startbegeleiding: delen en aftrekken in 10 zijn elementaire rekenbewerkingen, maar hun beheersing is niet vastgesteld. Verwijs bij twijfel over per eenheid naar p. 13; laat vermenigvuldigen terug controleren. 11 vraagt nieuwe leerstof: de oude waarde als basis (p. 14), procentpunten en factor (p. 15). Leerlingen mogen de theorie gebruiken, de juiste regel aanwijzen en twijfel noteren. Beoordeel dit als verkenning. Bij terugkeer naar dit overzicht vóór basiswerk: laat 11 opnieuw proberen, vraag per onderdeel om de basis of eenheid en bespreek onzekerheid. Hernemen van 10 houdt delen en eenheden beschikbaar.</a:t>
            </a:r>
          </a:p>
          <a:p xmlns:a="http://schemas.openxmlformats.org/drawingml/2006/main">
            <a:r>
              <a:rPr sz="1400"/>
              <a:t/>
            </a:r>
          </a:p>
          <a:p xmlns:a="http://schemas.openxmlformats.org/drawingml/2006/main">
            <a:r>
              <a:rPr sz="1400"/>
              <a:t>Misvatting: Een startopgave met nieuwe kennis is geen bewijs van al beheerste voorkennis.</a:t>
            </a:r>
          </a:p>
          <a:p xmlns:a="http://schemas.openxmlformats.org/drawingml/2006/main">
            <a:r>
              <a:rPr sz="1400"/>
              <a:t/>
            </a:r>
          </a:p>
          <a:p xmlns:a="http://schemas.openxmlformats.org/drawingml/2006/main">
            <a:r>
              <a:rPr sz="1400"/>
              <a:t>Overgang: Noteer alle huiswerkopgaven in je agenda.</a:t>
            </a:r>
          </a:p>
          <a:p xmlns:a="http://schemas.openxmlformats.org/drawingml/2006/main">
            <a:r>
              <a:rPr sz="1400"/>
              <a:t/>
            </a:r>
          </a:p>
          <a:p xmlns:a="http://schemas.openxmlformats.org/drawingml/2006/main">
            <a:r>
              <a:rPr sz="1400"/>
              <a:t>Bron: Boek 1, Tweede editie 2026, gedrukte boekpagina 13–16, 19–22. https://github.com/meijer1973/4veco-lessen/blob/173aa9a803897965c572df2c4e7f83cdb135eb1c/Boek%201%20-%20Grondslagen,%20vraag%20en%20aanbod/edities/tweede-editie-2026/boek/Boek_1_Compleet_Tweede_editie.pdf</a:t>
            </a:r>
          </a:p>
          <a:p xmlns:a="http://schemas.openxmlformats.org/drawingml/2006/main">
            <a:r>
              <a:rPr sz="1400"/>
              <a:t>Brontekst en antwoordmodel: https://github.com/meijer1973/4veco-lessen/blob/173aa9a803897965c572df2c4e7f83cdb135eb1c/Boek%201%20-%20Grondslagen,%20vraag%20en%20aanbod/edities/tweede-editie-2026/bronnen/H1/1.1.2%20Verhoudingen,%20percentages%20en%20indexcijfers%20%E2%80%93%20paragraaf.md ; https://github.com/meijer1973/4veco-lessen/blob/173aa9a803897965c572df2c4e7f83cdb135eb1c/Boek%201%20-%20Grondslagen,%20vraag%20en%20aanbod/edities/tweede-editie-2026/bronnen/H1/Antwoorden.md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9178aa44ac4f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9bbbc14b834559" /><Relationship Type="http://schemas.openxmlformats.org/officeDocument/2006/relationships/slideLayout" Target="/ppt/slideLayouts/slideLayout1.xml" Id="Re0f8ee79885f49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f8ee79885f49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91eb198f564b31" /><Relationship Type="http://schemas.openxmlformats.org/officeDocument/2006/relationships/notesSlide" Target="/ppt/notesSlides/notesSlide1.xml" Id="R0de1579f6ad84e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80993e83d6495f" /><Relationship Type="http://schemas.openxmlformats.org/officeDocument/2006/relationships/notesSlide" Target="/ppt/notesSlides/notesSlide2.xml" Id="R1859fce887b841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1cb0ea74cf48b7" /><Relationship Type="http://schemas.openxmlformats.org/officeDocument/2006/relationships/notesSlide" Target="/ppt/notesSlides/notesSlide3.xml" Id="Ra0fdf44ac3a14c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6003ee69af4895" /><Relationship Type="http://schemas.openxmlformats.org/officeDocument/2006/relationships/notesSlide" Target="/ppt/notesSlides/notesSlide4.xml" Id="Rf0ef2ed3196c48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f9f39561ab4d77" /><Relationship Type="http://schemas.openxmlformats.org/officeDocument/2006/relationships/notesSlide" Target="/ppt/notesSlides/notesSlide5.xml" Id="R88a329c1687d4b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e9fa3a0708451a" /><Relationship Type="http://schemas.openxmlformats.org/officeDocument/2006/relationships/notesSlide" Target="/ppt/notesSlides/notesSlide6.xml" Id="R2e7fad18e37f4e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c5eccd0d624274" /><Relationship Type="http://schemas.openxmlformats.org/officeDocument/2006/relationships/notesSlide" Target="/ppt/notesSlides/notesSlide7.xml" Id="R512cfd387cb34f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2b700dba764a49" /><Relationship Type="http://schemas.openxmlformats.org/officeDocument/2006/relationships/notesSlide" Target="/ppt/notesSlides/notesSlide8.xml" Id="R97e30f872fac4a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74c7be6e2a47c4" /><Relationship Type="http://schemas.openxmlformats.org/officeDocument/2006/relationships/notesSlide" Target="/ppt/notesSlides/notesSlide9.xml" Id="Rf8f36c9e48bc40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42227f3e4a4889" /><Relationship Type="http://schemas.openxmlformats.org/officeDocument/2006/relationships/notesSlide" Target="/ppt/notesSlides/notesSlide10.xml" Id="R6bc3315380584b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e9b490262842ef" /><Relationship Type="http://schemas.openxmlformats.org/officeDocument/2006/relationships/notesSlide" Target="/ppt/notesSlides/notesSlide11.xml" Id="Rd9d7791e9f9140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9f9ef9bcfb4fdc" /><Relationship Type="http://schemas.openxmlformats.org/officeDocument/2006/relationships/notesSlide" Target="/ppt/notesSlides/notesSlide12.xml" Id="Rc845d90ddd4c48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5acf3ba7184244" /><Relationship Type="http://schemas.openxmlformats.org/officeDocument/2006/relationships/notesSlide" Target="/ppt/notesSlides/notesSlide13.xml" Id="Raf1afef8e0874b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25a732158a4eca" /><Relationship Type="http://schemas.openxmlformats.org/officeDocument/2006/relationships/notesSlide" Target="/ppt/notesSlides/notesSlide14.xml" Id="Ref63caf3ea3540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6dd07799ce4c94" /><Relationship Type="http://schemas.openxmlformats.org/officeDocument/2006/relationships/notesSlide" Target="/ppt/notesSlides/notesSlide15.xml" Id="R70611794064d48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9694e02d7ee4a45" /><Relationship Type="http://schemas.openxmlformats.org/officeDocument/2006/relationships/notesSlide" Target="/ppt/notesSlides/notesSlide16.xml" Id="R1b14f36a381943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dd0e9b93f424e3d" /><Relationship Type="http://schemas.openxmlformats.org/officeDocument/2006/relationships/notesSlide" Target="/ppt/notesSlides/notesSlide17.xml" Id="R4865378875fd4c3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000399346914be6" /><Relationship Type="http://schemas.openxmlformats.org/officeDocument/2006/relationships/notesSlide" Target="/ppt/notesSlides/notesSlide18.xml" Id="Rfde5334485564e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74066b384b4e75" /><Relationship Type="http://schemas.openxmlformats.org/officeDocument/2006/relationships/notesSlide" Target="/ppt/notesSlides/notesSlide19.xml" Id="R16ff2d73a41b41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969b99778fb4eca" /><Relationship Type="http://schemas.openxmlformats.org/officeDocument/2006/relationships/notesSlide" Target="/ppt/notesSlides/notesSlide20.xml" Id="R810c4da9fdb74b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1fd82ee0154de2" /><Relationship Type="http://schemas.openxmlformats.org/officeDocument/2006/relationships/notesSlide" Target="/ppt/notesSlides/notesSlide21.xml" Id="R5cbcc1bbfed94b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62604df3144c7b" /><Relationship Type="http://schemas.openxmlformats.org/officeDocument/2006/relationships/notesSlide" Target="/ppt/notesSlides/notesSlide22.xml" Id="Ra3ffd969c2f641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4b726071d9140a5" /><Relationship Type="http://schemas.openxmlformats.org/officeDocument/2006/relationships/notesSlide" Target="/ppt/notesSlides/notesSlide23.xml" Id="R82b8d157b99b46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8ef022f5a3f49df" /><Relationship Type="http://schemas.openxmlformats.org/officeDocument/2006/relationships/notesSlide" Target="/ppt/notesSlides/notesSlide24.xml" Id="R76844fe2241747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5416650132442c8" /><Relationship Type="http://schemas.openxmlformats.org/officeDocument/2006/relationships/notesSlide" Target="/ppt/notesSlides/notesSlide25.xml" Id="Rb5c23fe440ed443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42147ea31364dbb" /><Relationship Type="http://schemas.openxmlformats.org/officeDocument/2006/relationships/notesSlide" Target="/ppt/notesSlides/notesSlide26.xml" Id="R9e11cb38dfb3482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5243fe77b5e4f87" /><Relationship Type="http://schemas.openxmlformats.org/officeDocument/2006/relationships/notesSlide" Target="/ppt/notesSlides/notesSlide27.xml" Id="R443bb41eae84449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6d30c0c2dfb47bf" /><Relationship Type="http://schemas.openxmlformats.org/officeDocument/2006/relationships/notesSlide" Target="/ppt/notesSlides/notesSlide28.xml" Id="R9fe32d41f230480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7b5d329468f407d" /><Relationship Type="http://schemas.openxmlformats.org/officeDocument/2006/relationships/notesSlide" Target="/ppt/notesSlides/notesSlide29.xml" Id="Re2a96965514840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2 Verhoudingen, percentages en inde">
            <a:extLst xmlns:a="http://schemas.openxmlformats.org/drawingml/2006/main">
              <a:ext uri="{FF2B5EF4-FFF2-40B4-BE49-F238E27FC236}">
                <a16:creationId xmlns:a16="http://schemas.microsoft.com/office/drawing/2014/main" id="{3759C8F4-67C6-4F72-8637-8B205A6EDED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§1.1.2 Verhoudingen, percentages en indexcijfers</a:t>
            </a:r>
          </a:p>
        </p:txBody>
      </p:sp>
      <p:sp>
        <p:nvSpPr>
          <p:cNvPr id="2" name="">
            <a:extLst xmlns:a="http://schemas.openxmlformats.org/drawingml/2006/main">
              <a:ext uri="{FF2B5EF4-FFF2-40B4-BE49-F238E27FC236}">
                <a16:creationId xmlns:a16="http://schemas.microsoft.com/office/drawing/2014/main" id="{04A18361-6CCA-42A7-A4BC-1BCE9DB3D09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DC730A55-A64A-45DF-B3D1-68BEEEF2F4C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
            <a:extLst xmlns:a="http://schemas.openxmlformats.org/drawingml/2006/main">
              <a:ext uri="{FF2B5EF4-FFF2-40B4-BE49-F238E27FC236}">
                <a16:creationId xmlns:a16="http://schemas.microsoft.com/office/drawing/2014/main" id="{F7182171-DF95-448A-B67B-20487DC6C4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522316DD-A1A0-45A6-A9CB-2C76351A0E4D}"/>
              </a:ext>
            </a:extLst>
          </p:cNvPr>
          <p:cNvSpPr>
            <a:spLocks xmlns:a="http://schemas.openxmlformats.org/drawingml/2006/main" noGrp="1"/>
          </p:cNvSpPr>
          <p:nvPr/>
        </p:nvSpPr>
        <p:spPr>
          <a:xfrm xmlns:a="http://schemas.openxmlformats.org/drawingml/2006/main">
            <a:off x="571500" y="1057275"/>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8587BEBF-5231-49FA-B622-E8D5A9E7FD3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72A176D6-D83C-4CDD-BE2F-239DC573EDA7}"/>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0B96B5AF-BF4C-40BF-BE57-D06A3199E332}"/>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A0C8585-2873-44FB-B236-F8F0D160D49F}"/>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0BD90B4-09E5-4D31-A8D8-1067202ECC45}"/>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4D59576-792E-483F-B5D6-FC29474A982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795FA97-8248-418E-B474-47BEBD2C1D6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48B004D-90D2-4845-811E-968515F6539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67D5ECC-476B-4792-978C-E3A453275F3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1A096A5C-5599-4068-8190-C0B0FD6227A6}"/>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C111396-183E-4F37-9233-B2399F89A02E}"/>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0E70438-C823-4303-90B0-E36CEB99B9F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418A73A-2F68-4F4B-9DFE-B9BF1CF479E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18.</a:t>
            </a:r>
          </a:p>
        </p:txBody>
      </p:sp>
      <p:sp>
        <p:nvSpPr>
          <p:cNvPr id="19" name="route-number-7">
            <a:extLst xmlns:a="http://schemas.openxmlformats.org/drawingml/2006/main">
              <a:ext uri="{FF2B5EF4-FFF2-40B4-BE49-F238E27FC236}">
                <a16:creationId xmlns:a16="http://schemas.microsoft.com/office/drawing/2014/main" id="{629B0A6C-3630-4A94-BF55-943B54CFE67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E6F901D-68AE-439E-8E93-3BAAA0BC617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F252B06-B58E-429F-921E-06FAFF4A21B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7EE992E-A660-4810-A26F-C25620A10A83}"/>
              </a:ext>
            </a:extLst>
          </p:cNvPr>
          <p:cNvSpPr>
            <a:spLocks xmlns:a="http://schemas.openxmlformats.org/drawingml/2006/main" noGrp="1"/>
          </p:cNvSpPr>
          <p:nvPr/>
        </p:nvSpPr>
        <p:spPr>
          <a:xfrm xmlns:a="http://schemas.openxmlformats.org/drawingml/2006/main">
            <a:off x="9258300" y="23241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Per eenheid en aandelen 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Veranderingen en indexen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Procenten en punten onderscheiden.</a:t>
            </a:r>
          </a:p>
        </p:txBody>
      </p:sp>
      <p:sp>
        <p:nvSpPr>
          <p:cNvPr id="23" name="">
            <a:extLst xmlns:a="http://schemas.openxmlformats.org/drawingml/2006/main">
              <a:ext uri="{FF2B5EF4-FFF2-40B4-BE49-F238E27FC236}">
                <a16:creationId xmlns:a16="http://schemas.microsoft.com/office/drawing/2014/main" id="{71537D24-5352-4ED6-BC01-FDD84A862A1C}"/>
              </a:ext>
            </a:extLst>
          </p:cNvPr>
          <p:cNvSpPr>
            <a:spLocks xmlns:a="http://schemas.openxmlformats.org/drawingml/2006/main" noGrp="1"/>
          </p:cNvSpPr>
          <p:nvPr/>
        </p:nvSpPr>
        <p:spPr>
          <a:xfrm xmlns:a="http://schemas.openxmlformats.org/drawingml/2006/main">
            <a:off x="9258300" y="36099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7749B6B-196E-4735-9151-EFEBD6790708}"/>
              </a:ext>
            </a:extLst>
          </p:cNvPr>
          <p:cNvSpPr>
            <a:spLocks xmlns:a="http://schemas.openxmlformats.org/drawingml/2006/main" noGrp="1"/>
          </p:cNvSpPr>
          <p:nvPr/>
        </p:nvSpPr>
        <p:spPr>
          <a:xfrm xmlns:a="http://schemas.openxmlformats.org/drawingml/2006/main">
            <a:off x="9258300" y="3810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BDE079E-0FF3-4877-A17D-78AF957B4A3F}"/>
              </a:ext>
            </a:extLst>
          </p:cNvPr>
          <p:cNvSpPr>
            <a:spLocks xmlns:a="http://schemas.openxmlformats.org/drawingml/2006/main" noGrp="1"/>
          </p:cNvSpPr>
          <p:nvPr/>
        </p:nvSpPr>
        <p:spPr>
          <a:xfrm xmlns:a="http://schemas.openxmlformats.org/drawingml/2006/main">
            <a:off x="9258300" y="4314825"/>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19 · Opgaven 10 en 11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Steun: theorie p. 13–15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 verkennen, later hernemen</a:t>
            </a:r>
          </a:p>
        </p:txBody>
      </p:sp>
      <p:sp>
        <p:nvSpPr>
          <p:cNvPr id="26" name="">
            <a:extLst xmlns:a="http://schemas.openxmlformats.org/drawingml/2006/main">
              <a:ext uri="{FF2B5EF4-FFF2-40B4-BE49-F238E27FC236}">
                <a16:creationId xmlns:a16="http://schemas.microsoft.com/office/drawing/2014/main" id="{92C88DA2-6337-494E-AF81-EC96C7DB0744}"/>
              </a:ext>
            </a:extLst>
          </p:cNvPr>
          <p:cNvSpPr>
            <a:spLocks xmlns:a="http://schemas.openxmlformats.org/drawingml/2006/main" noGrp="1"/>
          </p:cNvSpPr>
          <p:nvPr/>
        </p:nvSpPr>
        <p:spPr>
          <a:xfrm xmlns:a="http://schemas.openxmlformats.org/drawingml/2006/main">
            <a:off x="9258300" y="55911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EDD0852-6980-4389-ADE9-AFF50CAF320B}"/>
              </a:ext>
            </a:extLst>
          </p:cNvPr>
          <p:cNvSpPr>
            <a:spLocks xmlns:a="http://schemas.openxmlformats.org/drawingml/2006/main" noGrp="1"/>
          </p:cNvSpPr>
          <p:nvPr/>
        </p:nvSpPr>
        <p:spPr>
          <a:xfrm xmlns:a="http://schemas.openxmlformats.org/drawingml/2006/main">
            <a:off x="9258300" y="57721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B2E072B-DA81-4179-AB9A-2CE9AEFC9596}"/>
              </a:ext>
            </a:extLst>
          </p:cNvPr>
          <p:cNvSpPr>
            <a:spLocks xmlns:a="http://schemas.openxmlformats.org/drawingml/2006/main" noGrp="1"/>
          </p:cNvSpPr>
          <p:nvPr/>
        </p:nvSpPr>
        <p:spPr>
          <a:xfrm xmlns:a="http://schemas.openxmlformats.org/drawingml/2006/main">
            <a:off x="9258300" y="6324600"/>
            <a:ext cx="5381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§1.1.2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13 en 14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15, 16 en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18</a:t>
            </a:r>
          </a:p>
        </p:txBody>
      </p:sp>
    </p:spTree>
    <p:extLst>
      <p:ext uri="{BB962C8B-B14F-4D97-AF65-F5344CB8AC3E}">
        <p14:creationId xmlns:p14="http://schemas.microsoft.com/office/powerpoint/2010/main" val="598764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vergelijkingsbasis kiezen">
            <a:extLst xmlns:a="http://schemas.openxmlformats.org/drawingml/2006/main">
              <a:ext uri="{FF2B5EF4-FFF2-40B4-BE49-F238E27FC236}">
                <a16:creationId xmlns:a16="http://schemas.microsoft.com/office/drawing/2014/main" id="{BCEA0C6C-5434-4F2F-91B0-803E37DFE59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vergelijkingsbasis kiezen</a:t>
            </a:r>
          </a:p>
        </p:txBody>
      </p:sp>
      <p:sp>
        <p:nvSpPr>
          <p:cNvPr id="2" name="">
            <a:extLst xmlns:a="http://schemas.openxmlformats.org/drawingml/2006/main">
              <a:ext uri="{FF2B5EF4-FFF2-40B4-BE49-F238E27FC236}">
                <a16:creationId xmlns:a16="http://schemas.microsoft.com/office/drawing/2014/main" id="{A93A029A-07AB-41C6-9295-65C22C07DDE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FB7462E4-FD91-4A0D-ADCD-8F2DDBA3AB0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2">
            <a:extLst xmlns:a="http://schemas.openxmlformats.org/drawingml/2006/main">
              <a:ext uri="{FF2B5EF4-FFF2-40B4-BE49-F238E27FC236}">
                <a16:creationId xmlns:a16="http://schemas.microsoft.com/office/drawing/2014/main" id="{E3C84B92-B7E6-40B6-A67A-1CCC634107F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095500"/>
          <a:ext xmlns:a="http://schemas.openxmlformats.org/drawingml/2006/main" cx="14097000" cy="4810125"/>
        </p:xfrm>
        <a:graphic xmlns:a="http://schemas.openxmlformats.org/drawingml/2006/main">
          <a:graphicData uri="http://schemas.openxmlformats.org/drawingml/2006/table">
            <a:tbl>
              <a:tblPr/>
              <a:tblGrid>
                <a:gridCol w="5810250"/>
                <a:gridCol w="8286750"/>
              </a:tblGrid>
              <a:tr h="962025">
                <a:tc>
                  <a:txBody>
                    <a:bodyPr lIns="171450" tIns="95250" rIns="152400" bIns="95250"/>
                    <a:lstStyle/>
                    <a:p>
                      <a:r>
                        <a:rPr sz="2625" b="1">
                          <a:solidFill>
                            <a:srgbClr val="FFFFFF"/>
                          </a:solidFill>
                          <a:latin typeface="Arial"/>
                          <a:ea typeface="Arial"/>
                          <a:cs typeface="Arial"/>
                        </a:rPr>
                        <a:t>Rekenhandeling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De controle bij elke berekening</a:t>
                      </a:r>
                    </a:p>
                  </a:txBody>
                  <a:tcPr marL="91440" marR="91440" marT="45720" marB="45720" anchor="ctr">
                    <a:solidFill>
                      <a:srgbClr val="183247"/>
                    </a:solidFill>
                  </a:tcPr>
                </a:tc>
              </a:tr>
              <a:tr h="962025">
                <a:tc>
                  <a:txBody>
                    <a:bodyPr lIns="171450" tIns="95250" rIns="152400" bIns="95250"/>
                    <a:lstStyle/>
                    <a:p>
                      <a:r>
                        <a:rPr sz="2625" b="0">
                          <a:solidFill>
                            <a:srgbClr val="183247"/>
                          </a:solidFill>
                          <a:latin typeface="Arial"/>
                          <a:ea typeface="Arial"/>
                          <a:cs typeface="Arial"/>
                        </a:rPr>
                        <a:t>Per eenheid of aandeel</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Wat staat er onder de deelstreep?</a:t>
                      </a:r>
                    </a:p>
                  </a:txBody>
                  <a:tcPr marL="91440" marR="91440" marT="45720" marB="45720" anchor="ctr">
                    <a:solidFill>
                      <a:srgbClr val="FFFFFF"/>
                    </a:solidFill>
                  </a:tcPr>
                </a:tc>
              </a:tr>
              <a:tr h="962025">
                <a:tc>
                  <a:txBody>
                    <a:bodyPr lIns="171450" tIns="95250" rIns="152400" bIns="95250"/>
                    <a:lstStyle/>
                    <a:p>
                      <a:r>
                        <a:rPr sz="2625" b="0">
                          <a:solidFill>
                            <a:srgbClr val="183247"/>
                          </a:solidFill>
                          <a:latin typeface="Arial"/>
                          <a:ea typeface="Arial"/>
                          <a:cs typeface="Arial"/>
                        </a:rPr>
                        <a:t>Verandering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Wat is de oude waarde?</a:t>
                      </a:r>
                    </a:p>
                  </a:txBody>
                  <a:tcPr marL="91440" marR="91440" marT="45720" marB="45720" anchor="ctr">
                    <a:solidFill>
                      <a:srgbClr val="EFF4F7"/>
                    </a:solidFill>
                  </a:tcPr>
                </a:tc>
              </a:tr>
              <a:tr h="962025">
                <a:tc>
                  <a:txBody>
                    <a:bodyPr lIns="171450" tIns="95250" rIns="152400" bIns="95250"/>
                    <a:lstStyle/>
                    <a:p>
                      <a:r>
                        <a:rPr sz="2625" b="0">
                          <a:solidFill>
                            <a:srgbClr val="183247"/>
                          </a:solidFill>
                          <a:latin typeface="Arial"/>
                          <a:ea typeface="Arial"/>
                          <a:cs typeface="Arial"/>
                        </a:rPr>
                        <a:t>Indexcijfer</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Welke vaste basis krijgt 100?</a:t>
                      </a:r>
                    </a:p>
                  </a:txBody>
                  <a:tcPr marL="91440" marR="91440" marT="45720" marB="45720" anchor="ctr">
                    <a:solidFill>
                      <a:srgbClr val="FFFFFF"/>
                    </a:solidFill>
                  </a:tcPr>
                </a:tc>
              </a:tr>
              <a:tr h="962025">
                <a:tc>
                  <a:txBody>
                    <a:bodyPr lIns="171450" tIns="95250" rIns="152400" bIns="95250"/>
                    <a:lstStyle/>
                    <a:p>
                      <a:r>
                        <a:rPr sz="2625" b="0">
                          <a:solidFill>
                            <a:srgbClr val="183247"/>
                          </a:solidFill>
                          <a:latin typeface="Arial"/>
                          <a:ea typeface="Arial"/>
                          <a:cs typeface="Arial"/>
                        </a:rPr>
                        <a:t>Procenten of punten</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Bereken je een verschil of een relatieve verandering?</a:t>
                      </a:r>
                    </a:p>
                  </a:txBody>
                  <a:tcPr marL="91440" marR="91440" marT="45720" marB="45720" anchor="ctr">
                    <a:solidFill>
                      <a:srgbClr val="EFF4F7"/>
                    </a:solidFill>
                  </a:tcPr>
                </a:tc>
              </a:tr>
            </a:tbl>
          </a:graphicData>
        </a:graphic>
      </p:graphicFrame>
      <p:sp>
        <p:nvSpPr>
          <p:cNvPr id="6" name="Lees eerst de grootheid, de eenheid en de vergelij">
            <a:extLst xmlns:a="http://schemas.openxmlformats.org/drawingml/2006/main">
              <a:ext uri="{FF2B5EF4-FFF2-40B4-BE49-F238E27FC236}">
                <a16:creationId xmlns:a16="http://schemas.microsoft.com/office/drawing/2014/main" id="{1795F940-F4E4-4151-9DE1-C03AD13371DA}"/>
              </a:ext>
            </a:extLst>
          </p:cNvPr>
          <p:cNvSpPr>
            <a:spLocks xmlns:a="http://schemas.openxmlformats.org/drawingml/2006/main" noGrp="1"/>
          </p:cNvSpPr>
          <p:nvPr/>
        </p:nvSpPr>
        <p:spPr>
          <a:xfrm xmlns:a="http://schemas.openxmlformats.org/drawingml/2006/main">
            <a:off x="571500" y="72961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Lees eerst de grootheid, de eenheid en de vergelijking.</a:t>
            </a:r>
          </a:p>
        </p:txBody>
      </p:sp>
    </p:spTree>
    <p:extLst>
      <p:ext uri="{BB962C8B-B14F-4D97-AF65-F5344CB8AC3E}">
        <p14:creationId xmlns:p14="http://schemas.microsoft.com/office/powerpoint/2010/main" val="10048770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bedrag per deelnemer">
            <a:extLst xmlns:a="http://schemas.openxmlformats.org/drawingml/2006/main">
              <a:ext uri="{FF2B5EF4-FFF2-40B4-BE49-F238E27FC236}">
                <a16:creationId xmlns:a16="http://schemas.microsoft.com/office/drawing/2014/main" id="{335DC677-BAA0-49E2-AF50-E5D93F3CC11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bedrag per deelnemer</a:t>
            </a:r>
          </a:p>
        </p:txBody>
      </p:sp>
      <p:sp>
        <p:nvSpPr>
          <p:cNvPr id="2" name="">
            <a:extLst xmlns:a="http://schemas.openxmlformats.org/drawingml/2006/main">
              <a:ext uri="{FF2B5EF4-FFF2-40B4-BE49-F238E27FC236}">
                <a16:creationId xmlns:a16="http://schemas.microsoft.com/office/drawing/2014/main" id="{39899357-258F-4407-9949-9DA2EBD5C47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7BE1F5E7-01ED-44B0-AABD-AC2B08B74B2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3">
            <a:extLst xmlns:a="http://schemas.openxmlformats.org/drawingml/2006/main">
              <a:ext uri="{FF2B5EF4-FFF2-40B4-BE49-F238E27FC236}">
                <a16:creationId xmlns:a16="http://schemas.microsoft.com/office/drawing/2014/main" id="{BEE8A205-CE65-4712-9D0A-DF5CCDAF3F3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BDF572BF-4D32-4EEA-A726-8A2F1780796B}"/>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257425"/>
          <a:ext xmlns:a="http://schemas.openxmlformats.org/drawingml/2006/main" cx="14097000" cy="2428875"/>
        </p:xfrm>
        <a:graphic xmlns:a="http://schemas.openxmlformats.org/drawingml/2006/main">
          <a:graphicData uri="http://schemas.openxmlformats.org/drawingml/2006/table">
            <a:tbl>
              <a:tblPr/>
              <a:tblGrid>
                <a:gridCol w="9906000"/>
                <a:gridCol w="4191000"/>
              </a:tblGrid>
              <a:tr h="809625">
                <a:tc>
                  <a:txBody>
                    <a:bodyPr lIns="171450" tIns="95250" rIns="152400" bIns="95250"/>
                    <a:lstStyle/>
                    <a:p>
                      <a:r>
                        <a:rPr sz="2700" b="1">
                          <a:solidFill>
                            <a:srgbClr val="FFFFFF"/>
                          </a:solidFill>
                          <a:latin typeface="Arial"/>
                          <a:ea typeface="Arial"/>
                          <a:cs typeface="Arial"/>
                        </a:rPr>
                        <a:t>Filmclub: materiaal voor een activiteit</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Gegeven</a:t>
                      </a:r>
                    </a:p>
                  </a:txBody>
                  <a:tcPr marL="91440" marR="91440" marT="45720" marB="45720" anchor="ctr">
                    <a:solidFill>
                      <a:srgbClr val="183247"/>
                    </a:solidFill>
                  </a:tcPr>
                </a:tc>
              </a:tr>
              <a:tr h="809625">
                <a:tc>
                  <a:txBody>
                    <a:bodyPr lIns="171450" tIns="95250" rIns="152400" bIns="95250"/>
                    <a:lstStyle/>
                    <a:p>
                      <a:r>
                        <a:rPr sz="2700" b="0">
                          <a:solidFill>
                            <a:srgbClr val="183247"/>
                          </a:solidFill>
                          <a:latin typeface="Arial"/>
                          <a:ea typeface="Arial"/>
                          <a:cs typeface="Arial"/>
                        </a:rPr>
                        <a:t>Totaal materiaalbedrag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€ 168</a:t>
                      </a:r>
                    </a:p>
                  </a:txBody>
                  <a:tcPr marL="91440" marR="91440" marT="45720" marB="45720" anchor="ctr">
                    <a:solidFill>
                      <a:srgbClr val="FFFFFF"/>
                    </a:solidFill>
                  </a:tcPr>
                </a:tc>
              </a:tr>
              <a:tr h="809625">
                <a:tc>
                  <a:txBody>
                    <a:bodyPr lIns="171450" tIns="95250" rIns="152400" bIns="95250"/>
                    <a:lstStyle/>
                    <a:p>
                      <a:r>
                        <a:rPr sz="2700" b="0">
                          <a:solidFill>
                            <a:srgbClr val="183247"/>
                          </a:solidFill>
                          <a:latin typeface="Arial"/>
                          <a:ea typeface="Arial"/>
                          <a:cs typeface="Arial"/>
                        </a:rPr>
                        <a:t>Aantal deelnemers</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24</a:t>
                      </a:r>
                    </a:p>
                  </a:txBody>
                  <a:tcPr marL="91440" marR="91440" marT="45720" marB="45720" anchor="ctr">
                    <a:solidFill>
                      <a:srgbClr val="EFF4F7"/>
                    </a:solidFill>
                  </a:tcPr>
                </a:tc>
              </a:tr>
            </a:tbl>
          </a:graphicData>
        </a:graphic>
      </p:graphicFrame>
      <p:sp>
        <p:nvSpPr>
          <p:cNvPr id="7" name="Bedrag per deelnemer = totaalbedrag / aantal">
            <a:extLst xmlns:a="http://schemas.openxmlformats.org/drawingml/2006/main">
              <a:ext uri="{FF2B5EF4-FFF2-40B4-BE49-F238E27FC236}">
                <a16:creationId xmlns:a16="http://schemas.microsoft.com/office/drawing/2014/main" id="{8DBF6803-AAE4-40A9-B64C-8094E79F1C08}"/>
              </a:ext>
            </a:extLst>
          </p:cNvPr>
          <p:cNvSpPr>
            <a:spLocks xmlns:a="http://schemas.openxmlformats.org/drawingml/2006/main" noGrp="1"/>
          </p:cNvSpPr>
          <p:nvPr/>
        </p:nvSpPr>
        <p:spPr>
          <a:xfrm xmlns:a="http://schemas.openxmlformats.org/drawingml/2006/main">
            <a:off x="571500" y="51530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Bedrag per deelnemer = totaalbedrag / aantal</a:t>
            </a:r>
          </a:p>
        </p:txBody>
      </p:sp>
      <p:sp>
        <p:nvSpPr>
          <p:cNvPr id="8" name="€ 168 / 24 = € 7 per deelnemer">
            <a:extLst xmlns:a="http://schemas.openxmlformats.org/drawingml/2006/main">
              <a:ext uri="{FF2B5EF4-FFF2-40B4-BE49-F238E27FC236}">
                <a16:creationId xmlns:a16="http://schemas.microsoft.com/office/drawing/2014/main" id="{93A98473-9954-4411-A624-3EDDE5E2F521}"/>
              </a:ext>
            </a:extLst>
          </p:cNvPr>
          <p:cNvSpPr>
            <a:spLocks xmlns:a="http://schemas.openxmlformats.org/drawingml/2006/main" noGrp="1"/>
          </p:cNvSpPr>
          <p:nvPr/>
        </p:nvSpPr>
        <p:spPr>
          <a:xfrm xmlns:a="http://schemas.openxmlformats.org/drawingml/2006/main">
            <a:off x="571500" y="61341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€ 168 / 24 = € 7 per deelnemer</a:t>
            </a:r>
          </a:p>
        </p:txBody>
      </p:sp>
      <p:sp>
        <p:nvSpPr>
          <p:cNvPr id="9" name="Controle: 24 × € 7 = € 168">
            <a:extLst xmlns:a="http://schemas.openxmlformats.org/drawingml/2006/main">
              <a:ext uri="{FF2B5EF4-FFF2-40B4-BE49-F238E27FC236}">
                <a16:creationId xmlns:a16="http://schemas.microsoft.com/office/drawing/2014/main" id="{B53C29B2-B989-4CE4-9EE2-FD209AF24369}"/>
              </a:ext>
            </a:extLst>
          </p:cNvPr>
          <p:cNvSpPr>
            <a:spLocks xmlns:a="http://schemas.openxmlformats.org/drawingml/2006/main" noGrp="1"/>
          </p:cNvSpPr>
          <p:nvPr/>
        </p:nvSpPr>
        <p:spPr>
          <a:xfrm xmlns:a="http://schemas.openxmlformats.org/drawingml/2006/main">
            <a:off x="571500" y="72390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0665B"/>
                </a:solidFill>
                <a:latin typeface="Arial"/>
                <a:ea typeface="Arial"/>
                <a:cs typeface="Arial"/>
              </a:defRPr>
            </a:pPr>
            <a:r>
              <a:rPr sz="2700" b="0">
                <a:solidFill>
                  <a:srgbClr val="20665B"/>
                </a:solidFill>
                <a:latin typeface="Arial"/>
                <a:ea typeface="Arial"/>
                <a:cs typeface="Arial"/>
              </a:rPr>
              <a:t>Controle: 24 × € 7 = € 168</a:t>
            </a:r>
          </a:p>
        </p:txBody>
      </p:sp>
    </p:spTree>
    <p:extLst>
      <p:ext uri="{BB962C8B-B14F-4D97-AF65-F5344CB8AC3E}">
        <p14:creationId xmlns:p14="http://schemas.microsoft.com/office/powerpoint/2010/main" val="5495972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en aandeel en het aantal terugrekenen">
            <a:extLst xmlns:a="http://schemas.openxmlformats.org/drawingml/2006/main">
              <a:ext uri="{FF2B5EF4-FFF2-40B4-BE49-F238E27FC236}">
                <a16:creationId xmlns:a16="http://schemas.microsoft.com/office/drawing/2014/main" id="{D2BB3802-D1BE-4D02-9C44-620381AAADB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aandeel en het aantal terugrekenen</a:t>
            </a:r>
          </a:p>
        </p:txBody>
      </p:sp>
      <p:sp>
        <p:nvSpPr>
          <p:cNvPr id="2" name="">
            <a:extLst xmlns:a="http://schemas.openxmlformats.org/drawingml/2006/main">
              <a:ext uri="{FF2B5EF4-FFF2-40B4-BE49-F238E27FC236}">
                <a16:creationId xmlns:a16="http://schemas.microsoft.com/office/drawing/2014/main" id="{BCAB8612-D1C2-4A26-B208-371B89A27AE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ACBC6D59-CC41-4F39-B66E-1075D5AAA07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4">
            <a:extLst xmlns:a="http://schemas.openxmlformats.org/drawingml/2006/main">
              <a:ext uri="{FF2B5EF4-FFF2-40B4-BE49-F238E27FC236}">
                <a16:creationId xmlns:a16="http://schemas.microsoft.com/office/drawing/2014/main" id="{EC6FFD49-BD84-430F-9257-9900B655DA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5EFA5B9F-7E8A-46BB-9E0F-59917B304F4D}"/>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Filmclub: 40 leden van een groep van 160 leerlinge">
            <a:extLst xmlns:a="http://schemas.openxmlformats.org/drawingml/2006/main">
              <a:ext uri="{FF2B5EF4-FFF2-40B4-BE49-F238E27FC236}">
                <a16:creationId xmlns:a16="http://schemas.microsoft.com/office/drawing/2014/main" id="{E1790B9D-8F4C-4412-BBDF-3116124CFBEE}"/>
              </a:ext>
            </a:extLst>
          </p:cNvPr>
          <p:cNvSpPr>
            <a:spLocks xmlns:a="http://schemas.openxmlformats.org/drawingml/2006/main" noGrp="1"/>
          </p:cNvSpPr>
          <p:nvPr/>
        </p:nvSpPr>
        <p:spPr>
          <a:xfrm xmlns:a="http://schemas.openxmlformats.org/drawingml/2006/main">
            <a:off x="571500" y="222885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Filmclub: 40 leden van een groep van 160 leerlingen</a:t>
            </a:r>
          </a:p>
        </p:txBody>
      </p:sp>
      <p:sp>
        <p:nvSpPr>
          <p:cNvPr id="7" name="Aandeel = deel / geheel × 100%">
            <a:extLst xmlns:a="http://schemas.openxmlformats.org/drawingml/2006/main">
              <a:ext uri="{FF2B5EF4-FFF2-40B4-BE49-F238E27FC236}">
                <a16:creationId xmlns:a16="http://schemas.microsoft.com/office/drawing/2014/main" id="{59F9C302-4F40-446F-87BE-39B62F6F2E8F}"/>
              </a:ext>
            </a:extLst>
          </p:cNvPr>
          <p:cNvSpPr>
            <a:spLocks xmlns:a="http://schemas.openxmlformats.org/drawingml/2006/main" noGrp="1"/>
          </p:cNvSpPr>
          <p:nvPr/>
        </p:nvSpPr>
        <p:spPr>
          <a:xfrm xmlns:a="http://schemas.openxmlformats.org/drawingml/2006/main">
            <a:off x="571500" y="33051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Aandeel = deel / geheel × 100%</a:t>
            </a:r>
          </a:p>
        </p:txBody>
      </p:sp>
      <p:sp>
        <p:nvSpPr>
          <p:cNvPr id="8" name="40 / 160 = 0,25 = 25%">
            <a:extLst xmlns:a="http://schemas.openxmlformats.org/drawingml/2006/main">
              <a:ext uri="{FF2B5EF4-FFF2-40B4-BE49-F238E27FC236}">
                <a16:creationId xmlns:a16="http://schemas.microsoft.com/office/drawing/2014/main" id="{8B5CD350-4102-4409-8AF4-AE5655DFE38E}"/>
              </a:ext>
            </a:extLst>
          </p:cNvPr>
          <p:cNvSpPr>
            <a:spLocks xmlns:a="http://schemas.openxmlformats.org/drawingml/2006/main" noGrp="1"/>
          </p:cNvSpPr>
          <p:nvPr/>
        </p:nvSpPr>
        <p:spPr>
          <a:xfrm xmlns:a="http://schemas.openxmlformats.org/drawingml/2006/main">
            <a:off x="571500" y="41624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40 / 160 = 0,25 = 25%</a:t>
            </a:r>
          </a:p>
        </p:txBody>
      </p:sp>
      <p:sp>
        <p:nvSpPr>
          <p:cNvPr id="9" name="">
            <a:extLst xmlns:a="http://schemas.openxmlformats.org/drawingml/2006/main">
              <a:ext uri="{FF2B5EF4-FFF2-40B4-BE49-F238E27FC236}">
                <a16:creationId xmlns:a16="http://schemas.microsoft.com/office/drawing/2014/main" id="{D29A47F9-F7DD-4347-9C5E-D27E6070F082}"/>
              </a:ext>
            </a:extLst>
          </p:cNvPr>
          <p:cNvSpPr>
            <a:spLocks xmlns:a="http://schemas.openxmlformats.org/drawingml/2006/main" noGrp="1"/>
          </p:cNvSpPr>
          <p:nvPr/>
        </p:nvSpPr>
        <p:spPr>
          <a:xfrm xmlns:a="http://schemas.openxmlformats.org/drawingml/2006/main">
            <a:off x="571500" y="5219700"/>
            <a:ext cx="14097000" cy="0"/>
          </a:xfrm>
          <a:prstGeom xmlns:a="http://schemas.openxmlformats.org/drawingml/2006/main" prst="line">
            <a:avLst/>
          </a:prstGeom>
          <a:ln xmlns:a="http://schemas.openxmlformats.org/drawingml/2006/main" w="19050">
            <a:solidFill>
              <a:srgbClr val="C6D2DB"/>
            </a:solidFill>
          </a:ln>
        </p:spPr>
      </p:sp>
      <p:sp>
        <p:nvSpPr>
          <p:cNvPr id="10" name="Terug naar een aantal: 25% = 25 / 100 = 0,25">
            <a:extLst xmlns:a="http://schemas.openxmlformats.org/drawingml/2006/main">
              <a:ext uri="{FF2B5EF4-FFF2-40B4-BE49-F238E27FC236}">
                <a16:creationId xmlns:a16="http://schemas.microsoft.com/office/drawing/2014/main" id="{A03E461E-3537-4FCA-9625-9EEC95561A17}"/>
              </a:ext>
            </a:extLst>
          </p:cNvPr>
          <p:cNvSpPr>
            <a:spLocks xmlns:a="http://schemas.openxmlformats.org/drawingml/2006/main" noGrp="1"/>
          </p:cNvSpPr>
          <p:nvPr/>
        </p:nvSpPr>
        <p:spPr>
          <a:xfrm xmlns:a="http://schemas.openxmlformats.org/drawingml/2006/main">
            <a:off x="571500" y="56959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Terug naar een aantal: 25% = 25 / 100 = 0,25</a:t>
            </a:r>
          </a:p>
        </p:txBody>
      </p:sp>
      <p:sp>
        <p:nvSpPr>
          <p:cNvPr id="11" name="0,25 × 160 = 40 leden">
            <a:extLst xmlns:a="http://schemas.openxmlformats.org/drawingml/2006/main">
              <a:ext uri="{FF2B5EF4-FFF2-40B4-BE49-F238E27FC236}">
                <a16:creationId xmlns:a16="http://schemas.microsoft.com/office/drawing/2014/main" id="{D68DD177-042B-4382-9A98-30B37456B496}"/>
              </a:ext>
            </a:extLst>
          </p:cNvPr>
          <p:cNvSpPr>
            <a:spLocks xmlns:a="http://schemas.openxmlformats.org/drawingml/2006/main" noGrp="1"/>
          </p:cNvSpPr>
          <p:nvPr/>
        </p:nvSpPr>
        <p:spPr>
          <a:xfrm xmlns:a="http://schemas.openxmlformats.org/drawingml/2006/main">
            <a:off x="571500" y="66198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20665B"/>
                </a:solidFill>
                <a:latin typeface="Arial"/>
                <a:ea typeface="Arial"/>
                <a:cs typeface="Arial"/>
              </a:defRPr>
            </a:pPr>
            <a:r>
              <a:rPr sz="3750" b="1">
                <a:solidFill>
                  <a:srgbClr val="20665B"/>
                </a:solidFill>
                <a:latin typeface="Arial"/>
                <a:ea typeface="Arial"/>
                <a:cs typeface="Arial"/>
              </a:rPr>
              <a:t>0,25 × 160 = 40 leden</a:t>
            </a:r>
          </a:p>
        </p:txBody>
      </p:sp>
    </p:spTree>
    <p:extLst>
      <p:ext uri="{BB962C8B-B14F-4D97-AF65-F5344CB8AC3E}">
        <p14:creationId xmlns:p14="http://schemas.microsoft.com/office/powerpoint/2010/main" val="4989780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bsolute en procentuele verandering">
            <a:extLst xmlns:a="http://schemas.openxmlformats.org/drawingml/2006/main">
              <a:ext uri="{FF2B5EF4-FFF2-40B4-BE49-F238E27FC236}">
                <a16:creationId xmlns:a16="http://schemas.microsoft.com/office/drawing/2014/main" id="{0E87F8B6-4EE3-41CD-8757-480A6BEE787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Absolute en procentuele verandering</a:t>
            </a:r>
          </a:p>
        </p:txBody>
      </p:sp>
      <p:sp>
        <p:nvSpPr>
          <p:cNvPr id="2" name="">
            <a:extLst xmlns:a="http://schemas.openxmlformats.org/drawingml/2006/main">
              <a:ext uri="{FF2B5EF4-FFF2-40B4-BE49-F238E27FC236}">
                <a16:creationId xmlns:a16="http://schemas.microsoft.com/office/drawing/2014/main" id="{9C53470B-32BC-47D9-9848-09B8946B27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E804B9D8-AE83-4FF9-A275-18083585EF9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5">
            <a:extLst xmlns:a="http://schemas.openxmlformats.org/drawingml/2006/main">
              <a:ext uri="{FF2B5EF4-FFF2-40B4-BE49-F238E27FC236}">
                <a16:creationId xmlns:a16="http://schemas.microsoft.com/office/drawing/2014/main" id="{6C59010E-3FFD-444B-A541-7998714F570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81116AE9-F58E-41B9-829E-3CAF8114FD60}"/>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6" name=""/>
          <p:cNvGraphicFramePr/>
          <p:nvPr/>
        </p:nvGraphicFramePr>
        <p:xfrm>
          <a:off xmlns:a="http://schemas.openxmlformats.org/drawingml/2006/main" x="571500" y="2257425"/>
          <a:ext xmlns:a="http://schemas.openxmlformats.org/drawingml/2006/main" cx="14097000" cy="1714500"/>
        </p:xfrm>
        <a:graphic xmlns:a="http://schemas.openxmlformats.org/drawingml/2006/main">
          <a:graphicData uri="http://schemas.openxmlformats.org/drawingml/2006/table">
            <a:tbl>
              <a:tblPr/>
              <a:tblGrid>
                <a:gridCol w="7620000"/>
                <a:gridCol w="3238500"/>
                <a:gridCol w="3238500"/>
              </a:tblGrid>
              <a:tr h="857250">
                <a:tc>
                  <a:txBody>
                    <a:bodyPr lIns="171450" tIns="95250" rIns="152400" bIns="95250"/>
                    <a:lstStyle/>
                    <a:p>
                      <a:r>
                        <a:rPr sz="2700" b="1">
                          <a:solidFill>
                            <a:srgbClr val="FFFFFF"/>
                          </a:solidFill>
                          <a:latin typeface="Arial"/>
                          <a:ea typeface="Arial"/>
                          <a:cs typeface="Arial"/>
                        </a:rPr>
                        <a:t>Filmclubpas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Nieuw</a:t>
                      </a:r>
                    </a:p>
                  </a:txBody>
                  <a:tcPr marL="91440" marR="91440" marT="45720" marB="45720" anchor="ctr">
                    <a:solidFill>
                      <a:srgbClr val="183247"/>
                    </a:solidFill>
                  </a:tcPr>
                </a:tc>
              </a:tr>
              <a:tr h="857250">
                <a:tc>
                  <a:txBody>
                    <a:bodyPr lIns="171450" tIns="95250" rIns="152400" bIns="95250"/>
                    <a:lstStyle/>
                    <a:p>
                      <a:r>
                        <a:rPr sz="2700" b="0">
                          <a:solidFill>
                            <a:srgbClr val="183247"/>
                          </a:solidFill>
                          <a:latin typeface="Arial"/>
                          <a:ea typeface="Arial"/>
                          <a:cs typeface="Arial"/>
                        </a:rPr>
                        <a:t>Prijs per jaar</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€ 16</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€ 20</a:t>
                      </a:r>
                    </a:p>
                  </a:txBody>
                  <a:tcPr marL="91440" marR="91440" marT="45720" marB="45720" anchor="ctr">
                    <a:solidFill>
                      <a:srgbClr val="FFFFFF"/>
                    </a:solidFill>
                  </a:tcPr>
                </a:tc>
              </a:tr>
            </a:tbl>
          </a:graphicData>
        </a:graphic>
      </p:graphicFrame>
      <p:sp>
        <p:nvSpPr>
          <p:cNvPr id="7" name="Absolute verandering = nieuw − oud">
            <a:extLst xmlns:a="http://schemas.openxmlformats.org/drawingml/2006/main">
              <a:ext uri="{FF2B5EF4-FFF2-40B4-BE49-F238E27FC236}">
                <a16:creationId xmlns:a16="http://schemas.microsoft.com/office/drawing/2014/main" id="{CA8A53A2-010E-4360-9800-8A5635CA445A}"/>
              </a:ext>
            </a:extLst>
          </p:cNvPr>
          <p:cNvSpPr>
            <a:spLocks xmlns:a="http://schemas.openxmlformats.org/drawingml/2006/main" noGrp="1"/>
          </p:cNvSpPr>
          <p:nvPr/>
        </p:nvSpPr>
        <p:spPr>
          <a:xfrm xmlns:a="http://schemas.openxmlformats.org/drawingml/2006/main">
            <a:off x="571500" y="44386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Absolute verandering = nieuw − oud</a:t>
            </a:r>
          </a:p>
        </p:txBody>
      </p:sp>
      <p:sp>
        <p:nvSpPr>
          <p:cNvPr id="8" name="€ 20 − € 16 = +€ 4 per jaarpas">
            <a:extLst xmlns:a="http://schemas.openxmlformats.org/drawingml/2006/main">
              <a:ext uri="{FF2B5EF4-FFF2-40B4-BE49-F238E27FC236}">
                <a16:creationId xmlns:a16="http://schemas.microsoft.com/office/drawing/2014/main" id="{B98B7707-D104-4E62-96E4-A095C943C3F2}"/>
              </a:ext>
            </a:extLst>
          </p:cNvPr>
          <p:cNvSpPr>
            <a:spLocks xmlns:a="http://schemas.openxmlformats.org/drawingml/2006/main" noGrp="1"/>
          </p:cNvSpPr>
          <p:nvPr/>
        </p:nvSpPr>
        <p:spPr>
          <a:xfrm xmlns:a="http://schemas.openxmlformats.org/drawingml/2006/main">
            <a:off x="571500" y="50482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€ 20 − € 16 = +€ 4 per jaarpas</a:t>
            </a:r>
          </a:p>
        </p:txBody>
      </p:sp>
      <p:sp>
        <p:nvSpPr>
          <p:cNvPr id="9" name="Procentuele verandering = (nieuw − oud) / oud × 10">
            <a:extLst xmlns:a="http://schemas.openxmlformats.org/drawingml/2006/main">
              <a:ext uri="{FF2B5EF4-FFF2-40B4-BE49-F238E27FC236}">
                <a16:creationId xmlns:a16="http://schemas.microsoft.com/office/drawing/2014/main" id="{5E189AF3-7213-4331-BC5D-2D49026ACED1}"/>
              </a:ext>
            </a:extLst>
          </p:cNvPr>
          <p:cNvSpPr>
            <a:spLocks xmlns:a="http://schemas.openxmlformats.org/drawingml/2006/main" noGrp="1"/>
          </p:cNvSpPr>
          <p:nvPr/>
        </p:nvSpPr>
        <p:spPr>
          <a:xfrm xmlns:a="http://schemas.openxmlformats.org/drawingml/2006/main">
            <a:off x="571500" y="61722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Procentuele verandering = (nieuw − oud) / oud × 100%</a:t>
            </a:r>
          </a:p>
        </p:txBody>
      </p:sp>
      <p:sp>
        <p:nvSpPr>
          <p:cNvPr id="10" name="(20 − 16) / 16 × 100% = +25%">
            <a:extLst xmlns:a="http://schemas.openxmlformats.org/drawingml/2006/main">
              <a:ext uri="{FF2B5EF4-FFF2-40B4-BE49-F238E27FC236}">
                <a16:creationId xmlns:a16="http://schemas.microsoft.com/office/drawing/2014/main" id="{4EE39624-4F64-4F31-8109-9B40FA44CF22}"/>
              </a:ext>
            </a:extLst>
          </p:cNvPr>
          <p:cNvSpPr>
            <a:spLocks xmlns:a="http://schemas.openxmlformats.org/drawingml/2006/main" noGrp="1"/>
          </p:cNvSpPr>
          <p:nvPr/>
        </p:nvSpPr>
        <p:spPr>
          <a:xfrm xmlns:a="http://schemas.openxmlformats.org/drawingml/2006/main">
            <a:off x="571500" y="688657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(20 − 16) / 16 × 100% = +25%</a:t>
            </a:r>
          </a:p>
        </p:txBody>
      </p:sp>
    </p:spTree>
    <p:extLst>
      <p:ext uri="{BB962C8B-B14F-4D97-AF65-F5344CB8AC3E}">
        <p14:creationId xmlns:p14="http://schemas.microsoft.com/office/powerpoint/2010/main" val="14034871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ij een daling verandert de basis">
            <a:extLst xmlns:a="http://schemas.openxmlformats.org/drawingml/2006/main">
              <a:ext uri="{FF2B5EF4-FFF2-40B4-BE49-F238E27FC236}">
                <a16:creationId xmlns:a16="http://schemas.microsoft.com/office/drawing/2014/main" id="{49B6D647-00A5-4918-9B39-8E19A77C9AD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Bij een daling verandert de basis</a:t>
            </a:r>
          </a:p>
        </p:txBody>
      </p:sp>
      <p:sp>
        <p:nvSpPr>
          <p:cNvPr id="2" name="">
            <a:extLst xmlns:a="http://schemas.openxmlformats.org/drawingml/2006/main">
              <a:ext uri="{FF2B5EF4-FFF2-40B4-BE49-F238E27FC236}">
                <a16:creationId xmlns:a16="http://schemas.microsoft.com/office/drawing/2014/main" id="{1B1B6F74-75A6-4C27-BF33-7BE7EF2766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DE86C398-A2B3-4AC8-9E24-1BCE8010A2E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6">
            <a:extLst xmlns:a="http://schemas.openxmlformats.org/drawingml/2006/main">
              <a:ext uri="{FF2B5EF4-FFF2-40B4-BE49-F238E27FC236}">
                <a16:creationId xmlns:a16="http://schemas.microsoft.com/office/drawing/2014/main" id="{47790492-CBA2-4F7C-93D1-FBABDA3BF35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5E0EE0E6-34DE-4279-A711-B7E87E2D885F}"/>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257425"/>
          <a:ext xmlns:a="http://schemas.openxmlformats.org/drawingml/2006/main" cx="14097000" cy="1714500"/>
        </p:xfrm>
        <a:graphic xmlns:a="http://schemas.openxmlformats.org/drawingml/2006/main">
          <a:graphicData uri="http://schemas.openxmlformats.org/drawingml/2006/table">
            <a:tbl>
              <a:tblPr/>
              <a:tblGrid>
                <a:gridCol w="7620000"/>
                <a:gridCol w="3238500"/>
                <a:gridCol w="3238500"/>
              </a:tblGrid>
              <a:tr h="857250">
                <a:tc>
                  <a:txBody>
                    <a:bodyPr lIns="171450" tIns="95250" rIns="152400" bIns="95250"/>
                    <a:lstStyle/>
                    <a:p>
                      <a:r>
                        <a:rPr sz="2700" b="1">
                          <a:solidFill>
                            <a:srgbClr val="FFFFFF"/>
                          </a:solidFill>
                          <a:latin typeface="Arial"/>
                          <a:ea typeface="Arial"/>
                          <a:cs typeface="Arial"/>
                        </a:rPr>
                        <a:t>Vergelijking van dezelfde filmclubpas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Nieuw</a:t>
                      </a:r>
                    </a:p>
                  </a:txBody>
                  <a:tcPr marL="91440" marR="91440" marT="45720" marB="45720" anchor="ctr">
                    <a:solidFill>
                      <a:srgbClr val="183247"/>
                    </a:solidFill>
                  </a:tcPr>
                </a:tc>
              </a:tr>
              <a:tr h="857250">
                <a:tc>
                  <a:txBody>
                    <a:bodyPr lIns="171450" tIns="95250" rIns="152400" bIns="95250"/>
                    <a:lstStyle/>
                    <a:p>
                      <a:r>
                        <a:rPr sz="2700" b="0">
                          <a:solidFill>
                            <a:srgbClr val="183247"/>
                          </a:solidFill>
                          <a:latin typeface="Arial"/>
                          <a:ea typeface="Arial"/>
                          <a:cs typeface="Arial"/>
                        </a:rPr>
                        <a:t>Terug naar de eerdere prijs</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€ 20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€ 16</a:t>
                      </a:r>
                    </a:p>
                  </a:txBody>
                  <a:tcPr marL="91440" marR="91440" marT="45720" marB="45720" anchor="ctr">
                    <a:solidFill>
                      <a:srgbClr val="FFFFFF"/>
                    </a:solidFill>
                  </a:tcPr>
                </a:tc>
              </a:tr>
            </a:tbl>
          </a:graphicData>
        </a:graphic>
      </p:graphicFrame>
      <p:sp>
        <p:nvSpPr>
          <p:cNvPr id="7" name="Absolute verandering: € 16 − € 20 = −€ 4">
            <a:extLst xmlns:a="http://schemas.openxmlformats.org/drawingml/2006/main">
              <a:ext uri="{FF2B5EF4-FFF2-40B4-BE49-F238E27FC236}">
                <a16:creationId xmlns:a16="http://schemas.microsoft.com/office/drawing/2014/main" id="{396D3EC6-2214-4AD2-B681-9CDC54DD8F00}"/>
              </a:ext>
            </a:extLst>
          </p:cNvPr>
          <p:cNvSpPr>
            <a:spLocks xmlns:a="http://schemas.openxmlformats.org/drawingml/2006/main" noGrp="1"/>
          </p:cNvSpPr>
          <p:nvPr/>
        </p:nvSpPr>
        <p:spPr>
          <a:xfrm xmlns:a="http://schemas.openxmlformats.org/drawingml/2006/main">
            <a:off x="571500" y="44862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Absolute verandering: € 16 − € 20 = −€ 4</a:t>
            </a:r>
          </a:p>
        </p:txBody>
      </p:sp>
      <p:sp>
        <p:nvSpPr>
          <p:cNvPr id="8" name="(16 − 20) / 20 × 100% = −20%">
            <a:extLst xmlns:a="http://schemas.openxmlformats.org/drawingml/2006/main">
              <a:ext uri="{FF2B5EF4-FFF2-40B4-BE49-F238E27FC236}">
                <a16:creationId xmlns:a16="http://schemas.microsoft.com/office/drawing/2014/main" id="{609163CA-760C-4956-A4CA-4864F12366E7}"/>
              </a:ext>
            </a:extLst>
          </p:cNvPr>
          <p:cNvSpPr>
            <a:spLocks xmlns:a="http://schemas.openxmlformats.org/drawingml/2006/main" noGrp="1"/>
          </p:cNvSpPr>
          <p:nvPr/>
        </p:nvSpPr>
        <p:spPr>
          <a:xfrm xmlns:a="http://schemas.openxmlformats.org/drawingml/2006/main">
            <a:off x="571500" y="555307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7658A"/>
                </a:solidFill>
                <a:latin typeface="Arial"/>
                <a:ea typeface="Arial"/>
                <a:cs typeface="Arial"/>
              </a:defRPr>
            </a:pPr>
            <a:r>
              <a:rPr sz="3825" b="1">
                <a:solidFill>
                  <a:srgbClr val="17658A"/>
                </a:solidFill>
                <a:latin typeface="Arial"/>
                <a:ea typeface="Arial"/>
                <a:cs typeface="Arial"/>
              </a:rPr>
              <a:t>(16 − 20) / 20 × 100% = −20%</a:t>
            </a:r>
          </a:p>
        </p:txBody>
      </p:sp>
      <p:sp>
        <p:nvSpPr>
          <p:cNvPr id="9" name="De prijs daalt met 20% van de oude € 20.">
            <a:extLst xmlns:a="http://schemas.openxmlformats.org/drawingml/2006/main">
              <a:ext uri="{FF2B5EF4-FFF2-40B4-BE49-F238E27FC236}">
                <a16:creationId xmlns:a16="http://schemas.microsoft.com/office/drawing/2014/main" id="{11285ABB-B9E0-4270-BB24-CCCC65DF0810}"/>
              </a:ext>
            </a:extLst>
          </p:cNvPr>
          <p:cNvSpPr>
            <a:spLocks xmlns:a="http://schemas.openxmlformats.org/drawingml/2006/main" noGrp="1"/>
          </p:cNvSpPr>
          <p:nvPr/>
        </p:nvSpPr>
        <p:spPr>
          <a:xfrm xmlns:a="http://schemas.openxmlformats.org/drawingml/2006/main">
            <a:off x="571500" y="678180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prijs daalt met 20% van de oude € 20.</a:t>
            </a:r>
          </a:p>
        </p:txBody>
      </p:sp>
    </p:spTree>
    <p:extLst>
      <p:ext uri="{BB962C8B-B14F-4D97-AF65-F5344CB8AC3E}">
        <p14:creationId xmlns:p14="http://schemas.microsoft.com/office/powerpoint/2010/main" val="12293524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nieuwe waarde met een factor">
            <a:extLst xmlns:a="http://schemas.openxmlformats.org/drawingml/2006/main">
              <a:ext uri="{FF2B5EF4-FFF2-40B4-BE49-F238E27FC236}">
                <a16:creationId xmlns:a16="http://schemas.microsoft.com/office/drawing/2014/main" id="{2E343993-1AD4-4C9F-8F47-A8D9CC840D4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nieuwe waarde met een factor</a:t>
            </a:r>
          </a:p>
        </p:txBody>
      </p:sp>
      <p:sp>
        <p:nvSpPr>
          <p:cNvPr id="2" name="">
            <a:extLst xmlns:a="http://schemas.openxmlformats.org/drawingml/2006/main">
              <a:ext uri="{FF2B5EF4-FFF2-40B4-BE49-F238E27FC236}">
                <a16:creationId xmlns:a16="http://schemas.microsoft.com/office/drawing/2014/main" id="{26983C3C-1CF3-4117-87B1-4A382E386E3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FCC49F62-AE9A-427B-8F86-8CE3CD3C076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7">
            <a:extLst xmlns:a="http://schemas.openxmlformats.org/drawingml/2006/main">
              <a:ext uri="{FF2B5EF4-FFF2-40B4-BE49-F238E27FC236}">
                <a16:creationId xmlns:a16="http://schemas.microsoft.com/office/drawing/2014/main" id="{44B231DE-2AC9-4425-9BDE-B79E1DC9915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307BBFDF-F0B1-4B23-A148-83F60662D3EA}"/>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Filmclubpas: € 22 · twee afzonderlijke voorstellen">
            <a:extLst xmlns:a="http://schemas.openxmlformats.org/drawingml/2006/main">
              <a:ext uri="{FF2B5EF4-FFF2-40B4-BE49-F238E27FC236}">
                <a16:creationId xmlns:a16="http://schemas.microsoft.com/office/drawing/2014/main" id="{9025815E-1778-42B3-AE13-7E4C11F7748F}"/>
              </a:ext>
            </a:extLst>
          </p:cNvPr>
          <p:cNvSpPr>
            <a:spLocks xmlns:a="http://schemas.openxmlformats.org/drawingml/2006/main" noGrp="1"/>
          </p:cNvSpPr>
          <p:nvPr/>
        </p:nvSpPr>
        <p:spPr>
          <a:xfrm xmlns:a="http://schemas.openxmlformats.org/drawingml/2006/main">
            <a:off x="571500" y="21812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Filmclubpas: € 22 · twee afzonderlijke voorstellen</a:t>
            </a:r>
          </a:p>
        </p:txBody>
      </p:sp>
      <p:graphicFrame>
        <p:nvGraphicFramePr>
          <p:cNvPr id="16" name=""/>
          <p:cNvGraphicFramePr/>
          <p:nvPr/>
        </p:nvGraphicFramePr>
        <p:xfrm>
          <a:off xmlns:a="http://schemas.openxmlformats.org/drawingml/2006/main" x="571500" y="3267075"/>
          <a:ext xmlns:a="http://schemas.openxmlformats.org/drawingml/2006/main" cx="14097000" cy="2924175"/>
        </p:xfrm>
        <a:graphic xmlns:a="http://schemas.openxmlformats.org/drawingml/2006/main">
          <a:graphicData uri="http://schemas.openxmlformats.org/drawingml/2006/table">
            <a:tbl>
              <a:tblPr/>
              <a:tblGrid>
                <a:gridCol w="4000500"/>
                <a:gridCol w="4714875"/>
                <a:gridCol w="5381625"/>
              </a:tblGrid>
              <a:tr h="974725">
                <a:tc>
                  <a:txBody>
                    <a:bodyPr lIns="171450" tIns="95250" rIns="152400" bIns="95250"/>
                    <a:lstStyle/>
                    <a:p>
                      <a:r>
                        <a:rPr sz="2550" b="1">
                          <a:solidFill>
                            <a:srgbClr val="FFFFFF"/>
                          </a:solidFill>
                          <a:latin typeface="Arial"/>
                          <a:ea typeface="Arial"/>
                          <a:cs typeface="Arial"/>
                        </a:rPr>
                        <a:t>Voorstel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Factor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Nieuwe prijs</a:t>
                      </a:r>
                    </a:p>
                  </a:txBody>
                  <a:tcPr marL="91440" marR="91440" marT="45720" marB="45720" anchor="ctr">
                    <a:solidFill>
                      <a:srgbClr val="183247"/>
                    </a:solidFill>
                  </a:tcPr>
                </a:tc>
              </a:tr>
              <a:tr h="974725">
                <a:tc>
                  <a:txBody>
                    <a:bodyPr lIns="171450" tIns="95250" rIns="152400" bIns="95250"/>
                    <a:lstStyle/>
                    <a:p>
                      <a:r>
                        <a:rPr sz="2550" b="0">
                          <a:solidFill>
                            <a:srgbClr val="183247"/>
                          </a:solidFill>
                          <a:latin typeface="Arial"/>
                          <a:ea typeface="Arial"/>
                          <a:cs typeface="Arial"/>
                        </a:rPr>
                        <a:t>6% stijging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 + 6 / 100 = 1,06</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22 × 1,06 = € 23,32</a:t>
                      </a:r>
                    </a:p>
                  </a:txBody>
                  <a:tcPr marL="91440" marR="91440" marT="45720" marB="45720" anchor="ctr">
                    <a:solidFill>
                      <a:srgbClr val="FFFFFF"/>
                    </a:solidFill>
                  </a:tcPr>
                </a:tc>
              </a:tr>
              <a:tr h="974725">
                <a:tc>
                  <a:txBody>
                    <a:bodyPr lIns="171450" tIns="95250" rIns="152400" bIns="95250"/>
                    <a:lstStyle/>
                    <a:p>
                      <a:r>
                        <a:rPr sz="2550" b="0">
                          <a:solidFill>
                            <a:srgbClr val="183247"/>
                          </a:solidFill>
                          <a:latin typeface="Arial"/>
                          <a:ea typeface="Arial"/>
                          <a:cs typeface="Arial"/>
                        </a:rPr>
                        <a:t>15% korting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1 − 15 / 100 = 0,85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22 × 0,85 = € 18,70</a:t>
                      </a:r>
                    </a:p>
                  </a:txBody>
                  <a:tcPr marL="91440" marR="91440" marT="45720" marB="45720" anchor="ctr">
                    <a:solidFill>
                      <a:srgbClr val="EFF4F7"/>
                    </a:solidFill>
                  </a:tcPr>
                </a:tc>
              </a:tr>
            </a:tbl>
          </a:graphicData>
        </a:graphic>
      </p:graphicFrame>
      <p:sp>
        <p:nvSpPr>
          <p:cNvPr id="8" name="Nieuw = oud × factor">
            <a:extLst xmlns:a="http://schemas.openxmlformats.org/drawingml/2006/main">
              <a:ext uri="{FF2B5EF4-FFF2-40B4-BE49-F238E27FC236}">
                <a16:creationId xmlns:a16="http://schemas.microsoft.com/office/drawing/2014/main" id="{7A17C284-0BF7-4F50-B5CA-9B653493445A}"/>
              </a:ext>
            </a:extLst>
          </p:cNvPr>
          <p:cNvSpPr>
            <a:spLocks xmlns:a="http://schemas.openxmlformats.org/drawingml/2006/main" noGrp="1"/>
          </p:cNvSpPr>
          <p:nvPr/>
        </p:nvSpPr>
        <p:spPr>
          <a:xfrm xmlns:a="http://schemas.openxmlformats.org/drawingml/2006/main">
            <a:off x="571500" y="6743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Nieuw = oud × factor</a:t>
            </a:r>
          </a:p>
        </p:txBody>
      </p:sp>
      <p:sp>
        <p:nvSpPr>
          <p:cNvPr id="9" name="Stijging: factor &gt; 1. Daling: factor &lt; 1.">
            <a:extLst xmlns:a="http://schemas.openxmlformats.org/drawingml/2006/main">
              <a:ext uri="{FF2B5EF4-FFF2-40B4-BE49-F238E27FC236}">
                <a16:creationId xmlns:a16="http://schemas.microsoft.com/office/drawing/2014/main" id="{057B04AB-4CAB-4CBA-9BD9-075527DC656A}"/>
              </a:ext>
            </a:extLst>
          </p:cNvPr>
          <p:cNvSpPr>
            <a:spLocks xmlns:a="http://schemas.openxmlformats.org/drawingml/2006/main" noGrp="1"/>
          </p:cNvSpPr>
          <p:nvPr/>
        </p:nvSpPr>
        <p:spPr>
          <a:xfrm xmlns:a="http://schemas.openxmlformats.org/drawingml/2006/main">
            <a:off x="571500" y="74676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Stijging: factor &gt; 1. Daling: factor &lt; 1.</a:t>
            </a:r>
          </a:p>
        </p:txBody>
      </p:sp>
    </p:spTree>
    <p:extLst>
      <p:ext uri="{BB962C8B-B14F-4D97-AF65-F5344CB8AC3E}">
        <p14:creationId xmlns:p14="http://schemas.microsoft.com/office/powerpoint/2010/main" val="14881931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dexcijfers gebruiken één vaste basis">
            <a:extLst xmlns:a="http://schemas.openxmlformats.org/drawingml/2006/main">
              <a:ext uri="{FF2B5EF4-FFF2-40B4-BE49-F238E27FC236}">
                <a16:creationId xmlns:a16="http://schemas.microsoft.com/office/drawing/2014/main" id="{49DD773C-5607-448B-A069-68910877E6D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Indexcijfers gebruiken één vaste basis</a:t>
            </a:r>
          </a:p>
        </p:txBody>
      </p:sp>
      <p:sp>
        <p:nvSpPr>
          <p:cNvPr id="2" name="">
            <a:extLst xmlns:a="http://schemas.openxmlformats.org/drawingml/2006/main">
              <a:ext uri="{FF2B5EF4-FFF2-40B4-BE49-F238E27FC236}">
                <a16:creationId xmlns:a16="http://schemas.microsoft.com/office/drawing/2014/main" id="{C3C22997-9A57-4C24-B45F-E2B2ADFF4D8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6467DBFF-CACB-4423-926E-2E5FB86B8F1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8">
            <a:extLst xmlns:a="http://schemas.openxmlformats.org/drawingml/2006/main">
              <a:ext uri="{FF2B5EF4-FFF2-40B4-BE49-F238E27FC236}">
                <a16:creationId xmlns:a16="http://schemas.microsoft.com/office/drawing/2014/main" id="{FD89F73E-33D9-4AD0-AB14-08EF4541115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6C3965D3-2E42-4D36-92D4-AF2D46256143}"/>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Filmclubpas · jaar 1 is het basisjaar">
            <a:extLst xmlns:a="http://schemas.openxmlformats.org/drawingml/2006/main">
              <a:ext uri="{FF2B5EF4-FFF2-40B4-BE49-F238E27FC236}">
                <a16:creationId xmlns:a16="http://schemas.microsoft.com/office/drawing/2014/main" id="{E1CB71AB-897E-49B3-91FD-C455FB83DB5E}"/>
              </a:ext>
            </a:extLst>
          </p:cNvPr>
          <p:cNvSpPr>
            <a:spLocks xmlns:a="http://schemas.openxmlformats.org/drawingml/2006/main" noGrp="1"/>
          </p:cNvSpPr>
          <p:nvPr/>
        </p:nvSpPr>
        <p:spPr>
          <a:xfrm xmlns:a="http://schemas.openxmlformats.org/drawingml/2006/main">
            <a:off x="571500" y="22288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Filmclubpas · jaar 1 is het basisjaar</a:t>
            </a:r>
          </a:p>
        </p:txBody>
      </p:sp>
      <p:graphicFrame>
        <p:nvGraphicFramePr>
          <p:cNvPr id="15" name=""/>
          <p:cNvGraphicFramePr/>
          <p:nvPr/>
        </p:nvGraphicFramePr>
        <p:xfrm>
          <a:off xmlns:a="http://schemas.openxmlformats.org/drawingml/2006/main" x="571500" y="3171825"/>
          <a:ext xmlns:a="http://schemas.openxmlformats.org/drawingml/2006/main" cx="14097000" cy="3248025"/>
        </p:xfrm>
        <a:graphic xmlns:a="http://schemas.openxmlformats.org/drawingml/2006/main">
          <a:graphicData uri="http://schemas.openxmlformats.org/drawingml/2006/table">
            <a:tbl>
              <a:tblPr/>
              <a:tblGrid>
                <a:gridCol w="1905000"/>
                <a:gridCol w="5238750"/>
                <a:gridCol w="6953250"/>
              </a:tblGrid>
              <a:tr h="812006">
                <a:tc>
                  <a:txBody>
                    <a:bodyPr lIns="171450" tIns="95250" rIns="152400" bIns="95250"/>
                    <a:lstStyle/>
                    <a:p>
                      <a:r>
                        <a:rPr sz="2625" b="1">
                          <a:solidFill>
                            <a:srgbClr val="FFFFFF"/>
                          </a:solidFill>
                          <a:latin typeface="Arial"/>
                          <a:ea typeface="Arial"/>
                          <a:cs typeface="Arial"/>
                        </a:rPr>
                        <a:t>Jaar</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Prijs per jaarpas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Prijsindex: jaar 1 = 100</a:t>
                      </a:r>
                    </a:p>
                  </a:txBody>
                  <a:tcPr marL="91440" marR="91440" marT="45720" marB="45720" anchor="ctr">
                    <a:solidFill>
                      <a:srgbClr val="183247"/>
                    </a:solidFill>
                  </a:tcPr>
                </a:tc>
              </a:tr>
              <a:tr h="812006">
                <a:tc>
                  <a:txBody>
                    <a:bodyPr lIns="171450" tIns="95250" rIns="152400" bIns="95250"/>
                    <a:lstStyle/>
                    <a:p>
                      <a:r>
                        <a:rPr sz="2625" b="0">
                          <a:solidFill>
                            <a:srgbClr val="183247"/>
                          </a:solidFill>
                          <a:latin typeface="Arial"/>
                          <a:ea typeface="Arial"/>
                          <a:cs typeface="Arial"/>
                        </a:rPr>
                        <a:t>1</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€ 16</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16 / 16 × 100 = 100</a:t>
                      </a:r>
                    </a:p>
                  </a:txBody>
                  <a:tcPr marL="91440" marR="91440" marT="45720" marB="45720" anchor="ctr">
                    <a:solidFill>
                      <a:srgbClr val="FFFFFF"/>
                    </a:solidFill>
                  </a:tcPr>
                </a:tc>
              </a:tr>
              <a:tr h="812006">
                <a:tc>
                  <a:txBody>
                    <a:bodyPr lIns="171450" tIns="95250" rIns="152400" bIns="95250"/>
                    <a:lstStyle/>
                    <a:p>
                      <a:r>
                        <a:rPr sz="2625" b="0">
                          <a:solidFill>
                            <a:srgbClr val="183247"/>
                          </a:solidFill>
                          <a:latin typeface="Arial"/>
                          <a:ea typeface="Arial"/>
                          <a:cs typeface="Arial"/>
                        </a:rPr>
                        <a:t>2</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€ 20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20 / 16 × 100 = 125</a:t>
                      </a:r>
                    </a:p>
                  </a:txBody>
                  <a:tcPr marL="91440" marR="91440" marT="45720" marB="45720" anchor="ctr">
                    <a:solidFill>
                      <a:srgbClr val="EFF4F7"/>
                    </a:solidFill>
                  </a:tcPr>
                </a:tc>
              </a:tr>
              <a:tr h="812006">
                <a:tc>
                  <a:txBody>
                    <a:bodyPr lIns="171450" tIns="95250" rIns="152400" bIns="95250"/>
                    <a:lstStyle/>
                    <a:p>
                      <a:r>
                        <a:rPr sz="2625" b="0">
                          <a:solidFill>
                            <a:srgbClr val="183247"/>
                          </a:solidFill>
                          <a:latin typeface="Arial"/>
                          <a:ea typeface="Arial"/>
                          <a:cs typeface="Arial"/>
                        </a:rPr>
                        <a:t>3</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€ 22</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22 / 16 × 100 = 137,5</a:t>
                      </a:r>
                    </a:p>
                  </a:txBody>
                  <a:tcPr marL="91440" marR="91440" marT="45720" marB="45720" anchor="ctr">
                    <a:solidFill>
                      <a:srgbClr val="FFFFFF"/>
                    </a:solidFill>
                  </a:tcPr>
                </a:tc>
              </a:tr>
            </a:tbl>
          </a:graphicData>
        </a:graphic>
      </p:graphicFrame>
      <p:sp>
        <p:nvSpPr>
          <p:cNvPr id="8" name="Index = waarde / basiswaarde × 100">
            <a:extLst xmlns:a="http://schemas.openxmlformats.org/drawingml/2006/main">
              <a:ext uri="{FF2B5EF4-FFF2-40B4-BE49-F238E27FC236}">
                <a16:creationId xmlns:a16="http://schemas.microsoft.com/office/drawing/2014/main" id="{6C5D453C-A6A0-46C4-A74B-4AFCE8ABD153}"/>
              </a:ext>
            </a:extLst>
          </p:cNvPr>
          <p:cNvSpPr>
            <a:spLocks xmlns:a="http://schemas.openxmlformats.org/drawingml/2006/main" noGrp="1"/>
          </p:cNvSpPr>
          <p:nvPr/>
        </p:nvSpPr>
        <p:spPr>
          <a:xfrm xmlns:a="http://schemas.openxmlformats.org/drawingml/2006/main">
            <a:off x="571500" y="69246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Index = waarde / basiswaarde × 100</a:t>
            </a:r>
          </a:p>
        </p:txBody>
      </p:sp>
    </p:spTree>
    <p:extLst>
      <p:ext uri="{BB962C8B-B14F-4D97-AF65-F5344CB8AC3E}">
        <p14:creationId xmlns:p14="http://schemas.microsoft.com/office/powerpoint/2010/main" val="3282677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ndexpunten en procentuele verandering">
            <a:extLst xmlns:a="http://schemas.openxmlformats.org/drawingml/2006/main">
              <a:ext uri="{FF2B5EF4-FFF2-40B4-BE49-F238E27FC236}">
                <a16:creationId xmlns:a16="http://schemas.microsoft.com/office/drawing/2014/main" id="{89B69CBA-594A-49E4-A30D-80D6FBA19B6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Indexpunten en procentuele verandering</a:t>
            </a:r>
          </a:p>
        </p:txBody>
      </p:sp>
      <p:sp>
        <p:nvSpPr>
          <p:cNvPr id="2" name="">
            <a:extLst xmlns:a="http://schemas.openxmlformats.org/drawingml/2006/main">
              <a:ext uri="{FF2B5EF4-FFF2-40B4-BE49-F238E27FC236}">
                <a16:creationId xmlns:a16="http://schemas.microsoft.com/office/drawing/2014/main" id="{57AF8363-6966-4043-8E7C-B968614756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FBECD057-B791-4397-A234-0E7AE405FE4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9">
            <a:extLst xmlns:a="http://schemas.openxmlformats.org/drawingml/2006/main">
              <a:ext uri="{FF2B5EF4-FFF2-40B4-BE49-F238E27FC236}">
                <a16:creationId xmlns:a16="http://schemas.microsoft.com/office/drawing/2014/main" id="{79D4EC30-5DB1-4110-81B7-399575B6BC7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68A2428C-8DC4-4B63-95D1-B4336DAF6326}"/>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247900"/>
          <a:ext xmlns:a="http://schemas.openxmlformats.org/drawingml/2006/main" cx="14097000" cy="1790700"/>
        </p:xfrm>
        <a:graphic xmlns:a="http://schemas.openxmlformats.org/drawingml/2006/main">
          <a:graphicData uri="http://schemas.openxmlformats.org/drawingml/2006/table">
            <a:tbl>
              <a:tblPr/>
              <a:tblGrid>
                <a:gridCol w="7620000"/>
                <a:gridCol w="3238500"/>
                <a:gridCol w="3238500"/>
              </a:tblGrid>
              <a:tr h="895350">
                <a:tc>
                  <a:txBody>
                    <a:bodyPr lIns="171450" tIns="95250" rIns="152400" bIns="95250"/>
                    <a:lstStyle/>
                    <a:p>
                      <a:r>
                        <a:rPr sz="2700" b="1">
                          <a:solidFill>
                            <a:srgbClr val="FFFFFF"/>
                          </a:solidFill>
                          <a:latin typeface="Arial"/>
                          <a:ea typeface="Arial"/>
                          <a:cs typeface="Arial"/>
                        </a:rPr>
                        <a:t>Filmclubpas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Jaar 2</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Jaar 3</a:t>
                      </a:r>
                    </a:p>
                  </a:txBody>
                  <a:tcPr marL="91440" marR="91440" marT="45720" marB="45720" anchor="ctr">
                    <a:solidFill>
                      <a:srgbClr val="183247"/>
                    </a:solidFill>
                  </a:tcPr>
                </a:tc>
              </a:tr>
              <a:tr h="895350">
                <a:tc>
                  <a:txBody>
                    <a:bodyPr lIns="171450" tIns="95250" rIns="152400" bIns="95250"/>
                    <a:lstStyle/>
                    <a:p>
                      <a:r>
                        <a:rPr sz="2700" b="0">
                          <a:solidFill>
                            <a:srgbClr val="183247"/>
                          </a:solidFill>
                          <a:latin typeface="Arial"/>
                          <a:ea typeface="Arial"/>
                          <a:cs typeface="Arial"/>
                        </a:rPr>
                        <a:t>Prijsindex: jaar 1 = 100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125</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137,5</a:t>
                      </a:r>
                    </a:p>
                  </a:txBody>
                  <a:tcPr marL="91440" marR="91440" marT="45720" marB="45720" anchor="ctr">
                    <a:solidFill>
                      <a:srgbClr val="FFFFFF"/>
                    </a:solidFill>
                  </a:tcPr>
                </a:tc>
              </a:tr>
            </a:tbl>
          </a:graphicData>
        </a:graphic>
      </p:graphicFrame>
      <p:sp>
        <p:nvSpPr>
          <p:cNvPr id="7" name="Verschil: 137,5 − 125 = 12,5 indexpunten">
            <a:extLst xmlns:a="http://schemas.openxmlformats.org/drawingml/2006/main">
              <a:ext uri="{FF2B5EF4-FFF2-40B4-BE49-F238E27FC236}">
                <a16:creationId xmlns:a16="http://schemas.microsoft.com/office/drawing/2014/main" id="{8F632097-283C-4619-A312-C6A0F113944E}"/>
              </a:ext>
            </a:extLst>
          </p:cNvPr>
          <p:cNvSpPr>
            <a:spLocks xmlns:a="http://schemas.openxmlformats.org/drawingml/2006/main" noGrp="1"/>
          </p:cNvSpPr>
          <p:nvPr/>
        </p:nvSpPr>
        <p:spPr>
          <a:xfrm xmlns:a="http://schemas.openxmlformats.org/drawingml/2006/main">
            <a:off x="571500" y="45624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Verschil: 137,5 − 125 = 12,5 indexpunten</a:t>
            </a:r>
          </a:p>
        </p:txBody>
      </p:sp>
      <p:sp>
        <p:nvSpPr>
          <p:cNvPr id="8" name="Verandering vanaf jaar 2: oud = 125">
            <a:extLst xmlns:a="http://schemas.openxmlformats.org/drawingml/2006/main">
              <a:ext uri="{FF2B5EF4-FFF2-40B4-BE49-F238E27FC236}">
                <a16:creationId xmlns:a16="http://schemas.microsoft.com/office/drawing/2014/main" id="{1D0F7225-DEF6-4729-95C9-33BEEB2C4AA6}"/>
              </a:ext>
            </a:extLst>
          </p:cNvPr>
          <p:cNvSpPr>
            <a:spLocks xmlns:a="http://schemas.openxmlformats.org/drawingml/2006/main" noGrp="1"/>
          </p:cNvSpPr>
          <p:nvPr/>
        </p:nvSpPr>
        <p:spPr>
          <a:xfrm xmlns:a="http://schemas.openxmlformats.org/drawingml/2006/main">
            <a:off x="571500" y="56292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Verandering vanaf jaar 2: oud = 125</a:t>
            </a:r>
          </a:p>
        </p:txBody>
      </p:sp>
      <p:sp>
        <p:nvSpPr>
          <p:cNvPr id="9" name="(137,5 − 125) / 125 × 100% = 10%">
            <a:extLst xmlns:a="http://schemas.openxmlformats.org/drawingml/2006/main">
              <a:ext uri="{FF2B5EF4-FFF2-40B4-BE49-F238E27FC236}">
                <a16:creationId xmlns:a16="http://schemas.microsoft.com/office/drawing/2014/main" id="{7BFDD791-9FC1-425A-875A-B3F95ECBA049}"/>
              </a:ext>
            </a:extLst>
          </p:cNvPr>
          <p:cNvSpPr>
            <a:spLocks xmlns:a="http://schemas.openxmlformats.org/drawingml/2006/main" noGrp="1"/>
          </p:cNvSpPr>
          <p:nvPr/>
        </p:nvSpPr>
        <p:spPr>
          <a:xfrm xmlns:a="http://schemas.openxmlformats.org/drawingml/2006/main">
            <a:off x="571500" y="648652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(137,5 − 125) / 125 × 100% = 10%</a:t>
            </a:r>
          </a:p>
        </p:txBody>
      </p:sp>
    </p:spTree>
    <p:extLst>
      <p:ext uri="{BB962C8B-B14F-4D97-AF65-F5344CB8AC3E}">
        <p14:creationId xmlns:p14="http://schemas.microsoft.com/office/powerpoint/2010/main" val="9158410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an index terug naar een bedrag">
            <a:extLst xmlns:a="http://schemas.openxmlformats.org/drawingml/2006/main">
              <a:ext uri="{FF2B5EF4-FFF2-40B4-BE49-F238E27FC236}">
                <a16:creationId xmlns:a16="http://schemas.microsoft.com/office/drawing/2014/main" id="{73FC18F8-BF87-4E99-9607-A4554A0F6D9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Van index terug naar een bedrag</a:t>
            </a:r>
          </a:p>
        </p:txBody>
      </p:sp>
      <p:sp>
        <p:nvSpPr>
          <p:cNvPr id="2" name="">
            <a:extLst xmlns:a="http://schemas.openxmlformats.org/drawingml/2006/main">
              <a:ext uri="{FF2B5EF4-FFF2-40B4-BE49-F238E27FC236}">
                <a16:creationId xmlns:a16="http://schemas.microsoft.com/office/drawing/2014/main" id="{62768A6C-FF0B-4382-8650-4ABC4C8BA0E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ABA08B04-1262-4543-A6FA-D36A25BAE89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0">
            <a:extLst xmlns:a="http://schemas.openxmlformats.org/drawingml/2006/main">
              <a:ext uri="{FF2B5EF4-FFF2-40B4-BE49-F238E27FC236}">
                <a16:creationId xmlns:a16="http://schemas.microsoft.com/office/drawing/2014/main" id="{36DE7287-4153-4A44-A349-47E1B37F8D2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DAF37229-0A9C-4DF9-9902-883D8E7BC70A}"/>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Filmclubpas · basisprijs € 16 · prijsindex 137,5">
            <a:extLst xmlns:a="http://schemas.openxmlformats.org/drawingml/2006/main">
              <a:ext uri="{FF2B5EF4-FFF2-40B4-BE49-F238E27FC236}">
                <a16:creationId xmlns:a16="http://schemas.microsoft.com/office/drawing/2014/main" id="{997FF941-4CFA-4DD1-BA30-DCACAFE279F1}"/>
              </a:ext>
            </a:extLst>
          </p:cNvPr>
          <p:cNvSpPr>
            <a:spLocks xmlns:a="http://schemas.openxmlformats.org/drawingml/2006/main" noGrp="1"/>
          </p:cNvSpPr>
          <p:nvPr/>
        </p:nvSpPr>
        <p:spPr>
          <a:xfrm xmlns:a="http://schemas.openxmlformats.org/drawingml/2006/main">
            <a:off x="571500" y="22860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Filmclubpas · basisprijs € 16 · prijsindex 137,5</a:t>
            </a:r>
          </a:p>
        </p:txBody>
      </p:sp>
      <p:sp>
        <p:nvSpPr>
          <p:cNvPr id="7" name="Bedrag = basiswaarde × index / 100">
            <a:extLst xmlns:a="http://schemas.openxmlformats.org/drawingml/2006/main">
              <a:ext uri="{FF2B5EF4-FFF2-40B4-BE49-F238E27FC236}">
                <a16:creationId xmlns:a16="http://schemas.microsoft.com/office/drawing/2014/main" id="{F9735D17-0F4C-44BD-B764-110EBDD7B0D9}"/>
              </a:ext>
            </a:extLst>
          </p:cNvPr>
          <p:cNvSpPr>
            <a:spLocks xmlns:a="http://schemas.openxmlformats.org/drawingml/2006/main" noGrp="1"/>
          </p:cNvSpPr>
          <p:nvPr/>
        </p:nvSpPr>
        <p:spPr>
          <a:xfrm xmlns:a="http://schemas.openxmlformats.org/drawingml/2006/main">
            <a:off x="571500" y="354330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Bedrag = basiswaarde × index / 100</a:t>
            </a:r>
          </a:p>
        </p:txBody>
      </p:sp>
      <p:sp>
        <p:nvSpPr>
          <p:cNvPr id="8" name="€ 16 × 137,5 / 100 = € 22">
            <a:extLst xmlns:a="http://schemas.openxmlformats.org/drawingml/2006/main">
              <a:ext uri="{FF2B5EF4-FFF2-40B4-BE49-F238E27FC236}">
                <a16:creationId xmlns:a16="http://schemas.microsoft.com/office/drawing/2014/main" id="{E48FB438-6F7E-430C-AE9F-E10FFCC80DF7}"/>
              </a:ext>
            </a:extLst>
          </p:cNvPr>
          <p:cNvSpPr>
            <a:spLocks xmlns:a="http://schemas.openxmlformats.org/drawingml/2006/main" noGrp="1"/>
          </p:cNvSpPr>
          <p:nvPr/>
        </p:nvSpPr>
        <p:spPr>
          <a:xfrm xmlns:a="http://schemas.openxmlformats.org/drawingml/2006/main">
            <a:off x="571500" y="46863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83247"/>
                </a:solidFill>
                <a:latin typeface="Arial"/>
                <a:ea typeface="Arial"/>
                <a:cs typeface="Arial"/>
              </a:defRPr>
            </a:pPr>
            <a:r>
              <a:rPr sz="4125" b="1">
                <a:solidFill>
                  <a:srgbClr val="183247"/>
                </a:solidFill>
                <a:latin typeface="Arial"/>
                <a:ea typeface="Arial"/>
                <a:cs typeface="Arial"/>
              </a:rPr>
              <a:t>€ 16 × 137,5 / 100 = € 22</a:t>
            </a:r>
          </a:p>
        </p:txBody>
      </p:sp>
      <p:sp>
        <p:nvSpPr>
          <p:cNvPr id="9" name="Controle: 22 / 16 × 100 = 137,5">
            <a:extLst xmlns:a="http://schemas.openxmlformats.org/drawingml/2006/main">
              <a:ext uri="{FF2B5EF4-FFF2-40B4-BE49-F238E27FC236}">
                <a16:creationId xmlns:a16="http://schemas.microsoft.com/office/drawing/2014/main" id="{0FD416B9-707E-4D32-B517-3F0D7BAB9140}"/>
              </a:ext>
            </a:extLst>
          </p:cNvPr>
          <p:cNvSpPr>
            <a:spLocks xmlns:a="http://schemas.openxmlformats.org/drawingml/2006/main" noGrp="1"/>
          </p:cNvSpPr>
          <p:nvPr/>
        </p:nvSpPr>
        <p:spPr>
          <a:xfrm xmlns:a="http://schemas.openxmlformats.org/drawingml/2006/main">
            <a:off x="571500" y="64389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20665B"/>
                </a:solidFill>
                <a:latin typeface="Arial"/>
                <a:ea typeface="Arial"/>
                <a:cs typeface="Arial"/>
              </a:defRPr>
            </a:pPr>
            <a:r>
              <a:rPr sz="3000" b="0">
                <a:solidFill>
                  <a:srgbClr val="20665B"/>
                </a:solidFill>
                <a:latin typeface="Arial"/>
                <a:ea typeface="Arial"/>
                <a:cs typeface="Arial"/>
              </a:rPr>
              <a:t>Controle: 22 / 16 × 100 = 137,5</a:t>
            </a:r>
          </a:p>
        </p:txBody>
      </p:sp>
    </p:spTree>
    <p:extLst>
      <p:ext uri="{BB962C8B-B14F-4D97-AF65-F5344CB8AC3E}">
        <p14:creationId xmlns:p14="http://schemas.microsoft.com/office/powerpoint/2010/main" val="649887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en aandeel gebruikt het geheel van dat jaar">
            <a:extLst xmlns:a="http://schemas.openxmlformats.org/drawingml/2006/main">
              <a:ext uri="{FF2B5EF4-FFF2-40B4-BE49-F238E27FC236}">
                <a16:creationId xmlns:a16="http://schemas.microsoft.com/office/drawing/2014/main" id="{BBDAC125-DAE1-4B6F-8F7D-B8D4EB6EC52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aandeel gebruikt het geheel van dat jaar</a:t>
            </a:r>
          </a:p>
        </p:txBody>
      </p:sp>
      <p:sp>
        <p:nvSpPr>
          <p:cNvPr id="2" name="">
            <a:extLst xmlns:a="http://schemas.openxmlformats.org/drawingml/2006/main">
              <a:ext uri="{FF2B5EF4-FFF2-40B4-BE49-F238E27FC236}">
                <a16:creationId xmlns:a16="http://schemas.microsoft.com/office/drawing/2014/main" id="{314F7989-F522-4743-8083-F6A939E373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EF7E5EC5-3324-4C61-BD38-E2E86FCD52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1">
            <a:extLst xmlns:a="http://schemas.openxmlformats.org/drawingml/2006/main">
              <a:ext uri="{FF2B5EF4-FFF2-40B4-BE49-F238E27FC236}">
                <a16:creationId xmlns:a16="http://schemas.microsoft.com/office/drawing/2014/main" id="{A5D41855-1E2A-4A59-8A4D-C4639E36179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12ABE473-E689-47B1-81C9-5E0FF9071105}"/>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257425"/>
          <a:ext xmlns:a="http://schemas.openxmlformats.org/drawingml/2006/main" cx="14097000" cy="3552825"/>
        </p:xfrm>
        <a:graphic xmlns:a="http://schemas.openxmlformats.org/drawingml/2006/main">
          <a:graphicData uri="http://schemas.openxmlformats.org/drawingml/2006/table">
            <a:tbl>
              <a:tblPr/>
              <a:tblGrid>
                <a:gridCol w="5524500"/>
                <a:gridCol w="4286250"/>
                <a:gridCol w="4286250"/>
              </a:tblGrid>
              <a:tr h="888206">
                <a:tc>
                  <a:txBody>
                    <a:bodyPr lIns="171450" tIns="95250" rIns="152400" bIns="95250"/>
                    <a:lstStyle/>
                    <a:p>
                      <a:r>
                        <a:rPr sz="2475" b="1">
                          <a:solidFill>
                            <a:srgbClr val="FFFFFF"/>
                          </a:solidFill>
                          <a:latin typeface="Arial"/>
                          <a:ea typeface="Arial"/>
                          <a:cs typeface="Arial"/>
                        </a:rPr>
                        <a:t>Filmclub</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Jaar 1</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Jaar 3</a:t>
                      </a:r>
                    </a:p>
                  </a:txBody>
                  <a:tcPr marL="91440" marR="91440" marT="45720" marB="45720" anchor="ctr">
                    <a:solidFill>
                      <a:srgbClr val="183247"/>
                    </a:solidFill>
                  </a:tcPr>
                </a:tc>
              </a:tr>
              <a:tr h="888206">
                <a:tc>
                  <a:txBody>
                    <a:bodyPr lIns="171450" tIns="95250" rIns="152400" bIns="95250"/>
                    <a:lstStyle/>
                    <a:p>
                      <a:r>
                        <a:rPr sz="2475" b="0">
                          <a:solidFill>
                            <a:srgbClr val="183247"/>
                          </a:solidFill>
                          <a:latin typeface="Arial"/>
                          <a:ea typeface="Arial"/>
                          <a:cs typeface="Arial"/>
                        </a:rPr>
                        <a:t>Alle leerlingen in de groep</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160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200</a:t>
                      </a:r>
                    </a:p>
                  </a:txBody>
                  <a:tcPr marL="91440" marR="91440" marT="45720" marB="45720" anchor="ctr">
                    <a:solidFill>
                      <a:srgbClr val="FFFFFF"/>
                    </a:solidFill>
                  </a:tcPr>
                </a:tc>
              </a:tr>
              <a:tr h="888206">
                <a:tc>
                  <a:txBody>
                    <a:bodyPr lIns="171450" tIns="95250" rIns="152400" bIns="95250"/>
                    <a:lstStyle/>
                    <a:p>
                      <a:r>
                        <a:rPr sz="2475" b="0">
                          <a:solidFill>
                            <a:srgbClr val="183247"/>
                          </a:solidFill>
                          <a:latin typeface="Arial"/>
                          <a:ea typeface="Arial"/>
                          <a:cs typeface="Arial"/>
                        </a:rPr>
                        <a:t>Leden van de filmclub</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60</a:t>
                      </a:r>
                    </a:p>
                  </a:txBody>
                  <a:tcPr marL="91440" marR="91440" marT="45720" marB="45720" anchor="ctr">
                    <a:solidFill>
                      <a:srgbClr val="EFF4F7"/>
                    </a:solidFill>
                  </a:tcPr>
                </a:tc>
              </a:tr>
              <a:tr h="888206">
                <a:tc>
                  <a:txBody>
                    <a:bodyPr lIns="171450" tIns="95250" rIns="152400" bIns="95250"/>
                    <a:lstStyle/>
                    <a:p>
                      <a:r>
                        <a:rPr sz="2475" b="0">
                          <a:solidFill>
                            <a:srgbClr val="183247"/>
                          </a:solidFill>
                          <a:latin typeface="Arial"/>
                          <a:ea typeface="Arial"/>
                          <a:cs typeface="Arial"/>
                        </a:rPr>
                        <a:t>Aandeel leden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 / 160 × 100% = 25%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60 / 200 × 100% = 30%</a:t>
                      </a:r>
                    </a:p>
                  </a:txBody>
                  <a:tcPr marL="91440" marR="91440" marT="45720" marB="45720" anchor="ctr">
                    <a:solidFill>
                      <a:srgbClr val="FFFFFF"/>
                    </a:solidFill>
                  </a:tcPr>
                </a:tc>
              </a:tr>
            </a:tbl>
          </a:graphicData>
        </a:graphic>
      </p:graphicFrame>
      <p:sp>
        <p:nvSpPr>
          <p:cNvPr id="7" name="Vergelijk leden met alle leerlingen van hetzelfde ">
            <a:extLst xmlns:a="http://schemas.openxmlformats.org/drawingml/2006/main">
              <a:ext uri="{FF2B5EF4-FFF2-40B4-BE49-F238E27FC236}">
                <a16:creationId xmlns:a16="http://schemas.microsoft.com/office/drawing/2014/main" id="{45FF90DF-5160-4B94-A2A9-9EAD96B8F602}"/>
              </a:ext>
            </a:extLst>
          </p:cNvPr>
          <p:cNvSpPr>
            <a:spLocks xmlns:a="http://schemas.openxmlformats.org/drawingml/2006/main" noGrp="1"/>
          </p:cNvSpPr>
          <p:nvPr/>
        </p:nvSpPr>
        <p:spPr>
          <a:xfrm xmlns:a="http://schemas.openxmlformats.org/drawingml/2006/main">
            <a:off x="571500" y="6524625"/>
            <a:ext cx="1409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Vergelijk leden met alle leerlingen van hetzelfde jaar.</a:t>
            </a:r>
          </a:p>
        </p:txBody>
      </p:sp>
    </p:spTree>
    <p:extLst>
      <p:ext uri="{BB962C8B-B14F-4D97-AF65-F5344CB8AC3E}">
        <p14:creationId xmlns:p14="http://schemas.microsoft.com/office/powerpoint/2010/main" val="17178390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ocentpunten en procenten bij een aandeel">
            <a:extLst xmlns:a="http://schemas.openxmlformats.org/drawingml/2006/main">
              <a:ext uri="{FF2B5EF4-FFF2-40B4-BE49-F238E27FC236}">
                <a16:creationId xmlns:a16="http://schemas.microsoft.com/office/drawing/2014/main" id="{601C7C57-30AF-4A00-AAF8-D2B81FFBDA5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Procentpunten en procenten bij een aandeel</a:t>
            </a:r>
          </a:p>
        </p:txBody>
      </p:sp>
      <p:sp>
        <p:nvSpPr>
          <p:cNvPr id="2" name="">
            <a:extLst xmlns:a="http://schemas.openxmlformats.org/drawingml/2006/main">
              <a:ext uri="{FF2B5EF4-FFF2-40B4-BE49-F238E27FC236}">
                <a16:creationId xmlns:a16="http://schemas.microsoft.com/office/drawing/2014/main" id="{B5829E5F-E306-4167-88AB-EA2BA4DB84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387D796A-C006-43C4-AB97-5F58F32020B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2">
            <a:extLst xmlns:a="http://schemas.openxmlformats.org/drawingml/2006/main">
              <a:ext uri="{FF2B5EF4-FFF2-40B4-BE49-F238E27FC236}">
                <a16:creationId xmlns:a16="http://schemas.microsoft.com/office/drawing/2014/main" id="{66BB80B4-E356-47E3-9B76-7B5F9AF452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A81394D8-AEA2-405B-AB4B-DB4D61ED3754}"/>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Filmclub: aandeel leden van 25% naar 30%">
            <a:extLst xmlns:a="http://schemas.openxmlformats.org/drawingml/2006/main">
              <a:ext uri="{FF2B5EF4-FFF2-40B4-BE49-F238E27FC236}">
                <a16:creationId xmlns:a16="http://schemas.microsoft.com/office/drawing/2014/main" id="{19BC5F7F-AC15-43CC-84B0-B5C97697A554}"/>
              </a:ext>
            </a:extLst>
          </p:cNvPr>
          <p:cNvSpPr>
            <a:spLocks xmlns:a="http://schemas.openxmlformats.org/drawingml/2006/main" noGrp="1"/>
          </p:cNvSpPr>
          <p:nvPr/>
        </p:nvSpPr>
        <p:spPr>
          <a:xfrm xmlns:a="http://schemas.openxmlformats.org/drawingml/2006/main">
            <a:off x="571500" y="22669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Filmclub: aandeel leden van 25% naar 30%</a:t>
            </a:r>
          </a:p>
        </p:txBody>
      </p:sp>
      <p:graphicFrame>
        <p:nvGraphicFramePr>
          <p:cNvPr id="15" name=""/>
          <p:cNvGraphicFramePr/>
          <p:nvPr/>
        </p:nvGraphicFramePr>
        <p:xfrm>
          <a:off xmlns:a="http://schemas.openxmlformats.org/drawingml/2006/main" x="571500" y="3486150"/>
          <a:ext xmlns:a="http://schemas.openxmlformats.org/drawingml/2006/main" cx="14097000" cy="2762250"/>
        </p:xfrm>
        <a:graphic xmlns:a="http://schemas.openxmlformats.org/drawingml/2006/main">
          <a:graphicData uri="http://schemas.openxmlformats.org/drawingml/2006/table">
            <a:tbl>
              <a:tblPr/>
              <a:tblGrid>
                <a:gridCol w="5048250"/>
                <a:gridCol w="4953000"/>
                <a:gridCol w="4095750"/>
              </a:tblGrid>
              <a:tr h="920750">
                <a:tc>
                  <a:txBody>
                    <a:bodyPr lIns="171450" tIns="95250" rIns="152400" bIns="95250"/>
                    <a:lstStyle/>
                    <a:p>
                      <a:r>
                        <a:rPr sz="2475" b="1">
                          <a:solidFill>
                            <a:srgbClr val="FFFFFF"/>
                          </a:solidFill>
                          <a:latin typeface="Arial"/>
                          <a:ea typeface="Arial"/>
                          <a:cs typeface="Arial"/>
                        </a:rPr>
                        <a:t>Wat vergelijk je?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Uitkomst</a:t>
                      </a:r>
                    </a:p>
                  </a:txBody>
                  <a:tcPr marL="91440" marR="91440" marT="45720" marB="45720" anchor="ctr">
                    <a:solidFill>
                      <a:srgbClr val="183247"/>
                    </a:solidFill>
                  </a:tcPr>
                </a:tc>
              </a:tr>
              <a:tr h="920750">
                <a:tc>
                  <a:txBody>
                    <a:bodyPr lIns="171450" tIns="95250" rIns="152400" bIns="95250"/>
                    <a:lstStyle/>
                    <a:p>
                      <a:r>
                        <a:rPr sz="2475" b="0">
                          <a:solidFill>
                            <a:srgbClr val="183247"/>
                          </a:solidFill>
                          <a:latin typeface="Arial"/>
                          <a:ea typeface="Arial"/>
                          <a:cs typeface="Arial"/>
                        </a:rPr>
                        <a:t>Verschil tussen percentages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30 − 25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 procentpunten</a:t>
                      </a:r>
                    </a:p>
                  </a:txBody>
                  <a:tcPr marL="91440" marR="91440" marT="45720" marB="45720" anchor="ctr">
                    <a:solidFill>
                      <a:srgbClr val="FFFFFF"/>
                    </a:solidFill>
                  </a:tcPr>
                </a:tc>
              </a:tr>
              <a:tr h="920750">
                <a:tc>
                  <a:txBody>
                    <a:bodyPr lIns="171450" tIns="95250" rIns="152400" bIns="95250"/>
                    <a:lstStyle/>
                    <a:p>
                      <a:r>
                        <a:rPr sz="2475" b="0">
                          <a:solidFill>
                            <a:srgbClr val="183247"/>
                          </a:solidFill>
                          <a:latin typeface="Arial"/>
                          <a:ea typeface="Arial"/>
                          <a:cs typeface="Arial"/>
                        </a:rPr>
                        <a:t>Groei t.o.v. het oude aandeel</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(30 − 25) / 25 × 100%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+20%</a:t>
                      </a:r>
                    </a:p>
                  </a:txBody>
                  <a:tcPr marL="91440" marR="91440" marT="45720" marB="45720" anchor="ctr">
                    <a:solidFill>
                      <a:srgbClr val="EFF4F7"/>
                    </a:solidFill>
                  </a:tcPr>
                </a:tc>
              </a:tr>
            </a:tbl>
          </a:graphicData>
        </a:graphic>
      </p:graphicFrame>
      <p:sp>
        <p:nvSpPr>
          <p:cNvPr id="8" name="Hetzelfde aandeel; twee verschillende beschrijving">
            <a:extLst xmlns:a="http://schemas.openxmlformats.org/drawingml/2006/main">
              <a:ext uri="{FF2B5EF4-FFF2-40B4-BE49-F238E27FC236}">
                <a16:creationId xmlns:a16="http://schemas.microsoft.com/office/drawing/2014/main" id="{EC087914-D3A2-4754-AE80-A3AC49E7C510}"/>
              </a:ext>
            </a:extLst>
          </p:cNvPr>
          <p:cNvSpPr>
            <a:spLocks xmlns:a="http://schemas.openxmlformats.org/drawingml/2006/main" noGrp="1"/>
          </p:cNvSpPr>
          <p:nvPr/>
        </p:nvSpPr>
        <p:spPr>
          <a:xfrm xmlns:a="http://schemas.openxmlformats.org/drawingml/2006/main">
            <a:off x="571500" y="69246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Hetzelfde aandeel; twee verschillende beschrijvingen.</a:t>
            </a:r>
          </a:p>
        </p:txBody>
      </p:sp>
    </p:spTree>
    <p:extLst>
      <p:ext uri="{BB962C8B-B14F-4D97-AF65-F5344CB8AC3E}">
        <p14:creationId xmlns:p14="http://schemas.microsoft.com/office/powerpoint/2010/main" val="15411093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roepsgrootte en aandeel veranderen samen">
            <a:extLst xmlns:a="http://schemas.openxmlformats.org/drawingml/2006/main">
              <a:ext uri="{FF2B5EF4-FFF2-40B4-BE49-F238E27FC236}">
                <a16:creationId xmlns:a16="http://schemas.microsoft.com/office/drawing/2014/main" id="{1536D176-0E2A-4CD2-A14E-9508DA2932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Groepsgrootte en aandeel veranderen samen</a:t>
            </a:r>
          </a:p>
        </p:txBody>
      </p:sp>
      <p:sp>
        <p:nvSpPr>
          <p:cNvPr id="2" name="">
            <a:extLst xmlns:a="http://schemas.openxmlformats.org/drawingml/2006/main">
              <a:ext uri="{FF2B5EF4-FFF2-40B4-BE49-F238E27FC236}">
                <a16:creationId xmlns:a16="http://schemas.microsoft.com/office/drawing/2014/main" id="{3E60006B-FA92-4EB8-BEEF-6878427F5B2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18CC26E7-90AD-40F9-A892-0788D3E1CFC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3">
            <a:extLst xmlns:a="http://schemas.openxmlformats.org/drawingml/2006/main">
              <a:ext uri="{FF2B5EF4-FFF2-40B4-BE49-F238E27FC236}">
                <a16:creationId xmlns:a16="http://schemas.microsoft.com/office/drawing/2014/main" id="{C1274758-A328-4AC3-B84F-FEAB79C2AC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4DFE3B30-EB4F-4362-BCBC-1055A10E8ABC}"/>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219325"/>
          <a:ext xmlns:a="http://schemas.openxmlformats.org/drawingml/2006/main" cx="14097000" cy="3762375"/>
        </p:xfrm>
        <a:graphic xmlns:a="http://schemas.openxmlformats.org/drawingml/2006/main">
          <a:graphicData uri="http://schemas.openxmlformats.org/drawingml/2006/table">
            <a:tbl>
              <a:tblPr/>
              <a:tblGrid>
                <a:gridCol w="5429250"/>
                <a:gridCol w="1905000"/>
                <a:gridCol w="1905000"/>
                <a:gridCol w="4857750"/>
              </a:tblGrid>
              <a:tr h="752475">
                <a:tc>
                  <a:txBody>
                    <a:bodyPr lIns="171450" tIns="95250" rIns="152400" bIns="95250"/>
                    <a:lstStyle/>
                    <a:p>
                      <a:r>
                        <a:rPr sz="2400" b="1">
                          <a:solidFill>
                            <a:srgbClr val="FFFFFF"/>
                          </a:solidFill>
                          <a:latin typeface="Arial"/>
                          <a:ea typeface="Arial"/>
                          <a:cs typeface="Arial"/>
                        </a:rPr>
                        <a:t>Filmclub: vergelijking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Aandeel</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Aantal leden</a:t>
                      </a:r>
                    </a:p>
                  </a:txBody>
                  <a:tcPr marL="91440" marR="91440" marT="45720" marB="45720" anchor="ctr">
                    <a:solidFill>
                      <a:srgbClr val="183247"/>
                    </a:solidFill>
                  </a:tcPr>
                </a:tc>
              </a:tr>
              <a:tr h="752475">
                <a:tc>
                  <a:txBody>
                    <a:bodyPr lIns="171450" tIns="95250" rIns="152400" bIns="95250"/>
                    <a:lstStyle/>
                    <a:p>
                      <a:r>
                        <a:rPr sz="2400" b="0">
                          <a:solidFill>
                            <a:srgbClr val="183247"/>
                          </a:solidFill>
                          <a:latin typeface="Arial"/>
                          <a:ea typeface="Arial"/>
                          <a:cs typeface="Arial"/>
                        </a:rPr>
                        <a:t>Oude situatie</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160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25%</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0,25 × 160 = 40</a:t>
                      </a:r>
                    </a:p>
                  </a:txBody>
                  <a:tcPr marL="91440" marR="91440" marT="45720" marB="45720" anchor="ctr">
                    <a:solidFill>
                      <a:srgbClr val="FFFFFF"/>
                    </a:solidFill>
                  </a:tcPr>
                </a:tc>
              </a:tr>
              <a:tr h="752475">
                <a:tc>
                  <a:txBody>
                    <a:bodyPr lIns="171450" tIns="95250" rIns="152400" bIns="95250"/>
                    <a:lstStyle/>
                    <a:p>
                      <a:r>
                        <a:rPr sz="2400" b="0">
                          <a:solidFill>
                            <a:srgbClr val="183247"/>
                          </a:solidFill>
                          <a:latin typeface="Arial"/>
                          <a:ea typeface="Arial"/>
                          <a:cs typeface="Arial"/>
                        </a:rPr>
                        <a:t>Alleen hoger aandeel</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160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0,30 × 160 = 48</a:t>
                      </a:r>
                    </a:p>
                  </a:txBody>
                  <a:tcPr marL="91440" marR="91440" marT="45720" marB="45720" anchor="ctr">
                    <a:solidFill>
                      <a:srgbClr val="EFF4F7"/>
                    </a:solidFill>
                  </a:tcPr>
                </a:tc>
              </a:tr>
              <a:tr h="752475">
                <a:tc>
                  <a:txBody>
                    <a:bodyPr lIns="171450" tIns="95250" rIns="152400" bIns="95250"/>
                    <a:lstStyle/>
                    <a:p>
                      <a:r>
                        <a:rPr sz="2400" b="0">
                          <a:solidFill>
                            <a:srgbClr val="183247"/>
                          </a:solidFill>
                          <a:latin typeface="Arial"/>
                          <a:ea typeface="Arial"/>
                          <a:cs typeface="Arial"/>
                        </a:rPr>
                        <a:t>Alleen grotere groep</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25%</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0,25 × 200 = 50</a:t>
                      </a:r>
                    </a:p>
                  </a:txBody>
                  <a:tcPr marL="91440" marR="91440" marT="45720" marB="45720" anchor="ctr">
                    <a:solidFill>
                      <a:srgbClr val="FFFFFF"/>
                    </a:solidFill>
                  </a:tcPr>
                </a:tc>
              </a:tr>
              <a:tr h="752475">
                <a:tc>
                  <a:txBody>
                    <a:bodyPr lIns="171450" tIns="95250" rIns="152400" bIns="95250"/>
                    <a:lstStyle/>
                    <a:p>
                      <a:r>
                        <a:rPr sz="2400" b="0">
                          <a:solidFill>
                            <a:srgbClr val="183247"/>
                          </a:solidFill>
                          <a:latin typeface="Arial"/>
                          <a:ea typeface="Arial"/>
                          <a:cs typeface="Arial"/>
                        </a:rPr>
                        <a:t>Beide veranderingen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0,30 × 200 = 60</a:t>
                      </a:r>
                    </a:p>
                  </a:txBody>
                  <a:tcPr marL="91440" marR="91440" marT="45720" marB="45720" anchor="ctr">
                    <a:solidFill>
                      <a:srgbClr val="EFF4F7"/>
                    </a:solidFill>
                  </a:tcPr>
                </a:tc>
              </a:tr>
            </a:tbl>
          </a:graphicData>
        </a:graphic>
      </p:graphicFrame>
      <p:sp>
        <p:nvSpPr>
          <p:cNvPr id="7" name="Groei van het aantal: (60 − 40) / 40 × 100% = 50%">
            <a:extLst xmlns:a="http://schemas.openxmlformats.org/drawingml/2006/main">
              <a:ext uri="{FF2B5EF4-FFF2-40B4-BE49-F238E27FC236}">
                <a16:creationId xmlns:a16="http://schemas.microsoft.com/office/drawing/2014/main" id="{88D78C4C-E0E7-440C-A8A7-AC8439F32C3B}"/>
              </a:ext>
            </a:extLst>
          </p:cNvPr>
          <p:cNvSpPr>
            <a:spLocks xmlns:a="http://schemas.openxmlformats.org/drawingml/2006/main" noGrp="1"/>
          </p:cNvSpPr>
          <p:nvPr/>
        </p:nvSpPr>
        <p:spPr>
          <a:xfrm xmlns:a="http://schemas.openxmlformats.org/drawingml/2006/main">
            <a:off x="571500" y="65532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Groei van het aantal: (60 − 40) / 40 × 100% = 50%</a:t>
            </a:r>
          </a:p>
        </p:txBody>
      </p:sp>
      <p:sp>
        <p:nvSpPr>
          <p:cNvPr id="8" name="De grotere groep én het hogere aandeel vergroten h">
            <a:extLst xmlns:a="http://schemas.openxmlformats.org/drawingml/2006/main">
              <a:ext uri="{FF2B5EF4-FFF2-40B4-BE49-F238E27FC236}">
                <a16:creationId xmlns:a16="http://schemas.microsoft.com/office/drawing/2014/main" id="{3FE467CE-7FE9-4C3E-9413-D51B4C895C9D}"/>
              </a:ext>
            </a:extLst>
          </p:cNvPr>
          <p:cNvSpPr>
            <a:spLocks xmlns:a="http://schemas.openxmlformats.org/drawingml/2006/main" noGrp="1"/>
          </p:cNvSpPr>
          <p:nvPr/>
        </p:nvSpPr>
        <p:spPr>
          <a:xfrm xmlns:a="http://schemas.openxmlformats.org/drawingml/2006/main">
            <a:off x="571500" y="74485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grotere groep én het hogere aandeel vergroten het aantal.</a:t>
            </a:r>
          </a:p>
        </p:txBody>
      </p:sp>
    </p:spTree>
    <p:extLst>
      <p:ext uri="{BB962C8B-B14F-4D97-AF65-F5344CB8AC3E}">
        <p14:creationId xmlns:p14="http://schemas.microsoft.com/office/powerpoint/2010/main" val="194569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welke groei?">
            <a:extLst xmlns:a="http://schemas.openxmlformats.org/drawingml/2006/main">
              <a:ext uri="{FF2B5EF4-FFF2-40B4-BE49-F238E27FC236}">
                <a16:creationId xmlns:a16="http://schemas.microsoft.com/office/drawing/2014/main" id="{87748BF6-956B-45EC-AD40-7F3B5A25A93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welke groei?</a:t>
            </a:r>
          </a:p>
        </p:txBody>
      </p:sp>
      <p:sp>
        <p:nvSpPr>
          <p:cNvPr id="2" name="">
            <a:extLst xmlns:a="http://schemas.openxmlformats.org/drawingml/2006/main">
              <a:ext uri="{FF2B5EF4-FFF2-40B4-BE49-F238E27FC236}">
                <a16:creationId xmlns:a16="http://schemas.microsoft.com/office/drawing/2014/main" id="{FEA8CFC1-1E36-45E4-814B-4A5C08DC0E7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31423281-4E70-4651-9ACF-B174271AAAA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4">
            <a:extLst xmlns:a="http://schemas.openxmlformats.org/drawingml/2006/main">
              <a:ext uri="{FF2B5EF4-FFF2-40B4-BE49-F238E27FC236}">
                <a16:creationId xmlns:a16="http://schemas.microsoft.com/office/drawing/2014/main" id="{C7DB8D96-EE83-43EA-9218-2D8AE63364A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51D705AD-C55A-4B7D-99AE-910DA76AC6A6}"/>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Filmclub: 40 van 160 leerlingen → 60 van 200 leerl">
            <a:extLst xmlns:a="http://schemas.openxmlformats.org/drawingml/2006/main">
              <a:ext uri="{FF2B5EF4-FFF2-40B4-BE49-F238E27FC236}">
                <a16:creationId xmlns:a16="http://schemas.microsoft.com/office/drawing/2014/main" id="{7424EA86-D27C-4DD2-9B39-61EA4E2D1B9E}"/>
              </a:ext>
            </a:extLst>
          </p:cNvPr>
          <p:cNvSpPr>
            <a:spLocks xmlns:a="http://schemas.openxmlformats.org/drawingml/2006/main" noGrp="1"/>
          </p:cNvSpPr>
          <p:nvPr/>
        </p:nvSpPr>
        <p:spPr>
          <a:xfrm xmlns:a="http://schemas.openxmlformats.org/drawingml/2006/main">
            <a:off x="571500" y="22574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Filmclub: 40 van 160 leerlingen → 60 van 200 leerlingen</a:t>
            </a:r>
          </a:p>
        </p:txBody>
      </p:sp>
      <p:sp>
        <p:nvSpPr>
          <p:cNvPr id="7" name="“Het aandeel én het aantal zijn met 5% gestegen.”">
            <a:extLst xmlns:a="http://schemas.openxmlformats.org/drawingml/2006/main">
              <a:ext uri="{FF2B5EF4-FFF2-40B4-BE49-F238E27FC236}">
                <a16:creationId xmlns:a16="http://schemas.microsoft.com/office/drawing/2014/main" id="{83649526-C1F2-4C07-9C7D-082B667E9240}"/>
              </a:ext>
            </a:extLst>
          </p:cNvPr>
          <p:cNvSpPr>
            <a:spLocks xmlns:a="http://schemas.openxmlformats.org/drawingml/2006/main" noGrp="1"/>
          </p:cNvSpPr>
          <p:nvPr/>
        </p:nvSpPr>
        <p:spPr>
          <a:xfrm xmlns:a="http://schemas.openxmlformats.org/drawingml/2006/main">
            <a:off x="571500" y="36957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“Het aandeel én het aantal zijn met 5% gestegen.”</a:t>
            </a:r>
          </a:p>
        </p:txBody>
      </p:sp>
      <p:sp>
        <p:nvSpPr>
          <p:cNvPr id="8" name="Beoordeel beide delen.&#10;Benoem bij elke berekening ">
            <a:extLst xmlns:a="http://schemas.openxmlformats.org/drawingml/2006/main">
              <a:ext uri="{FF2B5EF4-FFF2-40B4-BE49-F238E27FC236}">
                <a16:creationId xmlns:a16="http://schemas.microsoft.com/office/drawing/2014/main" id="{F4DCDA9C-D182-42E2-AA3F-43B6A7513609}"/>
              </a:ext>
            </a:extLst>
          </p:cNvPr>
          <p:cNvSpPr>
            <a:spLocks xmlns:a="http://schemas.openxmlformats.org/drawingml/2006/main" noGrp="1"/>
          </p:cNvSpPr>
          <p:nvPr/>
        </p:nvSpPr>
        <p:spPr>
          <a:xfrm xmlns:a="http://schemas.openxmlformats.org/drawingml/2006/main">
            <a:off x="571500" y="585787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Beoordeel beide delen.</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Benoem bij elke berekening de oude waarde.</a:t>
            </a:r>
          </a:p>
        </p:txBody>
      </p:sp>
    </p:spTree>
    <p:extLst>
      <p:ext uri="{BB962C8B-B14F-4D97-AF65-F5344CB8AC3E}">
        <p14:creationId xmlns:p14="http://schemas.microsoft.com/office/powerpoint/2010/main" val="2315348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drie juiste vergelijkingen">
            <a:extLst xmlns:a="http://schemas.openxmlformats.org/drawingml/2006/main">
              <a:ext uri="{FF2B5EF4-FFF2-40B4-BE49-F238E27FC236}">
                <a16:creationId xmlns:a16="http://schemas.microsoft.com/office/drawing/2014/main" id="{3F96D2AB-709C-4E3A-BE57-2E06B5FF6FB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drie juiste vergelijkingen</a:t>
            </a:r>
          </a:p>
        </p:txBody>
      </p:sp>
      <p:sp>
        <p:nvSpPr>
          <p:cNvPr id="2" name="">
            <a:extLst xmlns:a="http://schemas.openxmlformats.org/drawingml/2006/main">
              <a:ext uri="{FF2B5EF4-FFF2-40B4-BE49-F238E27FC236}">
                <a16:creationId xmlns:a16="http://schemas.microsoft.com/office/drawing/2014/main" id="{0A0F61D8-74B9-4188-8143-A193121039B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B6D45AE2-B9B2-4DC0-8B97-2583B6159DE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5">
            <a:extLst xmlns:a="http://schemas.openxmlformats.org/drawingml/2006/main">
              <a:ext uri="{FF2B5EF4-FFF2-40B4-BE49-F238E27FC236}">
                <a16:creationId xmlns:a16="http://schemas.microsoft.com/office/drawing/2014/main" id="{C96432FC-87D9-43C8-A5DC-E5BB9532CEC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Uitlegvoorbeeld — niet uit het boek">
            <a:extLst xmlns:a="http://schemas.openxmlformats.org/drawingml/2006/main">
              <a:ext uri="{FF2B5EF4-FFF2-40B4-BE49-F238E27FC236}">
                <a16:creationId xmlns:a16="http://schemas.microsoft.com/office/drawing/2014/main" id="{B7C5E15C-55EE-4450-BF13-613ECAB0DA72}"/>
              </a:ext>
            </a:extLst>
          </p:cNvPr>
          <p:cNvSpPr>
            <a:spLocks xmlns:a="http://schemas.openxmlformats.org/drawingml/2006/main" noGrp="1"/>
          </p:cNvSpPr>
          <p:nvPr/>
        </p:nvSpPr>
        <p:spPr>
          <a:xfrm xmlns:a="http://schemas.openxmlformats.org/drawingml/2006/main">
            <a:off x="571500" y="15811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514600"/>
          <a:ext xmlns:a="http://schemas.openxmlformats.org/drawingml/2006/main" cx="14097000" cy="3619500"/>
        </p:xfrm>
        <a:graphic xmlns:a="http://schemas.openxmlformats.org/drawingml/2006/main">
          <a:graphicData uri="http://schemas.openxmlformats.org/drawingml/2006/table">
            <a:tbl>
              <a:tblPr/>
              <a:tblGrid>
                <a:gridCol w="4953000"/>
                <a:gridCol w="5429250"/>
                <a:gridCol w="3714750"/>
              </a:tblGrid>
              <a:tr h="904875">
                <a:tc>
                  <a:txBody>
                    <a:bodyPr lIns="171450" tIns="95250" rIns="152400" bIns="95250"/>
                    <a:lstStyle/>
                    <a:p>
                      <a:r>
                        <a:rPr sz="2475"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Uitkomst</a:t>
                      </a:r>
                    </a:p>
                  </a:txBody>
                  <a:tcPr marL="91440" marR="91440" marT="45720" marB="45720" anchor="ctr">
                    <a:solidFill>
                      <a:srgbClr val="183247"/>
                    </a:solidFill>
                  </a:tcPr>
                </a:tc>
              </a:tr>
              <a:tr h="904875">
                <a:tc>
                  <a:txBody>
                    <a:bodyPr lIns="171450" tIns="95250" rIns="152400" bIns="95250"/>
                    <a:lstStyle/>
                    <a:p>
                      <a:r>
                        <a:rPr sz="2475" b="0">
                          <a:solidFill>
                            <a:srgbClr val="183247"/>
                          </a:solidFill>
                          <a:latin typeface="Arial"/>
                          <a:ea typeface="Arial"/>
                          <a:cs typeface="Arial"/>
                        </a:rPr>
                        <a:t>Aandeel: verschil</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30 − 25</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 procentpunten</a:t>
                      </a:r>
                    </a:p>
                  </a:txBody>
                  <a:tcPr marL="91440" marR="91440" marT="45720" marB="45720" anchor="ctr">
                    <a:solidFill>
                      <a:srgbClr val="FFFFFF"/>
                    </a:solidFill>
                  </a:tcPr>
                </a:tc>
              </a:tr>
              <a:tr h="904875">
                <a:tc>
                  <a:txBody>
                    <a:bodyPr lIns="171450" tIns="95250" rIns="152400" bIns="95250"/>
                    <a:lstStyle/>
                    <a:p>
                      <a:r>
                        <a:rPr sz="2475" b="0">
                          <a:solidFill>
                            <a:srgbClr val="183247"/>
                          </a:solidFill>
                          <a:latin typeface="Arial"/>
                          <a:ea typeface="Arial"/>
                          <a:cs typeface="Arial"/>
                        </a:rPr>
                        <a:t>Aandeel: relatieve groei</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(30 − 25) / 25 × 100%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+20%</a:t>
                      </a:r>
                    </a:p>
                  </a:txBody>
                  <a:tcPr marL="91440" marR="91440" marT="45720" marB="45720" anchor="ctr">
                    <a:solidFill>
                      <a:srgbClr val="EFF4F7"/>
                    </a:solidFill>
                  </a:tcPr>
                </a:tc>
              </a:tr>
              <a:tr h="904875">
                <a:tc>
                  <a:txBody>
                    <a:bodyPr lIns="171450" tIns="95250" rIns="152400" bIns="95250"/>
                    <a:lstStyle/>
                    <a:p>
                      <a:r>
                        <a:rPr sz="2475" b="0">
                          <a:solidFill>
                            <a:srgbClr val="183247"/>
                          </a:solidFill>
                          <a:latin typeface="Arial"/>
                          <a:ea typeface="Arial"/>
                          <a:cs typeface="Arial"/>
                        </a:rPr>
                        <a:t>Aantal: relatieve groei</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(60 − 40) / 40 × 100%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+50%</a:t>
                      </a:r>
                    </a:p>
                  </a:txBody>
                  <a:tcPr marL="91440" marR="91440" marT="45720" marB="45720" anchor="ctr">
                    <a:solidFill>
                      <a:srgbClr val="FFFFFF"/>
                    </a:solidFill>
                  </a:tcPr>
                </a:tc>
              </a:tr>
            </a:tbl>
          </a:graphicData>
        </a:graphic>
      </p:graphicFrame>
      <p:sp>
        <p:nvSpPr>
          <p:cNvPr id="7" name="Kies eerst de grootheid, daarna de passende basis.">
            <a:extLst xmlns:a="http://schemas.openxmlformats.org/drawingml/2006/main">
              <a:ext uri="{FF2B5EF4-FFF2-40B4-BE49-F238E27FC236}">
                <a16:creationId xmlns:a16="http://schemas.microsoft.com/office/drawing/2014/main" id="{AC753C95-AFA8-4122-8492-D25103B879E6}"/>
              </a:ext>
            </a:extLst>
          </p:cNvPr>
          <p:cNvSpPr>
            <a:spLocks xmlns:a="http://schemas.openxmlformats.org/drawingml/2006/main" noGrp="1"/>
          </p:cNvSpPr>
          <p:nvPr/>
        </p:nvSpPr>
        <p:spPr>
          <a:xfrm xmlns:a="http://schemas.openxmlformats.org/drawingml/2006/main">
            <a:off x="571500" y="68580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Kies eerst de grootheid, daarna de passende basis.</a:t>
            </a:r>
          </a:p>
        </p:txBody>
      </p:sp>
    </p:spTree>
    <p:extLst>
      <p:ext uri="{BB962C8B-B14F-4D97-AF65-F5344CB8AC3E}">
        <p14:creationId xmlns:p14="http://schemas.microsoft.com/office/powerpoint/2010/main" val="2436641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2 Verhoudingen, percentages en inde">
            <a:extLst xmlns:a="http://schemas.openxmlformats.org/drawingml/2006/main">
              <a:ext uri="{FF2B5EF4-FFF2-40B4-BE49-F238E27FC236}">
                <a16:creationId xmlns:a16="http://schemas.microsoft.com/office/drawing/2014/main" id="{D75D4320-FE14-44C3-B147-603337D9040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§1.1.2 Verhoudingen, percentages en indexcijfers</a:t>
            </a:r>
          </a:p>
        </p:txBody>
      </p:sp>
      <p:sp>
        <p:nvSpPr>
          <p:cNvPr id="2" name="">
            <a:extLst xmlns:a="http://schemas.openxmlformats.org/drawingml/2006/main">
              <a:ext uri="{FF2B5EF4-FFF2-40B4-BE49-F238E27FC236}">
                <a16:creationId xmlns:a16="http://schemas.microsoft.com/office/drawing/2014/main" id="{26C680E0-D478-46B5-91D0-F6606C9B547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B8D2BDCD-D834-48EB-BE54-B3B494852A5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16">
            <a:extLst xmlns:a="http://schemas.openxmlformats.org/drawingml/2006/main">
              <a:ext uri="{FF2B5EF4-FFF2-40B4-BE49-F238E27FC236}">
                <a16:creationId xmlns:a16="http://schemas.microsoft.com/office/drawing/2014/main" id="{BBFAB6D2-85CF-4888-9984-809A42D9C5C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3F03BCAA-2BEF-4026-AB8C-DD0BBEC71459}"/>
              </a:ext>
            </a:extLst>
          </p:cNvPr>
          <p:cNvSpPr>
            <a:spLocks xmlns:a="http://schemas.openxmlformats.org/drawingml/2006/main" noGrp="1"/>
          </p:cNvSpPr>
          <p:nvPr/>
        </p:nvSpPr>
        <p:spPr>
          <a:xfrm xmlns:a="http://schemas.openxmlformats.org/drawingml/2006/main">
            <a:off x="571500" y="1057275"/>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BE6DCAE2-D0F9-45F1-820F-741D4FFD338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4ECB274-6341-4FD0-BEAA-7A710D99D9A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E2B4912-8E13-4DB0-A46B-88DBEA2CB744}"/>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2F711BE-DEE6-47E1-A273-20EFCF61EF0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3DDDCA3-1677-40E7-B72F-D3F9F66E9AAE}"/>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761864A-948E-4D6B-AC81-E1FA2175BC8A}"/>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56C1760-D436-4AA8-9FB0-99259E4D46CA}"/>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F38C3792-33DD-49EF-A989-A395E6EEEDC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EA071ED-40AF-45E9-844A-339AB197D872}"/>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4402409-79C0-4A30-A7C0-9C2302CE85B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EB52FF7-A4B5-406D-93F5-97FBCE9B351B}"/>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9330272-67BD-47AC-920D-C6F612070A9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FDEF900-54C6-4052-8022-0677C3459F9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18.</a:t>
            </a:r>
          </a:p>
        </p:txBody>
      </p:sp>
      <p:sp>
        <p:nvSpPr>
          <p:cNvPr id="19" name="route-number-7">
            <a:extLst xmlns:a="http://schemas.openxmlformats.org/drawingml/2006/main">
              <a:ext uri="{FF2B5EF4-FFF2-40B4-BE49-F238E27FC236}">
                <a16:creationId xmlns:a16="http://schemas.microsoft.com/office/drawing/2014/main" id="{2BE213DD-DF82-4ADC-B45B-A37031712BD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EEB0DFB6-86D2-4E7D-99E8-3727B72116A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EAF0DAB-742F-41A5-82E6-65ECD367A5E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F8DB31A-F31D-4B5D-B34E-E9C279B1430E}"/>
              </a:ext>
            </a:extLst>
          </p:cNvPr>
          <p:cNvSpPr>
            <a:spLocks xmlns:a="http://schemas.openxmlformats.org/drawingml/2006/main" noGrp="1"/>
          </p:cNvSpPr>
          <p:nvPr/>
        </p:nvSpPr>
        <p:spPr>
          <a:xfrm xmlns:a="http://schemas.openxmlformats.org/drawingml/2006/main">
            <a:off x="9258300" y="23241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Per eenheid en aandelen 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Veranderingen en indexen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Procenten en punten onderscheiden.</a:t>
            </a:r>
          </a:p>
        </p:txBody>
      </p:sp>
      <p:sp>
        <p:nvSpPr>
          <p:cNvPr id="23" name="">
            <a:extLst xmlns:a="http://schemas.openxmlformats.org/drawingml/2006/main">
              <a:ext uri="{FF2B5EF4-FFF2-40B4-BE49-F238E27FC236}">
                <a16:creationId xmlns:a16="http://schemas.microsoft.com/office/drawing/2014/main" id="{A6A4ABAE-EC1D-44D0-8666-7DB39ABE128B}"/>
              </a:ext>
            </a:extLst>
          </p:cNvPr>
          <p:cNvSpPr>
            <a:spLocks xmlns:a="http://schemas.openxmlformats.org/drawingml/2006/main" noGrp="1"/>
          </p:cNvSpPr>
          <p:nvPr/>
        </p:nvSpPr>
        <p:spPr>
          <a:xfrm xmlns:a="http://schemas.openxmlformats.org/drawingml/2006/main">
            <a:off x="9258300" y="36099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AF9CC0F-62C3-4A16-B18B-CEC34A4FB713}"/>
              </a:ext>
            </a:extLst>
          </p:cNvPr>
          <p:cNvSpPr>
            <a:spLocks xmlns:a="http://schemas.openxmlformats.org/drawingml/2006/main" noGrp="1"/>
          </p:cNvSpPr>
          <p:nvPr/>
        </p:nvSpPr>
        <p:spPr>
          <a:xfrm xmlns:a="http://schemas.openxmlformats.org/drawingml/2006/main">
            <a:off x="9258300" y="3810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C52910C-4ACD-4B46-88C8-6BA08C331F8E}"/>
              </a:ext>
            </a:extLst>
          </p:cNvPr>
          <p:cNvSpPr>
            <a:spLocks xmlns:a="http://schemas.openxmlformats.org/drawingml/2006/main" noGrp="1"/>
          </p:cNvSpPr>
          <p:nvPr/>
        </p:nvSpPr>
        <p:spPr>
          <a:xfrm xmlns:a="http://schemas.openxmlformats.org/drawingml/2006/main">
            <a:off x="9258300" y="4314825"/>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19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theorie p. 13–15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later hernemen</a:t>
            </a:r>
          </a:p>
        </p:txBody>
      </p:sp>
      <p:sp>
        <p:nvSpPr>
          <p:cNvPr id="26" name="">
            <a:extLst xmlns:a="http://schemas.openxmlformats.org/drawingml/2006/main">
              <a:ext uri="{FF2B5EF4-FFF2-40B4-BE49-F238E27FC236}">
                <a16:creationId xmlns:a16="http://schemas.microsoft.com/office/drawing/2014/main" id="{E22795D5-235E-4D84-8EC8-E099B7172B90}"/>
              </a:ext>
            </a:extLst>
          </p:cNvPr>
          <p:cNvSpPr>
            <a:spLocks xmlns:a="http://schemas.openxmlformats.org/drawingml/2006/main" noGrp="1"/>
          </p:cNvSpPr>
          <p:nvPr/>
        </p:nvSpPr>
        <p:spPr>
          <a:xfrm xmlns:a="http://schemas.openxmlformats.org/drawingml/2006/main">
            <a:off x="9258300" y="55911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72DEA44-B418-48C2-BB48-C4D96ECAF668}"/>
              </a:ext>
            </a:extLst>
          </p:cNvPr>
          <p:cNvSpPr>
            <a:spLocks xmlns:a="http://schemas.openxmlformats.org/drawingml/2006/main" noGrp="1"/>
          </p:cNvSpPr>
          <p:nvPr/>
        </p:nvSpPr>
        <p:spPr>
          <a:xfrm xmlns:a="http://schemas.openxmlformats.org/drawingml/2006/main">
            <a:off x="9258300" y="57721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2E66673-2710-4F53-9714-9C84E45D6475}"/>
              </a:ext>
            </a:extLst>
          </p:cNvPr>
          <p:cNvSpPr>
            <a:spLocks xmlns:a="http://schemas.openxmlformats.org/drawingml/2006/main" noGrp="1"/>
          </p:cNvSpPr>
          <p:nvPr/>
        </p:nvSpPr>
        <p:spPr>
          <a:xfrm xmlns:a="http://schemas.openxmlformats.org/drawingml/2006/main">
            <a:off x="9258300" y="6324600"/>
            <a:ext cx="5381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§1.1.2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13 en 14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15, 16 en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18</a:t>
            </a:r>
          </a:p>
        </p:txBody>
      </p:sp>
    </p:spTree>
    <p:extLst>
      <p:ext uri="{BB962C8B-B14F-4D97-AF65-F5344CB8AC3E}">
        <p14:creationId xmlns:p14="http://schemas.microsoft.com/office/powerpoint/2010/main" val="15229000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8 · Een workshop voor scholieren">
            <a:extLst xmlns:a="http://schemas.openxmlformats.org/drawingml/2006/main">
              <a:ext uri="{FF2B5EF4-FFF2-40B4-BE49-F238E27FC236}">
                <a16:creationId xmlns:a16="http://schemas.microsoft.com/office/drawing/2014/main" id="{4672D02B-8906-4C29-A601-624D345E25F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 · Een workshop voor scholieren</a:t>
            </a:r>
          </a:p>
        </p:txBody>
      </p:sp>
      <p:sp>
        <p:nvSpPr>
          <p:cNvPr id="2" name="">
            <a:extLst xmlns:a="http://schemas.openxmlformats.org/drawingml/2006/main">
              <a:ext uri="{FF2B5EF4-FFF2-40B4-BE49-F238E27FC236}">
                <a16:creationId xmlns:a16="http://schemas.microsoft.com/office/drawing/2014/main" id="{61511ADC-9E04-465E-BB95-39B0C9EE08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CE6F1B22-5219-48FD-9F78-3B217980BEC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17">
            <a:extLst xmlns:a="http://schemas.openxmlformats.org/drawingml/2006/main">
              <a:ext uri="{FF2B5EF4-FFF2-40B4-BE49-F238E27FC236}">
                <a16:creationId xmlns:a16="http://schemas.microsoft.com/office/drawing/2014/main" id="{D2009031-874A-442C-8B5C-9A8FBC20800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Een cultureel centrum vergelijkt zijn workshopprij">
            <a:extLst xmlns:a="http://schemas.openxmlformats.org/drawingml/2006/main">
              <a:ext uri="{FF2B5EF4-FFF2-40B4-BE49-F238E27FC236}">
                <a16:creationId xmlns:a16="http://schemas.microsoft.com/office/drawing/2014/main" id="{807E8E16-4406-4B7C-B9E1-2CCF78E6A008}"/>
              </a:ext>
            </a:extLst>
          </p:cNvPr>
          <p:cNvSpPr>
            <a:spLocks xmlns:a="http://schemas.openxmlformats.org/drawingml/2006/main" noGrp="1"/>
          </p:cNvSpPr>
          <p:nvPr/>
        </p:nvSpPr>
        <p:spPr>
          <a:xfrm xmlns:a="http://schemas.openxmlformats.org/drawingml/2006/main">
            <a:off x="571500" y="1771650"/>
            <a:ext cx="1409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Een cultureel centrum vergelijkt zijn workshopprijs en het aandeel leerlingen dat deelneemt. Gebruik voor de prijsindex jaar 1 als basis. Alle bedragen en aantallen zijn voor deze opgave gegeven.</a:t>
            </a:r>
          </a:p>
        </p:txBody>
      </p:sp>
      <p:sp>
        <p:nvSpPr>
          <p:cNvPr id="6" name="In jaar 3 betaalt het centrum € 216 aan materiaal ">
            <a:extLst xmlns:a="http://schemas.openxmlformats.org/drawingml/2006/main">
              <a:ext uri="{FF2B5EF4-FFF2-40B4-BE49-F238E27FC236}">
                <a16:creationId xmlns:a16="http://schemas.microsoft.com/office/drawing/2014/main" id="{9B022D67-19AC-465F-BAE7-9FB6DA797717}"/>
              </a:ext>
            </a:extLst>
          </p:cNvPr>
          <p:cNvSpPr>
            <a:spLocks xmlns:a="http://schemas.openxmlformats.org/drawingml/2006/main" noGrp="1"/>
          </p:cNvSpPr>
          <p:nvPr/>
        </p:nvSpPr>
        <p:spPr>
          <a:xfrm xmlns:a="http://schemas.openxmlformats.org/drawingml/2006/main">
            <a:off x="571500" y="3409950"/>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In jaar 3 betaalt het centrum € 216 aan materiaal voor de 36 deelnemers. Na jaar 3 wil het de workshopprijs met 8% verhogen.</a:t>
            </a:r>
          </a:p>
        </p:txBody>
      </p:sp>
      <p:graphicFrame>
        <p:nvGraphicFramePr>
          <p:cNvPr id="14" name=""/>
          <p:cNvGraphicFramePr/>
          <p:nvPr/>
        </p:nvGraphicFramePr>
        <p:xfrm>
          <a:off xmlns:a="http://schemas.openxmlformats.org/drawingml/2006/main" x="571500" y="4762500"/>
          <a:ext xmlns:a="http://schemas.openxmlformats.org/drawingml/2006/main" cx="14097000" cy="2924175"/>
        </p:xfrm>
        <a:graphic xmlns:a="http://schemas.openxmlformats.org/drawingml/2006/main">
          <a:graphicData uri="http://schemas.openxmlformats.org/drawingml/2006/table">
            <a:tbl>
              <a:tblPr/>
              <a:tblGrid>
                <a:gridCol w="6667500"/>
                <a:gridCol w="2476500"/>
                <a:gridCol w="2476500"/>
                <a:gridCol w="2476500"/>
              </a:tblGrid>
              <a:tr h="731044">
                <a:tc>
                  <a:txBody>
                    <a:bodyPr lIns="171450" tIns="95250" rIns="152400" bIns="95250"/>
                    <a:lstStyle/>
                    <a:p>
                      <a:r>
                        <a:rPr sz="2475"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Jaar 1</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Jaar 2</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Jaar 3</a:t>
                      </a:r>
                    </a:p>
                  </a:txBody>
                  <a:tcPr marL="91440" marR="91440" marT="45720" marB="45720" anchor="ctr">
                    <a:solidFill>
                      <a:srgbClr val="183247"/>
                    </a:solidFill>
                  </a:tcPr>
                </a:tc>
              </a:tr>
              <a:tr h="731044">
                <a:tc>
                  <a:txBody>
                    <a:bodyPr lIns="171450" tIns="95250" rIns="152400" bIns="95250"/>
                    <a:lstStyle/>
                    <a:p>
                      <a:r>
                        <a:rPr sz="2475" b="0">
                          <a:solidFill>
                            <a:srgbClr val="183247"/>
                          </a:solidFill>
                          <a:latin typeface="Arial"/>
                          <a:ea typeface="Arial"/>
                          <a:cs typeface="Arial"/>
                        </a:rPr>
                        <a:t>Prijs per workshop</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€ 12</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€ 15</a:t>
                      </a:r>
                    </a:p>
                  </a:txBody>
                  <a:tcPr marL="91440" marR="91440" marT="45720" marB="45720" anchor="ctr">
                    <a:solidFill>
                      <a:srgbClr val="FFFFFF"/>
                    </a:solidFill>
                  </a:tcPr>
                </a:tc>
              </a:tr>
              <a:tr h="731044">
                <a:tc>
                  <a:txBody>
                    <a:bodyPr lIns="171450" tIns="95250" rIns="152400" bIns="95250"/>
                    <a:lstStyle/>
                    <a:p>
                      <a:r>
                        <a:rPr sz="2475" b="0">
                          <a:solidFill>
                            <a:srgbClr val="183247"/>
                          </a:solidFill>
                          <a:latin typeface="Arial"/>
                          <a:ea typeface="Arial"/>
                          <a:cs typeface="Arial"/>
                        </a:rPr>
                        <a:t>Leerlingen die konden deelnemen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120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150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150</a:t>
                      </a:r>
                    </a:p>
                  </a:txBody>
                  <a:tcPr marL="91440" marR="91440" marT="45720" marB="45720" anchor="ctr">
                    <a:solidFill>
                      <a:srgbClr val="EFF4F7"/>
                    </a:solidFill>
                  </a:tcPr>
                </a:tc>
              </a:tr>
              <a:tr h="731044">
                <a:tc>
                  <a:txBody>
                    <a:bodyPr lIns="171450" tIns="95250" rIns="152400" bIns="95250"/>
                    <a:lstStyle/>
                    <a:p>
                      <a:r>
                        <a:rPr sz="2475" b="0">
                          <a:solidFill>
                            <a:srgbClr val="183247"/>
                          </a:solidFill>
                          <a:latin typeface="Arial"/>
                          <a:ea typeface="Arial"/>
                          <a:cs typeface="Arial"/>
                        </a:rPr>
                        <a:t>Werkelijke deelnemers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36</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783259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18 · Vragen a, b en c">
            <a:extLst xmlns:a="http://schemas.openxmlformats.org/drawingml/2006/main">
              <a:ext uri="{FF2B5EF4-FFF2-40B4-BE49-F238E27FC236}">
                <a16:creationId xmlns:a16="http://schemas.microsoft.com/office/drawing/2014/main" id="{35522E4D-A21A-4D54-8C04-BF10C6C2B20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 · Vragen a, b en c</a:t>
            </a:r>
          </a:p>
        </p:txBody>
      </p:sp>
      <p:sp>
        <p:nvSpPr>
          <p:cNvPr id="2" name="">
            <a:extLst xmlns:a="http://schemas.openxmlformats.org/drawingml/2006/main">
              <a:ext uri="{FF2B5EF4-FFF2-40B4-BE49-F238E27FC236}">
                <a16:creationId xmlns:a16="http://schemas.microsoft.com/office/drawing/2014/main" id="{7869101C-473F-4F51-92F1-024E80F492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D4BB2BEF-67B1-4407-B6AD-A85AF2BAB35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18">
            <a:extLst xmlns:a="http://schemas.openxmlformats.org/drawingml/2006/main">
              <a:ext uri="{FF2B5EF4-FFF2-40B4-BE49-F238E27FC236}">
                <a16:creationId xmlns:a16="http://schemas.microsoft.com/office/drawing/2014/main" id="{DF56F460-8D0E-45FB-8E69-D2737206680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a:extLst xmlns:a="http://schemas.openxmlformats.org/drawingml/2006/main">
              <a:ext uri="{FF2B5EF4-FFF2-40B4-BE49-F238E27FC236}">
                <a16:creationId xmlns:a16="http://schemas.microsoft.com/office/drawing/2014/main" id="{87C9B89D-92BD-4824-A4A8-D3511C1F955B}"/>
              </a:ext>
            </a:extLst>
          </p:cNvPr>
          <p:cNvSpPr>
            <a:spLocks xmlns:a="http://schemas.openxmlformats.org/drawingml/2006/main" noGrp="1"/>
          </p:cNvSpPr>
          <p:nvPr/>
        </p:nvSpPr>
        <p:spPr>
          <a:xfrm xmlns:a="http://schemas.openxmlformats.org/drawingml/2006/main">
            <a:off x="571500" y="20002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a)</a:t>
            </a:r>
          </a:p>
        </p:txBody>
      </p:sp>
      <p:sp>
        <p:nvSpPr>
          <p:cNvPr id="6" name="Bereken het materiaalbedrag per deelnemer in jaar ">
            <a:extLst xmlns:a="http://schemas.openxmlformats.org/drawingml/2006/main">
              <a:ext uri="{FF2B5EF4-FFF2-40B4-BE49-F238E27FC236}">
                <a16:creationId xmlns:a16="http://schemas.microsoft.com/office/drawing/2014/main" id="{7C0F4075-C1A6-47AA-9813-5598B72FC233}"/>
              </a:ext>
            </a:extLst>
          </p:cNvPr>
          <p:cNvSpPr>
            <a:spLocks xmlns:a="http://schemas.openxmlformats.org/drawingml/2006/main" noGrp="1"/>
          </p:cNvSpPr>
          <p:nvPr/>
        </p:nvSpPr>
        <p:spPr>
          <a:xfrm xmlns:a="http://schemas.openxmlformats.org/drawingml/2006/main">
            <a:off x="1571625" y="2000250"/>
            <a:ext cx="13096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Bereken het materiaalbedrag per deelnemer in jaar 3.</a:t>
            </a:r>
          </a:p>
        </p:txBody>
      </p:sp>
      <p:sp>
        <p:nvSpPr>
          <p:cNvPr id="7" name="b)">
            <a:extLst xmlns:a="http://schemas.openxmlformats.org/drawingml/2006/main">
              <a:ext uri="{FF2B5EF4-FFF2-40B4-BE49-F238E27FC236}">
                <a16:creationId xmlns:a16="http://schemas.microsoft.com/office/drawing/2014/main" id="{57B6C26D-C78D-4DF4-B81A-608BE551A007}"/>
              </a:ext>
            </a:extLst>
          </p:cNvPr>
          <p:cNvSpPr>
            <a:spLocks xmlns:a="http://schemas.openxmlformats.org/drawingml/2006/main" noGrp="1"/>
          </p:cNvSpPr>
          <p:nvPr/>
        </p:nvSpPr>
        <p:spPr>
          <a:xfrm xmlns:a="http://schemas.openxmlformats.org/drawingml/2006/main">
            <a:off x="571500" y="39052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a:t>
            </a:r>
          </a:p>
        </p:txBody>
      </p:sp>
      <p:sp>
        <p:nvSpPr>
          <p:cNvPr id="8" name="Bereken de absolute en procentuele prijsveranderin">
            <a:extLst xmlns:a="http://schemas.openxmlformats.org/drawingml/2006/main">
              <a:ext uri="{FF2B5EF4-FFF2-40B4-BE49-F238E27FC236}">
                <a16:creationId xmlns:a16="http://schemas.microsoft.com/office/drawing/2014/main" id="{3A68A1DC-8FEA-49A6-B574-C5532102DD48}"/>
              </a:ext>
            </a:extLst>
          </p:cNvPr>
          <p:cNvSpPr>
            <a:spLocks xmlns:a="http://schemas.openxmlformats.org/drawingml/2006/main" noGrp="1"/>
          </p:cNvSpPr>
          <p:nvPr/>
        </p:nvSpPr>
        <p:spPr>
          <a:xfrm xmlns:a="http://schemas.openxmlformats.org/drawingml/2006/main">
            <a:off x="1571625" y="3905250"/>
            <a:ext cx="13096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Bereken de absolute en procentuele prijsverandering</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van jaar 1 naar jaar 2.</a:t>
            </a:r>
          </a:p>
        </p:txBody>
      </p:sp>
      <p:sp>
        <p:nvSpPr>
          <p:cNvPr id="9" name="c)">
            <a:extLst xmlns:a="http://schemas.openxmlformats.org/drawingml/2006/main">
              <a:ext uri="{FF2B5EF4-FFF2-40B4-BE49-F238E27FC236}">
                <a16:creationId xmlns:a16="http://schemas.microsoft.com/office/drawing/2014/main" id="{C4FD49DC-12C5-4F6A-A0A0-EB427A518498}"/>
              </a:ext>
            </a:extLst>
          </p:cNvPr>
          <p:cNvSpPr>
            <a:spLocks xmlns:a="http://schemas.openxmlformats.org/drawingml/2006/main" noGrp="1"/>
          </p:cNvSpPr>
          <p:nvPr/>
        </p:nvSpPr>
        <p:spPr>
          <a:xfrm xmlns:a="http://schemas.openxmlformats.org/drawingml/2006/main">
            <a:off x="571500" y="58102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c)</a:t>
            </a:r>
          </a:p>
        </p:txBody>
      </p:sp>
      <p:sp>
        <p:nvSpPr>
          <p:cNvPr id="10" name="Bereken de aangekondigde workshopprijs na jaar 3.">
            <a:extLst xmlns:a="http://schemas.openxmlformats.org/drawingml/2006/main">
              <a:ext uri="{FF2B5EF4-FFF2-40B4-BE49-F238E27FC236}">
                <a16:creationId xmlns:a16="http://schemas.microsoft.com/office/drawing/2014/main" id="{C8D0ED1F-BCDC-45E0-AE51-9976AA32D2DA}"/>
              </a:ext>
            </a:extLst>
          </p:cNvPr>
          <p:cNvSpPr>
            <a:spLocks xmlns:a="http://schemas.openxmlformats.org/drawingml/2006/main" noGrp="1"/>
          </p:cNvSpPr>
          <p:nvPr/>
        </p:nvSpPr>
        <p:spPr>
          <a:xfrm xmlns:a="http://schemas.openxmlformats.org/drawingml/2006/main">
            <a:off x="1571625" y="5810250"/>
            <a:ext cx="13096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Bereken de aangekondigde workshopprijs na jaar 3.</a:t>
            </a:r>
          </a:p>
        </p:txBody>
      </p:sp>
    </p:spTree>
    <p:extLst>
      <p:ext uri="{BB962C8B-B14F-4D97-AF65-F5344CB8AC3E}">
        <p14:creationId xmlns:p14="http://schemas.microsoft.com/office/powerpoint/2010/main" val="4337393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8 · Vragen d en e">
            <a:extLst xmlns:a="http://schemas.openxmlformats.org/drawingml/2006/main">
              <a:ext uri="{FF2B5EF4-FFF2-40B4-BE49-F238E27FC236}">
                <a16:creationId xmlns:a16="http://schemas.microsoft.com/office/drawing/2014/main" id="{6B968A30-8105-4CC0-A966-C518BD669D6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 · Vragen d en e</a:t>
            </a:r>
          </a:p>
        </p:txBody>
      </p:sp>
      <p:sp>
        <p:nvSpPr>
          <p:cNvPr id="2" name="">
            <a:extLst xmlns:a="http://schemas.openxmlformats.org/drawingml/2006/main">
              <a:ext uri="{FF2B5EF4-FFF2-40B4-BE49-F238E27FC236}">
                <a16:creationId xmlns:a16="http://schemas.microsoft.com/office/drawing/2014/main" id="{B0B99A77-DE72-4F47-9C10-95B0D6DA612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E6137807-716D-492D-857A-068D55E13A9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19">
            <a:extLst xmlns:a="http://schemas.openxmlformats.org/drawingml/2006/main">
              <a:ext uri="{FF2B5EF4-FFF2-40B4-BE49-F238E27FC236}">
                <a16:creationId xmlns:a16="http://schemas.microsoft.com/office/drawing/2014/main" id="{9EFB2E72-F8DE-4B5D-B547-C180C17973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 Bereken de prijsindexcijfers van jaar 2 en jaar">
            <a:extLst xmlns:a="http://schemas.openxmlformats.org/drawingml/2006/main">
              <a:ext uri="{FF2B5EF4-FFF2-40B4-BE49-F238E27FC236}">
                <a16:creationId xmlns:a16="http://schemas.microsoft.com/office/drawing/2014/main" id="{7D7C9DDD-A855-4012-9DFF-BA0B0514E2BC}"/>
              </a:ext>
            </a:extLst>
          </p:cNvPr>
          <p:cNvSpPr>
            <a:spLocks xmlns:a="http://schemas.openxmlformats.org/drawingml/2006/main" noGrp="1"/>
          </p:cNvSpPr>
          <p:nvPr/>
        </p:nvSpPr>
        <p:spPr>
          <a:xfrm xmlns:a="http://schemas.openxmlformats.org/drawingml/2006/main">
            <a:off x="571500" y="210502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 Bereken de prijsindexcijfers van jaar 2 en jaar 3.</a:t>
            </a:r>
          </a:p>
        </p:txBody>
      </p:sp>
      <p:sp>
        <p:nvSpPr>
          <p:cNvPr id="6" name="">
            <a:extLst xmlns:a="http://schemas.openxmlformats.org/drawingml/2006/main">
              <a:ext uri="{FF2B5EF4-FFF2-40B4-BE49-F238E27FC236}">
                <a16:creationId xmlns:a16="http://schemas.microsoft.com/office/drawing/2014/main" id="{33A62051-00A3-4C48-9E15-915C61794AF7}"/>
              </a:ext>
            </a:extLst>
          </p:cNvPr>
          <p:cNvSpPr>
            <a:spLocks xmlns:a="http://schemas.openxmlformats.org/drawingml/2006/main" noGrp="1"/>
          </p:cNvSpPr>
          <p:nvPr/>
        </p:nvSpPr>
        <p:spPr>
          <a:xfrm xmlns:a="http://schemas.openxmlformats.org/drawingml/2006/main">
            <a:off x="571500" y="3857625"/>
            <a:ext cx="14097000" cy="0"/>
          </a:xfrm>
          <a:prstGeom xmlns:a="http://schemas.openxmlformats.org/drawingml/2006/main" prst="line">
            <a:avLst/>
          </a:prstGeom>
          <a:ln xmlns:a="http://schemas.openxmlformats.org/drawingml/2006/main" w="19050">
            <a:solidFill>
              <a:srgbClr val="C6D2DB"/>
            </a:solidFill>
          </a:ln>
        </p:spPr>
      </p:sp>
      <p:sp>
        <p:nvSpPr>
          <p:cNvPr id="7" name="e) Bereken met die indexcijfers de prijsveranderin">
            <a:extLst xmlns:a="http://schemas.openxmlformats.org/drawingml/2006/main">
              <a:ext uri="{FF2B5EF4-FFF2-40B4-BE49-F238E27FC236}">
                <a16:creationId xmlns:a16="http://schemas.microsoft.com/office/drawing/2014/main" id="{1DE5552D-A1A2-4AA9-97E3-CA12C00AB9D0}"/>
              </a:ext>
            </a:extLst>
          </p:cNvPr>
          <p:cNvSpPr>
            <a:spLocks xmlns:a="http://schemas.openxmlformats.org/drawingml/2006/main" noGrp="1"/>
          </p:cNvSpPr>
          <p:nvPr/>
        </p:nvSpPr>
        <p:spPr>
          <a:xfrm xmlns:a="http://schemas.openxmlformats.org/drawingml/2006/main">
            <a:off x="571500" y="4476750"/>
            <a:ext cx="140970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 Bereken met die indexcijfers de prijsverandering van jaar 2 naar jaar 3 in indexpunten én in procenten.</a:t>
            </a:r>
          </a:p>
        </p:txBody>
      </p:sp>
    </p:spTree>
    <p:extLst>
      <p:ext uri="{BB962C8B-B14F-4D97-AF65-F5344CB8AC3E}">
        <p14:creationId xmlns:p14="http://schemas.microsoft.com/office/powerpoint/2010/main" val="3014809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8 · Vragen f en g">
            <a:extLst xmlns:a="http://schemas.openxmlformats.org/drawingml/2006/main">
              <a:ext uri="{FF2B5EF4-FFF2-40B4-BE49-F238E27FC236}">
                <a16:creationId xmlns:a16="http://schemas.microsoft.com/office/drawing/2014/main" id="{977D2AD3-4EEF-4D17-B302-9A5C1B9E2A9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 · Vragen f en g</a:t>
            </a:r>
          </a:p>
        </p:txBody>
      </p:sp>
      <p:sp>
        <p:nvSpPr>
          <p:cNvPr id="2" name="">
            <a:extLst xmlns:a="http://schemas.openxmlformats.org/drawingml/2006/main">
              <a:ext uri="{FF2B5EF4-FFF2-40B4-BE49-F238E27FC236}">
                <a16:creationId xmlns:a16="http://schemas.microsoft.com/office/drawing/2014/main" id="{9D4E908F-5B90-44AF-9472-B5AB748CCF4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64E2DF78-B88B-4965-93B3-DD9C63C66BA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0">
            <a:extLst xmlns:a="http://schemas.openxmlformats.org/drawingml/2006/main">
              <a:ext uri="{FF2B5EF4-FFF2-40B4-BE49-F238E27FC236}">
                <a16:creationId xmlns:a16="http://schemas.microsoft.com/office/drawing/2014/main" id="{84D7484B-0D08-4373-8E65-918871DB69A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f) Bereken het deelnamepercentage in jaar 1 en jaa">
            <a:extLst xmlns:a="http://schemas.openxmlformats.org/drawingml/2006/main">
              <a:ext uri="{FF2B5EF4-FFF2-40B4-BE49-F238E27FC236}">
                <a16:creationId xmlns:a16="http://schemas.microsoft.com/office/drawing/2014/main" id="{94FF681E-36E6-4690-887F-A7D49451924C}"/>
              </a:ext>
            </a:extLst>
          </p:cNvPr>
          <p:cNvSpPr>
            <a:spLocks xmlns:a="http://schemas.openxmlformats.org/drawingml/2006/main" noGrp="1"/>
          </p:cNvSpPr>
          <p:nvPr/>
        </p:nvSpPr>
        <p:spPr>
          <a:xfrm xmlns:a="http://schemas.openxmlformats.org/drawingml/2006/main">
            <a:off x="571500" y="2076450"/>
            <a:ext cx="1409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f) Bereken het deelnamepercentage in jaar 1 en jaar 3. Hoeveel procentpunten is de verandering?</a:t>
            </a:r>
          </a:p>
        </p:txBody>
      </p:sp>
      <p:sp>
        <p:nvSpPr>
          <p:cNvPr id="6" name="">
            <a:extLst xmlns:a="http://schemas.openxmlformats.org/drawingml/2006/main">
              <a:ext uri="{FF2B5EF4-FFF2-40B4-BE49-F238E27FC236}">
                <a16:creationId xmlns:a16="http://schemas.microsoft.com/office/drawing/2014/main" id="{E45A2C6B-10C7-48C6-9BD5-B2AFC6D3940E}"/>
              </a:ext>
            </a:extLst>
          </p:cNvPr>
          <p:cNvSpPr>
            <a:spLocks xmlns:a="http://schemas.openxmlformats.org/drawingml/2006/main" noGrp="1"/>
          </p:cNvSpPr>
          <p:nvPr/>
        </p:nvSpPr>
        <p:spPr>
          <a:xfrm xmlns:a="http://schemas.openxmlformats.org/drawingml/2006/main">
            <a:off x="571500" y="4067175"/>
            <a:ext cx="14097000" cy="0"/>
          </a:xfrm>
          <a:prstGeom xmlns:a="http://schemas.openxmlformats.org/drawingml/2006/main" prst="line">
            <a:avLst/>
          </a:prstGeom>
          <a:ln xmlns:a="http://schemas.openxmlformats.org/drawingml/2006/main" w="19050">
            <a:solidFill>
              <a:srgbClr val="C6D2DB"/>
            </a:solidFill>
          </a:ln>
        </p:spPr>
      </p:sp>
      <p:sp>
        <p:nvSpPr>
          <p:cNvPr id="7" name="g) Een bericht luidt: “Het aandeel deelnemers is m">
            <a:extLst xmlns:a="http://schemas.openxmlformats.org/drawingml/2006/main">
              <a:ext uri="{FF2B5EF4-FFF2-40B4-BE49-F238E27FC236}">
                <a16:creationId xmlns:a16="http://schemas.microsoft.com/office/drawing/2014/main" id="{E86A0FC3-6BD7-43FF-BE96-2D5B9C610DE3}"/>
              </a:ext>
            </a:extLst>
          </p:cNvPr>
          <p:cNvSpPr>
            <a:spLocks xmlns:a="http://schemas.openxmlformats.org/drawingml/2006/main" noGrp="1"/>
          </p:cNvSpPr>
          <p:nvPr/>
        </p:nvSpPr>
        <p:spPr>
          <a:xfrm xmlns:a="http://schemas.openxmlformats.org/drawingml/2006/main">
            <a:off x="571500" y="4686300"/>
            <a:ext cx="14097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g) Een bericht luidt: “Het aandeel deelnemers is met 4% gestegen.” Beoordeel dit bericht met een berekening.</a:t>
            </a:r>
          </a:p>
        </p:txBody>
      </p:sp>
    </p:spTree>
    <p:extLst>
      <p:ext uri="{BB962C8B-B14F-4D97-AF65-F5344CB8AC3E}">
        <p14:creationId xmlns:p14="http://schemas.microsoft.com/office/powerpoint/2010/main" val="14251827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8a · Materiaal per deelnemer">
            <a:extLst xmlns:a="http://schemas.openxmlformats.org/drawingml/2006/main">
              <a:ext uri="{FF2B5EF4-FFF2-40B4-BE49-F238E27FC236}">
                <a16:creationId xmlns:a16="http://schemas.microsoft.com/office/drawing/2014/main" id="{ECC40DB5-5AEC-400F-92B9-85AEC7CE9A3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18a · Materiaal per deelnemer</a:t>
            </a:r>
          </a:p>
        </p:txBody>
      </p:sp>
      <p:sp>
        <p:nvSpPr>
          <p:cNvPr id="2" name="">
            <a:extLst xmlns:a="http://schemas.openxmlformats.org/drawingml/2006/main">
              <a:ext uri="{FF2B5EF4-FFF2-40B4-BE49-F238E27FC236}">
                <a16:creationId xmlns:a16="http://schemas.microsoft.com/office/drawing/2014/main" id="{AFF452E4-5C82-42BE-ADDB-550F3D5535A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6C788CB4-0DBA-4070-A32B-961D332D6C5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1">
            <a:extLst xmlns:a="http://schemas.openxmlformats.org/drawingml/2006/main">
              <a:ext uri="{FF2B5EF4-FFF2-40B4-BE49-F238E27FC236}">
                <a16:creationId xmlns:a16="http://schemas.microsoft.com/office/drawing/2014/main" id="{36D3FBEF-30D0-447C-9586-4A4F6C7EF4A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Jaar 3: € 216 materiaal voor 36 deelnemers">
            <a:extLst xmlns:a="http://schemas.openxmlformats.org/drawingml/2006/main">
              <a:ext uri="{FF2B5EF4-FFF2-40B4-BE49-F238E27FC236}">
                <a16:creationId xmlns:a16="http://schemas.microsoft.com/office/drawing/2014/main" id="{6BD8018C-2D2F-4273-A070-763BF0979E9E}"/>
              </a:ext>
            </a:extLst>
          </p:cNvPr>
          <p:cNvSpPr>
            <a:spLocks xmlns:a="http://schemas.openxmlformats.org/drawingml/2006/main" noGrp="1"/>
          </p:cNvSpPr>
          <p:nvPr/>
        </p:nvSpPr>
        <p:spPr>
          <a:xfrm xmlns:a="http://schemas.openxmlformats.org/drawingml/2006/main">
            <a:off x="571500" y="206692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Jaar 3: € 216 materiaal voor 36 deelnemers</a:t>
            </a:r>
          </a:p>
        </p:txBody>
      </p:sp>
      <p:sp>
        <p:nvSpPr>
          <p:cNvPr id="6" name="Bedrag per deelnemer = totaal / aantal">
            <a:extLst xmlns:a="http://schemas.openxmlformats.org/drawingml/2006/main">
              <a:ext uri="{FF2B5EF4-FFF2-40B4-BE49-F238E27FC236}">
                <a16:creationId xmlns:a16="http://schemas.microsoft.com/office/drawing/2014/main" id="{86A852A0-4CFC-494E-ADCC-D6AF4F6D2EF1}"/>
              </a:ext>
            </a:extLst>
          </p:cNvPr>
          <p:cNvSpPr>
            <a:spLocks xmlns:a="http://schemas.openxmlformats.org/drawingml/2006/main" noGrp="1"/>
          </p:cNvSpPr>
          <p:nvPr/>
        </p:nvSpPr>
        <p:spPr>
          <a:xfrm xmlns:a="http://schemas.openxmlformats.org/drawingml/2006/main">
            <a:off x="571500" y="34194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Bedrag per deelnemer = totaal / aantal</a:t>
            </a:r>
          </a:p>
        </p:txBody>
      </p:sp>
      <p:sp>
        <p:nvSpPr>
          <p:cNvPr id="7" name="€ 216 / 36 = € 6 per deelnemer">
            <a:extLst xmlns:a="http://schemas.openxmlformats.org/drawingml/2006/main">
              <a:ext uri="{FF2B5EF4-FFF2-40B4-BE49-F238E27FC236}">
                <a16:creationId xmlns:a16="http://schemas.microsoft.com/office/drawing/2014/main" id="{5447B3DB-0520-4FE0-9527-E89CCCC611A5}"/>
              </a:ext>
            </a:extLst>
          </p:cNvPr>
          <p:cNvSpPr>
            <a:spLocks xmlns:a="http://schemas.openxmlformats.org/drawingml/2006/main" noGrp="1"/>
          </p:cNvSpPr>
          <p:nvPr/>
        </p:nvSpPr>
        <p:spPr>
          <a:xfrm xmlns:a="http://schemas.openxmlformats.org/drawingml/2006/main">
            <a:off x="571500" y="456247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83247"/>
                </a:solidFill>
                <a:latin typeface="Arial"/>
                <a:ea typeface="Arial"/>
                <a:cs typeface="Arial"/>
              </a:defRPr>
            </a:pPr>
            <a:r>
              <a:rPr sz="4125" b="1">
                <a:solidFill>
                  <a:srgbClr val="183247"/>
                </a:solidFill>
                <a:latin typeface="Arial"/>
                <a:ea typeface="Arial"/>
                <a:cs typeface="Arial"/>
              </a:rPr>
              <a:t>€ 216 / 36 = € 6 per deelnemer</a:t>
            </a:r>
          </a:p>
        </p:txBody>
      </p:sp>
      <p:sp>
        <p:nvSpPr>
          <p:cNvPr id="8" name="Controle: 36 × € 6 = € 216">
            <a:extLst xmlns:a="http://schemas.openxmlformats.org/drawingml/2006/main">
              <a:ext uri="{FF2B5EF4-FFF2-40B4-BE49-F238E27FC236}">
                <a16:creationId xmlns:a16="http://schemas.microsoft.com/office/drawing/2014/main" id="{B7A81CAF-D7CF-4D43-80A0-730CE03E5B93}"/>
              </a:ext>
            </a:extLst>
          </p:cNvPr>
          <p:cNvSpPr>
            <a:spLocks xmlns:a="http://schemas.openxmlformats.org/drawingml/2006/main" noGrp="1"/>
          </p:cNvSpPr>
          <p:nvPr/>
        </p:nvSpPr>
        <p:spPr>
          <a:xfrm xmlns:a="http://schemas.openxmlformats.org/drawingml/2006/main">
            <a:off x="571500" y="66484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20665B"/>
                </a:solidFill>
                <a:latin typeface="Arial"/>
                <a:ea typeface="Arial"/>
                <a:cs typeface="Arial"/>
              </a:defRPr>
            </a:pPr>
            <a:r>
              <a:rPr sz="3075" b="0">
                <a:solidFill>
                  <a:srgbClr val="20665B"/>
                </a:solidFill>
                <a:latin typeface="Arial"/>
                <a:ea typeface="Arial"/>
                <a:cs typeface="Arial"/>
              </a:rPr>
              <a:t>Controle: 36 × € 6 = € 216</a:t>
            </a:r>
          </a:p>
        </p:txBody>
      </p:sp>
    </p:spTree>
    <p:extLst>
      <p:ext uri="{BB962C8B-B14F-4D97-AF65-F5344CB8AC3E}">
        <p14:creationId xmlns:p14="http://schemas.microsoft.com/office/powerpoint/2010/main" val="15508432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8b · Prijsverandering">
            <a:extLst xmlns:a="http://schemas.openxmlformats.org/drawingml/2006/main">
              <a:ext uri="{FF2B5EF4-FFF2-40B4-BE49-F238E27FC236}">
                <a16:creationId xmlns:a16="http://schemas.microsoft.com/office/drawing/2014/main" id="{E4FA358B-55A8-41E9-869A-CB29A1B327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18b · Prijsverandering</a:t>
            </a:r>
          </a:p>
        </p:txBody>
      </p:sp>
      <p:sp>
        <p:nvSpPr>
          <p:cNvPr id="2" name="">
            <a:extLst xmlns:a="http://schemas.openxmlformats.org/drawingml/2006/main">
              <a:ext uri="{FF2B5EF4-FFF2-40B4-BE49-F238E27FC236}">
                <a16:creationId xmlns:a16="http://schemas.microsoft.com/office/drawing/2014/main" id="{D1C3CEE4-A8D2-4A7F-AE4C-199DC400512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3B281D11-2368-4ED7-AE36-42CF1DCB860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2">
            <a:extLst xmlns:a="http://schemas.openxmlformats.org/drawingml/2006/main">
              <a:ext uri="{FF2B5EF4-FFF2-40B4-BE49-F238E27FC236}">
                <a16:creationId xmlns:a16="http://schemas.microsoft.com/office/drawing/2014/main" id="{277529A0-64F2-4E31-B469-B9D77CF2A1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4" name=""/>
          <p:cNvGraphicFramePr/>
          <p:nvPr/>
        </p:nvGraphicFramePr>
        <p:xfrm>
          <a:off xmlns:a="http://schemas.openxmlformats.org/drawingml/2006/main" x="571500" y="2038350"/>
          <a:ext xmlns:a="http://schemas.openxmlformats.org/drawingml/2006/main" cx="14097000" cy="1714500"/>
        </p:xfrm>
        <a:graphic xmlns:a="http://schemas.openxmlformats.org/drawingml/2006/main">
          <a:graphicData uri="http://schemas.openxmlformats.org/drawingml/2006/table">
            <a:tbl>
              <a:tblPr/>
              <a:tblGrid>
                <a:gridCol w="6286500"/>
                <a:gridCol w="3905250"/>
                <a:gridCol w="3905250"/>
              </a:tblGrid>
              <a:tr h="857250">
                <a:tc>
                  <a:txBody>
                    <a:bodyPr lIns="171450" tIns="95250" rIns="152400" bIns="95250"/>
                    <a:lstStyle/>
                    <a:p>
                      <a:r>
                        <a:rPr sz="2625" b="1">
                          <a:solidFill>
                            <a:srgbClr val="FFFFFF"/>
                          </a:solidFill>
                          <a:latin typeface="Arial"/>
                          <a:ea typeface="Arial"/>
                          <a:cs typeface="Arial"/>
                        </a:rPr>
                        <a:t>Prijs per workshop</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Jaar 1: oud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Jaar 2: nieuw</a:t>
                      </a:r>
                    </a:p>
                  </a:txBody>
                  <a:tcPr marL="91440" marR="91440" marT="45720" marB="45720" anchor="ctr">
                    <a:solidFill>
                      <a:srgbClr val="183247"/>
                    </a:solidFill>
                  </a:tcPr>
                </a:tc>
              </a:tr>
              <a:tr h="857250">
                <a:tc>
                  <a:txBody>
                    <a:bodyPr lIns="171450" tIns="95250" rIns="152400" bIns="95250"/>
                    <a:lstStyle/>
                    <a:p>
                      <a:r>
                        <a:rPr sz="2625" b="0">
                          <a:solidFill>
                            <a:srgbClr val="183247"/>
                          </a:solidFill>
                          <a:latin typeface="Arial"/>
                          <a:ea typeface="Arial"/>
                          <a:cs typeface="Arial"/>
                        </a:rPr>
                        <a:t>Bedrag</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€ 12</a:t>
                      </a:r>
                    </a:p>
                  </a:txBody>
                  <a:tcPr marL="91440" marR="91440" marT="45720" marB="45720" anchor="ctr">
                    <a:solidFill>
                      <a:srgbClr val="FFFFFF"/>
                    </a:solidFill>
                  </a:tcPr>
                </a:tc>
              </a:tr>
            </a:tbl>
          </a:graphicData>
        </a:graphic>
      </p:graphicFrame>
      <p:sp>
        <p:nvSpPr>
          <p:cNvPr id="6" name="Absoluut: € 12 − € 10 = +€ 2 per workshop">
            <a:extLst xmlns:a="http://schemas.openxmlformats.org/drawingml/2006/main">
              <a:ext uri="{FF2B5EF4-FFF2-40B4-BE49-F238E27FC236}">
                <a16:creationId xmlns:a16="http://schemas.microsoft.com/office/drawing/2014/main" id="{920E1DB7-0B9F-483D-9AE7-FB153AE640D9}"/>
              </a:ext>
            </a:extLst>
          </p:cNvPr>
          <p:cNvSpPr>
            <a:spLocks xmlns:a="http://schemas.openxmlformats.org/drawingml/2006/main" noGrp="1"/>
          </p:cNvSpPr>
          <p:nvPr/>
        </p:nvSpPr>
        <p:spPr>
          <a:xfrm xmlns:a="http://schemas.openxmlformats.org/drawingml/2006/main">
            <a:off x="571500" y="42576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Absoluut: € 12 − € 10 = +€ 2 per workshop</a:t>
            </a:r>
          </a:p>
        </p:txBody>
      </p:sp>
      <p:sp>
        <p:nvSpPr>
          <p:cNvPr id="7" name="Procentueel: (nieuw − oud) / oud × 100%">
            <a:extLst xmlns:a="http://schemas.openxmlformats.org/drawingml/2006/main">
              <a:ext uri="{FF2B5EF4-FFF2-40B4-BE49-F238E27FC236}">
                <a16:creationId xmlns:a16="http://schemas.microsoft.com/office/drawing/2014/main" id="{B2B810C5-3A24-4764-8730-CAE0A149320F}"/>
              </a:ext>
            </a:extLst>
          </p:cNvPr>
          <p:cNvSpPr>
            <a:spLocks xmlns:a="http://schemas.openxmlformats.org/drawingml/2006/main" noGrp="1"/>
          </p:cNvSpPr>
          <p:nvPr/>
        </p:nvSpPr>
        <p:spPr>
          <a:xfrm xmlns:a="http://schemas.openxmlformats.org/drawingml/2006/main">
            <a:off x="571500" y="53625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Procentueel: (nieuw − oud) / oud × 100%</a:t>
            </a:r>
          </a:p>
        </p:txBody>
      </p:sp>
      <p:sp>
        <p:nvSpPr>
          <p:cNvPr id="8" name="(12 − 10) / 10 × 100% = +20%">
            <a:extLst xmlns:a="http://schemas.openxmlformats.org/drawingml/2006/main">
              <a:ext uri="{FF2B5EF4-FFF2-40B4-BE49-F238E27FC236}">
                <a16:creationId xmlns:a16="http://schemas.microsoft.com/office/drawing/2014/main" id="{E57BB41B-01D1-4BB3-9C7F-984BEE5704C0}"/>
              </a:ext>
            </a:extLst>
          </p:cNvPr>
          <p:cNvSpPr>
            <a:spLocks xmlns:a="http://schemas.openxmlformats.org/drawingml/2006/main" noGrp="1"/>
          </p:cNvSpPr>
          <p:nvPr/>
        </p:nvSpPr>
        <p:spPr>
          <a:xfrm xmlns:a="http://schemas.openxmlformats.org/drawingml/2006/main">
            <a:off x="571500" y="62484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(12 − 10) / 10 × 100% = +20%</a:t>
            </a:r>
          </a:p>
        </p:txBody>
      </p:sp>
      <p:sp>
        <p:nvSpPr>
          <p:cNvPr id="9" name="Controle: 20% van € 10 is € 2.">
            <a:extLst xmlns:a="http://schemas.openxmlformats.org/drawingml/2006/main">
              <a:ext uri="{FF2B5EF4-FFF2-40B4-BE49-F238E27FC236}">
                <a16:creationId xmlns:a16="http://schemas.microsoft.com/office/drawing/2014/main" id="{90C424F1-6082-4C51-AB20-23B4A23EFDDE}"/>
              </a:ext>
            </a:extLst>
          </p:cNvPr>
          <p:cNvSpPr>
            <a:spLocks xmlns:a="http://schemas.openxmlformats.org/drawingml/2006/main" noGrp="1"/>
          </p:cNvSpPr>
          <p:nvPr/>
        </p:nvSpPr>
        <p:spPr>
          <a:xfrm xmlns:a="http://schemas.openxmlformats.org/drawingml/2006/main">
            <a:off x="571500" y="746760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0665B"/>
                </a:solidFill>
                <a:latin typeface="Arial"/>
                <a:ea typeface="Arial"/>
                <a:cs typeface="Arial"/>
              </a:defRPr>
            </a:pPr>
            <a:r>
              <a:rPr sz="2400" b="0">
                <a:solidFill>
                  <a:srgbClr val="20665B"/>
                </a:solidFill>
                <a:latin typeface="Arial"/>
                <a:ea typeface="Arial"/>
                <a:cs typeface="Arial"/>
              </a:rPr>
              <a:t>Controle: 20% van € 10 is € 2.</a:t>
            </a:r>
          </a:p>
        </p:txBody>
      </p:sp>
    </p:spTree>
    <p:extLst>
      <p:ext uri="{BB962C8B-B14F-4D97-AF65-F5344CB8AC3E}">
        <p14:creationId xmlns:p14="http://schemas.microsoft.com/office/powerpoint/2010/main" val="515015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8c · De aangekondigde prijs">
            <a:extLst xmlns:a="http://schemas.openxmlformats.org/drawingml/2006/main">
              <a:ext uri="{FF2B5EF4-FFF2-40B4-BE49-F238E27FC236}">
                <a16:creationId xmlns:a16="http://schemas.microsoft.com/office/drawing/2014/main" id="{92D805D6-EB03-4F78-A259-4E94C9D28F0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18c · De aangekondigde prijs</a:t>
            </a:r>
          </a:p>
        </p:txBody>
      </p:sp>
      <p:sp>
        <p:nvSpPr>
          <p:cNvPr id="2" name="">
            <a:extLst xmlns:a="http://schemas.openxmlformats.org/drawingml/2006/main">
              <a:ext uri="{FF2B5EF4-FFF2-40B4-BE49-F238E27FC236}">
                <a16:creationId xmlns:a16="http://schemas.microsoft.com/office/drawing/2014/main" id="{A14238C2-7F08-4369-94C9-C7AA6DD5F3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285AD190-48FC-4CC0-8977-768FA50940C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3">
            <a:extLst xmlns:a="http://schemas.openxmlformats.org/drawingml/2006/main">
              <a:ext uri="{FF2B5EF4-FFF2-40B4-BE49-F238E27FC236}">
                <a16:creationId xmlns:a16="http://schemas.microsoft.com/office/drawing/2014/main" id="{4E35D8D3-535B-4E29-AFB6-8AAEC991ED5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rijs in jaar 3: € 15 · aangekondigde stijging: 8%">
            <a:extLst xmlns:a="http://schemas.openxmlformats.org/drawingml/2006/main">
              <a:ext uri="{FF2B5EF4-FFF2-40B4-BE49-F238E27FC236}">
                <a16:creationId xmlns:a16="http://schemas.microsoft.com/office/drawing/2014/main" id="{0340F461-01C7-4385-866A-05D5B26125EE}"/>
              </a:ext>
            </a:extLst>
          </p:cNvPr>
          <p:cNvSpPr>
            <a:spLocks xmlns:a="http://schemas.openxmlformats.org/drawingml/2006/main" noGrp="1"/>
          </p:cNvSpPr>
          <p:nvPr/>
        </p:nvSpPr>
        <p:spPr>
          <a:xfrm xmlns:a="http://schemas.openxmlformats.org/drawingml/2006/main">
            <a:off x="571500" y="20669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Prijs in jaar 3: € 15 · aangekondigde stijging: 8%</a:t>
            </a:r>
          </a:p>
        </p:txBody>
      </p:sp>
      <p:sp>
        <p:nvSpPr>
          <p:cNvPr id="6" name="Factor = 1 + 8 / 100 = 1,08">
            <a:extLst xmlns:a="http://schemas.openxmlformats.org/drawingml/2006/main">
              <a:ext uri="{FF2B5EF4-FFF2-40B4-BE49-F238E27FC236}">
                <a16:creationId xmlns:a16="http://schemas.microsoft.com/office/drawing/2014/main" id="{A009FEDD-0896-4B5F-B99A-AF843A8D670F}"/>
              </a:ext>
            </a:extLst>
          </p:cNvPr>
          <p:cNvSpPr>
            <a:spLocks xmlns:a="http://schemas.openxmlformats.org/drawingml/2006/main" noGrp="1"/>
          </p:cNvSpPr>
          <p:nvPr/>
        </p:nvSpPr>
        <p:spPr>
          <a:xfrm xmlns:a="http://schemas.openxmlformats.org/drawingml/2006/main">
            <a:off x="571500" y="34290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Factor = 1 + 8 / 100 = 1,08</a:t>
            </a:r>
          </a:p>
        </p:txBody>
      </p:sp>
      <p:sp>
        <p:nvSpPr>
          <p:cNvPr id="7" name="Nieuwe prijs = € 15 × 1,08 = € 16,20">
            <a:extLst xmlns:a="http://schemas.openxmlformats.org/drawingml/2006/main">
              <a:ext uri="{FF2B5EF4-FFF2-40B4-BE49-F238E27FC236}">
                <a16:creationId xmlns:a16="http://schemas.microsoft.com/office/drawing/2014/main" id="{44F3D753-5B2D-47C0-8200-90776FB5CD43}"/>
              </a:ext>
            </a:extLst>
          </p:cNvPr>
          <p:cNvSpPr>
            <a:spLocks xmlns:a="http://schemas.openxmlformats.org/drawingml/2006/main" noGrp="1"/>
          </p:cNvSpPr>
          <p:nvPr/>
        </p:nvSpPr>
        <p:spPr>
          <a:xfrm xmlns:a="http://schemas.openxmlformats.org/drawingml/2006/main">
            <a:off x="571500" y="461962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Nieuwe prijs = € 15 × 1,08 = € 16,20</a:t>
            </a:r>
          </a:p>
        </p:txBody>
      </p:sp>
      <p:sp>
        <p:nvSpPr>
          <p:cNvPr id="8" name="Controle: 8% van € 15 = € 1,20; € 15 + € 1,20 = € ">
            <a:extLst xmlns:a="http://schemas.openxmlformats.org/drawingml/2006/main">
              <a:ext uri="{FF2B5EF4-FFF2-40B4-BE49-F238E27FC236}">
                <a16:creationId xmlns:a16="http://schemas.microsoft.com/office/drawing/2014/main" id="{B67430CA-9CDF-4156-93E9-8CC0ECB3B3CD}"/>
              </a:ext>
            </a:extLst>
          </p:cNvPr>
          <p:cNvSpPr>
            <a:spLocks xmlns:a="http://schemas.openxmlformats.org/drawingml/2006/main" noGrp="1"/>
          </p:cNvSpPr>
          <p:nvPr/>
        </p:nvSpPr>
        <p:spPr>
          <a:xfrm xmlns:a="http://schemas.openxmlformats.org/drawingml/2006/main">
            <a:off x="571500" y="6600825"/>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0665B"/>
                </a:solidFill>
                <a:latin typeface="Arial"/>
                <a:ea typeface="Arial"/>
                <a:cs typeface="Arial"/>
              </a:defRPr>
            </a:pPr>
            <a:r>
              <a:rPr sz="2700" b="0">
                <a:solidFill>
                  <a:srgbClr val="20665B"/>
                </a:solidFill>
                <a:latin typeface="Arial"/>
                <a:ea typeface="Arial"/>
                <a:cs typeface="Arial"/>
              </a:rPr>
              <a:t>Controle: 8% van € 15 = € 1,20; € 15 + € 1,20 = € 16,20.</a:t>
            </a:r>
          </a:p>
        </p:txBody>
      </p:sp>
    </p:spTree>
    <p:extLst>
      <p:ext uri="{BB962C8B-B14F-4D97-AF65-F5344CB8AC3E}">
        <p14:creationId xmlns:p14="http://schemas.microsoft.com/office/powerpoint/2010/main" val="8997118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8d · De prijsindexcijfers">
            <a:extLst xmlns:a="http://schemas.openxmlformats.org/drawingml/2006/main">
              <a:ext uri="{FF2B5EF4-FFF2-40B4-BE49-F238E27FC236}">
                <a16:creationId xmlns:a16="http://schemas.microsoft.com/office/drawing/2014/main" id="{D2191CC1-F591-4E75-AC06-A1E55C93E11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18d · De prijsindexcijfers</a:t>
            </a:r>
          </a:p>
        </p:txBody>
      </p:sp>
      <p:sp>
        <p:nvSpPr>
          <p:cNvPr id="2" name="">
            <a:extLst xmlns:a="http://schemas.openxmlformats.org/drawingml/2006/main">
              <a:ext uri="{FF2B5EF4-FFF2-40B4-BE49-F238E27FC236}">
                <a16:creationId xmlns:a16="http://schemas.microsoft.com/office/drawing/2014/main" id="{E5FA1241-B45D-4D40-B777-A6EE9DB5E1D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30F989F9-28D5-4D6E-A1A8-A670834F5D4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4">
            <a:extLst xmlns:a="http://schemas.openxmlformats.org/drawingml/2006/main">
              <a:ext uri="{FF2B5EF4-FFF2-40B4-BE49-F238E27FC236}">
                <a16:creationId xmlns:a16="http://schemas.microsoft.com/office/drawing/2014/main" id="{841EDD0E-6BC9-46F1-AEC1-A496955E79D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Index = prijs / basisprijs × 100 · jaar 1 = 100">
            <a:extLst xmlns:a="http://schemas.openxmlformats.org/drawingml/2006/main">
              <a:ext uri="{FF2B5EF4-FFF2-40B4-BE49-F238E27FC236}">
                <a16:creationId xmlns:a16="http://schemas.microsoft.com/office/drawing/2014/main" id="{04A2B808-DB25-4969-93DF-6B0A8738D1D9}"/>
              </a:ext>
            </a:extLst>
          </p:cNvPr>
          <p:cNvSpPr>
            <a:spLocks xmlns:a="http://schemas.openxmlformats.org/drawingml/2006/main" noGrp="1"/>
          </p:cNvSpPr>
          <p:nvPr/>
        </p:nvSpPr>
        <p:spPr>
          <a:xfrm xmlns:a="http://schemas.openxmlformats.org/drawingml/2006/main">
            <a:off x="571500" y="19812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Index = prijs / basisprijs × 100 · jaar 1 = 100</a:t>
            </a:r>
          </a:p>
        </p:txBody>
      </p:sp>
      <p:graphicFrame>
        <p:nvGraphicFramePr>
          <p:cNvPr id="13" name=""/>
          <p:cNvGraphicFramePr/>
          <p:nvPr/>
        </p:nvGraphicFramePr>
        <p:xfrm>
          <a:off xmlns:a="http://schemas.openxmlformats.org/drawingml/2006/main" x="571500" y="3267075"/>
          <a:ext xmlns:a="http://schemas.openxmlformats.org/drawingml/2006/main" cx="14097000" cy="3486150"/>
        </p:xfrm>
        <a:graphic xmlns:a="http://schemas.openxmlformats.org/drawingml/2006/main">
          <a:graphicData uri="http://schemas.openxmlformats.org/drawingml/2006/table">
            <a:tbl>
              <a:tblPr/>
              <a:tblGrid>
                <a:gridCol w="2476500"/>
                <a:gridCol w="3810000"/>
                <a:gridCol w="5143500"/>
                <a:gridCol w="2667000"/>
              </a:tblGrid>
              <a:tr h="871538">
                <a:tc>
                  <a:txBody>
                    <a:bodyPr lIns="171450" tIns="95250" rIns="152400" bIns="95250"/>
                    <a:lstStyle/>
                    <a:p>
                      <a:r>
                        <a:rPr sz="2550" b="1">
                          <a:solidFill>
                            <a:srgbClr val="FFFFFF"/>
                          </a:solidFill>
                          <a:latin typeface="Arial"/>
                          <a:ea typeface="Arial"/>
                          <a:cs typeface="Arial"/>
                        </a:rPr>
                        <a:t>Jaar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Prijs per workshop</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Prijsindex</a:t>
                      </a:r>
                    </a:p>
                  </a:txBody>
                  <a:tcPr marL="91440" marR="91440" marT="45720" marB="45720" anchor="ctr">
                    <a:solidFill>
                      <a:srgbClr val="183247"/>
                    </a:solidFill>
                  </a:tcPr>
                </a:tc>
              </a:tr>
              <a:tr h="871538">
                <a:tc>
                  <a:txBody>
                    <a:bodyPr lIns="171450" tIns="95250" rIns="152400" bIns="95250"/>
                    <a:lstStyle/>
                    <a:p>
                      <a:r>
                        <a:rPr sz="2550" b="0">
                          <a:solidFill>
                            <a:srgbClr val="183247"/>
                          </a:solidFill>
                          <a:latin typeface="Arial"/>
                          <a:ea typeface="Arial"/>
                          <a:cs typeface="Arial"/>
                        </a:rPr>
                        <a:t>1 (basis)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 / 10 × 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a:t>
                      </a:r>
                    </a:p>
                  </a:txBody>
                  <a:tcPr marL="91440" marR="91440" marT="45720" marB="45720" anchor="ctr">
                    <a:solidFill>
                      <a:srgbClr val="FFFFFF"/>
                    </a:solidFill>
                  </a:tcPr>
                </a:tc>
              </a:tr>
              <a:tr h="871538">
                <a:tc>
                  <a:txBody>
                    <a:bodyPr lIns="171450" tIns="95250" rIns="152400" bIns="95250"/>
                    <a:lstStyle/>
                    <a:p>
                      <a:r>
                        <a:rPr sz="2550" b="0">
                          <a:solidFill>
                            <a:srgbClr val="183247"/>
                          </a:solidFill>
                          <a:latin typeface="Arial"/>
                          <a:ea typeface="Arial"/>
                          <a:cs typeface="Arial"/>
                        </a:rPr>
                        <a:t>2</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€ 12</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 / 10 × 100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120</a:t>
                      </a:r>
                    </a:p>
                  </a:txBody>
                  <a:tcPr marL="91440" marR="91440" marT="45720" marB="45720" anchor="ctr">
                    <a:solidFill>
                      <a:srgbClr val="EFF4F7"/>
                    </a:solidFill>
                  </a:tcPr>
                </a:tc>
              </a:tr>
              <a:tr h="871538">
                <a:tc>
                  <a:txBody>
                    <a:bodyPr lIns="171450" tIns="95250" rIns="152400" bIns="95250"/>
                    <a:lstStyle/>
                    <a:p>
                      <a:r>
                        <a:rPr sz="2550" b="0">
                          <a:solidFill>
                            <a:srgbClr val="183247"/>
                          </a:solidFill>
                          <a:latin typeface="Arial"/>
                          <a:ea typeface="Arial"/>
                          <a:cs typeface="Arial"/>
                        </a:rPr>
                        <a:t>3</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15 / 10 × 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150</a:t>
                      </a:r>
                    </a:p>
                  </a:txBody>
                  <a:tcPr marL="91440" marR="91440" marT="45720" marB="45720" anchor="ctr">
                    <a:solidFill>
                      <a:srgbClr val="FFFFFF"/>
                    </a:solidFill>
                  </a:tcPr>
                </a:tc>
              </a:tr>
            </a:tbl>
          </a:graphicData>
        </a:graphic>
      </p:graphicFrame>
      <p:sp>
        <p:nvSpPr>
          <p:cNvPr id="7" name="Elke index vergelijkt met dezelfde basisprijs van ">
            <a:extLst xmlns:a="http://schemas.openxmlformats.org/drawingml/2006/main">
              <a:ext uri="{FF2B5EF4-FFF2-40B4-BE49-F238E27FC236}">
                <a16:creationId xmlns:a16="http://schemas.microsoft.com/office/drawing/2014/main" id="{2E116459-3872-4166-AB56-AD0FB2E02D84}"/>
              </a:ext>
            </a:extLst>
          </p:cNvPr>
          <p:cNvSpPr>
            <a:spLocks xmlns:a="http://schemas.openxmlformats.org/drawingml/2006/main" noGrp="1"/>
          </p:cNvSpPr>
          <p:nvPr/>
        </p:nvSpPr>
        <p:spPr>
          <a:xfrm xmlns:a="http://schemas.openxmlformats.org/drawingml/2006/main">
            <a:off x="571500" y="72866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Elke index vergelijkt met dezelfde basisprijs van € 10.</a:t>
            </a:r>
          </a:p>
        </p:txBody>
      </p:sp>
    </p:spTree>
    <p:extLst>
      <p:ext uri="{BB962C8B-B14F-4D97-AF65-F5344CB8AC3E}">
        <p14:creationId xmlns:p14="http://schemas.microsoft.com/office/powerpoint/2010/main" val="10336806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8e · Verandering met indexcijfers">
            <a:extLst xmlns:a="http://schemas.openxmlformats.org/drawingml/2006/main">
              <a:ext uri="{FF2B5EF4-FFF2-40B4-BE49-F238E27FC236}">
                <a16:creationId xmlns:a16="http://schemas.microsoft.com/office/drawing/2014/main" id="{53B2E9A2-6DEE-4E06-9AAE-C11D3A52C1A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18e · Verandering met indexcijfers</a:t>
            </a:r>
          </a:p>
        </p:txBody>
      </p:sp>
      <p:sp>
        <p:nvSpPr>
          <p:cNvPr id="2" name="">
            <a:extLst xmlns:a="http://schemas.openxmlformats.org/drawingml/2006/main">
              <a:ext uri="{FF2B5EF4-FFF2-40B4-BE49-F238E27FC236}">
                <a16:creationId xmlns:a16="http://schemas.microsoft.com/office/drawing/2014/main" id="{F694088E-AB3B-4B75-982D-D0474DE462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D9A306FF-12E8-4522-8CEE-69F04E1EA03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5">
            <a:extLst xmlns:a="http://schemas.openxmlformats.org/drawingml/2006/main">
              <a:ext uri="{FF2B5EF4-FFF2-40B4-BE49-F238E27FC236}">
                <a16:creationId xmlns:a16="http://schemas.microsoft.com/office/drawing/2014/main" id="{E7267DFE-CC0C-41BB-8B02-EDAEFFD18AF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Jaar 2: index 120 → jaar 3: index 150">
            <a:extLst xmlns:a="http://schemas.openxmlformats.org/drawingml/2006/main">
              <a:ext uri="{FF2B5EF4-FFF2-40B4-BE49-F238E27FC236}">
                <a16:creationId xmlns:a16="http://schemas.microsoft.com/office/drawing/2014/main" id="{EF4E71CB-776F-400E-8D45-AF4D6E4F9F7B}"/>
              </a:ext>
            </a:extLst>
          </p:cNvPr>
          <p:cNvSpPr>
            <a:spLocks xmlns:a="http://schemas.openxmlformats.org/drawingml/2006/main" noGrp="1"/>
          </p:cNvSpPr>
          <p:nvPr/>
        </p:nvSpPr>
        <p:spPr>
          <a:xfrm xmlns:a="http://schemas.openxmlformats.org/drawingml/2006/main">
            <a:off x="571500" y="20764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Jaar 2: index 120 → jaar 3: index 150</a:t>
            </a:r>
          </a:p>
        </p:txBody>
      </p:sp>
      <p:sp>
        <p:nvSpPr>
          <p:cNvPr id="6" name="150 − 120 = 30 indexpunten">
            <a:extLst xmlns:a="http://schemas.openxmlformats.org/drawingml/2006/main">
              <a:ext uri="{FF2B5EF4-FFF2-40B4-BE49-F238E27FC236}">
                <a16:creationId xmlns:a16="http://schemas.microsoft.com/office/drawing/2014/main" id="{A44080B1-F7F0-47B7-ACAC-A4D2B55E95A9}"/>
              </a:ext>
            </a:extLst>
          </p:cNvPr>
          <p:cNvSpPr>
            <a:spLocks xmlns:a="http://schemas.openxmlformats.org/drawingml/2006/main" noGrp="1"/>
          </p:cNvSpPr>
          <p:nvPr/>
        </p:nvSpPr>
        <p:spPr>
          <a:xfrm xmlns:a="http://schemas.openxmlformats.org/drawingml/2006/main">
            <a:off x="571500" y="3324225"/>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150 − 120 = 30 indexpunten</a:t>
            </a:r>
          </a:p>
        </p:txBody>
      </p:sp>
      <p:sp>
        <p:nvSpPr>
          <p:cNvPr id="7" name="(150 − 120) / 120 × 100% = 25%">
            <a:extLst xmlns:a="http://schemas.openxmlformats.org/drawingml/2006/main">
              <a:ext uri="{FF2B5EF4-FFF2-40B4-BE49-F238E27FC236}">
                <a16:creationId xmlns:a16="http://schemas.microsoft.com/office/drawing/2014/main" id="{7DD58D38-2E1C-48C1-B4DA-04C967A22D5A}"/>
              </a:ext>
            </a:extLst>
          </p:cNvPr>
          <p:cNvSpPr>
            <a:spLocks xmlns:a="http://schemas.openxmlformats.org/drawingml/2006/main" noGrp="1"/>
          </p:cNvSpPr>
          <p:nvPr/>
        </p:nvSpPr>
        <p:spPr>
          <a:xfrm xmlns:a="http://schemas.openxmlformats.org/drawingml/2006/main">
            <a:off x="571500" y="4762500"/>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7658A"/>
                </a:solidFill>
                <a:latin typeface="Arial"/>
                <a:ea typeface="Arial"/>
                <a:cs typeface="Arial"/>
              </a:defRPr>
            </a:pPr>
            <a:r>
              <a:rPr sz="3750" b="1">
                <a:solidFill>
                  <a:srgbClr val="17658A"/>
                </a:solidFill>
                <a:latin typeface="Arial"/>
                <a:ea typeface="Arial"/>
                <a:cs typeface="Arial"/>
              </a:rPr>
              <a:t>(150 − 120) / 120 × 100% = 25%</a:t>
            </a:r>
          </a:p>
        </p:txBody>
      </p:sp>
      <p:sp>
        <p:nvSpPr>
          <p:cNvPr id="8" name="Controle met prijzen: (15 − 12) / 12 × 100% = 25%.">
            <a:extLst xmlns:a="http://schemas.openxmlformats.org/drawingml/2006/main">
              <a:ext uri="{FF2B5EF4-FFF2-40B4-BE49-F238E27FC236}">
                <a16:creationId xmlns:a16="http://schemas.microsoft.com/office/drawing/2014/main" id="{4D23F34E-BB57-4D08-81B4-DF92AEA4BD7B}"/>
              </a:ext>
            </a:extLst>
          </p:cNvPr>
          <p:cNvSpPr>
            <a:spLocks xmlns:a="http://schemas.openxmlformats.org/drawingml/2006/main" noGrp="1"/>
          </p:cNvSpPr>
          <p:nvPr/>
        </p:nvSpPr>
        <p:spPr>
          <a:xfrm xmlns:a="http://schemas.openxmlformats.org/drawingml/2006/main">
            <a:off x="571500" y="6562725"/>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20665B"/>
                </a:solidFill>
                <a:latin typeface="Arial"/>
                <a:ea typeface="Arial"/>
                <a:cs typeface="Arial"/>
              </a:defRPr>
            </a:pPr>
            <a:r>
              <a:rPr sz="2775" b="0">
                <a:solidFill>
                  <a:srgbClr val="20665B"/>
                </a:solidFill>
                <a:latin typeface="Arial"/>
                <a:ea typeface="Arial"/>
                <a:cs typeface="Arial"/>
              </a:rPr>
              <a:t>Controle met prijzen: (15 − 12) / 12 × 100% = 25%.</a:t>
            </a:r>
          </a:p>
        </p:txBody>
      </p:sp>
    </p:spTree>
    <p:extLst>
      <p:ext uri="{BB962C8B-B14F-4D97-AF65-F5344CB8AC3E}">
        <p14:creationId xmlns:p14="http://schemas.microsoft.com/office/powerpoint/2010/main" val="202852553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8f · Deelnamepercentages">
            <a:extLst xmlns:a="http://schemas.openxmlformats.org/drawingml/2006/main">
              <a:ext uri="{FF2B5EF4-FFF2-40B4-BE49-F238E27FC236}">
                <a16:creationId xmlns:a16="http://schemas.microsoft.com/office/drawing/2014/main" id="{613B50EA-FB29-46C8-8C1C-40C4ABEEAA1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18f · Deelnamepercentages</a:t>
            </a:r>
          </a:p>
        </p:txBody>
      </p:sp>
      <p:sp>
        <p:nvSpPr>
          <p:cNvPr id="2" name="">
            <a:extLst xmlns:a="http://schemas.openxmlformats.org/drawingml/2006/main">
              <a:ext uri="{FF2B5EF4-FFF2-40B4-BE49-F238E27FC236}">
                <a16:creationId xmlns:a16="http://schemas.microsoft.com/office/drawing/2014/main" id="{5C255E79-2118-476B-9C6B-210DD21717F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D92D174B-50D8-428D-92D1-DA80AA567CC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6">
            <a:extLst xmlns:a="http://schemas.openxmlformats.org/drawingml/2006/main">
              <a:ext uri="{FF2B5EF4-FFF2-40B4-BE49-F238E27FC236}">
                <a16:creationId xmlns:a16="http://schemas.microsoft.com/office/drawing/2014/main" id="{C3F94E71-B579-4A72-B24D-7A134EFD48B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2" name=""/>
          <p:cNvGraphicFramePr/>
          <p:nvPr/>
        </p:nvGraphicFramePr>
        <p:xfrm>
          <a:off xmlns:a="http://schemas.openxmlformats.org/drawingml/2006/main" x="571500" y="1981200"/>
          <a:ext xmlns:a="http://schemas.openxmlformats.org/drawingml/2006/main" cx="14097000" cy="3505200"/>
        </p:xfrm>
        <a:graphic xmlns:a="http://schemas.openxmlformats.org/drawingml/2006/main">
          <a:graphicData uri="http://schemas.openxmlformats.org/drawingml/2006/table">
            <a:tbl>
              <a:tblPr/>
              <a:tblGrid>
                <a:gridCol w="5715000"/>
                <a:gridCol w="4191000"/>
                <a:gridCol w="4191000"/>
              </a:tblGrid>
              <a:tr h="876300">
                <a:tc>
                  <a:txBody>
                    <a:bodyPr lIns="171450" tIns="95250" rIns="152400" bIns="95250"/>
                    <a:lstStyle/>
                    <a:p>
                      <a:r>
                        <a:rPr sz="2400"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Jaar 1</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Jaar 3</a:t>
                      </a:r>
                    </a:p>
                  </a:txBody>
                  <a:tcPr marL="91440" marR="91440" marT="45720" marB="45720" anchor="ctr">
                    <a:solidFill>
                      <a:srgbClr val="183247"/>
                    </a:solidFill>
                  </a:tcPr>
                </a:tc>
              </a:tr>
              <a:tr h="876300">
                <a:tc>
                  <a:txBody>
                    <a:bodyPr lIns="171450" tIns="95250" rIns="152400" bIns="95250"/>
                    <a:lstStyle/>
                    <a:p>
                      <a:r>
                        <a:rPr sz="2400" b="0">
                          <a:solidFill>
                            <a:srgbClr val="183247"/>
                          </a:solidFill>
                          <a:latin typeface="Arial"/>
                          <a:ea typeface="Arial"/>
                          <a:cs typeface="Arial"/>
                        </a:rPr>
                        <a:t>Werkelijke deelnemers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36</a:t>
                      </a:r>
                    </a:p>
                  </a:txBody>
                  <a:tcPr marL="91440" marR="91440" marT="45720" marB="45720" anchor="ctr">
                    <a:solidFill>
                      <a:srgbClr val="FFFFFF"/>
                    </a:solidFill>
                  </a:tcPr>
                </a:tc>
              </a:tr>
              <a:tr h="876300">
                <a:tc>
                  <a:txBody>
                    <a:bodyPr lIns="171450" tIns="95250" rIns="152400" bIns="95250"/>
                    <a:lstStyle/>
                    <a:p>
                      <a:r>
                        <a:rPr sz="2400" b="0">
                          <a:solidFill>
                            <a:srgbClr val="183247"/>
                          </a:solidFill>
                          <a:latin typeface="Arial"/>
                          <a:ea typeface="Arial"/>
                          <a:cs typeface="Arial"/>
                        </a:rPr>
                        <a:t>Leerlingen die konden deelnemen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150</a:t>
                      </a:r>
                    </a:p>
                  </a:txBody>
                  <a:tcPr marL="91440" marR="91440" marT="45720" marB="45720" anchor="ctr">
                    <a:solidFill>
                      <a:srgbClr val="EFF4F7"/>
                    </a:solidFill>
                  </a:tcPr>
                </a:tc>
              </a:tr>
              <a:tr h="876300">
                <a:tc>
                  <a:txBody>
                    <a:bodyPr lIns="171450" tIns="95250" rIns="152400" bIns="95250"/>
                    <a:lstStyle/>
                    <a:p>
                      <a:r>
                        <a:rPr sz="2400" b="0">
                          <a:solidFill>
                            <a:srgbClr val="183247"/>
                          </a:solidFill>
                          <a:latin typeface="Arial"/>
                          <a:ea typeface="Arial"/>
                          <a:cs typeface="Arial"/>
                        </a:rPr>
                        <a:t>Aandeel = deel / geheel × 100%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24 / 120 × 100% = 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36 / 150 × 100% = 24%</a:t>
                      </a:r>
                    </a:p>
                  </a:txBody>
                  <a:tcPr marL="91440" marR="91440" marT="45720" marB="45720" anchor="ctr">
                    <a:solidFill>
                      <a:srgbClr val="FFFFFF"/>
                    </a:solidFill>
                  </a:tcPr>
                </a:tc>
              </a:tr>
            </a:tbl>
          </a:graphicData>
        </a:graphic>
      </p:graphicFrame>
      <p:sp>
        <p:nvSpPr>
          <p:cNvPr id="6" name="Verschil: 24 − 20 = 4 procentpunten">
            <a:extLst xmlns:a="http://schemas.openxmlformats.org/drawingml/2006/main">
              <a:ext uri="{FF2B5EF4-FFF2-40B4-BE49-F238E27FC236}">
                <a16:creationId xmlns:a16="http://schemas.microsoft.com/office/drawing/2014/main" id="{5F0D8A91-7673-4A9B-94D0-DBDDD8F9E065}"/>
              </a:ext>
            </a:extLst>
          </p:cNvPr>
          <p:cNvSpPr>
            <a:spLocks xmlns:a="http://schemas.openxmlformats.org/drawingml/2006/main" noGrp="1"/>
          </p:cNvSpPr>
          <p:nvPr/>
        </p:nvSpPr>
        <p:spPr>
          <a:xfrm xmlns:a="http://schemas.openxmlformats.org/drawingml/2006/main">
            <a:off x="571500" y="61436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Verschil: 24 − 20 = 4 procentpunten</a:t>
            </a:r>
          </a:p>
        </p:txBody>
      </p:sp>
      <p:sp>
        <p:nvSpPr>
          <p:cNvPr id="7" name="Controle: 0,20 × 120 = 24 en 0,24 × 150 = 36.">
            <a:extLst xmlns:a="http://schemas.openxmlformats.org/drawingml/2006/main">
              <a:ext uri="{FF2B5EF4-FFF2-40B4-BE49-F238E27FC236}">
                <a16:creationId xmlns:a16="http://schemas.microsoft.com/office/drawing/2014/main" id="{741F8C9E-3E94-4453-816F-681B0E838D9D}"/>
              </a:ext>
            </a:extLst>
          </p:cNvPr>
          <p:cNvSpPr>
            <a:spLocks xmlns:a="http://schemas.openxmlformats.org/drawingml/2006/main" noGrp="1"/>
          </p:cNvSpPr>
          <p:nvPr/>
        </p:nvSpPr>
        <p:spPr>
          <a:xfrm xmlns:a="http://schemas.openxmlformats.org/drawingml/2006/main">
            <a:off x="571500" y="733425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20665B"/>
                </a:solidFill>
                <a:latin typeface="Arial"/>
                <a:ea typeface="Arial"/>
                <a:cs typeface="Arial"/>
              </a:defRPr>
            </a:pPr>
            <a:r>
              <a:rPr sz="2550" b="0">
                <a:solidFill>
                  <a:srgbClr val="20665B"/>
                </a:solidFill>
                <a:latin typeface="Arial"/>
                <a:ea typeface="Arial"/>
                <a:cs typeface="Arial"/>
              </a:rPr>
              <a:t>Controle: 0,20 × 120 = 24 en 0,24 × 150 = 36.</a:t>
            </a:r>
          </a:p>
        </p:txBody>
      </p:sp>
    </p:spTree>
    <p:extLst>
      <p:ext uri="{BB962C8B-B14F-4D97-AF65-F5344CB8AC3E}">
        <p14:creationId xmlns:p14="http://schemas.microsoft.com/office/powerpoint/2010/main" val="106349336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8g · Het bericht beoordelen">
            <a:extLst xmlns:a="http://schemas.openxmlformats.org/drawingml/2006/main">
              <a:ext uri="{FF2B5EF4-FFF2-40B4-BE49-F238E27FC236}">
                <a16:creationId xmlns:a16="http://schemas.microsoft.com/office/drawing/2014/main" id="{F8853CC1-161F-4B0D-94C2-27079BCDBF5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18g · Het bericht beoordelen</a:t>
            </a:r>
          </a:p>
        </p:txBody>
      </p:sp>
      <p:sp>
        <p:nvSpPr>
          <p:cNvPr id="2" name="">
            <a:extLst xmlns:a="http://schemas.openxmlformats.org/drawingml/2006/main">
              <a:ext uri="{FF2B5EF4-FFF2-40B4-BE49-F238E27FC236}">
                <a16:creationId xmlns:a16="http://schemas.microsoft.com/office/drawing/2014/main" id="{7E11081F-0913-4355-8D78-85C202D9A3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08877D02-7B57-458C-AC21-0767A127627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7">
            <a:extLst xmlns:a="http://schemas.openxmlformats.org/drawingml/2006/main">
              <a:ext uri="{FF2B5EF4-FFF2-40B4-BE49-F238E27FC236}">
                <a16:creationId xmlns:a16="http://schemas.microsoft.com/office/drawing/2014/main" id="{123AB149-9940-4C83-8CCB-FBF5EEF8E37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Het aandeel deelnemers is met 4% gestegen.”">
            <a:extLst xmlns:a="http://schemas.openxmlformats.org/drawingml/2006/main">
              <a:ext uri="{FF2B5EF4-FFF2-40B4-BE49-F238E27FC236}">
                <a16:creationId xmlns:a16="http://schemas.microsoft.com/office/drawing/2014/main" id="{CD235359-C39E-4F07-8757-4AC454A5F81D}"/>
              </a:ext>
            </a:extLst>
          </p:cNvPr>
          <p:cNvSpPr>
            <a:spLocks xmlns:a="http://schemas.openxmlformats.org/drawingml/2006/main" noGrp="1"/>
          </p:cNvSpPr>
          <p:nvPr/>
        </p:nvSpPr>
        <p:spPr>
          <a:xfrm xmlns:a="http://schemas.openxmlformats.org/drawingml/2006/main">
            <a:off x="571500" y="19526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“Het aandeel deelnemers is met 4% gestegen.”</a:t>
            </a:r>
          </a:p>
        </p:txBody>
      </p:sp>
      <p:sp>
        <p:nvSpPr>
          <p:cNvPr id="6" name="Relatieve verandering = (nieuw − oud) / oud × 100%">
            <a:extLst xmlns:a="http://schemas.openxmlformats.org/drawingml/2006/main">
              <a:ext uri="{FF2B5EF4-FFF2-40B4-BE49-F238E27FC236}">
                <a16:creationId xmlns:a16="http://schemas.microsoft.com/office/drawing/2014/main" id="{831B5170-86ED-4B84-8817-9D3A2DDB228B}"/>
              </a:ext>
            </a:extLst>
          </p:cNvPr>
          <p:cNvSpPr>
            <a:spLocks xmlns:a="http://schemas.openxmlformats.org/drawingml/2006/main" noGrp="1"/>
          </p:cNvSpPr>
          <p:nvPr/>
        </p:nvSpPr>
        <p:spPr>
          <a:xfrm xmlns:a="http://schemas.openxmlformats.org/drawingml/2006/main">
            <a:off x="571500" y="34194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Relatieve verandering = (nieuw − oud) / oud × 100%</a:t>
            </a:r>
          </a:p>
        </p:txBody>
      </p:sp>
      <p:sp>
        <p:nvSpPr>
          <p:cNvPr id="7" name="(24 − 20) / 20 × 100% = 20%">
            <a:extLst xmlns:a="http://schemas.openxmlformats.org/drawingml/2006/main">
              <a:ext uri="{FF2B5EF4-FFF2-40B4-BE49-F238E27FC236}">
                <a16:creationId xmlns:a16="http://schemas.microsoft.com/office/drawing/2014/main" id="{3CE04AA7-7F90-45F1-9316-E6021200F0AF}"/>
              </a:ext>
            </a:extLst>
          </p:cNvPr>
          <p:cNvSpPr>
            <a:spLocks xmlns:a="http://schemas.openxmlformats.org/drawingml/2006/main" noGrp="1"/>
          </p:cNvSpPr>
          <p:nvPr/>
        </p:nvSpPr>
        <p:spPr>
          <a:xfrm xmlns:a="http://schemas.openxmlformats.org/drawingml/2006/main">
            <a:off x="571500" y="430530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83247"/>
                </a:solidFill>
                <a:latin typeface="Arial"/>
                <a:ea typeface="Arial"/>
                <a:cs typeface="Arial"/>
              </a:defRPr>
            </a:pPr>
            <a:r>
              <a:rPr sz="3975" b="1">
                <a:solidFill>
                  <a:srgbClr val="183247"/>
                </a:solidFill>
                <a:latin typeface="Arial"/>
                <a:ea typeface="Arial"/>
                <a:cs typeface="Arial"/>
              </a:rPr>
              <a:t>(24 − 20) / 20 × 100% = 20%</a:t>
            </a:r>
          </a:p>
        </p:txBody>
      </p:sp>
      <p:sp>
        <p:nvSpPr>
          <p:cNvPr id="8" name="Het bericht is onjuist.">
            <a:extLst xmlns:a="http://schemas.openxmlformats.org/drawingml/2006/main">
              <a:ext uri="{FF2B5EF4-FFF2-40B4-BE49-F238E27FC236}">
                <a16:creationId xmlns:a16="http://schemas.microsoft.com/office/drawing/2014/main" id="{EB79502C-C379-4EED-929B-93FC323225FA}"/>
              </a:ext>
            </a:extLst>
          </p:cNvPr>
          <p:cNvSpPr>
            <a:spLocks xmlns:a="http://schemas.openxmlformats.org/drawingml/2006/main" noGrp="1"/>
          </p:cNvSpPr>
          <p:nvPr/>
        </p:nvSpPr>
        <p:spPr>
          <a:xfrm xmlns:a="http://schemas.openxmlformats.org/drawingml/2006/main">
            <a:off x="571500" y="571500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Het bericht is onjuist.</a:t>
            </a:r>
          </a:p>
        </p:txBody>
      </p:sp>
      <p:sp>
        <p:nvSpPr>
          <p:cNvPr id="9" name="Het aandeel steeg met 4 procentpunten,&#10;ofwel met 2">
            <a:extLst xmlns:a="http://schemas.openxmlformats.org/drawingml/2006/main">
              <a:ext uri="{FF2B5EF4-FFF2-40B4-BE49-F238E27FC236}">
                <a16:creationId xmlns:a16="http://schemas.microsoft.com/office/drawing/2014/main" id="{9B90CA94-EA11-41B6-B840-326C6B6D3AD1}"/>
              </a:ext>
            </a:extLst>
          </p:cNvPr>
          <p:cNvSpPr>
            <a:spLocks xmlns:a="http://schemas.openxmlformats.org/drawingml/2006/main" noGrp="1"/>
          </p:cNvSpPr>
          <p:nvPr/>
        </p:nvSpPr>
        <p:spPr>
          <a:xfrm xmlns:a="http://schemas.openxmlformats.org/drawingml/2006/main">
            <a:off x="571500" y="6581775"/>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Het aandeel steeg met 4 procentpunten,</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ofwel met 20% ten opzichte van het oude aandeel.</a:t>
            </a:r>
          </a:p>
        </p:txBody>
      </p:sp>
    </p:spTree>
    <p:extLst>
      <p:ext uri="{BB962C8B-B14F-4D97-AF65-F5344CB8AC3E}">
        <p14:creationId xmlns:p14="http://schemas.microsoft.com/office/powerpoint/2010/main" val="62766022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ntwoordcontrole bij opgave 18">
            <a:extLst xmlns:a="http://schemas.openxmlformats.org/drawingml/2006/main">
              <a:ext uri="{FF2B5EF4-FFF2-40B4-BE49-F238E27FC236}">
                <a16:creationId xmlns:a16="http://schemas.microsoft.com/office/drawing/2014/main" id="{209074E2-09E2-498B-92FB-AB05337A940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18</a:t>
            </a:r>
          </a:p>
        </p:txBody>
      </p:sp>
      <p:sp>
        <p:nvSpPr>
          <p:cNvPr id="2" name="">
            <a:extLst xmlns:a="http://schemas.openxmlformats.org/drawingml/2006/main">
              <a:ext uri="{FF2B5EF4-FFF2-40B4-BE49-F238E27FC236}">
                <a16:creationId xmlns:a16="http://schemas.microsoft.com/office/drawing/2014/main" id="{F97156E0-CFE6-40EA-90DC-B58073F63B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 Opgave 18 · Boekpagina 22">
            <a:extLst xmlns:a="http://schemas.openxmlformats.org/drawingml/2006/main">
              <a:ext uri="{FF2B5EF4-FFF2-40B4-BE49-F238E27FC236}">
                <a16:creationId xmlns:a16="http://schemas.microsoft.com/office/drawing/2014/main" id="{CE6D111F-4D9D-47E0-B2E5-309DD42DF40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 Opgave 18 · Boekpagina 22</a:t>
            </a:r>
          </a:p>
        </p:txBody>
      </p:sp>
      <p:sp>
        <p:nvSpPr>
          <p:cNvPr id="4" name="28">
            <a:extLst xmlns:a="http://schemas.openxmlformats.org/drawingml/2006/main">
              <a:ext uri="{FF2B5EF4-FFF2-40B4-BE49-F238E27FC236}">
                <a16:creationId xmlns:a16="http://schemas.microsoft.com/office/drawing/2014/main" id="{E948FB08-A083-4C2A-9F3F-D0635CE3AC9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a–c · Bedragen">
            <a:extLst xmlns:a="http://schemas.openxmlformats.org/drawingml/2006/main">
              <a:ext uri="{FF2B5EF4-FFF2-40B4-BE49-F238E27FC236}">
                <a16:creationId xmlns:a16="http://schemas.microsoft.com/office/drawing/2014/main" id="{EE6CA7D8-AA2E-4149-BF98-D9143AA30B02}"/>
              </a:ext>
            </a:extLst>
          </p:cNvPr>
          <p:cNvSpPr>
            <a:spLocks xmlns:a="http://schemas.openxmlformats.org/drawingml/2006/main" noGrp="1"/>
          </p:cNvSpPr>
          <p:nvPr/>
        </p:nvSpPr>
        <p:spPr>
          <a:xfrm xmlns:a="http://schemas.openxmlformats.org/drawingml/2006/main">
            <a:off x="571500" y="2124075"/>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a–c · Bedragen</a:t>
            </a:r>
          </a:p>
        </p:txBody>
      </p:sp>
      <p:sp>
        <p:nvSpPr>
          <p:cNvPr id="6" name="Per deelnemer, oude prijs en nieuwe prijs hebben d">
            <a:extLst xmlns:a="http://schemas.openxmlformats.org/drawingml/2006/main">
              <a:ext uri="{FF2B5EF4-FFF2-40B4-BE49-F238E27FC236}">
                <a16:creationId xmlns:a16="http://schemas.microsoft.com/office/drawing/2014/main" id="{DA078AD7-11A8-4BC9-9DDF-BBC89204680E}"/>
              </a:ext>
            </a:extLst>
          </p:cNvPr>
          <p:cNvSpPr>
            <a:spLocks xmlns:a="http://schemas.openxmlformats.org/drawingml/2006/main" noGrp="1"/>
          </p:cNvSpPr>
          <p:nvPr/>
        </p:nvSpPr>
        <p:spPr>
          <a:xfrm xmlns:a="http://schemas.openxmlformats.org/drawingml/2006/main">
            <a:off x="6286500" y="2124075"/>
            <a:ext cx="838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Per deelnemer, oude prijs en nieuwe prijs hebben de juiste eenheid.</a:t>
            </a:r>
          </a:p>
        </p:txBody>
      </p:sp>
      <p:sp>
        <p:nvSpPr>
          <p:cNvPr id="7" name="d–e · Indexen">
            <a:extLst xmlns:a="http://schemas.openxmlformats.org/drawingml/2006/main">
              <a:ext uri="{FF2B5EF4-FFF2-40B4-BE49-F238E27FC236}">
                <a16:creationId xmlns:a16="http://schemas.microsoft.com/office/drawing/2014/main" id="{626D4CA0-3580-45A8-99F7-76033D6612BC}"/>
              </a:ext>
            </a:extLst>
          </p:cNvPr>
          <p:cNvSpPr>
            <a:spLocks xmlns:a="http://schemas.openxmlformats.org/drawingml/2006/main" noGrp="1"/>
          </p:cNvSpPr>
          <p:nvPr/>
        </p:nvSpPr>
        <p:spPr>
          <a:xfrm xmlns:a="http://schemas.openxmlformats.org/drawingml/2006/main">
            <a:off x="571500" y="3781425"/>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 Indexen</a:t>
            </a:r>
          </a:p>
        </p:txBody>
      </p:sp>
      <p:sp>
        <p:nvSpPr>
          <p:cNvPr id="8" name="Vaste basis jaar 1; groei vanaf jaar 2 gebruikt in">
            <a:extLst xmlns:a="http://schemas.openxmlformats.org/drawingml/2006/main">
              <a:ext uri="{FF2B5EF4-FFF2-40B4-BE49-F238E27FC236}">
                <a16:creationId xmlns:a16="http://schemas.microsoft.com/office/drawing/2014/main" id="{EE2D7199-50AD-43EC-B51B-D98AB2539FCE}"/>
              </a:ext>
            </a:extLst>
          </p:cNvPr>
          <p:cNvSpPr>
            <a:spLocks xmlns:a="http://schemas.openxmlformats.org/drawingml/2006/main" noGrp="1"/>
          </p:cNvSpPr>
          <p:nvPr/>
        </p:nvSpPr>
        <p:spPr>
          <a:xfrm xmlns:a="http://schemas.openxmlformats.org/drawingml/2006/main">
            <a:off x="6286500" y="3781425"/>
            <a:ext cx="838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Vaste basis jaar 1; groei vanaf jaar 2 gebruikt index 120.</a:t>
            </a:r>
          </a:p>
        </p:txBody>
      </p:sp>
      <p:sp>
        <p:nvSpPr>
          <p:cNvPr id="9" name="f–g · Aandelen">
            <a:extLst xmlns:a="http://schemas.openxmlformats.org/drawingml/2006/main">
              <a:ext uri="{FF2B5EF4-FFF2-40B4-BE49-F238E27FC236}">
                <a16:creationId xmlns:a16="http://schemas.microsoft.com/office/drawing/2014/main" id="{EAB9938F-AD6C-42EA-A5CB-544176541FFF}"/>
              </a:ext>
            </a:extLst>
          </p:cNvPr>
          <p:cNvSpPr>
            <a:spLocks xmlns:a="http://schemas.openxmlformats.org/drawingml/2006/main" noGrp="1"/>
          </p:cNvSpPr>
          <p:nvPr/>
        </p:nvSpPr>
        <p:spPr>
          <a:xfrm xmlns:a="http://schemas.openxmlformats.org/drawingml/2006/main">
            <a:off x="571500" y="5438775"/>
            <a:ext cx="5334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f–g · Aandelen</a:t>
            </a:r>
          </a:p>
        </p:txBody>
      </p:sp>
      <p:sp>
        <p:nvSpPr>
          <p:cNvPr id="10" name="Elk jaar zijn eigen geheel; 4 procentpunten is 20%">
            <a:extLst xmlns:a="http://schemas.openxmlformats.org/drawingml/2006/main">
              <a:ext uri="{FF2B5EF4-FFF2-40B4-BE49-F238E27FC236}">
                <a16:creationId xmlns:a16="http://schemas.microsoft.com/office/drawing/2014/main" id="{15ADE1EB-4686-44E8-8514-D61C4737BCD0}"/>
              </a:ext>
            </a:extLst>
          </p:cNvPr>
          <p:cNvSpPr>
            <a:spLocks xmlns:a="http://schemas.openxmlformats.org/drawingml/2006/main" noGrp="1"/>
          </p:cNvSpPr>
          <p:nvPr/>
        </p:nvSpPr>
        <p:spPr>
          <a:xfrm xmlns:a="http://schemas.openxmlformats.org/drawingml/2006/main">
            <a:off x="6286500" y="5438775"/>
            <a:ext cx="8382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Elk jaar zijn eigen geheel; 4 procentpunten is 20% groei.</a:t>
            </a:r>
          </a:p>
        </p:txBody>
      </p:sp>
      <p:sp>
        <p:nvSpPr>
          <p:cNvPr id="11" name="Verbeter een ontbrekende stap, eenheid of verklari">
            <a:extLst xmlns:a="http://schemas.openxmlformats.org/drawingml/2006/main">
              <a:ext uri="{FF2B5EF4-FFF2-40B4-BE49-F238E27FC236}">
                <a16:creationId xmlns:a16="http://schemas.microsoft.com/office/drawing/2014/main" id="{6E7D9859-D900-4149-9994-0636C1050CBE}"/>
              </a:ext>
            </a:extLst>
          </p:cNvPr>
          <p:cNvSpPr>
            <a:spLocks xmlns:a="http://schemas.openxmlformats.org/drawingml/2006/main" noGrp="1"/>
          </p:cNvSpPr>
          <p:nvPr/>
        </p:nvSpPr>
        <p:spPr>
          <a:xfrm xmlns:a="http://schemas.openxmlformats.org/drawingml/2006/main">
            <a:off x="571500" y="743902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Verbeter een ontbrekende stap, eenheid of verklaring.</a:t>
            </a:r>
          </a:p>
        </p:txBody>
      </p:sp>
    </p:spTree>
    <p:extLst>
      <p:ext uri="{BB962C8B-B14F-4D97-AF65-F5344CB8AC3E}">
        <p14:creationId xmlns:p14="http://schemas.microsoft.com/office/powerpoint/2010/main" val="10083861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2 Verhoudingen, percentages en inde">
            <a:extLst xmlns:a="http://schemas.openxmlformats.org/drawingml/2006/main">
              <a:ext uri="{FF2B5EF4-FFF2-40B4-BE49-F238E27FC236}">
                <a16:creationId xmlns:a16="http://schemas.microsoft.com/office/drawing/2014/main" id="{B821EEE4-D51E-452E-888E-7B054437EFD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§1.1.2 Verhoudingen, percentages en indexcijfers</a:t>
            </a:r>
          </a:p>
        </p:txBody>
      </p:sp>
      <p:sp>
        <p:nvSpPr>
          <p:cNvPr id="2" name="">
            <a:extLst xmlns:a="http://schemas.openxmlformats.org/drawingml/2006/main">
              <a:ext uri="{FF2B5EF4-FFF2-40B4-BE49-F238E27FC236}">
                <a16:creationId xmlns:a16="http://schemas.microsoft.com/office/drawing/2014/main" id="{61AE7906-0EA4-47B1-AFFA-F718AECB15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2 Verhoudingen, percentages en indexcijfers">
            <a:extLst xmlns:a="http://schemas.openxmlformats.org/drawingml/2006/main">
              <a:ext uri="{FF2B5EF4-FFF2-40B4-BE49-F238E27FC236}">
                <a16:creationId xmlns:a16="http://schemas.microsoft.com/office/drawing/2014/main" id="{AC1D141D-FB3C-41BD-AC16-18ECE12C37F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§1.1.2 Verhoudingen, percentages en indexcijfers</a:t>
            </a:r>
          </a:p>
        </p:txBody>
      </p:sp>
      <p:sp>
        <p:nvSpPr>
          <p:cNvPr id="4" name="29">
            <a:extLst xmlns:a="http://schemas.openxmlformats.org/drawingml/2006/main">
              <a:ext uri="{FF2B5EF4-FFF2-40B4-BE49-F238E27FC236}">
                <a16:creationId xmlns:a16="http://schemas.microsoft.com/office/drawing/2014/main" id="{AEF720CE-ED8F-496E-A08F-2DB503834C9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phase">
            <a:extLst xmlns:a="http://schemas.openxmlformats.org/drawingml/2006/main">
              <a:ext uri="{FF2B5EF4-FFF2-40B4-BE49-F238E27FC236}">
                <a16:creationId xmlns:a16="http://schemas.microsoft.com/office/drawing/2014/main" id="{D72A0C38-AF85-4889-B275-80FD7CF8427E}"/>
              </a:ext>
            </a:extLst>
          </p:cNvPr>
          <p:cNvSpPr>
            <a:spLocks xmlns:a="http://schemas.openxmlformats.org/drawingml/2006/main" noGrp="1"/>
          </p:cNvSpPr>
          <p:nvPr/>
        </p:nvSpPr>
        <p:spPr>
          <a:xfrm xmlns:a="http://schemas.openxmlformats.org/drawingml/2006/main">
            <a:off x="571500" y="1057275"/>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E38B170E-2D13-46C6-9BA5-71809BACC3B3}"/>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66265B3-BFBE-489A-9269-F45DFD49C1A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8C1F8A5-98DE-4959-A2ED-F16752D87952}"/>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77D6158-D9C6-4D75-8587-FE26AD8D7773}"/>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194607B-2DE5-4C15-86F3-F446C62A210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F12393F-32CD-4F81-84C3-A26E89EFC8F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7B1D8E3-CA27-45DC-B77B-5C39A48E177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E89848FD-569E-42EA-9ADD-BDC8A7D87C9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0ACCDABD-1E35-40D2-9A08-72F126206957}"/>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10DC9AD9-3A01-446F-BC50-4082CCC7F3B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647164C-7456-43D6-A829-996CBE62E0C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B761C96-2EC2-421D-ADBB-296D6F9ADABB}"/>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BBD1897-4282-4EFA-90CD-B303DC36A1A8}"/>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18.</a:t>
            </a:r>
          </a:p>
        </p:txBody>
      </p:sp>
      <p:sp>
        <p:nvSpPr>
          <p:cNvPr id="19" name="route-number-7">
            <a:extLst xmlns:a="http://schemas.openxmlformats.org/drawingml/2006/main">
              <a:ext uri="{FF2B5EF4-FFF2-40B4-BE49-F238E27FC236}">
                <a16:creationId xmlns:a16="http://schemas.microsoft.com/office/drawing/2014/main" id="{97B7A641-B94A-435E-B2A0-BEADBD58370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F649906-06CB-4A39-B818-C3F59847599D}"/>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C6F3857-C89B-4725-BDBA-77DB134FA65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AC4A3A25-B1E0-4CE5-9021-F0C8CB6B1007}"/>
              </a:ext>
            </a:extLst>
          </p:cNvPr>
          <p:cNvSpPr>
            <a:spLocks xmlns:a="http://schemas.openxmlformats.org/drawingml/2006/main" noGrp="1"/>
          </p:cNvSpPr>
          <p:nvPr/>
        </p:nvSpPr>
        <p:spPr>
          <a:xfrm xmlns:a="http://schemas.openxmlformats.org/drawingml/2006/main">
            <a:off x="9258300" y="23241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Per eenheid en aandelen 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Veranderingen en indexen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Procenten en punten onderscheiden.</a:t>
            </a:r>
          </a:p>
        </p:txBody>
      </p:sp>
      <p:sp>
        <p:nvSpPr>
          <p:cNvPr id="23" name="">
            <a:extLst xmlns:a="http://schemas.openxmlformats.org/drawingml/2006/main">
              <a:ext uri="{FF2B5EF4-FFF2-40B4-BE49-F238E27FC236}">
                <a16:creationId xmlns:a16="http://schemas.microsoft.com/office/drawing/2014/main" id="{0451B1E1-2DA0-4D95-B0C7-5D181DDF1BE4}"/>
              </a:ext>
            </a:extLst>
          </p:cNvPr>
          <p:cNvSpPr>
            <a:spLocks xmlns:a="http://schemas.openxmlformats.org/drawingml/2006/main" noGrp="1"/>
          </p:cNvSpPr>
          <p:nvPr/>
        </p:nvSpPr>
        <p:spPr>
          <a:xfrm xmlns:a="http://schemas.openxmlformats.org/drawingml/2006/main">
            <a:off x="9258300" y="36099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FBEA89C-6680-4B7A-B187-74B002EDC56D}"/>
              </a:ext>
            </a:extLst>
          </p:cNvPr>
          <p:cNvSpPr>
            <a:spLocks xmlns:a="http://schemas.openxmlformats.org/drawingml/2006/main" noGrp="1"/>
          </p:cNvSpPr>
          <p:nvPr/>
        </p:nvSpPr>
        <p:spPr>
          <a:xfrm xmlns:a="http://schemas.openxmlformats.org/drawingml/2006/main">
            <a:off x="9258300" y="3810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8E9ECCA-4854-4529-AB57-E179D7847DA0}"/>
              </a:ext>
            </a:extLst>
          </p:cNvPr>
          <p:cNvSpPr>
            <a:spLocks xmlns:a="http://schemas.openxmlformats.org/drawingml/2006/main" noGrp="1"/>
          </p:cNvSpPr>
          <p:nvPr/>
        </p:nvSpPr>
        <p:spPr>
          <a:xfrm xmlns:a="http://schemas.openxmlformats.org/drawingml/2006/main">
            <a:off x="9258300" y="4314825"/>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19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theorie p. 13–15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later hernemen</a:t>
            </a:r>
          </a:p>
        </p:txBody>
      </p:sp>
      <p:sp>
        <p:nvSpPr>
          <p:cNvPr id="26" name="">
            <a:extLst xmlns:a="http://schemas.openxmlformats.org/drawingml/2006/main">
              <a:ext uri="{FF2B5EF4-FFF2-40B4-BE49-F238E27FC236}">
                <a16:creationId xmlns:a16="http://schemas.microsoft.com/office/drawing/2014/main" id="{5A307B33-30F2-46AB-8338-91E5BCA8461B}"/>
              </a:ext>
            </a:extLst>
          </p:cNvPr>
          <p:cNvSpPr>
            <a:spLocks xmlns:a="http://schemas.openxmlformats.org/drawingml/2006/main" noGrp="1"/>
          </p:cNvSpPr>
          <p:nvPr/>
        </p:nvSpPr>
        <p:spPr>
          <a:xfrm xmlns:a="http://schemas.openxmlformats.org/drawingml/2006/main">
            <a:off x="9258300" y="55911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BD72CA47-F20C-4800-996C-D801E02DB24D}"/>
              </a:ext>
            </a:extLst>
          </p:cNvPr>
          <p:cNvSpPr>
            <a:spLocks xmlns:a="http://schemas.openxmlformats.org/drawingml/2006/main" noGrp="1"/>
          </p:cNvSpPr>
          <p:nvPr/>
        </p:nvSpPr>
        <p:spPr>
          <a:xfrm xmlns:a="http://schemas.openxmlformats.org/drawingml/2006/main">
            <a:off x="9258300" y="57721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E0BD045-4FDC-4D57-80B7-A31028A54BC0}"/>
              </a:ext>
            </a:extLst>
          </p:cNvPr>
          <p:cNvSpPr>
            <a:spLocks xmlns:a="http://schemas.openxmlformats.org/drawingml/2006/main" noGrp="1"/>
          </p:cNvSpPr>
          <p:nvPr/>
        </p:nvSpPr>
        <p:spPr>
          <a:xfrm xmlns:a="http://schemas.openxmlformats.org/drawingml/2006/main">
            <a:off x="9258300" y="6324600"/>
            <a:ext cx="5381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§1.1.2 · Maken en nakijken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12, 13 en 14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15, 16 en 17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18</a:t>
            </a:r>
          </a:p>
        </p:txBody>
      </p:sp>
    </p:spTree>
    <p:extLst>
      <p:ext uri="{BB962C8B-B14F-4D97-AF65-F5344CB8AC3E}">
        <p14:creationId xmlns:p14="http://schemas.microsoft.com/office/powerpoint/2010/main" val="13759671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2026-10-03T13:42:11.8550000Z</dcterms:created>
  <dcterms:modified xsi:type="dcterms:W3CDTF">2026-10-03T13:42:11.8550000Z</dcterms:modified>
</coreProperties>
</file>