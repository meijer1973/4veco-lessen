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5aa06aa8f74a01" /><Relationship Type="http://schemas.openxmlformats.org/officeDocument/2006/relationships/extended-properties" Target="/docProps/app.xml" Id="Rb1d908370f9542b3" /><Relationship Type="http://schemas.openxmlformats.org/officeDocument/2006/relationships/officeDocument" Target="/ppt/presentation.xml" Id="Rdc740f787f8d418f" /></Relationships>
</file>

<file path=ppt/presentation.xml><?xml version="1.0" encoding="utf-8"?>
<p:presentation xmlns:p="http://schemas.openxmlformats.org/presentationml/2006/main">
  <p:sldMasterIdLst>
    <p:sldMasterId xmlns:r="http://schemas.openxmlformats.org/officeDocument/2006/relationships" id="2147483648" r:id="Rde63666524924602"/>
  </p:sldMasterIdLst>
  <p:notesMasterIdLst>
    <p:notesMasterId xmlns:r="http://schemas.openxmlformats.org/officeDocument/2006/relationships" r:id="Rcb4f39e044984fb2"/>
  </p:notesMasterIdLst>
  <p:sldIdLst>
    <p:sldId xmlns:r="http://schemas.openxmlformats.org/officeDocument/2006/relationships" id="256" r:id="R4b4cbeb87feb41e0"/>
    <p:sldId xmlns:r="http://schemas.openxmlformats.org/officeDocument/2006/relationships" id="257" r:id="Rbf429b0312044a54"/>
    <p:sldId xmlns:r="http://schemas.openxmlformats.org/officeDocument/2006/relationships" id="258" r:id="R5b9d61bb13824650"/>
    <p:sldId xmlns:r="http://schemas.openxmlformats.org/officeDocument/2006/relationships" id="259" r:id="Rabf1cfa91f4f46eb"/>
    <p:sldId xmlns:r="http://schemas.openxmlformats.org/officeDocument/2006/relationships" id="260" r:id="R7521117c327243f8"/>
    <p:sldId xmlns:r="http://schemas.openxmlformats.org/officeDocument/2006/relationships" id="261" r:id="R46c70e7aa86d4a35"/>
    <p:sldId xmlns:r="http://schemas.openxmlformats.org/officeDocument/2006/relationships" id="262" r:id="Rdea0e30df2084792"/>
    <p:sldId xmlns:r="http://schemas.openxmlformats.org/officeDocument/2006/relationships" id="263" r:id="R596c7d7946e045ea"/>
    <p:sldId xmlns:r="http://schemas.openxmlformats.org/officeDocument/2006/relationships" id="264" r:id="R35a9a1eb6dd0478e"/>
    <p:sldId xmlns:r="http://schemas.openxmlformats.org/officeDocument/2006/relationships" id="265" r:id="R85c86532bf2e41d0"/>
    <p:sldId xmlns:r="http://schemas.openxmlformats.org/officeDocument/2006/relationships" id="266" r:id="R6ad54aa0109f449c"/>
    <p:sldId xmlns:r="http://schemas.openxmlformats.org/officeDocument/2006/relationships" id="267" r:id="Rad2240575c3d468f"/>
    <p:sldId xmlns:r="http://schemas.openxmlformats.org/officeDocument/2006/relationships" id="268" r:id="R9b5ab0d3c0754316"/>
    <p:sldId xmlns:r="http://schemas.openxmlformats.org/officeDocument/2006/relationships" id="269" r:id="R96a2cd270ca042a4"/>
    <p:sldId xmlns:r="http://schemas.openxmlformats.org/officeDocument/2006/relationships" id="270" r:id="Rc025b0c391ae484e"/>
    <p:sldId xmlns:r="http://schemas.openxmlformats.org/officeDocument/2006/relationships" id="271" r:id="Reef097f3fe0240da"/>
    <p:sldId xmlns:r="http://schemas.openxmlformats.org/officeDocument/2006/relationships" id="272" r:id="Rbe310215aeb643e0"/>
    <p:sldId xmlns:r="http://schemas.openxmlformats.org/officeDocument/2006/relationships" id="273" r:id="R746c0db60aa04367"/>
    <p:sldId xmlns:r="http://schemas.openxmlformats.org/officeDocument/2006/relationships" id="274" r:id="Rbd83bb833ec24a18"/>
    <p:sldId xmlns:r="http://schemas.openxmlformats.org/officeDocument/2006/relationships" id="275" r:id="R40d0ef9414034f19"/>
    <p:sldId xmlns:r="http://schemas.openxmlformats.org/officeDocument/2006/relationships" id="276" r:id="R85a35db509684be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381538dc194137" /><Relationship Type="http://schemas.openxmlformats.org/officeDocument/2006/relationships/slideMaster" Target="/ppt/slideMasters/slideMaster1.xml" Id="Rde63666524924602" /><Relationship Type="http://schemas.openxmlformats.org/officeDocument/2006/relationships/notesMaster" Target="/ppt/notesMasters/notesMaster1.xml" Id="Rcb4f39e044984fb2" /><Relationship Type="http://schemas.openxmlformats.org/officeDocument/2006/relationships/presProps" Target="/ppt/presProps.xml" Id="R62fb6dd2f2584b09" /><Relationship Type="http://schemas.openxmlformats.org/officeDocument/2006/relationships/tableStyles" Target="/ppt/tableStyles.xml" Id="R88dbf6531cc248a3" /><Relationship Type="http://schemas.openxmlformats.org/officeDocument/2006/relationships/slide" Target="/ppt/slides/slide1.xml" Id="R4b4cbeb87feb41e0" /><Relationship Type="http://schemas.openxmlformats.org/officeDocument/2006/relationships/slide" Target="/ppt/slides/slide2.xml" Id="Rbf429b0312044a54" /><Relationship Type="http://schemas.openxmlformats.org/officeDocument/2006/relationships/slide" Target="/ppt/slides/slide3.xml" Id="R5b9d61bb13824650" /><Relationship Type="http://schemas.openxmlformats.org/officeDocument/2006/relationships/slide" Target="/ppt/slides/slide4.xml" Id="Rabf1cfa91f4f46eb" /><Relationship Type="http://schemas.openxmlformats.org/officeDocument/2006/relationships/slide" Target="/ppt/slides/slide5.xml" Id="R7521117c327243f8" /><Relationship Type="http://schemas.openxmlformats.org/officeDocument/2006/relationships/slide" Target="/ppt/slides/slide6.xml" Id="R46c70e7aa86d4a35" /><Relationship Type="http://schemas.openxmlformats.org/officeDocument/2006/relationships/slide" Target="/ppt/slides/slide7.xml" Id="Rdea0e30df2084792" /><Relationship Type="http://schemas.openxmlformats.org/officeDocument/2006/relationships/slide" Target="/ppt/slides/slide8.xml" Id="R596c7d7946e045ea" /><Relationship Type="http://schemas.openxmlformats.org/officeDocument/2006/relationships/slide" Target="/ppt/slides/slide9.xml" Id="R35a9a1eb6dd0478e" /><Relationship Type="http://schemas.openxmlformats.org/officeDocument/2006/relationships/slide" Target="/ppt/slides/slide10.xml" Id="R85c86532bf2e41d0" /><Relationship Type="http://schemas.openxmlformats.org/officeDocument/2006/relationships/slide" Target="/ppt/slides/slide11.xml" Id="R6ad54aa0109f449c" /><Relationship Type="http://schemas.openxmlformats.org/officeDocument/2006/relationships/slide" Target="/ppt/slides/slide12.xml" Id="Rad2240575c3d468f" /><Relationship Type="http://schemas.openxmlformats.org/officeDocument/2006/relationships/slide" Target="/ppt/slides/slide13.xml" Id="R9b5ab0d3c0754316" /><Relationship Type="http://schemas.openxmlformats.org/officeDocument/2006/relationships/slide" Target="/ppt/slides/slide14.xml" Id="R96a2cd270ca042a4" /><Relationship Type="http://schemas.openxmlformats.org/officeDocument/2006/relationships/slide" Target="/ppt/slides/slide15.xml" Id="Rc025b0c391ae484e" /><Relationship Type="http://schemas.openxmlformats.org/officeDocument/2006/relationships/slide" Target="/ppt/slides/slide16.xml" Id="Reef097f3fe0240da" /><Relationship Type="http://schemas.openxmlformats.org/officeDocument/2006/relationships/slide" Target="/ppt/slides/slide17.xml" Id="Rbe310215aeb643e0" /><Relationship Type="http://schemas.openxmlformats.org/officeDocument/2006/relationships/slide" Target="/ppt/slides/slide18.xml" Id="R746c0db60aa04367" /><Relationship Type="http://schemas.openxmlformats.org/officeDocument/2006/relationships/slide" Target="/ppt/slides/slide19.xml" Id="Rbd83bb833ec24a18" /><Relationship Type="http://schemas.openxmlformats.org/officeDocument/2006/relationships/slide" Target="/ppt/slides/slide20.xml" Id="R40d0ef9414034f19" /><Relationship Type="http://schemas.openxmlformats.org/officeDocument/2006/relationships/slide" Target="/ppt/slides/slide21.xml" Id="R85a35db509684b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a45ff913c543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38976f922b4816" /><Relationship Type="http://schemas.openxmlformats.org/officeDocument/2006/relationships/notesMaster" Target="/ppt/notesMasters/notesMaster1.xml" Id="R337934c1cd744d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d53e4bb4a14294" /><Relationship Type="http://schemas.openxmlformats.org/officeDocument/2006/relationships/notesMaster" Target="/ppt/notesMasters/notesMaster1.xml" Id="R67090093b78a44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7b250efbd6479f" /><Relationship Type="http://schemas.openxmlformats.org/officeDocument/2006/relationships/notesMaster" Target="/ppt/notesMasters/notesMaster1.xml" Id="Rb177baf1b25646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061edb48094f08" /><Relationship Type="http://schemas.openxmlformats.org/officeDocument/2006/relationships/notesMaster" Target="/ppt/notesMasters/notesMaster1.xml" Id="R72eac91acf454c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619fcd12b04403" /><Relationship Type="http://schemas.openxmlformats.org/officeDocument/2006/relationships/notesMaster" Target="/ppt/notesMasters/notesMaster1.xml" Id="R08fb61ff143d4d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6d546f16a742d6" /><Relationship Type="http://schemas.openxmlformats.org/officeDocument/2006/relationships/notesMaster" Target="/ppt/notesMasters/notesMaster1.xml" Id="R31fca4945a7e41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c6485569cc443a" /><Relationship Type="http://schemas.openxmlformats.org/officeDocument/2006/relationships/notesMaster" Target="/ppt/notesMasters/notesMaster1.xml" Id="Ra02d789c792140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30259dd4964d73" /><Relationship Type="http://schemas.openxmlformats.org/officeDocument/2006/relationships/notesMaster" Target="/ppt/notesMasters/notesMaster1.xml" Id="Rf197e0b696444c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31751ab5de4897" /><Relationship Type="http://schemas.openxmlformats.org/officeDocument/2006/relationships/notesMaster" Target="/ppt/notesMasters/notesMaster1.xml" Id="Rfa841cc7533c48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fe6665145c4b28" /><Relationship Type="http://schemas.openxmlformats.org/officeDocument/2006/relationships/notesMaster" Target="/ppt/notesMasters/notesMaster1.xml" Id="Rdd74112c26a840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926f1795e8413d" /><Relationship Type="http://schemas.openxmlformats.org/officeDocument/2006/relationships/notesMaster" Target="/ppt/notesMasters/notesMaster1.xml" Id="Rae6d520c75554b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981e9fc8df4497" /><Relationship Type="http://schemas.openxmlformats.org/officeDocument/2006/relationships/notesMaster" Target="/ppt/notesMasters/notesMaster1.xml" Id="R799f0b85080f472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3627f4918146e4" /><Relationship Type="http://schemas.openxmlformats.org/officeDocument/2006/relationships/notesMaster" Target="/ppt/notesMasters/notesMaster1.xml" Id="R85efce9f88b04de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bcd966a78142cd" /><Relationship Type="http://schemas.openxmlformats.org/officeDocument/2006/relationships/notesMaster" Target="/ppt/notesMasters/notesMaster1.xml" Id="R21bff4e5836643d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7f368a73974938" /><Relationship Type="http://schemas.openxmlformats.org/officeDocument/2006/relationships/notesMaster" Target="/ppt/notesMasters/notesMaster1.xml" Id="Rdd34da989bb34b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de332e273b44e5" /><Relationship Type="http://schemas.openxmlformats.org/officeDocument/2006/relationships/notesMaster" Target="/ppt/notesMasters/notesMaster1.xml" Id="R222ac57811344ae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680965f62b4197" /><Relationship Type="http://schemas.openxmlformats.org/officeDocument/2006/relationships/notesMaster" Target="/ppt/notesMasters/notesMaster1.xml" Id="R9619543d59ed413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81f7e5dbef4b42" /><Relationship Type="http://schemas.openxmlformats.org/officeDocument/2006/relationships/notesMaster" Target="/ppt/notesMasters/notesMaster1.xml" Id="Rca40a9f285354ff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5f711322d8446a9" /><Relationship Type="http://schemas.openxmlformats.org/officeDocument/2006/relationships/notesMaster" Target="/ppt/notesMasters/notesMaster1.xml" Id="Ra4d7e33b3cf74d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f8fa4c3299a4e44" /><Relationship Type="http://schemas.openxmlformats.org/officeDocument/2006/relationships/notesMaster" Target="/ppt/notesMasters/notesMaster1.xml" Id="R533942af5ed64c1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a5b119eb08e4e2e" /><Relationship Type="http://schemas.openxmlformats.org/officeDocument/2006/relationships/notesMaster" Target="/ppt/notesMasters/notesMaster1.xml" Id="R73906729c70349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uitleg op p. 6–8 helpt je bij het gratis schoolplein?</a:t>
            </a:r>
          </a:p>
          <a:p xmlns:a="http://schemas.openxmlformats.org/drawingml/2006/main">
            <a:r>
              <a:rPr sz="1400"/>
              <a:t/>
            </a:r>
          </a:p>
          <a:p xmlns:a="http://schemas.openxmlformats.org/drawingml/2006/main">
            <a:r>
              <a:rPr sz="1400"/>
              <a:t>Uitleg: Laat deze dia staan tijdens startopdracht. Start 1–2: p. 9; basis 3: p. 9, basis 4: p. 10; zelfstandig 5–6: p. 10; doel 7: p. 11. Huiswerk is opgaven 3, 4, 5, 6 en 7 maken en nakijken. Bonus 8 en herhaling 9 zijn aanvullend. De volledige route is niet als één lesuur getimed.</a:t>
            </a:r>
          </a:p>
          <a:p xmlns:a="http://schemas.openxmlformats.org/drawingml/2006/main">
            <a:r>
              <a:rPr sz="1400"/>
              <a:t/>
            </a:r>
          </a:p>
          <a:p xmlns:a="http://schemas.openxmlformats.org/drawingml/2006/main">
            <a:r>
              <a:rPr sz="1400"/>
              <a:t>Start 1 haalt vermenigvuldigen, aftrekken en eenheden op. Neem beheersing niet automatisch aan. Start 2 is een eerste verkenning van schaarste en het opgegeven alternatief. Laat leerlingen de definities op p. 6–7 en de stappen op p. 8 gebruiken. Laat hen de passende uitleg aanwijzen en twijfel noteren. Het is geen toets van al beheerste economische begrippen.</a:t>
            </a:r>
          </a:p>
          <a:p xmlns:a="http://schemas.openxmlformats.org/drawingml/2006/main">
            <a:r>
              <a:rPr sz="1400"/>
              <a:t/>
            </a:r>
          </a:p>
          <a:p xmlns:a="http://schemas.openxmlformats.org/drawingml/2006/main">
            <a:r>
              <a:rPr sz="1400"/>
              <a:t>Bij de tweede overzichtsdia: laat leerlingen opgave 2 na de instructie opnieuw beantwoorden. Vraag naar het beperkte middel, de onverenigbaarheid en de opgegeven activiteit. Geef zo nodig steun vóór opgave 3. Controleer ook of start 1 met de eenheden klopt. Laat basiswerk niet weg om de les sneller af te ronden.</a:t>
            </a:r>
          </a:p>
          <a:p xmlns:a="http://schemas.openxmlformats.org/drawingml/2006/main">
            <a:r>
              <a:rPr sz="1400"/>
              <a:t/>
            </a:r>
          </a:p>
          <a:p xmlns:a="http://schemas.openxmlformats.org/drawingml/2006/main">
            <a:r>
              <a:rPr sz="1400"/>
              <a:t>Misvatting: De docenteninformatie gebruikt lokale hoofdstukpagina’s. Hier staan de gecontroleerde gedrukte pagina’s van het complete boek.</a:t>
            </a:r>
          </a:p>
          <a:p xmlns:a="http://schemas.openxmlformats.org/drawingml/2006/main">
            <a:r>
              <a:rPr sz="1400"/>
              <a:t/>
            </a:r>
          </a:p>
          <a:p xmlns:a="http://schemas.openxmlformats.org/drawingml/2006/main">
            <a:r>
              <a:rPr sz="1400"/>
              <a:t>Overgang: Na de start volgen de lesdoelen en de uitleg.</a:t>
            </a:r>
          </a:p>
          <a:p xmlns:a="http://schemas.openxmlformats.org/drawingml/2006/main">
            <a:r>
              <a:rPr sz="1400"/>
              <a:t/>
            </a:r>
          </a:p>
          <a:p xmlns:a="http://schemas.openxmlformats.org/drawingml/2006/main">
            <a:r>
              <a:rPr sz="1400"/>
              <a:t>Bron: Boek 1, tweede editie 2026, gedrukte boekpagina 6–11.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beslissing vraagt meer dan alleen het hoogste bedrag zoeken?</a:t>
            </a:r>
          </a:p>
          <a:p xmlns:a="http://schemas.openxmlformats.org/drawingml/2006/main">
            <a:r>
              <a:rPr sz="1400"/>
              <a:t/>
            </a:r>
          </a:p>
          <a:p xmlns:a="http://schemas.openxmlformats.org/drawingml/2006/main">
            <a:r>
              <a:rPr sz="1400"/>
              <a:t>Uitleg: Deze doelen vormen samen de aanpak voor doelopgave 7. Dit is de eerste economische paragraaf: er is geen voorafgaande economieparagraaf die de begrippen al behandelt. De rekenstappen worden ook voorgedaan.</a:t>
            </a:r>
          </a:p>
          <a:p xmlns:a="http://schemas.openxmlformats.org/drawingml/2006/main">
            <a:r>
              <a:rPr sz="1400"/>
              <a:t/>
            </a:r>
          </a:p>
          <a:p xmlns:a="http://schemas.openxmlformats.org/drawingml/2006/main">
            <a:r>
              <a:rPr sz="1400"/>
              <a:t>Misvatting: Cijfers bepalen niet welk doel iemand moet kiezen.</a:t>
            </a:r>
          </a:p>
          <a:p xmlns:a="http://schemas.openxmlformats.org/drawingml/2006/main">
            <a:r>
              <a:rPr sz="1400"/>
              <a:t/>
            </a:r>
          </a:p>
          <a:p xmlns:a="http://schemas.openxmlformats.org/drawingml/2006/main">
            <a:r>
              <a:rPr sz="1400"/>
              <a:t>Overgang: Begin met behoeften en de beschikbare middelen.</a:t>
            </a:r>
          </a:p>
          <a:p xmlns:a="http://schemas.openxmlformats.org/drawingml/2006/main">
            <a:r>
              <a:rPr sz="1400"/>
              <a:t/>
            </a:r>
          </a:p>
          <a:p xmlns:a="http://schemas.openxmlformats.org/drawingml/2006/main">
            <a:r>
              <a:rPr sz="1400"/>
              <a:t>Bron: Boek 1, tweede editie 2026, gedrukte boekpagina 6–8.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Kan een school met veel lokalen toch schaarse ruimte hebben?</a:t>
            </a:r>
          </a:p>
          <a:p xmlns:a="http://schemas.openxmlformats.org/drawingml/2006/main">
            <a:r>
              <a:rPr sz="1400"/>
              <a:t/>
            </a:r>
          </a:p>
          <a:p xmlns:a="http://schemas.openxmlformats.org/drawingml/2006/main">
            <a:r>
              <a:rPr sz="1400"/>
              <a:t>Uitleg: Een behoefte is iets waaraan je wilt voldoen. Een middel gebruik je daarvoor. Schaarste is relatief: middelen zijn beperkt ten opzichte van wat mensen ermee willen. Een school kan veel lokalen hebben terwijl één lokaal op hetzelfde moment voor twee lessen gewenst is. Het lokaal is dan schaars.</a:t>
            </a:r>
          </a:p>
          <a:p xmlns:a="http://schemas.openxmlformats.org/drawingml/2006/main">
            <a:r>
              <a:rPr sz="1400"/>
              <a:t/>
            </a:r>
          </a:p>
          <a:p xmlns:a="http://schemas.openxmlformats.org/drawingml/2006/main">
            <a:r>
              <a:rPr sz="1400"/>
              <a:t>Misvatting: Schaarste is niet hetzelfde als zeldzaamheid, een tijdelijk tekort of een hoge prijs.</a:t>
            </a:r>
          </a:p>
          <a:p xmlns:a="http://schemas.openxmlformats.org/drawingml/2006/main">
            <a:r>
              <a:rPr sz="1400"/>
              <a:t/>
            </a:r>
          </a:p>
          <a:p xmlns:a="http://schemas.openxmlformats.org/drawingml/2006/main">
            <a:r>
              <a:rPr sz="1400"/>
              <a:t>Overgang: Bekijk hoe een beperkt middel concrete opties uitsluit.</a:t>
            </a:r>
          </a:p>
          <a:p xmlns:a="http://schemas.openxmlformats.org/drawingml/2006/main">
            <a:r>
              <a:rPr sz="1400"/>
              <a:t/>
            </a:r>
          </a:p>
          <a:p xmlns:a="http://schemas.openxmlformats.org/drawingml/2006/main">
            <a:r>
              <a:rPr sz="1400"/>
              <a:t>Bron: Boek 1, tweede editie 2026, gedrukte boekpagina 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middel is hier schaars en welke opties zijn werkelijk haalbaar?</a:t>
            </a:r>
          </a:p>
          <a:p xmlns:a="http://schemas.openxmlformats.org/drawingml/2006/main">
            <a:r>
              <a:rPr sz="1400"/>
              <a:t/>
            </a:r>
          </a:p>
          <a:p xmlns:a="http://schemas.openxmlformats.org/drawingml/2006/main">
            <a:r>
              <a:rPr sz="1400"/>
              <a:t>Uitleg: Eigen uitlegvoorbeeld. Hetzelfde atelier en hetzelfde tijdvak kunnen maar één workshop dragen. Papier en textiel zijn elk afzonderlijk uitvoerbaar. Hout is niet haalbaar: het benodigde personeel ontbreekt. Een onhaalbaar plan kan geen opgegeven haalbaar alternatief zijn. De bedragen zijn wat overblijft na uitgaven; trek die niet opnieuw af.</a:t>
            </a:r>
          </a:p>
          <a:p xmlns:a="http://schemas.openxmlformats.org/drawingml/2006/main">
            <a:r>
              <a:rPr sz="1400"/>
              <a:t/>
            </a:r>
          </a:p>
          <a:p xmlns:a="http://schemas.openxmlformats.org/drawingml/2006/main">
            <a:r>
              <a:rPr sz="1400"/>
              <a:t>Misvatting: Een mooi plan zonder beschikbare begeleider telt niet als haalbaar alternatief. Gratis huur maakt ruimte niet onbeperkt.</a:t>
            </a:r>
          </a:p>
          <a:p xmlns:a="http://schemas.openxmlformats.org/drawingml/2006/main">
            <a:r>
              <a:rPr sz="1400"/>
              <a:t/>
            </a:r>
          </a:p>
          <a:p xmlns:a="http://schemas.openxmlformats.org/drawingml/2006/main">
            <a:r>
              <a:rPr sz="1400"/>
              <a:t>Overgang: Het eerste doel is zoveel mogelijk geld voor de vereniging overhouden.</a:t>
            </a:r>
          </a:p>
          <a:p xmlns:a="http://schemas.openxmlformats.org/drawingml/2006/main">
            <a:r>
              <a:rPr sz="1400"/>
              <a:t/>
            </a:r>
          </a:p>
          <a:p xmlns:a="http://schemas.openxmlformats.org/drawingml/2006/main">
            <a:r>
              <a:rPr sz="1400"/>
              <a:t>Bron: Boek 1, tweede editie 2026, gedrukte boekpagina 6–8.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Uitlegvoorbeeld — niet uit het boek. De context en gegevens op deze dia zijn eigen auteurswerk. De boekpagina onderbouwt alleen de begrippen en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moeten we bij beide plannen met twee vermenigvuldigen?</a:t>
            </a:r>
          </a:p>
          <a:p xmlns:a="http://schemas.openxmlformats.org/drawingml/2006/main">
            <a:r>
              <a:rPr sz="1400"/>
              <a:t/>
            </a:r>
          </a:p>
          <a:p xmlns:a="http://schemas.openxmlformats.org/drawingml/2006/main">
            <a:r>
              <a:rPr sz="1400"/>
              <a:t>Uitleg: Eigen voorbeeld. Lees eerst de kolommen: het bedrag is per uur, maar het atelier is twee uur beschikbaar. Vermenigvuldig elke rij met diezelfde twee uur. De uitkomst is euro voor het hele tijdvak. De uren vallen als eenheid weg. Vergelijk pas daarna de totalen. De keuze volgt het expliciete gelddoel.</a:t>
            </a:r>
          </a:p>
          <a:p xmlns:a="http://schemas.openxmlformats.org/drawingml/2006/main">
            <a:r>
              <a:rPr sz="1400"/>
              <a:t/>
            </a:r>
          </a:p>
          <a:p xmlns:a="http://schemas.openxmlformats.org/drawingml/2006/main">
            <a:r>
              <a:rPr sz="1400"/>
              <a:t>Misvatting: € 40 per uur en € 50 voor twee uur zijn geen vergelijkbare grootheden.</a:t>
            </a:r>
          </a:p>
          <a:p xmlns:a="http://schemas.openxmlformats.org/drawingml/2006/main">
            <a:r>
              <a:rPr sz="1400"/>
              <a:t/>
            </a:r>
          </a:p>
          <a:p xmlns:a="http://schemas.openxmlformats.org/drawingml/2006/main">
            <a:r>
              <a:rPr sz="1400"/>
              <a:t>Overgang: Wat vervalt door de keuze voor textiel?</a:t>
            </a:r>
          </a:p>
          <a:p xmlns:a="http://schemas.openxmlformats.org/drawingml/2006/main">
            <a:r>
              <a:rPr sz="1400"/>
              <a:t/>
            </a:r>
          </a:p>
          <a:p xmlns:a="http://schemas.openxmlformats.org/drawingml/2006/main">
            <a:r>
              <a:rPr sz="1400"/>
              <a:t>Bron: Boek 1, tweede editie 2026, gedrukte boekpagina 7–8.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Uitlegvoorbeeld — niet uit het boek. De context en gegevens op deze dia zijn eigen auteurswerk. De boekpagina onderbouwt alleen de begrippen en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zou de vereniging anders met die twee uur in het atelier kunnen doen?</a:t>
            </a:r>
          </a:p>
          <a:p xmlns:a="http://schemas.openxmlformats.org/drawingml/2006/main">
            <a:r>
              <a:rPr sz="1400"/>
              <a:t/>
            </a:r>
          </a:p>
          <a:p xmlns:a="http://schemas.openxmlformats.org/drawingml/2006/main">
            <a:r>
              <a:rPr sz="1400"/>
              <a:t>Uitleg: Eigen voorbeeld. Door textiel te kiezen vervalt papier. Hout was niet haalbaar en telt niet mee. Zonder textiel zou papier het beste haalbare alternatief zijn. De waarde daarvan is 50 euro voor hetzelfde tijdvak. Noem steeds de activiteit én de waarde.</a:t>
            </a:r>
          </a:p>
          <a:p xmlns:a="http://schemas.openxmlformats.org/drawingml/2006/main">
            <a:r>
              <a:rPr sz="1400"/>
              <a:t/>
            </a:r>
          </a:p>
          <a:p xmlns:a="http://schemas.openxmlformats.org/drawingml/2006/main">
            <a:r>
              <a:rPr sz="1400"/>
              <a:t>Misvatting: Alternatieve kosten zijn niet de opbrengst van het gekozen plan.</a:t>
            </a:r>
          </a:p>
          <a:p xmlns:a="http://schemas.openxmlformats.org/drawingml/2006/main">
            <a:r>
              <a:rPr sz="1400"/>
              <a:t/>
            </a:r>
          </a:p>
          <a:p xmlns:a="http://schemas.openxmlformats.org/drawingml/2006/main">
            <a:r>
              <a:rPr sz="1400"/>
              <a:t>Overgang: Vergelijk de alternatieve kosten met een betaling en met het verschil.</a:t>
            </a:r>
          </a:p>
          <a:p xmlns:a="http://schemas.openxmlformats.org/drawingml/2006/main">
            <a:r>
              <a:rPr sz="1400"/>
              <a:t/>
            </a:r>
          </a:p>
          <a:p xmlns:a="http://schemas.openxmlformats.org/drawingml/2006/main">
            <a:r>
              <a:rPr sz="1400"/>
              <a:t>Bron: Boek 1, tweede editie 2026, gedrukte boekpagina 7–8.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Uitlegvoorbeeld — niet uit het boek. De context en gegevens op deze dia zijn eigen auteurswerk. De boekpagina onderbouwt alleen de begrippen en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rij geeft de alternatieve kosten en waarom?</a:t>
            </a:r>
          </a:p>
          <a:p xmlns:a="http://schemas.openxmlformats.org/drawingml/2006/main">
            <a:r>
              <a:rPr sz="1400"/>
              <a:t/>
            </a:r>
          </a:p>
          <a:p xmlns:a="http://schemas.openxmlformats.org/drawingml/2006/main">
            <a:r>
              <a:rPr sz="1400"/>
              <a:t>Uitleg: Eigen voorbeeld. Benoem drie verschillende vragen. De huurbetaling is nul. Toch loopt de vereniging de 50 euro uit papier mis. Zij betaalt die 50 euro aan niemand. Het verschil van 30 euro beschrijft hoeveel meer textiel opbrengt. Dat verschil is niet de waarde van het opgegeven plan.</a:t>
            </a:r>
          </a:p>
          <a:p xmlns:a="http://schemas.openxmlformats.org/drawingml/2006/main">
            <a:r>
              <a:rPr sz="1400"/>
              <a:t/>
            </a:r>
          </a:p>
          <a:p xmlns:a="http://schemas.openxmlformats.org/drawingml/2006/main">
            <a:r>
              <a:rPr sz="1400"/>
              <a:t>Misvatting: De woorden kosten en gratis verleiden tot alleen kijken naar een rekening.</a:t>
            </a:r>
          </a:p>
          <a:p xmlns:a="http://schemas.openxmlformats.org/drawingml/2006/main">
            <a:r>
              <a:rPr sz="1400"/>
              <a:t/>
            </a:r>
          </a:p>
          <a:p xmlns:a="http://schemas.openxmlformats.org/drawingml/2006/main">
            <a:r>
              <a:rPr sz="1400"/>
              <a:t>Overgang: Verander nu alleen het doel, terwijl alle gegevens gelijk blijven.</a:t>
            </a:r>
          </a:p>
          <a:p xmlns:a="http://schemas.openxmlformats.org/drawingml/2006/main">
            <a:r>
              <a:rPr sz="1400"/>
              <a:t/>
            </a:r>
          </a:p>
          <a:p xmlns:a="http://schemas.openxmlformats.org/drawingml/2006/main">
            <a:r>
              <a:rPr sz="1400"/>
              <a:t>Bron: Boek 1, tweede editie 2026, gedrukte boekpagina 7–8.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Uitlegvoorbeeld — niet uit het boek. De context en gegevens op deze dia zijn eigen auteurswerk. De boekpagina onderbouwt alleen de begrippen en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uit de tabel zijn relevant voor het nieuwe doel?</a:t>
            </a:r>
          </a:p>
          <a:p xmlns:a="http://schemas.openxmlformats.org/drawingml/2006/main">
            <a:r>
              <a:rPr sz="1400"/>
              <a:t/>
            </a:r>
          </a:p>
          <a:p xmlns:a="http://schemas.openxmlformats.org/drawingml/2006/main">
            <a:r>
              <a:rPr sz="1400"/>
              <a:t>Uitleg: Eigen voorbeeld. Houd de twee uur en beide workshops gelijk. Voor het gelddoel vergelijk je euro’s. Voor deelname vergelijk je aantallen deelnemers en kies je papier. Dan vervalt textiel voor 16 deelnemers. Dat beschrijft het gemiste alternatief bij dit criterium, niet een verzonnen geldprijs voor deelname. De geldopbrengst alleen bepaalt geen universeel beste keuze.</a:t>
            </a:r>
          </a:p>
          <a:p xmlns:a="http://schemas.openxmlformats.org/drawingml/2006/main">
            <a:r>
              <a:rPr sz="1400"/>
              <a:t/>
            </a:r>
          </a:p>
          <a:p xmlns:a="http://schemas.openxmlformats.org/drawingml/2006/main">
            <a:r>
              <a:rPr sz="1400"/>
              <a:t>Misvatting: Tel deelnemers niet bij euro’s op en geef plezier of deelname geen ongevraagde geldwaarde.</a:t>
            </a:r>
          </a:p>
          <a:p xmlns:a="http://schemas.openxmlformats.org/drawingml/2006/main">
            <a:r>
              <a:rPr sz="1400"/>
              <a:t/>
            </a:r>
          </a:p>
          <a:p xmlns:a="http://schemas.openxmlformats.org/drawingml/2006/main">
            <a:r>
              <a:rPr sz="1400"/>
              <a:t>Overgang: Bekijk hoe je bij meer dan één gemiste optie het beste alternatief selecteert.</a:t>
            </a:r>
          </a:p>
          <a:p xmlns:a="http://schemas.openxmlformats.org/drawingml/2006/main">
            <a:r>
              <a:rPr sz="1400"/>
              <a:t/>
            </a:r>
          </a:p>
          <a:p xmlns:a="http://schemas.openxmlformats.org/drawingml/2006/main">
            <a:r>
              <a:rPr sz="1400"/>
              <a:t>Bron: Boek 1, tweede editie 2026, gedrukte boekpagina 7–8.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Uitlegvoorbeeld — niet uit het boek. De context en gegevens op deze dia zijn eigen auteurswerk. De boekpagina onderbouwt alleen de begrippen en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het antwoord niet € 30 en ook niet € 40?</a:t>
            </a:r>
          </a:p>
          <a:p xmlns:a="http://schemas.openxmlformats.org/drawingml/2006/main">
            <a:r>
              <a:rPr sz="1400"/>
              <a:t/>
            </a:r>
          </a:p>
          <a:p xmlns:a="http://schemas.openxmlformats.org/drawingml/2006/main">
            <a:r>
              <a:rPr sz="1400"/>
              <a:t>Uitleg: Eigen tweede uitlegvoorbeeld, afzonderlijk van het atelier. Lina heeft al gekozen voor wandelen. Bij de vergelijking van gemiste inkomsten is oppassen met 22 euro het beste haalbare alternatief. De archiefklus geeft minder. Zonder wandelen zou Lina ook maar één klus kunnen doen: tel 22 en 18 dus niet op. Theater is niet beschikbaar. Er is geen eurobedrag voor het plezier van wandelen gegeven.</a:t>
            </a:r>
          </a:p>
          <a:p xmlns:a="http://schemas.openxmlformats.org/drawingml/2006/main">
            <a:r>
              <a:rPr sz="1400"/>
              <a:t/>
            </a:r>
          </a:p>
          <a:p xmlns:a="http://schemas.openxmlformats.org/drawingml/2006/main">
            <a:r>
              <a:rPr sz="1400"/>
              <a:t>Misvatting: Het beste haalbare alternatief is één optie. Sommeer geen onderling onverenigbare gemiste opties.</a:t>
            </a:r>
          </a:p>
          <a:p xmlns:a="http://schemas.openxmlformats.org/drawingml/2006/main">
            <a:r>
              <a:rPr sz="1400"/>
              <a:t/>
            </a:r>
          </a:p>
          <a:p xmlns:a="http://schemas.openxmlformats.org/drawingml/2006/main">
            <a:r>
              <a:rPr sz="1400"/>
              <a:t>Overgang: Hernemen van startopgave 2; daarna de basisopgaven.</a:t>
            </a:r>
          </a:p>
          <a:p xmlns:a="http://schemas.openxmlformats.org/drawingml/2006/main">
            <a:r>
              <a:rPr sz="1400"/>
              <a:t/>
            </a:r>
          </a:p>
          <a:p xmlns:a="http://schemas.openxmlformats.org/drawingml/2006/main">
            <a:r>
              <a:rPr sz="1400"/>
              <a:t>Bron: Boek 1, tweede editie 2026, gedrukte boekpagina 7.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Uitlegvoorbeeld — niet uit het boek. De context en gegevens op deze dia zijn eigen auteurswerk. De boekpagina onderbouwt alleen de begrippen en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verbeter je jouw eerste antwoord op opgave 2 met de uitleg van zojuist?</a:t>
            </a:r>
          </a:p>
          <a:p xmlns:a="http://schemas.openxmlformats.org/drawingml/2006/main">
            <a:r>
              <a:rPr sz="1400"/>
              <a:t/>
            </a:r>
          </a:p>
          <a:p xmlns:a="http://schemas.openxmlformats.org/drawingml/2006/main">
            <a:r>
              <a:rPr sz="1400"/>
              <a:t>Uitleg: Laat deze dia staan tijdens zelfstandig werken. Start 1–2: p. 9; basis 3: p. 9, basis 4: p. 10; zelfstandig 5–6: p. 10; doel 7: p. 11. Huiswerk is opgaven 3, 4, 5, 6 en 7 maken en nakijken. Bonus 8 en herhaling 9 zijn aanvullend. De volledige route is niet als één lesuur getimed.</a:t>
            </a:r>
          </a:p>
          <a:p xmlns:a="http://schemas.openxmlformats.org/drawingml/2006/main">
            <a:r>
              <a:rPr sz="1400"/>
              <a:t/>
            </a:r>
          </a:p>
          <a:p xmlns:a="http://schemas.openxmlformats.org/drawingml/2006/main">
            <a:r>
              <a:rPr sz="1400"/>
              <a:t>Start 1 haalt vermenigvuldigen, aftrekken en eenheden op. Neem beheersing niet automatisch aan. Start 2 is een eerste verkenning van schaarste en het opgegeven alternatief. Laat leerlingen de definities op p. 6–7 en de stappen op p. 8 gebruiken. Laat hen de passende uitleg aanwijzen en twijfel noteren. Het is geen toets van al beheerste economische begrippen.</a:t>
            </a:r>
          </a:p>
          <a:p xmlns:a="http://schemas.openxmlformats.org/drawingml/2006/main">
            <a:r>
              <a:rPr sz="1400"/>
              <a:t/>
            </a:r>
          </a:p>
          <a:p xmlns:a="http://schemas.openxmlformats.org/drawingml/2006/main">
            <a:r>
              <a:rPr sz="1400"/>
              <a:t>Bij de tweede overzichtsdia: laat leerlingen opgave 2 na de instructie opnieuw beantwoorden. Vraag naar het beperkte middel, de onverenigbaarheid en de opgegeven activiteit. Geef zo nodig steun vóór opgave 3. Controleer ook of start 1 met de eenheden klopt. Laat basiswerk niet weg om de les sneller af te ronden.</a:t>
            </a:r>
          </a:p>
          <a:p xmlns:a="http://schemas.openxmlformats.org/drawingml/2006/main">
            <a:r>
              <a:rPr sz="1400"/>
              <a:t/>
            </a:r>
          </a:p>
          <a:p xmlns:a="http://schemas.openxmlformats.org/drawingml/2006/main">
            <a:r>
              <a:rPr sz="1400"/>
              <a:t>Misvatting: De docenteninformatie gebruikt lokale hoofdstukpagina’s. Hier staan de gecontroleerde gedrukte pagina’s van het complete boek.</a:t>
            </a:r>
          </a:p>
          <a:p xmlns:a="http://schemas.openxmlformats.org/drawingml/2006/main">
            <a:r>
              <a:rPr sz="1400"/>
              <a:t/>
            </a:r>
          </a:p>
          <a:p xmlns:a="http://schemas.openxmlformats.org/drawingml/2006/main">
            <a:r>
              <a:rPr sz="1400"/>
              <a:t>Overgang: Na het hernemen van opgave 2 beginnen leerlingen bij 3–4. Bespreek daarna het gemaakte doelwerk.</a:t>
            </a:r>
          </a:p>
          <a:p xmlns:a="http://schemas.openxmlformats.org/drawingml/2006/main">
            <a:r>
              <a:rPr sz="1400"/>
              <a:t/>
            </a:r>
          </a:p>
          <a:p xmlns:a="http://schemas.openxmlformats.org/drawingml/2006/main">
            <a:r>
              <a:rPr sz="1400"/>
              <a:t>Bron: Boek 1, tweede editie 2026, gedrukte boekpagina 6–11.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voorwaarden moet je bij de vergelijking vasthouden?</a:t>
            </a:r>
          </a:p>
          <a:p xmlns:a="http://schemas.openxmlformats.org/drawingml/2006/main">
            <a:r>
              <a:rPr sz="1400"/>
              <a:t/>
            </a:r>
          </a:p>
          <a:p xmlns:a="http://schemas.openxmlformats.org/drawingml/2006/main">
            <a:r>
              <a:rPr sz="1400"/>
              <a:t>Uitleg: Dit is de oorspronkelijke context van opgave 7 uit de actuele tweede editie. Bespreek pas na de eigen poging van leerlingen. Toon eerst alle context, gegevens en vragen. Deze dia heeft nog geen antwoord.</a:t>
            </a:r>
          </a:p>
          <a:p xmlns:a="http://schemas.openxmlformats.org/drawingml/2006/main">
            <a:r>
              <a:rPr sz="1400"/>
              <a:t/>
            </a:r>
          </a:p>
          <a:p xmlns:a="http://schemas.openxmlformats.org/drawingml/2006/main">
            <a:r>
              <a:rPr sz="1400"/>
              <a:t>Misvatting: Verwissel deze aula niet met het uitlegvoorbeeld: drie uur in plaats van twee.</a:t>
            </a:r>
          </a:p>
          <a:p xmlns:a="http://schemas.openxmlformats.org/drawingml/2006/main">
            <a:r>
              <a:rPr sz="1400"/>
              <a:t/>
            </a:r>
          </a:p>
          <a:p xmlns:a="http://schemas.openxmlformats.org/drawingml/2006/main">
            <a:r>
              <a:rPr sz="1400"/>
              <a:t>Overgang: Toon de oorspronkelijke tabel en financiële voorwaarden.</a:t>
            </a:r>
          </a:p>
          <a:p xmlns:a="http://schemas.openxmlformats.org/drawingml/2006/main">
            <a:r>
              <a:rPr sz="1400"/>
              <a:t/>
            </a:r>
          </a:p>
          <a:p xmlns:a="http://schemas.openxmlformats.org/drawingml/2006/main">
            <a:r>
              <a:rPr sz="1400"/>
              <a:t>Bron: Boek 1, tweede editie 2026, gedrukte boekpagina 11.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betekent per uur in de geldkolom?</a:t>
            </a:r>
          </a:p>
          <a:p xmlns:a="http://schemas.openxmlformats.org/drawingml/2006/main">
            <a:r>
              <a:rPr sz="1400"/>
              <a:t/>
            </a:r>
          </a:p>
          <a:p xmlns:a="http://schemas.openxmlformats.org/drawingml/2006/main">
            <a:r>
              <a:rPr sz="1400"/>
              <a:t>Uitleg: Behoud de drie oorspronkelijke tabelkolommen. Deelnemers zijn verwachte aantallen per activiteit, geen aantallen per uur. De bedragen zijn per uur, na alle uitgaven. Er is geen grafiek in deze doelopgave.</a:t>
            </a:r>
          </a:p>
          <a:p xmlns:a="http://schemas.openxmlformats.org/drawingml/2006/main">
            <a:r>
              <a:rPr sz="1400"/>
              <a:t/>
            </a:r>
          </a:p>
          <a:p xmlns:a="http://schemas.openxmlformats.org/drawingml/2006/main">
            <a:r>
              <a:rPr sz="1400"/>
              <a:t>Misvatting: Vermenigvuldig deelnemers niet automatisch met drie.</a:t>
            </a:r>
          </a:p>
          <a:p xmlns:a="http://schemas.openxmlformats.org/drawingml/2006/main">
            <a:r>
              <a:rPr sz="1400"/>
              <a:t/>
            </a:r>
          </a:p>
          <a:p xmlns:a="http://schemas.openxmlformats.org/drawingml/2006/main">
            <a:r>
              <a:rPr sz="1400"/>
              <a:t>Overgang: Toon a, b en c zonder uitwerking.</a:t>
            </a:r>
          </a:p>
          <a:p xmlns:a="http://schemas.openxmlformats.org/drawingml/2006/main">
            <a:r>
              <a:rPr sz="1400"/>
              <a:t/>
            </a:r>
          </a:p>
          <a:p xmlns:a="http://schemas.openxmlformats.org/drawingml/2006/main">
            <a:r>
              <a:rPr sz="1400"/>
              <a:t>Bron: Boek 1, tweede editie 2026, gedrukte boekpagina 11.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welke vraag moet je zowel een activiteit als een bedrag noemen?</a:t>
            </a:r>
          </a:p>
          <a:p xmlns:a="http://schemas.openxmlformats.org/drawingml/2006/main">
            <a:r>
              <a:rPr sz="1400"/>
              <a:t/>
            </a:r>
          </a:p>
          <a:p xmlns:a="http://schemas.openxmlformats.org/drawingml/2006/main">
            <a:r>
              <a:rPr sz="1400"/>
              <a:t>Uitleg: De volledige deelvragen a–c zijn overgenomen zonder antwoorden. Laat leerlingen hun eigen werk erbij houden. Antwoorden volgen nadat ook d–e zichtbaar zijn geweest.</a:t>
            </a:r>
          </a:p>
          <a:p xmlns:a="http://schemas.openxmlformats.org/drawingml/2006/main">
            <a:r>
              <a:rPr sz="1400"/>
              <a:t/>
            </a:r>
          </a:p>
          <a:p xmlns:a="http://schemas.openxmlformats.org/drawingml/2006/main">
            <a:r>
              <a:rPr sz="1400"/>
              <a:t>Misvatting: Een eindbedrag alleen beantwoordt c niet volledig.</a:t>
            </a:r>
          </a:p>
          <a:p xmlns:a="http://schemas.openxmlformats.org/drawingml/2006/main">
            <a:r>
              <a:rPr sz="1400"/>
              <a:t/>
            </a:r>
          </a:p>
          <a:p xmlns:a="http://schemas.openxmlformats.org/drawingml/2006/main">
            <a:r>
              <a:rPr sz="1400"/>
              <a:t>Overgang: Toon eerst ook de laatste twee vragen.</a:t>
            </a:r>
          </a:p>
          <a:p xmlns:a="http://schemas.openxmlformats.org/drawingml/2006/main">
            <a:r>
              <a:rPr sz="1400"/>
              <a:t/>
            </a:r>
          </a:p>
          <a:p xmlns:a="http://schemas.openxmlformats.org/drawingml/2006/main">
            <a:r>
              <a:rPr sz="1400"/>
              <a:t>Bron: Boek 1, tweede editie 2026, gedrukte boekpagina 11.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in e en wat blijft hetzelfde?</a:t>
            </a:r>
          </a:p>
          <a:p xmlns:a="http://schemas.openxmlformats.org/drawingml/2006/main">
            <a:r>
              <a:rPr sz="1400"/>
              <a:t/>
            </a:r>
          </a:p>
          <a:p xmlns:a="http://schemas.openxmlformats.org/drawingml/2006/main">
            <a:r>
              <a:rPr sz="1400"/>
              <a:t>Uitleg: Nu zijn alle vijf deelvragen en de volledige context/tabel beschikbaar zonder oplossingen. Laat leerlingen zich eerst oriënteren op de gevraagde redeneringen.</a:t>
            </a:r>
          </a:p>
          <a:p xmlns:a="http://schemas.openxmlformats.org/drawingml/2006/main">
            <a:r>
              <a:rPr sz="1400"/>
              <a:t/>
            </a:r>
          </a:p>
          <a:p xmlns:a="http://schemas.openxmlformats.org/drawingml/2006/main">
            <a:r>
              <a:rPr sz="1400"/>
              <a:t>Misvatting: Een nieuwe doelstelling is niet hetzelfde als een verandering van alle gegevens.</a:t>
            </a:r>
          </a:p>
          <a:p xmlns:a="http://schemas.openxmlformats.org/drawingml/2006/main">
            <a:r>
              <a:rPr sz="1400"/>
              <a:t/>
            </a:r>
          </a:p>
          <a:p xmlns:a="http://schemas.openxmlformats.org/drawingml/2006/main">
            <a:r>
              <a:rPr sz="1400"/>
              <a:t>Overgang: Begin nu pas met het bespreken van de antwoorden, bij a.</a:t>
            </a:r>
          </a:p>
          <a:p xmlns:a="http://schemas.openxmlformats.org/drawingml/2006/main">
            <a:r>
              <a:rPr sz="1400"/>
              <a:t/>
            </a:r>
          </a:p>
          <a:p xmlns:a="http://schemas.openxmlformats.org/drawingml/2006/main">
            <a:r>
              <a:rPr sz="1400"/>
              <a:t>Bron: Boek 1, tweede editie 2026, gedrukte boekpagina 11.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moet het tijdvak in je antwoord terugkomen?</a:t>
            </a:r>
          </a:p>
          <a:p xmlns:a="http://schemas.openxmlformats.org/drawingml/2006/main">
            <a:r>
              <a:rPr sz="1400"/>
              <a:t/>
            </a:r>
          </a:p>
          <a:p xmlns:a="http://schemas.openxmlformats.org/drawingml/2006/main">
            <a:r>
              <a:rPr sz="1400"/>
              <a:t>Uitleg: Volledig antwoord a: de aula gedurende dezelfde drie uur is schaars. Muziek en ruilmarkt zijn afzonderlijk mogelijk, maar sluiten elkaar in dat tijdvak uit. Het gaat om beschikbare ruimte én tijd ten opzichte van de wensen.</a:t>
            </a:r>
          </a:p>
          <a:p xmlns:a="http://schemas.openxmlformats.org/drawingml/2006/main">
            <a:r>
              <a:rPr sz="1400"/>
              <a:t/>
            </a:r>
          </a:p>
          <a:p xmlns:a="http://schemas.openxmlformats.org/drawingml/2006/main">
            <a:r>
              <a:rPr sz="1400"/>
              <a:t>Misvatting: Alleen geld is schaars is hier geen antwoord. De huurprijs is niet de beperking.</a:t>
            </a:r>
          </a:p>
          <a:p xmlns:a="http://schemas.openxmlformats.org/drawingml/2006/main">
            <a:r>
              <a:rPr sz="1400"/>
              <a:t/>
            </a:r>
          </a:p>
          <a:p xmlns:a="http://schemas.openxmlformats.org/drawingml/2006/main">
            <a:r>
              <a:rPr sz="1400"/>
              <a:t>Overgang: Bereken de totale bedragen bij het gelddoel.</a:t>
            </a:r>
          </a:p>
          <a:p xmlns:a="http://schemas.openxmlformats.org/drawingml/2006/main">
            <a:r>
              <a:rPr sz="1400"/>
              <a:t/>
            </a:r>
          </a:p>
          <a:p xmlns:a="http://schemas.openxmlformats.org/drawingml/2006/main">
            <a:r>
              <a:rPr sz="1400"/>
              <a:t>Bron: Boek 1, tweede editie 2026, gedrukte boekpagina 11.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vergelijken we hier 210 en 270 in plaats van 90 en 60?</a:t>
            </a:r>
          </a:p>
          <a:p xmlns:a="http://schemas.openxmlformats.org/drawingml/2006/main">
            <a:r>
              <a:rPr sz="1400"/>
              <a:t/>
            </a:r>
          </a:p>
          <a:p xmlns:a="http://schemas.openxmlformats.org/drawingml/2006/main">
            <a:r>
              <a:rPr sz="1400"/>
              <a:t>Uitleg: Opzet, invullen en uitkomst: beide uurtarieven vermenigvuldigen met drie. Muziek geeft 210 euro en ruilmarkt 270 euro over voor het goede doel. Alle uitgaven waren al verrekend. Bij het expliciete doel past de ruilmarkt omdat 270 het hoogste totaal is.</a:t>
            </a:r>
          </a:p>
          <a:p xmlns:a="http://schemas.openxmlformats.org/drawingml/2006/main">
            <a:r>
              <a:rPr sz="1400"/>
              <a:t/>
            </a:r>
          </a:p>
          <a:p xmlns:a="http://schemas.openxmlformats.org/drawingml/2006/main">
            <a:r>
              <a:rPr sz="1400"/>
              <a:t>Misvatting: 90 en 60 deelnemers horen bij een andere vergelijking. Kosten niet opnieuw aftrekken.</a:t>
            </a:r>
          </a:p>
          <a:p xmlns:a="http://schemas.openxmlformats.org/drawingml/2006/main">
            <a:r>
              <a:rPr sz="1400"/>
              <a:t/>
            </a:r>
          </a:p>
          <a:p xmlns:a="http://schemas.openxmlformats.org/drawingml/2006/main">
            <a:r>
              <a:rPr sz="1400"/>
              <a:t>Overgang: Benoem nu wat de gekozen ruilmarkt uitsluit.</a:t>
            </a:r>
          </a:p>
          <a:p xmlns:a="http://schemas.openxmlformats.org/drawingml/2006/main">
            <a:r>
              <a:rPr sz="1400"/>
              <a:t/>
            </a:r>
          </a:p>
          <a:p xmlns:a="http://schemas.openxmlformats.org/drawingml/2006/main">
            <a:r>
              <a:rPr sz="1400"/>
              <a:t>Bron: Boek 1, tweede editie 2026, gedrukte boekpagina 11.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vraag beantwoordt € 60 wél?</a:t>
            </a:r>
          </a:p>
          <a:p xmlns:a="http://schemas.openxmlformats.org/drawingml/2006/main">
            <a:r>
              <a:rPr sz="1400"/>
              <a:t/>
            </a:r>
          </a:p>
          <a:p xmlns:a="http://schemas.openxmlformats.org/drawingml/2006/main">
            <a:r>
              <a:rPr sz="1400"/>
              <a:t>Uitleg: De school geeft de haalbare muziekmiddag op. Die zou voor dezelfde drie uur 210 euro opleveren. Dat is de waarde van het beste opgegeven alternatief. De 60 euro is het voordeel van de ruilmarkt boven muziek. Controle: noem activiteit, bedrag en tijdvak.</a:t>
            </a:r>
          </a:p>
          <a:p xmlns:a="http://schemas.openxmlformats.org/drawingml/2006/main">
            <a:r>
              <a:rPr sz="1400"/>
              <a:t/>
            </a:r>
          </a:p>
          <a:p xmlns:a="http://schemas.openxmlformats.org/drawingml/2006/main">
            <a:r>
              <a:rPr sz="1400"/>
              <a:t>Misvatting: € 60 is het verschil; € 270 hoort bij het gekozen plan. Geen van beide is de alternatieve kost van de ruilmarkt.</a:t>
            </a:r>
          </a:p>
          <a:p xmlns:a="http://schemas.openxmlformats.org/drawingml/2006/main">
            <a:r>
              <a:rPr sz="1400"/>
              <a:t/>
            </a:r>
          </a:p>
          <a:p xmlns:a="http://schemas.openxmlformats.org/drawingml/2006/main">
            <a:r>
              <a:rPr sz="1400"/>
              <a:t>Overgang: Beoordeel daarmee de uitspraak over gratis gebruik.</a:t>
            </a:r>
          </a:p>
          <a:p xmlns:a="http://schemas.openxmlformats.org/drawingml/2006/main">
            <a:r>
              <a:rPr sz="1400"/>
              <a:t/>
            </a:r>
          </a:p>
          <a:p xmlns:a="http://schemas.openxmlformats.org/drawingml/2006/main">
            <a:r>
              <a:rPr sz="1400"/>
              <a:t>Bron: Boek 1, tweede editie 2026, gedrukte boekpagina 11.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Aan wie betaalt de school deze € 210?</a:t>
            </a:r>
          </a:p>
          <a:p xmlns:a="http://schemas.openxmlformats.org/drawingml/2006/main">
            <a:r>
              <a:rPr sz="1400"/>
              <a:t/>
            </a:r>
          </a:p>
          <a:p xmlns:a="http://schemas.openxmlformats.org/drawingml/2006/main">
            <a:r>
              <a:rPr sz="1400"/>
              <a:t>Uitleg: De uitspraak klopt niet. Gratis gaat over de betaalde huurprijs. De keuze voor de ruilmarkt sluit de muziekmiddag uit, die 210 euro kon opleveren. Er zijn dus alternatieve kosten hoewel er geen huurbetaling is.</a:t>
            </a:r>
          </a:p>
          <a:p xmlns:a="http://schemas.openxmlformats.org/drawingml/2006/main">
            <a:r>
              <a:rPr sz="1400"/>
              <a:t/>
            </a:r>
          </a:p>
          <a:p xmlns:a="http://schemas.openxmlformats.org/drawingml/2006/main">
            <a:r>
              <a:rPr sz="1400"/>
              <a:t>Misvatting: Aan niemand: het gaat om gemiste mogelijke inkomsten, geen rekening of tweede uitgave.</a:t>
            </a:r>
          </a:p>
          <a:p xmlns:a="http://schemas.openxmlformats.org/drawingml/2006/main">
            <a:r>
              <a:rPr sz="1400"/>
              <a:t/>
            </a:r>
          </a:p>
          <a:p xmlns:a="http://schemas.openxmlformats.org/drawingml/2006/main">
            <a:r>
              <a:rPr sz="1400"/>
              <a:t>Overgang: Verander tot slot alleen het doel.</a:t>
            </a:r>
          </a:p>
          <a:p xmlns:a="http://schemas.openxmlformats.org/drawingml/2006/main">
            <a:r>
              <a:rPr sz="1400"/>
              <a:t/>
            </a:r>
          </a:p>
          <a:p xmlns:a="http://schemas.openxmlformats.org/drawingml/2006/main">
            <a:r>
              <a:rPr sz="1400"/>
              <a:t>Bron: Boek 1, tweede editie 2026, gedrukte boekpagina 11.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kan de keuze veranderen terwijl de tabel hetzelfde blijft?</a:t>
            </a:r>
          </a:p>
          <a:p xmlns:a="http://schemas.openxmlformats.org/drawingml/2006/main">
            <a:r>
              <a:rPr sz="1400"/>
              <a:t/>
            </a:r>
          </a:p>
          <a:p xmlns:a="http://schemas.openxmlformats.org/drawingml/2006/main">
            <a:r>
              <a:rPr sz="1400"/>
              <a:t>Uitleg: Het nieuwe doel vergelijkt deelnemers in plaats van geld. Muziek heeft 90 verwachte deelnemers tegen 60 voor de ruilmarkt. Daarom past muziek nu beter. De beschikbare drie uur en de haalbaarheid blijven gelijk. De gegevens zijn verwachtingen; beloof geen werkelijk bezoekersaantal.</a:t>
            </a:r>
          </a:p>
          <a:p xmlns:a="http://schemas.openxmlformats.org/drawingml/2006/main">
            <a:r>
              <a:rPr sz="1400"/>
              <a:t/>
            </a:r>
          </a:p>
          <a:p xmlns:a="http://schemas.openxmlformats.org/drawingml/2006/main">
            <a:r>
              <a:rPr sz="1400"/>
              <a:t>Misvatting: Vermenigvuldig het verwachte aantal deelnemers niet met drie. Het is al het aantal voor de gehele activiteit.</a:t>
            </a:r>
          </a:p>
          <a:p xmlns:a="http://schemas.openxmlformats.org/drawingml/2006/main">
            <a:r>
              <a:rPr sz="1400"/>
              <a:t/>
            </a:r>
          </a:p>
          <a:p xmlns:a="http://schemas.openxmlformats.org/drawingml/2006/main">
            <a:r>
              <a:rPr sz="1400"/>
              <a:t>Overgang: Laat leerlingen hun eigen antwoorden controleren en verbeteren.</a:t>
            </a:r>
          </a:p>
          <a:p xmlns:a="http://schemas.openxmlformats.org/drawingml/2006/main">
            <a:r>
              <a:rPr sz="1400"/>
              <a:t/>
            </a:r>
          </a:p>
          <a:p xmlns:a="http://schemas.openxmlformats.org/drawingml/2006/main">
            <a:r>
              <a:rPr sz="1400"/>
              <a:t>Bron: Boek 1, tweede editie 2026, gedrukte boekpagina 11.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verbetering maakt jouw antwoord vollediger?</a:t>
            </a:r>
          </a:p>
          <a:p xmlns:a="http://schemas.openxmlformats.org/drawingml/2006/main">
            <a:r>
              <a:rPr sz="1400"/>
              <a:t/>
            </a:r>
          </a:p>
          <a:p xmlns:a="http://schemas.openxmlformats.org/drawingml/2006/main">
            <a:r>
              <a:rPr sz="1400"/>
              <a:t>Uitleg: Controleer alle deelvragen. Een volledige redenering verbindt beperking, vergelijking en doel. Laat leerlingen een eigen tekortkoming verbeteren. De tabelwaarden en het antwoordmodel zijn in de actuele editie gecontroleerd.</a:t>
            </a:r>
          </a:p>
          <a:p xmlns:a="http://schemas.openxmlformats.org/drawingml/2006/main">
            <a:r>
              <a:rPr sz="1400"/>
              <a:t/>
            </a:r>
          </a:p>
          <a:p xmlns:a="http://schemas.openxmlformats.org/drawingml/2006/main">
            <a:r>
              <a:rPr sz="1400"/>
              <a:t>Misvatting: Een juist getal zonder de gevraagde activiteit, eenheid of verklaring kan onvolledig zijn.</a:t>
            </a:r>
          </a:p>
          <a:p xmlns:a="http://schemas.openxmlformats.org/drawingml/2006/main">
            <a:r>
              <a:rPr sz="1400"/>
              <a:t/>
            </a:r>
          </a:p>
          <a:p xmlns:a="http://schemas.openxmlformats.org/drawingml/2006/main">
            <a:r>
              <a:rPr sz="1400"/>
              <a:t>Overgang: Laat het laatste overzicht staan voor huiswerk en afsluiting.</a:t>
            </a:r>
          </a:p>
          <a:p xmlns:a="http://schemas.openxmlformats.org/drawingml/2006/main">
            <a:r>
              <a:rPr sz="1400"/>
              <a:t/>
            </a:r>
          </a:p>
          <a:p xmlns:a="http://schemas.openxmlformats.org/drawingml/2006/main">
            <a:r>
              <a:rPr sz="1400"/>
              <a:t>Bron: Boek 1, tweede editie 2026, gedrukte boekpagina 11.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Heb je opgaven 3 tot en met 7 maken en nakijken genoteerd?</a:t>
            </a:r>
          </a:p>
          <a:p xmlns:a="http://schemas.openxmlformats.org/drawingml/2006/main">
            <a:r>
              <a:rPr sz="1400"/>
              <a:t/>
            </a:r>
          </a:p>
          <a:p xmlns:a="http://schemas.openxmlformats.org/drawingml/2006/main">
            <a:r>
              <a:rPr sz="1400"/>
              <a:t>Uitleg: Laat deze dia staan tijdens afsluiting / huiswerk. Start 1–2: p. 9; basis 3: p. 9, basis 4: p. 10; zelfstandig 5–6: p. 10; doel 7: p. 11. Huiswerk is opgaven 3, 4, 5, 6 en 7 maken en nakijken. Bonus 8 en herhaling 9 zijn aanvullend. De volledige route is niet als één lesuur getimed.</a:t>
            </a:r>
          </a:p>
          <a:p xmlns:a="http://schemas.openxmlformats.org/drawingml/2006/main">
            <a:r>
              <a:rPr sz="1400"/>
              <a:t/>
            </a:r>
          </a:p>
          <a:p xmlns:a="http://schemas.openxmlformats.org/drawingml/2006/main">
            <a:r>
              <a:rPr sz="1400"/>
              <a:t>Start 1 haalt vermenigvuldigen, aftrekken en eenheden op. Neem beheersing niet automatisch aan. Start 2 is een eerste verkenning van schaarste en het opgegeven alternatief. Laat leerlingen de definities op p. 6–7 en de stappen op p. 8 gebruiken. Laat hen de passende uitleg aanwijzen en twijfel noteren. Het is geen toets van al beheerste economische begrippen.</a:t>
            </a:r>
          </a:p>
          <a:p xmlns:a="http://schemas.openxmlformats.org/drawingml/2006/main">
            <a:r>
              <a:rPr sz="1400"/>
              <a:t/>
            </a:r>
          </a:p>
          <a:p xmlns:a="http://schemas.openxmlformats.org/drawingml/2006/main">
            <a:r>
              <a:rPr sz="1400"/>
              <a:t>Bij de tweede overzichtsdia: laat leerlingen opgave 2 na de instructie opnieuw beantwoorden. Vraag naar het beperkte middel, de onverenigbaarheid en de opgegeven activiteit. Geef zo nodig steun vóór opgave 3. Controleer ook of start 1 met de eenheden klopt. Laat basiswerk niet weg om de les sneller af te ronden.</a:t>
            </a:r>
          </a:p>
          <a:p xmlns:a="http://schemas.openxmlformats.org/drawingml/2006/main">
            <a:r>
              <a:rPr sz="1400"/>
              <a:t/>
            </a:r>
          </a:p>
          <a:p xmlns:a="http://schemas.openxmlformats.org/drawingml/2006/main">
            <a:r>
              <a:rPr sz="1400"/>
              <a:t>Misvatting: De docenteninformatie gebruikt lokale hoofdstukpagina’s. Hier staan de gecontroleerde gedrukte pagina’s van het complete boek.</a:t>
            </a:r>
          </a:p>
          <a:p xmlns:a="http://schemas.openxmlformats.org/drawingml/2006/main">
            <a:r>
              <a:rPr sz="1400"/>
              <a:t/>
            </a:r>
          </a:p>
          <a:p xmlns:a="http://schemas.openxmlformats.org/drawingml/2006/main">
            <a:r>
              <a:rPr sz="1400"/>
              <a:t>Overgang: Rond af. De volgende paragraaf vergelijkt uitkomsten met verhoudingen en percentages.</a:t>
            </a:r>
          </a:p>
          <a:p xmlns:a="http://schemas.openxmlformats.org/drawingml/2006/main">
            <a:r>
              <a:rPr sz="1400"/>
              <a:t/>
            </a:r>
          </a:p>
          <a:p xmlns:a="http://schemas.openxmlformats.org/drawingml/2006/main">
            <a:r>
              <a:rPr sz="1400"/>
              <a:t>Bron: Boek 1, tweede editie 2026, gedrukte boekpagina 6–11.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b6f6f7f79243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ad86f3ea784cd1" /><Relationship Type="http://schemas.openxmlformats.org/officeDocument/2006/relationships/slideLayout" Target="/ppt/slideLayouts/slideLayout1.xml" Id="Rbbd3a83b91e04b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d3a83b91e04b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c7703f96b64f97" /><Relationship Type="http://schemas.openxmlformats.org/officeDocument/2006/relationships/notesSlide" Target="/ppt/notesSlides/notesSlide1.xml" Id="Rc9c9f650f53842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03c6d365924a0c" /><Relationship Type="http://schemas.openxmlformats.org/officeDocument/2006/relationships/notesSlide" Target="/ppt/notesSlides/notesSlide2.xml" Id="R7b2ff7737cf748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15644650f0047a7" /><Relationship Type="http://schemas.openxmlformats.org/officeDocument/2006/relationships/notesSlide" Target="/ppt/notesSlides/notesSlide3.xml" Id="Rd980b58ff48a48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e5ed39cfa74078" /><Relationship Type="http://schemas.openxmlformats.org/officeDocument/2006/relationships/notesSlide" Target="/ppt/notesSlides/notesSlide4.xml" Id="R70f95fb2034a4a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1d591981a04a3e" /><Relationship Type="http://schemas.openxmlformats.org/officeDocument/2006/relationships/notesSlide" Target="/ppt/notesSlides/notesSlide5.xml" Id="Rec08dcb3381045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c0dee61f514ec1" /><Relationship Type="http://schemas.openxmlformats.org/officeDocument/2006/relationships/notesSlide" Target="/ppt/notesSlides/notesSlide6.xml" Id="R4d834f681fc549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260684c4014c78" /><Relationship Type="http://schemas.openxmlformats.org/officeDocument/2006/relationships/notesSlide" Target="/ppt/notesSlides/notesSlide7.xml" Id="Raf23465aca524b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bbd345676be4e52" /><Relationship Type="http://schemas.openxmlformats.org/officeDocument/2006/relationships/notesSlide" Target="/ppt/notesSlides/notesSlide8.xml" Id="R90a104f297284e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6770b7e95f4338" /><Relationship Type="http://schemas.openxmlformats.org/officeDocument/2006/relationships/notesSlide" Target="/ppt/notesSlides/notesSlide9.xml" Id="Ra4acb8e20fe14c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c1daab35f945e8" /><Relationship Type="http://schemas.openxmlformats.org/officeDocument/2006/relationships/notesSlide" Target="/ppt/notesSlides/notesSlide10.xml" Id="R50385d3440d140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13f300ee9104051" /><Relationship Type="http://schemas.openxmlformats.org/officeDocument/2006/relationships/notesSlide" Target="/ppt/notesSlides/notesSlide11.xml" Id="Ra8e1fd0bcdc640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b213c03da0d42c0" /><Relationship Type="http://schemas.openxmlformats.org/officeDocument/2006/relationships/notesSlide" Target="/ppt/notesSlides/notesSlide12.xml" Id="R41c1b5b1ead647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ddb3d56aa834471" /><Relationship Type="http://schemas.openxmlformats.org/officeDocument/2006/relationships/notesSlide" Target="/ppt/notesSlides/notesSlide13.xml" Id="R76b41713a472428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032f86b9e7a4453" /><Relationship Type="http://schemas.openxmlformats.org/officeDocument/2006/relationships/notesSlide" Target="/ppt/notesSlides/notesSlide14.xml" Id="R2b9b04e60f394a3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a47cabbd1324e68" /><Relationship Type="http://schemas.openxmlformats.org/officeDocument/2006/relationships/notesSlide" Target="/ppt/notesSlides/notesSlide15.xml" Id="R5b0e71f3906d4c9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9cfc25b392c4cf6" /><Relationship Type="http://schemas.openxmlformats.org/officeDocument/2006/relationships/notesSlide" Target="/ppt/notesSlides/notesSlide16.xml" Id="R8ffa3541e9884b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7e3cfd865f84e4f" /><Relationship Type="http://schemas.openxmlformats.org/officeDocument/2006/relationships/notesSlide" Target="/ppt/notesSlides/notesSlide17.xml" Id="Rea2ae847962a484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24c447413034b41" /><Relationship Type="http://schemas.openxmlformats.org/officeDocument/2006/relationships/notesSlide" Target="/ppt/notesSlides/notesSlide18.xml" Id="R519738b46934457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f436ba125ff4b77" /><Relationship Type="http://schemas.openxmlformats.org/officeDocument/2006/relationships/notesSlide" Target="/ppt/notesSlides/notesSlide19.xml" Id="R874eaf8a97064bb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96a0b4c92cb4722" /><Relationship Type="http://schemas.openxmlformats.org/officeDocument/2006/relationships/notesSlide" Target="/ppt/notesSlides/notesSlide20.xml" Id="R28d552dbad68403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fa10ad7de164d63" /><Relationship Type="http://schemas.openxmlformats.org/officeDocument/2006/relationships/notesSlide" Target="/ppt/notesSlides/notesSlide21.xml" Id="R44f831970bff4fc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1.1 Schaarste, keuzes en alternatieve">
            <a:extLst xmlns:a="http://schemas.openxmlformats.org/drawingml/2006/main">
              <a:ext uri="{FF2B5EF4-FFF2-40B4-BE49-F238E27FC236}">
                <a16:creationId xmlns:a16="http://schemas.microsoft.com/office/drawing/2014/main" id="{CB8C812A-EF15-493E-80AA-3CD33C988B0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Deze les: §1.1.1 Schaarste, keuzes en alternatieve kosten</a:t>
            </a:r>
          </a:p>
        </p:txBody>
      </p:sp>
      <p:sp>
        <p:nvSpPr>
          <p:cNvPr id="2" name="">
            <a:extLst xmlns:a="http://schemas.openxmlformats.org/drawingml/2006/main">
              <a:ext uri="{FF2B5EF4-FFF2-40B4-BE49-F238E27FC236}">
                <a16:creationId xmlns:a16="http://schemas.microsoft.com/office/drawing/2014/main" id="{7B75E0DC-99A4-4C09-A9C9-2DEDE4632A0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a:extLst xmlns:a="http://schemas.openxmlformats.org/drawingml/2006/main">
              <a:ext uri="{FF2B5EF4-FFF2-40B4-BE49-F238E27FC236}">
                <a16:creationId xmlns:a16="http://schemas.microsoft.com/office/drawing/2014/main" id="{F0E8C698-B30F-4379-AF80-268D0FA3AF9F}"/>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a:t>
            </a:r>
          </a:p>
        </p:txBody>
      </p:sp>
      <p:sp>
        <p:nvSpPr>
          <p:cNvPr id="4" name="1">
            <a:extLst xmlns:a="http://schemas.openxmlformats.org/drawingml/2006/main">
              <a:ext uri="{FF2B5EF4-FFF2-40B4-BE49-F238E27FC236}">
                <a16:creationId xmlns:a16="http://schemas.microsoft.com/office/drawing/2014/main" id="{75242CCF-81EC-4347-A6B8-C8BEDF9D211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18A30375-92D0-4F03-8AEA-C39DA94C6201}"/>
              </a:ext>
            </a:extLst>
          </p:cNvPr>
          <p:cNvSpPr>
            <a:spLocks xmlns:a="http://schemas.openxmlformats.org/drawingml/2006/main" noGrp="1"/>
          </p:cNvSpPr>
          <p:nvPr/>
        </p:nvSpPr>
        <p:spPr>
          <a:xfrm xmlns:a="http://schemas.openxmlformats.org/drawingml/2006/main">
            <a:off x="571500" y="10287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A198FBC5-0D81-4EE8-A0C1-A9951C40FB25}"/>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F58482C7-3B4C-4B07-B07C-E308305E9BFA}"/>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2B87748D-F269-4C59-B19A-DCF24D484AF6}"/>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B7496151-BB2A-429A-8426-4874508E5A0A}"/>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804859CB-591E-4AC5-AF91-E9BB70DF38F7}"/>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4BB8884F-C698-476D-900F-6FD7C9459C78}"/>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A8ED6BAF-BCE9-4228-B16F-13632B2BA3A7}"/>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61C6BC53-EF7A-4980-81B2-5F7C81AC300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9AA058A3-8895-429E-BA4A-9D2036DADBB8}"/>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B0FB1626-75CC-46D7-BD5B-0A2C5E27F142}"/>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7D9ECF93-95EA-414C-A07C-166BC7682DA7}"/>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E62A038F-58DE-4556-932B-AE7B7F9087A6}"/>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ACAFB9E9-B88F-47FD-9D42-5ECA60360DF2}"/>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DCF73DFC-0043-4315-B7B0-AC84459C178B}"/>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B227968A-117B-4888-BDCC-593FC2BE6BCF}"/>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DC371E40-C392-428E-A45B-AF765C4B39BE}"/>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6C1378CE-D4D0-46FE-85F5-6C8E4818A2A9}"/>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Beperking aanwijzen, uitkomsten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vergelijken, alternatieve kosten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uitleggen en kiezen bij een doel.</a:t>
            </a:r>
          </a:p>
        </p:txBody>
      </p:sp>
      <p:sp>
        <p:nvSpPr>
          <p:cNvPr id="23" name="">
            <a:extLst xmlns:a="http://schemas.openxmlformats.org/drawingml/2006/main">
              <a:ext uri="{FF2B5EF4-FFF2-40B4-BE49-F238E27FC236}">
                <a16:creationId xmlns:a16="http://schemas.microsoft.com/office/drawing/2014/main" id="{18A25F18-4AF0-446C-85B3-5312D26DD90D}"/>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E267E259-FD12-46A8-BCB9-2507D6A67D0E}"/>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79899BC2-689B-4B6F-B27F-ECE29203A53E}"/>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9 · Opgaven 1 en 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 verkennen, theorie p. 6–8</a:t>
            </a:r>
          </a:p>
        </p:txBody>
      </p:sp>
      <p:sp>
        <p:nvSpPr>
          <p:cNvPr id="26" name="">
            <a:extLst xmlns:a="http://schemas.openxmlformats.org/drawingml/2006/main">
              <a:ext uri="{FF2B5EF4-FFF2-40B4-BE49-F238E27FC236}">
                <a16:creationId xmlns:a16="http://schemas.microsoft.com/office/drawing/2014/main" id="{C293B518-E5A1-4DC0-AA46-DB08E3AD5B4E}"/>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2EAAE7AD-79AE-4945-88F8-384CB0ACD3B2}"/>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57F2E827-58E0-472B-8A41-C66F97F76C6E}"/>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9296554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Wat kun je na deze les?">
            <a:extLst xmlns:a="http://schemas.openxmlformats.org/drawingml/2006/main">
              <a:ext uri="{FF2B5EF4-FFF2-40B4-BE49-F238E27FC236}">
                <a16:creationId xmlns:a16="http://schemas.microsoft.com/office/drawing/2014/main" id="{CD1D5114-00A3-4305-94C8-E5BBC7A2F15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AD5CF9C0-5FBA-49C5-B6DD-C32405F974D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a:extLst xmlns:a="http://schemas.openxmlformats.org/drawingml/2006/main">
              <a:ext uri="{FF2B5EF4-FFF2-40B4-BE49-F238E27FC236}">
                <a16:creationId xmlns:a16="http://schemas.microsoft.com/office/drawing/2014/main" id="{845BA5BB-1333-444F-BF8B-7B4951CA4A40}"/>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a:t>
            </a:r>
          </a:p>
        </p:txBody>
      </p:sp>
      <p:sp>
        <p:nvSpPr>
          <p:cNvPr id="4" name="2">
            <a:extLst xmlns:a="http://schemas.openxmlformats.org/drawingml/2006/main">
              <a:ext uri="{FF2B5EF4-FFF2-40B4-BE49-F238E27FC236}">
                <a16:creationId xmlns:a16="http://schemas.microsoft.com/office/drawing/2014/main" id="{BC2D2038-EE82-4942-BCB5-79C6E892408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Beperking">
            <a:extLst xmlns:a="http://schemas.openxmlformats.org/drawingml/2006/main">
              <a:ext uri="{FF2B5EF4-FFF2-40B4-BE49-F238E27FC236}">
                <a16:creationId xmlns:a16="http://schemas.microsoft.com/office/drawing/2014/main" id="{183C3BF7-86D3-4468-AB50-CF9A5D764D61}"/>
              </a:ext>
            </a:extLst>
          </p:cNvPr>
          <p:cNvSpPr>
            <a:spLocks xmlns:a="http://schemas.openxmlformats.org/drawingml/2006/main" noGrp="1"/>
          </p:cNvSpPr>
          <p:nvPr/>
        </p:nvSpPr>
        <p:spPr>
          <a:xfrm xmlns:a="http://schemas.openxmlformats.org/drawingml/2006/main">
            <a:off x="571500" y="186690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Beperking</a:t>
            </a:r>
          </a:p>
        </p:txBody>
      </p:sp>
      <p:sp>
        <p:nvSpPr>
          <p:cNvPr id="6" name="Je wijst het schaarse middel en haalbare opties aa">
            <a:extLst xmlns:a="http://schemas.openxmlformats.org/drawingml/2006/main">
              <a:ext uri="{FF2B5EF4-FFF2-40B4-BE49-F238E27FC236}">
                <a16:creationId xmlns:a16="http://schemas.microsoft.com/office/drawing/2014/main" id="{B6176F2B-1B20-44FC-BA6A-1A33F74DB12F}"/>
              </a:ext>
            </a:extLst>
          </p:cNvPr>
          <p:cNvSpPr>
            <a:spLocks xmlns:a="http://schemas.openxmlformats.org/drawingml/2006/main" noGrp="1"/>
          </p:cNvSpPr>
          <p:nvPr/>
        </p:nvSpPr>
        <p:spPr>
          <a:xfrm xmlns:a="http://schemas.openxmlformats.org/drawingml/2006/main">
            <a:off x="6477000" y="1866900"/>
            <a:ext cx="809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Je wijst het schaarse middel en haalbare opties aan.</a:t>
            </a:r>
          </a:p>
        </p:txBody>
      </p:sp>
      <p:sp>
        <p:nvSpPr>
          <p:cNvPr id="7" name="">
            <a:extLst xmlns:a="http://schemas.openxmlformats.org/drawingml/2006/main">
              <a:ext uri="{FF2B5EF4-FFF2-40B4-BE49-F238E27FC236}">
                <a16:creationId xmlns:a16="http://schemas.microsoft.com/office/drawing/2014/main" id="{AB64E0D6-0D09-44F2-8F76-F15271138AE9}"/>
              </a:ext>
            </a:extLst>
          </p:cNvPr>
          <p:cNvSpPr>
            <a:spLocks xmlns:a="http://schemas.openxmlformats.org/drawingml/2006/main" noGrp="1"/>
          </p:cNvSpPr>
          <p:nvPr/>
        </p:nvSpPr>
        <p:spPr>
          <a:xfrm xmlns:a="http://schemas.openxmlformats.org/drawingml/2006/main">
            <a:off x="571500" y="3038475"/>
            <a:ext cx="14097000" cy="0"/>
          </a:xfrm>
          <a:prstGeom xmlns:a="http://schemas.openxmlformats.org/drawingml/2006/main" prst="line">
            <a:avLst/>
          </a:prstGeom>
          <a:ln xmlns:a="http://schemas.openxmlformats.org/drawingml/2006/main" w="19050">
            <a:solidFill>
              <a:srgbClr val="C6D2DB"/>
            </a:solidFill>
          </a:ln>
        </p:spPr>
      </p:sp>
      <p:sp>
        <p:nvSpPr>
          <p:cNvPr id="8" name="Vergelijking">
            <a:extLst xmlns:a="http://schemas.openxmlformats.org/drawingml/2006/main">
              <a:ext uri="{FF2B5EF4-FFF2-40B4-BE49-F238E27FC236}">
                <a16:creationId xmlns:a16="http://schemas.microsoft.com/office/drawing/2014/main" id="{4AA92303-132C-418B-982F-4C6D77E88DDB}"/>
              </a:ext>
            </a:extLst>
          </p:cNvPr>
          <p:cNvSpPr>
            <a:spLocks xmlns:a="http://schemas.openxmlformats.org/drawingml/2006/main" noGrp="1"/>
          </p:cNvSpPr>
          <p:nvPr/>
        </p:nvSpPr>
        <p:spPr>
          <a:xfrm xmlns:a="http://schemas.openxmlformats.org/drawingml/2006/main">
            <a:off x="571500" y="332422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Vergelijking</a:t>
            </a:r>
          </a:p>
        </p:txBody>
      </p:sp>
      <p:sp>
        <p:nvSpPr>
          <p:cNvPr id="9" name="Je vergelijkt totalen voor dezelfde tijd of ruimte">
            <a:extLst xmlns:a="http://schemas.openxmlformats.org/drawingml/2006/main">
              <a:ext uri="{FF2B5EF4-FFF2-40B4-BE49-F238E27FC236}">
                <a16:creationId xmlns:a16="http://schemas.microsoft.com/office/drawing/2014/main" id="{24375242-F2E2-4F7E-AF10-B33350B7E82A}"/>
              </a:ext>
            </a:extLst>
          </p:cNvPr>
          <p:cNvSpPr>
            <a:spLocks xmlns:a="http://schemas.openxmlformats.org/drawingml/2006/main" noGrp="1"/>
          </p:cNvSpPr>
          <p:nvPr/>
        </p:nvSpPr>
        <p:spPr>
          <a:xfrm xmlns:a="http://schemas.openxmlformats.org/drawingml/2006/main">
            <a:off x="6477000" y="3324225"/>
            <a:ext cx="809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Je vergelijkt totalen voor dezelfde tijd of ruimte.</a:t>
            </a:r>
          </a:p>
        </p:txBody>
      </p:sp>
      <p:sp>
        <p:nvSpPr>
          <p:cNvPr id="10" name="">
            <a:extLst xmlns:a="http://schemas.openxmlformats.org/drawingml/2006/main">
              <a:ext uri="{FF2B5EF4-FFF2-40B4-BE49-F238E27FC236}">
                <a16:creationId xmlns:a16="http://schemas.microsoft.com/office/drawing/2014/main" id="{550A70CA-8A0B-4B6A-83D1-B6A8713B4A97}"/>
              </a:ext>
            </a:extLst>
          </p:cNvPr>
          <p:cNvSpPr>
            <a:spLocks xmlns:a="http://schemas.openxmlformats.org/drawingml/2006/main" noGrp="1"/>
          </p:cNvSpPr>
          <p:nvPr/>
        </p:nvSpPr>
        <p:spPr>
          <a:xfrm xmlns:a="http://schemas.openxmlformats.org/drawingml/2006/main">
            <a:off x="571500" y="4495800"/>
            <a:ext cx="14097000" cy="0"/>
          </a:xfrm>
          <a:prstGeom xmlns:a="http://schemas.openxmlformats.org/drawingml/2006/main" prst="line">
            <a:avLst/>
          </a:prstGeom>
          <a:ln xmlns:a="http://schemas.openxmlformats.org/drawingml/2006/main" w="19050">
            <a:solidFill>
              <a:srgbClr val="C6D2DB"/>
            </a:solidFill>
          </a:ln>
        </p:spPr>
      </p:sp>
      <p:sp>
        <p:nvSpPr>
          <p:cNvPr id="11" name="Alternatieve kosten">
            <a:extLst xmlns:a="http://schemas.openxmlformats.org/drawingml/2006/main">
              <a:ext uri="{FF2B5EF4-FFF2-40B4-BE49-F238E27FC236}">
                <a16:creationId xmlns:a16="http://schemas.microsoft.com/office/drawing/2014/main" id="{082A36C5-F682-49A2-BA75-8DA743B946E2}"/>
              </a:ext>
            </a:extLst>
          </p:cNvPr>
          <p:cNvSpPr>
            <a:spLocks xmlns:a="http://schemas.openxmlformats.org/drawingml/2006/main" noGrp="1"/>
          </p:cNvSpPr>
          <p:nvPr/>
        </p:nvSpPr>
        <p:spPr>
          <a:xfrm xmlns:a="http://schemas.openxmlformats.org/drawingml/2006/main">
            <a:off x="571500" y="47815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Alternatieve kosten</a:t>
            </a:r>
          </a:p>
        </p:txBody>
      </p:sp>
      <p:sp>
        <p:nvSpPr>
          <p:cNvPr id="12" name="Je benoemt de waarde van het beste opgegeven alter">
            <a:extLst xmlns:a="http://schemas.openxmlformats.org/drawingml/2006/main">
              <a:ext uri="{FF2B5EF4-FFF2-40B4-BE49-F238E27FC236}">
                <a16:creationId xmlns:a16="http://schemas.microsoft.com/office/drawing/2014/main" id="{E6F8BC0A-5625-44F8-90D8-2F754B940D5C}"/>
              </a:ext>
            </a:extLst>
          </p:cNvPr>
          <p:cNvSpPr>
            <a:spLocks xmlns:a="http://schemas.openxmlformats.org/drawingml/2006/main" noGrp="1"/>
          </p:cNvSpPr>
          <p:nvPr/>
        </p:nvSpPr>
        <p:spPr>
          <a:xfrm xmlns:a="http://schemas.openxmlformats.org/drawingml/2006/main">
            <a:off x="6477000" y="4781550"/>
            <a:ext cx="809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Je benoemt de waarde van het beste opgegeven alternatief.</a:t>
            </a:r>
          </a:p>
        </p:txBody>
      </p:sp>
      <p:sp>
        <p:nvSpPr>
          <p:cNvPr id="13" name="">
            <a:extLst xmlns:a="http://schemas.openxmlformats.org/drawingml/2006/main">
              <a:ext uri="{FF2B5EF4-FFF2-40B4-BE49-F238E27FC236}">
                <a16:creationId xmlns:a16="http://schemas.microsoft.com/office/drawing/2014/main" id="{BFED11DC-25E4-40B0-8193-09CBF460BA22}"/>
              </a:ext>
            </a:extLst>
          </p:cNvPr>
          <p:cNvSpPr>
            <a:spLocks xmlns:a="http://schemas.openxmlformats.org/drawingml/2006/main" noGrp="1"/>
          </p:cNvSpPr>
          <p:nvPr/>
        </p:nvSpPr>
        <p:spPr>
          <a:xfrm xmlns:a="http://schemas.openxmlformats.org/drawingml/2006/main">
            <a:off x="571500" y="5953125"/>
            <a:ext cx="14097000" cy="0"/>
          </a:xfrm>
          <a:prstGeom xmlns:a="http://schemas.openxmlformats.org/drawingml/2006/main" prst="line">
            <a:avLst/>
          </a:prstGeom>
          <a:ln xmlns:a="http://schemas.openxmlformats.org/drawingml/2006/main" w="19050">
            <a:solidFill>
              <a:srgbClr val="C6D2DB"/>
            </a:solidFill>
          </a:ln>
        </p:spPr>
      </p:sp>
      <p:sp>
        <p:nvSpPr>
          <p:cNvPr id="14" name="Doel">
            <a:extLst xmlns:a="http://schemas.openxmlformats.org/drawingml/2006/main">
              <a:ext uri="{FF2B5EF4-FFF2-40B4-BE49-F238E27FC236}">
                <a16:creationId xmlns:a16="http://schemas.microsoft.com/office/drawing/2014/main" id="{CE774C94-2B57-4BF3-A467-FA7E84E869F8}"/>
              </a:ext>
            </a:extLst>
          </p:cNvPr>
          <p:cNvSpPr>
            <a:spLocks xmlns:a="http://schemas.openxmlformats.org/drawingml/2006/main" noGrp="1"/>
          </p:cNvSpPr>
          <p:nvPr/>
        </p:nvSpPr>
        <p:spPr>
          <a:xfrm xmlns:a="http://schemas.openxmlformats.org/drawingml/2006/main">
            <a:off x="571500" y="623887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Doel</a:t>
            </a:r>
          </a:p>
        </p:txBody>
      </p:sp>
      <p:sp>
        <p:nvSpPr>
          <p:cNvPr id="15" name="Je onderbouwt een keuze met een passend criterium.">
            <a:extLst xmlns:a="http://schemas.openxmlformats.org/drawingml/2006/main">
              <a:ext uri="{FF2B5EF4-FFF2-40B4-BE49-F238E27FC236}">
                <a16:creationId xmlns:a16="http://schemas.microsoft.com/office/drawing/2014/main" id="{CEB0AD73-D437-441B-8C5D-2F4702B22A1E}"/>
              </a:ext>
            </a:extLst>
          </p:cNvPr>
          <p:cNvSpPr>
            <a:spLocks xmlns:a="http://schemas.openxmlformats.org/drawingml/2006/main" noGrp="1"/>
          </p:cNvSpPr>
          <p:nvPr/>
        </p:nvSpPr>
        <p:spPr>
          <a:xfrm xmlns:a="http://schemas.openxmlformats.org/drawingml/2006/main">
            <a:off x="6477000" y="6238875"/>
            <a:ext cx="809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Je onderbouwt een keuze met een passend criterium.</a:t>
            </a:r>
          </a:p>
        </p:txBody>
      </p:sp>
    </p:spTree>
    <p:extLst>
      <p:ext uri="{BB962C8B-B14F-4D97-AF65-F5344CB8AC3E}">
        <p14:creationId xmlns:p14="http://schemas.microsoft.com/office/powerpoint/2010/main" val="19236696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haarste vraagt om een keuze">
            <a:extLst xmlns:a="http://schemas.openxmlformats.org/drawingml/2006/main">
              <a:ext uri="{FF2B5EF4-FFF2-40B4-BE49-F238E27FC236}">
                <a16:creationId xmlns:a16="http://schemas.microsoft.com/office/drawing/2014/main" id="{2ECFB82B-41C0-4118-AEDB-A0C5F8C2E45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Schaarste vraagt om een keuze</a:t>
            </a:r>
          </a:p>
        </p:txBody>
      </p:sp>
      <p:sp>
        <p:nvSpPr>
          <p:cNvPr id="2" name="">
            <a:extLst xmlns:a="http://schemas.openxmlformats.org/drawingml/2006/main">
              <a:ext uri="{FF2B5EF4-FFF2-40B4-BE49-F238E27FC236}">
                <a16:creationId xmlns:a16="http://schemas.microsoft.com/office/drawing/2014/main" id="{888B57C1-C443-4DDB-BF1B-E3D72F3BBD4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a:extLst xmlns:a="http://schemas.openxmlformats.org/drawingml/2006/main">
              <a:ext uri="{FF2B5EF4-FFF2-40B4-BE49-F238E27FC236}">
                <a16:creationId xmlns:a16="http://schemas.microsoft.com/office/drawing/2014/main" id="{20358B7C-9A47-4EA4-A132-B115C5A28BC3}"/>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a:t>
            </a:r>
          </a:p>
        </p:txBody>
      </p:sp>
      <p:sp>
        <p:nvSpPr>
          <p:cNvPr id="4" name="3">
            <a:extLst xmlns:a="http://schemas.openxmlformats.org/drawingml/2006/main">
              <a:ext uri="{FF2B5EF4-FFF2-40B4-BE49-F238E27FC236}">
                <a16:creationId xmlns:a16="http://schemas.microsoft.com/office/drawing/2014/main" id="{E9FB5E81-6E8B-459A-AB07-BA1AC5A19E1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Middelen zijn beperkt ten opzichte van de behoefte">
            <a:extLst xmlns:a="http://schemas.openxmlformats.org/drawingml/2006/main">
              <a:ext uri="{FF2B5EF4-FFF2-40B4-BE49-F238E27FC236}">
                <a16:creationId xmlns:a16="http://schemas.microsoft.com/office/drawing/2014/main" id="{45F88B18-3701-4ADD-960B-2E79E8611B36}"/>
              </a:ext>
            </a:extLst>
          </p:cNvPr>
          <p:cNvSpPr>
            <a:spLocks xmlns:a="http://schemas.openxmlformats.org/drawingml/2006/main" noGrp="1"/>
          </p:cNvSpPr>
          <p:nvPr/>
        </p:nvSpPr>
        <p:spPr>
          <a:xfrm xmlns:a="http://schemas.openxmlformats.org/drawingml/2006/main">
            <a:off x="571500" y="189547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Middelen zijn beperkt ten opzichte van de behoeften.</a:t>
            </a:r>
          </a:p>
        </p:txBody>
      </p:sp>
      <p:graphicFrame>
        <p:nvGraphicFramePr>
          <p:cNvPr id="13" name=""/>
          <p:cNvGraphicFramePr/>
          <p:nvPr/>
        </p:nvGraphicFramePr>
        <p:xfrm>
          <a:off xmlns:a="http://schemas.openxmlformats.org/drawingml/2006/main" x="571500" y="3324225"/>
          <a:ext xmlns:a="http://schemas.openxmlformats.org/drawingml/2006/main" cx="14097000" cy="3143250"/>
        </p:xfrm>
        <a:graphic xmlns:a="http://schemas.openxmlformats.org/drawingml/2006/main">
          <a:graphicData uri="http://schemas.openxmlformats.org/drawingml/2006/table">
            <a:tbl>
              <a:tblPr/>
              <a:tblGrid>
                <a:gridCol w="4667250"/>
                <a:gridCol w="4667250"/>
                <a:gridCol w="4762500"/>
              </a:tblGrid>
              <a:tr h="1047750">
                <a:tc>
                  <a:txBody>
                    <a:bodyPr lIns="171450" tIns="95250" rIns="152400" bIns="95250"/>
                    <a:lstStyle/>
                    <a:p>
                      <a:r>
                        <a:rPr sz="2625" b="1">
                          <a:solidFill>
                            <a:srgbClr val="FFFFFF"/>
                          </a:solidFill>
                          <a:latin typeface="Arial"/>
                          <a:ea typeface="Arial"/>
                          <a:cs typeface="Arial"/>
                        </a:rPr>
                        <a:t>Behoeften</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Middelen</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Gevolg</a:t>
                      </a:r>
                    </a:p>
                  </a:txBody>
                  <a:tcPr marL="91440" marR="91440" marT="45720" marB="45720" anchor="ctr">
                    <a:solidFill>
                      <a:srgbClr val="183247"/>
                    </a:solidFill>
                  </a:tcPr>
                </a:tc>
              </a:tr>
              <a:tr h="1047750">
                <a:tc>
                  <a:txBody>
                    <a:bodyPr lIns="171450" tIns="95250" rIns="152400" bIns="95250"/>
                    <a:lstStyle/>
                    <a:p>
                      <a:r>
                        <a:rPr sz="2625" b="0">
                          <a:solidFill>
                            <a:srgbClr val="183247"/>
                          </a:solidFill>
                          <a:latin typeface="Arial"/>
                          <a:ea typeface="Arial"/>
                          <a:cs typeface="Arial"/>
                        </a:rPr>
                        <a:t>Wat wil je bereiken?</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Wat kun je inzetten?</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Wat kan samen?</a:t>
                      </a:r>
                    </a:p>
                  </a:txBody>
                  <a:tcPr marL="91440" marR="91440" marT="45720" marB="45720" anchor="ctr">
                    <a:solidFill>
                      <a:srgbClr val="FFFFFF"/>
                    </a:solidFill>
                  </a:tcPr>
                </a:tc>
              </a:tr>
              <a:tr h="1047750">
                <a:tc>
                  <a:txBody>
                    <a:bodyPr lIns="171450" tIns="95250" rIns="152400" bIns="95250"/>
                    <a:lstStyle/>
                    <a:p>
                      <a:r>
                        <a:rPr sz="2625" b="0">
                          <a:solidFill>
                            <a:srgbClr val="183247"/>
                          </a:solidFill>
                          <a:latin typeface="Arial"/>
                          <a:ea typeface="Arial"/>
                          <a:cs typeface="Arial"/>
                        </a:rPr>
                        <a:t>Bijvoorbeeld contact</a:t>
                      </a:r>
                    </a:p>
                    <a:p>
                      <a:r>
                        <a:rPr sz="2625" b="0">
                          <a:solidFill>
                            <a:srgbClr val="183247"/>
                          </a:solidFill>
                          <a:latin typeface="Arial"/>
                          <a:ea typeface="Arial"/>
                          <a:cs typeface="Arial"/>
                        </a:rPr>
                        <a:t>of ontspanning</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Bijvoorbeeld tijd,</a:t>
                      </a:r>
                    </a:p>
                    <a:p>
                      <a:r>
                        <a:rPr sz="2625" b="0">
                          <a:solidFill>
                            <a:srgbClr val="183247"/>
                          </a:solidFill>
                          <a:latin typeface="Arial"/>
                          <a:ea typeface="Arial"/>
                          <a:cs typeface="Arial"/>
                        </a:rPr>
                        <a:t>geld of ruimte</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Niet alles kan tegelijk.</a:t>
                      </a:r>
                    </a:p>
                    <a:p>
                      <a:r>
                        <a:rPr sz="2625" b="0">
                          <a:solidFill>
                            <a:srgbClr val="183247"/>
                          </a:solidFill>
                          <a:latin typeface="Arial"/>
                          <a:ea typeface="Arial"/>
                          <a:cs typeface="Arial"/>
                        </a:rPr>
                        <a:t>Je moet kiezen.</a:t>
                      </a:r>
                    </a:p>
                  </a:txBody>
                  <a:tcPr marL="91440" marR="91440" marT="45720" marB="45720" anchor="ctr">
                    <a:solidFill>
                      <a:srgbClr val="EFF4F7"/>
                    </a:solidFill>
                  </a:tcPr>
                </a:tc>
              </a:tr>
            </a:tbl>
          </a:graphicData>
        </a:graphic>
      </p:graphicFrame>
      <p:sp>
        <p:nvSpPr>
          <p:cNvPr id="7" name="Ook veel beschikbare ruimte kan op één moment scha">
            <a:extLst xmlns:a="http://schemas.openxmlformats.org/drawingml/2006/main">
              <a:ext uri="{FF2B5EF4-FFF2-40B4-BE49-F238E27FC236}">
                <a16:creationId xmlns:a16="http://schemas.microsoft.com/office/drawing/2014/main" id="{9662F59C-FB06-477E-808C-0C7C6B88DBF5}"/>
              </a:ext>
            </a:extLst>
          </p:cNvPr>
          <p:cNvSpPr>
            <a:spLocks xmlns:a="http://schemas.openxmlformats.org/drawingml/2006/main" noGrp="1"/>
          </p:cNvSpPr>
          <p:nvPr/>
        </p:nvSpPr>
        <p:spPr>
          <a:xfrm xmlns:a="http://schemas.openxmlformats.org/drawingml/2006/main">
            <a:off x="571500" y="7010400"/>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Ook veel beschikbare ruimte kan op één moment schaars zijn.</a:t>
            </a:r>
          </a:p>
        </p:txBody>
      </p:sp>
    </p:spTree>
    <p:extLst>
      <p:ext uri="{BB962C8B-B14F-4D97-AF65-F5344CB8AC3E}">
        <p14:creationId xmlns:p14="http://schemas.microsoft.com/office/powerpoint/2010/main" val="17877561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én atelier, twee uur">
            <a:extLst xmlns:a="http://schemas.openxmlformats.org/drawingml/2006/main">
              <a:ext uri="{FF2B5EF4-FFF2-40B4-BE49-F238E27FC236}">
                <a16:creationId xmlns:a16="http://schemas.microsoft.com/office/drawing/2014/main" id="{BBE7C654-2A52-4B7F-9C0B-3A1004FDB92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Eén atelier, twee uur</a:t>
            </a:r>
          </a:p>
        </p:txBody>
      </p:sp>
      <p:sp>
        <p:nvSpPr>
          <p:cNvPr id="2" name="">
            <a:extLst xmlns:a="http://schemas.openxmlformats.org/drawingml/2006/main">
              <a:ext uri="{FF2B5EF4-FFF2-40B4-BE49-F238E27FC236}">
                <a16:creationId xmlns:a16="http://schemas.microsoft.com/office/drawing/2014/main" id="{712E7615-C566-4C39-A247-82129A1C93D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10ACB08B-761E-4E2C-AF30-4D37FAEC0809}"/>
              </a:ext>
            </a:extLst>
          </p:cNvPr>
          <p:cNvSpPr>
            <a:spLocks xmlns:a="http://schemas.openxmlformats.org/drawingml/2006/main" noGrp="1"/>
          </p:cNvSpPr>
          <p:nvPr/>
        </p:nvSpPr>
        <p:spPr>
          <a:xfrm xmlns:a="http://schemas.openxmlformats.org/drawingml/2006/main">
            <a:off x="571500" y="15906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4" name="§1.1.1 Schaarste, keuzes en alternatieve kosten">
            <a:extLst xmlns:a="http://schemas.openxmlformats.org/drawingml/2006/main">
              <a:ext uri="{FF2B5EF4-FFF2-40B4-BE49-F238E27FC236}">
                <a16:creationId xmlns:a16="http://schemas.microsoft.com/office/drawing/2014/main" id="{84C6680A-A627-4F91-90A9-04691BB0791A}"/>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a:t>
            </a:r>
          </a:p>
        </p:txBody>
      </p:sp>
      <p:sp>
        <p:nvSpPr>
          <p:cNvPr id="5" name="4">
            <a:extLst xmlns:a="http://schemas.openxmlformats.org/drawingml/2006/main">
              <a:ext uri="{FF2B5EF4-FFF2-40B4-BE49-F238E27FC236}">
                <a16:creationId xmlns:a16="http://schemas.microsoft.com/office/drawing/2014/main" id="{051A0FA3-871B-498B-8121-A767493554B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6" name="Een buurtvereniging heeft één gratis atelier voor ">
            <a:extLst xmlns:a="http://schemas.openxmlformats.org/drawingml/2006/main">
              <a:ext uri="{FF2B5EF4-FFF2-40B4-BE49-F238E27FC236}">
                <a16:creationId xmlns:a16="http://schemas.microsoft.com/office/drawing/2014/main" id="{B908A952-862C-45FB-A703-52FC49B8B6A7}"/>
              </a:ext>
            </a:extLst>
          </p:cNvPr>
          <p:cNvSpPr>
            <a:spLocks xmlns:a="http://schemas.openxmlformats.org/drawingml/2006/main" noGrp="1"/>
          </p:cNvSpPr>
          <p:nvPr/>
        </p:nvSpPr>
        <p:spPr>
          <a:xfrm xmlns:a="http://schemas.openxmlformats.org/drawingml/2006/main">
            <a:off x="571500" y="23241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Een buurtvereniging heeft één gratis atelier voor twee uur.</a:t>
            </a:r>
          </a:p>
        </p:txBody>
      </p:sp>
      <p:sp>
        <p:nvSpPr>
          <p:cNvPr id="7" name="Elke workshop gebruikt het hele atelier gedurende ">
            <a:extLst xmlns:a="http://schemas.openxmlformats.org/drawingml/2006/main">
              <a:ext uri="{FF2B5EF4-FFF2-40B4-BE49-F238E27FC236}">
                <a16:creationId xmlns:a16="http://schemas.microsoft.com/office/drawing/2014/main" id="{ECB56B53-B665-4DF2-86AE-2165CF2AB7AB}"/>
              </a:ext>
            </a:extLst>
          </p:cNvPr>
          <p:cNvSpPr>
            <a:spLocks xmlns:a="http://schemas.openxmlformats.org/drawingml/2006/main" noGrp="1"/>
          </p:cNvSpPr>
          <p:nvPr/>
        </p:nvSpPr>
        <p:spPr>
          <a:xfrm xmlns:a="http://schemas.openxmlformats.org/drawingml/2006/main">
            <a:off x="571500" y="30480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Elke workshop gebruikt het hele atelier gedurende beide uren.</a:t>
            </a:r>
          </a:p>
        </p:txBody>
      </p:sp>
      <p:graphicFrame>
        <p:nvGraphicFramePr>
          <p:cNvPr id="18" name=""/>
          <p:cNvGraphicFramePr/>
          <p:nvPr/>
        </p:nvGraphicFramePr>
        <p:xfrm>
          <a:off xmlns:a="http://schemas.openxmlformats.org/drawingml/2006/main" x="571500" y="4029075"/>
          <a:ext xmlns:a="http://schemas.openxmlformats.org/drawingml/2006/main" cx="14097000" cy="2476500"/>
        </p:xfrm>
        <a:graphic xmlns:a="http://schemas.openxmlformats.org/drawingml/2006/main">
          <a:graphicData uri="http://schemas.openxmlformats.org/drawingml/2006/table">
            <a:tbl>
              <a:tblPr/>
              <a:tblGrid>
                <a:gridCol w="5048250"/>
                <a:gridCol w="4857750"/>
                <a:gridCol w="4191000"/>
              </a:tblGrid>
              <a:tr h="825500">
                <a:tc>
                  <a:txBody>
                    <a:bodyPr lIns="171450" tIns="95250" rIns="152400" bIns="95250"/>
                    <a:lstStyle/>
                    <a:p>
                      <a:r>
                        <a:rPr sz="2550" b="1">
                          <a:solidFill>
                            <a:srgbClr val="FFFFFF"/>
                          </a:solidFill>
                          <a:latin typeface="Arial"/>
                          <a:ea typeface="Arial"/>
                          <a:cs typeface="Arial"/>
                        </a:rPr>
                        <a:t>Plan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Bedrag over per uur</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Deelnemers</a:t>
                      </a:r>
                    </a:p>
                  </a:txBody>
                  <a:tcPr marL="91440" marR="91440" marT="45720" marB="45720" anchor="ctr">
                    <a:solidFill>
                      <a:srgbClr val="183247"/>
                    </a:solidFill>
                  </a:tcPr>
                </a:tc>
              </a:tr>
              <a:tr h="825500">
                <a:tc>
                  <a:txBody>
                    <a:bodyPr lIns="171450" tIns="95250" rIns="152400" bIns="95250"/>
                    <a:lstStyle/>
                    <a:p>
                      <a:r>
                        <a:rPr sz="2550" b="0">
                          <a:solidFill>
                            <a:srgbClr val="183247"/>
                          </a:solidFill>
                          <a:latin typeface="Arial"/>
                          <a:ea typeface="Arial"/>
                          <a:cs typeface="Arial"/>
                        </a:rPr>
                        <a:t>Papieratelier</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€ 25</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24</a:t>
                      </a:r>
                    </a:p>
                  </a:txBody>
                  <a:tcPr marL="91440" marR="91440" marT="45720" marB="45720" anchor="ctr">
                    <a:solidFill>
                      <a:srgbClr val="FFFFFF"/>
                    </a:solidFill>
                  </a:tcPr>
                </a:tc>
              </a:tr>
              <a:tr h="825500">
                <a:tc>
                  <a:txBody>
                    <a:bodyPr lIns="171450" tIns="95250" rIns="152400" bIns="95250"/>
                    <a:lstStyle/>
                    <a:p>
                      <a:r>
                        <a:rPr sz="2550" b="0">
                          <a:solidFill>
                            <a:srgbClr val="183247"/>
                          </a:solidFill>
                          <a:latin typeface="Arial"/>
                          <a:ea typeface="Arial"/>
                          <a:cs typeface="Arial"/>
                        </a:rPr>
                        <a:t>Textielatelier</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€ 40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16</a:t>
                      </a:r>
                    </a:p>
                  </a:txBody>
                  <a:tcPr marL="91440" marR="91440" marT="45720" marB="45720" anchor="ctr">
                    <a:solidFill>
                      <a:srgbClr val="EFF4F7"/>
                    </a:solidFill>
                  </a:tcPr>
                </a:tc>
              </a:tr>
            </a:tbl>
          </a:graphicData>
        </a:graphic>
      </p:graphicFrame>
      <p:sp>
        <p:nvSpPr>
          <p:cNvPr id="9" name="Beide zijn haalbaar. Alle uitgaven zijn al verreke">
            <a:extLst xmlns:a="http://schemas.openxmlformats.org/drawingml/2006/main">
              <a:ext uri="{FF2B5EF4-FFF2-40B4-BE49-F238E27FC236}">
                <a16:creationId xmlns:a16="http://schemas.microsoft.com/office/drawing/2014/main" id="{8ABBE0D6-91F2-4B2B-ADBB-0A0877AB8614}"/>
              </a:ext>
            </a:extLst>
          </p:cNvPr>
          <p:cNvSpPr>
            <a:spLocks xmlns:a="http://schemas.openxmlformats.org/drawingml/2006/main" noGrp="1"/>
          </p:cNvSpPr>
          <p:nvPr/>
        </p:nvSpPr>
        <p:spPr>
          <a:xfrm xmlns:a="http://schemas.openxmlformats.org/drawingml/2006/main">
            <a:off x="571500" y="6829425"/>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Beide zijn haalbaar. Alle uitgaven zijn al verrekend.</a:t>
            </a:r>
          </a:p>
        </p:txBody>
      </p:sp>
      <p:sp>
        <p:nvSpPr>
          <p:cNvPr id="10" name="Een houtatelier kan niet: de begeleider is afwezig">
            <a:extLst xmlns:a="http://schemas.openxmlformats.org/drawingml/2006/main">
              <a:ext uri="{FF2B5EF4-FFF2-40B4-BE49-F238E27FC236}">
                <a16:creationId xmlns:a16="http://schemas.microsoft.com/office/drawing/2014/main" id="{81233CC3-632E-4FF1-88CB-DA6E5928DE18}"/>
              </a:ext>
            </a:extLst>
          </p:cNvPr>
          <p:cNvSpPr>
            <a:spLocks xmlns:a="http://schemas.openxmlformats.org/drawingml/2006/main" noGrp="1"/>
          </p:cNvSpPr>
          <p:nvPr/>
        </p:nvSpPr>
        <p:spPr>
          <a:xfrm xmlns:a="http://schemas.openxmlformats.org/drawingml/2006/main">
            <a:off x="571500" y="7429500"/>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Een houtatelier kan niet: de begeleider is afwezig.</a:t>
            </a:r>
          </a:p>
        </p:txBody>
      </p:sp>
    </p:spTree>
    <p:extLst>
      <p:ext uri="{BB962C8B-B14F-4D97-AF65-F5344CB8AC3E}">
        <p14:creationId xmlns:p14="http://schemas.microsoft.com/office/powerpoint/2010/main" val="9089828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otale bedragen voor dezelfde twee uur">
            <a:extLst xmlns:a="http://schemas.openxmlformats.org/drawingml/2006/main">
              <a:ext uri="{FF2B5EF4-FFF2-40B4-BE49-F238E27FC236}">
                <a16:creationId xmlns:a16="http://schemas.microsoft.com/office/drawing/2014/main" id="{1AB0F408-713A-4B64-A6EE-C4015589C95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Totale bedragen voor dezelfde twee uur</a:t>
            </a:r>
          </a:p>
        </p:txBody>
      </p:sp>
      <p:sp>
        <p:nvSpPr>
          <p:cNvPr id="2" name="">
            <a:extLst xmlns:a="http://schemas.openxmlformats.org/drawingml/2006/main">
              <a:ext uri="{FF2B5EF4-FFF2-40B4-BE49-F238E27FC236}">
                <a16:creationId xmlns:a16="http://schemas.microsoft.com/office/drawing/2014/main" id="{3DE27BE0-8E82-4B8A-9A2B-BBADD949856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836899AD-AD21-4663-ACB5-5EF18A8AA918}"/>
              </a:ext>
            </a:extLst>
          </p:cNvPr>
          <p:cNvSpPr>
            <a:spLocks xmlns:a="http://schemas.openxmlformats.org/drawingml/2006/main" noGrp="1"/>
          </p:cNvSpPr>
          <p:nvPr/>
        </p:nvSpPr>
        <p:spPr>
          <a:xfrm xmlns:a="http://schemas.openxmlformats.org/drawingml/2006/main">
            <a:off x="571500" y="15906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4" name="§1.1.1 Schaarste, keuzes en alternatieve kosten">
            <a:extLst xmlns:a="http://schemas.openxmlformats.org/drawingml/2006/main">
              <a:ext uri="{FF2B5EF4-FFF2-40B4-BE49-F238E27FC236}">
                <a16:creationId xmlns:a16="http://schemas.microsoft.com/office/drawing/2014/main" id="{B967514C-E2E4-4326-9C43-5FFD3C8E50A0}"/>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a:t>
            </a:r>
          </a:p>
        </p:txBody>
      </p:sp>
      <p:sp>
        <p:nvSpPr>
          <p:cNvPr id="5" name="5">
            <a:extLst xmlns:a="http://schemas.openxmlformats.org/drawingml/2006/main">
              <a:ext uri="{FF2B5EF4-FFF2-40B4-BE49-F238E27FC236}">
                <a16:creationId xmlns:a16="http://schemas.microsoft.com/office/drawing/2014/main" id="{CB5F0ACB-71CC-4491-BB15-ADA09C42AEC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6" name="Doel: zoveel mogelijk geld voor de vereniging over">
            <a:extLst xmlns:a="http://schemas.openxmlformats.org/drawingml/2006/main">
              <a:ext uri="{FF2B5EF4-FFF2-40B4-BE49-F238E27FC236}">
                <a16:creationId xmlns:a16="http://schemas.microsoft.com/office/drawing/2014/main" id="{74138042-6646-4620-9B6B-5B7A6925AE7D}"/>
              </a:ext>
            </a:extLst>
          </p:cNvPr>
          <p:cNvSpPr>
            <a:spLocks xmlns:a="http://schemas.openxmlformats.org/drawingml/2006/main" noGrp="1"/>
          </p:cNvSpPr>
          <p:nvPr/>
        </p:nvSpPr>
        <p:spPr>
          <a:xfrm xmlns:a="http://schemas.openxmlformats.org/drawingml/2006/main">
            <a:off x="571500" y="2257425"/>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Doel: zoveel mogelijk geld voor de vereniging overhouden</a:t>
            </a:r>
          </a:p>
        </p:txBody>
      </p:sp>
      <p:graphicFrame>
        <p:nvGraphicFramePr>
          <p:cNvPr id="15" name=""/>
          <p:cNvGraphicFramePr/>
          <p:nvPr/>
        </p:nvGraphicFramePr>
        <p:xfrm>
          <a:off xmlns:a="http://schemas.openxmlformats.org/drawingml/2006/main" x="571500" y="3600450"/>
          <a:ext xmlns:a="http://schemas.openxmlformats.org/drawingml/2006/main" cx="14097000" cy="2667000"/>
        </p:xfrm>
        <a:graphic xmlns:a="http://schemas.openxmlformats.org/drawingml/2006/main">
          <a:graphicData uri="http://schemas.openxmlformats.org/drawingml/2006/table">
            <a:tbl>
              <a:tblPr/>
              <a:tblGrid>
                <a:gridCol w="4381500"/>
                <a:gridCol w="5905500"/>
                <a:gridCol w="3810000"/>
              </a:tblGrid>
              <a:tr h="889000">
                <a:tc>
                  <a:txBody>
                    <a:bodyPr lIns="171450" tIns="95250" rIns="152400" bIns="95250"/>
                    <a:lstStyle/>
                    <a:p>
                      <a:r>
                        <a:rPr sz="2550" b="1">
                          <a:solidFill>
                            <a:srgbClr val="FFFFFF"/>
                          </a:solidFill>
                          <a:latin typeface="Arial"/>
                          <a:ea typeface="Arial"/>
                          <a:cs typeface="Arial"/>
                        </a:rPr>
                        <a:t>Plan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Totaal voor twee uur</a:t>
                      </a:r>
                    </a:p>
                  </a:txBody>
                  <a:tcPr marL="91440" marR="91440" marT="45720" marB="45720" anchor="ctr">
                    <a:solidFill>
                      <a:srgbClr val="183247"/>
                    </a:solidFill>
                  </a:tcPr>
                </a:tc>
              </a:tr>
              <a:tr h="889000">
                <a:tc>
                  <a:txBody>
                    <a:bodyPr lIns="171450" tIns="95250" rIns="152400" bIns="95250"/>
                    <a:lstStyle/>
                    <a:p>
                      <a:r>
                        <a:rPr sz="2550" b="0">
                          <a:solidFill>
                            <a:srgbClr val="183247"/>
                          </a:solidFill>
                          <a:latin typeface="Arial"/>
                          <a:ea typeface="Arial"/>
                          <a:cs typeface="Arial"/>
                        </a:rPr>
                        <a:t>Papieratelier</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 uur × € 25 per uur</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€ 50</a:t>
                      </a:r>
                    </a:p>
                  </a:txBody>
                  <a:tcPr marL="91440" marR="91440" marT="45720" marB="45720" anchor="ctr">
                    <a:solidFill>
                      <a:srgbClr val="FFFFFF"/>
                    </a:solidFill>
                  </a:tcPr>
                </a:tc>
              </a:tr>
              <a:tr h="889000">
                <a:tc>
                  <a:txBody>
                    <a:bodyPr lIns="171450" tIns="95250" rIns="152400" bIns="95250"/>
                    <a:lstStyle/>
                    <a:p>
                      <a:r>
                        <a:rPr sz="2550" b="0">
                          <a:solidFill>
                            <a:srgbClr val="183247"/>
                          </a:solidFill>
                          <a:latin typeface="Arial"/>
                          <a:ea typeface="Arial"/>
                          <a:cs typeface="Arial"/>
                        </a:rPr>
                        <a:t>Textielatelier</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2 uur × € 40 per uur</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€ 80</a:t>
                      </a:r>
                    </a:p>
                  </a:txBody>
                  <a:tcPr marL="91440" marR="91440" marT="45720" marB="45720" anchor="ctr">
                    <a:solidFill>
                      <a:srgbClr val="EFF4F7"/>
                    </a:solidFill>
                  </a:tcPr>
                </a:tc>
              </a:tr>
            </a:tbl>
          </a:graphicData>
        </a:graphic>
      </p:graphicFrame>
      <p:sp>
        <p:nvSpPr>
          <p:cNvPr id="8" name="Keuze: textielatelier, want € 80 &gt; € 50">
            <a:extLst xmlns:a="http://schemas.openxmlformats.org/drawingml/2006/main">
              <a:ext uri="{FF2B5EF4-FFF2-40B4-BE49-F238E27FC236}">
                <a16:creationId xmlns:a16="http://schemas.microsoft.com/office/drawing/2014/main" id="{B38DDE85-C1F6-405A-92D8-28EECDD95F83}"/>
              </a:ext>
            </a:extLst>
          </p:cNvPr>
          <p:cNvSpPr>
            <a:spLocks xmlns:a="http://schemas.openxmlformats.org/drawingml/2006/main" noGrp="1"/>
          </p:cNvSpPr>
          <p:nvPr/>
        </p:nvSpPr>
        <p:spPr>
          <a:xfrm xmlns:a="http://schemas.openxmlformats.org/drawingml/2006/main">
            <a:off x="571500" y="69342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665B"/>
                </a:solidFill>
                <a:latin typeface="Arial"/>
                <a:ea typeface="Arial"/>
                <a:cs typeface="Arial"/>
              </a:defRPr>
            </a:pPr>
            <a:r>
              <a:rPr sz="3300" b="1">
                <a:solidFill>
                  <a:srgbClr val="20665B"/>
                </a:solidFill>
                <a:latin typeface="Arial"/>
                <a:ea typeface="Arial"/>
                <a:cs typeface="Arial"/>
              </a:rPr>
              <a:t>Keuze: textielatelier, want € 80 &gt; € 50</a:t>
            </a:r>
          </a:p>
        </p:txBody>
      </p:sp>
    </p:spTree>
    <p:extLst>
      <p:ext uri="{BB962C8B-B14F-4D97-AF65-F5344CB8AC3E}">
        <p14:creationId xmlns:p14="http://schemas.microsoft.com/office/powerpoint/2010/main" val="17209990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lternatieve kosten: het opgegeven alternatief">
            <a:extLst xmlns:a="http://schemas.openxmlformats.org/drawingml/2006/main">
              <a:ext uri="{FF2B5EF4-FFF2-40B4-BE49-F238E27FC236}">
                <a16:creationId xmlns:a16="http://schemas.microsoft.com/office/drawing/2014/main" id="{D3A9CF02-75F6-418C-9361-32679C24715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Alternatieve kosten: het opgegeven alternatief</a:t>
            </a:r>
          </a:p>
        </p:txBody>
      </p:sp>
      <p:sp>
        <p:nvSpPr>
          <p:cNvPr id="2" name="">
            <a:extLst xmlns:a="http://schemas.openxmlformats.org/drawingml/2006/main">
              <a:ext uri="{FF2B5EF4-FFF2-40B4-BE49-F238E27FC236}">
                <a16:creationId xmlns:a16="http://schemas.microsoft.com/office/drawing/2014/main" id="{31CFDA75-FD60-4845-8497-27D1EE4C64D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8C397B01-0889-47B1-9F14-4F1F2FD2EE5B}"/>
              </a:ext>
            </a:extLst>
          </p:cNvPr>
          <p:cNvSpPr>
            <a:spLocks xmlns:a="http://schemas.openxmlformats.org/drawingml/2006/main" noGrp="1"/>
          </p:cNvSpPr>
          <p:nvPr/>
        </p:nvSpPr>
        <p:spPr>
          <a:xfrm xmlns:a="http://schemas.openxmlformats.org/drawingml/2006/main">
            <a:off x="571500" y="15906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4" name="§1.1.1 Schaarste, keuzes en alternatieve kosten">
            <a:extLst xmlns:a="http://schemas.openxmlformats.org/drawingml/2006/main">
              <a:ext uri="{FF2B5EF4-FFF2-40B4-BE49-F238E27FC236}">
                <a16:creationId xmlns:a16="http://schemas.microsoft.com/office/drawing/2014/main" id="{0B97E01C-1A69-4C8D-A0AD-7194E651CF3B}"/>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a:t>
            </a:r>
          </a:p>
        </p:txBody>
      </p:sp>
      <p:sp>
        <p:nvSpPr>
          <p:cNvPr id="5" name="6">
            <a:extLst xmlns:a="http://schemas.openxmlformats.org/drawingml/2006/main">
              <a:ext uri="{FF2B5EF4-FFF2-40B4-BE49-F238E27FC236}">
                <a16:creationId xmlns:a16="http://schemas.microsoft.com/office/drawing/2014/main" id="{68C052BB-73E7-4703-BF84-B9BA2D9AA74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6" name="De waarde van het beste haalbare alternatief dat j">
            <a:extLst xmlns:a="http://schemas.openxmlformats.org/drawingml/2006/main">
              <a:ext uri="{FF2B5EF4-FFF2-40B4-BE49-F238E27FC236}">
                <a16:creationId xmlns:a16="http://schemas.microsoft.com/office/drawing/2014/main" id="{1EF4940D-FFE1-43DC-BF55-570F4DA992E5}"/>
              </a:ext>
            </a:extLst>
          </p:cNvPr>
          <p:cNvSpPr>
            <a:spLocks xmlns:a="http://schemas.openxmlformats.org/drawingml/2006/main" noGrp="1"/>
          </p:cNvSpPr>
          <p:nvPr/>
        </p:nvSpPr>
        <p:spPr>
          <a:xfrm xmlns:a="http://schemas.openxmlformats.org/drawingml/2006/main">
            <a:off x="571500" y="2314575"/>
            <a:ext cx="1409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De waarde van het beste haalbare alternatief dat je opgeeft.</a:t>
            </a:r>
          </a:p>
        </p:txBody>
      </p:sp>
      <p:graphicFrame>
        <p:nvGraphicFramePr>
          <p:cNvPr id="15" name=""/>
          <p:cNvGraphicFramePr/>
          <p:nvPr/>
        </p:nvGraphicFramePr>
        <p:xfrm>
          <a:off xmlns:a="http://schemas.openxmlformats.org/drawingml/2006/main" x="571500" y="4076700"/>
          <a:ext xmlns:a="http://schemas.openxmlformats.org/drawingml/2006/main" cx="14097000" cy="2152650"/>
        </p:xfrm>
        <a:graphic xmlns:a="http://schemas.openxmlformats.org/drawingml/2006/main">
          <a:graphicData uri="http://schemas.openxmlformats.org/drawingml/2006/table">
            <a:tbl>
              <a:tblPr/>
              <a:tblGrid>
                <a:gridCol w="7048500"/>
                <a:gridCol w="7048500"/>
              </a:tblGrid>
              <a:tr h="1076325">
                <a:tc>
                  <a:txBody>
                    <a:bodyPr lIns="171450" tIns="95250" rIns="152400" bIns="95250"/>
                    <a:lstStyle/>
                    <a:p>
                      <a:r>
                        <a:rPr sz="2850" b="1">
                          <a:solidFill>
                            <a:srgbClr val="FFFFFF"/>
                          </a:solidFill>
                          <a:latin typeface="Arial"/>
                          <a:ea typeface="Arial"/>
                          <a:cs typeface="Arial"/>
                        </a:rPr>
                        <a:t>Gekozen</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Beste opgegeven alternatief</a:t>
                      </a:r>
                    </a:p>
                  </a:txBody>
                  <a:tcPr marL="91440" marR="91440" marT="45720" marB="45720" anchor="ctr">
                    <a:solidFill>
                      <a:srgbClr val="183247"/>
                    </a:solidFill>
                  </a:tcPr>
                </a:tc>
              </a:tr>
              <a:tr h="1076325">
                <a:tc>
                  <a:txBody>
                    <a:bodyPr lIns="171450" tIns="95250" rIns="152400" bIns="95250"/>
                    <a:lstStyle/>
                    <a:p>
                      <a:r>
                        <a:rPr sz="2850" b="0">
                          <a:solidFill>
                            <a:srgbClr val="183247"/>
                          </a:solidFill>
                          <a:latin typeface="Arial"/>
                          <a:ea typeface="Arial"/>
                          <a:cs typeface="Arial"/>
                        </a:rPr>
                        <a:t>Textielatelier</a:t>
                      </a:r>
                    </a:p>
                    <a:p>
                      <a:r>
                        <a:rPr sz="2850" b="0">
                          <a:solidFill>
                            <a:srgbClr val="183247"/>
                          </a:solidFill>
                          <a:latin typeface="Arial"/>
                          <a:ea typeface="Arial"/>
                          <a:cs typeface="Arial"/>
                        </a:rPr>
                        <a:t>€ 80 voor twee uur</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Papieratelier</a:t>
                      </a:r>
                    </a:p>
                    <a:p>
                      <a:r>
                        <a:rPr sz="2850" b="0">
                          <a:solidFill>
                            <a:srgbClr val="183247"/>
                          </a:solidFill>
                          <a:latin typeface="Arial"/>
                          <a:ea typeface="Arial"/>
                          <a:cs typeface="Arial"/>
                        </a:rPr>
                        <a:t>€ 50 voor twee uur</a:t>
                      </a:r>
                    </a:p>
                  </a:txBody>
                  <a:tcPr marL="91440" marR="91440" marT="45720" marB="45720" anchor="ctr">
                    <a:solidFill>
                      <a:srgbClr val="FFFFFF"/>
                    </a:solidFill>
                  </a:tcPr>
                </a:tc>
              </a:tr>
            </a:tbl>
          </a:graphicData>
        </a:graphic>
      </p:graphicFrame>
      <p:sp>
        <p:nvSpPr>
          <p:cNvPr id="8" name="Alternatieve kosten: € 50 uit het papieratelier">
            <a:extLst xmlns:a="http://schemas.openxmlformats.org/drawingml/2006/main">
              <a:ext uri="{FF2B5EF4-FFF2-40B4-BE49-F238E27FC236}">
                <a16:creationId xmlns:a16="http://schemas.microsoft.com/office/drawing/2014/main" id="{33F19F6C-C518-468B-85EC-A96492C64A91}"/>
              </a:ext>
            </a:extLst>
          </p:cNvPr>
          <p:cNvSpPr>
            <a:spLocks xmlns:a="http://schemas.openxmlformats.org/drawingml/2006/main" noGrp="1"/>
          </p:cNvSpPr>
          <p:nvPr/>
        </p:nvSpPr>
        <p:spPr>
          <a:xfrm xmlns:a="http://schemas.openxmlformats.org/drawingml/2006/main">
            <a:off x="571500" y="69532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Alternatieve kosten: € 50 uit het papieratelier</a:t>
            </a:r>
          </a:p>
        </p:txBody>
      </p:sp>
    </p:spTree>
    <p:extLst>
      <p:ext uri="{BB962C8B-B14F-4D97-AF65-F5344CB8AC3E}">
        <p14:creationId xmlns:p14="http://schemas.microsoft.com/office/powerpoint/2010/main" val="15552834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etaling, gemist bedrag en verschil">
            <a:extLst xmlns:a="http://schemas.openxmlformats.org/drawingml/2006/main">
              <a:ext uri="{FF2B5EF4-FFF2-40B4-BE49-F238E27FC236}">
                <a16:creationId xmlns:a16="http://schemas.microsoft.com/office/drawing/2014/main" id="{76AAA810-A3FE-4ABE-A675-75AB0DDAD55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Betaling, gemist bedrag en verschil</a:t>
            </a:r>
          </a:p>
        </p:txBody>
      </p:sp>
      <p:sp>
        <p:nvSpPr>
          <p:cNvPr id="2" name="">
            <a:extLst xmlns:a="http://schemas.openxmlformats.org/drawingml/2006/main">
              <a:ext uri="{FF2B5EF4-FFF2-40B4-BE49-F238E27FC236}">
                <a16:creationId xmlns:a16="http://schemas.microsoft.com/office/drawing/2014/main" id="{D6A3470A-1E39-46D6-BE17-3857FC91C22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D2CFA694-C29B-468C-82A2-DF0FE76B0A00}"/>
              </a:ext>
            </a:extLst>
          </p:cNvPr>
          <p:cNvSpPr>
            <a:spLocks xmlns:a="http://schemas.openxmlformats.org/drawingml/2006/main" noGrp="1"/>
          </p:cNvSpPr>
          <p:nvPr/>
        </p:nvSpPr>
        <p:spPr>
          <a:xfrm xmlns:a="http://schemas.openxmlformats.org/drawingml/2006/main">
            <a:off x="571500" y="15906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4" name="§1.1.1 Schaarste, keuzes en alternatieve kosten">
            <a:extLst xmlns:a="http://schemas.openxmlformats.org/drawingml/2006/main">
              <a:ext uri="{FF2B5EF4-FFF2-40B4-BE49-F238E27FC236}">
                <a16:creationId xmlns:a16="http://schemas.microsoft.com/office/drawing/2014/main" id="{73866F3D-3813-4E07-9A08-A6EC9385DBD0}"/>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a:t>
            </a:r>
          </a:p>
        </p:txBody>
      </p:sp>
      <p:sp>
        <p:nvSpPr>
          <p:cNvPr id="5" name="7">
            <a:extLst xmlns:a="http://schemas.openxmlformats.org/drawingml/2006/main">
              <a:ext uri="{FF2B5EF4-FFF2-40B4-BE49-F238E27FC236}">
                <a16:creationId xmlns:a16="http://schemas.microsoft.com/office/drawing/2014/main" id="{0409AFD7-1A8F-49D5-8AA4-4B878689587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graphicFrame>
        <p:nvGraphicFramePr>
          <p:cNvPr id="13" name=""/>
          <p:cNvGraphicFramePr/>
          <p:nvPr/>
        </p:nvGraphicFramePr>
        <p:xfrm>
          <a:off xmlns:a="http://schemas.openxmlformats.org/drawingml/2006/main" x="571500" y="2543175"/>
          <a:ext xmlns:a="http://schemas.openxmlformats.org/drawingml/2006/main" cx="14097000" cy="4029075"/>
        </p:xfrm>
        <a:graphic xmlns:a="http://schemas.openxmlformats.org/drawingml/2006/main">
          <a:graphicData uri="http://schemas.openxmlformats.org/drawingml/2006/table">
            <a:tbl>
              <a:tblPr/>
              <a:tblGrid>
                <a:gridCol w="7762875"/>
                <a:gridCol w="6334125"/>
              </a:tblGrid>
              <a:tr h="1007269">
                <a:tc>
                  <a:txBody>
                    <a:bodyPr lIns="171450" tIns="95250" rIns="152400" bIns="95250"/>
                    <a:lstStyle/>
                    <a:p>
                      <a:r>
                        <a:rPr sz="2550" b="1">
                          <a:solidFill>
                            <a:srgbClr val="FFFFFF"/>
                          </a:solidFill>
                          <a:latin typeface="Arial"/>
                          <a:ea typeface="Arial"/>
                          <a:cs typeface="Arial"/>
                        </a:rPr>
                        <a:t>Welke vraag?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Antwoord in het atelier</a:t>
                      </a:r>
                    </a:p>
                  </a:txBody>
                  <a:tcPr marL="91440" marR="91440" marT="45720" marB="45720" anchor="ctr">
                    <a:solidFill>
                      <a:srgbClr val="183247"/>
                    </a:solidFill>
                  </a:tcPr>
                </a:tc>
              </a:tr>
              <a:tr h="1007269">
                <a:tc>
                  <a:txBody>
                    <a:bodyPr lIns="171450" tIns="95250" rIns="152400" bIns="95250"/>
                    <a:lstStyle/>
                    <a:p>
                      <a:r>
                        <a:rPr sz="2550" b="0">
                          <a:solidFill>
                            <a:srgbClr val="183247"/>
                          </a:solidFill>
                          <a:latin typeface="Arial"/>
                          <a:ea typeface="Arial"/>
                          <a:cs typeface="Arial"/>
                        </a:rPr>
                        <a:t>Wat betaalt de vereniging aan huur?</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€ 0</a:t>
                      </a:r>
                    </a:p>
                  </a:txBody>
                  <a:tcPr marL="91440" marR="91440" marT="45720" marB="45720" anchor="ctr">
                    <a:solidFill>
                      <a:srgbClr val="FFFFFF"/>
                    </a:solidFill>
                  </a:tcPr>
                </a:tc>
              </a:tr>
              <a:tr h="1007269">
                <a:tc>
                  <a:txBody>
                    <a:bodyPr lIns="171450" tIns="95250" rIns="152400" bIns="95250"/>
                    <a:lstStyle/>
                    <a:p>
                      <a:r>
                        <a:rPr sz="2550" b="0">
                          <a:solidFill>
                            <a:srgbClr val="183247"/>
                          </a:solidFill>
                          <a:latin typeface="Arial"/>
                          <a:ea typeface="Arial"/>
                          <a:cs typeface="Arial"/>
                        </a:rPr>
                        <a:t>Wat levert het beste gemiste plan op?</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€ 50 uit het papieratelier</a:t>
                      </a:r>
                    </a:p>
                  </a:txBody>
                  <a:tcPr marL="91440" marR="91440" marT="45720" marB="45720" anchor="ctr">
                    <a:solidFill>
                      <a:srgbClr val="EFF4F7"/>
                    </a:solidFill>
                  </a:tcPr>
                </a:tc>
              </a:tr>
              <a:tr h="1007269">
                <a:tc>
                  <a:txBody>
                    <a:bodyPr lIns="171450" tIns="95250" rIns="152400" bIns="95250"/>
                    <a:lstStyle/>
                    <a:p>
                      <a:r>
                        <a:rPr sz="2550" b="0">
                          <a:solidFill>
                            <a:srgbClr val="183247"/>
                          </a:solidFill>
                          <a:latin typeface="Arial"/>
                          <a:ea typeface="Arial"/>
                          <a:cs typeface="Arial"/>
                        </a:rPr>
                        <a:t>Hoeveel meer levert de keuze op?</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€ 80 − € 50 = € 30</a:t>
                      </a:r>
                    </a:p>
                  </a:txBody>
                  <a:tcPr marL="91440" marR="91440" marT="45720" marB="45720" anchor="ctr">
                    <a:solidFill>
                      <a:srgbClr val="FFFFFF"/>
                    </a:solidFill>
                  </a:tcPr>
                </a:tc>
              </a:tr>
            </a:tbl>
          </a:graphicData>
        </a:graphic>
      </p:graphicFrame>
      <p:sp>
        <p:nvSpPr>
          <p:cNvPr id="7" name="Gratis gebruik kan een waardevol alternatief uitsl">
            <a:extLst xmlns:a="http://schemas.openxmlformats.org/drawingml/2006/main">
              <a:ext uri="{FF2B5EF4-FFF2-40B4-BE49-F238E27FC236}">
                <a16:creationId xmlns:a16="http://schemas.microsoft.com/office/drawing/2014/main" id="{7C4E5866-0E47-45F3-B013-BA0356A320E2}"/>
              </a:ext>
            </a:extLst>
          </p:cNvPr>
          <p:cNvSpPr>
            <a:spLocks xmlns:a="http://schemas.openxmlformats.org/drawingml/2006/main" noGrp="1"/>
          </p:cNvSpPr>
          <p:nvPr/>
        </p:nvSpPr>
        <p:spPr>
          <a:xfrm xmlns:a="http://schemas.openxmlformats.org/drawingml/2006/main">
            <a:off x="571500" y="71818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Gratis gebruik kan een waardevol alternatief uitsluiten.</a:t>
            </a:r>
          </a:p>
        </p:txBody>
      </p:sp>
    </p:spTree>
    <p:extLst>
      <p:ext uri="{BB962C8B-B14F-4D97-AF65-F5344CB8AC3E}">
        <p14:creationId xmlns:p14="http://schemas.microsoft.com/office/powerpoint/2010/main" val="14294601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t doel verandert de vergelijking">
            <a:extLst xmlns:a="http://schemas.openxmlformats.org/drawingml/2006/main">
              <a:ext uri="{FF2B5EF4-FFF2-40B4-BE49-F238E27FC236}">
                <a16:creationId xmlns:a16="http://schemas.microsoft.com/office/drawing/2014/main" id="{83CF3376-8A9D-4058-ADA1-9BD1B491411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Het doel verandert de vergelijking</a:t>
            </a:r>
          </a:p>
        </p:txBody>
      </p:sp>
      <p:sp>
        <p:nvSpPr>
          <p:cNvPr id="2" name="">
            <a:extLst xmlns:a="http://schemas.openxmlformats.org/drawingml/2006/main">
              <a:ext uri="{FF2B5EF4-FFF2-40B4-BE49-F238E27FC236}">
                <a16:creationId xmlns:a16="http://schemas.microsoft.com/office/drawing/2014/main" id="{90FE78E8-E6A1-4D60-A8A6-70012BE1693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C35D97D2-71CE-4AE3-A847-FCACBD010987}"/>
              </a:ext>
            </a:extLst>
          </p:cNvPr>
          <p:cNvSpPr>
            <a:spLocks xmlns:a="http://schemas.openxmlformats.org/drawingml/2006/main" noGrp="1"/>
          </p:cNvSpPr>
          <p:nvPr/>
        </p:nvSpPr>
        <p:spPr>
          <a:xfrm xmlns:a="http://schemas.openxmlformats.org/drawingml/2006/main">
            <a:off x="571500" y="15906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4" name="§1.1.1 Schaarste, keuzes en alternatieve kosten">
            <a:extLst xmlns:a="http://schemas.openxmlformats.org/drawingml/2006/main">
              <a:ext uri="{FF2B5EF4-FFF2-40B4-BE49-F238E27FC236}">
                <a16:creationId xmlns:a16="http://schemas.microsoft.com/office/drawing/2014/main" id="{2A19731D-D1A6-4477-89E8-C05966444500}"/>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a:t>
            </a:r>
          </a:p>
        </p:txBody>
      </p:sp>
      <p:sp>
        <p:nvSpPr>
          <p:cNvPr id="5" name="8">
            <a:extLst xmlns:a="http://schemas.openxmlformats.org/drawingml/2006/main">
              <a:ext uri="{FF2B5EF4-FFF2-40B4-BE49-F238E27FC236}">
                <a16:creationId xmlns:a16="http://schemas.microsoft.com/office/drawing/2014/main" id="{0BF06518-8D98-48DE-8E81-A176AA20038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graphicFrame>
        <p:nvGraphicFramePr>
          <p:cNvPr id="14" name=""/>
          <p:cNvGraphicFramePr/>
          <p:nvPr/>
        </p:nvGraphicFramePr>
        <p:xfrm>
          <a:off xmlns:a="http://schemas.openxmlformats.org/drawingml/2006/main" x="571500" y="2724150"/>
          <a:ext xmlns:a="http://schemas.openxmlformats.org/drawingml/2006/main" cx="14097000" cy="2952750"/>
        </p:xfrm>
        <a:graphic xmlns:a="http://schemas.openxmlformats.org/drawingml/2006/main">
          <a:graphicData uri="http://schemas.openxmlformats.org/drawingml/2006/table">
            <a:tbl>
              <a:tblPr/>
              <a:tblGrid>
                <a:gridCol w="5476875"/>
                <a:gridCol w="5000625"/>
                <a:gridCol w="3619500"/>
              </a:tblGrid>
              <a:tr h="984250">
                <a:tc>
                  <a:txBody>
                    <a:bodyPr lIns="171450" tIns="95250" rIns="152400" bIns="95250"/>
                    <a:lstStyle/>
                    <a:p>
                      <a:r>
                        <a:rPr sz="2550" b="1">
                          <a:solidFill>
                            <a:srgbClr val="FFFFFF"/>
                          </a:solidFill>
                          <a:latin typeface="Arial"/>
                          <a:ea typeface="Arial"/>
                          <a:cs typeface="Arial"/>
                        </a:rPr>
                        <a:t>Doel</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Passende vergelijking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Keuze</a:t>
                      </a:r>
                    </a:p>
                  </a:txBody>
                  <a:tcPr marL="91440" marR="91440" marT="45720" marB="45720" anchor="ctr">
                    <a:solidFill>
                      <a:srgbClr val="183247"/>
                    </a:solidFill>
                  </a:tcPr>
                </a:tc>
              </a:tr>
              <a:tr h="984250">
                <a:tc>
                  <a:txBody>
                    <a:bodyPr lIns="171450" tIns="95250" rIns="152400" bIns="95250"/>
                    <a:lstStyle/>
                    <a:p>
                      <a:r>
                        <a:rPr sz="2550" b="0">
                          <a:solidFill>
                            <a:srgbClr val="183247"/>
                          </a:solidFill>
                          <a:latin typeface="Arial"/>
                          <a:ea typeface="Arial"/>
                          <a:cs typeface="Arial"/>
                        </a:rPr>
                        <a:t>Meeste geld overhouden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€ 80 tegenover € 50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Textielatelier</a:t>
                      </a:r>
                    </a:p>
                  </a:txBody>
                  <a:tcPr marL="91440" marR="91440" marT="45720" marB="45720" anchor="ctr">
                    <a:solidFill>
                      <a:srgbClr val="FFFFFF"/>
                    </a:solidFill>
                  </a:tcPr>
                </a:tc>
              </a:tr>
              <a:tr h="984250">
                <a:tc>
                  <a:txBody>
                    <a:bodyPr lIns="171450" tIns="95250" rIns="152400" bIns="95250"/>
                    <a:lstStyle/>
                    <a:p>
                      <a:r>
                        <a:rPr sz="2550" b="0">
                          <a:solidFill>
                            <a:srgbClr val="183247"/>
                          </a:solidFill>
                          <a:latin typeface="Arial"/>
                          <a:ea typeface="Arial"/>
                          <a:cs typeface="Arial"/>
                        </a:rPr>
                        <a:t>Meeste deelnemers bereiken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24 tegenover 16 deelnemers</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Papieratelier</a:t>
                      </a:r>
                    </a:p>
                  </a:txBody>
                  <a:tcPr marL="91440" marR="91440" marT="45720" marB="45720" anchor="ctr">
                    <a:solidFill>
                      <a:srgbClr val="EFF4F7"/>
                    </a:solidFill>
                  </a:tcPr>
                </a:tc>
              </a:tr>
            </a:tbl>
          </a:graphicData>
        </a:graphic>
      </p:graphicFrame>
      <p:sp>
        <p:nvSpPr>
          <p:cNvPr id="7" name="Bij deelname gaat de andere haalbare workshop verl">
            <a:extLst xmlns:a="http://schemas.openxmlformats.org/drawingml/2006/main">
              <a:ext uri="{FF2B5EF4-FFF2-40B4-BE49-F238E27FC236}">
                <a16:creationId xmlns:a16="http://schemas.microsoft.com/office/drawing/2014/main" id="{5E1B7534-E1C1-4C0C-BF35-E9ACD4F570D3}"/>
              </a:ext>
            </a:extLst>
          </p:cNvPr>
          <p:cNvSpPr>
            <a:spLocks xmlns:a="http://schemas.openxmlformats.org/drawingml/2006/main" noGrp="1"/>
          </p:cNvSpPr>
          <p:nvPr/>
        </p:nvSpPr>
        <p:spPr>
          <a:xfrm xmlns:a="http://schemas.openxmlformats.org/drawingml/2006/main">
            <a:off x="571500" y="64674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Bij deelname gaat de andere haalbare workshop verloren.</a:t>
            </a:r>
          </a:p>
        </p:txBody>
      </p:sp>
      <p:sp>
        <p:nvSpPr>
          <p:cNvPr id="8" name="De waarde van een alternatief hoeft geen geldbedra">
            <a:extLst xmlns:a="http://schemas.openxmlformats.org/drawingml/2006/main">
              <a:ext uri="{FF2B5EF4-FFF2-40B4-BE49-F238E27FC236}">
                <a16:creationId xmlns:a16="http://schemas.microsoft.com/office/drawing/2014/main" id="{2ECA1B89-E2D8-46B8-8768-9D1CF39E2397}"/>
              </a:ext>
            </a:extLst>
          </p:cNvPr>
          <p:cNvSpPr>
            <a:spLocks xmlns:a="http://schemas.openxmlformats.org/drawingml/2006/main" noGrp="1"/>
          </p:cNvSpPr>
          <p:nvPr/>
        </p:nvSpPr>
        <p:spPr>
          <a:xfrm xmlns:a="http://schemas.openxmlformats.org/drawingml/2006/main">
            <a:off x="571500" y="7343775"/>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 waarde van een alternatief hoeft geen geldbedrag te zijn.</a:t>
            </a:r>
          </a:p>
        </p:txBody>
      </p:sp>
    </p:spTree>
    <p:extLst>
      <p:ext uri="{BB962C8B-B14F-4D97-AF65-F5344CB8AC3E}">
        <p14:creationId xmlns:p14="http://schemas.microsoft.com/office/powerpoint/2010/main" val="11575735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et beste van meerdere haalbare alternatieven">
            <a:extLst xmlns:a="http://schemas.openxmlformats.org/drawingml/2006/main">
              <a:ext uri="{FF2B5EF4-FFF2-40B4-BE49-F238E27FC236}">
                <a16:creationId xmlns:a16="http://schemas.microsoft.com/office/drawing/2014/main" id="{0C9BE84A-C2A6-443E-BA53-48AE8647589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Het beste van meerdere haalbare alternatieven</a:t>
            </a:r>
          </a:p>
        </p:txBody>
      </p:sp>
      <p:sp>
        <p:nvSpPr>
          <p:cNvPr id="2" name="">
            <a:extLst xmlns:a="http://schemas.openxmlformats.org/drawingml/2006/main">
              <a:ext uri="{FF2B5EF4-FFF2-40B4-BE49-F238E27FC236}">
                <a16:creationId xmlns:a16="http://schemas.microsoft.com/office/drawing/2014/main" id="{1E134AFF-0CEA-447F-B764-BDD5CCF3195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6D76FE3E-EBC7-4E1D-BC4B-629117D89869}"/>
              </a:ext>
            </a:extLst>
          </p:cNvPr>
          <p:cNvSpPr>
            <a:spLocks xmlns:a="http://schemas.openxmlformats.org/drawingml/2006/main" noGrp="1"/>
          </p:cNvSpPr>
          <p:nvPr/>
        </p:nvSpPr>
        <p:spPr>
          <a:xfrm xmlns:a="http://schemas.openxmlformats.org/drawingml/2006/main">
            <a:off x="571500" y="15906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4" name="§1.1.1 Schaarste, keuzes en alternatieve kosten">
            <a:extLst xmlns:a="http://schemas.openxmlformats.org/drawingml/2006/main">
              <a:ext uri="{FF2B5EF4-FFF2-40B4-BE49-F238E27FC236}">
                <a16:creationId xmlns:a16="http://schemas.microsoft.com/office/drawing/2014/main" id="{700A7C75-D08A-4D9B-AF18-E452790621D9}"/>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a:t>
            </a:r>
          </a:p>
        </p:txBody>
      </p:sp>
      <p:sp>
        <p:nvSpPr>
          <p:cNvPr id="5" name="9">
            <a:extLst xmlns:a="http://schemas.openxmlformats.org/drawingml/2006/main">
              <a:ext uri="{FF2B5EF4-FFF2-40B4-BE49-F238E27FC236}">
                <a16:creationId xmlns:a16="http://schemas.microsoft.com/office/drawing/2014/main" id="{902655D9-6B95-4E73-B739-AB9B2D8024F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6" name="Nieuwe situatie: Lina kiest twee uur wandelen.">
            <a:extLst xmlns:a="http://schemas.openxmlformats.org/drawingml/2006/main">
              <a:ext uri="{FF2B5EF4-FFF2-40B4-BE49-F238E27FC236}">
                <a16:creationId xmlns:a16="http://schemas.microsoft.com/office/drawing/2014/main" id="{85B8A992-F229-452F-A720-71C7BF832C10}"/>
              </a:ext>
            </a:extLst>
          </p:cNvPr>
          <p:cNvSpPr>
            <a:spLocks xmlns:a="http://schemas.openxmlformats.org/drawingml/2006/main" noGrp="1"/>
          </p:cNvSpPr>
          <p:nvPr/>
        </p:nvSpPr>
        <p:spPr>
          <a:xfrm xmlns:a="http://schemas.openxmlformats.org/drawingml/2006/main">
            <a:off x="571500" y="226695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Nieuwe situatie: Lina kiest twee uur wandelen.</a:t>
            </a:r>
          </a:p>
        </p:txBody>
      </p:sp>
      <p:sp>
        <p:nvSpPr>
          <p:cNvPr id="7" name="Elke klus vraagt precies diezelfde twee uur. Combi">
            <a:extLst xmlns:a="http://schemas.openxmlformats.org/drawingml/2006/main">
              <a:ext uri="{FF2B5EF4-FFF2-40B4-BE49-F238E27FC236}">
                <a16:creationId xmlns:a16="http://schemas.microsoft.com/office/drawing/2014/main" id="{DAB743F0-FFAD-46E9-959B-71983D53E788}"/>
              </a:ext>
            </a:extLst>
          </p:cNvPr>
          <p:cNvSpPr>
            <a:spLocks xmlns:a="http://schemas.openxmlformats.org/drawingml/2006/main" noGrp="1"/>
          </p:cNvSpPr>
          <p:nvPr/>
        </p:nvSpPr>
        <p:spPr>
          <a:xfrm xmlns:a="http://schemas.openxmlformats.org/drawingml/2006/main">
            <a:off x="571500" y="29813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Elke klus vraagt precies diezelfde twee uur. Combineren kan niet.</a:t>
            </a:r>
          </a:p>
        </p:txBody>
      </p:sp>
      <p:graphicFrame>
        <p:nvGraphicFramePr>
          <p:cNvPr id="17" name=""/>
          <p:cNvGraphicFramePr/>
          <p:nvPr/>
        </p:nvGraphicFramePr>
        <p:xfrm>
          <a:off xmlns:a="http://schemas.openxmlformats.org/drawingml/2006/main" x="571500" y="3943350"/>
          <a:ext xmlns:a="http://schemas.openxmlformats.org/drawingml/2006/main" cx="14097000" cy="2952750"/>
        </p:xfrm>
        <a:graphic xmlns:a="http://schemas.openxmlformats.org/drawingml/2006/main">
          <a:graphicData uri="http://schemas.openxmlformats.org/drawingml/2006/table">
            <a:tbl>
              <a:tblPr/>
              <a:tblGrid>
                <a:gridCol w="5143500"/>
                <a:gridCol w="5143500"/>
                <a:gridCol w="3810000"/>
              </a:tblGrid>
              <a:tr h="738188">
                <a:tc>
                  <a:txBody>
                    <a:bodyPr lIns="171450" tIns="95250" rIns="152400" bIns="95250"/>
                    <a:lstStyle/>
                    <a:p>
                      <a:r>
                        <a:rPr sz="2400" b="1">
                          <a:solidFill>
                            <a:srgbClr val="FFFFFF"/>
                          </a:solidFill>
                          <a:latin typeface="Arial"/>
                          <a:ea typeface="Arial"/>
                          <a:cs typeface="Arial"/>
                        </a:rPr>
                        <a:t>Andere mogelijkheid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Inkomsten voor twee uur</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Haalbaar?</a:t>
                      </a:r>
                    </a:p>
                  </a:txBody>
                  <a:tcPr marL="91440" marR="91440" marT="45720" marB="45720" anchor="ctr">
                    <a:solidFill>
                      <a:srgbClr val="183247"/>
                    </a:solidFill>
                  </a:tcPr>
                </a:tc>
              </a:tr>
              <a:tr h="738188">
                <a:tc>
                  <a:txBody>
                    <a:bodyPr lIns="171450" tIns="95250" rIns="152400" bIns="95250"/>
                    <a:lstStyle/>
                    <a:p>
                      <a:r>
                        <a:rPr sz="2400" b="0">
                          <a:solidFill>
                            <a:srgbClr val="183247"/>
                          </a:solidFill>
                          <a:latin typeface="Arial"/>
                          <a:ea typeface="Arial"/>
                          <a:cs typeface="Arial"/>
                        </a:rPr>
                        <a:t>Oppasklus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€ 22</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Ja</a:t>
                      </a:r>
                    </a:p>
                  </a:txBody>
                  <a:tcPr marL="91440" marR="91440" marT="45720" marB="45720" anchor="ctr">
                    <a:solidFill>
                      <a:srgbClr val="FFFFFF"/>
                    </a:solidFill>
                  </a:tcPr>
                </a:tc>
              </a:tr>
              <a:tr h="738188">
                <a:tc>
                  <a:txBody>
                    <a:bodyPr lIns="171450" tIns="95250" rIns="152400" bIns="95250"/>
                    <a:lstStyle/>
                    <a:p>
                      <a:r>
                        <a:rPr sz="2400" b="0">
                          <a:solidFill>
                            <a:srgbClr val="183247"/>
                          </a:solidFill>
                          <a:latin typeface="Arial"/>
                          <a:ea typeface="Arial"/>
                          <a:cs typeface="Arial"/>
                        </a:rPr>
                        <a:t>Archiefklus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€ 18</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Ja</a:t>
                      </a:r>
                    </a:p>
                  </a:txBody>
                  <a:tcPr marL="91440" marR="91440" marT="45720" marB="45720" anchor="ctr">
                    <a:solidFill>
                      <a:srgbClr val="EFF4F7"/>
                    </a:solidFill>
                  </a:tcPr>
                </a:tc>
              </a:tr>
              <a:tr h="738188">
                <a:tc>
                  <a:txBody>
                    <a:bodyPr lIns="171450" tIns="95250" rIns="152400" bIns="95250"/>
                    <a:lstStyle/>
                    <a:p>
                      <a:r>
                        <a:rPr sz="2400" b="0">
                          <a:solidFill>
                            <a:srgbClr val="183247"/>
                          </a:solidFill>
                          <a:latin typeface="Arial"/>
                          <a:ea typeface="Arial"/>
                          <a:cs typeface="Arial"/>
                        </a:rPr>
                        <a:t>Theaterklus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€ 30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Nee, al ingevuld</a:t>
                      </a:r>
                    </a:p>
                  </a:txBody>
                  <a:tcPr marL="91440" marR="91440" marT="45720" marB="45720" anchor="ctr">
                    <a:solidFill>
                      <a:srgbClr val="FFFFFF"/>
                    </a:solidFill>
                  </a:tcPr>
                </a:tc>
              </a:tr>
            </a:tbl>
          </a:graphicData>
        </a:graphic>
      </p:graphicFrame>
      <p:sp>
        <p:nvSpPr>
          <p:cNvPr id="9" name="Zij geeft € 22 aan mogelijke inkomsten op.">
            <a:extLst xmlns:a="http://schemas.openxmlformats.org/drawingml/2006/main">
              <a:ext uri="{FF2B5EF4-FFF2-40B4-BE49-F238E27FC236}">
                <a16:creationId xmlns:a16="http://schemas.microsoft.com/office/drawing/2014/main" id="{AB18B71D-A759-4C4F-9FB8-2EE8085B9D0C}"/>
              </a:ext>
            </a:extLst>
          </p:cNvPr>
          <p:cNvSpPr>
            <a:spLocks xmlns:a="http://schemas.openxmlformats.org/drawingml/2006/main" noGrp="1"/>
          </p:cNvSpPr>
          <p:nvPr/>
        </p:nvSpPr>
        <p:spPr>
          <a:xfrm xmlns:a="http://schemas.openxmlformats.org/drawingml/2006/main">
            <a:off x="571500" y="734377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Zij geeft € 22 aan mogelijke inkomsten op.</a:t>
            </a:r>
          </a:p>
        </p:txBody>
      </p:sp>
    </p:spTree>
    <p:extLst>
      <p:ext uri="{BB962C8B-B14F-4D97-AF65-F5344CB8AC3E}">
        <p14:creationId xmlns:p14="http://schemas.microsoft.com/office/powerpoint/2010/main" val="47709801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1.1 Schaarste, keuzes en alternatieve">
            <a:extLst xmlns:a="http://schemas.openxmlformats.org/drawingml/2006/main">
              <a:ext uri="{FF2B5EF4-FFF2-40B4-BE49-F238E27FC236}">
                <a16:creationId xmlns:a16="http://schemas.microsoft.com/office/drawing/2014/main" id="{60C9F078-BC08-4FF6-A1CB-4370E700015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Deze les: §1.1.1 Schaarste, keuzes en alternatieve kosten</a:t>
            </a:r>
          </a:p>
        </p:txBody>
      </p:sp>
      <p:sp>
        <p:nvSpPr>
          <p:cNvPr id="2" name="">
            <a:extLst xmlns:a="http://schemas.openxmlformats.org/drawingml/2006/main">
              <a:ext uri="{FF2B5EF4-FFF2-40B4-BE49-F238E27FC236}">
                <a16:creationId xmlns:a16="http://schemas.microsoft.com/office/drawing/2014/main" id="{C0F728F9-7ED7-4BCC-8302-AB402FC783C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a:extLst xmlns:a="http://schemas.openxmlformats.org/drawingml/2006/main">
              <a:ext uri="{FF2B5EF4-FFF2-40B4-BE49-F238E27FC236}">
                <a16:creationId xmlns:a16="http://schemas.microsoft.com/office/drawing/2014/main" id="{D669B3AE-9EBA-4B45-8121-266A20577E74}"/>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a:t>
            </a:r>
          </a:p>
        </p:txBody>
      </p:sp>
      <p:sp>
        <p:nvSpPr>
          <p:cNvPr id="4" name="10">
            <a:extLst xmlns:a="http://schemas.openxmlformats.org/drawingml/2006/main">
              <a:ext uri="{FF2B5EF4-FFF2-40B4-BE49-F238E27FC236}">
                <a16:creationId xmlns:a16="http://schemas.microsoft.com/office/drawing/2014/main" id="{FC869AE8-E412-4733-B0FD-ACE24E7652B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phase">
            <a:extLst xmlns:a="http://schemas.openxmlformats.org/drawingml/2006/main">
              <a:ext uri="{FF2B5EF4-FFF2-40B4-BE49-F238E27FC236}">
                <a16:creationId xmlns:a16="http://schemas.microsoft.com/office/drawing/2014/main" id="{E9B1997A-1A82-407B-8000-0DAD3ACFBF3E}"/>
              </a:ext>
            </a:extLst>
          </p:cNvPr>
          <p:cNvSpPr>
            <a:spLocks xmlns:a="http://schemas.openxmlformats.org/drawingml/2006/main" noGrp="1"/>
          </p:cNvSpPr>
          <p:nvPr/>
        </p:nvSpPr>
        <p:spPr>
          <a:xfrm xmlns:a="http://schemas.openxmlformats.org/drawingml/2006/main">
            <a:off x="571500" y="10287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79AAF9A9-79BA-47F2-9401-E75BA788DB73}"/>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E62F9059-61EC-47AB-9E5B-9B2553E748F2}"/>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CE34F56A-3FD9-4A14-AFF3-895EE9963FD7}"/>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2A0797DD-1F64-4BAA-BFE7-B276361FF593}"/>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8639F702-A3FA-453E-939B-E703FBE4F3AA}"/>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E044AD4D-6689-4A72-83D2-BD4FFFFEF20B}"/>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569B0F3A-B279-47B0-8F54-9E2211F63012}"/>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83F91A3B-72FC-4866-BF2F-913E1FAC3C60}"/>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78984CEE-A29B-4FDE-8BAF-0ADD1F62EFE7}"/>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CEFECE2A-C6F2-43DA-8A97-D8D76AA625E0}"/>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411F890D-6031-46D1-A4AD-5AAC0A3BBEF7}"/>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8A643901-05A9-4F0D-9EC4-E2EB19E522B1}"/>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6F865F29-51CD-407B-A48A-71250115092A}"/>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82A174E4-FB39-410B-868F-99FAFA943D69}"/>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2CB46075-07AB-47B4-A7D8-4D2346A975B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E267E02A-1E82-4079-A931-49185C752C98}"/>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2909AFEF-8FAA-4BB2-854D-53B422C0F7D0}"/>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Beperking aanwijzen, uitkomsten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vergelijken, alternatieve kosten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uitleggen en kiezen bij een doel.</a:t>
            </a:r>
          </a:p>
        </p:txBody>
      </p:sp>
      <p:sp>
        <p:nvSpPr>
          <p:cNvPr id="23" name="">
            <a:extLst xmlns:a="http://schemas.openxmlformats.org/drawingml/2006/main">
              <a:ext uri="{FF2B5EF4-FFF2-40B4-BE49-F238E27FC236}">
                <a16:creationId xmlns:a16="http://schemas.microsoft.com/office/drawing/2014/main" id="{DAC50B6E-D483-4617-A7FE-C643F275890B}"/>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B07CE889-269C-490C-AC85-996660E14CCE}"/>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FCD12382-C4CB-4D47-8566-1BEF412A01AF}"/>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6–8</a:t>
            </a:r>
          </a:p>
        </p:txBody>
      </p:sp>
      <p:sp>
        <p:nvSpPr>
          <p:cNvPr id="26" name="">
            <a:extLst xmlns:a="http://schemas.openxmlformats.org/drawingml/2006/main">
              <a:ext uri="{FF2B5EF4-FFF2-40B4-BE49-F238E27FC236}">
                <a16:creationId xmlns:a16="http://schemas.microsoft.com/office/drawing/2014/main" id="{292A31ED-0600-4C20-B584-6362F7E263FF}"/>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52973EA6-DD8F-46BE-89B2-05B61AC58A28}"/>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868913B7-361B-4BC8-AD96-2E33ABEDC790}"/>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9785298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 · Eén aula, twee plannen">
            <a:extLst xmlns:a="http://schemas.openxmlformats.org/drawingml/2006/main">
              <a:ext uri="{FF2B5EF4-FFF2-40B4-BE49-F238E27FC236}">
                <a16:creationId xmlns:a16="http://schemas.microsoft.com/office/drawing/2014/main" id="{682733CD-FFD4-4473-A33B-E4F3BD24E92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Eén aula, twee plannen</a:t>
            </a:r>
          </a:p>
        </p:txBody>
      </p:sp>
      <p:sp>
        <p:nvSpPr>
          <p:cNvPr id="2" name="">
            <a:extLst xmlns:a="http://schemas.openxmlformats.org/drawingml/2006/main">
              <a:ext uri="{FF2B5EF4-FFF2-40B4-BE49-F238E27FC236}">
                <a16:creationId xmlns:a16="http://schemas.microsoft.com/office/drawing/2014/main" id="{460516F1-B455-4D50-884C-4BFBC358F36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 ">
            <a:extLst xmlns:a="http://schemas.openxmlformats.org/drawingml/2006/main">
              <a:ext uri="{FF2B5EF4-FFF2-40B4-BE49-F238E27FC236}">
                <a16:creationId xmlns:a16="http://schemas.microsoft.com/office/drawing/2014/main" id="{B0E4C461-80A9-4DA8-A9B1-4B85113E65C3}"/>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 · Opgave 7 · Boekpagina 11</a:t>
            </a:r>
          </a:p>
        </p:txBody>
      </p:sp>
      <p:sp>
        <p:nvSpPr>
          <p:cNvPr id="4" name="11">
            <a:extLst xmlns:a="http://schemas.openxmlformats.org/drawingml/2006/main">
              <a:ext uri="{FF2B5EF4-FFF2-40B4-BE49-F238E27FC236}">
                <a16:creationId xmlns:a16="http://schemas.microsoft.com/office/drawing/2014/main" id="{DA7B82BF-E403-44AF-87B1-6C18858BA6B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Een school organiseert een activiteit voor een goe">
            <a:extLst xmlns:a="http://schemas.openxmlformats.org/drawingml/2006/main">
              <a:ext uri="{FF2B5EF4-FFF2-40B4-BE49-F238E27FC236}">
                <a16:creationId xmlns:a16="http://schemas.microsoft.com/office/drawing/2014/main" id="{93A45B31-15BB-445B-BFD2-665D65A54541}"/>
              </a:ext>
            </a:extLst>
          </p:cNvPr>
          <p:cNvSpPr>
            <a:spLocks xmlns:a="http://schemas.openxmlformats.org/drawingml/2006/main" noGrp="1"/>
          </p:cNvSpPr>
          <p:nvPr/>
        </p:nvSpPr>
        <p:spPr>
          <a:xfrm xmlns:a="http://schemas.openxmlformats.org/drawingml/2006/main">
            <a:off x="571500" y="18859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Een school organiseert een activiteit voor een goed doel.</a:t>
            </a:r>
          </a:p>
        </p:txBody>
      </p:sp>
      <p:sp>
        <p:nvSpPr>
          <p:cNvPr id="6" name="De aula is vrijdag drie uur beschikbaar. De school">
            <a:extLst xmlns:a="http://schemas.openxmlformats.org/drawingml/2006/main">
              <a:ext uri="{FF2B5EF4-FFF2-40B4-BE49-F238E27FC236}">
                <a16:creationId xmlns:a16="http://schemas.microsoft.com/office/drawing/2014/main" id="{4A07DF6F-6F6E-4996-8E96-E8272EF1F8CB}"/>
              </a:ext>
            </a:extLst>
          </p:cNvPr>
          <p:cNvSpPr>
            <a:spLocks xmlns:a="http://schemas.openxmlformats.org/drawingml/2006/main" noGrp="1"/>
          </p:cNvSpPr>
          <p:nvPr/>
        </p:nvSpPr>
        <p:spPr>
          <a:xfrm xmlns:a="http://schemas.openxmlformats.org/drawingml/2006/main">
            <a:off x="571500" y="3124200"/>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De aula is vrijdag drie uur beschikbaar. De school kiest een muziekmiddag óf een ruilmarkt.</a:t>
            </a:r>
          </a:p>
        </p:txBody>
      </p:sp>
      <p:sp>
        <p:nvSpPr>
          <p:cNvPr id="7" name="Elk plan gebruikt de aula de volledige drie uur. D">
            <a:extLst xmlns:a="http://schemas.openxmlformats.org/drawingml/2006/main">
              <a:ext uri="{FF2B5EF4-FFF2-40B4-BE49-F238E27FC236}">
                <a16:creationId xmlns:a16="http://schemas.microsoft.com/office/drawing/2014/main" id="{818D73D7-7E21-4377-89DC-B9F9EF3CFED0}"/>
              </a:ext>
            </a:extLst>
          </p:cNvPr>
          <p:cNvSpPr>
            <a:spLocks xmlns:a="http://schemas.openxmlformats.org/drawingml/2006/main" noGrp="1"/>
          </p:cNvSpPr>
          <p:nvPr/>
        </p:nvSpPr>
        <p:spPr>
          <a:xfrm xmlns:a="http://schemas.openxmlformats.org/drawingml/2006/main">
            <a:off x="571500" y="4895850"/>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Elk plan gebruikt de aula de volledige drie uur. De school kan beide plannen uitvoeren, maar niet tegelijk.</a:t>
            </a:r>
          </a:p>
        </p:txBody>
      </p:sp>
      <p:sp>
        <p:nvSpPr>
          <p:cNvPr id="8" name="Het doel is zoveel mogelijk geld voor het goede do">
            <a:extLst xmlns:a="http://schemas.openxmlformats.org/drawingml/2006/main">
              <a:ext uri="{FF2B5EF4-FFF2-40B4-BE49-F238E27FC236}">
                <a16:creationId xmlns:a16="http://schemas.microsoft.com/office/drawing/2014/main" id="{55344824-29D8-453E-B1CF-3123D2938221}"/>
              </a:ext>
            </a:extLst>
          </p:cNvPr>
          <p:cNvSpPr>
            <a:spLocks xmlns:a="http://schemas.openxmlformats.org/drawingml/2006/main" noGrp="1"/>
          </p:cNvSpPr>
          <p:nvPr/>
        </p:nvSpPr>
        <p:spPr>
          <a:xfrm xmlns:a="http://schemas.openxmlformats.org/drawingml/2006/main">
            <a:off x="571500" y="6810375"/>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Het doel is zoveel mogelijk geld voor het goede doel overhouden.</a:t>
            </a:r>
          </a:p>
        </p:txBody>
      </p:sp>
    </p:spTree>
    <p:extLst>
      <p:ext uri="{BB962C8B-B14F-4D97-AF65-F5344CB8AC3E}">
        <p14:creationId xmlns:p14="http://schemas.microsoft.com/office/powerpoint/2010/main" val="1278066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 · Gegevens">
            <a:extLst xmlns:a="http://schemas.openxmlformats.org/drawingml/2006/main">
              <a:ext uri="{FF2B5EF4-FFF2-40B4-BE49-F238E27FC236}">
                <a16:creationId xmlns:a16="http://schemas.microsoft.com/office/drawing/2014/main" id="{2DC2378D-24CE-44C7-81A7-98075030DE4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Gegevens</a:t>
            </a:r>
          </a:p>
        </p:txBody>
      </p:sp>
      <p:sp>
        <p:nvSpPr>
          <p:cNvPr id="2" name="">
            <a:extLst xmlns:a="http://schemas.openxmlformats.org/drawingml/2006/main">
              <a:ext uri="{FF2B5EF4-FFF2-40B4-BE49-F238E27FC236}">
                <a16:creationId xmlns:a16="http://schemas.microsoft.com/office/drawing/2014/main" id="{EA42830F-59D1-43A4-B486-277C9059CDB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 ">
            <a:extLst xmlns:a="http://schemas.openxmlformats.org/drawingml/2006/main">
              <a:ext uri="{FF2B5EF4-FFF2-40B4-BE49-F238E27FC236}">
                <a16:creationId xmlns:a16="http://schemas.microsoft.com/office/drawing/2014/main" id="{99898F6E-29D3-406C-B932-0868BD96C5DB}"/>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 · Opgave 7 · Boekpagina 11</a:t>
            </a:r>
          </a:p>
        </p:txBody>
      </p:sp>
      <p:sp>
        <p:nvSpPr>
          <p:cNvPr id="4" name="12">
            <a:extLst xmlns:a="http://schemas.openxmlformats.org/drawingml/2006/main">
              <a:ext uri="{FF2B5EF4-FFF2-40B4-BE49-F238E27FC236}">
                <a16:creationId xmlns:a16="http://schemas.microsoft.com/office/drawing/2014/main" id="{CF43AD91-A915-4583-B252-4C823AD8B00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In de bedragen zijn alle uitgaven voor de activite">
            <a:extLst xmlns:a="http://schemas.openxmlformats.org/drawingml/2006/main">
              <a:ext uri="{FF2B5EF4-FFF2-40B4-BE49-F238E27FC236}">
                <a16:creationId xmlns:a16="http://schemas.microsoft.com/office/drawing/2014/main" id="{B89EA48D-419C-459F-9D82-6B91772F52B1}"/>
              </a:ext>
            </a:extLst>
          </p:cNvPr>
          <p:cNvSpPr>
            <a:spLocks xmlns:a="http://schemas.openxmlformats.org/drawingml/2006/main" noGrp="1"/>
          </p:cNvSpPr>
          <p:nvPr/>
        </p:nvSpPr>
        <p:spPr>
          <a:xfrm xmlns:a="http://schemas.openxmlformats.org/drawingml/2006/main">
            <a:off x="571500" y="1895475"/>
            <a:ext cx="14097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In de bedragen zijn alle uitgaven voor de activiteit al verrekend. De aula is gratis.</a:t>
            </a:r>
          </a:p>
        </p:txBody>
      </p:sp>
      <p:graphicFrame>
        <p:nvGraphicFramePr>
          <p:cNvPr id="13" name=""/>
          <p:cNvGraphicFramePr/>
          <p:nvPr/>
        </p:nvGraphicFramePr>
        <p:xfrm>
          <a:off xmlns:a="http://schemas.openxmlformats.org/drawingml/2006/main" x="571500" y="3781425"/>
          <a:ext xmlns:a="http://schemas.openxmlformats.org/drawingml/2006/main" cx="14097000" cy="2800350"/>
        </p:xfrm>
        <a:graphic xmlns:a="http://schemas.openxmlformats.org/drawingml/2006/main">
          <a:graphicData uri="http://schemas.openxmlformats.org/drawingml/2006/table">
            <a:tbl>
              <a:tblPr/>
              <a:tblGrid>
                <a:gridCol w="4762500"/>
                <a:gridCol w="4476750"/>
                <a:gridCol w="4857750"/>
              </a:tblGrid>
              <a:tr h="933450">
                <a:tc>
                  <a:txBody>
                    <a:bodyPr lIns="171450" tIns="95250" rIns="152400" bIns="95250"/>
                    <a:lstStyle/>
                    <a:p>
                      <a:r>
                        <a:rPr sz="2475" b="1">
                          <a:solidFill>
                            <a:srgbClr val="FFFFFF"/>
                          </a:solidFill>
                          <a:latin typeface="Arial"/>
                          <a:ea typeface="Arial"/>
                          <a:cs typeface="Arial"/>
                        </a:rPr>
                        <a:t>Plan</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Bedrag over per uur</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Verwacht aantal deelnemers</a:t>
                      </a:r>
                    </a:p>
                  </a:txBody>
                  <a:tcPr marL="91440" marR="91440" marT="45720" marB="45720" anchor="ctr">
                    <a:solidFill>
                      <a:srgbClr val="183247"/>
                    </a:solidFill>
                  </a:tcPr>
                </a:tc>
              </a:tr>
              <a:tr h="933450">
                <a:tc>
                  <a:txBody>
                    <a:bodyPr lIns="171450" tIns="95250" rIns="152400" bIns="95250"/>
                    <a:lstStyle/>
                    <a:p>
                      <a:r>
                        <a:rPr sz="2475" b="0">
                          <a:solidFill>
                            <a:srgbClr val="183247"/>
                          </a:solidFill>
                          <a:latin typeface="Arial"/>
                          <a:ea typeface="Arial"/>
                          <a:cs typeface="Arial"/>
                        </a:rPr>
                        <a:t>Muziekmiddag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€ 70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90</a:t>
                      </a:r>
                    </a:p>
                  </a:txBody>
                  <a:tcPr marL="91440" marR="91440" marT="45720" marB="45720" anchor="ctr">
                    <a:solidFill>
                      <a:srgbClr val="FFFFFF"/>
                    </a:solidFill>
                  </a:tcPr>
                </a:tc>
              </a:tr>
              <a:tr h="933450">
                <a:tc>
                  <a:txBody>
                    <a:bodyPr lIns="171450" tIns="95250" rIns="152400" bIns="95250"/>
                    <a:lstStyle/>
                    <a:p>
                      <a:r>
                        <a:rPr sz="2475" b="0">
                          <a:solidFill>
                            <a:srgbClr val="183247"/>
                          </a:solidFill>
                          <a:latin typeface="Arial"/>
                          <a:ea typeface="Arial"/>
                          <a:cs typeface="Arial"/>
                        </a:rPr>
                        <a:t>Ruilmarkt</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€ 90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60</a:t>
                      </a:r>
                    </a:p>
                  </a:txBody>
                  <a:tcPr marL="91440" marR="91440" marT="45720" marB="45720" anchor="ctr">
                    <a:solidFill>
                      <a:srgbClr val="EFF4F7"/>
                    </a:solidFill>
                  </a:tcPr>
                </a:tc>
              </a:tr>
            </a:tbl>
          </a:graphicData>
        </a:graphic>
      </p:graphicFrame>
      <p:sp>
        <p:nvSpPr>
          <p:cNvPr id="7" name="Beide plannen gebruiken de aula de volledige drie ">
            <a:extLst xmlns:a="http://schemas.openxmlformats.org/drawingml/2006/main">
              <a:ext uri="{FF2B5EF4-FFF2-40B4-BE49-F238E27FC236}">
                <a16:creationId xmlns:a16="http://schemas.microsoft.com/office/drawing/2014/main" id="{7CBA11CC-E952-4087-A84F-E5CC1C9892E1}"/>
              </a:ext>
            </a:extLst>
          </p:cNvPr>
          <p:cNvSpPr>
            <a:spLocks xmlns:a="http://schemas.openxmlformats.org/drawingml/2006/main" noGrp="1"/>
          </p:cNvSpPr>
          <p:nvPr/>
        </p:nvSpPr>
        <p:spPr>
          <a:xfrm xmlns:a="http://schemas.openxmlformats.org/drawingml/2006/main">
            <a:off x="571500" y="72199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Beide plannen gebruiken de aula de volledige drie uur.</a:t>
            </a:r>
          </a:p>
        </p:txBody>
      </p:sp>
    </p:spTree>
    <p:extLst>
      <p:ext uri="{BB962C8B-B14F-4D97-AF65-F5344CB8AC3E}">
        <p14:creationId xmlns:p14="http://schemas.microsoft.com/office/powerpoint/2010/main" val="13477786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7 · Vragen a, b en c">
            <a:extLst xmlns:a="http://schemas.openxmlformats.org/drawingml/2006/main">
              <a:ext uri="{FF2B5EF4-FFF2-40B4-BE49-F238E27FC236}">
                <a16:creationId xmlns:a16="http://schemas.microsoft.com/office/drawing/2014/main" id="{27628EC6-8CE5-4171-BF34-A9F2B9C12C1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Vragen a, b en c</a:t>
            </a:r>
          </a:p>
        </p:txBody>
      </p:sp>
      <p:sp>
        <p:nvSpPr>
          <p:cNvPr id="2" name="">
            <a:extLst xmlns:a="http://schemas.openxmlformats.org/drawingml/2006/main">
              <a:ext uri="{FF2B5EF4-FFF2-40B4-BE49-F238E27FC236}">
                <a16:creationId xmlns:a16="http://schemas.microsoft.com/office/drawing/2014/main" id="{A5DA6333-8EC0-4D5E-98A9-1D861CAAE6F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 ">
            <a:extLst xmlns:a="http://schemas.openxmlformats.org/drawingml/2006/main">
              <a:ext uri="{FF2B5EF4-FFF2-40B4-BE49-F238E27FC236}">
                <a16:creationId xmlns:a16="http://schemas.microsoft.com/office/drawing/2014/main" id="{94898877-7FB1-46CC-ABF0-4A9EEED001F2}"/>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 · Opgave 7 · Boekpagina 11</a:t>
            </a:r>
          </a:p>
        </p:txBody>
      </p:sp>
      <p:sp>
        <p:nvSpPr>
          <p:cNvPr id="4" name="13">
            <a:extLst xmlns:a="http://schemas.openxmlformats.org/drawingml/2006/main">
              <a:ext uri="{FF2B5EF4-FFF2-40B4-BE49-F238E27FC236}">
                <a16:creationId xmlns:a16="http://schemas.microsoft.com/office/drawing/2014/main" id="{CC02D7CC-2558-45C2-98F7-E2541A5AEE4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a)">
            <a:extLst xmlns:a="http://schemas.openxmlformats.org/drawingml/2006/main">
              <a:ext uri="{FF2B5EF4-FFF2-40B4-BE49-F238E27FC236}">
                <a16:creationId xmlns:a16="http://schemas.microsoft.com/office/drawing/2014/main" id="{776F6A5D-D209-457E-914D-C740C96C4E9B}"/>
              </a:ext>
            </a:extLst>
          </p:cNvPr>
          <p:cNvSpPr>
            <a:spLocks xmlns:a="http://schemas.openxmlformats.org/drawingml/2006/main" noGrp="1"/>
          </p:cNvSpPr>
          <p:nvPr/>
        </p:nvSpPr>
        <p:spPr>
          <a:xfrm xmlns:a="http://schemas.openxmlformats.org/drawingml/2006/main">
            <a:off x="571500" y="1924050"/>
            <a:ext cx="714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a)</a:t>
            </a:r>
          </a:p>
        </p:txBody>
      </p:sp>
      <p:sp>
        <p:nvSpPr>
          <p:cNvPr id="6" name="Welk middel is schaars? Leg uit waarom de school m">
            <a:extLst xmlns:a="http://schemas.openxmlformats.org/drawingml/2006/main">
              <a:ext uri="{FF2B5EF4-FFF2-40B4-BE49-F238E27FC236}">
                <a16:creationId xmlns:a16="http://schemas.microsoft.com/office/drawing/2014/main" id="{830AC298-C934-48C9-A94D-3B502A6BBE83}"/>
              </a:ext>
            </a:extLst>
          </p:cNvPr>
          <p:cNvSpPr>
            <a:spLocks xmlns:a="http://schemas.openxmlformats.org/drawingml/2006/main" noGrp="1"/>
          </p:cNvSpPr>
          <p:nvPr/>
        </p:nvSpPr>
        <p:spPr>
          <a:xfrm xmlns:a="http://schemas.openxmlformats.org/drawingml/2006/main">
            <a:off x="1476375" y="1924050"/>
            <a:ext cx="13144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Welk middel is schaars? Leg uit waarom de school moet kiezen.</a:t>
            </a:r>
          </a:p>
        </p:txBody>
      </p:sp>
      <p:sp>
        <p:nvSpPr>
          <p:cNvPr id="7" name="">
            <a:extLst xmlns:a="http://schemas.openxmlformats.org/drawingml/2006/main">
              <a:ext uri="{FF2B5EF4-FFF2-40B4-BE49-F238E27FC236}">
                <a16:creationId xmlns:a16="http://schemas.microsoft.com/office/drawing/2014/main" id="{190802C0-49F1-428C-BBAA-3C99F96378D9}"/>
              </a:ext>
            </a:extLst>
          </p:cNvPr>
          <p:cNvSpPr>
            <a:spLocks xmlns:a="http://schemas.openxmlformats.org/drawingml/2006/main" noGrp="1"/>
          </p:cNvSpPr>
          <p:nvPr/>
        </p:nvSpPr>
        <p:spPr>
          <a:xfrm xmlns:a="http://schemas.openxmlformats.org/drawingml/2006/main">
            <a:off x="571500" y="3600450"/>
            <a:ext cx="14097000" cy="0"/>
          </a:xfrm>
          <a:prstGeom xmlns:a="http://schemas.openxmlformats.org/drawingml/2006/main" prst="line">
            <a:avLst/>
          </a:prstGeom>
          <a:ln xmlns:a="http://schemas.openxmlformats.org/drawingml/2006/main" w="19050">
            <a:solidFill>
              <a:srgbClr val="C6D2DB"/>
            </a:solidFill>
          </a:ln>
        </p:spPr>
      </p:sp>
      <p:sp>
        <p:nvSpPr>
          <p:cNvPr id="8" name="b)">
            <a:extLst xmlns:a="http://schemas.openxmlformats.org/drawingml/2006/main">
              <a:ext uri="{FF2B5EF4-FFF2-40B4-BE49-F238E27FC236}">
                <a16:creationId xmlns:a16="http://schemas.microsoft.com/office/drawing/2014/main" id="{23B29DA9-D98F-4E8D-B754-7702105BEF15}"/>
              </a:ext>
            </a:extLst>
          </p:cNvPr>
          <p:cNvSpPr>
            <a:spLocks xmlns:a="http://schemas.openxmlformats.org/drawingml/2006/main" noGrp="1"/>
          </p:cNvSpPr>
          <p:nvPr/>
        </p:nvSpPr>
        <p:spPr>
          <a:xfrm xmlns:a="http://schemas.openxmlformats.org/drawingml/2006/main">
            <a:off x="571500" y="3933825"/>
            <a:ext cx="714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b)</a:t>
            </a:r>
          </a:p>
        </p:txBody>
      </p:sp>
      <p:sp>
        <p:nvSpPr>
          <p:cNvPr id="9" name="Bereken voor beide plannen hoeveel geld overblijft">
            <a:extLst xmlns:a="http://schemas.openxmlformats.org/drawingml/2006/main">
              <a:ext uri="{FF2B5EF4-FFF2-40B4-BE49-F238E27FC236}">
                <a16:creationId xmlns:a16="http://schemas.microsoft.com/office/drawing/2014/main" id="{653829B5-6630-4165-90A9-61A27FD4AC98}"/>
              </a:ext>
            </a:extLst>
          </p:cNvPr>
          <p:cNvSpPr>
            <a:spLocks xmlns:a="http://schemas.openxmlformats.org/drawingml/2006/main" noGrp="1"/>
          </p:cNvSpPr>
          <p:nvPr/>
        </p:nvSpPr>
        <p:spPr>
          <a:xfrm xmlns:a="http://schemas.openxmlformats.org/drawingml/2006/main">
            <a:off x="1476375" y="3933825"/>
            <a:ext cx="13144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Bereken voor beide plannen hoeveel geld overblijft. Welk plan past bij het genoemde doel?</a:t>
            </a:r>
          </a:p>
        </p:txBody>
      </p:sp>
      <p:sp>
        <p:nvSpPr>
          <p:cNvPr id="10" name="">
            <a:extLst xmlns:a="http://schemas.openxmlformats.org/drawingml/2006/main">
              <a:ext uri="{FF2B5EF4-FFF2-40B4-BE49-F238E27FC236}">
                <a16:creationId xmlns:a16="http://schemas.microsoft.com/office/drawing/2014/main" id="{81523C41-06FD-42B9-A1E7-5705A7F6F859}"/>
              </a:ext>
            </a:extLst>
          </p:cNvPr>
          <p:cNvSpPr>
            <a:spLocks xmlns:a="http://schemas.openxmlformats.org/drawingml/2006/main" noGrp="1"/>
          </p:cNvSpPr>
          <p:nvPr/>
        </p:nvSpPr>
        <p:spPr>
          <a:xfrm xmlns:a="http://schemas.openxmlformats.org/drawingml/2006/main">
            <a:off x="571500" y="5610225"/>
            <a:ext cx="14097000" cy="0"/>
          </a:xfrm>
          <a:prstGeom xmlns:a="http://schemas.openxmlformats.org/drawingml/2006/main" prst="line">
            <a:avLst/>
          </a:prstGeom>
          <a:ln xmlns:a="http://schemas.openxmlformats.org/drawingml/2006/main" w="19050">
            <a:solidFill>
              <a:srgbClr val="C6D2DB"/>
            </a:solidFill>
          </a:ln>
        </p:spPr>
      </p:sp>
      <p:sp>
        <p:nvSpPr>
          <p:cNvPr id="11" name="c)">
            <a:extLst xmlns:a="http://schemas.openxmlformats.org/drawingml/2006/main">
              <a:ext uri="{FF2B5EF4-FFF2-40B4-BE49-F238E27FC236}">
                <a16:creationId xmlns:a16="http://schemas.microsoft.com/office/drawing/2014/main" id="{9CA906A4-C655-41F5-83D2-9FD9AE905339}"/>
              </a:ext>
            </a:extLst>
          </p:cNvPr>
          <p:cNvSpPr>
            <a:spLocks xmlns:a="http://schemas.openxmlformats.org/drawingml/2006/main" noGrp="1"/>
          </p:cNvSpPr>
          <p:nvPr/>
        </p:nvSpPr>
        <p:spPr>
          <a:xfrm xmlns:a="http://schemas.openxmlformats.org/drawingml/2006/main">
            <a:off x="571500" y="5943600"/>
            <a:ext cx="714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c)</a:t>
            </a:r>
          </a:p>
        </p:txBody>
      </p:sp>
      <p:sp>
        <p:nvSpPr>
          <p:cNvPr id="12" name="Wat zijn de alternatieve kosten van de keuze uit b">
            <a:extLst xmlns:a="http://schemas.openxmlformats.org/drawingml/2006/main">
              <a:ext uri="{FF2B5EF4-FFF2-40B4-BE49-F238E27FC236}">
                <a16:creationId xmlns:a16="http://schemas.microsoft.com/office/drawing/2014/main" id="{E0BA5125-A34F-4B94-B2E8-5A4AA5BE1EF3}"/>
              </a:ext>
            </a:extLst>
          </p:cNvPr>
          <p:cNvSpPr>
            <a:spLocks xmlns:a="http://schemas.openxmlformats.org/drawingml/2006/main" noGrp="1"/>
          </p:cNvSpPr>
          <p:nvPr/>
        </p:nvSpPr>
        <p:spPr>
          <a:xfrm xmlns:a="http://schemas.openxmlformats.org/drawingml/2006/main">
            <a:off x="1476375" y="5943600"/>
            <a:ext cx="13144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Wat zijn de alternatieve kosten van de keuze uit b? Benoem de gemiste activiteit en het bedrag.</a:t>
            </a:r>
          </a:p>
        </p:txBody>
      </p:sp>
    </p:spTree>
    <p:extLst>
      <p:ext uri="{BB962C8B-B14F-4D97-AF65-F5344CB8AC3E}">
        <p14:creationId xmlns:p14="http://schemas.microsoft.com/office/powerpoint/2010/main" val="191241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 · Vragen d en e">
            <a:extLst xmlns:a="http://schemas.openxmlformats.org/drawingml/2006/main">
              <a:ext uri="{FF2B5EF4-FFF2-40B4-BE49-F238E27FC236}">
                <a16:creationId xmlns:a16="http://schemas.microsoft.com/office/drawing/2014/main" id="{EE2C3EED-F824-4E5C-B8A7-3536526C39C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Vragen d en e</a:t>
            </a:r>
          </a:p>
        </p:txBody>
      </p:sp>
      <p:sp>
        <p:nvSpPr>
          <p:cNvPr id="2" name="">
            <a:extLst xmlns:a="http://schemas.openxmlformats.org/drawingml/2006/main">
              <a:ext uri="{FF2B5EF4-FFF2-40B4-BE49-F238E27FC236}">
                <a16:creationId xmlns:a16="http://schemas.microsoft.com/office/drawing/2014/main" id="{0488C1EE-7B1D-4EF2-9366-82B4ECC40A5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 ">
            <a:extLst xmlns:a="http://schemas.openxmlformats.org/drawingml/2006/main">
              <a:ext uri="{FF2B5EF4-FFF2-40B4-BE49-F238E27FC236}">
                <a16:creationId xmlns:a16="http://schemas.microsoft.com/office/drawing/2014/main" id="{55F00EB9-94ED-45BF-A3F4-9D39BF7A78F3}"/>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 · Opgave 7 · Boekpagina 11</a:t>
            </a:r>
          </a:p>
        </p:txBody>
      </p:sp>
      <p:sp>
        <p:nvSpPr>
          <p:cNvPr id="4" name="14">
            <a:extLst xmlns:a="http://schemas.openxmlformats.org/drawingml/2006/main">
              <a:ext uri="{FF2B5EF4-FFF2-40B4-BE49-F238E27FC236}">
                <a16:creationId xmlns:a16="http://schemas.microsoft.com/office/drawing/2014/main" id="{53F41A31-2869-40CA-A126-AEDEF77BADF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d)">
            <a:extLst xmlns:a="http://schemas.openxmlformats.org/drawingml/2006/main">
              <a:ext uri="{FF2B5EF4-FFF2-40B4-BE49-F238E27FC236}">
                <a16:creationId xmlns:a16="http://schemas.microsoft.com/office/drawing/2014/main" id="{387FE27B-F194-4F93-BFFF-592DC92FAEAB}"/>
              </a:ext>
            </a:extLst>
          </p:cNvPr>
          <p:cNvSpPr>
            <a:spLocks xmlns:a="http://schemas.openxmlformats.org/drawingml/2006/main" noGrp="1"/>
          </p:cNvSpPr>
          <p:nvPr/>
        </p:nvSpPr>
        <p:spPr>
          <a:xfrm xmlns:a="http://schemas.openxmlformats.org/drawingml/2006/main">
            <a:off x="571500" y="2019300"/>
            <a:ext cx="714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d)</a:t>
            </a:r>
          </a:p>
        </p:txBody>
      </p:sp>
      <p:sp>
        <p:nvSpPr>
          <p:cNvPr id="6" name="Een leerling zegt: “De aula is gratis, dus deze ke">
            <a:extLst xmlns:a="http://schemas.openxmlformats.org/drawingml/2006/main">
              <a:ext uri="{FF2B5EF4-FFF2-40B4-BE49-F238E27FC236}">
                <a16:creationId xmlns:a16="http://schemas.microsoft.com/office/drawing/2014/main" id="{841C645A-D8C6-4EC9-BC1F-29A19574522A}"/>
              </a:ext>
            </a:extLst>
          </p:cNvPr>
          <p:cNvSpPr>
            <a:spLocks xmlns:a="http://schemas.openxmlformats.org/drawingml/2006/main" noGrp="1"/>
          </p:cNvSpPr>
          <p:nvPr/>
        </p:nvSpPr>
        <p:spPr>
          <a:xfrm xmlns:a="http://schemas.openxmlformats.org/drawingml/2006/main">
            <a:off x="1476375" y="2019300"/>
            <a:ext cx="13144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Een leerling zegt: “De aula is gratis, dus deze keuze heeft geen alternatieve kosten.” Leg uit waarom dit niet klopt.</a:t>
            </a:r>
          </a:p>
        </p:txBody>
      </p:sp>
      <p:sp>
        <p:nvSpPr>
          <p:cNvPr id="7" name="">
            <a:extLst xmlns:a="http://schemas.openxmlformats.org/drawingml/2006/main">
              <a:ext uri="{FF2B5EF4-FFF2-40B4-BE49-F238E27FC236}">
                <a16:creationId xmlns:a16="http://schemas.microsoft.com/office/drawing/2014/main" id="{76D0531F-AEFC-454A-9B58-2BB301C242AE}"/>
              </a:ext>
            </a:extLst>
          </p:cNvPr>
          <p:cNvSpPr>
            <a:spLocks xmlns:a="http://schemas.openxmlformats.org/drawingml/2006/main" noGrp="1"/>
          </p:cNvSpPr>
          <p:nvPr/>
        </p:nvSpPr>
        <p:spPr>
          <a:xfrm xmlns:a="http://schemas.openxmlformats.org/drawingml/2006/main">
            <a:off x="571500" y="4476750"/>
            <a:ext cx="14097000" cy="0"/>
          </a:xfrm>
          <a:prstGeom xmlns:a="http://schemas.openxmlformats.org/drawingml/2006/main" prst="line">
            <a:avLst/>
          </a:prstGeom>
          <a:ln xmlns:a="http://schemas.openxmlformats.org/drawingml/2006/main" w="19050">
            <a:solidFill>
              <a:srgbClr val="C6D2DB"/>
            </a:solidFill>
          </a:ln>
        </p:spPr>
      </p:sp>
      <p:sp>
        <p:nvSpPr>
          <p:cNvPr id="8" name="e)">
            <a:extLst xmlns:a="http://schemas.openxmlformats.org/drawingml/2006/main">
              <a:ext uri="{FF2B5EF4-FFF2-40B4-BE49-F238E27FC236}">
                <a16:creationId xmlns:a16="http://schemas.microsoft.com/office/drawing/2014/main" id="{FDA44300-D993-4DD6-ADDB-739E9E14AB20}"/>
              </a:ext>
            </a:extLst>
          </p:cNvPr>
          <p:cNvSpPr>
            <a:spLocks xmlns:a="http://schemas.openxmlformats.org/drawingml/2006/main" noGrp="1"/>
          </p:cNvSpPr>
          <p:nvPr/>
        </p:nvSpPr>
        <p:spPr>
          <a:xfrm xmlns:a="http://schemas.openxmlformats.org/drawingml/2006/main">
            <a:off x="571500" y="5029200"/>
            <a:ext cx="714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e)</a:t>
            </a:r>
          </a:p>
        </p:txBody>
      </p:sp>
      <p:sp>
        <p:nvSpPr>
          <p:cNvPr id="9" name="Het doel verandert in “zoveel mogelijk leerlingen ">
            <a:extLst xmlns:a="http://schemas.openxmlformats.org/drawingml/2006/main">
              <a:ext uri="{FF2B5EF4-FFF2-40B4-BE49-F238E27FC236}">
                <a16:creationId xmlns:a16="http://schemas.microsoft.com/office/drawing/2014/main" id="{8A3412B7-F3D0-4BF2-BC57-02AE92172E81}"/>
              </a:ext>
            </a:extLst>
          </p:cNvPr>
          <p:cNvSpPr>
            <a:spLocks xmlns:a="http://schemas.openxmlformats.org/drawingml/2006/main" noGrp="1"/>
          </p:cNvSpPr>
          <p:nvPr/>
        </p:nvSpPr>
        <p:spPr>
          <a:xfrm xmlns:a="http://schemas.openxmlformats.org/drawingml/2006/main">
            <a:off x="1476375" y="5029200"/>
            <a:ext cx="13144500"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Het doel verandert in “zoveel mogelijk leerlingen laten deelnemen”. Welk plan kies je dan? Gebruik een gegeven uit de tabel.</a:t>
            </a:r>
          </a:p>
        </p:txBody>
      </p:sp>
    </p:spTree>
    <p:extLst>
      <p:ext uri="{BB962C8B-B14F-4D97-AF65-F5344CB8AC3E}">
        <p14:creationId xmlns:p14="http://schemas.microsoft.com/office/powerpoint/2010/main" val="13220227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a · De schaarse aula">
            <a:extLst xmlns:a="http://schemas.openxmlformats.org/drawingml/2006/main">
              <a:ext uri="{FF2B5EF4-FFF2-40B4-BE49-F238E27FC236}">
                <a16:creationId xmlns:a16="http://schemas.microsoft.com/office/drawing/2014/main" id="{676EE7B5-7D66-41FA-A4D3-118D70C97CD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7a · De schaarse aula</a:t>
            </a:r>
          </a:p>
        </p:txBody>
      </p:sp>
      <p:sp>
        <p:nvSpPr>
          <p:cNvPr id="2" name="">
            <a:extLst xmlns:a="http://schemas.openxmlformats.org/drawingml/2006/main">
              <a:ext uri="{FF2B5EF4-FFF2-40B4-BE49-F238E27FC236}">
                <a16:creationId xmlns:a16="http://schemas.microsoft.com/office/drawing/2014/main" id="{E86101F6-4FC2-41C2-BE4F-24DCDFF2957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 ">
            <a:extLst xmlns:a="http://schemas.openxmlformats.org/drawingml/2006/main">
              <a:ext uri="{FF2B5EF4-FFF2-40B4-BE49-F238E27FC236}">
                <a16:creationId xmlns:a16="http://schemas.microsoft.com/office/drawing/2014/main" id="{DAA87E94-3170-4D36-91C6-808D05157BDE}"/>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 · Opgave 7 · Boekpagina 11</a:t>
            </a:r>
          </a:p>
        </p:txBody>
      </p:sp>
      <p:sp>
        <p:nvSpPr>
          <p:cNvPr id="4" name="15">
            <a:extLst xmlns:a="http://schemas.openxmlformats.org/drawingml/2006/main">
              <a:ext uri="{FF2B5EF4-FFF2-40B4-BE49-F238E27FC236}">
                <a16:creationId xmlns:a16="http://schemas.microsoft.com/office/drawing/2014/main" id="{0734B279-80CA-4157-95BC-F26C2AA03EE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graphicFrame>
        <p:nvGraphicFramePr>
          <p:cNvPr id="12" name=""/>
          <p:cNvGraphicFramePr/>
          <p:nvPr/>
        </p:nvGraphicFramePr>
        <p:xfrm>
          <a:off xmlns:a="http://schemas.openxmlformats.org/drawingml/2006/main" x="571500" y="2314575"/>
          <a:ext xmlns:a="http://schemas.openxmlformats.org/drawingml/2006/main" cx="14097000" cy="2924175"/>
        </p:xfrm>
        <a:graphic xmlns:a="http://schemas.openxmlformats.org/drawingml/2006/main">
          <a:graphicData uri="http://schemas.openxmlformats.org/drawingml/2006/table">
            <a:tbl>
              <a:tblPr/>
              <a:tblGrid>
                <a:gridCol w="6096000"/>
                <a:gridCol w="8001000"/>
              </a:tblGrid>
              <a:tr h="1462088">
                <a:tc>
                  <a:txBody>
                    <a:bodyPr lIns="171450" tIns="95250" rIns="152400" bIns="95250"/>
                    <a:lstStyle/>
                    <a:p>
                      <a:r>
                        <a:rPr sz="2925" b="1">
                          <a:solidFill>
                            <a:srgbClr val="FFFFFF"/>
                          </a:solidFill>
                          <a:latin typeface="Arial"/>
                          <a:ea typeface="Arial"/>
                          <a:cs typeface="Arial"/>
                        </a:rPr>
                        <a:t>Beperkt middel</a:t>
                      </a:r>
                    </a:p>
                  </a:txBody>
                  <a:tcPr marL="91440" marR="91440" marT="45720" marB="45720" anchor="ctr">
                    <a:solidFill>
                      <a:srgbClr val="183247"/>
                    </a:solidFill>
                  </a:tcPr>
                </a:tc>
                <a:tc>
                  <a:txBody>
                    <a:bodyPr lIns="171450" tIns="95250" rIns="152400" bIns="95250"/>
                    <a:lstStyle/>
                    <a:p>
                      <a:r>
                        <a:rPr sz="2925" b="1">
                          <a:solidFill>
                            <a:srgbClr val="FFFFFF"/>
                          </a:solidFill>
                          <a:latin typeface="Arial"/>
                          <a:ea typeface="Arial"/>
                          <a:cs typeface="Arial"/>
                        </a:rPr>
                        <a:t>Waarom is kiezen nodig?</a:t>
                      </a:r>
                    </a:p>
                  </a:txBody>
                  <a:tcPr marL="91440" marR="91440" marT="45720" marB="45720" anchor="ctr">
                    <a:solidFill>
                      <a:srgbClr val="183247"/>
                    </a:solidFill>
                  </a:tcPr>
                </a:tc>
              </a:tr>
              <a:tr h="1462088">
                <a:tc>
                  <a:txBody>
                    <a:bodyPr lIns="171450" tIns="95250" rIns="152400" bIns="95250"/>
                    <a:lstStyle/>
                    <a:p>
                      <a:r>
                        <a:rPr sz="2925" b="0">
                          <a:solidFill>
                            <a:srgbClr val="183247"/>
                          </a:solidFill>
                          <a:latin typeface="Arial"/>
                          <a:ea typeface="Arial"/>
                          <a:cs typeface="Arial"/>
                        </a:rPr>
                        <a:t>De aula op vrijdag,</a:t>
                      </a:r>
                    </a:p>
                    <a:p>
                      <a:r>
                        <a:rPr sz="2925" b="0">
                          <a:solidFill>
                            <a:srgbClr val="183247"/>
                          </a:solidFill>
                          <a:latin typeface="Arial"/>
                          <a:ea typeface="Arial"/>
                          <a:cs typeface="Arial"/>
                        </a:rPr>
                        <a:t>gedurende drie uur</a:t>
                      </a:r>
                    </a:p>
                  </a:txBody>
                  <a:tcPr marL="91440" marR="91440" marT="45720" marB="45720" anchor="ctr">
                    <a:solidFill>
                      <a:srgbClr val="FFFFFF"/>
                    </a:solidFill>
                  </a:tcPr>
                </a:tc>
                <a:tc>
                  <a:txBody>
                    <a:bodyPr lIns="171450" tIns="95250" rIns="152400" bIns="95250"/>
                    <a:lstStyle/>
                    <a:p>
                      <a:r>
                        <a:rPr sz="2925" b="0">
                          <a:solidFill>
                            <a:srgbClr val="183247"/>
                          </a:solidFill>
                          <a:latin typeface="Arial"/>
                          <a:ea typeface="Arial"/>
                          <a:cs typeface="Arial"/>
                        </a:rPr>
                        <a:t>Elk plan vraagt het hele tijdvak.</a:t>
                      </a:r>
                    </a:p>
                    <a:p>
                      <a:r>
                        <a:rPr sz="2925" b="0">
                          <a:solidFill>
                            <a:srgbClr val="183247"/>
                          </a:solidFill>
                          <a:latin typeface="Arial"/>
                          <a:ea typeface="Arial"/>
                          <a:cs typeface="Arial"/>
                        </a:rPr>
                        <a:t>Beide tegelijk kan niet.</a:t>
                      </a:r>
                    </a:p>
                  </a:txBody>
                  <a:tcPr marL="91440" marR="91440" marT="45720" marB="45720" anchor="ctr">
                    <a:solidFill>
                      <a:srgbClr val="FFFFFF"/>
                    </a:solidFill>
                  </a:tcPr>
                </a:tc>
              </a:tr>
            </a:tbl>
          </a:graphicData>
        </a:graphic>
      </p:graphicFrame>
      <p:sp>
        <p:nvSpPr>
          <p:cNvPr id="6" name="Elk plan is afzonderlijk haalbaar.">
            <a:extLst xmlns:a="http://schemas.openxmlformats.org/drawingml/2006/main">
              <a:ext uri="{FF2B5EF4-FFF2-40B4-BE49-F238E27FC236}">
                <a16:creationId xmlns:a16="http://schemas.microsoft.com/office/drawing/2014/main" id="{0AE199C4-ACBE-4014-820F-2C6F287228CF}"/>
              </a:ext>
            </a:extLst>
          </p:cNvPr>
          <p:cNvSpPr>
            <a:spLocks xmlns:a="http://schemas.openxmlformats.org/drawingml/2006/main" noGrp="1"/>
          </p:cNvSpPr>
          <p:nvPr/>
        </p:nvSpPr>
        <p:spPr>
          <a:xfrm xmlns:a="http://schemas.openxmlformats.org/drawingml/2006/main">
            <a:off x="571500" y="592455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Elk plan is afzonderlijk haalbaar.</a:t>
            </a:r>
          </a:p>
        </p:txBody>
      </p:sp>
      <p:sp>
        <p:nvSpPr>
          <p:cNvPr id="7" name="De ruimte kan niet aan beide wensen tegelijk voldo">
            <a:extLst xmlns:a="http://schemas.openxmlformats.org/drawingml/2006/main">
              <a:ext uri="{FF2B5EF4-FFF2-40B4-BE49-F238E27FC236}">
                <a16:creationId xmlns:a16="http://schemas.microsoft.com/office/drawing/2014/main" id="{89AEBB77-BB29-43A6-9223-655914527562}"/>
              </a:ext>
            </a:extLst>
          </p:cNvPr>
          <p:cNvSpPr>
            <a:spLocks xmlns:a="http://schemas.openxmlformats.org/drawingml/2006/main" noGrp="1"/>
          </p:cNvSpPr>
          <p:nvPr/>
        </p:nvSpPr>
        <p:spPr>
          <a:xfrm xmlns:a="http://schemas.openxmlformats.org/drawingml/2006/main">
            <a:off x="571500" y="708660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De ruimte kan niet aan beide wensen tegelijk voldoen.</a:t>
            </a:r>
          </a:p>
        </p:txBody>
      </p:sp>
    </p:spTree>
    <p:extLst>
      <p:ext uri="{BB962C8B-B14F-4D97-AF65-F5344CB8AC3E}">
        <p14:creationId xmlns:p14="http://schemas.microsoft.com/office/powerpoint/2010/main" val="1430048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b · Beide totalen en de keuze">
            <a:extLst xmlns:a="http://schemas.openxmlformats.org/drawingml/2006/main">
              <a:ext uri="{FF2B5EF4-FFF2-40B4-BE49-F238E27FC236}">
                <a16:creationId xmlns:a16="http://schemas.microsoft.com/office/drawing/2014/main" id="{7222C570-094B-440F-8965-D0FCA76368E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7b · Beide totalen en de keuze</a:t>
            </a:r>
          </a:p>
        </p:txBody>
      </p:sp>
      <p:sp>
        <p:nvSpPr>
          <p:cNvPr id="2" name="">
            <a:extLst xmlns:a="http://schemas.openxmlformats.org/drawingml/2006/main">
              <a:ext uri="{FF2B5EF4-FFF2-40B4-BE49-F238E27FC236}">
                <a16:creationId xmlns:a16="http://schemas.microsoft.com/office/drawing/2014/main" id="{0A8ACD37-A841-4F48-9F4D-EC08D787F71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 ">
            <a:extLst xmlns:a="http://schemas.openxmlformats.org/drawingml/2006/main">
              <a:ext uri="{FF2B5EF4-FFF2-40B4-BE49-F238E27FC236}">
                <a16:creationId xmlns:a16="http://schemas.microsoft.com/office/drawing/2014/main" id="{47A30F8F-3CA2-4A03-8FFC-AB885700236E}"/>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 · Opgave 7 · Boekpagina 11</a:t>
            </a:r>
          </a:p>
        </p:txBody>
      </p:sp>
      <p:sp>
        <p:nvSpPr>
          <p:cNvPr id="4" name="16">
            <a:extLst xmlns:a="http://schemas.openxmlformats.org/drawingml/2006/main">
              <a:ext uri="{FF2B5EF4-FFF2-40B4-BE49-F238E27FC236}">
                <a16:creationId xmlns:a16="http://schemas.microsoft.com/office/drawing/2014/main" id="{664D63A1-C052-422E-8147-F157BE0E00B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Totaal = aantal uren × bedrag over per uur">
            <a:extLst xmlns:a="http://schemas.openxmlformats.org/drawingml/2006/main">
              <a:ext uri="{FF2B5EF4-FFF2-40B4-BE49-F238E27FC236}">
                <a16:creationId xmlns:a16="http://schemas.microsoft.com/office/drawing/2014/main" id="{48E6E452-9E1B-4A6B-87ED-926D40FD9C17}"/>
              </a:ext>
            </a:extLst>
          </p:cNvPr>
          <p:cNvSpPr>
            <a:spLocks xmlns:a="http://schemas.openxmlformats.org/drawingml/2006/main" noGrp="1"/>
          </p:cNvSpPr>
          <p:nvPr/>
        </p:nvSpPr>
        <p:spPr>
          <a:xfrm xmlns:a="http://schemas.openxmlformats.org/drawingml/2006/main">
            <a:off x="571500" y="1895475"/>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Totaal = aantal uren × bedrag over per uur</a:t>
            </a:r>
          </a:p>
        </p:txBody>
      </p:sp>
      <p:graphicFrame>
        <p:nvGraphicFramePr>
          <p:cNvPr id="13" name=""/>
          <p:cNvGraphicFramePr/>
          <p:nvPr/>
        </p:nvGraphicFramePr>
        <p:xfrm>
          <a:off xmlns:a="http://schemas.openxmlformats.org/drawingml/2006/main" x="571500" y="3390900"/>
          <a:ext xmlns:a="http://schemas.openxmlformats.org/drawingml/2006/main" cx="14097000" cy="2819400"/>
        </p:xfrm>
        <a:graphic xmlns:a="http://schemas.openxmlformats.org/drawingml/2006/main">
          <a:graphicData uri="http://schemas.openxmlformats.org/drawingml/2006/table">
            <a:tbl>
              <a:tblPr/>
              <a:tblGrid>
                <a:gridCol w="4143375"/>
                <a:gridCol w="5429250"/>
                <a:gridCol w="4524375"/>
              </a:tblGrid>
              <a:tr h="939800">
                <a:tc>
                  <a:txBody>
                    <a:bodyPr lIns="171450" tIns="95250" rIns="152400" bIns="95250"/>
                    <a:lstStyle/>
                    <a:p>
                      <a:r>
                        <a:rPr sz="2475" b="1">
                          <a:solidFill>
                            <a:srgbClr val="FFFFFF"/>
                          </a:solidFill>
                          <a:latin typeface="Arial"/>
                          <a:ea typeface="Arial"/>
                          <a:cs typeface="Arial"/>
                        </a:rPr>
                        <a:t>Plan</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Over voor het goede doel</a:t>
                      </a:r>
                    </a:p>
                  </a:txBody>
                  <a:tcPr marL="91440" marR="91440" marT="45720" marB="45720" anchor="ctr">
                    <a:solidFill>
                      <a:srgbClr val="183247"/>
                    </a:solidFill>
                  </a:tcPr>
                </a:tc>
              </a:tr>
              <a:tr h="939800">
                <a:tc>
                  <a:txBody>
                    <a:bodyPr lIns="171450" tIns="95250" rIns="152400" bIns="95250"/>
                    <a:lstStyle/>
                    <a:p>
                      <a:r>
                        <a:rPr sz="2475" b="0">
                          <a:solidFill>
                            <a:srgbClr val="183247"/>
                          </a:solidFill>
                          <a:latin typeface="Arial"/>
                          <a:ea typeface="Arial"/>
                          <a:cs typeface="Arial"/>
                        </a:rPr>
                        <a:t>Muziekmiddag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3 uur × € 70 per uur</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€ 210</a:t>
                      </a:r>
                    </a:p>
                  </a:txBody>
                  <a:tcPr marL="91440" marR="91440" marT="45720" marB="45720" anchor="ctr">
                    <a:solidFill>
                      <a:srgbClr val="FFFFFF"/>
                    </a:solidFill>
                  </a:tcPr>
                </a:tc>
              </a:tr>
              <a:tr h="939800">
                <a:tc>
                  <a:txBody>
                    <a:bodyPr lIns="171450" tIns="95250" rIns="152400" bIns="95250"/>
                    <a:lstStyle/>
                    <a:p>
                      <a:r>
                        <a:rPr sz="2475" b="0">
                          <a:solidFill>
                            <a:srgbClr val="183247"/>
                          </a:solidFill>
                          <a:latin typeface="Arial"/>
                          <a:ea typeface="Arial"/>
                          <a:cs typeface="Arial"/>
                        </a:rPr>
                        <a:t>Ruilmarkt</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3 uur × € 90 per uur</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€ 270</a:t>
                      </a:r>
                    </a:p>
                  </a:txBody>
                  <a:tcPr marL="91440" marR="91440" marT="45720" marB="45720" anchor="ctr">
                    <a:solidFill>
                      <a:srgbClr val="EFF4F7"/>
                    </a:solidFill>
                  </a:tcPr>
                </a:tc>
              </a:tr>
            </a:tbl>
          </a:graphicData>
        </a:graphic>
      </p:graphicFrame>
      <p:sp>
        <p:nvSpPr>
          <p:cNvPr id="7" name="Kies de ruilmarkt: € 270 &gt; € 210 voor dezelfde dri">
            <a:extLst xmlns:a="http://schemas.openxmlformats.org/drawingml/2006/main">
              <a:ext uri="{FF2B5EF4-FFF2-40B4-BE49-F238E27FC236}">
                <a16:creationId xmlns:a16="http://schemas.microsoft.com/office/drawing/2014/main" id="{3B80E1D1-DE5D-45DB-8D02-E201BF62A77E}"/>
              </a:ext>
            </a:extLst>
          </p:cNvPr>
          <p:cNvSpPr>
            <a:spLocks xmlns:a="http://schemas.openxmlformats.org/drawingml/2006/main" noGrp="1"/>
          </p:cNvSpPr>
          <p:nvPr/>
        </p:nvSpPr>
        <p:spPr>
          <a:xfrm xmlns:a="http://schemas.openxmlformats.org/drawingml/2006/main">
            <a:off x="571500" y="688657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Kies de ruilmarkt: € 270 &gt; € 210 voor dezelfde drie uur.</a:t>
            </a:r>
          </a:p>
        </p:txBody>
      </p:sp>
    </p:spTree>
    <p:extLst>
      <p:ext uri="{BB962C8B-B14F-4D97-AF65-F5344CB8AC3E}">
        <p14:creationId xmlns:p14="http://schemas.microsoft.com/office/powerpoint/2010/main" val="10718835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7c · Wat geeft de school op?">
            <a:extLst xmlns:a="http://schemas.openxmlformats.org/drawingml/2006/main">
              <a:ext uri="{FF2B5EF4-FFF2-40B4-BE49-F238E27FC236}">
                <a16:creationId xmlns:a16="http://schemas.microsoft.com/office/drawing/2014/main" id="{5438BA66-4A49-467F-8B6A-7FBE40E8EE7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7c · Wat geeft de school op?</a:t>
            </a:r>
          </a:p>
        </p:txBody>
      </p:sp>
      <p:sp>
        <p:nvSpPr>
          <p:cNvPr id="2" name="">
            <a:extLst xmlns:a="http://schemas.openxmlformats.org/drawingml/2006/main">
              <a:ext uri="{FF2B5EF4-FFF2-40B4-BE49-F238E27FC236}">
                <a16:creationId xmlns:a16="http://schemas.microsoft.com/office/drawing/2014/main" id="{AEFEB3DD-A7DF-4F8F-8156-D5257263AE7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 ">
            <a:extLst xmlns:a="http://schemas.openxmlformats.org/drawingml/2006/main">
              <a:ext uri="{FF2B5EF4-FFF2-40B4-BE49-F238E27FC236}">
                <a16:creationId xmlns:a16="http://schemas.microsoft.com/office/drawing/2014/main" id="{588F2A89-A4D6-4C7E-845D-66E6CC9F1332}"/>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 · Opgave 7 · Boekpagina 11</a:t>
            </a:r>
          </a:p>
        </p:txBody>
      </p:sp>
      <p:sp>
        <p:nvSpPr>
          <p:cNvPr id="4" name="17">
            <a:extLst xmlns:a="http://schemas.openxmlformats.org/drawingml/2006/main">
              <a:ext uri="{FF2B5EF4-FFF2-40B4-BE49-F238E27FC236}">
                <a16:creationId xmlns:a16="http://schemas.microsoft.com/office/drawing/2014/main" id="{86EF2A16-8806-43D6-9D94-DF39B12EAF8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Door de ruilmarkt vervalt de muziekmiddag.">
            <a:extLst xmlns:a="http://schemas.openxmlformats.org/drawingml/2006/main">
              <a:ext uri="{FF2B5EF4-FFF2-40B4-BE49-F238E27FC236}">
                <a16:creationId xmlns:a16="http://schemas.microsoft.com/office/drawing/2014/main" id="{C9BE689A-2977-4F70-AEBC-383A0C03BB11}"/>
              </a:ext>
            </a:extLst>
          </p:cNvPr>
          <p:cNvSpPr>
            <a:spLocks xmlns:a="http://schemas.openxmlformats.org/drawingml/2006/main" noGrp="1"/>
          </p:cNvSpPr>
          <p:nvPr/>
        </p:nvSpPr>
        <p:spPr>
          <a:xfrm xmlns:a="http://schemas.openxmlformats.org/drawingml/2006/main">
            <a:off x="571500" y="1943100"/>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Door de ruilmarkt vervalt de muziekmiddag.</a:t>
            </a:r>
          </a:p>
        </p:txBody>
      </p:sp>
      <p:sp>
        <p:nvSpPr>
          <p:cNvPr id="6" name="Alternatieve kosten">
            <a:extLst xmlns:a="http://schemas.openxmlformats.org/drawingml/2006/main">
              <a:ext uri="{FF2B5EF4-FFF2-40B4-BE49-F238E27FC236}">
                <a16:creationId xmlns:a16="http://schemas.microsoft.com/office/drawing/2014/main" id="{879ACF83-72B9-414D-B363-F096E2838B7D}"/>
              </a:ext>
            </a:extLst>
          </p:cNvPr>
          <p:cNvSpPr>
            <a:spLocks xmlns:a="http://schemas.openxmlformats.org/drawingml/2006/main" noGrp="1"/>
          </p:cNvSpPr>
          <p:nvPr/>
        </p:nvSpPr>
        <p:spPr>
          <a:xfrm xmlns:a="http://schemas.openxmlformats.org/drawingml/2006/main">
            <a:off x="571500" y="3448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Alternatieve kosten</a:t>
            </a:r>
          </a:p>
        </p:txBody>
      </p:sp>
      <p:sp>
        <p:nvSpPr>
          <p:cNvPr id="7" name="€ 210 uit de gemiste muziekmiddag">
            <a:extLst xmlns:a="http://schemas.openxmlformats.org/drawingml/2006/main">
              <a:ext uri="{FF2B5EF4-FFF2-40B4-BE49-F238E27FC236}">
                <a16:creationId xmlns:a16="http://schemas.microsoft.com/office/drawing/2014/main" id="{22A56574-1977-4B6F-ACA0-AF1256B43F59}"/>
              </a:ext>
            </a:extLst>
          </p:cNvPr>
          <p:cNvSpPr>
            <a:spLocks xmlns:a="http://schemas.openxmlformats.org/drawingml/2006/main" noGrp="1"/>
          </p:cNvSpPr>
          <p:nvPr/>
        </p:nvSpPr>
        <p:spPr>
          <a:xfrm xmlns:a="http://schemas.openxmlformats.org/drawingml/2006/main">
            <a:off x="571500" y="42672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A94D16"/>
                </a:solidFill>
                <a:latin typeface="Arial"/>
                <a:ea typeface="Arial"/>
                <a:cs typeface="Arial"/>
              </a:defRPr>
            </a:pPr>
            <a:r>
              <a:rPr sz="4275" b="1">
                <a:solidFill>
                  <a:srgbClr val="A94D16"/>
                </a:solidFill>
                <a:latin typeface="Arial"/>
                <a:ea typeface="Arial"/>
                <a:cs typeface="Arial"/>
              </a:rPr>
              <a:t>€ 210 uit de gemiste muziekmiddag</a:t>
            </a:r>
          </a:p>
        </p:txBody>
      </p:sp>
      <p:sp>
        <p:nvSpPr>
          <p:cNvPr id="8" name="">
            <a:extLst xmlns:a="http://schemas.openxmlformats.org/drawingml/2006/main">
              <a:ext uri="{FF2B5EF4-FFF2-40B4-BE49-F238E27FC236}">
                <a16:creationId xmlns:a16="http://schemas.microsoft.com/office/drawing/2014/main" id="{1E85605E-C58F-49B8-8A86-8CC53DB176F4}"/>
              </a:ext>
            </a:extLst>
          </p:cNvPr>
          <p:cNvSpPr>
            <a:spLocks xmlns:a="http://schemas.openxmlformats.org/drawingml/2006/main" noGrp="1"/>
          </p:cNvSpPr>
          <p:nvPr/>
        </p:nvSpPr>
        <p:spPr>
          <a:xfrm xmlns:a="http://schemas.openxmlformats.org/drawingml/2006/main">
            <a:off x="571500" y="5848350"/>
            <a:ext cx="14097000" cy="0"/>
          </a:xfrm>
          <a:prstGeom xmlns:a="http://schemas.openxmlformats.org/drawingml/2006/main" prst="line">
            <a:avLst/>
          </a:prstGeom>
          <a:ln xmlns:a="http://schemas.openxmlformats.org/drawingml/2006/main" w="19050">
            <a:solidFill>
              <a:srgbClr val="C6D2DB"/>
            </a:solidFill>
          </a:ln>
        </p:spPr>
      </p:sp>
      <p:sp>
        <p:nvSpPr>
          <p:cNvPr id="9" name="€ 270 − € 210 = € 60 extra geld door de ruilmarkt">
            <a:extLst xmlns:a="http://schemas.openxmlformats.org/drawingml/2006/main">
              <a:ext uri="{FF2B5EF4-FFF2-40B4-BE49-F238E27FC236}">
                <a16:creationId xmlns:a16="http://schemas.microsoft.com/office/drawing/2014/main" id="{FD1B08BF-5720-4DE7-B07F-291A101160B1}"/>
              </a:ext>
            </a:extLst>
          </p:cNvPr>
          <p:cNvSpPr>
            <a:spLocks xmlns:a="http://schemas.openxmlformats.org/drawingml/2006/main" noGrp="1"/>
          </p:cNvSpPr>
          <p:nvPr/>
        </p:nvSpPr>
        <p:spPr>
          <a:xfrm xmlns:a="http://schemas.openxmlformats.org/drawingml/2006/main">
            <a:off x="571500" y="6400800"/>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€ 270 − € 210 = € 60 extra geld door de ruilmarkt</a:t>
            </a:r>
          </a:p>
        </p:txBody>
      </p:sp>
      <p:sp>
        <p:nvSpPr>
          <p:cNvPr id="10" name="Het verschil beschrijft hoeveel meer de gekozen op">
            <a:extLst xmlns:a="http://schemas.openxmlformats.org/drawingml/2006/main">
              <a:ext uri="{FF2B5EF4-FFF2-40B4-BE49-F238E27FC236}">
                <a16:creationId xmlns:a16="http://schemas.microsoft.com/office/drawing/2014/main" id="{A238A6E6-C89A-4060-A9F8-39C1F186E3E1}"/>
              </a:ext>
            </a:extLst>
          </p:cNvPr>
          <p:cNvSpPr>
            <a:spLocks xmlns:a="http://schemas.openxmlformats.org/drawingml/2006/main" noGrp="1"/>
          </p:cNvSpPr>
          <p:nvPr/>
        </p:nvSpPr>
        <p:spPr>
          <a:xfrm xmlns:a="http://schemas.openxmlformats.org/drawingml/2006/main">
            <a:off x="571500" y="7400925"/>
            <a:ext cx="1409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Het verschil beschrijft hoeveel meer de gekozen optie oplevert.</a:t>
            </a:r>
          </a:p>
        </p:txBody>
      </p:sp>
    </p:spTree>
    <p:extLst>
      <p:ext uri="{BB962C8B-B14F-4D97-AF65-F5344CB8AC3E}">
        <p14:creationId xmlns:p14="http://schemas.microsoft.com/office/powerpoint/2010/main" val="145992079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d · Gratis ruimte heeft een alternatief">
            <a:extLst xmlns:a="http://schemas.openxmlformats.org/drawingml/2006/main">
              <a:ext uri="{FF2B5EF4-FFF2-40B4-BE49-F238E27FC236}">
                <a16:creationId xmlns:a16="http://schemas.microsoft.com/office/drawing/2014/main" id="{20AC06FB-797D-4FA9-90C6-9F2B9A40798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Opgave 7d · Gratis ruimte heeft een alternatief</a:t>
            </a:r>
          </a:p>
        </p:txBody>
      </p:sp>
      <p:sp>
        <p:nvSpPr>
          <p:cNvPr id="2" name="">
            <a:extLst xmlns:a="http://schemas.openxmlformats.org/drawingml/2006/main">
              <a:ext uri="{FF2B5EF4-FFF2-40B4-BE49-F238E27FC236}">
                <a16:creationId xmlns:a16="http://schemas.microsoft.com/office/drawing/2014/main" id="{47301F51-4933-4717-AA82-7018DF5C963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 ">
            <a:extLst xmlns:a="http://schemas.openxmlformats.org/drawingml/2006/main">
              <a:ext uri="{FF2B5EF4-FFF2-40B4-BE49-F238E27FC236}">
                <a16:creationId xmlns:a16="http://schemas.microsoft.com/office/drawing/2014/main" id="{3E6F42BC-BF07-467D-9992-84985B8EB032}"/>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 · Opgave 7 · Boekpagina 11</a:t>
            </a:r>
          </a:p>
        </p:txBody>
      </p:sp>
      <p:sp>
        <p:nvSpPr>
          <p:cNvPr id="4" name="18">
            <a:extLst xmlns:a="http://schemas.openxmlformats.org/drawingml/2006/main">
              <a:ext uri="{FF2B5EF4-FFF2-40B4-BE49-F238E27FC236}">
                <a16:creationId xmlns:a16="http://schemas.microsoft.com/office/drawing/2014/main" id="{636A75CC-F721-4070-A008-44E70041BE6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graphicFrame>
        <p:nvGraphicFramePr>
          <p:cNvPr id="12" name=""/>
          <p:cNvGraphicFramePr/>
          <p:nvPr/>
        </p:nvGraphicFramePr>
        <p:xfrm>
          <a:off xmlns:a="http://schemas.openxmlformats.org/drawingml/2006/main" x="571500" y="2495550"/>
          <a:ext xmlns:a="http://schemas.openxmlformats.org/drawingml/2006/main" cx="14097000" cy="2571750"/>
        </p:xfrm>
        <a:graphic xmlns:a="http://schemas.openxmlformats.org/drawingml/2006/main">
          <a:graphicData uri="http://schemas.openxmlformats.org/drawingml/2006/table">
            <a:tbl>
              <a:tblPr/>
              <a:tblGrid>
                <a:gridCol w="5334000"/>
                <a:gridCol w="8763000"/>
              </a:tblGrid>
              <a:tr h="1285875">
                <a:tc>
                  <a:txBody>
                    <a:bodyPr lIns="171450" tIns="95250" rIns="152400" bIns="95250"/>
                    <a:lstStyle/>
                    <a:p>
                      <a:r>
                        <a:rPr sz="3150" b="1">
                          <a:solidFill>
                            <a:srgbClr val="FFFFFF"/>
                          </a:solidFill>
                          <a:latin typeface="Arial"/>
                          <a:ea typeface="Arial"/>
                          <a:cs typeface="Arial"/>
                        </a:rPr>
                        <a:t>Huurbetaling</a:t>
                      </a:r>
                    </a:p>
                  </a:txBody>
                  <a:tcPr marL="91440" marR="91440" marT="45720" marB="45720" anchor="ctr">
                    <a:solidFill>
                      <a:srgbClr val="183247"/>
                    </a:solidFill>
                  </a:tcPr>
                </a:tc>
                <a:tc>
                  <a:txBody>
                    <a:bodyPr lIns="171450" tIns="95250" rIns="152400" bIns="95250"/>
                    <a:lstStyle/>
                    <a:p>
                      <a:r>
                        <a:rPr sz="3150" b="1">
                          <a:solidFill>
                            <a:srgbClr val="FFFFFF"/>
                          </a:solidFill>
                          <a:latin typeface="Arial"/>
                          <a:ea typeface="Arial"/>
                          <a:cs typeface="Arial"/>
                        </a:rPr>
                        <a:t>Gemiste mogelijkheid</a:t>
                      </a:r>
                    </a:p>
                  </a:txBody>
                  <a:tcPr marL="91440" marR="91440" marT="45720" marB="45720" anchor="ctr">
                    <a:solidFill>
                      <a:srgbClr val="183247"/>
                    </a:solidFill>
                  </a:tcPr>
                </a:tc>
              </a:tr>
              <a:tr h="1285875">
                <a:tc>
                  <a:txBody>
                    <a:bodyPr lIns="171450" tIns="95250" rIns="152400" bIns="95250"/>
                    <a:lstStyle/>
                    <a:p>
                      <a:r>
                        <a:rPr sz="3150" b="0">
                          <a:solidFill>
                            <a:srgbClr val="183247"/>
                          </a:solidFill>
                          <a:latin typeface="Arial"/>
                          <a:ea typeface="Arial"/>
                          <a:cs typeface="Arial"/>
                        </a:rPr>
                        <a:t>€ 0</a:t>
                      </a:r>
                    </a:p>
                  </a:txBody>
                  <a:tcPr marL="91440" marR="91440" marT="45720" marB="45720" anchor="ctr">
                    <a:solidFill>
                      <a:srgbClr val="FFFFFF"/>
                    </a:solidFill>
                  </a:tcPr>
                </a:tc>
                <a:tc>
                  <a:txBody>
                    <a:bodyPr lIns="171450" tIns="95250" rIns="152400" bIns="95250"/>
                    <a:lstStyle/>
                    <a:p>
                      <a:r>
                        <a:rPr sz="3150" b="0">
                          <a:solidFill>
                            <a:srgbClr val="183247"/>
                          </a:solidFill>
                          <a:latin typeface="Arial"/>
                          <a:ea typeface="Arial"/>
                          <a:cs typeface="Arial"/>
                        </a:rPr>
                        <a:t>Muziekmiddag met € 210</a:t>
                      </a:r>
                    </a:p>
                    <a:p>
                      <a:r>
                        <a:rPr sz="3150" b="0">
                          <a:solidFill>
                            <a:srgbClr val="183247"/>
                          </a:solidFill>
                          <a:latin typeface="Arial"/>
                          <a:ea typeface="Arial"/>
                          <a:cs typeface="Arial"/>
                        </a:rPr>
                        <a:t>voor het goede doel</a:t>
                      </a:r>
                    </a:p>
                  </a:txBody>
                  <a:tcPr marL="91440" marR="91440" marT="45720" marB="45720" anchor="ctr">
                    <a:solidFill>
                      <a:srgbClr val="FFFFFF"/>
                    </a:solidFill>
                  </a:tcPr>
                </a:tc>
              </a:tr>
            </a:tbl>
          </a:graphicData>
        </a:graphic>
      </p:graphicFrame>
      <p:sp>
        <p:nvSpPr>
          <p:cNvPr id="6" name="De aula is gratis, maar dezelfde ruimte kan ook mu">
            <a:extLst xmlns:a="http://schemas.openxmlformats.org/drawingml/2006/main">
              <a:ext uri="{FF2B5EF4-FFF2-40B4-BE49-F238E27FC236}">
                <a16:creationId xmlns:a16="http://schemas.microsoft.com/office/drawing/2014/main" id="{94CABEFD-8EC1-47C8-AA62-B3B4FBF6DBDC}"/>
              </a:ext>
            </a:extLst>
          </p:cNvPr>
          <p:cNvSpPr>
            <a:spLocks xmlns:a="http://schemas.openxmlformats.org/drawingml/2006/main" noGrp="1"/>
          </p:cNvSpPr>
          <p:nvPr/>
        </p:nvSpPr>
        <p:spPr>
          <a:xfrm xmlns:a="http://schemas.openxmlformats.org/drawingml/2006/main">
            <a:off x="571500" y="5953125"/>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De aula is gratis, maar dezelfde ruimte kan ook muziek huisvesten.</a:t>
            </a:r>
          </a:p>
        </p:txBody>
      </p:sp>
      <p:sp>
        <p:nvSpPr>
          <p:cNvPr id="7" name="Die mogelijke € 210 vervalt door de ruilmarkt.">
            <a:extLst xmlns:a="http://schemas.openxmlformats.org/drawingml/2006/main">
              <a:ext uri="{FF2B5EF4-FFF2-40B4-BE49-F238E27FC236}">
                <a16:creationId xmlns:a16="http://schemas.microsoft.com/office/drawing/2014/main" id="{0A8A13A4-A0ED-4133-88E8-0C943B588C9E}"/>
              </a:ext>
            </a:extLst>
          </p:cNvPr>
          <p:cNvSpPr>
            <a:spLocks xmlns:a="http://schemas.openxmlformats.org/drawingml/2006/main" noGrp="1"/>
          </p:cNvSpPr>
          <p:nvPr/>
        </p:nvSpPr>
        <p:spPr>
          <a:xfrm xmlns:a="http://schemas.openxmlformats.org/drawingml/2006/main">
            <a:off x="571500" y="73723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Die mogelijke € 210 vervalt door de ruilmarkt.</a:t>
            </a:r>
          </a:p>
        </p:txBody>
      </p:sp>
    </p:spTree>
    <p:extLst>
      <p:ext uri="{BB962C8B-B14F-4D97-AF65-F5344CB8AC3E}">
        <p14:creationId xmlns:p14="http://schemas.microsoft.com/office/powerpoint/2010/main" val="180934067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e · Zoveel mogelijk deelnemers">
            <a:extLst xmlns:a="http://schemas.openxmlformats.org/drawingml/2006/main">
              <a:ext uri="{FF2B5EF4-FFF2-40B4-BE49-F238E27FC236}">
                <a16:creationId xmlns:a16="http://schemas.microsoft.com/office/drawing/2014/main" id="{9FE627C1-5CA0-483D-BE21-8A0AD78DB15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7e · Zoveel mogelijk deelnemers</a:t>
            </a:r>
          </a:p>
        </p:txBody>
      </p:sp>
      <p:sp>
        <p:nvSpPr>
          <p:cNvPr id="2" name="">
            <a:extLst xmlns:a="http://schemas.openxmlformats.org/drawingml/2006/main">
              <a:ext uri="{FF2B5EF4-FFF2-40B4-BE49-F238E27FC236}">
                <a16:creationId xmlns:a16="http://schemas.microsoft.com/office/drawing/2014/main" id="{3AFFCA72-0666-4A14-A8D4-1384912888A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 ">
            <a:extLst xmlns:a="http://schemas.openxmlformats.org/drawingml/2006/main">
              <a:ext uri="{FF2B5EF4-FFF2-40B4-BE49-F238E27FC236}">
                <a16:creationId xmlns:a16="http://schemas.microsoft.com/office/drawing/2014/main" id="{F43FD577-BFB7-4C9A-B2E4-F6C66E4073AD}"/>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 · Opgave 7 · Boekpagina 11</a:t>
            </a:r>
          </a:p>
        </p:txBody>
      </p:sp>
      <p:sp>
        <p:nvSpPr>
          <p:cNvPr id="4" name="19">
            <a:extLst xmlns:a="http://schemas.openxmlformats.org/drawingml/2006/main">
              <a:ext uri="{FF2B5EF4-FFF2-40B4-BE49-F238E27FC236}">
                <a16:creationId xmlns:a16="http://schemas.microsoft.com/office/drawing/2014/main" id="{2D7F2BCB-9DE0-471C-8FA9-F3AD2D4EF2B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Nieuw doel: zoveel mogelijk leerlingen laten deeln">
            <a:extLst xmlns:a="http://schemas.openxmlformats.org/drawingml/2006/main">
              <a:ext uri="{FF2B5EF4-FFF2-40B4-BE49-F238E27FC236}">
                <a16:creationId xmlns:a16="http://schemas.microsoft.com/office/drawing/2014/main" id="{7A9DFF6D-5EFF-4655-AE6E-FA31E0D5B09B}"/>
              </a:ext>
            </a:extLst>
          </p:cNvPr>
          <p:cNvSpPr>
            <a:spLocks xmlns:a="http://schemas.openxmlformats.org/drawingml/2006/main" noGrp="1"/>
          </p:cNvSpPr>
          <p:nvPr/>
        </p:nvSpPr>
        <p:spPr>
          <a:xfrm xmlns:a="http://schemas.openxmlformats.org/drawingml/2006/main">
            <a:off x="571500" y="1943100"/>
            <a:ext cx="14097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Nieuw doel: zoveel mogelijk leerlingen laten deelnemen</a:t>
            </a:r>
          </a:p>
        </p:txBody>
      </p:sp>
      <p:graphicFrame>
        <p:nvGraphicFramePr>
          <p:cNvPr id="13" name=""/>
          <p:cNvGraphicFramePr/>
          <p:nvPr/>
        </p:nvGraphicFramePr>
        <p:xfrm>
          <a:off xmlns:a="http://schemas.openxmlformats.org/drawingml/2006/main" x="571500" y="3705225"/>
          <a:ext xmlns:a="http://schemas.openxmlformats.org/drawingml/2006/main" cx="14097000" cy="2533650"/>
        </p:xfrm>
        <a:graphic xmlns:a="http://schemas.openxmlformats.org/drawingml/2006/main">
          <a:graphicData uri="http://schemas.openxmlformats.org/drawingml/2006/table">
            <a:tbl>
              <a:tblPr/>
              <a:tblGrid>
                <a:gridCol w="7048500"/>
                <a:gridCol w="7048500"/>
              </a:tblGrid>
              <a:tr h="844550">
                <a:tc>
                  <a:txBody>
                    <a:bodyPr lIns="171450" tIns="95250" rIns="152400" bIns="95250"/>
                    <a:lstStyle/>
                    <a:p>
                      <a:r>
                        <a:rPr sz="2925" b="1">
                          <a:solidFill>
                            <a:srgbClr val="FFFFFF"/>
                          </a:solidFill>
                          <a:latin typeface="Arial"/>
                          <a:ea typeface="Arial"/>
                          <a:cs typeface="Arial"/>
                        </a:rPr>
                        <a:t>Plan</a:t>
                      </a:r>
                    </a:p>
                  </a:txBody>
                  <a:tcPr marL="91440" marR="91440" marT="45720" marB="45720" anchor="ctr">
                    <a:solidFill>
                      <a:srgbClr val="183247"/>
                    </a:solidFill>
                  </a:tcPr>
                </a:tc>
                <a:tc>
                  <a:txBody>
                    <a:bodyPr lIns="171450" tIns="95250" rIns="152400" bIns="95250"/>
                    <a:lstStyle/>
                    <a:p>
                      <a:r>
                        <a:rPr sz="2925" b="1">
                          <a:solidFill>
                            <a:srgbClr val="FFFFFF"/>
                          </a:solidFill>
                          <a:latin typeface="Arial"/>
                          <a:ea typeface="Arial"/>
                          <a:cs typeface="Arial"/>
                        </a:rPr>
                        <a:t>Verwacht aantal deelnemers</a:t>
                      </a:r>
                    </a:p>
                  </a:txBody>
                  <a:tcPr marL="91440" marR="91440" marT="45720" marB="45720" anchor="ctr">
                    <a:solidFill>
                      <a:srgbClr val="183247"/>
                    </a:solidFill>
                  </a:tcPr>
                </a:tc>
              </a:tr>
              <a:tr h="844550">
                <a:tc>
                  <a:txBody>
                    <a:bodyPr lIns="171450" tIns="95250" rIns="152400" bIns="95250"/>
                    <a:lstStyle/>
                    <a:p>
                      <a:r>
                        <a:rPr sz="2925" b="0">
                          <a:solidFill>
                            <a:srgbClr val="183247"/>
                          </a:solidFill>
                          <a:latin typeface="Arial"/>
                          <a:ea typeface="Arial"/>
                          <a:cs typeface="Arial"/>
                        </a:rPr>
                        <a:t>Muziekmiddag</a:t>
                      </a:r>
                    </a:p>
                  </a:txBody>
                  <a:tcPr marL="91440" marR="91440" marT="45720" marB="45720" anchor="ctr">
                    <a:solidFill>
                      <a:srgbClr val="FFFFFF"/>
                    </a:solidFill>
                  </a:tcPr>
                </a:tc>
                <a:tc>
                  <a:txBody>
                    <a:bodyPr lIns="171450" tIns="95250" rIns="152400" bIns="95250"/>
                    <a:lstStyle/>
                    <a:p>
                      <a:r>
                        <a:rPr sz="2925" b="0">
                          <a:solidFill>
                            <a:srgbClr val="183247"/>
                          </a:solidFill>
                          <a:latin typeface="Arial"/>
                          <a:ea typeface="Arial"/>
                          <a:cs typeface="Arial"/>
                        </a:rPr>
                        <a:t>90</a:t>
                      </a:r>
                    </a:p>
                  </a:txBody>
                  <a:tcPr marL="91440" marR="91440" marT="45720" marB="45720" anchor="ctr">
                    <a:solidFill>
                      <a:srgbClr val="FFFFFF"/>
                    </a:solidFill>
                  </a:tcPr>
                </a:tc>
              </a:tr>
              <a:tr h="844550">
                <a:tc>
                  <a:txBody>
                    <a:bodyPr lIns="171450" tIns="95250" rIns="152400" bIns="95250"/>
                    <a:lstStyle/>
                    <a:p>
                      <a:r>
                        <a:rPr sz="2925" b="0">
                          <a:solidFill>
                            <a:srgbClr val="183247"/>
                          </a:solidFill>
                          <a:latin typeface="Arial"/>
                          <a:ea typeface="Arial"/>
                          <a:cs typeface="Arial"/>
                        </a:rPr>
                        <a:t>Ruilmarkt</a:t>
                      </a:r>
                    </a:p>
                  </a:txBody>
                  <a:tcPr marL="91440" marR="91440" marT="45720" marB="45720" anchor="ctr">
                    <a:solidFill>
                      <a:srgbClr val="EFF4F7"/>
                    </a:solidFill>
                  </a:tcPr>
                </a:tc>
                <a:tc>
                  <a:txBody>
                    <a:bodyPr lIns="171450" tIns="95250" rIns="152400" bIns="95250"/>
                    <a:lstStyle/>
                    <a:p>
                      <a:r>
                        <a:rPr sz="2925" b="0">
                          <a:solidFill>
                            <a:srgbClr val="183247"/>
                          </a:solidFill>
                          <a:latin typeface="Arial"/>
                          <a:ea typeface="Arial"/>
                          <a:cs typeface="Arial"/>
                        </a:rPr>
                        <a:t>60</a:t>
                      </a:r>
                    </a:p>
                  </a:txBody>
                  <a:tcPr marL="91440" marR="91440" marT="45720" marB="45720" anchor="ctr">
                    <a:solidFill>
                      <a:srgbClr val="EFF4F7"/>
                    </a:solidFill>
                  </a:tcPr>
                </a:tc>
              </a:tr>
            </a:tbl>
          </a:graphicData>
        </a:graphic>
      </p:graphicFrame>
      <p:sp>
        <p:nvSpPr>
          <p:cNvPr id="7" name="Kies de muziekmiddag: 90 &gt; 60 deelnemers.">
            <a:extLst xmlns:a="http://schemas.openxmlformats.org/drawingml/2006/main">
              <a:ext uri="{FF2B5EF4-FFF2-40B4-BE49-F238E27FC236}">
                <a16:creationId xmlns:a16="http://schemas.microsoft.com/office/drawing/2014/main" id="{68576D8B-5337-4EA8-9443-EE8D8CD7EDCB}"/>
              </a:ext>
            </a:extLst>
          </p:cNvPr>
          <p:cNvSpPr>
            <a:spLocks xmlns:a="http://schemas.openxmlformats.org/drawingml/2006/main" noGrp="1"/>
          </p:cNvSpPr>
          <p:nvPr/>
        </p:nvSpPr>
        <p:spPr>
          <a:xfrm xmlns:a="http://schemas.openxmlformats.org/drawingml/2006/main">
            <a:off x="571500" y="6962775"/>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Kies de muziekmiddag: 90 &gt; 60 deelnemers.</a:t>
            </a:r>
          </a:p>
        </p:txBody>
      </p:sp>
    </p:spTree>
    <p:extLst>
      <p:ext uri="{BB962C8B-B14F-4D97-AF65-F5344CB8AC3E}">
        <p14:creationId xmlns:p14="http://schemas.microsoft.com/office/powerpoint/2010/main" val="47391212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trole van je antwoord op opgave 7">
            <a:extLst xmlns:a="http://schemas.openxmlformats.org/drawingml/2006/main">
              <a:ext uri="{FF2B5EF4-FFF2-40B4-BE49-F238E27FC236}">
                <a16:creationId xmlns:a16="http://schemas.microsoft.com/office/drawing/2014/main" id="{D635118D-FFCC-469D-A8FC-E5CF8576C60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Controle van je antwoord op opgave 7</a:t>
            </a:r>
          </a:p>
        </p:txBody>
      </p:sp>
      <p:sp>
        <p:nvSpPr>
          <p:cNvPr id="2" name="">
            <a:extLst xmlns:a="http://schemas.openxmlformats.org/drawingml/2006/main">
              <a:ext uri="{FF2B5EF4-FFF2-40B4-BE49-F238E27FC236}">
                <a16:creationId xmlns:a16="http://schemas.microsoft.com/office/drawing/2014/main" id="{AC259149-3F0C-48CA-B7A1-A7CADF92F38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a:extLst xmlns:a="http://schemas.openxmlformats.org/drawingml/2006/main">
              <a:ext uri="{FF2B5EF4-FFF2-40B4-BE49-F238E27FC236}">
                <a16:creationId xmlns:a16="http://schemas.microsoft.com/office/drawing/2014/main" id="{A29A0918-C014-445D-BF4D-8D1448676254}"/>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a:t>
            </a:r>
          </a:p>
        </p:txBody>
      </p:sp>
      <p:sp>
        <p:nvSpPr>
          <p:cNvPr id="4" name="20">
            <a:extLst xmlns:a="http://schemas.openxmlformats.org/drawingml/2006/main">
              <a:ext uri="{FF2B5EF4-FFF2-40B4-BE49-F238E27FC236}">
                <a16:creationId xmlns:a16="http://schemas.microsoft.com/office/drawing/2014/main" id="{6FE4BBBC-CADB-4704-8D20-2E6AC7C8C5E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Beperking">
            <a:extLst xmlns:a="http://schemas.openxmlformats.org/drawingml/2006/main">
              <a:ext uri="{FF2B5EF4-FFF2-40B4-BE49-F238E27FC236}">
                <a16:creationId xmlns:a16="http://schemas.microsoft.com/office/drawing/2014/main" id="{B5E9C1BB-4814-4F14-BFA8-4AA6C07FF158}"/>
              </a:ext>
            </a:extLst>
          </p:cNvPr>
          <p:cNvSpPr>
            <a:spLocks xmlns:a="http://schemas.openxmlformats.org/drawingml/2006/main" noGrp="1"/>
          </p:cNvSpPr>
          <p:nvPr/>
        </p:nvSpPr>
        <p:spPr>
          <a:xfrm xmlns:a="http://schemas.openxmlformats.org/drawingml/2006/main">
            <a:off x="571500" y="18669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Beperking</a:t>
            </a:r>
          </a:p>
        </p:txBody>
      </p:sp>
      <p:sp>
        <p:nvSpPr>
          <p:cNvPr id="6" name="Aula én hetzelfde tijdvak; plannen kunnen niet sam">
            <a:extLst xmlns:a="http://schemas.openxmlformats.org/drawingml/2006/main">
              <a:ext uri="{FF2B5EF4-FFF2-40B4-BE49-F238E27FC236}">
                <a16:creationId xmlns:a16="http://schemas.microsoft.com/office/drawing/2014/main" id="{FDF76B39-B3A0-4F0E-926A-F3BC59A2E912}"/>
              </a:ext>
            </a:extLst>
          </p:cNvPr>
          <p:cNvSpPr>
            <a:spLocks xmlns:a="http://schemas.openxmlformats.org/drawingml/2006/main" noGrp="1"/>
          </p:cNvSpPr>
          <p:nvPr/>
        </p:nvSpPr>
        <p:spPr>
          <a:xfrm xmlns:a="http://schemas.openxmlformats.org/drawingml/2006/main">
            <a:off x="4857750" y="1866900"/>
            <a:ext cx="9763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Aula én hetzelfde tijdvak; plannen kunnen niet samen.</a:t>
            </a:r>
          </a:p>
        </p:txBody>
      </p:sp>
      <p:sp>
        <p:nvSpPr>
          <p:cNvPr id="7" name="Berekening">
            <a:extLst xmlns:a="http://schemas.openxmlformats.org/drawingml/2006/main">
              <a:ext uri="{FF2B5EF4-FFF2-40B4-BE49-F238E27FC236}">
                <a16:creationId xmlns:a16="http://schemas.microsoft.com/office/drawing/2014/main" id="{3CF01830-24AC-4C7B-BA6B-770CE6724FC7}"/>
              </a:ext>
            </a:extLst>
          </p:cNvPr>
          <p:cNvSpPr>
            <a:spLocks xmlns:a="http://schemas.openxmlformats.org/drawingml/2006/main" noGrp="1"/>
          </p:cNvSpPr>
          <p:nvPr/>
        </p:nvSpPr>
        <p:spPr>
          <a:xfrm xmlns:a="http://schemas.openxmlformats.org/drawingml/2006/main">
            <a:off x="571500" y="29718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Berekening</a:t>
            </a:r>
          </a:p>
        </p:txBody>
      </p:sp>
      <p:sp>
        <p:nvSpPr>
          <p:cNvPr id="8" name="3 × € 70 = € 210 en 3 × € 90 = € 270.">
            <a:extLst xmlns:a="http://schemas.openxmlformats.org/drawingml/2006/main">
              <a:ext uri="{FF2B5EF4-FFF2-40B4-BE49-F238E27FC236}">
                <a16:creationId xmlns:a16="http://schemas.microsoft.com/office/drawing/2014/main" id="{CDB4FAD2-0BA6-40E5-B2F5-125E7F114831}"/>
              </a:ext>
            </a:extLst>
          </p:cNvPr>
          <p:cNvSpPr>
            <a:spLocks xmlns:a="http://schemas.openxmlformats.org/drawingml/2006/main" noGrp="1"/>
          </p:cNvSpPr>
          <p:nvPr/>
        </p:nvSpPr>
        <p:spPr>
          <a:xfrm xmlns:a="http://schemas.openxmlformats.org/drawingml/2006/main">
            <a:off x="4857750" y="2971800"/>
            <a:ext cx="9763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3 × € 70 = € 210 en 3 × € 90 = € 270.</a:t>
            </a:r>
          </a:p>
        </p:txBody>
      </p:sp>
      <p:sp>
        <p:nvSpPr>
          <p:cNvPr id="9" name="Alternatief">
            <a:extLst xmlns:a="http://schemas.openxmlformats.org/drawingml/2006/main">
              <a:ext uri="{FF2B5EF4-FFF2-40B4-BE49-F238E27FC236}">
                <a16:creationId xmlns:a16="http://schemas.microsoft.com/office/drawing/2014/main" id="{A5DB1C85-ACE4-409B-9A1A-4F7E5FF72C7D}"/>
              </a:ext>
            </a:extLst>
          </p:cNvPr>
          <p:cNvSpPr>
            <a:spLocks xmlns:a="http://schemas.openxmlformats.org/drawingml/2006/main" noGrp="1"/>
          </p:cNvSpPr>
          <p:nvPr/>
        </p:nvSpPr>
        <p:spPr>
          <a:xfrm xmlns:a="http://schemas.openxmlformats.org/drawingml/2006/main">
            <a:off x="571500" y="40767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Alternatief</a:t>
            </a:r>
          </a:p>
        </p:txBody>
      </p:sp>
      <p:sp>
        <p:nvSpPr>
          <p:cNvPr id="10" name="Muziekmiddag en € 210 bij de keuze voor de ruilmar">
            <a:extLst xmlns:a="http://schemas.openxmlformats.org/drawingml/2006/main">
              <a:ext uri="{FF2B5EF4-FFF2-40B4-BE49-F238E27FC236}">
                <a16:creationId xmlns:a16="http://schemas.microsoft.com/office/drawing/2014/main" id="{B3CDF680-1823-4133-AE0A-42C2E729B18F}"/>
              </a:ext>
            </a:extLst>
          </p:cNvPr>
          <p:cNvSpPr>
            <a:spLocks xmlns:a="http://schemas.openxmlformats.org/drawingml/2006/main" noGrp="1"/>
          </p:cNvSpPr>
          <p:nvPr/>
        </p:nvSpPr>
        <p:spPr>
          <a:xfrm xmlns:a="http://schemas.openxmlformats.org/drawingml/2006/main">
            <a:off x="4857750" y="4076700"/>
            <a:ext cx="9763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Muziekmiddag en € 210 bij de keuze voor de ruilmarkt.</a:t>
            </a:r>
          </a:p>
        </p:txBody>
      </p:sp>
      <p:sp>
        <p:nvSpPr>
          <p:cNvPr id="11" name="Verklaring">
            <a:extLst xmlns:a="http://schemas.openxmlformats.org/drawingml/2006/main">
              <a:ext uri="{FF2B5EF4-FFF2-40B4-BE49-F238E27FC236}">
                <a16:creationId xmlns:a16="http://schemas.microsoft.com/office/drawing/2014/main" id="{14C8B50C-2870-4C85-A82B-EC3F3A106D24}"/>
              </a:ext>
            </a:extLst>
          </p:cNvPr>
          <p:cNvSpPr>
            <a:spLocks xmlns:a="http://schemas.openxmlformats.org/drawingml/2006/main" noGrp="1"/>
          </p:cNvSpPr>
          <p:nvPr/>
        </p:nvSpPr>
        <p:spPr>
          <a:xfrm xmlns:a="http://schemas.openxmlformats.org/drawingml/2006/main">
            <a:off x="571500" y="51816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Verklaring</a:t>
            </a:r>
          </a:p>
        </p:txBody>
      </p:sp>
      <p:sp>
        <p:nvSpPr>
          <p:cNvPr id="12" name="Gratis huur sluit een gemiste mogelijkheid niet ui">
            <a:extLst xmlns:a="http://schemas.openxmlformats.org/drawingml/2006/main">
              <a:ext uri="{FF2B5EF4-FFF2-40B4-BE49-F238E27FC236}">
                <a16:creationId xmlns:a16="http://schemas.microsoft.com/office/drawing/2014/main" id="{D1565772-0269-40D7-A51A-6244636A879C}"/>
              </a:ext>
            </a:extLst>
          </p:cNvPr>
          <p:cNvSpPr>
            <a:spLocks xmlns:a="http://schemas.openxmlformats.org/drawingml/2006/main" noGrp="1"/>
          </p:cNvSpPr>
          <p:nvPr/>
        </p:nvSpPr>
        <p:spPr>
          <a:xfrm xmlns:a="http://schemas.openxmlformats.org/drawingml/2006/main">
            <a:off x="4857750" y="5181600"/>
            <a:ext cx="9763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Gratis huur sluit een gemiste mogelijkheid niet uit.</a:t>
            </a:r>
          </a:p>
        </p:txBody>
      </p:sp>
      <p:sp>
        <p:nvSpPr>
          <p:cNvPr id="13" name="Doel">
            <a:extLst xmlns:a="http://schemas.openxmlformats.org/drawingml/2006/main">
              <a:ext uri="{FF2B5EF4-FFF2-40B4-BE49-F238E27FC236}">
                <a16:creationId xmlns:a16="http://schemas.microsoft.com/office/drawing/2014/main" id="{8A011B03-9BDE-495E-8E19-CFCCFE509BDB}"/>
              </a:ext>
            </a:extLst>
          </p:cNvPr>
          <p:cNvSpPr>
            <a:spLocks xmlns:a="http://schemas.openxmlformats.org/drawingml/2006/main" noGrp="1"/>
          </p:cNvSpPr>
          <p:nvPr/>
        </p:nvSpPr>
        <p:spPr>
          <a:xfrm xmlns:a="http://schemas.openxmlformats.org/drawingml/2006/main">
            <a:off x="571500" y="62865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Doel</a:t>
            </a:r>
          </a:p>
        </p:txBody>
      </p:sp>
      <p:sp>
        <p:nvSpPr>
          <p:cNvPr id="14" name="Geld: ruilmarkt. Deelname: muziek, 90 tegenover 60">
            <a:extLst xmlns:a="http://schemas.openxmlformats.org/drawingml/2006/main">
              <a:ext uri="{FF2B5EF4-FFF2-40B4-BE49-F238E27FC236}">
                <a16:creationId xmlns:a16="http://schemas.microsoft.com/office/drawing/2014/main" id="{8CEE202F-D2E9-4C3F-A480-D98BD9EFE6B6}"/>
              </a:ext>
            </a:extLst>
          </p:cNvPr>
          <p:cNvSpPr>
            <a:spLocks xmlns:a="http://schemas.openxmlformats.org/drawingml/2006/main" noGrp="1"/>
          </p:cNvSpPr>
          <p:nvPr/>
        </p:nvSpPr>
        <p:spPr>
          <a:xfrm xmlns:a="http://schemas.openxmlformats.org/drawingml/2006/main">
            <a:off x="4857750" y="6286500"/>
            <a:ext cx="9763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Geld: ruilmarkt. Deelname: muziek, 90 tegenover 60.</a:t>
            </a:r>
          </a:p>
        </p:txBody>
      </p:sp>
      <p:sp>
        <p:nvSpPr>
          <p:cNvPr id="15" name="Verbeter een ontbrekende stap of uitleg in je eige">
            <a:extLst xmlns:a="http://schemas.openxmlformats.org/drawingml/2006/main">
              <a:ext uri="{FF2B5EF4-FFF2-40B4-BE49-F238E27FC236}">
                <a16:creationId xmlns:a16="http://schemas.microsoft.com/office/drawing/2014/main" id="{F944EC26-33F2-455F-8FA1-A077A5B588FA}"/>
              </a:ext>
            </a:extLst>
          </p:cNvPr>
          <p:cNvSpPr>
            <a:spLocks xmlns:a="http://schemas.openxmlformats.org/drawingml/2006/main" noGrp="1"/>
          </p:cNvSpPr>
          <p:nvPr/>
        </p:nvSpPr>
        <p:spPr>
          <a:xfrm xmlns:a="http://schemas.openxmlformats.org/drawingml/2006/main">
            <a:off x="571500" y="7505700"/>
            <a:ext cx="1409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Verbeter een ontbrekende stap of uitleg in je eigen werk.</a:t>
            </a:r>
          </a:p>
        </p:txBody>
      </p:sp>
    </p:spTree>
    <p:extLst>
      <p:ext uri="{BB962C8B-B14F-4D97-AF65-F5344CB8AC3E}">
        <p14:creationId xmlns:p14="http://schemas.microsoft.com/office/powerpoint/2010/main" val="67443372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1.1 Schaarste, keuzes en alternatieve">
            <a:extLst xmlns:a="http://schemas.openxmlformats.org/drawingml/2006/main">
              <a:ext uri="{FF2B5EF4-FFF2-40B4-BE49-F238E27FC236}">
                <a16:creationId xmlns:a16="http://schemas.microsoft.com/office/drawing/2014/main" id="{330D022E-9B68-4449-9CD7-01BF403731E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Deze les: §1.1.1 Schaarste, keuzes en alternatieve kosten</a:t>
            </a:r>
          </a:p>
        </p:txBody>
      </p:sp>
      <p:sp>
        <p:nvSpPr>
          <p:cNvPr id="2" name="">
            <a:extLst xmlns:a="http://schemas.openxmlformats.org/drawingml/2006/main">
              <a:ext uri="{FF2B5EF4-FFF2-40B4-BE49-F238E27FC236}">
                <a16:creationId xmlns:a16="http://schemas.microsoft.com/office/drawing/2014/main" id="{93B146C6-17B9-4EA8-B8D8-2B5644CF89F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1.1 Schaarste, keuzes en alternatieve kosten">
            <a:extLst xmlns:a="http://schemas.openxmlformats.org/drawingml/2006/main">
              <a:ext uri="{FF2B5EF4-FFF2-40B4-BE49-F238E27FC236}">
                <a16:creationId xmlns:a16="http://schemas.microsoft.com/office/drawing/2014/main" id="{6CAC12BF-D02C-4868-BDE6-80ABD4A8AF13}"/>
              </a:ext>
            </a:extLst>
          </p:cNvPr>
          <p:cNvSpPr>
            <a:spLocks xmlns:a="http://schemas.openxmlformats.org/drawingml/2006/main" noGrp="1"/>
          </p:cNvSpPr>
          <p:nvPr/>
        </p:nvSpPr>
        <p:spPr>
          <a:xfrm xmlns:a="http://schemas.openxmlformats.org/drawingml/2006/main">
            <a:off x="571500" y="8077200"/>
            <a:ext cx="1352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§1.1.1 Schaarste, keuzes en alternatieve kosten</a:t>
            </a:r>
          </a:p>
        </p:txBody>
      </p:sp>
      <p:sp>
        <p:nvSpPr>
          <p:cNvPr id="4" name="21">
            <a:extLst xmlns:a="http://schemas.openxmlformats.org/drawingml/2006/main">
              <a:ext uri="{FF2B5EF4-FFF2-40B4-BE49-F238E27FC236}">
                <a16:creationId xmlns:a16="http://schemas.microsoft.com/office/drawing/2014/main" id="{30FEA0C5-6C3B-4F01-8CD0-4E090888420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phase">
            <a:extLst xmlns:a="http://schemas.openxmlformats.org/drawingml/2006/main">
              <a:ext uri="{FF2B5EF4-FFF2-40B4-BE49-F238E27FC236}">
                <a16:creationId xmlns:a16="http://schemas.microsoft.com/office/drawing/2014/main" id="{332A86CF-AE56-465E-B1E7-FFF0057974EC}"/>
              </a:ext>
            </a:extLst>
          </p:cNvPr>
          <p:cNvSpPr>
            <a:spLocks xmlns:a="http://schemas.openxmlformats.org/drawingml/2006/main" noGrp="1"/>
          </p:cNvSpPr>
          <p:nvPr/>
        </p:nvSpPr>
        <p:spPr>
          <a:xfrm xmlns:a="http://schemas.openxmlformats.org/drawingml/2006/main">
            <a:off x="571500" y="10287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B4CB335A-CC35-472A-B396-B1AF2AD30BEF}"/>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8B24E10A-62CC-4F14-895E-5A859246AC9C}"/>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82E1F0FA-D5C5-465E-8829-2DF324932C10}"/>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C53B4132-26E1-4FAE-B270-77A84DC2CA2A}"/>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66901B11-D50D-493E-90BF-8BD425DF900F}"/>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B03C9421-51EF-4D28-AF72-683DA0EC74A3}"/>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6D77EFB4-5894-4B94-BFC2-6B03515E9275}"/>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694EC314-ABCE-4671-A4AE-A1F0955FC37B}"/>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E3E5AA5B-0C4F-4BD9-BDCE-8DF4C68CA285}"/>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366764DA-6942-401A-BB4C-D12FA7F7CD54}"/>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2BA0767B-B77C-43C8-8500-6D9BBD5B40A3}"/>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B66564D5-6C7E-4A2B-BD24-D9129A668A53}"/>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2F86B2A2-58D5-4686-97D4-9ECB05DCF51C}"/>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4E06FA16-434F-41A4-9036-0320937AA71F}"/>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A2AA15AB-E285-403E-B20D-71744DF3D35E}"/>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0C086239-A100-4FB7-94AE-A49A27AE5273}"/>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BBFB6382-9D1B-4BCE-A40C-ACAA8A87360E}"/>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Beperking aanwijzen, uitkomsten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vergelijken, alternatieve kosten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uitleggen en kiezen bij een doel.</a:t>
            </a:r>
          </a:p>
        </p:txBody>
      </p:sp>
      <p:sp>
        <p:nvSpPr>
          <p:cNvPr id="23" name="">
            <a:extLst xmlns:a="http://schemas.openxmlformats.org/drawingml/2006/main">
              <a:ext uri="{FF2B5EF4-FFF2-40B4-BE49-F238E27FC236}">
                <a16:creationId xmlns:a16="http://schemas.microsoft.com/office/drawing/2014/main" id="{16725BBA-C845-4F29-B60B-196FFD900A8C}"/>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C9A1607D-ABAB-4657-BC10-7795B3940538}"/>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CECC8F0B-72DB-405B-953F-3A4D445942A4}"/>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6–8</a:t>
            </a:r>
          </a:p>
        </p:txBody>
      </p:sp>
      <p:sp>
        <p:nvSpPr>
          <p:cNvPr id="26" name="">
            <a:extLst xmlns:a="http://schemas.openxmlformats.org/drawingml/2006/main">
              <a:ext uri="{FF2B5EF4-FFF2-40B4-BE49-F238E27FC236}">
                <a16:creationId xmlns:a16="http://schemas.microsoft.com/office/drawing/2014/main" id="{71832FF6-E251-4044-8DA2-C2F0DD4FFF82}"/>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7B75FF94-163E-4D08-95E0-20B4D04CDF77}"/>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A8C44B24-DB88-4257-81CB-42CC4F9D1235}"/>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§1.1.1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 en 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5 en 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20919292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2026-10-03T13:17:30.1860000Z</dcterms:created>
  <dcterms:modified xsi:type="dcterms:W3CDTF">2026-10-03T13:17:30.1860000Z</dcterms:modified>
</coreProperties>
</file>