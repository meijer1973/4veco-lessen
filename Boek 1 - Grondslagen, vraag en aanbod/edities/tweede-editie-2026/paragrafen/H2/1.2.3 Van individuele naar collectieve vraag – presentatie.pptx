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6.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fe30a5b1f464086" /><Relationship Type="http://schemas.openxmlformats.org/officeDocument/2006/relationships/extended-properties" Target="/docProps/app.xml" Id="R359450cba94045d0" /><Relationship Type="http://schemas.openxmlformats.org/officeDocument/2006/relationships/officeDocument" Target="/ppt/presentation.xml" Id="R8e93fec682f7430e" /></Relationships>
</file>

<file path=ppt/presentation.xml><?xml version="1.0" encoding="utf-8"?>
<p:presentation xmlns:p="http://schemas.openxmlformats.org/presentationml/2006/main">
  <p:sldMasterIdLst>
    <p:sldMasterId xmlns:r="http://schemas.openxmlformats.org/officeDocument/2006/relationships" id="2147483648" r:id="R6d4f977ef5f5462e"/>
  </p:sldMasterIdLst>
  <p:notesMasterIdLst>
    <p:notesMasterId xmlns:r="http://schemas.openxmlformats.org/officeDocument/2006/relationships" r:id="R921ec08f286347a8"/>
  </p:notesMasterIdLst>
  <p:sldIdLst>
    <p:sldId xmlns:r="http://schemas.openxmlformats.org/officeDocument/2006/relationships" id="256" r:id="Rf974df741cfd4146"/>
    <p:sldId xmlns:r="http://schemas.openxmlformats.org/officeDocument/2006/relationships" id="257" r:id="Recac2ba2ebc34ef0"/>
    <p:sldId xmlns:r="http://schemas.openxmlformats.org/officeDocument/2006/relationships" id="258" r:id="R648ebe4b1c974243"/>
    <p:sldId xmlns:r="http://schemas.openxmlformats.org/officeDocument/2006/relationships" id="259" r:id="R93c25669a8f1454f"/>
    <p:sldId xmlns:r="http://schemas.openxmlformats.org/officeDocument/2006/relationships" id="260" r:id="R6ead98f8daad4531"/>
    <p:sldId xmlns:r="http://schemas.openxmlformats.org/officeDocument/2006/relationships" id="261" r:id="R5e9add4b87924595"/>
    <p:sldId xmlns:r="http://schemas.openxmlformats.org/officeDocument/2006/relationships" id="262" r:id="Rc2a1f5e0bba0469a"/>
    <p:sldId xmlns:r="http://schemas.openxmlformats.org/officeDocument/2006/relationships" id="263" r:id="R975a0e0405d14cb4"/>
    <p:sldId xmlns:r="http://schemas.openxmlformats.org/officeDocument/2006/relationships" id="264" r:id="R6f5c48e344be42e0"/>
    <p:sldId xmlns:r="http://schemas.openxmlformats.org/officeDocument/2006/relationships" id="265" r:id="Rb1d1a38803294587"/>
    <p:sldId xmlns:r="http://schemas.openxmlformats.org/officeDocument/2006/relationships" id="266" r:id="R3fdb3bc7ca1d4844"/>
    <p:sldId xmlns:r="http://schemas.openxmlformats.org/officeDocument/2006/relationships" id="267" r:id="Ra7bef53baaf44357"/>
    <p:sldId xmlns:r="http://schemas.openxmlformats.org/officeDocument/2006/relationships" id="268" r:id="Rd1eb131ef9d64a3c"/>
    <p:sldId xmlns:r="http://schemas.openxmlformats.org/officeDocument/2006/relationships" id="269" r:id="Rf0b51bdb06734865"/>
    <p:sldId xmlns:r="http://schemas.openxmlformats.org/officeDocument/2006/relationships" id="270" r:id="Rb1e9e70b84244237"/>
    <p:sldId xmlns:r="http://schemas.openxmlformats.org/officeDocument/2006/relationships" id="271" r:id="Rae523fc08a284a01"/>
    <p:sldId xmlns:r="http://schemas.openxmlformats.org/officeDocument/2006/relationships" id="272" r:id="R8263124347234057"/>
    <p:sldId xmlns:r="http://schemas.openxmlformats.org/officeDocument/2006/relationships" id="273" r:id="R8263f55b0e7e47f7"/>
    <p:sldId xmlns:r="http://schemas.openxmlformats.org/officeDocument/2006/relationships" id="274" r:id="Ra1a28e8aeca74209"/>
    <p:sldId xmlns:r="http://schemas.openxmlformats.org/officeDocument/2006/relationships" id="275" r:id="Rf0aee6d53dcf4740"/>
    <p:sldId xmlns:r="http://schemas.openxmlformats.org/officeDocument/2006/relationships" id="276" r:id="R36a12dcf6375444b"/>
    <p:sldId xmlns:r="http://schemas.openxmlformats.org/officeDocument/2006/relationships" id="277" r:id="Rb956ca93e9b040f9"/>
    <p:sldId xmlns:r="http://schemas.openxmlformats.org/officeDocument/2006/relationships" id="278" r:id="Rc1de0f5fdaf84330"/>
    <p:sldId xmlns:r="http://schemas.openxmlformats.org/officeDocument/2006/relationships" id="279" r:id="Rc100c8d89b594e4a"/>
    <p:sldId xmlns:r="http://schemas.openxmlformats.org/officeDocument/2006/relationships" id="280" r:id="R79155bf749c843b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a039c0e3d54a44" /><Relationship Type="http://schemas.openxmlformats.org/officeDocument/2006/relationships/slideMaster" Target="/ppt/slideMasters/slideMaster1.xml" Id="R6d4f977ef5f5462e" /><Relationship Type="http://schemas.openxmlformats.org/officeDocument/2006/relationships/notesMaster" Target="/ppt/notesMasters/notesMaster1.xml" Id="R921ec08f286347a8" /><Relationship Type="http://schemas.openxmlformats.org/officeDocument/2006/relationships/presProps" Target="/ppt/presProps.xml" Id="Rfc32393ab2164197" /><Relationship Type="http://schemas.openxmlformats.org/officeDocument/2006/relationships/tableStyles" Target="/ppt/tableStyles.xml" Id="R256570112c134f2b" /><Relationship Type="http://schemas.openxmlformats.org/officeDocument/2006/relationships/slide" Target="/ppt/slides/slide1.xml" Id="Rf974df741cfd4146" /><Relationship Type="http://schemas.openxmlformats.org/officeDocument/2006/relationships/slide" Target="/ppt/slides/slide2.xml" Id="Recac2ba2ebc34ef0" /><Relationship Type="http://schemas.openxmlformats.org/officeDocument/2006/relationships/slide" Target="/ppt/slides/slide3.xml" Id="R648ebe4b1c974243" /><Relationship Type="http://schemas.openxmlformats.org/officeDocument/2006/relationships/slide" Target="/ppt/slides/slide4.xml" Id="R93c25669a8f1454f" /><Relationship Type="http://schemas.openxmlformats.org/officeDocument/2006/relationships/slide" Target="/ppt/slides/slide5.xml" Id="R6ead98f8daad4531" /><Relationship Type="http://schemas.openxmlformats.org/officeDocument/2006/relationships/slide" Target="/ppt/slides/slide6.xml" Id="R5e9add4b87924595" /><Relationship Type="http://schemas.openxmlformats.org/officeDocument/2006/relationships/slide" Target="/ppt/slides/slide7.xml" Id="Rc2a1f5e0bba0469a" /><Relationship Type="http://schemas.openxmlformats.org/officeDocument/2006/relationships/slide" Target="/ppt/slides/slide8.xml" Id="R975a0e0405d14cb4" /><Relationship Type="http://schemas.openxmlformats.org/officeDocument/2006/relationships/slide" Target="/ppt/slides/slide9.xml" Id="R6f5c48e344be42e0" /><Relationship Type="http://schemas.openxmlformats.org/officeDocument/2006/relationships/slide" Target="/ppt/slides/slide10.xml" Id="Rb1d1a38803294587" /><Relationship Type="http://schemas.openxmlformats.org/officeDocument/2006/relationships/slide" Target="/ppt/slides/slide11.xml" Id="R3fdb3bc7ca1d4844" /><Relationship Type="http://schemas.openxmlformats.org/officeDocument/2006/relationships/slide" Target="/ppt/slides/slide12.xml" Id="Ra7bef53baaf44357" /><Relationship Type="http://schemas.openxmlformats.org/officeDocument/2006/relationships/slide" Target="/ppt/slides/slide13.xml" Id="Rd1eb131ef9d64a3c" /><Relationship Type="http://schemas.openxmlformats.org/officeDocument/2006/relationships/slide" Target="/ppt/slides/slide14.xml" Id="Rf0b51bdb06734865" /><Relationship Type="http://schemas.openxmlformats.org/officeDocument/2006/relationships/slide" Target="/ppt/slides/slide15.xml" Id="Rb1e9e70b84244237" /><Relationship Type="http://schemas.openxmlformats.org/officeDocument/2006/relationships/slide" Target="/ppt/slides/slide16.xml" Id="Rae523fc08a284a01" /><Relationship Type="http://schemas.openxmlformats.org/officeDocument/2006/relationships/slide" Target="/ppt/slides/slide17.xml" Id="R8263124347234057" /><Relationship Type="http://schemas.openxmlformats.org/officeDocument/2006/relationships/slide" Target="/ppt/slides/slide18.xml" Id="R8263f55b0e7e47f7" /><Relationship Type="http://schemas.openxmlformats.org/officeDocument/2006/relationships/slide" Target="/ppt/slides/slide19.xml" Id="Ra1a28e8aeca74209" /><Relationship Type="http://schemas.openxmlformats.org/officeDocument/2006/relationships/slide" Target="/ppt/slides/slide20.xml" Id="Rf0aee6d53dcf4740" /><Relationship Type="http://schemas.openxmlformats.org/officeDocument/2006/relationships/slide" Target="/ppt/slides/slide21.xml" Id="R36a12dcf6375444b" /><Relationship Type="http://schemas.openxmlformats.org/officeDocument/2006/relationships/slide" Target="/ppt/slides/slide22.xml" Id="Rb956ca93e9b040f9" /><Relationship Type="http://schemas.openxmlformats.org/officeDocument/2006/relationships/slide" Target="/ppt/slides/slide23.xml" Id="Rc1de0f5fdaf84330" /><Relationship Type="http://schemas.openxmlformats.org/officeDocument/2006/relationships/slide" Target="/ppt/slides/slide24.xml" Id="Rc100c8d89b594e4a" /><Relationship Type="http://schemas.openxmlformats.org/officeDocument/2006/relationships/slide" Target="/ppt/slides/slide25.xml" Id="R79155bf749c843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9793909f8d40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d6bc64d43c4727" /><Relationship Type="http://schemas.openxmlformats.org/officeDocument/2006/relationships/notesMaster" Target="/ppt/notesMasters/notesMaster1.xml" Id="R181b3637ebba4f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0fb8bde7ce48bc" /><Relationship Type="http://schemas.openxmlformats.org/officeDocument/2006/relationships/notesMaster" Target="/ppt/notesMasters/notesMaster1.xml" Id="R57c76ff5172544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54e2b196b248c2" /><Relationship Type="http://schemas.openxmlformats.org/officeDocument/2006/relationships/notesMaster" Target="/ppt/notesMasters/notesMaster1.xml" Id="R57e28323ab2d44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85975953b14669" /><Relationship Type="http://schemas.openxmlformats.org/officeDocument/2006/relationships/notesMaster" Target="/ppt/notesMasters/notesMaster1.xml" Id="R9c929079af1043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448020dd9841c1" /><Relationship Type="http://schemas.openxmlformats.org/officeDocument/2006/relationships/notesMaster" Target="/ppt/notesMasters/notesMaster1.xml" Id="Rb11f87635bb14a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58527c86a14156" /><Relationship Type="http://schemas.openxmlformats.org/officeDocument/2006/relationships/notesMaster" Target="/ppt/notesMasters/notesMaster1.xml" Id="Rf2c2f9e33e484f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14285f1b074b58" /><Relationship Type="http://schemas.openxmlformats.org/officeDocument/2006/relationships/notesMaster" Target="/ppt/notesMasters/notesMaster1.xml" Id="Rc849cc102eb348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26609cb45146f9" /><Relationship Type="http://schemas.openxmlformats.org/officeDocument/2006/relationships/notesMaster" Target="/ppt/notesMasters/notesMaster1.xml" Id="R3ac0097e362149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2abdf520da428f" /><Relationship Type="http://schemas.openxmlformats.org/officeDocument/2006/relationships/notesMaster" Target="/ppt/notesMasters/notesMaster1.xml" Id="R8965576ed93a45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06a6f0c220424e" /><Relationship Type="http://schemas.openxmlformats.org/officeDocument/2006/relationships/notesMaster" Target="/ppt/notesMasters/notesMaster1.xml" Id="Rad988630b8784c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47243969824920" /><Relationship Type="http://schemas.openxmlformats.org/officeDocument/2006/relationships/notesMaster" Target="/ppt/notesMasters/notesMaster1.xml" Id="R0d01fb1e908249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f2ce182ac44f38" /><Relationship Type="http://schemas.openxmlformats.org/officeDocument/2006/relationships/notesMaster" Target="/ppt/notesMasters/notesMaster1.xml" Id="R121d9f37ed4744b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db1bc4f54e44496" /><Relationship Type="http://schemas.openxmlformats.org/officeDocument/2006/relationships/notesMaster" Target="/ppt/notesMasters/notesMaster1.xml" Id="Rcc59c5caa3cb4a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ba1731914944b0" /><Relationship Type="http://schemas.openxmlformats.org/officeDocument/2006/relationships/notesMaster" Target="/ppt/notesMasters/notesMaster1.xml" Id="R2251a88923f741b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fe60edbf091498b" /><Relationship Type="http://schemas.openxmlformats.org/officeDocument/2006/relationships/notesMaster" Target="/ppt/notesMasters/notesMaster1.xml" Id="R603f22f323d340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27fd25cbee54a41" /><Relationship Type="http://schemas.openxmlformats.org/officeDocument/2006/relationships/notesMaster" Target="/ppt/notesMasters/notesMaster1.xml" Id="R4e52eda3676a437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02b222c4f7a43d8" /><Relationship Type="http://schemas.openxmlformats.org/officeDocument/2006/relationships/notesMaster" Target="/ppt/notesMasters/notesMaster1.xml" Id="Ra2a078c6c4f84bb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5fa63d780c64df5" /><Relationship Type="http://schemas.openxmlformats.org/officeDocument/2006/relationships/notesMaster" Target="/ppt/notesMasters/notesMaster1.xml" Id="R23549457c68042f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bbc8c7d44ad4956" /><Relationship Type="http://schemas.openxmlformats.org/officeDocument/2006/relationships/notesMaster" Target="/ppt/notesMasters/notesMaster1.xml" Id="R3d530d4cd626426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4b11f6fc33c429c" /><Relationship Type="http://schemas.openxmlformats.org/officeDocument/2006/relationships/notesMaster" Target="/ppt/notesMasters/notesMaster1.xml" Id="R6e6ea1f046744ca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0e35b26746c4668" /><Relationship Type="http://schemas.openxmlformats.org/officeDocument/2006/relationships/notesMaster" Target="/ppt/notesMasters/notesMaster1.xml" Id="R5144e2043c26412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5fef9fa8c00456b" /><Relationship Type="http://schemas.openxmlformats.org/officeDocument/2006/relationships/notesMaster" Target="/ppt/notesMasters/notesMaster1.xml" Id="R79392bc581cc403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3d4865755bd4f5f" /><Relationship Type="http://schemas.openxmlformats.org/officeDocument/2006/relationships/notesMaster" Target="/ppt/notesMasters/notesMaster1.xml" Id="R0d412957b5ab4b0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5d3b21e9e724cba" /><Relationship Type="http://schemas.openxmlformats.org/officeDocument/2006/relationships/notesMaster" Target="/ppt/notesMasters/notesMaster1.xml" Id="R265ff0b39222480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f86908d8cad4112" /><Relationship Type="http://schemas.openxmlformats.org/officeDocument/2006/relationships/notesMaster" Target="/ppt/notesMasters/notesMaster1.xml" Id="R08ef217e62a042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bekende rekenstap lukt al, en waar helpt p.68?</a:t>
            </a:r>
          </a:p>
          <a:p xmlns:a="http://schemas.openxmlformats.org/drawingml/2006/main">
            <a:r>
              <a:rPr sz="1400"/>
              <a:t/>
            </a:r>
          </a:p>
          <a:p xmlns:a="http://schemas.openxmlformats.org/drawingml/2006/main">
            <a:r>
              <a:rPr sz="1400"/>
              <a:t>Uitleg: Laat dit overzicht staan tijdens startopdracht. Opgaven 23 en 24 staan op p.72. Basis: 25 op p.73, 26–27 op p.74. Zelfstandig 28–29 staan op p.75. Doelopgave 30 staat op p.76. Huiswerk: alle opgaven 25 tot en met 30 maken en nakijken; 31–33 zijn extra. De volledige route hoeft niet in één les af. De docenthandleiding schat de normale route op 137 minuten, zonder leerlingmetingen.</a:t>
            </a:r>
          </a:p>
          <a:p xmlns:a="http://schemas.openxmlformats.org/drawingml/2006/main">
            <a:r>
              <a:rPr sz="1400"/>
              <a:t/>
            </a:r>
          </a:p>
          <a:p xmlns:a="http://schemas.openxmlformats.org/drawingml/2006/main">
            <a:r>
              <a:rPr sz="1400"/>
              <a:t>Start 23 is voorkennis: invullen in een gegeven vraagfunctie en procentuele verandering. Bij twijfel verwijs naar p.48–49 voor invullen en q=0 en naar p.14 voor (nieuw−oud)/oud × 100%. Dit zijn eerdere uitlegpagina’s, geen nieuwe opdracht. Start 24 verkent juist de nieuwe collectieve vraag: laat p.68 openleggen, de definitie lezen en aanwijzen waarom je hoeveelheden bij dezelfde prijs optelt. Geef vooraf niet de uitkomst van opgave 24.</a:t>
            </a:r>
          </a:p>
          <a:p xmlns:a="http://schemas.openxmlformats.org/drawingml/2006/main">
            <a:r>
              <a:rPr sz="1400"/>
              <a:t/>
            </a:r>
          </a:p>
          <a:p xmlns:a="http://schemas.openxmlformats.org/drawingml/2006/main">
            <a:r>
              <a:rPr sz="1400"/>
              <a:t>Bij de tweede overzichtsdia, vóór het basiswerk: laat iedereen opgave 24 opnieuw bekijken en de keuze voor een totaal uitleggen met de zojuist geleerde methode. Bied zo nodig opnieuw p.68 aan. Pas daarna begint het basiswerk. Een eerste poging bewijst geen beheersing.</a:t>
            </a:r>
          </a:p>
          <a:p xmlns:a="http://schemas.openxmlformats.org/drawingml/2006/main">
            <a:r>
              <a:rPr sz="1400"/>
              <a:t/>
            </a:r>
          </a:p>
          <a:p xmlns:a="http://schemas.openxmlformats.org/drawingml/2006/main">
            <a:r>
              <a:rPr sz="1400"/>
              <a:t>Misvatting: De startverkenning van 24 is geen onaangekondigde toets van nieuw begrip. Gebruik complete-boekpagina’s, geen hoofdstukpagina’s.</a:t>
            </a:r>
          </a:p>
          <a:p xmlns:a="http://schemas.openxmlformats.org/drawingml/2006/main">
            <a:r>
              <a:rPr sz="1400"/>
              <a:t/>
            </a:r>
          </a:p>
          <a:p xmlns:a="http://schemas.openxmlformats.org/drawingml/2006/main">
            <a:r>
              <a:rPr sz="1400"/>
              <a:t>Overgang: Ga door naar de volgende fase wanneer de klas eraan toe is.</a:t>
            </a:r>
          </a:p>
          <a:p xmlns:a="http://schemas.openxmlformats.org/drawingml/2006/main">
            <a:r>
              <a:rPr sz="1400"/>
              <a:t/>
            </a:r>
          </a:p>
          <a:p xmlns:a="http://schemas.openxmlformats.org/drawingml/2006/main">
            <a:r>
              <a:rPr sz="1400"/>
              <a:t>Bron: Boek 1, tweede editie 2026, gedrukte pagina 14, 48–49, 68, 72–76.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moet gelijk blijven voordat je twee hoeveelheden bij elkaar telt?</a:t>
            </a:r>
          </a:p>
          <a:p xmlns:a="http://schemas.openxmlformats.org/drawingml/2006/main">
            <a:r>
              <a:rPr sz="1400"/>
              <a:t/>
            </a:r>
          </a:p>
          <a:p xmlns:a="http://schemas.openxmlformats.org/drawingml/2006/main">
            <a:r>
              <a:rPr sz="1400"/>
              <a:t>Uitleg: Deze doelen bereiden alle onderdelen van doelopgave 30 voor. De vraag heeft betrekking op een afgebakende markt. Bij groepen moeten ze afzonderlijk zijn, zodat niemand dubbel meetelt.</a:t>
            </a:r>
          </a:p>
          <a:p xmlns:a="http://schemas.openxmlformats.org/drawingml/2006/main">
            <a:r>
              <a:rPr sz="1400"/>
              <a:t/>
            </a:r>
          </a:p>
          <a:p xmlns:a="http://schemas.openxmlformats.org/drawingml/2006/main">
            <a:r>
              <a:rPr sz="1400"/>
              <a:t>Misvatting: Een totaal en een gemiddelde beantwoorden verschillende vragen.</a:t>
            </a:r>
          </a:p>
          <a:p xmlns:a="http://schemas.openxmlformats.org/drawingml/2006/main">
            <a:r>
              <a:rPr sz="1400"/>
              <a:t/>
            </a:r>
          </a:p>
          <a:p xmlns:a="http://schemas.openxmlformats.org/drawingml/2006/main">
            <a:r>
              <a:rPr sz="1400"/>
              <a:t>Overgang: Haal twee bekende rekenstappen kort op.</a:t>
            </a:r>
          </a:p>
          <a:p xmlns:a="http://schemas.openxmlformats.org/drawingml/2006/main">
            <a:r>
              <a:rPr sz="1400"/>
              <a:t/>
            </a:r>
          </a:p>
          <a:p xmlns:a="http://schemas.openxmlformats.org/drawingml/2006/main">
            <a:r>
              <a:rPr sz="1400"/>
              <a:t>Bron: Boek 1, tweede editie 2026, gedrukte pagina 68–72.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bewerking doe je eerst in 20−4×3?</a:t>
            </a:r>
          </a:p>
          <a:p xmlns:a="http://schemas.openxmlformats.org/drawingml/2006/main">
            <a:r>
              <a:rPr sz="1400"/>
              <a:t/>
            </a:r>
          </a:p>
          <a:p xmlns:a="http://schemas.openxmlformats.org/drawingml/2006/main">
            <a:r>
              <a:rPr sz="1400"/>
              <a:t>Uitleg: Korte terughaalronde na de start: de losstaande oefenformule q=20−4P bij P=3 is zelf gemaakt, geen boekopgave. Gebruik bijvoorbeeld q in liter per week en P in euro per liter, geldig 0≤P≤5. Vermenigvuldig vóór aftrekken. Bij een procentuele verandering bereken je eerst nieuw min oud en deel je door oud; een daling houdt haar minteken. Geef alleen extra uitleg waar de start dat nodig maakt.</a:t>
            </a:r>
          </a:p>
          <a:p xmlns:a="http://schemas.openxmlformats.org/drawingml/2006/main">
            <a:r>
              <a:rPr sz="1400"/>
              <a:t/>
            </a:r>
          </a:p>
          <a:p xmlns:a="http://schemas.openxmlformats.org/drawingml/2006/main">
            <a:r>
              <a:rPr sz="1400"/>
              <a:t>Misvatting: De prijs vermenigvuldigt alleen de coëfficiënt. Het verschil alleen is nog geen procent.</a:t>
            </a:r>
          </a:p>
          <a:p xmlns:a="http://schemas.openxmlformats.org/drawingml/2006/main">
            <a:r>
              <a:rPr sz="1400"/>
              <a:t/>
            </a:r>
          </a:p>
          <a:p xmlns:a="http://schemas.openxmlformats.org/drawingml/2006/main">
            <a:r>
              <a:rPr sz="1400"/>
              <a:t>Overgang: De volgende dia begint een andere, nieuwe ijstheesituatie.</a:t>
            </a:r>
          </a:p>
          <a:p xmlns:a="http://schemas.openxmlformats.org/drawingml/2006/main">
            <a:r>
              <a:rPr sz="1400"/>
              <a:t/>
            </a:r>
          </a:p>
          <a:p xmlns:a="http://schemas.openxmlformats.org/drawingml/2006/main">
            <a:r>
              <a:rPr sz="1400"/>
              <a:t>Bron: Boek 1, tweede editie 2026, gedrukte pagina 14, 27, 48–49.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prijsgrens hoort bij welke koper?</a:t>
            </a:r>
          </a:p>
          <a:p xmlns:a="http://schemas.openxmlformats.org/drawingml/2006/main">
            <a:r>
              <a:rPr sz="1400"/>
              <a:t/>
            </a:r>
          </a:p>
          <a:p xmlns:a="http://schemas.openxmlformats.org/drawingml/2006/main">
            <a:r>
              <a:rPr sz="1400"/>
              <a:t>Uitleg: Dit is een afzonderlijk uitlegvoorbeeld, niet een boekopgave. Zet het product en de periode opnieuw vast: ijsthee, liter per week. De twee individuele kopers overlappen niet. De rekenregels zijn lineair en gelden alleen binnen hun prijsgrens; daarboven koopt die koper niets. Kleine q is individueel, grote Q is hier hun gezamenlijke vraag.</a:t>
            </a:r>
          </a:p>
          <a:p xmlns:a="http://schemas.openxmlformats.org/drawingml/2006/main">
            <a:r>
              <a:rPr sz="1400"/>
              <a:t/>
            </a:r>
          </a:p>
          <a:p xmlns:a="http://schemas.openxmlformats.org/drawingml/2006/main">
            <a:r>
              <a:rPr sz="1400"/>
              <a:t>Misvatting: Neem geen getallen of maandperiode over uit het voorgaande sapmodel of de korte herhaling.</a:t>
            </a:r>
          </a:p>
          <a:p xmlns:a="http://schemas.openxmlformats.org/drawingml/2006/main">
            <a:r>
              <a:rPr sz="1400"/>
              <a:t/>
            </a:r>
          </a:p>
          <a:p xmlns:a="http://schemas.openxmlformats.org/drawingml/2006/main">
            <a:r>
              <a:rPr sz="1400"/>
              <a:t>Overgang: Bereken eerst bij één gemeenschappelijke prijs.</a:t>
            </a:r>
          </a:p>
          <a:p xmlns:a="http://schemas.openxmlformats.org/drawingml/2006/main">
            <a:r>
              <a:rPr sz="1400"/>
              <a:t/>
            </a:r>
          </a:p>
          <a:p xmlns:a="http://schemas.openxmlformats.org/drawingml/2006/main">
            <a:r>
              <a:rPr sz="1400"/>
              <a:t>Bron: Boek 1, tweede editie 2026, gedrukte pagina 68–71.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De ijstheesituatie en getallen zijn voor deze presentatie gemaakt; de boekpagina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tel je op en welke blijft gelijk?</a:t>
            </a:r>
          </a:p>
          <a:p xmlns:a="http://schemas.openxmlformats.org/drawingml/2006/main">
            <a:r>
              <a:rPr sz="1400"/>
              <a:t/>
            </a:r>
          </a:p>
          <a:p xmlns:a="http://schemas.openxmlformats.org/drawingml/2006/main">
            <a:r>
              <a:rPr sz="1400"/>
              <a:t>Uitleg: Controleer vóór het rekenen hetzelfde product, dezelfde periode, dezelfde eenheid en dezelfde prijs. Andere omstandigheden blijven gelijk en niemand telt dubbel. Bij P=2 zijn beide regels geldig. Vermenigvuldig eerst: A 15−6=9 en B 14−4=10. Voor de collectieve vraag telt de som. De prijs blijft 2 euro; het gemiddelde beschrijft een gemiddelde koper, niet de totale hoeveelheid.</a:t>
            </a:r>
          </a:p>
          <a:p xmlns:a="http://schemas.openxmlformats.org/drawingml/2006/main">
            <a:r>
              <a:rPr sz="1400"/>
              <a:t/>
            </a:r>
          </a:p>
          <a:p xmlns:a="http://schemas.openxmlformats.org/drawingml/2006/main">
            <a:r>
              <a:rPr sz="1400"/>
              <a:t>Misvatting: Tel geen prijzen op en deel het totaal niet door het aantal kopers.</a:t>
            </a:r>
          </a:p>
          <a:p xmlns:a="http://schemas.openxmlformats.org/drawingml/2006/main">
            <a:r>
              <a:rPr sz="1400"/>
              <a:t/>
            </a:r>
          </a:p>
          <a:p xmlns:a="http://schemas.openxmlformats.org/drawingml/2006/main">
            <a:r>
              <a:rPr sz="1400"/>
              <a:t>Overgang: Lees dezelfde som horizontaal in grafieken.</a:t>
            </a:r>
          </a:p>
          <a:p xmlns:a="http://schemas.openxmlformats.org/drawingml/2006/main">
            <a:r>
              <a:rPr sz="1400"/>
              <a:t/>
            </a:r>
          </a:p>
          <a:p xmlns:a="http://schemas.openxmlformats.org/drawingml/2006/main">
            <a:r>
              <a:rPr sz="1400"/>
              <a:t>Bron: Boek 1, tweede editie 2026, gedrukte pagina 68.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De ijstheesituatie en getallen zijn voor deze presentatie gemaakt; de boekpagina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schrijven we het gezamenlijke punt als (19;2) en niet als (2;19)?</a:t>
            </a:r>
          </a:p>
          <a:p xmlns:a="http://schemas.openxmlformats.org/drawingml/2006/main">
            <a:r>
              <a:rPr sz="1400"/>
              <a:t/>
            </a:r>
          </a:p>
          <a:p xmlns:a="http://schemas.openxmlformats.org/drawingml/2006/main">
            <a:r>
              <a:rPr sz="1400"/>
              <a:t>Uitleg: De drie afzonderlijke grafieken hebben exact dezelfde x-schaal 0–30 en P-schaal 0–8. Volg in ieder individueel paneel P=2 horizontaal naar de vraaglijn en vervolgens omlaag. A geeft q=9 en B q=10. De hoeveelheidcoördinaten worden samen 19; P blijft 2. Het laatste paneel toont eerst alleen het punt, nog geen complete somlijn.</a:t>
            </a:r>
          </a:p>
          <a:p xmlns:a="http://schemas.openxmlformats.org/drawingml/2006/main">
            <a:r>
              <a:rPr sz="1400"/>
              <a:t/>
            </a:r>
          </a:p>
          <a:p xmlns:a="http://schemas.openxmlformats.org/drawingml/2006/main">
            <a:r>
              <a:rPr sz="1400"/>
              <a:t>Misvatting: Q staat horizontaal; P staat verticaal, ongeacht de volgorde in de formule.</a:t>
            </a:r>
          </a:p>
          <a:p xmlns:a="http://schemas.openxmlformats.org/drawingml/2006/main">
            <a:r>
              <a:rPr sz="1400"/>
              <a:t/>
            </a:r>
          </a:p>
          <a:p xmlns:a="http://schemas.openxmlformats.org/drawingml/2006/main">
            <a:r>
              <a:rPr sz="1400"/>
              <a:t>Overgang: Stel daarna de functie op die bij meer prijzen werkt.</a:t>
            </a:r>
          </a:p>
          <a:p xmlns:a="http://schemas.openxmlformats.org/drawingml/2006/main">
            <a:r>
              <a:rPr sz="1400"/>
              <a:t/>
            </a:r>
          </a:p>
          <a:p xmlns:a="http://schemas.openxmlformats.org/drawingml/2006/main">
            <a:r>
              <a:rPr sz="1400"/>
              <a:t>Bron: Boek 1, tweede editie 2026, gedrukte pagina 69.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De ijstheesituatie en getallen zijn voor deze presentatie gemaakt; de boekpagina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stopt de gezamenlijke regel bij 5 en niet bij 7?</a:t>
            </a:r>
          </a:p>
          <a:p xmlns:a="http://schemas.openxmlformats.org/drawingml/2006/main">
            <a:r>
              <a:rPr sz="1400"/>
              <a:t/>
            </a:r>
          </a:p>
          <a:p xmlns:a="http://schemas.openxmlformats.org/drawingml/2006/main">
            <a:r>
              <a:rPr sz="1400"/>
              <a:t>Uitleg: Verzamel gelijksoortige termen. De losse getallen zijn de twee hoeveelheden bij P=0: 15+14=29. Bij een euro prijsstijging vraagt A 3 liter minder en B 2 liter minder, samen 5 liter minder. De somregel geldt alleen waar beide oorspronkelijke regels gelden: tot en met 5. Bij P=5 is A precies nul, en de formule is daar nog geldig.</a:t>
            </a:r>
          </a:p>
          <a:p xmlns:a="http://schemas.openxmlformats.org/drawingml/2006/main">
            <a:r>
              <a:rPr sz="1400"/>
              <a:t/>
            </a:r>
          </a:p>
          <a:p xmlns:a="http://schemas.openxmlformats.org/drawingml/2006/main">
            <a:r>
              <a:rPr sz="1400"/>
              <a:t>Misvatting: Het optellen van de getallen geeft geen toestemming om geldigheidsgrenzen weg te laten.</a:t>
            </a:r>
          </a:p>
          <a:p xmlns:a="http://schemas.openxmlformats.org/drawingml/2006/main">
            <a:r>
              <a:rPr sz="1400"/>
              <a:t/>
            </a:r>
          </a:p>
          <a:p xmlns:a="http://schemas.openxmlformats.org/drawingml/2006/main">
            <a:r>
              <a:rPr sz="1400"/>
              <a:t>Overgang: Controleer de formule met de tabel.</a:t>
            </a:r>
          </a:p>
          <a:p xmlns:a="http://schemas.openxmlformats.org/drawingml/2006/main">
            <a:r>
              <a:rPr sz="1400"/>
              <a:t/>
            </a:r>
          </a:p>
          <a:p xmlns:a="http://schemas.openxmlformats.org/drawingml/2006/main">
            <a:r>
              <a:rPr sz="1400"/>
              <a:t>Bron: Boek 1, tweede editie 2026, gedrukte pagina 69, 71.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De ijstheesituatie en getallen zijn voor deze presentatie gemaakt; de boekpagina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tabelrij laat zien waar A niets meer vraagt?</a:t>
            </a:r>
          </a:p>
          <a:p xmlns:a="http://schemas.openxmlformats.org/drawingml/2006/main">
            <a:r>
              <a:rPr sz="1400"/>
              <a:t/>
            </a:r>
          </a:p>
          <a:p xmlns:a="http://schemas.openxmlformats.org/drawingml/2006/main">
            <a:r>
              <a:rPr sz="1400"/>
              <a:t>Uitleg: Alle hoeveelheden in de tabel zijn liter per week. Reken P=4 voor: A 15−3×4=3, B 14−2×4=6 en totaal 9. De somfunctie geeft ook 9. De controle verbindt tabel en algebra. P=5 mag nog mee omdat A dan precies nul is.</a:t>
            </a:r>
          </a:p>
          <a:p xmlns:a="http://schemas.openxmlformats.org/drawingml/2006/main">
            <a:r>
              <a:rPr sz="1400"/>
              <a:t/>
            </a:r>
          </a:p>
          <a:p xmlns:a="http://schemas.openxmlformats.org/drawingml/2006/main">
            <a:r>
              <a:rPr sz="1400"/>
              <a:t>Misvatting: Een tabelrij heeft één prijs. Tel nooit de hoeveelheid uit twee verschillende prijsrijen op.</a:t>
            </a:r>
          </a:p>
          <a:p xmlns:a="http://schemas.openxmlformats.org/drawingml/2006/main">
            <a:r>
              <a:rPr sz="1400"/>
              <a:t/>
            </a:r>
          </a:p>
          <a:p xmlns:a="http://schemas.openxmlformats.org/drawingml/2006/main">
            <a:r>
              <a:rPr sz="1400"/>
              <a:t>Overgang: Gebruik de grensprijzen voor de eindpunten van de grafiek.</a:t>
            </a:r>
          </a:p>
          <a:p xmlns:a="http://schemas.openxmlformats.org/drawingml/2006/main">
            <a:r>
              <a:rPr sz="1400"/>
              <a:t/>
            </a:r>
          </a:p>
          <a:p xmlns:a="http://schemas.openxmlformats.org/drawingml/2006/main">
            <a:r>
              <a:rPr sz="1400"/>
              <a:t>Bron: Boek 1, tweede editie 2026, gedrukte pagina 69, 71.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De ijstheesituatie en getallen zijn voor deze presentatie gemaakt; de boekpagina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(0;5,8) geen eindpunt voor deze opdracht?</a:t>
            </a:r>
          </a:p>
          <a:p xmlns:a="http://schemas.openxmlformats.org/drawingml/2006/main">
            <a:r>
              <a:rPr sz="1400"/>
              <a:t/>
            </a:r>
          </a:p>
          <a:p xmlns:a="http://schemas.openxmlformats.org/drawingml/2006/main">
            <a:r>
              <a:rPr sz="1400"/>
              <a:t>Uitleg: De vroegere vraaglijn ging tussen twee assnijpunten. Hier is eerst het geldige prijsinterval bepalend: P=0 geeft Q=29, P=5 geeft Q=4. De lijn hoeft dus niet tot de prijsas te lopen. Zet Q als eerste coördinaat. Het bekende P=2-punt controleert de rechte lijn. Kies een schaal waarop alle drie punten passen.</a:t>
            </a:r>
          </a:p>
          <a:p xmlns:a="http://schemas.openxmlformats.org/drawingml/2006/main">
            <a:r>
              <a:rPr sz="1400"/>
              <a:t/>
            </a:r>
          </a:p>
          <a:p xmlns:a="http://schemas.openxmlformats.org/drawingml/2006/main">
            <a:r>
              <a:rPr sz="1400"/>
              <a:t>Misvatting: Het algebraïsche snijpunt met de P-as ligt buiten 0≤P≤5. Dat is hier geen geldige tekening.</a:t>
            </a:r>
          </a:p>
          <a:p xmlns:a="http://schemas.openxmlformats.org/drawingml/2006/main">
            <a:r>
              <a:rPr sz="1400"/>
              <a:t/>
            </a:r>
          </a:p>
          <a:p xmlns:a="http://schemas.openxmlformats.org/drawingml/2006/main">
            <a:r>
              <a:rPr sz="1400"/>
              <a:t>Overgang: Verbind nu alleen de berekende eindpunten.</a:t>
            </a:r>
          </a:p>
          <a:p xmlns:a="http://schemas.openxmlformats.org/drawingml/2006/main">
            <a:r>
              <a:rPr sz="1400"/>
              <a:t/>
            </a:r>
          </a:p>
          <a:p xmlns:a="http://schemas.openxmlformats.org/drawingml/2006/main">
            <a:r>
              <a:rPr sz="1400"/>
              <a:t>Bron: Boek 1, tweede editie 2026, gedrukte pagina 48–49, 71–72.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De ijstheesituatie en getallen zijn voor deze presentatie gemaakt; de boekpagina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zie je dat deze lijn bij P=5 nog niet de prijsas raakt?</a:t>
            </a:r>
          </a:p>
          <a:p xmlns:a="http://schemas.openxmlformats.org/drawingml/2006/main">
            <a:r>
              <a:rPr sz="1400"/>
              <a:t/>
            </a:r>
          </a:p>
          <a:p xmlns:a="http://schemas.openxmlformats.org/drawingml/2006/main">
            <a:r>
              <a:rPr sz="1400"/>
              <a:t>Uitleg: De native XY-grafiek tekent de berekende coördinaten op numerieke assen. De lijn loopt alleen van (29;0) naar (4;5). Het punt bij 2 euro ligt op de lijn en de hulplijnen sluiten precies aan. Wijs de horizontale hoeveelheidsas en verticale prijsas aan.</a:t>
            </a:r>
          </a:p>
          <a:p xmlns:a="http://schemas.openxmlformats.org/drawingml/2006/main">
            <a:r>
              <a:rPr sz="1400"/>
              <a:t/>
            </a:r>
          </a:p>
          <a:p xmlns:a="http://schemas.openxmlformats.org/drawingml/2006/main">
            <a:r>
              <a:rPr sz="1400"/>
              <a:t>Misvatting: Een rechte lijn binnen het interval mag je niet automatisch daarbuiten verlengen.</a:t>
            </a:r>
          </a:p>
          <a:p xmlns:a="http://schemas.openxmlformats.org/drawingml/2006/main">
            <a:r>
              <a:rPr sz="1400"/>
              <a:t/>
            </a:r>
          </a:p>
          <a:p xmlns:a="http://schemas.openxmlformats.org/drawingml/2006/main">
            <a:r>
              <a:rPr sz="1400"/>
              <a:t>Overgang: Onderzoek wat er gebeurt bij een hogere prijs.</a:t>
            </a:r>
          </a:p>
          <a:p xmlns:a="http://schemas.openxmlformats.org/drawingml/2006/main">
            <a:r>
              <a:rPr sz="1400"/>
              <a:t/>
            </a:r>
          </a:p>
          <a:p xmlns:a="http://schemas.openxmlformats.org/drawingml/2006/main">
            <a:r>
              <a:rPr sz="1400"/>
              <a:t>Bron: Boek 1, tweede editie 2026, gedrukte pagina 69, 71–72.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De ijstheesituatie en getallen zijn voor deze presentatie gemaakt; de boekpagina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A’s bijdrage nul en niet min drie?</a:t>
            </a:r>
          </a:p>
          <a:p xmlns:a="http://schemas.openxmlformats.org/drawingml/2006/main">
            <a:r>
              <a:rPr sz="1400"/>
              <a:t/>
            </a:r>
          </a:p>
          <a:p xmlns:a="http://schemas.openxmlformats.org/drawingml/2006/main">
            <a:r>
              <a:rPr sz="1400"/>
              <a:t>Uitleg: A koopt nul, niet 15−3×6=−3 liter. B koopt nog 2 liter per week. De geldige som is dus 2. De oude somregel zou 29−5×6=−1 geven: daarin wordt B’s 2 verminderd met de niet-bestaande −3 van A. Behoud de vraag van B volledig.</a:t>
            </a:r>
          </a:p>
          <a:p xmlns:a="http://schemas.openxmlformats.org/drawingml/2006/main">
            <a:r>
              <a:rPr sz="1400"/>
              <a:t/>
            </a:r>
          </a:p>
          <a:p xmlns:a="http://schemas.openxmlformats.org/drawingml/2006/main">
            <a:r>
              <a:rPr sz="1400"/>
              <a:t>Misvatting: Een negatieve rekenuitkomst buiten het prijsinterval is geen negatieve vraag.</a:t>
            </a:r>
          </a:p>
          <a:p xmlns:a="http://schemas.openxmlformats.org/drawingml/2006/main">
            <a:r>
              <a:rPr sz="1400"/>
              <a:t/>
            </a:r>
          </a:p>
          <a:p xmlns:a="http://schemas.openxmlformats.org/drawingml/2006/main">
            <a:r>
              <a:rPr sz="1400"/>
              <a:t>Overgang: Bekijk dezelfde beperking in de grafiek.</a:t>
            </a:r>
          </a:p>
          <a:p xmlns:a="http://schemas.openxmlformats.org/drawingml/2006/main">
            <a:r>
              <a:rPr sz="1400"/>
              <a:t/>
            </a:r>
          </a:p>
          <a:p xmlns:a="http://schemas.openxmlformats.org/drawingml/2006/main">
            <a:r>
              <a:rPr sz="1400"/>
              <a:t>Bron: Boek 1, tweede editie 2026, gedrukte pagina 70–71.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De ijstheesituatie en getallen zijn voor deze presentatie gemaakt; de boekpagina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verandert de richting van de lijn bij € 5?</a:t>
            </a:r>
          </a:p>
          <a:p xmlns:a="http://schemas.openxmlformats.org/drawingml/2006/main">
            <a:r>
              <a:rPr sz="1400"/>
              <a:t/>
            </a:r>
          </a:p>
          <a:p xmlns:a="http://schemas.openxmlformats.org/drawingml/2006/main">
            <a:r>
              <a:rPr sz="1400"/>
              <a:t>Uitleg: De schalen zijn hetzelfde als in de vorige gezamenlijke grafiek: Q 0–30 en P 0–8. Tot P=5 loopt het blauwe segment. Daarna volgt de oranje lijn de vraag van B: (4;5), (2;6), (0;7). Boven 7 vragen beiden niets. Een formele stukgewijze formule is geen leerdoel; telkens per koper de grens controleren is genoeg.</a:t>
            </a:r>
          </a:p>
          <a:p xmlns:a="http://schemas.openxmlformats.org/drawingml/2006/main">
            <a:r>
              <a:rPr sz="1400"/>
              <a:t/>
            </a:r>
          </a:p>
          <a:p xmlns:a="http://schemas.openxmlformats.org/drawingml/2006/main">
            <a:r>
              <a:rPr sz="1400"/>
              <a:t>Misvatting: Het verdwijnen van A’s vraag doet B’s vraag niet verdwijnen.</a:t>
            </a:r>
          </a:p>
          <a:p xmlns:a="http://schemas.openxmlformats.org/drawingml/2006/main">
            <a:r>
              <a:rPr sz="1400"/>
              <a:t/>
            </a:r>
          </a:p>
          <a:p xmlns:a="http://schemas.openxmlformats.org/drawingml/2006/main">
            <a:r>
              <a:rPr sz="1400"/>
              <a:t>Overgang: Laat de leerlingen de startverkenning opnieuw bekijken en begin daarna bij basis 25.</a:t>
            </a:r>
          </a:p>
          <a:p xmlns:a="http://schemas.openxmlformats.org/drawingml/2006/main">
            <a:r>
              <a:rPr sz="1400"/>
              <a:t/>
            </a:r>
          </a:p>
          <a:p xmlns:a="http://schemas.openxmlformats.org/drawingml/2006/main">
            <a:r>
              <a:rPr sz="1400"/>
              <a:t>Bron: Boek 1, tweede editie 2026, gedrukte pagina 70.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De ijstheesituatie en getallen zijn voor deze presentatie gemaakt; de boekpagina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volgende opgave past bij je plek in de route?</a:t>
            </a:r>
          </a:p>
          <a:p xmlns:a="http://schemas.openxmlformats.org/drawingml/2006/main">
            <a:r>
              <a:rPr sz="1400"/>
              <a:t/>
            </a:r>
          </a:p>
          <a:p xmlns:a="http://schemas.openxmlformats.org/drawingml/2006/main">
            <a:r>
              <a:rPr sz="1400"/>
              <a:t>Uitleg: Laat dit overzicht staan tijdens zelfstandig werken. Opgaven 23 en 24 staan op p.72. Basis: 25 op p.73, 26–27 op p.74. Zelfstandig 28–29 staan op p.75. Doelopgave 30 staat op p.76. Huiswerk: alle opgaven 25 tot en met 30 maken en nakijken; 31–33 zijn extra. De volledige route hoeft niet in één les af. De docenthandleiding schat de normale route op 137 minuten, zonder leerlingmetingen.</a:t>
            </a:r>
          </a:p>
          <a:p xmlns:a="http://schemas.openxmlformats.org/drawingml/2006/main">
            <a:r>
              <a:rPr sz="1400"/>
              <a:t/>
            </a:r>
          </a:p>
          <a:p xmlns:a="http://schemas.openxmlformats.org/drawingml/2006/main">
            <a:r>
              <a:rPr sz="1400"/>
              <a:t>Start 23 is voorkennis: invullen in een gegeven vraagfunctie en procentuele verandering. Bij twijfel verwijs naar p.48–49 voor invullen en q=0 en naar p.14 voor (nieuw−oud)/oud × 100%. Dit zijn eerdere uitlegpagina’s, geen nieuwe opdracht. Start 24 verkent juist de nieuwe collectieve vraag: laat p.68 openleggen, de definitie lezen en aanwijzen waarom je hoeveelheden bij dezelfde prijs optelt. Geef vooraf niet de uitkomst van opgave 24.</a:t>
            </a:r>
          </a:p>
          <a:p xmlns:a="http://schemas.openxmlformats.org/drawingml/2006/main">
            <a:r>
              <a:rPr sz="1400"/>
              <a:t/>
            </a:r>
          </a:p>
          <a:p xmlns:a="http://schemas.openxmlformats.org/drawingml/2006/main">
            <a:r>
              <a:rPr sz="1400"/>
              <a:t>Bij de tweede overzichtsdia, vóór het basiswerk: laat iedereen opgave 24 opnieuw bekijken en de keuze voor een totaal uitleggen met de zojuist geleerde methode. Bied zo nodig opnieuw p.68 aan. Pas daarna begint het basiswerk. Een eerste poging bewijst geen beheersing.</a:t>
            </a:r>
          </a:p>
          <a:p xmlns:a="http://schemas.openxmlformats.org/drawingml/2006/main">
            <a:r>
              <a:rPr sz="1400"/>
              <a:t/>
            </a:r>
          </a:p>
          <a:p xmlns:a="http://schemas.openxmlformats.org/drawingml/2006/main">
            <a:r>
              <a:rPr sz="1400"/>
              <a:t>Misvatting: De startverkenning van 24 is geen onaangekondigde toets van nieuw begrip. Gebruik complete-boekpagina’s, geen hoofdstukpagina’s.</a:t>
            </a:r>
          </a:p>
          <a:p xmlns:a="http://schemas.openxmlformats.org/drawingml/2006/main">
            <a:r>
              <a:rPr sz="1400"/>
              <a:t/>
            </a:r>
          </a:p>
          <a:p xmlns:a="http://schemas.openxmlformats.org/drawingml/2006/main">
            <a:r>
              <a:rPr sz="1400"/>
              <a:t>Overgang: Ga door naar de volgende fase wanneer de klas eraan toe is.</a:t>
            </a:r>
          </a:p>
          <a:p xmlns:a="http://schemas.openxmlformats.org/drawingml/2006/main">
            <a:r>
              <a:rPr sz="1400"/>
              <a:t/>
            </a:r>
          </a:p>
          <a:p xmlns:a="http://schemas.openxmlformats.org/drawingml/2006/main">
            <a:r>
              <a:rPr sz="1400"/>
              <a:t>Bron: Boek 1, tweede editie 2026, gedrukte pagina 14, 48–49, 68, 72–76.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verschilt aan product en eenheid ten opzichte van het uitlegvoorbeeld?</a:t>
            </a:r>
          </a:p>
          <a:p xmlns:a="http://schemas.openxmlformats.org/drawingml/2006/main">
            <a:r>
              <a:rPr sz="1400"/>
              <a:t/>
            </a:r>
          </a:p>
          <a:p xmlns:a="http://schemas.openxmlformats.org/drawingml/2006/main">
            <a:r>
              <a:rPr sz="1400"/>
              <a:t>Uitleg: Begin deze bespreking pas na een eigen poging. Dit is de complete oorspronkelijke context uit opgave 30, nu met groepsvragen QA en QB. De volgende twee dia’s geven de lege tabel en alle vragen. Toon eerst alle vragen voordat een antwoorddia verschijnt.</a:t>
            </a:r>
          </a:p>
          <a:p xmlns:a="http://schemas.openxmlformats.org/drawingml/2006/main">
            <a:r>
              <a:rPr sz="1400"/>
              <a:t/>
            </a:r>
          </a:p>
          <a:p xmlns:a="http://schemas.openxmlformats.org/drawingml/2006/main">
            <a:r>
              <a:rPr sz="1400"/>
              <a:t>Misvatting: De getallen uit de ijstheesituatie zijn hier niet van toepassing. Dit zijn afzonderlijke groepen, geen individuele liters.</a:t>
            </a:r>
          </a:p>
          <a:p xmlns:a="http://schemas.openxmlformats.org/drawingml/2006/main">
            <a:r>
              <a:rPr sz="1400"/>
              <a:t/>
            </a:r>
          </a:p>
          <a:p xmlns:a="http://schemas.openxmlformats.org/drawingml/2006/main">
            <a:r>
              <a:rPr sz="1400"/>
              <a:t>Overgang: Toon de tabel en vragen a en b zonder antwoord.</a:t>
            </a:r>
          </a:p>
          <a:p xmlns:a="http://schemas.openxmlformats.org/drawingml/2006/main">
            <a:r>
              <a:rPr sz="1400"/>
              <a:t/>
            </a:r>
          </a:p>
          <a:p xmlns:a="http://schemas.openxmlformats.org/drawingml/2006/main">
            <a:r>
              <a:rPr sz="1400"/>
              <a:t>Bron: Boek 1, tweede editie 2026, gedrukte pagina 76.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eigen tussenstappen wil je straks vergelijken?</a:t>
            </a:r>
          </a:p>
          <a:p xmlns:a="http://schemas.openxmlformats.org/drawingml/2006/main">
            <a:r>
              <a:rPr sz="1400"/>
              <a:t/>
            </a:r>
          </a:p>
          <a:p xmlns:a="http://schemas.openxmlformats.org/drawingml/2006/main">
            <a:r>
              <a:rPr sz="1400"/>
              <a:t>Uitleg: De tabel is leeg zoals in het boek. Dit zijn de volledige deelvragen a en b. De functies staan op de voorafgaande dia. Herhaal die indien nodig zonder de tabel te vullen.</a:t>
            </a:r>
          </a:p>
          <a:p xmlns:a="http://schemas.openxmlformats.org/drawingml/2006/main">
            <a:r>
              <a:rPr sz="1400"/>
              <a:t/>
            </a:r>
          </a:p>
          <a:p xmlns:a="http://schemas.openxmlformats.org/drawingml/2006/main">
            <a:r>
              <a:rPr sz="1400"/>
              <a:t>Misvatting: De oplossing verschijnt pas nadat ook c, d en e getoond zijn.</a:t>
            </a:r>
          </a:p>
          <a:p xmlns:a="http://schemas.openxmlformats.org/drawingml/2006/main">
            <a:r>
              <a:rPr sz="1400"/>
              <a:t/>
            </a:r>
          </a:p>
          <a:p xmlns:a="http://schemas.openxmlformats.org/drawingml/2006/main">
            <a:r>
              <a:rPr sz="1400"/>
              <a:t>Overgang: Toon de resterende deelvragen.</a:t>
            </a:r>
          </a:p>
          <a:p xmlns:a="http://schemas.openxmlformats.org/drawingml/2006/main">
            <a:r>
              <a:rPr sz="1400"/>
              <a:t/>
            </a:r>
          </a:p>
          <a:p xmlns:a="http://schemas.openxmlformats.org/drawingml/2006/main">
            <a:r>
              <a:rPr sz="1400"/>
              <a:t>Bron: Boek 1, tweede editie 2026, gedrukte pagina 76.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 onderdeel moest je eerst de geldigheidsgrens bekijken?</a:t>
            </a:r>
          </a:p>
          <a:p xmlns:a="http://schemas.openxmlformats.org/drawingml/2006/main">
            <a:r>
              <a:rPr sz="1400"/>
              <a:t/>
            </a:r>
          </a:p>
          <a:p xmlns:a="http://schemas.openxmlformats.org/drawingml/2006/main">
            <a:r>
              <a:rPr sz="1400"/>
              <a:t>Uitleg: Nu zijn alle oorspronkelijke vragen zonder oplossing beschikbaar. De 2 reserveringen in e zijn de geciteerde foute leerlinguitkomst uit de vraag, niet het antwoord. Laat leerlingen hun eigen aanpak erbij houden.</a:t>
            </a:r>
          </a:p>
          <a:p xmlns:a="http://schemas.openxmlformats.org/drawingml/2006/main">
            <a:r>
              <a:rPr sz="1400"/>
              <a:t/>
            </a:r>
          </a:p>
          <a:p xmlns:a="http://schemas.openxmlformats.org/drawingml/2006/main">
            <a:r>
              <a:rPr sz="1400"/>
              <a:t>Misvatting: Bij d geldt niet langer het interval dat b en c noemen.</a:t>
            </a:r>
          </a:p>
          <a:p xmlns:a="http://schemas.openxmlformats.org/drawingml/2006/main">
            <a:r>
              <a:rPr sz="1400"/>
              <a:t/>
            </a:r>
          </a:p>
          <a:p xmlns:a="http://schemas.openxmlformats.org/drawingml/2006/main">
            <a:r>
              <a:rPr sz="1400"/>
              <a:t>Overgang: Begin de uitwerking bij de tabel, met een zichtbare berekening.</a:t>
            </a:r>
          </a:p>
          <a:p xmlns:a="http://schemas.openxmlformats.org/drawingml/2006/main">
            <a:r>
              <a:rPr sz="1400"/>
              <a:t/>
            </a:r>
          </a:p>
          <a:p xmlns:a="http://schemas.openxmlformats.org/drawingml/2006/main">
            <a:r>
              <a:rPr sz="1400"/>
              <a:t>Bron: Boek 1, tweede editie 2026, gedrukte pagina 76.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mag je hier beide oorspronkelijke regels gebruiken?</a:t>
            </a:r>
          </a:p>
          <a:p xmlns:a="http://schemas.openxmlformats.org/drawingml/2006/main">
            <a:r>
              <a:rPr sz="1400"/>
              <a:t/>
            </a:r>
          </a:p>
          <a:p xmlns:a="http://schemas.openxmlformats.org/drawingml/2006/main">
            <a:r>
              <a:rPr sz="1400"/>
              <a:t>Uitleg: Beide regels zijn bij P=4 geldig. Vermenigvuldig eerst en trek dan af. De ene groep vraagt 6 en de andere 16, samen 22. De eenheid is reserveringen per week; de prijs is euro per reservering. Gebruik precies dezelfde werkwijze in iedere rij.</a:t>
            </a:r>
          </a:p>
          <a:p xmlns:a="http://schemas.openxmlformats.org/drawingml/2006/main">
            <a:r>
              <a:rPr sz="1400"/>
              <a:t/>
            </a:r>
          </a:p>
          <a:p xmlns:a="http://schemas.openxmlformats.org/drawingml/2006/main">
            <a:r>
              <a:rPr sz="1400"/>
              <a:t>Misvatting: 22 is een hoeveelheid per week, geen prijs en geen voorspelling van daadwerkelijke verkoop.</a:t>
            </a:r>
          </a:p>
          <a:p xmlns:a="http://schemas.openxmlformats.org/drawingml/2006/main">
            <a:r>
              <a:rPr sz="1400"/>
              <a:t/>
            </a:r>
          </a:p>
          <a:p xmlns:a="http://schemas.openxmlformats.org/drawingml/2006/main">
            <a:r>
              <a:rPr sz="1400"/>
              <a:t>Overgang: Vul de overige rijen in.</a:t>
            </a:r>
          </a:p>
          <a:p xmlns:a="http://schemas.openxmlformats.org/drawingml/2006/main">
            <a:r>
              <a:rPr sz="1400"/>
              <a:t/>
            </a:r>
          </a:p>
          <a:p xmlns:a="http://schemas.openxmlformats.org/drawingml/2006/main">
            <a:r>
              <a:rPr sz="1400"/>
              <a:t>Bron: Boek 1, tweede editie 2026, gedrukte pagina 76.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rij laat de grens van de eerste groep zien?</a:t>
            </a:r>
          </a:p>
          <a:p xmlns:a="http://schemas.openxmlformats.org/drawingml/2006/main">
            <a:r>
              <a:rPr sz="1400"/>
              <a:t/>
            </a:r>
          </a:p>
          <a:p xmlns:a="http://schemas.openxmlformats.org/drawingml/2006/main">
            <a:r>
              <a:rPr sz="1400"/>
              <a:t>Uitleg: P=0: 18−0=18 en 24−0=24, som42. P=2:18−6=12 en 24−4=20, som32. P=4 is de vorige berekening. P=6:18−18=0 en 24−12=12, som12. De somfunctie blijft op de grens P=6 geldig. Iedere tabelrij gebruikt één prijs.</a:t>
            </a:r>
          </a:p>
          <a:p xmlns:a="http://schemas.openxmlformats.org/drawingml/2006/main">
            <a:r>
              <a:rPr sz="1400"/>
              <a:t/>
            </a:r>
          </a:p>
          <a:p xmlns:a="http://schemas.openxmlformats.org/drawingml/2006/main">
            <a:r>
              <a:rPr sz="1400"/>
              <a:t>Misvatting: Nul van A betekent niet nul van de hele markt.</a:t>
            </a:r>
          </a:p>
          <a:p xmlns:a="http://schemas.openxmlformats.org/drawingml/2006/main">
            <a:r>
              <a:rPr sz="1400"/>
              <a:t/>
            </a:r>
          </a:p>
          <a:p xmlns:a="http://schemas.openxmlformats.org/drawingml/2006/main">
            <a:r>
              <a:rPr sz="1400"/>
              <a:t>Overgang: Schrijf dezelfde regel nu als somfunctie.</a:t>
            </a:r>
          </a:p>
          <a:p xmlns:a="http://schemas.openxmlformats.org/drawingml/2006/main">
            <a:r>
              <a:rPr sz="1400"/>
              <a:t/>
            </a:r>
          </a:p>
          <a:p xmlns:a="http://schemas.openxmlformats.org/drawingml/2006/main">
            <a:r>
              <a:rPr sz="1400"/>
              <a:t>Bron: Boek 1, tweede editie 2026, gedrukte pagina 76.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bevestigt de tabel de gevonden formule?</a:t>
            </a:r>
          </a:p>
          <a:p xmlns:a="http://schemas.openxmlformats.org/drawingml/2006/main">
            <a:r>
              <a:rPr sz="1400"/>
              <a:t/>
            </a:r>
          </a:p>
          <a:p xmlns:a="http://schemas.openxmlformats.org/drawingml/2006/main">
            <a:r>
              <a:rPr sz="1400"/>
              <a:t>Uitleg: 18+24=42 en −3P−2P=−5P. De overlap van beide intervallen is 0 tot en met6. Bij4 geeft de somfunctie22, hetzelfde als6+16 in de tabel. Benoem zowel het algebraïsche verzamelen als de economische betekenis van de som.</a:t>
            </a:r>
          </a:p>
          <a:p xmlns:a="http://schemas.openxmlformats.org/drawingml/2006/main">
            <a:r>
              <a:rPr sz="1400"/>
              <a:t/>
            </a:r>
          </a:p>
          <a:p xmlns:a="http://schemas.openxmlformats.org/drawingml/2006/main">
            <a:r>
              <a:rPr sz="1400"/>
              <a:t>Misvatting: Laat het geldigheidsinterval niet weg, ook al past de formule bij alle vier tabelrijen.</a:t>
            </a:r>
          </a:p>
          <a:p xmlns:a="http://schemas.openxmlformats.org/drawingml/2006/main">
            <a:r>
              <a:rPr sz="1400"/>
              <a:t/>
            </a:r>
          </a:p>
          <a:p xmlns:a="http://schemas.openxmlformats.org/drawingml/2006/main">
            <a:r>
              <a:rPr sz="1400"/>
              <a:t>Overgang: Gebruik de twee intervalgrenzen om te tekenen.</a:t>
            </a:r>
          </a:p>
          <a:p xmlns:a="http://schemas.openxmlformats.org/drawingml/2006/main">
            <a:r>
              <a:rPr sz="1400"/>
              <a:t/>
            </a:r>
          </a:p>
          <a:p xmlns:a="http://schemas.openxmlformats.org/drawingml/2006/main">
            <a:r>
              <a:rPr sz="1400"/>
              <a:t>Bron: Boek 1, tweede editie 2026, gedrukte pagina 76.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zoeken we hier geen tweede assnijpunt?</a:t>
            </a:r>
          </a:p>
          <a:p xmlns:a="http://schemas.openxmlformats.org/drawingml/2006/main">
            <a:r>
              <a:rPr sz="1400"/>
              <a:t/>
            </a:r>
          </a:p>
          <a:p xmlns:a="http://schemas.openxmlformats.org/drawingml/2006/main">
            <a:r>
              <a:rPr sz="1400"/>
              <a:t>Uitleg: Gebruik eerst de gevraagde intervalgrenzen P=0 en P=6. Die geven de eindpunten; P=4 geeft het te markeren punt. Q is de eerste coördinaat. Kies bijvoorbeeld Q van 0 tot 50 en P van 0 tot 10, zodat de punten duidelijk passen.</a:t>
            </a:r>
          </a:p>
          <a:p xmlns:a="http://schemas.openxmlformats.org/drawingml/2006/main">
            <a:r>
              <a:rPr sz="1400"/>
              <a:t/>
            </a:r>
          </a:p>
          <a:p xmlns:a="http://schemas.openxmlformats.org/drawingml/2006/main">
            <a:r>
              <a:rPr sz="1400"/>
              <a:t>Misvatting: De verlengde lijn bereikt de P-as pas buiten het interval. Dat punt hoort niet bij de gevraagde tekening.</a:t>
            </a:r>
          </a:p>
          <a:p xmlns:a="http://schemas.openxmlformats.org/drawingml/2006/main">
            <a:r>
              <a:rPr sz="1400"/>
              <a:t/>
            </a:r>
          </a:p>
          <a:p xmlns:a="http://schemas.openxmlformats.org/drawingml/2006/main">
            <a:r>
              <a:rPr sz="1400"/>
              <a:t>Overgang: Verbind de eindpunten en markeer het controlepunt.</a:t>
            </a:r>
          </a:p>
          <a:p xmlns:a="http://schemas.openxmlformats.org/drawingml/2006/main">
            <a:r>
              <a:rPr sz="1400"/>
              <a:t/>
            </a:r>
          </a:p>
          <a:p xmlns:a="http://schemas.openxmlformats.org/drawingml/2006/main">
            <a:r>
              <a:rPr sz="1400"/>
              <a:t>Bron: Boek 1, tweede editie 2026, gedrukte pagina 76.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markering verbindt de tabelwaarde bij 4 met de grafiek?</a:t>
            </a:r>
          </a:p>
          <a:p xmlns:a="http://schemas.openxmlformats.org/drawingml/2006/main">
            <a:r>
              <a:rPr sz="1400"/>
              <a:t/>
            </a:r>
          </a:p>
          <a:p xmlns:a="http://schemas.openxmlformats.org/drawingml/2006/main">
            <a:r>
              <a:rPr sz="1400"/>
              <a:t>Uitleg: De native XY-grafiek bevat de twee eindpunten en het punt bij 4. De horizontale hulplijn eindigt bij(22;4); de verticale bijQ=22. Het lijnstuk eindigt op(12;6), duidelijk vóór de P-as. De assen noemen de juiste eenheden. Andere correcte schalen in leerlingwerk mogen.</a:t>
            </a:r>
          </a:p>
          <a:p xmlns:a="http://schemas.openxmlformats.org/drawingml/2006/main">
            <a:r>
              <a:rPr sz="1400"/>
              <a:t/>
            </a:r>
          </a:p>
          <a:p xmlns:a="http://schemas.openxmlformats.org/drawingml/2006/main">
            <a:r>
              <a:rPr sz="1400"/>
              <a:t>Misvatting: Doortrekken voorbij(12;6) verlaat het gevraagde interval.</a:t>
            </a:r>
          </a:p>
          <a:p xmlns:a="http://schemas.openxmlformats.org/drawingml/2006/main">
            <a:r>
              <a:rPr sz="1400"/>
              <a:t/>
            </a:r>
          </a:p>
          <a:p xmlns:a="http://schemas.openxmlformats.org/drawingml/2006/main">
            <a:r>
              <a:rPr sz="1400"/>
              <a:t>Overgang: Bereken nu een prijs buiten dat interval opnieuw per groep.</a:t>
            </a:r>
          </a:p>
          <a:p xmlns:a="http://schemas.openxmlformats.org/drawingml/2006/main">
            <a:r>
              <a:rPr sz="1400"/>
              <a:t/>
            </a:r>
          </a:p>
          <a:p xmlns:a="http://schemas.openxmlformats.org/drawingml/2006/main">
            <a:r>
              <a:rPr sz="1400"/>
              <a:t>Bron: Boek 1, tweede editie 2026, gedrukte pagina 76.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hoeveelheid mag je bij de som van B optellen?</a:t>
            </a:r>
          </a:p>
          <a:p xmlns:a="http://schemas.openxmlformats.org/drawingml/2006/main">
            <a:r>
              <a:rPr sz="1400"/>
              <a:t/>
            </a:r>
          </a:p>
          <a:p xmlns:a="http://schemas.openxmlformats.org/drawingml/2006/main">
            <a:r>
              <a:rPr sz="1400"/>
              <a:t>Uitleg: A’s oorspronkelijke regel is bij 8 niet geldig. Economisch koopt de groep nul. B is nog binnen de eigen grens, dus 24−16=8. Samen8 reserveringen per week bij 8 euro per reservering.</a:t>
            </a:r>
          </a:p>
          <a:p xmlns:a="http://schemas.openxmlformats.org/drawingml/2006/main">
            <a:r>
              <a:rPr sz="1400"/>
              <a:t/>
            </a:r>
          </a:p>
          <a:p xmlns:a="http://schemas.openxmlformats.org/drawingml/2006/main">
            <a:r>
              <a:rPr sz="1400"/>
              <a:t>Misvatting: De rekenuitkomst −6 uit A’s oude regel is geen aankoop.</a:t>
            </a:r>
          </a:p>
          <a:p xmlns:a="http://schemas.openxmlformats.org/drawingml/2006/main">
            <a:r>
              <a:rPr sz="1400"/>
              <a:t/>
            </a:r>
          </a:p>
          <a:p xmlns:a="http://schemas.openxmlformats.org/drawingml/2006/main">
            <a:r>
              <a:rPr sz="1400"/>
              <a:t>Overgang: Gebruik dit om de foute verlenging uit e te verklaren.</a:t>
            </a:r>
          </a:p>
          <a:p xmlns:a="http://schemas.openxmlformats.org/drawingml/2006/main">
            <a:r>
              <a:rPr sz="1400"/>
              <a:t/>
            </a:r>
          </a:p>
          <a:p xmlns:a="http://schemas.openxmlformats.org/drawingml/2006/main">
            <a:r>
              <a:rPr sz="1400"/>
              <a:t>Bron: Boek 1, tweede editie 2026, gedrukte pagina 76.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ongeldige bijdrage zit verstopt in de uitkomst2?</a:t>
            </a:r>
          </a:p>
          <a:p xmlns:a="http://schemas.openxmlformats.org/drawingml/2006/main">
            <a:r>
              <a:rPr sz="1400"/>
              <a:t/>
            </a:r>
          </a:p>
          <a:p xmlns:a="http://schemas.openxmlformats.org/drawingml/2006/main">
            <a:r>
              <a:rPr sz="1400"/>
              <a:t>Uitleg: De vraag noemt de onjuiste uitkomst2. Laat zien waar die vandaan komt: de buiten haar interval gebruikte somfunctie telt −6 van A bij 8 van B. De fout is dus inhoudelijk: je trekt niet-bestaande negatieve vraag af. Corrigeer de economische bijdrage van A naar 0 en behoud B’s8.</a:t>
            </a:r>
          </a:p>
          <a:p xmlns:a="http://schemas.openxmlformats.org/drawingml/2006/main">
            <a:r>
              <a:rPr sz="1400"/>
              <a:t/>
            </a:r>
          </a:p>
          <a:p xmlns:a="http://schemas.openxmlformats.org/drawingml/2006/main">
            <a:r>
              <a:rPr sz="1400"/>
              <a:t>Misvatting: Alleen zeggen dat de formule niet mag is minder volledig dan uitleggen welke negatieve bijdrage het probleem veroorzaakt.</a:t>
            </a:r>
          </a:p>
          <a:p xmlns:a="http://schemas.openxmlformats.org/drawingml/2006/main">
            <a:r>
              <a:rPr sz="1400"/>
              <a:t/>
            </a:r>
          </a:p>
          <a:p xmlns:a="http://schemas.openxmlformats.org/drawingml/2006/main">
            <a:r>
              <a:rPr sz="1400"/>
              <a:t>Overgang: Laat leerlingen ontbrekende stappen in hun eigen antwoord aanvullen.</a:t>
            </a:r>
          </a:p>
          <a:p xmlns:a="http://schemas.openxmlformats.org/drawingml/2006/main">
            <a:r>
              <a:rPr sz="1400"/>
              <a:t/>
            </a:r>
          </a:p>
          <a:p xmlns:a="http://schemas.openxmlformats.org/drawingml/2006/main">
            <a:r>
              <a:rPr sz="1400"/>
              <a:t>Bron: Boek 1, tweede editie 2026, gedrukte pagina 76.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ga je in je eigen uitwerking aanvullen?</a:t>
            </a:r>
          </a:p>
          <a:p xmlns:a="http://schemas.openxmlformats.org/drawingml/2006/main">
            <a:r>
              <a:rPr sz="1400"/>
              <a:t/>
            </a:r>
          </a:p>
          <a:p xmlns:a="http://schemas.openxmlformats.org/drawingml/2006/main">
            <a:r>
              <a:rPr sz="1400"/>
              <a:t>Uitleg: Laat leerlingen één concrete ontbrekende stap of verklaring in hun werk verbeteren. Controleer bij de grafiek tevens assen, eenheden, schaal en het beëindigen op(12;6). De tabel, functie en grafiek beschrijven hetzelfde bronmodel binnen het geldige interval.</a:t>
            </a:r>
          </a:p>
          <a:p xmlns:a="http://schemas.openxmlformats.org/drawingml/2006/main">
            <a:r>
              <a:rPr sz="1400"/>
              <a:t/>
            </a:r>
          </a:p>
          <a:p xmlns:a="http://schemas.openxmlformats.org/drawingml/2006/main">
            <a:r>
              <a:rPr sz="1400"/>
              <a:t>Misvatting: Een goed eindgetal zonder de gevraagde tekening of redenering is niet het volledige antwoord.</a:t>
            </a:r>
          </a:p>
          <a:p xmlns:a="http://schemas.openxmlformats.org/drawingml/2006/main">
            <a:r>
              <a:rPr sz="1400"/>
              <a:t/>
            </a:r>
          </a:p>
          <a:p xmlns:a="http://schemas.openxmlformats.org/drawingml/2006/main">
            <a:r>
              <a:rPr sz="1400"/>
              <a:t>Overgang: Sluit af met exact dezelfde route en huiswerkafspraak.</a:t>
            </a:r>
          </a:p>
          <a:p xmlns:a="http://schemas.openxmlformats.org/drawingml/2006/main">
            <a:r>
              <a:rPr sz="1400"/>
              <a:t/>
            </a:r>
          </a:p>
          <a:p xmlns:a="http://schemas.openxmlformats.org/drawingml/2006/main">
            <a:r>
              <a:rPr sz="1400"/>
              <a:t>Bron: Boek 1, tweede editie 2026, gedrukte pagina 76.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volgende opgave past bij je plek in de route?</a:t>
            </a:r>
          </a:p>
          <a:p xmlns:a="http://schemas.openxmlformats.org/drawingml/2006/main">
            <a:r>
              <a:rPr sz="1400"/>
              <a:t/>
            </a:r>
          </a:p>
          <a:p xmlns:a="http://schemas.openxmlformats.org/drawingml/2006/main">
            <a:r>
              <a:rPr sz="1400"/>
              <a:t>Uitleg: Laat dit overzicht staan tijdens afsluiting / huiswerk. Opgaven 23 en 24 staan op p.72. Basis: 25 op p.73, 26–27 op p.74. Zelfstandig 28–29 staan op p.75. Doelopgave 30 staat op p.76. Huiswerk: alle opgaven 25 tot en met 30 maken en nakijken; 31–33 zijn extra. De volledige route hoeft niet in één les af. De docenthandleiding schat de normale route op 137 minuten, zonder leerlingmetingen.</a:t>
            </a:r>
          </a:p>
          <a:p xmlns:a="http://schemas.openxmlformats.org/drawingml/2006/main">
            <a:r>
              <a:rPr sz="1400"/>
              <a:t/>
            </a:r>
          </a:p>
          <a:p xmlns:a="http://schemas.openxmlformats.org/drawingml/2006/main">
            <a:r>
              <a:rPr sz="1400"/>
              <a:t>Start 23 is voorkennis: invullen in een gegeven vraagfunctie en procentuele verandering. Bij twijfel verwijs naar p.48–49 voor invullen en q=0 en naar p.14 voor (nieuw−oud)/oud × 100%. Dit zijn eerdere uitlegpagina’s, geen nieuwe opdracht. Start 24 verkent juist de nieuwe collectieve vraag: laat p.68 openleggen, de definitie lezen en aanwijzen waarom je hoeveelheden bij dezelfde prijs optelt. Geef vooraf niet de uitkomst van opgave 24.</a:t>
            </a:r>
          </a:p>
          <a:p xmlns:a="http://schemas.openxmlformats.org/drawingml/2006/main">
            <a:r>
              <a:rPr sz="1400"/>
              <a:t/>
            </a:r>
          </a:p>
          <a:p xmlns:a="http://schemas.openxmlformats.org/drawingml/2006/main">
            <a:r>
              <a:rPr sz="1400"/>
              <a:t>Bij de tweede overzichtsdia, vóór het basiswerk: laat iedereen opgave 24 opnieuw bekijken en de keuze voor een totaal uitleggen met de zojuist geleerde methode. Bied zo nodig opnieuw p.68 aan. Pas daarna begint het basiswerk. Een eerste poging bewijst geen beheersing.</a:t>
            </a:r>
          </a:p>
          <a:p xmlns:a="http://schemas.openxmlformats.org/drawingml/2006/main">
            <a:r>
              <a:rPr sz="1400"/>
              <a:t/>
            </a:r>
          </a:p>
          <a:p xmlns:a="http://schemas.openxmlformats.org/drawingml/2006/main">
            <a:r>
              <a:rPr sz="1400"/>
              <a:t>Misvatting: De startverkenning van 24 is geen onaangekondigde toets van nieuw begrip. Gebruik complete-boekpagina’s, geen hoofdstukpagina’s.</a:t>
            </a:r>
          </a:p>
          <a:p xmlns:a="http://schemas.openxmlformats.org/drawingml/2006/main">
            <a:r>
              <a:rPr sz="1400"/>
              <a:t/>
            </a:r>
          </a:p>
          <a:p xmlns:a="http://schemas.openxmlformats.org/drawingml/2006/main">
            <a:r>
              <a:rPr sz="1400"/>
              <a:t>Overgang: Laat 25 tot en met 30 maken en nakijken in de agenda zetten.</a:t>
            </a:r>
          </a:p>
          <a:p xmlns:a="http://schemas.openxmlformats.org/drawingml/2006/main">
            <a:r>
              <a:rPr sz="1400"/>
              <a:t/>
            </a:r>
          </a:p>
          <a:p xmlns:a="http://schemas.openxmlformats.org/drawingml/2006/main">
            <a:r>
              <a:rPr sz="1400"/>
              <a:t>Bron: Boek 1, tweede editie 2026, gedrukte pagina 14, 48–49, 68, 72–76.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4abac6c0384d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e05380699f4e67" /><Relationship Type="http://schemas.openxmlformats.org/officeDocument/2006/relationships/slideLayout" Target="/ppt/slideLayouts/slideLayout1.xml" Id="R5adcd11732e14e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dcd11732e14e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cef88bac6e4837" /><Relationship Type="http://schemas.openxmlformats.org/officeDocument/2006/relationships/notesSlide" Target="/ppt/notesSlides/notesSlide1.xml" Id="R3ff8db6992f642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356af259404d1e" /><Relationship Type="http://schemas.openxmlformats.org/officeDocument/2006/relationships/notesSlide" Target="/ppt/notesSlides/notesSlide2.xml" Id="R59f968e367f845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928a9444a94720" /><Relationship Type="http://schemas.openxmlformats.org/officeDocument/2006/relationships/notesSlide" Target="/ppt/notesSlides/notesSlide3.xml" Id="Rb449ea6db52d4d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782f3ebfe04b2f" /><Relationship Type="http://schemas.openxmlformats.org/officeDocument/2006/relationships/notesSlide" Target="/ppt/notesSlides/notesSlide4.xml" Id="Rf5c7be7ef1084e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44d9a8f7dc240cd" /><Relationship Type="http://schemas.openxmlformats.org/officeDocument/2006/relationships/notesSlide" Target="/ppt/notesSlides/notesSlide5.xml" Id="R17adf64e865343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cda001101cd4a7c" /><Relationship Type="http://schemas.openxmlformats.org/officeDocument/2006/relationships/chart" Target="/ppt/slides/charts/chart1.xml" Id="R05038a2713c24594" /><Relationship Type="http://schemas.openxmlformats.org/officeDocument/2006/relationships/chart" Target="/ppt/slides/charts/chart2.xml" Id="R53b21b8f81cb49a5" /><Relationship Type="http://schemas.openxmlformats.org/officeDocument/2006/relationships/chart" Target="/ppt/slides/charts/chart3.xml" Id="R0cfc5ac212fe4ca7" /><Relationship Type="http://schemas.openxmlformats.org/officeDocument/2006/relationships/notesSlide" Target="/ppt/notesSlides/notesSlide6.xml" Id="R7e6f432ae8c74e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11824fae1bd4108" /><Relationship Type="http://schemas.openxmlformats.org/officeDocument/2006/relationships/notesSlide" Target="/ppt/notesSlides/notesSlide7.xml" Id="R3ff57d47dd6a46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65355f44c4c42e0" /><Relationship Type="http://schemas.openxmlformats.org/officeDocument/2006/relationships/notesSlide" Target="/ppt/notesSlides/notesSlide8.xml" Id="Rda700a6163a54f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ca6ec229394a7b" /><Relationship Type="http://schemas.openxmlformats.org/officeDocument/2006/relationships/notesSlide" Target="/ppt/notesSlides/notesSlide9.xml" Id="R7057aa32393744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ec99fc1f1284859" /><Relationship Type="http://schemas.openxmlformats.org/officeDocument/2006/relationships/chart" Target="/ppt/slides/charts/chart4.xml" Id="R9776cfd792c04d34" /><Relationship Type="http://schemas.openxmlformats.org/officeDocument/2006/relationships/notesSlide" Target="/ppt/notesSlides/notesSlide10.xml" Id="R4d7a5e1c7f9a48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9d8911df5ad4171" /><Relationship Type="http://schemas.openxmlformats.org/officeDocument/2006/relationships/notesSlide" Target="/ppt/notesSlides/notesSlide11.xml" Id="Rb17d2c407e424e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f5ea8ac2d9f49df" /><Relationship Type="http://schemas.openxmlformats.org/officeDocument/2006/relationships/chart" Target="/ppt/slides/charts/chart5.xml" Id="R6e80d32d74554ef6" /><Relationship Type="http://schemas.openxmlformats.org/officeDocument/2006/relationships/notesSlide" Target="/ppt/notesSlides/notesSlide12.xml" Id="R5c5b252e54f54b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0b80b820c1e4a21" /><Relationship Type="http://schemas.openxmlformats.org/officeDocument/2006/relationships/notesSlide" Target="/ppt/notesSlides/notesSlide13.xml" Id="R3369303f097845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0e859dd3a9947a0" /><Relationship Type="http://schemas.openxmlformats.org/officeDocument/2006/relationships/notesSlide" Target="/ppt/notesSlides/notesSlide14.xml" Id="Rd6367f32d59c44c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0bbf46f090d43fb" /><Relationship Type="http://schemas.openxmlformats.org/officeDocument/2006/relationships/notesSlide" Target="/ppt/notesSlides/notesSlide15.xml" Id="Rbb41af33d2164ec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7ce3d870b1348a1" /><Relationship Type="http://schemas.openxmlformats.org/officeDocument/2006/relationships/notesSlide" Target="/ppt/notesSlides/notesSlide16.xml" Id="R5e69ee0f4517466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13451496d644ba1" /><Relationship Type="http://schemas.openxmlformats.org/officeDocument/2006/relationships/notesSlide" Target="/ppt/notesSlides/notesSlide17.xml" Id="Rdcaec640b4514c7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8b3ed4a81314acc" /><Relationship Type="http://schemas.openxmlformats.org/officeDocument/2006/relationships/notesSlide" Target="/ppt/notesSlides/notesSlide18.xml" Id="R9ca0fa74442541f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71eef23670242f4" /><Relationship Type="http://schemas.openxmlformats.org/officeDocument/2006/relationships/notesSlide" Target="/ppt/notesSlides/notesSlide19.xml" Id="Rc24b929266934d0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d7e4a6a9f1a4a3b" /><Relationship Type="http://schemas.openxmlformats.org/officeDocument/2006/relationships/notesSlide" Target="/ppt/notesSlides/notesSlide20.xml" Id="Rab6b94eaf0a344e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462e5897ea842c1" /><Relationship Type="http://schemas.openxmlformats.org/officeDocument/2006/relationships/chart" Target="/ppt/slides/charts/chart6.xml" Id="R0421be7ae321438a" /><Relationship Type="http://schemas.openxmlformats.org/officeDocument/2006/relationships/notesSlide" Target="/ppt/notesSlides/notesSlide21.xml" Id="Rcbc59ae977db47c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1b15e361623469f" /><Relationship Type="http://schemas.openxmlformats.org/officeDocument/2006/relationships/notesSlide" Target="/ppt/notesSlides/notesSlide22.xml" Id="Re0653332ff3c4c0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d1002e6a7f2420f" /><Relationship Type="http://schemas.openxmlformats.org/officeDocument/2006/relationships/notesSlide" Target="/ppt/notesSlides/notesSlide23.xml" Id="R5b33a81c28b8471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1466d25d9354b8e" /><Relationship Type="http://schemas.openxmlformats.org/officeDocument/2006/relationships/notesSlide" Target="/ppt/notesSlides/notesSlide24.xml" Id="Rd5eb109a531c42e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6e0be9f824f48a2" /><Relationship Type="http://schemas.openxmlformats.org/officeDocument/2006/relationships/notesSlide" Target="/ppt/notesSlides/notesSlide25.xml" Id="Rf538412002ef411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Koper A</c:v>
          </c:tx>
          <c:spPr>
            <a:ln xmlns:a="http://schemas.openxmlformats.org/drawingml/2006/main" w="38100">
              <a:solidFill>
                <a:srgbClr val="17658A"/>
              </a:solidFill>
            </a:ln>
          </c:spPr>
          <c:marker>
            <c:symbol val="circle"/>
            <c:size val="7"/>
            <c:spPr>
              <a:solidFill xmlns:a="http://schemas.openxmlformats.org/drawingml/2006/main">
                <a:srgbClr val="17658A"/>
              </a:solidFill>
            </c:spPr>
          </c:marker>
          <c:xVal>
            <c:numRef>
              <c:f>'Chart Data'!$A$2:$A$4</c:f>
              <c:numCache>
                <c:formatCode>General</c:formatCode>
                <c:ptCount val="3"/>
                <c:pt idx="0">
                  <c:v>15</c:v>
                </c:pt>
                <c:pt idx="1">
                  <c:v>9</c:v>
                </c:pt>
                <c:pt idx="2">
                  <c:v>0</c:v>
                </c:pt>
              </c:numCache>
            </c:numRef>
          </c:xVal>
          <c:yVal>
            <c:numRef>
              <c:f>'Chart Data'!$B$2:$B$4</c:f>
              <c:numCache>
                <c:formatCode>0</c:formatCode>
                <c:ptCount val="3"/>
                <c:pt idx="0">
                  <c:v>0</c:v>
                </c:pt>
                <c:pt idx="1">
                  <c:v>2</c:v>
                </c:pt>
                <c:pt idx="2">
                  <c:v>5</c:v>
                </c:pt>
              </c:numCache>
            </c:numRef>
          </c:yVal>
          <c:smooth val="0"/>
        </c:ser>
        <c:ser>
          <c:idx val="1"/>
          <c:order val="1"/>
          <c:tx>
            <c:v>Prijs 2</c:v>
          </c:tx>
          <c:spPr>
            <a:ln xmlns:a="http://schemas.openxmlformats.org/drawingml/2006/main" w="14288">
              <a:solidFill>
                <a:srgbClr val="445B6B"/>
              </a:solidFill>
              <a:prstDash val="dash"/>
            </a:ln>
          </c:spPr>
          <c:marker>
            <c:symbol val="none"/>
          </c:marker>
          <c:xVal>
            <c:numRef>
              <c:f>'Chart Data'!$C$2:$C$3</c:f>
              <c:numCache>
                <c:formatCode>General</c:formatCode>
                <c:ptCount val="2"/>
                <c:pt idx="0">
                  <c:v>0</c:v>
                </c:pt>
                <c:pt idx="1">
                  <c:v>9</c:v>
                </c:pt>
              </c:numCache>
            </c:numRef>
          </c:xVal>
          <c:yVal>
            <c:numRef>
              <c:f>'Chart Data'!$D$2:$D$3</c:f>
              <c:numCache>
                <c:formatCode>0</c:formatCode>
                <c:ptCount val="2"/>
                <c:pt idx="0">
                  <c:v>2</c:v>
                </c:pt>
                <c:pt idx="1">
                  <c:v>2</c:v>
                </c:pt>
              </c:numCache>
            </c:numRef>
          </c:yVal>
          <c:smooth val="0"/>
        </c:ser>
        <c:ser>
          <c:idx val="2"/>
          <c:order val="2"/>
          <c:tx>
            <c:v>Hoeveelheid</c:v>
          </c:tx>
          <c:spPr>
            <a:ln xmlns:a="http://schemas.openxmlformats.org/drawingml/2006/main" w="14288">
              <a:solidFill>
                <a:srgbClr val="445B6B"/>
              </a:solidFill>
              <a:prstDash val="dash"/>
            </a:ln>
          </c:spPr>
          <c:marker>
            <c:symbol val="none"/>
          </c:marker>
          <c:xVal>
            <c:numRef>
              <c:f>'Chart Data'!$E$2:$E$3</c:f>
              <c:numCache>
                <c:formatCode>General</c:formatCode>
                <c:ptCount val="2"/>
                <c:pt idx="0">
                  <c:v>9</c:v>
                </c:pt>
                <c:pt idx="1">
                  <c:v>9</c:v>
                </c:pt>
              </c:numCache>
            </c:numRef>
          </c:xVal>
          <c:yVal>
            <c:numRef>
              <c:f>'Chart Data'!$F$2:$F$3</c:f>
              <c:numCache>
                <c:formatCode>0</c:formatCode>
                <c:ptCount val="2"/>
                <c:pt idx="0">
                  <c:v>0</c:v>
                </c:pt>
                <c:pt idx="1">
                  <c:v>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00">
                    <a:solidFill>
                      <a:srgbClr val="183247"/>
                    </a:solidFill>
                    <a:latin typeface="Arial"/>
                    <a:ea typeface="Arial"/>
                    <a:cs typeface="Arial"/>
                  </a:rPr>
                  <a:t>P (€ per liter)</a:t>
                </a:r>
              </a:p>
            </c:rich>
          </c:tx>
          <c:overlay val="0"/>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
      </c:valAx>
      <c:valAx>
        <c:axId val="48650112"/>
        <c:scaling>
          <c:orientation val="minMax"/>
          <c:max val="30"/>
          <c:min val="0"/>
        </c:scaling>
        <c:delete val="0"/>
        <c:axPos val="b"/>
        <c:title>
          <c:tx>
            <c:rich>
              <a:bodyPr xmlns:a="http://schemas.openxmlformats.org/drawingml/2006/main"/>
              <a:lstStyle xmlns:a="http://schemas.openxmlformats.org/drawingml/2006/main"/>
              <a:p xmlns:a="http://schemas.openxmlformats.org/drawingml/2006/main">
                <a:r>
                  <a:rPr sz="1800">
                    <a:solidFill>
                      <a:srgbClr val="183247"/>
                    </a:solidFill>
                    <a:latin typeface="Arial"/>
                    <a:ea typeface="Arial"/>
                    <a:cs typeface="Arial"/>
                  </a:rPr>
                  <a:t>q / Q (liter per week)</a:t>
                </a:r>
              </a:p>
            </c:rich>
          </c:tx>
          <c:overlay val="0"/>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Koper B</c:v>
          </c:tx>
          <c:spPr>
            <a:ln xmlns:a="http://schemas.openxmlformats.org/drawingml/2006/main" w="38100">
              <a:solidFill>
                <a:srgbClr val="20665B"/>
              </a:solidFill>
            </a:ln>
          </c:spPr>
          <c:marker>
            <c:symbol val="circle"/>
            <c:size val="7"/>
            <c:spPr>
              <a:solidFill xmlns:a="http://schemas.openxmlformats.org/drawingml/2006/main">
                <a:srgbClr val="20665B"/>
              </a:solidFill>
            </c:spPr>
          </c:marker>
          <c:xVal>
            <c:numRef>
              <c:f>'Chart Data'!$A$2:$A$4</c:f>
              <c:numCache>
                <c:formatCode>General</c:formatCode>
                <c:ptCount val="3"/>
                <c:pt idx="0">
                  <c:v>14</c:v>
                </c:pt>
                <c:pt idx="1">
                  <c:v>10</c:v>
                </c:pt>
                <c:pt idx="2">
                  <c:v>0</c:v>
                </c:pt>
              </c:numCache>
            </c:numRef>
          </c:xVal>
          <c:yVal>
            <c:numRef>
              <c:f>'Chart Data'!$B$2:$B$4</c:f>
              <c:numCache>
                <c:formatCode>0</c:formatCode>
                <c:ptCount val="3"/>
                <c:pt idx="0">
                  <c:v>0</c:v>
                </c:pt>
                <c:pt idx="1">
                  <c:v>2</c:v>
                </c:pt>
                <c:pt idx="2">
                  <c:v>7</c:v>
                </c:pt>
              </c:numCache>
            </c:numRef>
          </c:yVal>
          <c:smooth val="0"/>
        </c:ser>
        <c:ser>
          <c:idx val="1"/>
          <c:order val="1"/>
          <c:tx>
            <c:v>Prijs 2</c:v>
          </c:tx>
          <c:spPr>
            <a:ln xmlns:a="http://schemas.openxmlformats.org/drawingml/2006/main" w="14288">
              <a:solidFill>
                <a:srgbClr val="445B6B"/>
              </a:solidFill>
              <a:prstDash val="dash"/>
            </a:ln>
          </c:spPr>
          <c:marker>
            <c:symbol val="none"/>
          </c:marker>
          <c:xVal>
            <c:numRef>
              <c:f>'Chart Data'!$C$2:$C$3</c:f>
              <c:numCache>
                <c:formatCode>General</c:formatCode>
                <c:ptCount val="2"/>
                <c:pt idx="0">
                  <c:v>0</c:v>
                </c:pt>
                <c:pt idx="1">
                  <c:v>10</c:v>
                </c:pt>
              </c:numCache>
            </c:numRef>
          </c:xVal>
          <c:yVal>
            <c:numRef>
              <c:f>'Chart Data'!$D$2:$D$3</c:f>
              <c:numCache>
                <c:formatCode>0</c:formatCode>
                <c:ptCount val="2"/>
                <c:pt idx="0">
                  <c:v>2</c:v>
                </c:pt>
                <c:pt idx="1">
                  <c:v>2</c:v>
                </c:pt>
              </c:numCache>
            </c:numRef>
          </c:yVal>
          <c:smooth val="0"/>
        </c:ser>
        <c:ser>
          <c:idx val="2"/>
          <c:order val="2"/>
          <c:tx>
            <c:v>Hoeveelheid</c:v>
          </c:tx>
          <c:spPr>
            <a:ln xmlns:a="http://schemas.openxmlformats.org/drawingml/2006/main" w="14288">
              <a:solidFill>
                <a:srgbClr val="445B6B"/>
              </a:solidFill>
              <a:prstDash val="dash"/>
            </a:ln>
          </c:spPr>
          <c:marker>
            <c:symbol val="none"/>
          </c:marker>
          <c:xVal>
            <c:numRef>
              <c:f>'Chart Data'!$E$2:$E$3</c:f>
              <c:numCache>
                <c:formatCode>General</c:formatCode>
                <c:ptCount val="2"/>
                <c:pt idx="0">
                  <c:v>10</c:v>
                </c:pt>
                <c:pt idx="1">
                  <c:v>10</c:v>
                </c:pt>
              </c:numCache>
            </c:numRef>
          </c:xVal>
          <c:yVal>
            <c:numRef>
              <c:f>'Chart Data'!$F$2:$F$3</c:f>
              <c:numCache>
                <c:formatCode>0</c:formatCode>
                <c:ptCount val="2"/>
                <c:pt idx="0">
                  <c:v>0</c:v>
                </c:pt>
                <c:pt idx="1">
                  <c:v>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00">
                    <a:solidFill>
                      <a:srgbClr val="183247"/>
                    </a:solidFill>
                    <a:latin typeface="Arial"/>
                    <a:ea typeface="Arial"/>
                    <a:cs typeface="Arial"/>
                  </a:rPr>
                  <a:t>P (€ per liter)</a:t>
                </a:r>
              </a:p>
            </c:rich>
          </c:tx>
          <c:overlay val="0"/>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
      </c:valAx>
      <c:valAx>
        <c:axId val="48650112"/>
        <c:scaling>
          <c:orientation val="minMax"/>
          <c:max val="30"/>
          <c:min val="0"/>
        </c:scaling>
        <c:delete val="0"/>
        <c:axPos val="b"/>
        <c:title>
          <c:tx>
            <c:rich>
              <a:bodyPr xmlns:a="http://schemas.openxmlformats.org/drawingml/2006/main"/>
              <a:lstStyle xmlns:a="http://schemas.openxmlformats.org/drawingml/2006/main"/>
              <a:p xmlns:a="http://schemas.openxmlformats.org/drawingml/2006/main">
                <a:r>
                  <a:rPr sz="1800">
                    <a:solidFill>
                      <a:srgbClr val="183247"/>
                    </a:solidFill>
                    <a:latin typeface="Arial"/>
                    <a:ea typeface="Arial"/>
                    <a:cs typeface="Arial"/>
                  </a:rPr>
                  <a:t>q / Q (liter per week)</a:t>
                </a:r>
              </a:p>
            </c:rich>
          </c:tx>
          <c:overlay val="0"/>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Samen</c:v>
          </c:tx>
          <c:spPr>
            <a:ln xmlns:a="http://schemas.openxmlformats.org/drawingml/2006/main" w="38100">
              <a:solidFill>
                <a:srgbClr val="A94D16"/>
              </a:solidFill>
            </a:ln>
          </c:spPr>
          <c:marker>
            <c:symbol val="circle"/>
            <c:size val="7"/>
            <c:spPr>
              <a:solidFill xmlns:a="http://schemas.openxmlformats.org/drawingml/2006/main">
                <a:srgbClr val="A94D16"/>
              </a:solidFill>
            </c:spPr>
          </c:marker>
          <c:xVal>
            <c:numRef>
              <c:f>'Chart Data'!$A$2:$A$2</c:f>
              <c:numCache>
                <c:formatCode>General</c:formatCode>
                <c:ptCount val="1"/>
                <c:pt idx="0">
                  <c:v>19</c:v>
                </c:pt>
              </c:numCache>
            </c:numRef>
          </c:xVal>
          <c:yVal>
            <c:numRef>
              <c:f>'Chart Data'!$B$2:$B$2</c:f>
              <c:numCache>
                <c:formatCode>0</c:formatCode>
                <c:ptCount val="1"/>
                <c:pt idx="0">
                  <c:v>2</c:v>
                </c:pt>
              </c:numCache>
            </c:numRef>
          </c:yVal>
          <c:smooth val="0"/>
        </c:ser>
        <c:ser>
          <c:idx val="1"/>
          <c:order val="1"/>
          <c:tx>
            <c:v>Prijs 2</c:v>
          </c:tx>
          <c:spPr>
            <a:ln xmlns:a="http://schemas.openxmlformats.org/drawingml/2006/main" w="14288">
              <a:solidFill>
                <a:srgbClr val="445B6B"/>
              </a:solidFill>
              <a:prstDash val="dash"/>
            </a:ln>
          </c:spPr>
          <c:marker>
            <c:symbol val="none"/>
          </c:marker>
          <c:xVal>
            <c:numRef>
              <c:f>'Chart Data'!$C$2:$C$3</c:f>
              <c:numCache>
                <c:formatCode>General</c:formatCode>
                <c:ptCount val="2"/>
                <c:pt idx="0">
                  <c:v>0</c:v>
                </c:pt>
                <c:pt idx="1">
                  <c:v>19</c:v>
                </c:pt>
              </c:numCache>
            </c:numRef>
          </c:xVal>
          <c:yVal>
            <c:numRef>
              <c:f>'Chart Data'!$D$2:$D$3</c:f>
              <c:numCache>
                <c:formatCode>0</c:formatCode>
                <c:ptCount val="2"/>
                <c:pt idx="0">
                  <c:v>2</c:v>
                </c:pt>
                <c:pt idx="1">
                  <c:v>2</c:v>
                </c:pt>
              </c:numCache>
            </c:numRef>
          </c:yVal>
          <c:smooth val="0"/>
        </c:ser>
        <c:ser>
          <c:idx val="2"/>
          <c:order val="2"/>
          <c:tx>
            <c:v>Hoeveelheid</c:v>
          </c:tx>
          <c:spPr>
            <a:ln xmlns:a="http://schemas.openxmlformats.org/drawingml/2006/main" w="14288">
              <a:solidFill>
                <a:srgbClr val="445B6B"/>
              </a:solidFill>
              <a:prstDash val="dash"/>
            </a:ln>
          </c:spPr>
          <c:marker>
            <c:symbol val="none"/>
          </c:marker>
          <c:xVal>
            <c:numRef>
              <c:f>'Chart Data'!$E$2:$E$3</c:f>
              <c:numCache>
                <c:formatCode>General</c:formatCode>
                <c:ptCount val="2"/>
                <c:pt idx="0">
                  <c:v>19</c:v>
                </c:pt>
                <c:pt idx="1">
                  <c:v>19</c:v>
                </c:pt>
              </c:numCache>
            </c:numRef>
          </c:xVal>
          <c:yVal>
            <c:numRef>
              <c:f>'Chart Data'!$F$2:$F$3</c:f>
              <c:numCache>
                <c:formatCode>0</c:formatCode>
                <c:ptCount val="2"/>
                <c:pt idx="0">
                  <c:v>0</c:v>
                </c:pt>
                <c:pt idx="1">
                  <c:v>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00">
                    <a:solidFill>
                      <a:srgbClr val="183247"/>
                    </a:solidFill>
                    <a:latin typeface="Arial"/>
                    <a:ea typeface="Arial"/>
                    <a:cs typeface="Arial"/>
                  </a:rPr>
                  <a:t>P (€ per liter)</a:t>
                </a:r>
              </a:p>
            </c:rich>
          </c:tx>
          <c:overlay val="0"/>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
      </c:valAx>
      <c:valAx>
        <c:axId val="48650112"/>
        <c:scaling>
          <c:orientation val="minMax"/>
          <c:max val="30"/>
          <c:min val="0"/>
        </c:scaling>
        <c:delete val="0"/>
        <c:axPos val="b"/>
        <c:title>
          <c:tx>
            <c:rich>
              <a:bodyPr xmlns:a="http://schemas.openxmlformats.org/drawingml/2006/main"/>
              <a:lstStyle xmlns:a="http://schemas.openxmlformats.org/drawingml/2006/main"/>
              <a:p xmlns:a="http://schemas.openxmlformats.org/drawingml/2006/main">
                <a:r>
                  <a:rPr sz="1800">
                    <a:solidFill>
                      <a:srgbClr val="183247"/>
                    </a:solidFill>
                    <a:latin typeface="Arial"/>
                    <a:ea typeface="Arial"/>
                    <a:cs typeface="Arial"/>
                  </a:rPr>
                  <a:t>q / Q (liter per week)</a:t>
                </a:r>
              </a:p>
            </c:rich>
          </c:tx>
          <c:overlay val="0"/>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V samen</c:v>
          </c:tx>
          <c:spPr>
            <a:ln xmlns:a="http://schemas.openxmlformats.org/drawingml/2006/main" w="38100">
              <a:solidFill>
                <a:srgbClr val="17658A"/>
              </a:solidFill>
            </a:ln>
          </c:spPr>
          <c:marker>
            <c:symbol val="circle"/>
            <c:size val="7"/>
            <c:spPr>
              <a:solidFill xmlns:a="http://schemas.openxmlformats.org/drawingml/2006/main">
                <a:srgbClr val="17658A"/>
              </a:solidFill>
            </c:spPr>
          </c:marker>
          <c:xVal>
            <c:numRef>
              <c:f>'Chart Data'!$A$2:$A$4</c:f>
              <c:numCache>
                <c:formatCode>General</c:formatCode>
                <c:ptCount val="3"/>
                <c:pt idx="0">
                  <c:v>29</c:v>
                </c:pt>
                <c:pt idx="1">
                  <c:v>19</c:v>
                </c:pt>
                <c:pt idx="2">
                  <c:v>4</c:v>
                </c:pt>
              </c:numCache>
            </c:numRef>
          </c:xVal>
          <c:yVal>
            <c:numRef>
              <c:f>'Chart Data'!$B$2:$B$4</c:f>
              <c:numCache>
                <c:formatCode>0</c:formatCode>
                <c:ptCount val="3"/>
                <c:pt idx="0">
                  <c:v>0</c:v>
                </c:pt>
                <c:pt idx="1">
                  <c:v>2</c:v>
                </c:pt>
                <c:pt idx="2">
                  <c:v>5</c:v>
                </c:pt>
              </c:numCache>
            </c:numRef>
          </c:yVal>
          <c:smooth val="0"/>
        </c:ser>
        <c:ser>
          <c:idx val="1"/>
          <c:order val="1"/>
          <c:tx>
            <c:v>P=2</c:v>
          </c:tx>
          <c:spPr>
            <a:ln xmlns:a="http://schemas.openxmlformats.org/drawingml/2006/main" w="14288">
              <a:solidFill>
                <a:srgbClr val="445B6B"/>
              </a:solidFill>
              <a:prstDash val="dash"/>
            </a:ln>
          </c:spPr>
          <c:marker>
            <c:symbol val="none"/>
          </c:marker>
          <c:xVal>
            <c:numRef>
              <c:f>'Chart Data'!$C$2:$C$3</c:f>
              <c:numCache>
                <c:formatCode>General</c:formatCode>
                <c:ptCount val="2"/>
                <c:pt idx="0">
                  <c:v>0</c:v>
                </c:pt>
                <c:pt idx="1">
                  <c:v>19</c:v>
                </c:pt>
              </c:numCache>
            </c:numRef>
          </c:xVal>
          <c:yVal>
            <c:numRef>
              <c:f>'Chart Data'!$D$2:$D$3</c:f>
              <c:numCache>
                <c:formatCode>0</c:formatCode>
                <c:ptCount val="2"/>
                <c:pt idx="0">
                  <c:v>2</c:v>
                </c:pt>
                <c:pt idx="1">
                  <c:v>2</c:v>
                </c:pt>
              </c:numCache>
            </c:numRef>
          </c:yVal>
          <c:smooth val="0"/>
        </c:ser>
        <c:ser>
          <c:idx val="2"/>
          <c:order val="2"/>
          <c:tx>
            <c:v>Q=19</c:v>
          </c:tx>
          <c:spPr>
            <a:ln xmlns:a="http://schemas.openxmlformats.org/drawingml/2006/main" w="14288">
              <a:solidFill>
                <a:srgbClr val="445B6B"/>
              </a:solidFill>
              <a:prstDash val="dash"/>
            </a:ln>
          </c:spPr>
          <c:marker>
            <c:symbol val="none"/>
          </c:marker>
          <c:xVal>
            <c:numRef>
              <c:f>'Chart Data'!$E$2:$E$3</c:f>
              <c:numCache>
                <c:formatCode>General</c:formatCode>
                <c:ptCount val="2"/>
                <c:pt idx="0">
                  <c:v>19</c:v>
                </c:pt>
                <c:pt idx="1">
                  <c:v>19</c:v>
                </c:pt>
              </c:numCache>
            </c:numRef>
          </c:xVal>
          <c:yVal>
            <c:numRef>
              <c:f>'Chart Data'!$F$2:$F$3</c:f>
              <c:numCache>
                <c:formatCode>0</c:formatCode>
                <c:ptCount val="2"/>
                <c:pt idx="0">
                  <c:v>0</c:v>
                </c:pt>
                <c:pt idx="1">
                  <c:v>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liter)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crossAx val="48650112"/>
        <c:majorUnit val="2"/>
      </c:valAx>
      <c:valAx>
        <c:axId val="48650112"/>
        <c:scaling>
          <c:orientation val="minMax"/>
          <c:max val="3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(liter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Beide regels geldig</c:v>
          </c:tx>
          <c:spPr>
            <a:ln xmlns:a="http://schemas.openxmlformats.org/drawingml/2006/main" w="38100">
              <a:solidFill>
                <a:srgbClr val="17658A"/>
              </a:solidFill>
            </a:ln>
          </c:spPr>
          <c:marker>
            <c:symbol val="circle"/>
            <c:size val="7"/>
            <c:spPr>
              <a:solidFill xmlns:a="http://schemas.openxmlformats.org/drawingml/2006/main">
                <a:srgbClr val="17658A"/>
              </a:solidFill>
            </c:spPr>
          </c:marker>
          <c:xVal>
            <c:numRef>
              <c:f>'Chart Data'!$A$2:$A$5</c:f>
              <c:numCache>
                <c:formatCode>General</c:formatCode>
                <c:ptCount val="4"/>
                <c:pt idx="0">
                  <c:v>29</c:v>
                </c:pt>
                <c:pt idx="1">
                  <c:v>19</c:v>
                </c:pt>
                <c:pt idx="2">
                  <c:v>9</c:v>
                </c:pt>
                <c:pt idx="3">
                  <c:v>4</c:v>
                </c:pt>
              </c:numCache>
            </c:numRef>
          </c:xVal>
          <c:yVal>
            <c:numRef>
              <c:f>'Chart Data'!$B$2:$B$5</c:f>
              <c:numCache>
                <c:formatCode>0</c:formatCode>
                <c:ptCount val="4"/>
                <c:pt idx="0">
                  <c:v>0</c:v>
                </c:pt>
                <c:pt idx="1">
                  <c:v>2</c:v>
                </c:pt>
                <c:pt idx="2">
                  <c:v>4</c:v>
                </c:pt>
                <c:pt idx="3">
                  <c:v>5</c:v>
                </c:pt>
              </c:numCache>
            </c:numRef>
          </c:yVal>
          <c:smooth val="0"/>
        </c:ser>
        <c:ser>
          <c:idx val="1"/>
          <c:order val="1"/>
          <c:tx>
            <c:v>Alleen B koopt</c:v>
          </c:tx>
          <c:spPr>
            <a:ln xmlns:a="http://schemas.openxmlformats.org/drawingml/2006/main" w="38100">
              <a:solidFill>
                <a:srgbClr val="A94D16"/>
              </a:solidFill>
            </a:ln>
          </c:spPr>
          <c:marker>
            <c:symbol val="circle"/>
            <c:size val="7"/>
            <c:spPr>
              <a:solidFill xmlns:a="http://schemas.openxmlformats.org/drawingml/2006/main">
                <a:srgbClr val="A94D16"/>
              </a:solidFill>
            </c:spPr>
          </c:marker>
          <c:xVal>
            <c:numRef>
              <c:f>'Chart Data'!$C$2:$C$4</c:f>
              <c:numCache>
                <c:formatCode>General</c:formatCode>
                <c:ptCount val="3"/>
                <c:pt idx="0">
                  <c:v>4</c:v>
                </c:pt>
                <c:pt idx="1">
                  <c:v>2</c:v>
                </c:pt>
                <c:pt idx="2">
                  <c:v>0</c:v>
                </c:pt>
              </c:numCache>
            </c:numRef>
          </c:xVal>
          <c:yVal>
            <c:numRef>
              <c:f>'Chart Data'!$D$2:$D$4</c:f>
              <c:numCache>
                <c:formatCode>0</c:formatCode>
                <c:ptCount val="3"/>
                <c:pt idx="0">
                  <c:v>5</c:v>
                </c:pt>
                <c:pt idx="1">
                  <c:v>6</c:v>
                </c:pt>
                <c:pt idx="2">
                  <c:v>7</c:v>
                </c:pt>
              </c:numCache>
            </c:numRef>
          </c:yVal>
          <c:smooth val="0"/>
        </c:ser>
        <c:ser>
          <c:idx val="2"/>
          <c:order val="2"/>
          <c:tx>
            <c:v>P=6</c:v>
          </c:tx>
          <c:spPr>
            <a:ln xmlns:a="http://schemas.openxmlformats.org/drawingml/2006/main" w="14288">
              <a:solidFill>
                <a:srgbClr val="445B6B"/>
              </a:solidFill>
              <a:prstDash val="dash"/>
            </a:ln>
          </c:spPr>
          <c:marker>
            <c:symbol val="none"/>
          </c:marker>
          <c:xVal>
            <c:numRef>
              <c:f>'Chart Data'!$E$2:$E$3</c:f>
              <c:numCache>
                <c:formatCode>General</c:formatCode>
                <c:ptCount val="2"/>
                <c:pt idx="0">
                  <c:v>0</c:v>
                </c:pt>
                <c:pt idx="1">
                  <c:v>2</c:v>
                </c:pt>
              </c:numCache>
            </c:numRef>
          </c:xVal>
          <c:yVal>
            <c:numRef>
              <c:f>'Chart Data'!$F$2:$F$3</c:f>
              <c:numCache>
                <c:formatCode>0</c:formatCode>
                <c:ptCount val="2"/>
                <c:pt idx="0">
                  <c:v>6</c:v>
                </c:pt>
                <c:pt idx="1">
                  <c:v>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liter)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crossAx val="48650112"/>
        <c:majorUnit val="2"/>
      </c:valAx>
      <c:valAx>
        <c:axId val="48650112"/>
        <c:scaling>
          <c:orientation val="minMax"/>
          <c:max val="3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(liter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V samen</c:v>
          </c:tx>
          <c:spPr>
            <a:ln xmlns:a="http://schemas.openxmlformats.org/drawingml/2006/main" w="38100">
              <a:solidFill>
                <a:srgbClr val="17658A"/>
              </a:solidFill>
            </a:ln>
          </c:spPr>
          <c:marker>
            <c:symbol val="circle"/>
            <c:size val="7"/>
            <c:spPr>
              <a:solidFill xmlns:a="http://schemas.openxmlformats.org/drawingml/2006/main">
                <a:srgbClr val="17658A"/>
              </a:solidFill>
            </c:spPr>
          </c:marker>
          <c:xVal>
            <c:numRef>
              <c:f>'Chart Data'!$A$2:$A$4</c:f>
              <c:numCache>
                <c:formatCode>General</c:formatCode>
                <c:ptCount val="3"/>
                <c:pt idx="0">
                  <c:v>42</c:v>
                </c:pt>
                <c:pt idx="1">
                  <c:v>22</c:v>
                </c:pt>
                <c:pt idx="2">
                  <c:v>12</c:v>
                </c:pt>
              </c:numCache>
            </c:numRef>
          </c:xVal>
          <c:yVal>
            <c:numRef>
              <c:f>'Chart Data'!$B$2:$B$4</c:f>
              <c:numCache>
                <c:formatCode>0</c:formatCode>
                <c:ptCount val="3"/>
                <c:pt idx="0">
                  <c:v>0</c:v>
                </c:pt>
                <c:pt idx="1">
                  <c:v>4</c:v>
                </c:pt>
                <c:pt idx="2">
                  <c:v>6</c:v>
                </c:pt>
              </c:numCache>
            </c:numRef>
          </c:yVal>
          <c:smooth val="0"/>
        </c:ser>
        <c:ser>
          <c:idx val="1"/>
          <c:order val="1"/>
          <c:tx>
            <c:v>P=4</c:v>
          </c:tx>
          <c:spPr>
            <a:ln xmlns:a="http://schemas.openxmlformats.org/drawingml/2006/main" w="14288">
              <a:solidFill>
                <a:srgbClr val="445B6B"/>
              </a:solidFill>
              <a:prstDash val="dash"/>
            </a:ln>
          </c:spPr>
          <c:marker>
            <c:symbol val="none"/>
          </c:marker>
          <c:xVal>
            <c:numRef>
              <c:f>'Chart Data'!$C$2:$C$3</c:f>
              <c:numCache>
                <c:formatCode>General</c:formatCode>
                <c:ptCount val="2"/>
                <c:pt idx="0">
                  <c:v>0</c:v>
                </c:pt>
                <c:pt idx="1">
                  <c:v>22</c:v>
                </c:pt>
              </c:numCache>
            </c:numRef>
          </c:xVal>
          <c:yVal>
            <c:numRef>
              <c:f>'Chart Data'!$D$2:$D$3</c:f>
              <c:numCache>
                <c:formatCode>0</c:formatCode>
                <c:ptCount val="2"/>
                <c:pt idx="0">
                  <c:v>4</c:v>
                </c:pt>
                <c:pt idx="1">
                  <c:v>4</c:v>
                </c:pt>
              </c:numCache>
            </c:numRef>
          </c:yVal>
          <c:smooth val="0"/>
        </c:ser>
        <c:ser>
          <c:idx val="2"/>
          <c:order val="2"/>
          <c:tx>
            <c:v>Q=22</c:v>
          </c:tx>
          <c:spPr>
            <a:ln xmlns:a="http://schemas.openxmlformats.org/drawingml/2006/main" w="14288">
              <a:solidFill>
                <a:srgbClr val="445B6B"/>
              </a:solidFill>
              <a:prstDash val="dash"/>
            </a:ln>
          </c:spPr>
          <c:marker>
            <c:symbol val="none"/>
          </c:marker>
          <c:xVal>
            <c:numRef>
              <c:f>'Chart Data'!$E$2:$E$3</c:f>
              <c:numCache>
                <c:formatCode>General</c:formatCode>
                <c:ptCount val="2"/>
                <c:pt idx="0">
                  <c:v>22</c:v>
                </c:pt>
                <c:pt idx="1">
                  <c:v>22</c:v>
                </c:pt>
              </c:numCache>
            </c:numRef>
          </c:xVal>
          <c:yVal>
            <c:numRef>
              <c:f>'Chart Data'!$F$2:$F$3</c:f>
              <c:numCache>
                <c:formatCode>0</c:formatCode>
                <c:ptCount val="2"/>
                <c:pt idx="0">
                  <c:v>0</c:v>
                </c:pt>
                <c:pt idx="1">
                  <c:v>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reservering)</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crossAx val="48650112"/>
        <c:majorUnit val="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(reserveringen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2.3 Van individuele naar collectieve vraag">
            <a:extLst xmlns:a="http://schemas.openxmlformats.org/drawingml/2006/main">
              <a:ext uri="{FF2B5EF4-FFF2-40B4-BE49-F238E27FC236}">
                <a16:creationId xmlns:a16="http://schemas.microsoft.com/office/drawing/2014/main" id="{AA9456A9-101B-40F2-9DAF-06790A72DEC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Deze les: §1.2.3 Van individuele naar collectieve vraag</a:t>
            </a:r>
          </a:p>
        </p:txBody>
      </p:sp>
      <p:sp>
        <p:nvSpPr>
          <p:cNvPr id="2" name="">
            <a:extLst xmlns:a="http://schemas.openxmlformats.org/drawingml/2006/main">
              <a:ext uri="{FF2B5EF4-FFF2-40B4-BE49-F238E27FC236}">
                <a16:creationId xmlns:a16="http://schemas.microsoft.com/office/drawing/2014/main" id="{14B18266-4BD0-40FA-A2E4-77FE4B8B897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Van individuele naar collectieve vraag">
            <a:extLst xmlns:a="http://schemas.openxmlformats.org/drawingml/2006/main">
              <a:ext uri="{FF2B5EF4-FFF2-40B4-BE49-F238E27FC236}">
                <a16:creationId xmlns:a16="http://schemas.microsoft.com/office/drawing/2014/main" id="{529B58F6-4BFF-489A-9284-0060E305F8A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Van individuele naar collectieve vraag</a:t>
            </a:r>
          </a:p>
        </p:txBody>
      </p:sp>
      <p:sp>
        <p:nvSpPr>
          <p:cNvPr id="4" name="slide-number">
            <a:extLst xmlns:a="http://schemas.openxmlformats.org/drawingml/2006/main">
              <a:ext uri="{FF2B5EF4-FFF2-40B4-BE49-F238E27FC236}">
                <a16:creationId xmlns:a16="http://schemas.microsoft.com/office/drawing/2014/main" id="{C7C1CFDE-41BD-4594-BC95-CAA468B2A43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FC62E2A3-930A-44F8-AF76-83E6EAD2667F}"/>
              </a:ext>
            </a:extLst>
          </p:cNvPr>
          <p:cNvSpPr>
            <a:spLocks xmlns:a="http://schemas.openxmlformats.org/drawingml/2006/main" noGrp="1"/>
          </p:cNvSpPr>
          <p:nvPr/>
        </p:nvSpPr>
        <p:spPr>
          <a:xfrm xmlns:a="http://schemas.openxmlformats.org/drawingml/2006/main">
            <a:off x="571500" y="106680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FE915A8B-0982-4083-BEE5-F8BD7413C022}"/>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EEEA2813-945E-4A4D-B26E-5F75D033B10B}"/>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509D35A9-4129-46D2-B658-02306F4BC683}"/>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2E476F2D-0A87-4ABA-BEC4-3F807B5EBFEC}"/>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65AB68B6-0790-49CC-8078-D37B64C5A426}"/>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B0F94C7C-B75C-4DB0-AC65-23934C9B0AE0}"/>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7130EEAD-A205-41CC-B865-A5A2225EF602}"/>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3AE0DA4D-DE16-4CFD-A134-7B432DD96D72}"/>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E6B79FE3-082C-4F34-902B-53A9A0D8BF50}"/>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DC01DF75-35C1-4BE3-B89D-3FF44F4F2B3A}"/>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D7805033-4CA7-493C-923E-2AB1CF615BB9}"/>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6CCCAAD7-6FAD-4EB7-9FAC-C76997102793}"/>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F5F6D7DB-F4E8-419A-A1A4-3EEE224CDB89}"/>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30.</a:t>
            </a:r>
          </a:p>
        </p:txBody>
      </p:sp>
      <p:sp>
        <p:nvSpPr>
          <p:cNvPr id="19" name="route-number-7">
            <a:extLst xmlns:a="http://schemas.openxmlformats.org/drawingml/2006/main">
              <a:ext uri="{FF2B5EF4-FFF2-40B4-BE49-F238E27FC236}">
                <a16:creationId xmlns:a16="http://schemas.microsoft.com/office/drawing/2014/main" id="{16236F12-5E76-4122-8408-252321434908}"/>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B40404A5-351C-4624-A947-5EFDACBD8829}"/>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AB1A00F-1D6B-4400-8DF4-1E37B9968131}"/>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CBF3B161-77C7-4846-89C6-7A15E15AA42E}"/>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Hoeveelheden en functies optellen,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som tekenen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prijsgrenzen bewaken.</a:t>
            </a:r>
          </a:p>
        </p:txBody>
      </p:sp>
      <p:sp>
        <p:nvSpPr>
          <p:cNvPr id="23" name="">
            <a:extLst xmlns:a="http://schemas.openxmlformats.org/drawingml/2006/main">
              <a:ext uri="{FF2B5EF4-FFF2-40B4-BE49-F238E27FC236}">
                <a16:creationId xmlns:a16="http://schemas.microsoft.com/office/drawing/2014/main" id="{3EC0AE95-4FD2-486D-96B7-A828B85ACB62}"/>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23E7DD9C-37F1-4391-B5A0-168C48235D30}"/>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744969D2-5624-492D-AB1F-200D9732D503}"/>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72 · Opgaven 23 en 24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24: verkennen met theorie p. 68</a:t>
            </a:r>
          </a:p>
        </p:txBody>
      </p:sp>
      <p:sp>
        <p:nvSpPr>
          <p:cNvPr id="26" name="">
            <a:extLst xmlns:a="http://schemas.openxmlformats.org/drawingml/2006/main">
              <a:ext uri="{FF2B5EF4-FFF2-40B4-BE49-F238E27FC236}">
                <a16:creationId xmlns:a16="http://schemas.microsoft.com/office/drawing/2014/main" id="{BBB826DD-677B-4797-AD68-313D8C030792}"/>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62EF54AE-CC81-482F-8EDF-29EC249D38C2}"/>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71601863-9908-41A7-8DA3-61E0D7427FC6}"/>
              </a:ext>
            </a:extLst>
          </p:cNvPr>
          <p:cNvSpPr>
            <a:spLocks xmlns:a="http://schemas.openxmlformats.org/drawingml/2006/main" noGrp="1"/>
          </p:cNvSpPr>
          <p:nvPr/>
        </p:nvSpPr>
        <p:spPr>
          <a:xfrm xmlns:a="http://schemas.openxmlformats.org/drawingml/2006/main">
            <a:off x="9258300" y="62293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25, 26 en 27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28 en 29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30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 25 t/m 30</a:t>
            </a:r>
          </a:p>
        </p:txBody>
      </p:sp>
    </p:spTree>
    <p:extLst>
      <p:ext uri="{BB962C8B-B14F-4D97-AF65-F5344CB8AC3E}">
        <p14:creationId xmlns:p14="http://schemas.microsoft.com/office/powerpoint/2010/main" val="2909335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Wat kun je na deze les?">
            <a:extLst xmlns:a="http://schemas.openxmlformats.org/drawingml/2006/main">
              <a:ext uri="{FF2B5EF4-FFF2-40B4-BE49-F238E27FC236}">
                <a16:creationId xmlns:a16="http://schemas.microsoft.com/office/drawing/2014/main" id="{61EA1C01-D5CE-420E-8F97-4224C0122D6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AFC00937-4D46-4F63-99AA-478DD5B1ABA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Van individuele naar collectieve vraag">
            <a:extLst xmlns:a="http://schemas.openxmlformats.org/drawingml/2006/main">
              <a:ext uri="{FF2B5EF4-FFF2-40B4-BE49-F238E27FC236}">
                <a16:creationId xmlns:a16="http://schemas.microsoft.com/office/drawing/2014/main" id="{27EE18DD-0574-41F7-A24F-7662261020C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Van individuele naar collectieve vraag</a:t>
            </a:r>
          </a:p>
        </p:txBody>
      </p:sp>
      <p:sp>
        <p:nvSpPr>
          <p:cNvPr id="4" name="slide-number">
            <a:extLst xmlns:a="http://schemas.openxmlformats.org/drawingml/2006/main">
              <a:ext uri="{FF2B5EF4-FFF2-40B4-BE49-F238E27FC236}">
                <a16:creationId xmlns:a16="http://schemas.microsoft.com/office/drawing/2014/main" id="{99FAD517-2BFE-43F8-B81C-E9DE53ED282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Collectieve vraag">
            <a:extLst xmlns:a="http://schemas.openxmlformats.org/drawingml/2006/main">
              <a:ext uri="{FF2B5EF4-FFF2-40B4-BE49-F238E27FC236}">
                <a16:creationId xmlns:a16="http://schemas.microsoft.com/office/drawing/2014/main" id="{B8F5E8EE-2558-4FDB-AD08-87FD35405DCB}"/>
              </a:ext>
            </a:extLst>
          </p:cNvPr>
          <p:cNvSpPr>
            <a:spLocks xmlns:a="http://schemas.openxmlformats.org/drawingml/2006/main" noGrp="1"/>
          </p:cNvSpPr>
          <p:nvPr/>
        </p:nvSpPr>
        <p:spPr>
          <a:xfrm xmlns:a="http://schemas.openxmlformats.org/drawingml/2006/main">
            <a:off x="571500" y="1952625"/>
            <a:ext cx="4857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Collectieve vraag</a:t>
            </a:r>
          </a:p>
        </p:txBody>
      </p:sp>
      <p:sp>
        <p:nvSpPr>
          <p:cNvPr id="6" name="Je telt hoeveelheden op bij dezelfde prijs.">
            <a:extLst xmlns:a="http://schemas.openxmlformats.org/drawingml/2006/main">
              <a:ext uri="{FF2B5EF4-FFF2-40B4-BE49-F238E27FC236}">
                <a16:creationId xmlns:a16="http://schemas.microsoft.com/office/drawing/2014/main" id="{F4DFF5E9-AA9D-4450-BA3B-A191E08CE23A}"/>
              </a:ext>
            </a:extLst>
          </p:cNvPr>
          <p:cNvSpPr>
            <a:spLocks xmlns:a="http://schemas.openxmlformats.org/drawingml/2006/main" noGrp="1"/>
          </p:cNvSpPr>
          <p:nvPr/>
        </p:nvSpPr>
        <p:spPr>
          <a:xfrm xmlns:a="http://schemas.openxmlformats.org/drawingml/2006/main">
            <a:off x="5905500" y="1952625"/>
            <a:ext cx="8667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Je telt hoeveelheden op bij dezelfde prijs.</a:t>
            </a:r>
          </a:p>
        </p:txBody>
      </p:sp>
      <p:sp>
        <p:nvSpPr>
          <p:cNvPr id="7" name="">
            <a:extLst xmlns:a="http://schemas.openxmlformats.org/drawingml/2006/main">
              <a:ext uri="{FF2B5EF4-FFF2-40B4-BE49-F238E27FC236}">
                <a16:creationId xmlns:a16="http://schemas.microsoft.com/office/drawing/2014/main" id="{744B555B-8B5F-4DD9-B3F2-FC6A1AED5D4F}"/>
              </a:ext>
            </a:extLst>
          </p:cNvPr>
          <p:cNvSpPr>
            <a:spLocks xmlns:a="http://schemas.openxmlformats.org/drawingml/2006/main" noGrp="1"/>
          </p:cNvSpPr>
          <p:nvPr/>
        </p:nvSpPr>
        <p:spPr>
          <a:xfrm xmlns:a="http://schemas.openxmlformats.org/drawingml/2006/main">
            <a:off x="571500" y="3086100"/>
            <a:ext cx="14097000" cy="0"/>
          </a:xfrm>
          <a:prstGeom xmlns:a="http://schemas.openxmlformats.org/drawingml/2006/main" prst="line">
            <a:avLst/>
          </a:prstGeom>
          <a:ln xmlns:a="http://schemas.openxmlformats.org/drawingml/2006/main" w="19050">
            <a:solidFill>
              <a:srgbClr val="C6D2DB"/>
            </a:solidFill>
          </a:ln>
        </p:spPr>
      </p:sp>
      <p:sp>
        <p:nvSpPr>
          <p:cNvPr id="8" name="De somfunctie">
            <a:extLst xmlns:a="http://schemas.openxmlformats.org/drawingml/2006/main">
              <a:ext uri="{FF2B5EF4-FFF2-40B4-BE49-F238E27FC236}">
                <a16:creationId xmlns:a16="http://schemas.microsoft.com/office/drawing/2014/main" id="{BE3B0BED-029E-47B2-B995-76280851D338}"/>
              </a:ext>
            </a:extLst>
          </p:cNvPr>
          <p:cNvSpPr>
            <a:spLocks xmlns:a="http://schemas.openxmlformats.org/drawingml/2006/main" noGrp="1"/>
          </p:cNvSpPr>
          <p:nvPr/>
        </p:nvSpPr>
        <p:spPr>
          <a:xfrm xmlns:a="http://schemas.openxmlformats.org/drawingml/2006/main">
            <a:off x="571500" y="3352800"/>
            <a:ext cx="4857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De somfunctie</a:t>
            </a:r>
          </a:p>
        </p:txBody>
      </p:sp>
      <p:sp>
        <p:nvSpPr>
          <p:cNvPr id="9" name="Je verzamelt gelijke termen en noemt het prijsinterval.">
            <a:extLst xmlns:a="http://schemas.openxmlformats.org/drawingml/2006/main">
              <a:ext uri="{FF2B5EF4-FFF2-40B4-BE49-F238E27FC236}">
                <a16:creationId xmlns:a16="http://schemas.microsoft.com/office/drawing/2014/main" id="{EEE9951B-B9A4-4D55-B780-47110C598804}"/>
              </a:ext>
            </a:extLst>
          </p:cNvPr>
          <p:cNvSpPr>
            <a:spLocks xmlns:a="http://schemas.openxmlformats.org/drawingml/2006/main" noGrp="1"/>
          </p:cNvSpPr>
          <p:nvPr/>
        </p:nvSpPr>
        <p:spPr>
          <a:xfrm xmlns:a="http://schemas.openxmlformats.org/drawingml/2006/main">
            <a:off x="5905500" y="3352800"/>
            <a:ext cx="8667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Je verzamelt gelijke termen en noemt het prijsinterval.</a:t>
            </a:r>
          </a:p>
        </p:txBody>
      </p:sp>
      <p:sp>
        <p:nvSpPr>
          <p:cNvPr id="10" name="">
            <a:extLst xmlns:a="http://schemas.openxmlformats.org/drawingml/2006/main">
              <a:ext uri="{FF2B5EF4-FFF2-40B4-BE49-F238E27FC236}">
                <a16:creationId xmlns:a16="http://schemas.microsoft.com/office/drawing/2014/main" id="{D223EBD1-8B74-48E0-981A-3856DF1EBB64}"/>
              </a:ext>
            </a:extLst>
          </p:cNvPr>
          <p:cNvSpPr>
            <a:spLocks xmlns:a="http://schemas.openxmlformats.org/drawingml/2006/main" noGrp="1"/>
          </p:cNvSpPr>
          <p:nvPr/>
        </p:nvSpPr>
        <p:spPr>
          <a:xfrm xmlns:a="http://schemas.openxmlformats.org/drawingml/2006/main">
            <a:off x="571500" y="4486275"/>
            <a:ext cx="14097000" cy="0"/>
          </a:xfrm>
          <a:prstGeom xmlns:a="http://schemas.openxmlformats.org/drawingml/2006/main" prst="line">
            <a:avLst/>
          </a:prstGeom>
          <a:ln xmlns:a="http://schemas.openxmlformats.org/drawingml/2006/main" w="19050">
            <a:solidFill>
              <a:srgbClr val="C6D2DB"/>
            </a:solidFill>
          </a:ln>
        </p:spPr>
      </p:sp>
      <p:sp>
        <p:nvSpPr>
          <p:cNvPr id="11" name="De grafiek">
            <a:extLst xmlns:a="http://schemas.openxmlformats.org/drawingml/2006/main">
              <a:ext uri="{FF2B5EF4-FFF2-40B4-BE49-F238E27FC236}">
                <a16:creationId xmlns:a16="http://schemas.microsoft.com/office/drawing/2014/main" id="{361E9CBD-2C76-49E7-8BB0-54F7BD8CCA49}"/>
              </a:ext>
            </a:extLst>
          </p:cNvPr>
          <p:cNvSpPr>
            <a:spLocks xmlns:a="http://schemas.openxmlformats.org/drawingml/2006/main" noGrp="1"/>
          </p:cNvSpPr>
          <p:nvPr/>
        </p:nvSpPr>
        <p:spPr>
          <a:xfrm xmlns:a="http://schemas.openxmlformats.org/drawingml/2006/main">
            <a:off x="571500" y="4752975"/>
            <a:ext cx="4857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De grafiek</a:t>
            </a:r>
          </a:p>
        </p:txBody>
      </p:sp>
      <p:sp>
        <p:nvSpPr>
          <p:cNvPr id="12" name="Je tekent het geldige lijnstuk met Q horizontaal en P vertic">
            <a:extLst xmlns:a="http://schemas.openxmlformats.org/drawingml/2006/main">
              <a:ext uri="{FF2B5EF4-FFF2-40B4-BE49-F238E27FC236}">
                <a16:creationId xmlns:a16="http://schemas.microsoft.com/office/drawing/2014/main" id="{E8DBF4EE-3607-45DA-AF1E-0FD8FFDAC42C}"/>
              </a:ext>
            </a:extLst>
          </p:cNvPr>
          <p:cNvSpPr>
            <a:spLocks xmlns:a="http://schemas.openxmlformats.org/drawingml/2006/main" noGrp="1"/>
          </p:cNvSpPr>
          <p:nvPr/>
        </p:nvSpPr>
        <p:spPr>
          <a:xfrm xmlns:a="http://schemas.openxmlformats.org/drawingml/2006/main">
            <a:off x="5905500" y="4752975"/>
            <a:ext cx="8667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Je tekent het geldige lijnstuk met Q horizontaal en P verticaal.</a:t>
            </a:r>
          </a:p>
        </p:txBody>
      </p:sp>
      <p:sp>
        <p:nvSpPr>
          <p:cNvPr id="13" name="">
            <a:extLst xmlns:a="http://schemas.openxmlformats.org/drawingml/2006/main">
              <a:ext uri="{FF2B5EF4-FFF2-40B4-BE49-F238E27FC236}">
                <a16:creationId xmlns:a16="http://schemas.microsoft.com/office/drawing/2014/main" id="{6B4FC89E-525B-4DC7-B2E0-8301E19CB3D6}"/>
              </a:ext>
            </a:extLst>
          </p:cNvPr>
          <p:cNvSpPr>
            <a:spLocks xmlns:a="http://schemas.openxmlformats.org/drawingml/2006/main" noGrp="1"/>
          </p:cNvSpPr>
          <p:nvPr/>
        </p:nvSpPr>
        <p:spPr>
          <a:xfrm xmlns:a="http://schemas.openxmlformats.org/drawingml/2006/main">
            <a:off x="571500" y="5886450"/>
            <a:ext cx="14097000" cy="0"/>
          </a:xfrm>
          <a:prstGeom xmlns:a="http://schemas.openxmlformats.org/drawingml/2006/main" prst="line">
            <a:avLst/>
          </a:prstGeom>
          <a:ln xmlns:a="http://schemas.openxmlformats.org/drawingml/2006/main" w="19050">
            <a:solidFill>
              <a:srgbClr val="C6D2DB"/>
            </a:solidFill>
          </a:ln>
        </p:spPr>
      </p:sp>
      <p:sp>
        <p:nvSpPr>
          <p:cNvPr id="14" name="Een koopgrens">
            <a:extLst xmlns:a="http://schemas.openxmlformats.org/drawingml/2006/main">
              <a:ext uri="{FF2B5EF4-FFF2-40B4-BE49-F238E27FC236}">
                <a16:creationId xmlns:a16="http://schemas.microsoft.com/office/drawing/2014/main" id="{68801754-DE72-4C36-8016-629B784D451F}"/>
              </a:ext>
            </a:extLst>
          </p:cNvPr>
          <p:cNvSpPr>
            <a:spLocks xmlns:a="http://schemas.openxmlformats.org/drawingml/2006/main" noGrp="1"/>
          </p:cNvSpPr>
          <p:nvPr/>
        </p:nvSpPr>
        <p:spPr>
          <a:xfrm xmlns:a="http://schemas.openxmlformats.org/drawingml/2006/main">
            <a:off x="571500" y="6153150"/>
            <a:ext cx="4857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Een koopgrens</a:t>
            </a:r>
          </a:p>
        </p:txBody>
      </p:sp>
      <p:sp>
        <p:nvSpPr>
          <p:cNvPr id="15" name="Je legt uit waarom een groep boven haar grens nul bijdraagt.">
            <a:extLst xmlns:a="http://schemas.openxmlformats.org/drawingml/2006/main">
              <a:ext uri="{FF2B5EF4-FFF2-40B4-BE49-F238E27FC236}">
                <a16:creationId xmlns:a16="http://schemas.microsoft.com/office/drawing/2014/main" id="{B6DD15CF-2FAA-495D-95B2-D6A60BF38F93}"/>
              </a:ext>
            </a:extLst>
          </p:cNvPr>
          <p:cNvSpPr>
            <a:spLocks xmlns:a="http://schemas.openxmlformats.org/drawingml/2006/main" noGrp="1"/>
          </p:cNvSpPr>
          <p:nvPr/>
        </p:nvSpPr>
        <p:spPr>
          <a:xfrm xmlns:a="http://schemas.openxmlformats.org/drawingml/2006/main">
            <a:off x="5905500" y="6153150"/>
            <a:ext cx="8667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Je legt uit waarom een groep boven haar grens nul bijdraagt.</a:t>
            </a:r>
          </a:p>
        </p:txBody>
      </p:sp>
    </p:spTree>
    <p:extLst>
      <p:ext uri="{BB962C8B-B14F-4D97-AF65-F5344CB8AC3E}">
        <p14:creationId xmlns:p14="http://schemas.microsoft.com/office/powerpoint/2010/main" val="18111090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ekende rekenstappen">
            <a:extLst xmlns:a="http://schemas.openxmlformats.org/drawingml/2006/main">
              <a:ext uri="{FF2B5EF4-FFF2-40B4-BE49-F238E27FC236}">
                <a16:creationId xmlns:a16="http://schemas.microsoft.com/office/drawing/2014/main" id="{4D054C00-3EFE-487C-A8A7-01F51664EED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Bekende rekenstappen</a:t>
            </a:r>
          </a:p>
        </p:txBody>
      </p:sp>
      <p:sp>
        <p:nvSpPr>
          <p:cNvPr id="2" name="">
            <a:extLst xmlns:a="http://schemas.openxmlformats.org/drawingml/2006/main">
              <a:ext uri="{FF2B5EF4-FFF2-40B4-BE49-F238E27FC236}">
                <a16:creationId xmlns:a16="http://schemas.microsoft.com/office/drawing/2014/main" id="{FFB4E3EB-1577-4B02-93AD-A406E80001F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Van individuele naar collectieve vraag">
            <a:extLst xmlns:a="http://schemas.openxmlformats.org/drawingml/2006/main">
              <a:ext uri="{FF2B5EF4-FFF2-40B4-BE49-F238E27FC236}">
                <a16:creationId xmlns:a16="http://schemas.microsoft.com/office/drawing/2014/main" id="{C1EE1F1F-FDC9-47B2-8607-E1889D0F5D6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Van individuele naar collectieve vraag</a:t>
            </a:r>
          </a:p>
        </p:txBody>
      </p:sp>
      <p:sp>
        <p:nvSpPr>
          <p:cNvPr id="4" name="slide-number">
            <a:extLst xmlns:a="http://schemas.openxmlformats.org/drawingml/2006/main">
              <a:ext uri="{FF2B5EF4-FFF2-40B4-BE49-F238E27FC236}">
                <a16:creationId xmlns:a16="http://schemas.microsoft.com/office/drawing/2014/main" id="{19F6B7F6-DE14-4F59-A63B-E8803A181E6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E83621BD-26C3-4A14-8124-DFF895339B22}"/>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Invullen in een formule">
            <a:extLst xmlns:a="http://schemas.openxmlformats.org/drawingml/2006/main">
              <a:ext uri="{FF2B5EF4-FFF2-40B4-BE49-F238E27FC236}">
                <a16:creationId xmlns:a16="http://schemas.microsoft.com/office/drawing/2014/main" id="{1EDA6317-BAEB-4E8F-BF00-EB6902124383}"/>
              </a:ext>
            </a:extLst>
          </p:cNvPr>
          <p:cNvSpPr>
            <a:spLocks xmlns:a="http://schemas.openxmlformats.org/drawingml/2006/main" noGrp="1"/>
          </p:cNvSpPr>
          <p:nvPr/>
        </p:nvSpPr>
        <p:spPr>
          <a:xfrm xmlns:a="http://schemas.openxmlformats.org/drawingml/2006/main">
            <a:off x="571500" y="2343150"/>
            <a:ext cx="1390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Invullen in een formule</a:t>
            </a:r>
          </a:p>
        </p:txBody>
      </p:sp>
      <p:sp>
        <p:nvSpPr>
          <p:cNvPr id="7" name="q = 20 − 4P   bij P = 3">
            <a:extLst xmlns:a="http://schemas.openxmlformats.org/drawingml/2006/main">
              <a:ext uri="{FF2B5EF4-FFF2-40B4-BE49-F238E27FC236}">
                <a16:creationId xmlns:a16="http://schemas.microsoft.com/office/drawing/2014/main" id="{D95BFA80-9EF0-4AA2-B73A-486D3165BDE0}"/>
              </a:ext>
            </a:extLst>
          </p:cNvPr>
          <p:cNvSpPr>
            <a:spLocks xmlns:a="http://schemas.openxmlformats.org/drawingml/2006/main" noGrp="1"/>
          </p:cNvSpPr>
          <p:nvPr/>
        </p:nvSpPr>
        <p:spPr>
          <a:xfrm xmlns:a="http://schemas.openxmlformats.org/drawingml/2006/main">
            <a:off x="571500" y="3076575"/>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q = 20 − 4P   bij P = 3</a:t>
            </a:r>
          </a:p>
        </p:txBody>
      </p:sp>
      <p:sp>
        <p:nvSpPr>
          <p:cNvPr id="8" name="q = 20 − 4 × 3 = 8">
            <a:extLst xmlns:a="http://schemas.openxmlformats.org/drawingml/2006/main">
              <a:ext uri="{FF2B5EF4-FFF2-40B4-BE49-F238E27FC236}">
                <a16:creationId xmlns:a16="http://schemas.microsoft.com/office/drawing/2014/main" id="{DE566208-D000-4AEC-80F4-4AFA7DBF0A0F}"/>
              </a:ext>
            </a:extLst>
          </p:cNvPr>
          <p:cNvSpPr>
            <a:spLocks xmlns:a="http://schemas.openxmlformats.org/drawingml/2006/main" noGrp="1"/>
          </p:cNvSpPr>
          <p:nvPr/>
        </p:nvSpPr>
        <p:spPr>
          <a:xfrm xmlns:a="http://schemas.openxmlformats.org/drawingml/2006/main">
            <a:off x="571500" y="3895725"/>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q = 20 − 4 × 3 = 8</a:t>
            </a:r>
          </a:p>
        </p:txBody>
      </p:sp>
      <p:sp>
        <p:nvSpPr>
          <p:cNvPr id="9" name="q: liter per week. P: € per liter. Geldig voor 0 ≤ P ≤ 5.">
            <a:extLst xmlns:a="http://schemas.openxmlformats.org/drawingml/2006/main">
              <a:ext uri="{FF2B5EF4-FFF2-40B4-BE49-F238E27FC236}">
                <a16:creationId xmlns:a16="http://schemas.microsoft.com/office/drawing/2014/main" id="{837BB926-C7E3-40F9-8535-BDF1974E00CE}"/>
              </a:ext>
            </a:extLst>
          </p:cNvPr>
          <p:cNvSpPr>
            <a:spLocks xmlns:a="http://schemas.openxmlformats.org/drawingml/2006/main" noGrp="1"/>
          </p:cNvSpPr>
          <p:nvPr/>
        </p:nvSpPr>
        <p:spPr>
          <a:xfrm xmlns:a="http://schemas.openxmlformats.org/drawingml/2006/main">
            <a:off x="571500" y="45910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q: liter per week. P: € per liter. Geldig voor 0 ≤ P ≤ 5.</a:t>
            </a:r>
          </a:p>
        </p:txBody>
      </p:sp>
      <p:sp>
        <p:nvSpPr>
          <p:cNvPr id="10" name="">
            <a:extLst xmlns:a="http://schemas.openxmlformats.org/drawingml/2006/main">
              <a:ext uri="{FF2B5EF4-FFF2-40B4-BE49-F238E27FC236}">
                <a16:creationId xmlns:a16="http://schemas.microsoft.com/office/drawing/2014/main" id="{F37D170E-7C78-4399-8ECE-53280BFC1ECE}"/>
              </a:ext>
            </a:extLst>
          </p:cNvPr>
          <p:cNvSpPr>
            <a:spLocks xmlns:a="http://schemas.openxmlformats.org/drawingml/2006/main" noGrp="1"/>
          </p:cNvSpPr>
          <p:nvPr/>
        </p:nvSpPr>
        <p:spPr>
          <a:xfrm xmlns:a="http://schemas.openxmlformats.org/drawingml/2006/main">
            <a:off x="571500" y="5191125"/>
            <a:ext cx="14097000" cy="0"/>
          </a:xfrm>
          <a:prstGeom xmlns:a="http://schemas.openxmlformats.org/drawingml/2006/main" prst="line">
            <a:avLst/>
          </a:prstGeom>
          <a:ln xmlns:a="http://schemas.openxmlformats.org/drawingml/2006/main" w="19050">
            <a:solidFill>
              <a:srgbClr val="C6D2DB"/>
            </a:solidFill>
          </a:ln>
        </p:spPr>
      </p:sp>
      <p:sp>
        <p:nvSpPr>
          <p:cNvPr id="11" name="Procentuele verandering">
            <a:extLst xmlns:a="http://schemas.openxmlformats.org/drawingml/2006/main">
              <a:ext uri="{FF2B5EF4-FFF2-40B4-BE49-F238E27FC236}">
                <a16:creationId xmlns:a16="http://schemas.microsoft.com/office/drawing/2014/main" id="{C9F0BA60-0D80-4DB8-B37F-802C1FC2399D}"/>
              </a:ext>
            </a:extLst>
          </p:cNvPr>
          <p:cNvSpPr>
            <a:spLocks xmlns:a="http://schemas.openxmlformats.org/drawingml/2006/main" noGrp="1"/>
          </p:cNvSpPr>
          <p:nvPr/>
        </p:nvSpPr>
        <p:spPr>
          <a:xfrm xmlns:a="http://schemas.openxmlformats.org/drawingml/2006/main">
            <a:off x="571500" y="5591175"/>
            <a:ext cx="1390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Procentuele verandering</a:t>
            </a:r>
          </a:p>
        </p:txBody>
      </p:sp>
      <p:sp>
        <p:nvSpPr>
          <p:cNvPr id="12" name="(nieuw − oud) / oud × 100%">
            <a:extLst xmlns:a="http://schemas.openxmlformats.org/drawingml/2006/main">
              <a:ext uri="{FF2B5EF4-FFF2-40B4-BE49-F238E27FC236}">
                <a16:creationId xmlns:a16="http://schemas.microsoft.com/office/drawing/2014/main" id="{42A3D55C-38A6-463B-9912-74EF94C0BA07}"/>
              </a:ext>
            </a:extLst>
          </p:cNvPr>
          <p:cNvSpPr>
            <a:spLocks xmlns:a="http://schemas.openxmlformats.org/drawingml/2006/main" noGrp="1"/>
          </p:cNvSpPr>
          <p:nvPr/>
        </p:nvSpPr>
        <p:spPr>
          <a:xfrm xmlns:a="http://schemas.openxmlformats.org/drawingml/2006/main">
            <a:off x="571500" y="64008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(nieuw − oud) / oud × 100%</a:t>
            </a:r>
          </a:p>
        </p:txBody>
      </p:sp>
      <p:sp>
        <p:nvSpPr>
          <p:cNvPr id="13" name="De oude hoeveelheid is de basis.">
            <a:extLst xmlns:a="http://schemas.openxmlformats.org/drawingml/2006/main">
              <a:ext uri="{FF2B5EF4-FFF2-40B4-BE49-F238E27FC236}">
                <a16:creationId xmlns:a16="http://schemas.microsoft.com/office/drawing/2014/main" id="{EF2BFBE8-F45B-40B4-8ED0-C92062DB87C6}"/>
              </a:ext>
            </a:extLst>
          </p:cNvPr>
          <p:cNvSpPr>
            <a:spLocks xmlns:a="http://schemas.openxmlformats.org/drawingml/2006/main" noGrp="1"/>
          </p:cNvSpPr>
          <p:nvPr/>
        </p:nvSpPr>
        <p:spPr>
          <a:xfrm xmlns:a="http://schemas.openxmlformats.org/drawingml/2006/main">
            <a:off x="571500" y="7381875"/>
            <a:ext cx="1390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 oude hoeveelheid is de basis.</a:t>
            </a:r>
          </a:p>
        </p:txBody>
      </p:sp>
    </p:spTree>
    <p:extLst>
      <p:ext uri="{BB962C8B-B14F-4D97-AF65-F5344CB8AC3E}">
        <p14:creationId xmlns:p14="http://schemas.microsoft.com/office/powerpoint/2010/main" val="19271134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wee kopers van ijsthee">
            <a:extLst xmlns:a="http://schemas.openxmlformats.org/drawingml/2006/main">
              <a:ext uri="{FF2B5EF4-FFF2-40B4-BE49-F238E27FC236}">
                <a16:creationId xmlns:a16="http://schemas.microsoft.com/office/drawing/2014/main" id="{D743A485-16E6-4765-B563-25806C73680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Twee kopers van ijsthee</a:t>
            </a:r>
          </a:p>
        </p:txBody>
      </p:sp>
      <p:sp>
        <p:nvSpPr>
          <p:cNvPr id="2" name="">
            <a:extLst xmlns:a="http://schemas.openxmlformats.org/drawingml/2006/main">
              <a:ext uri="{FF2B5EF4-FFF2-40B4-BE49-F238E27FC236}">
                <a16:creationId xmlns:a16="http://schemas.microsoft.com/office/drawing/2014/main" id="{36D85EE3-0C9A-442F-B2AC-06DD53128F5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Van individuele naar collectieve vraag">
            <a:extLst xmlns:a="http://schemas.openxmlformats.org/drawingml/2006/main">
              <a:ext uri="{FF2B5EF4-FFF2-40B4-BE49-F238E27FC236}">
                <a16:creationId xmlns:a16="http://schemas.microsoft.com/office/drawing/2014/main" id="{8833F92A-D90C-4304-8A59-5138FF16B65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Van individuele naar collectieve vraag</a:t>
            </a:r>
          </a:p>
        </p:txBody>
      </p:sp>
      <p:sp>
        <p:nvSpPr>
          <p:cNvPr id="4" name="slide-number">
            <a:extLst xmlns:a="http://schemas.openxmlformats.org/drawingml/2006/main">
              <a:ext uri="{FF2B5EF4-FFF2-40B4-BE49-F238E27FC236}">
                <a16:creationId xmlns:a16="http://schemas.microsoft.com/office/drawing/2014/main" id="{721D26D3-EA46-47DB-AD72-8B1B0F7CE32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3972BD60-D950-4684-9852-F4DAB097D942}"/>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Alleen koper A en B vormen deze voorbeeldmarkt.">
            <a:extLst xmlns:a="http://schemas.openxmlformats.org/drawingml/2006/main">
              <a:ext uri="{FF2B5EF4-FFF2-40B4-BE49-F238E27FC236}">
                <a16:creationId xmlns:a16="http://schemas.microsoft.com/office/drawing/2014/main" id="{D010FE25-68CB-46BE-872F-4587B63F75B7}"/>
              </a:ext>
            </a:extLst>
          </p:cNvPr>
          <p:cNvSpPr>
            <a:spLocks xmlns:a="http://schemas.openxmlformats.org/drawingml/2006/main" noGrp="1"/>
          </p:cNvSpPr>
          <p:nvPr/>
        </p:nvSpPr>
        <p:spPr>
          <a:xfrm xmlns:a="http://schemas.openxmlformats.org/drawingml/2006/main">
            <a:off x="571500" y="24765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Alleen koper A en B vormen deze voorbeeldmarkt.</a:t>
            </a:r>
          </a:p>
        </p:txBody>
      </p:sp>
      <p:graphicFrame>
        <p:nvGraphicFramePr>
          <p:cNvPr id="16" name=""/>
          <p:cNvGraphicFramePr/>
          <p:nvPr/>
        </p:nvGraphicFramePr>
        <p:xfrm>
          <a:off xmlns:a="http://schemas.openxmlformats.org/drawingml/2006/main" x="571500" y="3505200"/>
          <a:ext xmlns:a="http://schemas.openxmlformats.org/drawingml/2006/main" cx="14097000" cy="2409825"/>
        </p:xfrm>
        <a:graphic xmlns:a="http://schemas.openxmlformats.org/drawingml/2006/main">
          <a:graphicData uri="http://schemas.openxmlformats.org/drawingml/2006/table">
            <a:tbl>
              <a:tblPr/>
              <a:tblGrid>
                <a:gridCol w="2857500"/>
                <a:gridCol w="6477000"/>
                <a:gridCol w="4762500"/>
              </a:tblGrid>
              <a:tr h="803275">
                <a:tc>
                  <a:txBody>
                    <a:bodyPr lIns="171450" tIns="95250" rIns="152400" bIns="95250"/>
                    <a:lstStyle/>
                    <a:p>
                      <a:r>
                        <a:rPr sz="2775" b="1">
                          <a:solidFill>
                            <a:srgbClr val="FFFFFF"/>
                          </a:solidFill>
                          <a:latin typeface="Arial"/>
                          <a:ea typeface="Arial"/>
                          <a:cs typeface="Arial"/>
                        </a:rPr>
                        <a:t>Koper</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Vraagfunctie</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Geldig bij</a:t>
                      </a:r>
                    </a:p>
                  </a:txBody>
                  <a:tcPr marL="91440" marR="91440" marT="45720" marB="45720" anchor="ctr">
                    <a:solidFill>
                      <a:srgbClr val="183247"/>
                    </a:solidFill>
                  </a:tcPr>
                </a:tc>
              </a:tr>
              <a:tr h="803275">
                <a:tc>
                  <a:txBody>
                    <a:bodyPr lIns="171450" tIns="95250" rIns="152400" bIns="95250"/>
                    <a:lstStyle/>
                    <a:p>
                      <a:r>
                        <a:rPr sz="2775" b="0">
                          <a:solidFill>
                            <a:srgbClr val="183247"/>
                          </a:solidFill>
                          <a:latin typeface="Arial"/>
                          <a:ea typeface="Arial"/>
                          <a:cs typeface="Arial"/>
                        </a:rPr>
                        <a:t>A</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qA = 15 − 3P</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0 ≤ P ≤ 5</a:t>
                      </a:r>
                    </a:p>
                  </a:txBody>
                  <a:tcPr marL="91440" marR="91440" marT="45720" marB="45720" anchor="ctr">
                    <a:solidFill>
                      <a:srgbClr val="FFFFFF"/>
                    </a:solidFill>
                  </a:tcPr>
                </a:tc>
              </a:tr>
              <a:tr h="803275">
                <a:tc>
                  <a:txBody>
                    <a:bodyPr lIns="171450" tIns="95250" rIns="152400" bIns="95250"/>
                    <a:lstStyle/>
                    <a:p>
                      <a:r>
                        <a:rPr sz="2775" b="0">
                          <a:solidFill>
                            <a:srgbClr val="183247"/>
                          </a:solidFill>
                          <a:latin typeface="Arial"/>
                          <a:ea typeface="Arial"/>
                          <a:cs typeface="Arial"/>
                        </a:rPr>
                        <a:t>B</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qB = 14 − 2P</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0 ≤ P ≤ 7</a:t>
                      </a:r>
                    </a:p>
                  </a:txBody>
                  <a:tcPr marL="91440" marR="91440" marT="45720" marB="45720" anchor="ctr">
                    <a:solidFill>
                      <a:srgbClr val="EFF4F7"/>
                    </a:solidFill>
                  </a:tcPr>
                </a:tc>
              </a:tr>
            </a:tbl>
          </a:graphicData>
        </a:graphic>
      </p:graphicFrame>
      <p:sp>
        <p:nvSpPr>
          <p:cNvPr id="8" name="q: liter per week       P: euro per liter">
            <a:extLst xmlns:a="http://schemas.openxmlformats.org/drawingml/2006/main">
              <a:ext uri="{FF2B5EF4-FFF2-40B4-BE49-F238E27FC236}">
                <a16:creationId xmlns:a16="http://schemas.microsoft.com/office/drawing/2014/main" id="{CBE8993A-3149-4ACF-A45A-4D61C7498DA2}"/>
              </a:ext>
            </a:extLst>
          </p:cNvPr>
          <p:cNvSpPr>
            <a:spLocks xmlns:a="http://schemas.openxmlformats.org/drawingml/2006/main" noGrp="1"/>
          </p:cNvSpPr>
          <p:nvPr/>
        </p:nvSpPr>
        <p:spPr>
          <a:xfrm xmlns:a="http://schemas.openxmlformats.org/drawingml/2006/main">
            <a:off x="571500" y="633412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q: liter per week       P: euro per liter</a:t>
            </a:r>
          </a:p>
        </p:txBody>
      </p:sp>
      <p:sp>
        <p:nvSpPr>
          <p:cNvPr id="9" name="Boven de eigen koopgrens: nul. Overige omstandigheden gelijk">
            <a:extLst xmlns:a="http://schemas.openxmlformats.org/drawingml/2006/main">
              <a:ext uri="{FF2B5EF4-FFF2-40B4-BE49-F238E27FC236}">
                <a16:creationId xmlns:a16="http://schemas.microsoft.com/office/drawing/2014/main" id="{DBE5A5D2-BA85-4D57-9439-85EEBA55F406}"/>
              </a:ext>
            </a:extLst>
          </p:cNvPr>
          <p:cNvSpPr>
            <a:spLocks xmlns:a="http://schemas.openxmlformats.org/drawingml/2006/main" noGrp="1"/>
          </p:cNvSpPr>
          <p:nvPr/>
        </p:nvSpPr>
        <p:spPr>
          <a:xfrm xmlns:a="http://schemas.openxmlformats.org/drawingml/2006/main">
            <a:off x="571500" y="72390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Boven de eigen koopgrens: nul. Overige omstandigheden gelijk.</a:t>
            </a:r>
          </a:p>
        </p:txBody>
      </p:sp>
    </p:spTree>
    <p:extLst>
      <p:ext uri="{BB962C8B-B14F-4D97-AF65-F5344CB8AC3E}">
        <p14:creationId xmlns:p14="http://schemas.microsoft.com/office/powerpoint/2010/main" val="630927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llectieve vraag bij één prijs">
            <a:extLst xmlns:a="http://schemas.openxmlformats.org/drawingml/2006/main">
              <a:ext uri="{FF2B5EF4-FFF2-40B4-BE49-F238E27FC236}">
                <a16:creationId xmlns:a16="http://schemas.microsoft.com/office/drawing/2014/main" id="{0B684A1B-8F8C-4DCE-BBBA-7BFE08971AC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Collectieve vraag bij één prijs</a:t>
            </a:r>
          </a:p>
        </p:txBody>
      </p:sp>
      <p:sp>
        <p:nvSpPr>
          <p:cNvPr id="2" name="">
            <a:extLst xmlns:a="http://schemas.openxmlformats.org/drawingml/2006/main">
              <a:ext uri="{FF2B5EF4-FFF2-40B4-BE49-F238E27FC236}">
                <a16:creationId xmlns:a16="http://schemas.microsoft.com/office/drawing/2014/main" id="{2B050DF4-2117-4DEC-8114-242563A7332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Van individuele naar collectieve vraag">
            <a:extLst xmlns:a="http://schemas.openxmlformats.org/drawingml/2006/main">
              <a:ext uri="{FF2B5EF4-FFF2-40B4-BE49-F238E27FC236}">
                <a16:creationId xmlns:a16="http://schemas.microsoft.com/office/drawing/2014/main" id="{29E116E9-6EDA-4DCA-B3BD-410FB1EE044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Van individuele naar collectieve vraag</a:t>
            </a:r>
          </a:p>
        </p:txBody>
      </p:sp>
      <p:sp>
        <p:nvSpPr>
          <p:cNvPr id="4" name="slide-number">
            <a:extLst xmlns:a="http://schemas.openxmlformats.org/drawingml/2006/main">
              <a:ext uri="{FF2B5EF4-FFF2-40B4-BE49-F238E27FC236}">
                <a16:creationId xmlns:a16="http://schemas.microsoft.com/office/drawing/2014/main" id="{7315325A-88E4-4C4F-9C85-D8B15F74A52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C69D921F-13B8-450E-891B-DFD0257FE8BD}"/>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P = € 2 per liter">
            <a:extLst xmlns:a="http://schemas.openxmlformats.org/drawingml/2006/main">
              <a:ext uri="{FF2B5EF4-FFF2-40B4-BE49-F238E27FC236}">
                <a16:creationId xmlns:a16="http://schemas.microsoft.com/office/drawing/2014/main" id="{2F15F341-AC9B-42AB-A279-84D8785A6BFB}"/>
              </a:ext>
            </a:extLst>
          </p:cNvPr>
          <p:cNvSpPr>
            <a:spLocks xmlns:a="http://schemas.openxmlformats.org/drawingml/2006/main" noGrp="1"/>
          </p:cNvSpPr>
          <p:nvPr/>
        </p:nvSpPr>
        <p:spPr>
          <a:xfrm xmlns:a="http://schemas.openxmlformats.org/drawingml/2006/main">
            <a:off x="571500" y="2514600"/>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P = € 2 per liter</a:t>
            </a:r>
          </a:p>
        </p:txBody>
      </p:sp>
      <p:graphicFrame>
        <p:nvGraphicFramePr>
          <p:cNvPr id="16" name=""/>
          <p:cNvGraphicFramePr/>
          <p:nvPr/>
        </p:nvGraphicFramePr>
        <p:xfrm>
          <a:off xmlns:a="http://schemas.openxmlformats.org/drawingml/2006/main" x="571500" y="3571875"/>
          <a:ext xmlns:a="http://schemas.openxmlformats.org/drawingml/2006/main" cx="14097000" cy="2028825"/>
        </p:xfrm>
        <a:graphic xmlns:a="http://schemas.openxmlformats.org/drawingml/2006/main">
          <a:graphicData uri="http://schemas.openxmlformats.org/drawingml/2006/table">
            <a:tbl>
              <a:tblPr/>
              <a:tblGrid>
                <a:gridCol w="4714875"/>
                <a:gridCol w="4714875"/>
                <a:gridCol w="4667250"/>
              </a:tblGrid>
              <a:tr h="1014413">
                <a:tc>
                  <a:txBody>
                    <a:bodyPr lIns="171450" tIns="95250" rIns="152400" bIns="95250"/>
                    <a:lstStyle/>
                    <a:p>
                      <a:r>
                        <a:rPr sz="2850" b="1">
                          <a:solidFill>
                            <a:srgbClr val="FFFFFF"/>
                          </a:solidFill>
                          <a:latin typeface="Arial"/>
                          <a:ea typeface="Arial"/>
                          <a:cs typeface="Arial"/>
                        </a:rPr>
                        <a:t>Koper A</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Koper B</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Samen</a:t>
                      </a:r>
                    </a:p>
                  </a:txBody>
                  <a:tcPr marL="91440" marR="91440" marT="45720" marB="45720" anchor="ctr">
                    <a:solidFill>
                      <a:srgbClr val="183247"/>
                    </a:solidFill>
                  </a:tcPr>
                </a:tc>
              </a:tr>
              <a:tr h="1014413">
                <a:tc>
                  <a:txBody>
                    <a:bodyPr lIns="171450" tIns="95250" rIns="152400" bIns="95250"/>
                    <a:lstStyle/>
                    <a:p>
                      <a:r>
                        <a:rPr sz="2850" b="0">
                          <a:solidFill>
                            <a:srgbClr val="183247"/>
                          </a:solidFill>
                          <a:latin typeface="Arial"/>
                          <a:ea typeface="Arial"/>
                          <a:cs typeface="Arial"/>
                        </a:rPr>
                        <a:t>15 − 3 × 2 = 9</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14 − 2 × 2 = 10</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9 + 10 = 19</a:t>
                      </a:r>
                    </a:p>
                  </a:txBody>
                  <a:tcPr marL="91440" marR="91440" marT="45720" marB="45720" anchor="ctr">
                    <a:solidFill>
                      <a:srgbClr val="FFFFFF"/>
                    </a:solidFill>
                  </a:tcPr>
                </a:tc>
              </a:tr>
            </a:tbl>
          </a:graphicData>
        </a:graphic>
      </p:graphicFrame>
      <p:sp>
        <p:nvSpPr>
          <p:cNvPr id="8" name="Samen 19 liter per week bij € 2 per liter">
            <a:extLst xmlns:a="http://schemas.openxmlformats.org/drawingml/2006/main">
              <a:ext uri="{FF2B5EF4-FFF2-40B4-BE49-F238E27FC236}">
                <a16:creationId xmlns:a16="http://schemas.microsoft.com/office/drawing/2014/main" id="{3351473D-F684-44A1-87F2-FBD30EE3D448}"/>
              </a:ext>
            </a:extLst>
          </p:cNvPr>
          <p:cNvSpPr>
            <a:spLocks xmlns:a="http://schemas.openxmlformats.org/drawingml/2006/main" noGrp="1"/>
          </p:cNvSpPr>
          <p:nvPr/>
        </p:nvSpPr>
        <p:spPr>
          <a:xfrm xmlns:a="http://schemas.openxmlformats.org/drawingml/2006/main">
            <a:off x="571500" y="61341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0665B"/>
                </a:solidFill>
                <a:latin typeface="Arial"/>
                <a:ea typeface="Arial"/>
                <a:cs typeface="Arial"/>
              </a:defRPr>
            </a:pPr>
            <a:r>
              <a:rPr sz="3450" b="1">
                <a:solidFill>
                  <a:srgbClr val="20665B"/>
                </a:solidFill>
                <a:latin typeface="Arial"/>
                <a:ea typeface="Arial"/>
                <a:cs typeface="Arial"/>
              </a:rPr>
              <a:t>Samen 19 liter per week bij € 2 per liter</a:t>
            </a:r>
          </a:p>
        </p:txBody>
      </p:sp>
      <p:sp>
        <p:nvSpPr>
          <p:cNvPr id="9" name="(9 + 10) / 2 = 9,5 liter per koper is het gemiddelde.">
            <a:extLst xmlns:a="http://schemas.openxmlformats.org/drawingml/2006/main">
              <a:ext uri="{FF2B5EF4-FFF2-40B4-BE49-F238E27FC236}">
                <a16:creationId xmlns:a16="http://schemas.microsoft.com/office/drawing/2014/main" id="{D73F4108-ECC5-4CF2-8D77-CB99967A542B}"/>
              </a:ext>
            </a:extLst>
          </p:cNvPr>
          <p:cNvSpPr>
            <a:spLocks xmlns:a="http://schemas.openxmlformats.org/drawingml/2006/main" noGrp="1"/>
          </p:cNvSpPr>
          <p:nvPr/>
        </p:nvSpPr>
        <p:spPr>
          <a:xfrm xmlns:a="http://schemas.openxmlformats.org/drawingml/2006/main">
            <a:off x="571500" y="720090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(9 + 10) / 2 = 9,5 liter per koper is het gemiddelde.</a:t>
            </a:r>
          </a:p>
        </p:txBody>
      </p:sp>
    </p:spTree>
    <p:extLst>
      <p:ext uri="{BB962C8B-B14F-4D97-AF65-F5344CB8AC3E}">
        <p14:creationId xmlns:p14="http://schemas.microsoft.com/office/powerpoint/2010/main" val="8060570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Horizontaal optellen bij dezelfde prijs">
            <a:extLst xmlns:a="http://schemas.openxmlformats.org/drawingml/2006/main">
              <a:ext uri="{FF2B5EF4-FFF2-40B4-BE49-F238E27FC236}">
                <a16:creationId xmlns:a16="http://schemas.microsoft.com/office/drawing/2014/main" id="{637D4C9E-66D6-45F1-A7FC-A345CAE3658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Horizontaal optellen bij dezelfde prijs</a:t>
            </a:r>
          </a:p>
        </p:txBody>
      </p:sp>
      <p:sp>
        <p:nvSpPr>
          <p:cNvPr id="2" name="">
            <a:extLst xmlns:a="http://schemas.openxmlformats.org/drawingml/2006/main">
              <a:ext uri="{FF2B5EF4-FFF2-40B4-BE49-F238E27FC236}">
                <a16:creationId xmlns:a16="http://schemas.microsoft.com/office/drawing/2014/main" id="{1CE011F7-A4BF-4030-A195-8249D4D2BA5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Van individuele naar collectieve vraag">
            <a:extLst xmlns:a="http://schemas.openxmlformats.org/drawingml/2006/main">
              <a:ext uri="{FF2B5EF4-FFF2-40B4-BE49-F238E27FC236}">
                <a16:creationId xmlns:a16="http://schemas.microsoft.com/office/drawing/2014/main" id="{8E58877B-145E-45D2-B649-E358A8C5D58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Van individuele naar collectieve vraag</a:t>
            </a:r>
          </a:p>
        </p:txBody>
      </p:sp>
      <p:sp>
        <p:nvSpPr>
          <p:cNvPr id="4" name="slide-number">
            <a:extLst xmlns:a="http://schemas.openxmlformats.org/drawingml/2006/main">
              <a:ext uri="{FF2B5EF4-FFF2-40B4-BE49-F238E27FC236}">
                <a16:creationId xmlns:a16="http://schemas.microsoft.com/office/drawing/2014/main" id="{E35C067C-6F33-4B42-B770-4B986E2BC6B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3FF9AFF1-E1EA-4983-8A62-CE320F385991}"/>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Koper A">
            <a:extLst xmlns:a="http://schemas.openxmlformats.org/drawingml/2006/main">
              <a:ext uri="{FF2B5EF4-FFF2-40B4-BE49-F238E27FC236}">
                <a16:creationId xmlns:a16="http://schemas.microsoft.com/office/drawing/2014/main" id="{0E2B2724-2361-4F31-9B01-44D182D9219D}"/>
              </a:ext>
            </a:extLst>
          </p:cNvPr>
          <p:cNvSpPr>
            <a:spLocks xmlns:a="http://schemas.openxmlformats.org/drawingml/2006/main" noGrp="1"/>
          </p:cNvSpPr>
          <p:nvPr/>
        </p:nvSpPr>
        <p:spPr>
          <a:xfrm xmlns:a="http://schemas.openxmlformats.org/drawingml/2006/main">
            <a:off x="714375" y="244792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Koper A</a:t>
            </a:r>
          </a:p>
        </p:txBody>
      </p:sp>
      <p:graphicFrame>
        <p:nvGraphicFramePr>
          <p:cNvPr id="22" name="Chart"/>
          <p:cNvGraphicFramePr/>
          <p:nvPr/>
        </p:nvGraphicFramePr>
        <p:xfrm>
          <a:off xmlns:a="http://schemas.openxmlformats.org/drawingml/2006/main" x="381000" y="3048000"/>
          <a:ext xmlns:a="http://schemas.openxmlformats.org/drawingml/2006/main" cx="4762500" cy="3724275"/>
        </p:xfrm>
        <a:graphic xmlns:a="http://schemas.openxmlformats.org/drawingml/2006/main">
          <a:graphicData uri="http://schemas.openxmlformats.org/drawingml/2006/chart">
            <c:chart xmlns:r="http://schemas.openxmlformats.org/officeDocument/2006/relationships" xmlns:c="http://schemas.openxmlformats.org/drawingml/2006/chart" r:id="R05038a2713c24594"/>
          </a:graphicData>
        </a:graphic>
      </p:graphicFrame>
      <p:sp>
        <p:nvSpPr>
          <p:cNvPr id="8" name="(9; 2)">
            <a:extLst xmlns:a="http://schemas.openxmlformats.org/drawingml/2006/main">
              <a:ext uri="{FF2B5EF4-FFF2-40B4-BE49-F238E27FC236}">
                <a16:creationId xmlns:a16="http://schemas.microsoft.com/office/drawing/2014/main" id="{7A7F8149-77AD-4E58-B8E2-E701B58E4E84}"/>
              </a:ext>
            </a:extLst>
          </p:cNvPr>
          <p:cNvSpPr>
            <a:spLocks xmlns:a="http://schemas.openxmlformats.org/drawingml/2006/main" noGrp="1"/>
          </p:cNvSpPr>
          <p:nvPr/>
        </p:nvSpPr>
        <p:spPr>
          <a:xfrm xmlns:a="http://schemas.openxmlformats.org/drawingml/2006/main">
            <a:off x="714375" y="6905625"/>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(9; 2)</a:t>
            </a:r>
          </a:p>
        </p:txBody>
      </p:sp>
      <p:sp>
        <p:nvSpPr>
          <p:cNvPr id="9" name="Koper B">
            <a:extLst xmlns:a="http://schemas.openxmlformats.org/drawingml/2006/main">
              <a:ext uri="{FF2B5EF4-FFF2-40B4-BE49-F238E27FC236}">
                <a16:creationId xmlns:a16="http://schemas.microsoft.com/office/drawing/2014/main" id="{23EEDF61-01F8-457D-833C-C811F8FA41C0}"/>
              </a:ext>
            </a:extLst>
          </p:cNvPr>
          <p:cNvSpPr>
            <a:spLocks xmlns:a="http://schemas.openxmlformats.org/drawingml/2006/main" noGrp="1"/>
          </p:cNvSpPr>
          <p:nvPr/>
        </p:nvSpPr>
        <p:spPr>
          <a:xfrm xmlns:a="http://schemas.openxmlformats.org/drawingml/2006/main">
            <a:off x="5667375" y="244792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Koper B</a:t>
            </a:r>
          </a:p>
        </p:txBody>
      </p:sp>
      <p:graphicFrame>
        <p:nvGraphicFramePr>
          <p:cNvPr id="25" name="Chart"/>
          <p:cNvGraphicFramePr/>
          <p:nvPr/>
        </p:nvGraphicFramePr>
        <p:xfrm>
          <a:off xmlns:a="http://schemas.openxmlformats.org/drawingml/2006/main" x="5334000" y="3048000"/>
          <a:ext xmlns:a="http://schemas.openxmlformats.org/drawingml/2006/main" cx="4762500" cy="3724275"/>
        </p:xfrm>
        <a:graphic xmlns:a="http://schemas.openxmlformats.org/drawingml/2006/main">
          <a:graphicData uri="http://schemas.openxmlformats.org/drawingml/2006/chart">
            <c:chart xmlns:r="http://schemas.openxmlformats.org/officeDocument/2006/relationships" xmlns:c="http://schemas.openxmlformats.org/drawingml/2006/chart" r:id="R53b21b8f81cb49a5"/>
          </a:graphicData>
        </a:graphic>
      </p:graphicFrame>
      <p:sp>
        <p:nvSpPr>
          <p:cNvPr id="11" name="(10; 2)">
            <a:extLst xmlns:a="http://schemas.openxmlformats.org/drawingml/2006/main">
              <a:ext uri="{FF2B5EF4-FFF2-40B4-BE49-F238E27FC236}">
                <a16:creationId xmlns:a16="http://schemas.microsoft.com/office/drawing/2014/main" id="{FAB95269-8589-437A-8711-FCF17DFB74DA}"/>
              </a:ext>
            </a:extLst>
          </p:cNvPr>
          <p:cNvSpPr>
            <a:spLocks xmlns:a="http://schemas.openxmlformats.org/drawingml/2006/main" noGrp="1"/>
          </p:cNvSpPr>
          <p:nvPr/>
        </p:nvSpPr>
        <p:spPr>
          <a:xfrm xmlns:a="http://schemas.openxmlformats.org/drawingml/2006/main">
            <a:off x="5667375" y="6905625"/>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(10; 2)</a:t>
            </a:r>
          </a:p>
        </p:txBody>
      </p:sp>
      <p:sp>
        <p:nvSpPr>
          <p:cNvPr id="12" name="Samen">
            <a:extLst xmlns:a="http://schemas.openxmlformats.org/drawingml/2006/main">
              <a:ext uri="{FF2B5EF4-FFF2-40B4-BE49-F238E27FC236}">
                <a16:creationId xmlns:a16="http://schemas.microsoft.com/office/drawing/2014/main" id="{0C7ED2B8-F17F-43C8-B6F3-B9B653C47E20}"/>
              </a:ext>
            </a:extLst>
          </p:cNvPr>
          <p:cNvSpPr>
            <a:spLocks xmlns:a="http://schemas.openxmlformats.org/drawingml/2006/main" noGrp="1"/>
          </p:cNvSpPr>
          <p:nvPr/>
        </p:nvSpPr>
        <p:spPr>
          <a:xfrm xmlns:a="http://schemas.openxmlformats.org/drawingml/2006/main">
            <a:off x="10620375" y="244792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Samen</a:t>
            </a:r>
          </a:p>
        </p:txBody>
      </p:sp>
      <p:graphicFrame>
        <p:nvGraphicFramePr>
          <p:cNvPr id="28" name="Chart"/>
          <p:cNvGraphicFramePr/>
          <p:nvPr/>
        </p:nvGraphicFramePr>
        <p:xfrm>
          <a:off xmlns:a="http://schemas.openxmlformats.org/drawingml/2006/main" x="10287000" y="3048000"/>
          <a:ext xmlns:a="http://schemas.openxmlformats.org/drawingml/2006/main" cx="4762500" cy="3724275"/>
        </p:xfrm>
        <a:graphic xmlns:a="http://schemas.openxmlformats.org/drawingml/2006/main">
          <a:graphicData uri="http://schemas.openxmlformats.org/drawingml/2006/chart">
            <c:chart xmlns:r="http://schemas.openxmlformats.org/officeDocument/2006/relationships" xmlns:c="http://schemas.openxmlformats.org/drawingml/2006/chart" r:id="R0cfc5ac212fe4ca7"/>
          </a:graphicData>
        </a:graphic>
      </p:graphicFrame>
      <p:sp>
        <p:nvSpPr>
          <p:cNvPr id="14" name="(19; 2)">
            <a:extLst xmlns:a="http://schemas.openxmlformats.org/drawingml/2006/main">
              <a:ext uri="{FF2B5EF4-FFF2-40B4-BE49-F238E27FC236}">
                <a16:creationId xmlns:a16="http://schemas.microsoft.com/office/drawing/2014/main" id="{D3EC12EA-AB97-49FC-A44E-1D48F7FABB41}"/>
              </a:ext>
            </a:extLst>
          </p:cNvPr>
          <p:cNvSpPr>
            <a:spLocks xmlns:a="http://schemas.openxmlformats.org/drawingml/2006/main" noGrp="1"/>
          </p:cNvSpPr>
          <p:nvPr/>
        </p:nvSpPr>
        <p:spPr>
          <a:xfrm xmlns:a="http://schemas.openxmlformats.org/drawingml/2006/main">
            <a:off x="10620375" y="6905625"/>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(19; 2)</a:t>
            </a:r>
          </a:p>
        </p:txBody>
      </p:sp>
      <p:sp>
        <p:nvSpPr>
          <p:cNvPr id="15" name="9 + 10 = 19 liter per week. De prijs blijft € 2.">
            <a:extLst xmlns:a="http://schemas.openxmlformats.org/drawingml/2006/main">
              <a:ext uri="{FF2B5EF4-FFF2-40B4-BE49-F238E27FC236}">
                <a16:creationId xmlns:a16="http://schemas.microsoft.com/office/drawing/2014/main" id="{DD550BAD-37AE-4B3A-B2F5-0EA9590270DF}"/>
              </a:ext>
            </a:extLst>
          </p:cNvPr>
          <p:cNvSpPr>
            <a:spLocks xmlns:a="http://schemas.openxmlformats.org/drawingml/2006/main" noGrp="1"/>
          </p:cNvSpPr>
          <p:nvPr/>
        </p:nvSpPr>
        <p:spPr>
          <a:xfrm xmlns:a="http://schemas.openxmlformats.org/drawingml/2006/main">
            <a:off x="571500" y="75914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9 + 10 = 19 liter per week. De prijs blijft € 2.</a:t>
            </a:r>
          </a:p>
        </p:txBody>
      </p:sp>
    </p:spTree>
    <p:extLst>
      <p:ext uri="{BB962C8B-B14F-4D97-AF65-F5344CB8AC3E}">
        <p14:creationId xmlns:p14="http://schemas.microsoft.com/office/powerpoint/2010/main" val="8562421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e gezamenlijke vraagfunctie">
            <a:extLst xmlns:a="http://schemas.openxmlformats.org/drawingml/2006/main">
              <a:ext uri="{FF2B5EF4-FFF2-40B4-BE49-F238E27FC236}">
                <a16:creationId xmlns:a16="http://schemas.microsoft.com/office/drawing/2014/main" id="{E2BC05EA-06EC-4EA8-AD7E-D9221CCF6FB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gezamenlijke vraagfunctie</a:t>
            </a:r>
          </a:p>
        </p:txBody>
      </p:sp>
      <p:sp>
        <p:nvSpPr>
          <p:cNvPr id="2" name="">
            <a:extLst xmlns:a="http://schemas.openxmlformats.org/drawingml/2006/main">
              <a:ext uri="{FF2B5EF4-FFF2-40B4-BE49-F238E27FC236}">
                <a16:creationId xmlns:a16="http://schemas.microsoft.com/office/drawing/2014/main" id="{C18C4D5F-F9EA-4EA9-86CE-A82E63661AF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Van individuele naar collectieve vraag">
            <a:extLst xmlns:a="http://schemas.openxmlformats.org/drawingml/2006/main">
              <a:ext uri="{FF2B5EF4-FFF2-40B4-BE49-F238E27FC236}">
                <a16:creationId xmlns:a16="http://schemas.microsoft.com/office/drawing/2014/main" id="{72DD5046-2C68-4810-BA2A-868D523AFFA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Van individuele naar collectieve vraag</a:t>
            </a:r>
          </a:p>
        </p:txBody>
      </p:sp>
      <p:sp>
        <p:nvSpPr>
          <p:cNvPr id="4" name="slide-number">
            <a:extLst xmlns:a="http://schemas.openxmlformats.org/drawingml/2006/main">
              <a:ext uri="{FF2B5EF4-FFF2-40B4-BE49-F238E27FC236}">
                <a16:creationId xmlns:a16="http://schemas.microsoft.com/office/drawing/2014/main" id="{3731B072-A20D-491B-B460-5F71440A453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C0230A50-6F4F-4B50-B3EE-0AE22CC946C2}"/>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Q = qA + qB">
            <a:extLst xmlns:a="http://schemas.openxmlformats.org/drawingml/2006/main">
              <a:ext uri="{FF2B5EF4-FFF2-40B4-BE49-F238E27FC236}">
                <a16:creationId xmlns:a16="http://schemas.microsoft.com/office/drawing/2014/main" id="{9F8404DE-D957-45E2-A307-C5BC7CE1ABAE}"/>
              </a:ext>
            </a:extLst>
          </p:cNvPr>
          <p:cNvSpPr>
            <a:spLocks xmlns:a="http://schemas.openxmlformats.org/drawingml/2006/main" noGrp="1"/>
          </p:cNvSpPr>
          <p:nvPr/>
        </p:nvSpPr>
        <p:spPr>
          <a:xfrm xmlns:a="http://schemas.openxmlformats.org/drawingml/2006/main">
            <a:off x="571500" y="2562225"/>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Q = qA + qB</a:t>
            </a:r>
          </a:p>
        </p:txBody>
      </p:sp>
      <p:sp>
        <p:nvSpPr>
          <p:cNvPr id="7" name="Q = (15 − 3P) + (14 − 2P)">
            <a:extLst xmlns:a="http://schemas.openxmlformats.org/drawingml/2006/main">
              <a:ext uri="{FF2B5EF4-FFF2-40B4-BE49-F238E27FC236}">
                <a16:creationId xmlns:a16="http://schemas.microsoft.com/office/drawing/2014/main" id="{C16381F1-C972-4134-BD6D-AD80C69D5DA1}"/>
              </a:ext>
            </a:extLst>
          </p:cNvPr>
          <p:cNvSpPr>
            <a:spLocks xmlns:a="http://schemas.openxmlformats.org/drawingml/2006/main" noGrp="1"/>
          </p:cNvSpPr>
          <p:nvPr/>
        </p:nvSpPr>
        <p:spPr>
          <a:xfrm xmlns:a="http://schemas.openxmlformats.org/drawingml/2006/main">
            <a:off x="571500" y="35433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83247"/>
                </a:solidFill>
                <a:latin typeface="Arial"/>
                <a:ea typeface="Arial"/>
                <a:cs typeface="Arial"/>
              </a:defRPr>
            </a:pPr>
            <a:r>
              <a:rPr sz="3600" b="0">
                <a:solidFill>
                  <a:srgbClr val="183247"/>
                </a:solidFill>
                <a:latin typeface="Arial"/>
                <a:ea typeface="Arial"/>
                <a:cs typeface="Arial"/>
              </a:rPr>
              <a:t>Q = (15 − 3P) + (14 − 2P)</a:t>
            </a:r>
          </a:p>
        </p:txBody>
      </p:sp>
      <p:sp>
        <p:nvSpPr>
          <p:cNvPr id="8" name="15 + 14 = 29          −3P − 2P = −5P">
            <a:extLst xmlns:a="http://schemas.openxmlformats.org/drawingml/2006/main">
              <a:ext uri="{FF2B5EF4-FFF2-40B4-BE49-F238E27FC236}">
                <a16:creationId xmlns:a16="http://schemas.microsoft.com/office/drawing/2014/main" id="{A1A00573-D69C-48AD-B76D-EDC9AF4BC86C}"/>
              </a:ext>
            </a:extLst>
          </p:cNvPr>
          <p:cNvSpPr>
            <a:spLocks xmlns:a="http://schemas.openxmlformats.org/drawingml/2006/main" noGrp="1"/>
          </p:cNvSpPr>
          <p:nvPr/>
        </p:nvSpPr>
        <p:spPr>
          <a:xfrm xmlns:a="http://schemas.openxmlformats.org/drawingml/2006/main">
            <a:off x="571500" y="46291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445B6B"/>
                </a:solidFill>
                <a:latin typeface="Arial"/>
                <a:ea typeface="Arial"/>
                <a:cs typeface="Arial"/>
              </a:defRPr>
            </a:pPr>
            <a:r>
              <a:rPr sz="2925" b="0">
                <a:solidFill>
                  <a:srgbClr val="445B6B"/>
                </a:solidFill>
                <a:latin typeface="Arial"/>
                <a:ea typeface="Arial"/>
                <a:cs typeface="Arial"/>
              </a:rPr>
              <a:t>15 + 14 = 29          −3P − 2P = −5P</a:t>
            </a:r>
          </a:p>
        </p:txBody>
      </p:sp>
      <p:sp>
        <p:nvSpPr>
          <p:cNvPr id="9" name="Q = 29 − 5P">
            <a:extLst xmlns:a="http://schemas.openxmlformats.org/drawingml/2006/main">
              <a:ext uri="{FF2B5EF4-FFF2-40B4-BE49-F238E27FC236}">
                <a16:creationId xmlns:a16="http://schemas.microsoft.com/office/drawing/2014/main" id="{ED7B6FD1-17FF-4786-A79C-56B3D0E0E597}"/>
              </a:ext>
            </a:extLst>
          </p:cNvPr>
          <p:cNvSpPr>
            <a:spLocks xmlns:a="http://schemas.openxmlformats.org/drawingml/2006/main" noGrp="1"/>
          </p:cNvSpPr>
          <p:nvPr/>
        </p:nvSpPr>
        <p:spPr>
          <a:xfrm xmlns:a="http://schemas.openxmlformats.org/drawingml/2006/main">
            <a:off x="571500" y="570547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17658A"/>
                </a:solidFill>
                <a:latin typeface="Arial"/>
                <a:ea typeface="Arial"/>
                <a:cs typeface="Arial"/>
              </a:defRPr>
            </a:pPr>
            <a:r>
              <a:rPr sz="3975" b="1">
                <a:solidFill>
                  <a:srgbClr val="17658A"/>
                </a:solidFill>
                <a:latin typeface="Arial"/>
                <a:ea typeface="Arial"/>
                <a:cs typeface="Arial"/>
              </a:rPr>
              <a:t>Q = 29 − 5P</a:t>
            </a:r>
          </a:p>
        </p:txBody>
      </p:sp>
      <p:sp>
        <p:nvSpPr>
          <p:cNvPr id="10" name="Beide rekenregels geldig: 0 ≤ P ≤ 5">
            <a:extLst xmlns:a="http://schemas.openxmlformats.org/drawingml/2006/main">
              <a:ext uri="{FF2B5EF4-FFF2-40B4-BE49-F238E27FC236}">
                <a16:creationId xmlns:a16="http://schemas.microsoft.com/office/drawing/2014/main" id="{AABABA06-3BA6-46E9-9245-3BB6C7C954D7}"/>
              </a:ext>
            </a:extLst>
          </p:cNvPr>
          <p:cNvSpPr>
            <a:spLocks xmlns:a="http://schemas.openxmlformats.org/drawingml/2006/main" noGrp="1"/>
          </p:cNvSpPr>
          <p:nvPr/>
        </p:nvSpPr>
        <p:spPr>
          <a:xfrm xmlns:a="http://schemas.openxmlformats.org/drawingml/2006/main">
            <a:off x="571500" y="7038975"/>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Beide rekenregels geldig: 0 ≤ P ≤ 5</a:t>
            </a:r>
          </a:p>
        </p:txBody>
      </p:sp>
    </p:spTree>
    <p:extLst>
      <p:ext uri="{BB962C8B-B14F-4D97-AF65-F5344CB8AC3E}">
        <p14:creationId xmlns:p14="http://schemas.microsoft.com/office/powerpoint/2010/main" val="19958896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tabel controleert de somfunctie">
            <a:extLst xmlns:a="http://schemas.openxmlformats.org/drawingml/2006/main">
              <a:ext uri="{FF2B5EF4-FFF2-40B4-BE49-F238E27FC236}">
                <a16:creationId xmlns:a16="http://schemas.microsoft.com/office/drawing/2014/main" id="{D5E6F2F3-BDA6-40F0-AAB5-0364D22B28A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tabel controleert de somfunctie</a:t>
            </a:r>
          </a:p>
        </p:txBody>
      </p:sp>
      <p:sp>
        <p:nvSpPr>
          <p:cNvPr id="2" name="">
            <a:extLst xmlns:a="http://schemas.openxmlformats.org/drawingml/2006/main">
              <a:ext uri="{FF2B5EF4-FFF2-40B4-BE49-F238E27FC236}">
                <a16:creationId xmlns:a16="http://schemas.microsoft.com/office/drawing/2014/main" id="{F3B74DEA-484C-4E6A-BB5D-41EEE7EAEA0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Van individuele naar collectieve vraag">
            <a:extLst xmlns:a="http://schemas.openxmlformats.org/drawingml/2006/main">
              <a:ext uri="{FF2B5EF4-FFF2-40B4-BE49-F238E27FC236}">
                <a16:creationId xmlns:a16="http://schemas.microsoft.com/office/drawing/2014/main" id="{16EAE30F-E241-47C5-98F5-46BF945A539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Van individuele naar collectieve vraag</a:t>
            </a:r>
          </a:p>
        </p:txBody>
      </p:sp>
      <p:sp>
        <p:nvSpPr>
          <p:cNvPr id="4" name="slide-number">
            <a:extLst xmlns:a="http://schemas.openxmlformats.org/drawingml/2006/main">
              <a:ext uri="{FF2B5EF4-FFF2-40B4-BE49-F238E27FC236}">
                <a16:creationId xmlns:a16="http://schemas.microsoft.com/office/drawing/2014/main" id="{3B3747AE-4621-4C85-9F1C-7920042C001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3F5ED8D2-8813-4636-9556-9BB4D9268527}"/>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600325"/>
          <a:ext xmlns:a="http://schemas.openxmlformats.org/drawingml/2006/main" cx="14097000" cy="3476625"/>
        </p:xfrm>
        <a:graphic xmlns:a="http://schemas.openxmlformats.org/drawingml/2006/main">
          <a:graphicData uri="http://schemas.openxmlformats.org/drawingml/2006/table">
            <a:tbl>
              <a:tblPr/>
              <a:tblGrid>
                <a:gridCol w="4953000"/>
                <a:gridCol w="3048000"/>
                <a:gridCol w="3048000"/>
                <a:gridCol w="3048000"/>
              </a:tblGrid>
              <a:tr h="695325">
                <a:tc>
                  <a:txBody>
                    <a:bodyPr lIns="171450" tIns="95250" rIns="152400" bIns="95250"/>
                    <a:lstStyle/>
                    <a:p>
                      <a:r>
                        <a:rPr sz="2775" b="1">
                          <a:solidFill>
                            <a:srgbClr val="FFFFFF"/>
                          </a:solidFill>
                          <a:latin typeface="Arial"/>
                          <a:ea typeface="Arial"/>
                          <a:cs typeface="Arial"/>
                        </a:rPr>
                        <a:t>P (€ per liter)</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qA</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qB</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Q samen</a:t>
                      </a:r>
                    </a:p>
                  </a:txBody>
                  <a:tcPr marL="91440" marR="91440" marT="45720" marB="45720" anchor="ctr">
                    <a:solidFill>
                      <a:srgbClr val="183247"/>
                    </a:solidFill>
                  </a:tcPr>
                </a:tc>
              </a:tr>
              <a:tr h="695325">
                <a:tc>
                  <a:txBody>
                    <a:bodyPr lIns="171450" tIns="95250" rIns="152400" bIns="95250"/>
                    <a:lstStyle/>
                    <a:p>
                      <a:r>
                        <a:rPr sz="2775" b="0">
                          <a:solidFill>
                            <a:srgbClr val="183247"/>
                          </a:solidFill>
                          <a:latin typeface="Arial"/>
                          <a:ea typeface="Arial"/>
                          <a:cs typeface="Arial"/>
                        </a:rPr>
                        <a:t>0</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15</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14</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29</a:t>
                      </a:r>
                    </a:p>
                  </a:txBody>
                  <a:tcPr marL="91440" marR="91440" marT="45720" marB="45720" anchor="ctr">
                    <a:solidFill>
                      <a:srgbClr val="FFFFFF"/>
                    </a:solidFill>
                  </a:tcPr>
                </a:tc>
              </a:tr>
              <a:tr h="695325">
                <a:tc>
                  <a:txBody>
                    <a:bodyPr lIns="171450" tIns="95250" rIns="152400" bIns="95250"/>
                    <a:lstStyle/>
                    <a:p>
                      <a:r>
                        <a:rPr sz="2775" b="0">
                          <a:solidFill>
                            <a:srgbClr val="183247"/>
                          </a:solidFill>
                          <a:latin typeface="Arial"/>
                          <a:ea typeface="Arial"/>
                          <a:cs typeface="Arial"/>
                        </a:rPr>
                        <a:t>2</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9</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10</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19</a:t>
                      </a:r>
                    </a:p>
                  </a:txBody>
                  <a:tcPr marL="91440" marR="91440" marT="45720" marB="45720" anchor="ctr">
                    <a:solidFill>
                      <a:srgbClr val="EFF4F7"/>
                    </a:solidFill>
                  </a:tcPr>
                </a:tc>
              </a:tr>
              <a:tr h="695325">
                <a:tc>
                  <a:txBody>
                    <a:bodyPr lIns="171450" tIns="95250" rIns="152400" bIns="95250"/>
                    <a:lstStyle/>
                    <a:p>
                      <a:r>
                        <a:rPr sz="2775" b="0">
                          <a:solidFill>
                            <a:srgbClr val="183247"/>
                          </a:solidFill>
                          <a:latin typeface="Arial"/>
                          <a:ea typeface="Arial"/>
                          <a:cs typeface="Arial"/>
                        </a:rPr>
                        <a:t>4</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3</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6</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9</a:t>
                      </a:r>
                    </a:p>
                  </a:txBody>
                  <a:tcPr marL="91440" marR="91440" marT="45720" marB="45720" anchor="ctr">
                    <a:solidFill>
                      <a:srgbClr val="FFFFFF"/>
                    </a:solidFill>
                  </a:tcPr>
                </a:tc>
              </a:tr>
              <a:tr h="695325">
                <a:tc>
                  <a:txBody>
                    <a:bodyPr lIns="171450" tIns="95250" rIns="152400" bIns="95250"/>
                    <a:lstStyle/>
                    <a:p>
                      <a:r>
                        <a:rPr sz="2775" b="0">
                          <a:solidFill>
                            <a:srgbClr val="183247"/>
                          </a:solidFill>
                          <a:latin typeface="Arial"/>
                          <a:ea typeface="Arial"/>
                          <a:cs typeface="Arial"/>
                        </a:rPr>
                        <a:t>5</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0</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4</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4</a:t>
                      </a:r>
                    </a:p>
                  </a:txBody>
                  <a:tcPr marL="91440" marR="91440" marT="45720" marB="45720" anchor="ctr">
                    <a:solidFill>
                      <a:srgbClr val="EFF4F7"/>
                    </a:solidFill>
                  </a:tcPr>
                </a:tc>
              </a:tr>
            </a:tbl>
          </a:graphicData>
        </a:graphic>
      </p:graphicFrame>
      <p:sp>
        <p:nvSpPr>
          <p:cNvPr id="7" name="Bij P = 4: Q = 29 − 5 × 4 = 9 liter per week">
            <a:extLst xmlns:a="http://schemas.openxmlformats.org/drawingml/2006/main">
              <a:ext uri="{FF2B5EF4-FFF2-40B4-BE49-F238E27FC236}">
                <a16:creationId xmlns:a16="http://schemas.microsoft.com/office/drawing/2014/main" id="{5C223E11-9F17-4224-8EB7-EE3F964F0A4D}"/>
              </a:ext>
            </a:extLst>
          </p:cNvPr>
          <p:cNvSpPr>
            <a:spLocks xmlns:a="http://schemas.openxmlformats.org/drawingml/2006/main" noGrp="1"/>
          </p:cNvSpPr>
          <p:nvPr/>
        </p:nvSpPr>
        <p:spPr>
          <a:xfrm xmlns:a="http://schemas.openxmlformats.org/drawingml/2006/main">
            <a:off x="571500" y="661987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Bij P = 4: Q = 29 − 5 × 4 = 9 liter per week</a:t>
            </a:r>
          </a:p>
        </p:txBody>
      </p:sp>
      <p:sp>
        <p:nvSpPr>
          <p:cNvPr id="8" name="Dit is gelijk aan 3 + 6 uit de afzonderlijke functies.">
            <a:extLst xmlns:a="http://schemas.openxmlformats.org/drawingml/2006/main">
              <a:ext uri="{FF2B5EF4-FFF2-40B4-BE49-F238E27FC236}">
                <a16:creationId xmlns:a16="http://schemas.microsoft.com/office/drawing/2014/main" id="{E0BFA2F4-C74D-4392-843A-8105AA7CECAC}"/>
              </a:ext>
            </a:extLst>
          </p:cNvPr>
          <p:cNvSpPr>
            <a:spLocks xmlns:a="http://schemas.openxmlformats.org/drawingml/2006/main" noGrp="1"/>
          </p:cNvSpPr>
          <p:nvPr/>
        </p:nvSpPr>
        <p:spPr>
          <a:xfrm xmlns:a="http://schemas.openxmlformats.org/drawingml/2006/main">
            <a:off x="571500" y="7439025"/>
            <a:ext cx="1409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Dit is gelijk aan 3 + 6 uit de afzonderlijke functies.</a:t>
            </a:r>
          </a:p>
        </p:txBody>
      </p:sp>
    </p:spTree>
    <p:extLst>
      <p:ext uri="{BB962C8B-B14F-4D97-AF65-F5344CB8AC3E}">
        <p14:creationId xmlns:p14="http://schemas.microsoft.com/office/powerpoint/2010/main" val="6121891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eindpunten van het geldige lijnstuk">
            <a:extLst xmlns:a="http://schemas.openxmlformats.org/drawingml/2006/main">
              <a:ext uri="{FF2B5EF4-FFF2-40B4-BE49-F238E27FC236}">
                <a16:creationId xmlns:a16="http://schemas.microsoft.com/office/drawing/2014/main" id="{C2B46214-E122-40B4-93CF-1A24AA7C7D4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eindpunten van het geldige lijnstuk</a:t>
            </a:r>
          </a:p>
        </p:txBody>
      </p:sp>
      <p:sp>
        <p:nvSpPr>
          <p:cNvPr id="2" name="">
            <a:extLst xmlns:a="http://schemas.openxmlformats.org/drawingml/2006/main">
              <a:ext uri="{FF2B5EF4-FFF2-40B4-BE49-F238E27FC236}">
                <a16:creationId xmlns:a16="http://schemas.microsoft.com/office/drawing/2014/main" id="{247DF9E0-636C-467B-89A6-F8577F0E95E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Van individuele naar collectieve vraag">
            <a:extLst xmlns:a="http://schemas.openxmlformats.org/drawingml/2006/main">
              <a:ext uri="{FF2B5EF4-FFF2-40B4-BE49-F238E27FC236}">
                <a16:creationId xmlns:a16="http://schemas.microsoft.com/office/drawing/2014/main" id="{AD7E6E2C-8EB8-4050-8E99-439CB764BBF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Van individuele naar collectieve vraag</a:t>
            </a:r>
          </a:p>
        </p:txBody>
      </p:sp>
      <p:sp>
        <p:nvSpPr>
          <p:cNvPr id="4" name="slide-number">
            <a:extLst xmlns:a="http://schemas.openxmlformats.org/drawingml/2006/main">
              <a:ext uri="{FF2B5EF4-FFF2-40B4-BE49-F238E27FC236}">
                <a16:creationId xmlns:a16="http://schemas.microsoft.com/office/drawing/2014/main" id="{185C8A54-5ECB-4C23-857C-B2D05904FE2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621156C6-DB07-4B62-B244-D2739129472F}"/>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Q = 29 − 5P, alleen voor 0 ≤ P ≤ 5">
            <a:extLst xmlns:a="http://schemas.openxmlformats.org/drawingml/2006/main">
              <a:ext uri="{FF2B5EF4-FFF2-40B4-BE49-F238E27FC236}">
                <a16:creationId xmlns:a16="http://schemas.microsoft.com/office/drawing/2014/main" id="{9905866E-BC49-4ABD-B869-87C60BC510E6}"/>
              </a:ext>
            </a:extLst>
          </p:cNvPr>
          <p:cNvSpPr>
            <a:spLocks xmlns:a="http://schemas.openxmlformats.org/drawingml/2006/main" noGrp="1"/>
          </p:cNvSpPr>
          <p:nvPr/>
        </p:nvSpPr>
        <p:spPr>
          <a:xfrm xmlns:a="http://schemas.openxmlformats.org/drawingml/2006/main">
            <a:off x="571500" y="251460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Q = 29 − 5P, alleen voor 0 ≤ P ≤ 5</a:t>
            </a:r>
          </a:p>
        </p:txBody>
      </p:sp>
      <p:graphicFrame>
        <p:nvGraphicFramePr>
          <p:cNvPr id="15" name=""/>
          <p:cNvGraphicFramePr/>
          <p:nvPr/>
        </p:nvGraphicFramePr>
        <p:xfrm>
          <a:off xmlns:a="http://schemas.openxmlformats.org/drawingml/2006/main" x="571500" y="3495675"/>
          <a:ext xmlns:a="http://schemas.openxmlformats.org/drawingml/2006/main" cx="14097000" cy="2857500"/>
        </p:xfrm>
        <a:graphic xmlns:a="http://schemas.openxmlformats.org/drawingml/2006/main">
          <a:graphicData uri="http://schemas.openxmlformats.org/drawingml/2006/table">
            <a:tbl>
              <a:tblPr/>
              <a:tblGrid>
                <a:gridCol w="2857500"/>
                <a:gridCol w="7524750"/>
                <a:gridCol w="3714750"/>
              </a:tblGrid>
              <a:tr h="714375">
                <a:tc>
                  <a:txBody>
                    <a:bodyPr lIns="171450" tIns="95250" rIns="152400" bIns="95250"/>
                    <a:lstStyle/>
                    <a:p>
                      <a:r>
                        <a:rPr sz="2700" b="1">
                          <a:solidFill>
                            <a:srgbClr val="FFFFFF"/>
                          </a:solidFill>
                          <a:latin typeface="Arial"/>
                          <a:ea typeface="Arial"/>
                          <a:cs typeface="Arial"/>
                        </a:rPr>
                        <a:t>Prijs</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Punt (Q; P)</a:t>
                      </a:r>
                    </a:p>
                  </a:txBody>
                  <a:tcPr marL="91440" marR="91440" marT="45720" marB="45720" anchor="ctr">
                    <a:solidFill>
                      <a:srgbClr val="183247"/>
                    </a:solidFill>
                  </a:tcPr>
                </a:tc>
              </a:tr>
              <a:tr h="714375">
                <a:tc>
                  <a:txBody>
                    <a:bodyPr lIns="171450" tIns="95250" rIns="152400" bIns="95250"/>
                    <a:lstStyle/>
                    <a:p>
                      <a:r>
                        <a:rPr sz="2700" b="0">
                          <a:solidFill>
                            <a:srgbClr val="183247"/>
                          </a:solidFill>
                          <a:latin typeface="Arial"/>
                          <a:ea typeface="Arial"/>
                          <a:cs typeface="Arial"/>
                        </a:rPr>
                        <a:t>P = 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Q = 29 − 5 × 0 = 29</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(29; 0)</a:t>
                      </a:r>
                    </a:p>
                  </a:txBody>
                  <a:tcPr marL="91440" marR="91440" marT="45720" marB="45720" anchor="ctr">
                    <a:solidFill>
                      <a:srgbClr val="FFFFFF"/>
                    </a:solidFill>
                  </a:tcPr>
                </a:tc>
              </a:tr>
              <a:tr h="714375">
                <a:tc>
                  <a:txBody>
                    <a:bodyPr lIns="171450" tIns="95250" rIns="152400" bIns="95250"/>
                    <a:lstStyle/>
                    <a:p>
                      <a:r>
                        <a:rPr sz="2700" b="0">
                          <a:solidFill>
                            <a:srgbClr val="183247"/>
                          </a:solidFill>
                          <a:latin typeface="Arial"/>
                          <a:ea typeface="Arial"/>
                          <a:cs typeface="Arial"/>
                        </a:rPr>
                        <a:t>P = 5</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Q = 29 − 5 × 5 = 4</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(4; 5)</a:t>
                      </a:r>
                    </a:p>
                  </a:txBody>
                  <a:tcPr marL="91440" marR="91440" marT="45720" marB="45720" anchor="ctr">
                    <a:solidFill>
                      <a:srgbClr val="EFF4F7"/>
                    </a:solidFill>
                  </a:tcPr>
                </a:tc>
              </a:tr>
              <a:tr h="714375">
                <a:tc>
                  <a:txBody>
                    <a:bodyPr lIns="171450" tIns="95250" rIns="152400" bIns="95250"/>
                    <a:lstStyle/>
                    <a:p>
                      <a:r>
                        <a:rPr sz="2700" b="0">
                          <a:solidFill>
                            <a:srgbClr val="183247"/>
                          </a:solidFill>
                          <a:latin typeface="Arial"/>
                          <a:ea typeface="Arial"/>
                          <a:cs typeface="Arial"/>
                        </a:rPr>
                        <a:t>P = 2</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Q = 29 − 5 × 2 = 19</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(19; 2)</a:t>
                      </a:r>
                    </a:p>
                  </a:txBody>
                  <a:tcPr marL="91440" marR="91440" marT="45720" marB="45720" anchor="ctr">
                    <a:solidFill>
                      <a:srgbClr val="FFFFFF"/>
                    </a:solidFill>
                  </a:tcPr>
                </a:tc>
              </a:tr>
            </a:tbl>
          </a:graphicData>
        </a:graphic>
      </p:graphicFrame>
      <p:sp>
        <p:nvSpPr>
          <p:cNvPr id="8" name="Q horizontaal in liter per week. P verticaal in € per liter.">
            <a:extLst xmlns:a="http://schemas.openxmlformats.org/drawingml/2006/main">
              <a:ext uri="{FF2B5EF4-FFF2-40B4-BE49-F238E27FC236}">
                <a16:creationId xmlns:a16="http://schemas.microsoft.com/office/drawing/2014/main" id="{0D1970F5-AA56-43DB-9EFE-BE46B8EFF464}"/>
              </a:ext>
            </a:extLst>
          </p:cNvPr>
          <p:cNvSpPr>
            <a:spLocks xmlns:a="http://schemas.openxmlformats.org/drawingml/2006/main" noGrp="1"/>
          </p:cNvSpPr>
          <p:nvPr/>
        </p:nvSpPr>
        <p:spPr>
          <a:xfrm xmlns:a="http://schemas.openxmlformats.org/drawingml/2006/main">
            <a:off x="571500" y="689610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Q horizontaal in liter per week. P verticaal in € per liter.</a:t>
            </a:r>
          </a:p>
        </p:txBody>
      </p:sp>
    </p:spTree>
    <p:extLst>
      <p:ext uri="{BB962C8B-B14F-4D97-AF65-F5344CB8AC3E}">
        <p14:creationId xmlns:p14="http://schemas.microsoft.com/office/powerpoint/2010/main" val="131895813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e gezamenlijke vraag binnen 0 ≤ P ≤ 5">
            <a:extLst xmlns:a="http://schemas.openxmlformats.org/drawingml/2006/main">
              <a:ext uri="{FF2B5EF4-FFF2-40B4-BE49-F238E27FC236}">
                <a16:creationId xmlns:a16="http://schemas.microsoft.com/office/drawing/2014/main" id="{4E91F4D7-6952-44C7-9351-908E04BAE97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gezamenlijke vraag binnen 0 ≤ P ≤ 5</a:t>
            </a:r>
          </a:p>
        </p:txBody>
      </p:sp>
      <p:sp>
        <p:nvSpPr>
          <p:cNvPr id="2" name="">
            <a:extLst xmlns:a="http://schemas.openxmlformats.org/drawingml/2006/main">
              <a:ext uri="{FF2B5EF4-FFF2-40B4-BE49-F238E27FC236}">
                <a16:creationId xmlns:a16="http://schemas.microsoft.com/office/drawing/2014/main" id="{681E15C2-9A44-4FA2-972B-A34E3E33147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Van individuele naar collectieve vraag">
            <a:extLst xmlns:a="http://schemas.openxmlformats.org/drawingml/2006/main">
              <a:ext uri="{FF2B5EF4-FFF2-40B4-BE49-F238E27FC236}">
                <a16:creationId xmlns:a16="http://schemas.microsoft.com/office/drawing/2014/main" id="{EA30E54B-62C7-4A4D-8382-110CC1BE473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Van individuele naar collectieve vraag</a:t>
            </a:r>
          </a:p>
        </p:txBody>
      </p:sp>
      <p:sp>
        <p:nvSpPr>
          <p:cNvPr id="4" name="slide-number">
            <a:extLst xmlns:a="http://schemas.openxmlformats.org/drawingml/2006/main">
              <a:ext uri="{FF2B5EF4-FFF2-40B4-BE49-F238E27FC236}">
                <a16:creationId xmlns:a16="http://schemas.microsoft.com/office/drawing/2014/main" id="{D787A855-45BF-445E-8919-EEEE9A86FF0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D57180D0-83A8-4342-8F2D-19F113C43840}"/>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6" name="Chart"/>
          <p:cNvGraphicFramePr/>
          <p:nvPr/>
        </p:nvGraphicFramePr>
        <p:xfrm>
          <a:off xmlns:a="http://schemas.openxmlformats.org/drawingml/2006/main" x="571500" y="2571750"/>
          <a:ext xmlns:a="http://schemas.openxmlformats.org/drawingml/2006/main" cx="9906000" cy="4953000"/>
        </p:xfrm>
        <a:graphic xmlns:a="http://schemas.openxmlformats.org/drawingml/2006/main">
          <a:graphicData uri="http://schemas.openxmlformats.org/drawingml/2006/chart">
            <c:chart xmlns:r="http://schemas.openxmlformats.org/officeDocument/2006/relationships" xmlns:c="http://schemas.openxmlformats.org/drawingml/2006/chart" r:id="R9776cfd792c04d34"/>
          </a:graphicData>
        </a:graphic>
      </p:graphicFrame>
      <p:sp>
        <p:nvSpPr>
          <p:cNvPr id="7" name="V samen">
            <a:extLst xmlns:a="http://schemas.openxmlformats.org/drawingml/2006/main">
              <a:ext uri="{FF2B5EF4-FFF2-40B4-BE49-F238E27FC236}">
                <a16:creationId xmlns:a16="http://schemas.microsoft.com/office/drawing/2014/main" id="{9E5391CE-6DA3-4772-A920-BB0FD87C6269}"/>
              </a:ext>
            </a:extLst>
          </p:cNvPr>
          <p:cNvSpPr>
            <a:spLocks xmlns:a="http://schemas.openxmlformats.org/drawingml/2006/main" noGrp="1"/>
          </p:cNvSpPr>
          <p:nvPr/>
        </p:nvSpPr>
        <p:spPr>
          <a:xfrm xmlns:a="http://schemas.openxmlformats.org/drawingml/2006/main">
            <a:off x="10858500" y="2800350"/>
            <a:ext cx="381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V samen</a:t>
            </a:r>
          </a:p>
        </p:txBody>
      </p:sp>
      <p:sp>
        <p:nvSpPr>
          <p:cNvPr id="8" name="Eindpunten&#10;(29; 0) en (4; 5)">
            <a:extLst xmlns:a="http://schemas.openxmlformats.org/drawingml/2006/main">
              <a:ext uri="{FF2B5EF4-FFF2-40B4-BE49-F238E27FC236}">
                <a16:creationId xmlns:a16="http://schemas.microsoft.com/office/drawing/2014/main" id="{F53D6909-95E5-40FF-8D3C-3377364E13A3}"/>
              </a:ext>
            </a:extLst>
          </p:cNvPr>
          <p:cNvSpPr>
            <a:spLocks xmlns:a="http://schemas.openxmlformats.org/drawingml/2006/main" noGrp="1"/>
          </p:cNvSpPr>
          <p:nvPr/>
        </p:nvSpPr>
        <p:spPr>
          <a:xfrm xmlns:a="http://schemas.openxmlformats.org/drawingml/2006/main">
            <a:off x="10858500" y="3667125"/>
            <a:ext cx="3810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Eindpunten</a:t>
            </a:r>
          </a:p>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(29; 0) en (4; 5)</a:t>
            </a:r>
          </a:p>
        </p:txBody>
      </p:sp>
      <p:sp>
        <p:nvSpPr>
          <p:cNvPr id="9" name="Controlepunt&#10;(19; 2)">
            <a:extLst xmlns:a="http://schemas.openxmlformats.org/drawingml/2006/main">
              <a:ext uri="{FF2B5EF4-FFF2-40B4-BE49-F238E27FC236}">
                <a16:creationId xmlns:a16="http://schemas.microsoft.com/office/drawing/2014/main" id="{475757B2-39C1-4304-9CBB-6668493448B9}"/>
              </a:ext>
            </a:extLst>
          </p:cNvPr>
          <p:cNvSpPr>
            <a:spLocks xmlns:a="http://schemas.openxmlformats.org/drawingml/2006/main" noGrp="1"/>
          </p:cNvSpPr>
          <p:nvPr/>
        </p:nvSpPr>
        <p:spPr>
          <a:xfrm xmlns:a="http://schemas.openxmlformats.org/drawingml/2006/main">
            <a:off x="10858500" y="5286375"/>
            <a:ext cx="3810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Controlepunt</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(19; 2)</a:t>
            </a:r>
          </a:p>
        </p:txBody>
      </p:sp>
      <p:sp>
        <p:nvSpPr>
          <p:cNvPr id="10" name="Stop bij P = 5.">
            <a:extLst xmlns:a="http://schemas.openxmlformats.org/drawingml/2006/main">
              <a:ext uri="{FF2B5EF4-FFF2-40B4-BE49-F238E27FC236}">
                <a16:creationId xmlns:a16="http://schemas.microsoft.com/office/drawing/2014/main" id="{F5B08E34-AB18-45E4-A161-73814970A376}"/>
              </a:ext>
            </a:extLst>
          </p:cNvPr>
          <p:cNvSpPr>
            <a:spLocks xmlns:a="http://schemas.openxmlformats.org/drawingml/2006/main" noGrp="1"/>
          </p:cNvSpPr>
          <p:nvPr/>
        </p:nvSpPr>
        <p:spPr>
          <a:xfrm xmlns:a="http://schemas.openxmlformats.org/drawingml/2006/main">
            <a:off x="10858500" y="7067550"/>
            <a:ext cx="381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Stop bij P = 5.</a:t>
            </a:r>
          </a:p>
        </p:txBody>
      </p:sp>
    </p:spTree>
    <p:extLst>
      <p:ext uri="{BB962C8B-B14F-4D97-AF65-F5344CB8AC3E}">
        <p14:creationId xmlns:p14="http://schemas.microsoft.com/office/powerpoint/2010/main" val="8627050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oven de koopgrens rekent iedere koper apart">
            <a:extLst xmlns:a="http://schemas.openxmlformats.org/drawingml/2006/main">
              <a:ext uri="{FF2B5EF4-FFF2-40B4-BE49-F238E27FC236}">
                <a16:creationId xmlns:a16="http://schemas.microsoft.com/office/drawing/2014/main" id="{6EA50C94-9037-4996-A131-7EC79854CDD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Boven de koopgrens rekent iedere koper apart</a:t>
            </a:r>
          </a:p>
        </p:txBody>
      </p:sp>
      <p:sp>
        <p:nvSpPr>
          <p:cNvPr id="2" name="">
            <a:extLst xmlns:a="http://schemas.openxmlformats.org/drawingml/2006/main">
              <a:ext uri="{FF2B5EF4-FFF2-40B4-BE49-F238E27FC236}">
                <a16:creationId xmlns:a16="http://schemas.microsoft.com/office/drawing/2014/main" id="{53BE016C-658C-48C1-A2A2-6017FAB97F5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Van individuele naar collectieve vraag">
            <a:extLst xmlns:a="http://schemas.openxmlformats.org/drawingml/2006/main">
              <a:ext uri="{FF2B5EF4-FFF2-40B4-BE49-F238E27FC236}">
                <a16:creationId xmlns:a16="http://schemas.microsoft.com/office/drawing/2014/main" id="{11F980B0-FC9C-4DFB-B969-E7977FD4A14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Van individuele naar collectieve vraag</a:t>
            </a:r>
          </a:p>
        </p:txBody>
      </p:sp>
      <p:sp>
        <p:nvSpPr>
          <p:cNvPr id="4" name="slide-number">
            <a:extLst xmlns:a="http://schemas.openxmlformats.org/drawingml/2006/main">
              <a:ext uri="{FF2B5EF4-FFF2-40B4-BE49-F238E27FC236}">
                <a16:creationId xmlns:a16="http://schemas.microsoft.com/office/drawing/2014/main" id="{39233240-B8B9-4276-84B2-920E7D73CA5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9DE8EF78-CE9E-406F-AB29-903A401AFB1C}"/>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P = € 6 per liter">
            <a:extLst xmlns:a="http://schemas.openxmlformats.org/drawingml/2006/main">
              <a:ext uri="{FF2B5EF4-FFF2-40B4-BE49-F238E27FC236}">
                <a16:creationId xmlns:a16="http://schemas.microsoft.com/office/drawing/2014/main" id="{2759D8C8-8CA7-4D92-BFB7-ECF547F50DC8}"/>
              </a:ext>
            </a:extLst>
          </p:cNvPr>
          <p:cNvSpPr>
            <a:spLocks xmlns:a="http://schemas.openxmlformats.org/drawingml/2006/main" noGrp="1"/>
          </p:cNvSpPr>
          <p:nvPr/>
        </p:nvSpPr>
        <p:spPr>
          <a:xfrm xmlns:a="http://schemas.openxmlformats.org/drawingml/2006/main">
            <a:off x="571500" y="251460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P = € 6 per liter</a:t>
            </a:r>
          </a:p>
        </p:txBody>
      </p:sp>
      <p:graphicFrame>
        <p:nvGraphicFramePr>
          <p:cNvPr id="15" name=""/>
          <p:cNvGraphicFramePr/>
          <p:nvPr/>
        </p:nvGraphicFramePr>
        <p:xfrm>
          <a:off xmlns:a="http://schemas.openxmlformats.org/drawingml/2006/main" x="571500" y="3533775"/>
          <a:ext xmlns:a="http://schemas.openxmlformats.org/drawingml/2006/main" cx="14097000" cy="2676525"/>
        </p:xfrm>
        <a:graphic xmlns:a="http://schemas.openxmlformats.org/drawingml/2006/main">
          <a:graphicData uri="http://schemas.openxmlformats.org/drawingml/2006/table">
            <a:tbl>
              <a:tblPr/>
              <a:tblGrid>
                <a:gridCol w="2095500"/>
                <a:gridCol w="6953250"/>
                <a:gridCol w="5048250"/>
              </a:tblGrid>
              <a:tr h="892175">
                <a:tc>
                  <a:txBody>
                    <a:bodyPr lIns="171450" tIns="95250" rIns="152400" bIns="95250"/>
                    <a:lstStyle/>
                    <a:p>
                      <a:r>
                        <a:rPr sz="2550" b="1">
                          <a:solidFill>
                            <a:srgbClr val="FFFFFF"/>
                          </a:solidFill>
                          <a:latin typeface="Arial"/>
                          <a:ea typeface="Arial"/>
                          <a:cs typeface="Arial"/>
                        </a:rPr>
                        <a:t>Koper</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Controle van de grens</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Geldige vraag</a:t>
                      </a:r>
                    </a:p>
                  </a:txBody>
                  <a:tcPr marL="91440" marR="91440" marT="45720" marB="45720" anchor="ctr">
                    <a:solidFill>
                      <a:srgbClr val="183247"/>
                    </a:solidFill>
                  </a:tcPr>
                </a:tc>
              </a:tr>
              <a:tr h="892175">
                <a:tc>
                  <a:txBody>
                    <a:bodyPr lIns="171450" tIns="95250" rIns="152400" bIns="95250"/>
                    <a:lstStyle/>
                    <a:p>
                      <a:r>
                        <a:rPr sz="2550" b="0">
                          <a:solidFill>
                            <a:srgbClr val="183247"/>
                          </a:solidFill>
                          <a:latin typeface="Arial"/>
                          <a:ea typeface="Arial"/>
                          <a:cs typeface="Arial"/>
                        </a:rPr>
                        <a:t>A</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€ 6 is boven € 5</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0 liter per week</a:t>
                      </a:r>
                    </a:p>
                  </a:txBody>
                  <a:tcPr marL="91440" marR="91440" marT="45720" marB="45720" anchor="ctr">
                    <a:solidFill>
                      <a:srgbClr val="FFFFFF"/>
                    </a:solidFill>
                  </a:tcPr>
                </a:tc>
              </a:tr>
              <a:tr h="892175">
                <a:tc>
                  <a:txBody>
                    <a:bodyPr lIns="171450" tIns="95250" rIns="152400" bIns="95250"/>
                    <a:lstStyle/>
                    <a:p>
                      <a:r>
                        <a:rPr sz="2550" b="0">
                          <a:solidFill>
                            <a:srgbClr val="183247"/>
                          </a:solidFill>
                          <a:latin typeface="Arial"/>
                          <a:ea typeface="Arial"/>
                          <a:cs typeface="Arial"/>
                        </a:rPr>
                        <a:t>B</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€ 6 ligt tussen € 0 en € 7</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14 − 2 × 6 = 2</a:t>
                      </a:r>
                    </a:p>
                  </a:txBody>
                  <a:tcPr marL="91440" marR="91440" marT="45720" marB="45720" anchor="ctr">
                    <a:solidFill>
                      <a:srgbClr val="EFF4F7"/>
                    </a:solidFill>
                  </a:tcPr>
                </a:tc>
              </a:tr>
            </a:tbl>
          </a:graphicData>
        </a:graphic>
      </p:graphicFrame>
      <p:sp>
        <p:nvSpPr>
          <p:cNvPr id="8" name="Q = 0 + 2 = 2 liter per week">
            <a:extLst xmlns:a="http://schemas.openxmlformats.org/drawingml/2006/main">
              <a:ext uri="{FF2B5EF4-FFF2-40B4-BE49-F238E27FC236}">
                <a16:creationId xmlns:a16="http://schemas.microsoft.com/office/drawing/2014/main" id="{AC95FBEE-8362-4BC6-A5A1-D8E64B1782F5}"/>
              </a:ext>
            </a:extLst>
          </p:cNvPr>
          <p:cNvSpPr>
            <a:spLocks xmlns:a="http://schemas.openxmlformats.org/drawingml/2006/main" noGrp="1"/>
          </p:cNvSpPr>
          <p:nvPr/>
        </p:nvSpPr>
        <p:spPr>
          <a:xfrm xmlns:a="http://schemas.openxmlformats.org/drawingml/2006/main">
            <a:off x="571500" y="674370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20665B"/>
                </a:solidFill>
                <a:latin typeface="Arial"/>
                <a:ea typeface="Arial"/>
                <a:cs typeface="Arial"/>
              </a:defRPr>
            </a:pPr>
            <a:r>
              <a:rPr sz="3675" b="1">
                <a:solidFill>
                  <a:srgbClr val="20665B"/>
                </a:solidFill>
                <a:latin typeface="Arial"/>
                <a:ea typeface="Arial"/>
                <a:cs typeface="Arial"/>
              </a:rPr>
              <a:t>Q = 0 + 2 = 2 liter per week</a:t>
            </a:r>
          </a:p>
        </p:txBody>
      </p:sp>
    </p:spTree>
    <p:extLst>
      <p:ext uri="{BB962C8B-B14F-4D97-AF65-F5344CB8AC3E}">
        <p14:creationId xmlns:p14="http://schemas.microsoft.com/office/powerpoint/2010/main" val="98474612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e gezamenlijke lijn verandert boven € 5">
            <a:extLst xmlns:a="http://schemas.openxmlformats.org/drawingml/2006/main">
              <a:ext uri="{FF2B5EF4-FFF2-40B4-BE49-F238E27FC236}">
                <a16:creationId xmlns:a16="http://schemas.microsoft.com/office/drawing/2014/main" id="{8492E93C-09A0-42C4-B16B-FAEED8484D7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gezamenlijke lijn verandert boven € 5</a:t>
            </a:r>
          </a:p>
        </p:txBody>
      </p:sp>
      <p:sp>
        <p:nvSpPr>
          <p:cNvPr id="2" name="">
            <a:extLst xmlns:a="http://schemas.openxmlformats.org/drawingml/2006/main">
              <a:ext uri="{FF2B5EF4-FFF2-40B4-BE49-F238E27FC236}">
                <a16:creationId xmlns:a16="http://schemas.microsoft.com/office/drawing/2014/main" id="{EB41B50F-3870-4E80-9D46-402C136C3A3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Van individuele naar collectieve vraag">
            <a:extLst xmlns:a="http://schemas.openxmlformats.org/drawingml/2006/main">
              <a:ext uri="{FF2B5EF4-FFF2-40B4-BE49-F238E27FC236}">
                <a16:creationId xmlns:a16="http://schemas.microsoft.com/office/drawing/2014/main" id="{8CC0CD89-7B7F-447B-AE01-538F2BEB397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Van individuele naar collectieve vraag</a:t>
            </a:r>
          </a:p>
        </p:txBody>
      </p:sp>
      <p:sp>
        <p:nvSpPr>
          <p:cNvPr id="4" name="slide-number">
            <a:extLst xmlns:a="http://schemas.openxmlformats.org/drawingml/2006/main">
              <a:ext uri="{FF2B5EF4-FFF2-40B4-BE49-F238E27FC236}">
                <a16:creationId xmlns:a16="http://schemas.microsoft.com/office/drawing/2014/main" id="{8215EC3A-4C27-4346-BD48-ABB31E62B64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08656A85-4B09-4B4F-8AD7-26BFD3E7D6D7}"/>
              </a:ext>
            </a:extLst>
          </p:cNvPr>
          <p:cNvSpPr>
            <a:spLocks xmlns:a="http://schemas.openxmlformats.org/drawingml/2006/main" noGrp="1"/>
          </p:cNvSpPr>
          <p:nvPr/>
        </p:nvSpPr>
        <p:spPr>
          <a:xfrm xmlns:a="http://schemas.openxmlformats.org/drawingml/2006/main">
            <a:off x="571500" y="16954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7" name="Chart"/>
          <p:cNvGraphicFramePr/>
          <p:nvPr/>
        </p:nvGraphicFramePr>
        <p:xfrm>
          <a:off xmlns:a="http://schemas.openxmlformats.org/drawingml/2006/main" x="571500" y="2571750"/>
          <a:ext xmlns:a="http://schemas.openxmlformats.org/drawingml/2006/main" cx="9906000" cy="4953000"/>
        </p:xfrm>
        <a:graphic xmlns:a="http://schemas.openxmlformats.org/drawingml/2006/main">
          <a:graphicData uri="http://schemas.openxmlformats.org/drawingml/2006/chart">
            <c:chart xmlns:r="http://schemas.openxmlformats.org/officeDocument/2006/relationships" xmlns:c="http://schemas.openxmlformats.org/drawingml/2006/chart" r:id="R6e80d32d74554ef6"/>
          </a:graphicData>
        </a:graphic>
      </p:graphicFrame>
      <p:sp>
        <p:nvSpPr>
          <p:cNvPr id="7" name="Tot en met € 5">
            <a:extLst xmlns:a="http://schemas.openxmlformats.org/drawingml/2006/main">
              <a:ext uri="{FF2B5EF4-FFF2-40B4-BE49-F238E27FC236}">
                <a16:creationId xmlns:a16="http://schemas.microsoft.com/office/drawing/2014/main" id="{9280B528-A582-43B4-A9B4-C151E337C0EE}"/>
              </a:ext>
            </a:extLst>
          </p:cNvPr>
          <p:cNvSpPr>
            <a:spLocks xmlns:a="http://schemas.openxmlformats.org/drawingml/2006/main" noGrp="1"/>
          </p:cNvSpPr>
          <p:nvPr/>
        </p:nvSpPr>
        <p:spPr>
          <a:xfrm xmlns:a="http://schemas.openxmlformats.org/drawingml/2006/main">
            <a:off x="10858500" y="2714625"/>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Tot en met € 5</a:t>
            </a:r>
          </a:p>
        </p:txBody>
      </p:sp>
      <p:sp>
        <p:nvSpPr>
          <p:cNvPr id="8" name="Som van beide&#10;rekenregels">
            <a:extLst xmlns:a="http://schemas.openxmlformats.org/drawingml/2006/main">
              <a:ext uri="{FF2B5EF4-FFF2-40B4-BE49-F238E27FC236}">
                <a16:creationId xmlns:a16="http://schemas.microsoft.com/office/drawing/2014/main" id="{1B9FCCC9-A231-440A-8A13-5C37CBB115B9}"/>
              </a:ext>
            </a:extLst>
          </p:cNvPr>
          <p:cNvSpPr>
            <a:spLocks xmlns:a="http://schemas.openxmlformats.org/drawingml/2006/main" noGrp="1"/>
          </p:cNvSpPr>
          <p:nvPr/>
        </p:nvSpPr>
        <p:spPr>
          <a:xfrm xmlns:a="http://schemas.openxmlformats.org/drawingml/2006/main">
            <a:off x="10858500" y="3333750"/>
            <a:ext cx="3810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Som van beide</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rekenregels</a:t>
            </a:r>
          </a:p>
        </p:txBody>
      </p:sp>
      <p:sp>
        <p:nvSpPr>
          <p:cNvPr id="9" name="Boven € 5">
            <a:extLst xmlns:a="http://schemas.openxmlformats.org/drawingml/2006/main">
              <a:ext uri="{FF2B5EF4-FFF2-40B4-BE49-F238E27FC236}">
                <a16:creationId xmlns:a16="http://schemas.microsoft.com/office/drawing/2014/main" id="{FD0C2FE0-0285-4281-A59E-88624BEAFAC5}"/>
              </a:ext>
            </a:extLst>
          </p:cNvPr>
          <p:cNvSpPr>
            <a:spLocks xmlns:a="http://schemas.openxmlformats.org/drawingml/2006/main" noGrp="1"/>
          </p:cNvSpPr>
          <p:nvPr/>
        </p:nvSpPr>
        <p:spPr>
          <a:xfrm xmlns:a="http://schemas.openxmlformats.org/drawingml/2006/main">
            <a:off x="10858500" y="4857750"/>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Boven € 5</a:t>
            </a:r>
          </a:p>
        </p:txBody>
      </p:sp>
      <p:sp>
        <p:nvSpPr>
          <p:cNvPr id="10" name="Alleen B koopt.&#10;Bij € 6: Q = 2.">
            <a:extLst xmlns:a="http://schemas.openxmlformats.org/drawingml/2006/main">
              <a:ext uri="{FF2B5EF4-FFF2-40B4-BE49-F238E27FC236}">
                <a16:creationId xmlns:a16="http://schemas.microsoft.com/office/drawing/2014/main" id="{9AA93544-F6CD-4133-AACD-32109DD4EDE6}"/>
              </a:ext>
            </a:extLst>
          </p:cNvPr>
          <p:cNvSpPr>
            <a:spLocks xmlns:a="http://schemas.openxmlformats.org/drawingml/2006/main" noGrp="1"/>
          </p:cNvSpPr>
          <p:nvPr/>
        </p:nvSpPr>
        <p:spPr>
          <a:xfrm xmlns:a="http://schemas.openxmlformats.org/drawingml/2006/main">
            <a:off x="10858500" y="5476875"/>
            <a:ext cx="3810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Alleen B koopt.</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Bij € 6: Q = 2.</a:t>
            </a:r>
          </a:p>
        </p:txBody>
      </p:sp>
      <p:sp>
        <p:nvSpPr>
          <p:cNvPr id="11" name="Boven € 7: Q = 0.">
            <a:extLst xmlns:a="http://schemas.openxmlformats.org/drawingml/2006/main">
              <a:ext uri="{FF2B5EF4-FFF2-40B4-BE49-F238E27FC236}">
                <a16:creationId xmlns:a16="http://schemas.microsoft.com/office/drawing/2014/main" id="{191E8769-EE4B-4461-BA17-F75143206710}"/>
              </a:ext>
            </a:extLst>
          </p:cNvPr>
          <p:cNvSpPr>
            <a:spLocks xmlns:a="http://schemas.openxmlformats.org/drawingml/2006/main" noGrp="1"/>
          </p:cNvSpPr>
          <p:nvPr/>
        </p:nvSpPr>
        <p:spPr>
          <a:xfrm xmlns:a="http://schemas.openxmlformats.org/drawingml/2006/main">
            <a:off x="10858500" y="7153275"/>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Boven € 7: Q = 0.</a:t>
            </a:r>
          </a:p>
        </p:txBody>
      </p:sp>
    </p:spTree>
    <p:extLst>
      <p:ext uri="{BB962C8B-B14F-4D97-AF65-F5344CB8AC3E}">
        <p14:creationId xmlns:p14="http://schemas.microsoft.com/office/powerpoint/2010/main" val="204451427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2.3 Van individuele naar collectieve vraag">
            <a:extLst xmlns:a="http://schemas.openxmlformats.org/drawingml/2006/main">
              <a:ext uri="{FF2B5EF4-FFF2-40B4-BE49-F238E27FC236}">
                <a16:creationId xmlns:a16="http://schemas.microsoft.com/office/drawing/2014/main" id="{DD55133B-CA55-4A2A-8778-C45EA7C8253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Deze les: §1.2.3 Van individuele naar collectieve vraag</a:t>
            </a:r>
          </a:p>
        </p:txBody>
      </p:sp>
      <p:sp>
        <p:nvSpPr>
          <p:cNvPr id="2" name="">
            <a:extLst xmlns:a="http://schemas.openxmlformats.org/drawingml/2006/main">
              <a:ext uri="{FF2B5EF4-FFF2-40B4-BE49-F238E27FC236}">
                <a16:creationId xmlns:a16="http://schemas.microsoft.com/office/drawing/2014/main" id="{E654066E-FCF6-446F-B358-2C35C8A092A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Van individuele naar collectieve vraag">
            <a:extLst xmlns:a="http://schemas.openxmlformats.org/drawingml/2006/main">
              <a:ext uri="{FF2B5EF4-FFF2-40B4-BE49-F238E27FC236}">
                <a16:creationId xmlns:a16="http://schemas.microsoft.com/office/drawing/2014/main" id="{FF1BD6B4-05DE-4498-87EF-EC1745D8D80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Van individuele naar collectieve vraag</a:t>
            </a:r>
          </a:p>
        </p:txBody>
      </p:sp>
      <p:sp>
        <p:nvSpPr>
          <p:cNvPr id="4" name="slide-number">
            <a:extLst xmlns:a="http://schemas.openxmlformats.org/drawingml/2006/main">
              <a:ext uri="{FF2B5EF4-FFF2-40B4-BE49-F238E27FC236}">
                <a16:creationId xmlns:a16="http://schemas.microsoft.com/office/drawing/2014/main" id="{8D8AB561-10A1-491C-8EAE-00FAECB5D9F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phase">
            <a:extLst xmlns:a="http://schemas.openxmlformats.org/drawingml/2006/main">
              <a:ext uri="{FF2B5EF4-FFF2-40B4-BE49-F238E27FC236}">
                <a16:creationId xmlns:a16="http://schemas.microsoft.com/office/drawing/2014/main" id="{DA4C259C-523B-488B-A31D-68D42009C4A4}"/>
              </a:ext>
            </a:extLst>
          </p:cNvPr>
          <p:cNvSpPr>
            <a:spLocks xmlns:a="http://schemas.openxmlformats.org/drawingml/2006/main" noGrp="1"/>
          </p:cNvSpPr>
          <p:nvPr/>
        </p:nvSpPr>
        <p:spPr>
          <a:xfrm xmlns:a="http://schemas.openxmlformats.org/drawingml/2006/main">
            <a:off x="571500" y="106680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31041123-41B9-4EB1-8E5E-08CE20E805CC}"/>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69FDB50C-AF04-433B-B545-07CF43484EAD}"/>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922817D4-F43D-4A93-A47F-99F9A35EA00E}"/>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C887B2E1-5E61-46E6-912F-A7102D87E6A6}"/>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4C9B5F10-7AA7-40D2-A39D-869251754AA7}"/>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BA910798-489A-4639-912A-A7FF517C2712}"/>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3F9E1B0D-5DD2-4C4C-B1C5-4E48CDF3AA20}"/>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836071EF-3D8F-4A9A-92CF-78BBDE75F513}"/>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5054B8E1-B4A5-40C1-A7AD-9A70165698FE}"/>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E336F9B7-7D35-461D-81A1-0D902817FE4B}"/>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1C34C456-C9CB-4621-82D7-F181C0A8E308}"/>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B923AD18-CA59-42C7-B8AE-D43A7D84B9CC}"/>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28EE6598-274E-4D36-A992-D18AF27E6929}"/>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30.</a:t>
            </a:r>
          </a:p>
        </p:txBody>
      </p:sp>
      <p:sp>
        <p:nvSpPr>
          <p:cNvPr id="19" name="route-number-7">
            <a:extLst xmlns:a="http://schemas.openxmlformats.org/drawingml/2006/main">
              <a:ext uri="{FF2B5EF4-FFF2-40B4-BE49-F238E27FC236}">
                <a16:creationId xmlns:a16="http://schemas.microsoft.com/office/drawing/2014/main" id="{471F0DFB-BB9E-4538-88EE-2C5CA373B64E}"/>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1D36BD74-318E-4D33-B6F8-CA1204B57D19}"/>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1DB5DB9D-B561-4C4A-BCBD-4203F94AC7E5}"/>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A924FEBB-8A6C-4DE6-9577-EB74FFFD4B9B}"/>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Hoeveelheden en functies optellen,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som tekenen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prijsgrenzen bewaken.</a:t>
            </a:r>
          </a:p>
        </p:txBody>
      </p:sp>
      <p:sp>
        <p:nvSpPr>
          <p:cNvPr id="23" name="">
            <a:extLst xmlns:a="http://schemas.openxmlformats.org/drawingml/2006/main">
              <a:ext uri="{FF2B5EF4-FFF2-40B4-BE49-F238E27FC236}">
                <a16:creationId xmlns:a16="http://schemas.microsoft.com/office/drawing/2014/main" id="{F2DA6F45-A0C1-4D44-AE25-0524633A55F9}"/>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84674459-8992-41E6-A966-FFE58EB59E40}"/>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55F886AC-EAD2-4639-8C06-7107408144EE}"/>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72 · Opgaven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24: verkennen met theorie p. 68</a:t>
            </a:r>
          </a:p>
        </p:txBody>
      </p:sp>
      <p:sp>
        <p:nvSpPr>
          <p:cNvPr id="26" name="">
            <a:extLst xmlns:a="http://schemas.openxmlformats.org/drawingml/2006/main">
              <a:ext uri="{FF2B5EF4-FFF2-40B4-BE49-F238E27FC236}">
                <a16:creationId xmlns:a16="http://schemas.microsoft.com/office/drawing/2014/main" id="{D1CEB825-8C1F-4116-9C9C-DE41581588DA}"/>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429F1368-66CB-45D5-BF57-9BBC9238DD00}"/>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87B2566D-ACB9-461D-ADE7-0078D6A49AB4}"/>
              </a:ext>
            </a:extLst>
          </p:cNvPr>
          <p:cNvSpPr>
            <a:spLocks xmlns:a="http://schemas.openxmlformats.org/drawingml/2006/main" noGrp="1"/>
          </p:cNvSpPr>
          <p:nvPr/>
        </p:nvSpPr>
        <p:spPr>
          <a:xfrm xmlns:a="http://schemas.openxmlformats.org/drawingml/2006/main">
            <a:off x="9258300" y="62293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25, 26 en 27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28 en 29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30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 25 t/m 30</a:t>
            </a:r>
          </a:p>
        </p:txBody>
      </p:sp>
    </p:spTree>
    <p:extLst>
      <p:ext uri="{BB962C8B-B14F-4D97-AF65-F5344CB8AC3E}">
        <p14:creationId xmlns:p14="http://schemas.microsoft.com/office/powerpoint/2010/main" val="122046440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0 · Reserveringen bij een spellenclub">
            <a:extLst xmlns:a="http://schemas.openxmlformats.org/drawingml/2006/main">
              <a:ext uri="{FF2B5EF4-FFF2-40B4-BE49-F238E27FC236}">
                <a16:creationId xmlns:a16="http://schemas.microsoft.com/office/drawing/2014/main" id="{F5E994A7-081E-4C82-82CC-6BA9C9F3D2B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30 · Reserveringen bij een spellenclub</a:t>
            </a:r>
          </a:p>
        </p:txBody>
      </p:sp>
      <p:sp>
        <p:nvSpPr>
          <p:cNvPr id="2" name="">
            <a:extLst xmlns:a="http://schemas.openxmlformats.org/drawingml/2006/main">
              <a:ext uri="{FF2B5EF4-FFF2-40B4-BE49-F238E27FC236}">
                <a16:creationId xmlns:a16="http://schemas.microsoft.com/office/drawing/2014/main" id="{5DF45B10-BD25-44F9-B6C9-2309A030581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 Opgave 30 · Boekpagina 76">
            <a:extLst xmlns:a="http://schemas.openxmlformats.org/drawingml/2006/main">
              <a:ext uri="{FF2B5EF4-FFF2-40B4-BE49-F238E27FC236}">
                <a16:creationId xmlns:a16="http://schemas.microsoft.com/office/drawing/2014/main" id="{B79D42BC-B07D-474E-8644-C2ECF9C3C28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 Opgave 30 · Boekpagina 76</a:t>
            </a:r>
          </a:p>
        </p:txBody>
      </p:sp>
      <p:sp>
        <p:nvSpPr>
          <p:cNvPr id="4" name="slide-number">
            <a:extLst xmlns:a="http://schemas.openxmlformats.org/drawingml/2006/main">
              <a:ext uri="{FF2B5EF4-FFF2-40B4-BE49-F238E27FC236}">
                <a16:creationId xmlns:a16="http://schemas.microsoft.com/office/drawing/2014/main" id="{3EB59740-93D4-4788-A97E-4EC7ED62697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Een spellenclub onderzoekt de vraag van twee afzonderlijke g">
            <a:extLst xmlns:a="http://schemas.openxmlformats.org/drawingml/2006/main">
              <a:ext uri="{FF2B5EF4-FFF2-40B4-BE49-F238E27FC236}">
                <a16:creationId xmlns:a16="http://schemas.microsoft.com/office/drawing/2014/main" id="{EDB3569C-2AF5-4AC9-893F-B2379EA652BD}"/>
              </a:ext>
            </a:extLst>
          </p:cNvPr>
          <p:cNvSpPr>
            <a:spLocks xmlns:a="http://schemas.openxmlformats.org/drawingml/2006/main" noGrp="1"/>
          </p:cNvSpPr>
          <p:nvPr/>
        </p:nvSpPr>
        <p:spPr>
          <a:xfrm xmlns:a="http://schemas.openxmlformats.org/drawingml/2006/main">
            <a:off x="571500" y="1847850"/>
            <a:ext cx="1409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Een spellenclub onderzoekt de vraag van twee afzonderlijke groepen.</a:t>
            </a:r>
          </a:p>
        </p:txBody>
      </p:sp>
      <p:graphicFrame>
        <p:nvGraphicFramePr>
          <p:cNvPr id="14" name=""/>
          <p:cNvGraphicFramePr/>
          <p:nvPr/>
        </p:nvGraphicFramePr>
        <p:xfrm>
          <a:off xmlns:a="http://schemas.openxmlformats.org/drawingml/2006/main" x="571500" y="3333750"/>
          <a:ext xmlns:a="http://schemas.openxmlformats.org/drawingml/2006/main" cx="14097000" cy="2524125"/>
        </p:xfrm>
        <a:graphic xmlns:a="http://schemas.openxmlformats.org/drawingml/2006/main">
          <a:graphicData uri="http://schemas.openxmlformats.org/drawingml/2006/table">
            <a:tbl>
              <a:tblPr/>
              <a:tblGrid>
                <a:gridCol w="2857500"/>
                <a:gridCol w="6477000"/>
                <a:gridCol w="4762500"/>
              </a:tblGrid>
              <a:tr h="841375">
                <a:tc>
                  <a:txBody>
                    <a:bodyPr lIns="171450" tIns="95250" rIns="152400" bIns="95250"/>
                    <a:lstStyle/>
                    <a:p>
                      <a:r>
                        <a:rPr sz="2850" b="1">
                          <a:solidFill>
                            <a:srgbClr val="FFFFFF"/>
                          </a:solidFill>
                          <a:latin typeface="Arial"/>
                          <a:ea typeface="Arial"/>
                          <a:cs typeface="Arial"/>
                        </a:rPr>
                        <a:t>Groep</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Vraagfunctie</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Geldig bij</a:t>
                      </a:r>
                    </a:p>
                  </a:txBody>
                  <a:tcPr marL="91440" marR="91440" marT="45720" marB="45720" anchor="ctr">
                    <a:solidFill>
                      <a:srgbClr val="183247"/>
                    </a:solidFill>
                  </a:tcPr>
                </a:tc>
              </a:tr>
              <a:tr h="841375">
                <a:tc>
                  <a:txBody>
                    <a:bodyPr lIns="171450" tIns="95250" rIns="152400" bIns="95250"/>
                    <a:lstStyle/>
                    <a:p>
                      <a:r>
                        <a:rPr sz="2850" b="0">
                          <a:solidFill>
                            <a:srgbClr val="183247"/>
                          </a:solidFill>
                          <a:latin typeface="Arial"/>
                          <a:ea typeface="Arial"/>
                          <a:cs typeface="Arial"/>
                        </a:rPr>
                        <a:t>A</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QA = 18 − 3P</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0 ≤ P ≤ 6</a:t>
                      </a:r>
                    </a:p>
                  </a:txBody>
                  <a:tcPr marL="91440" marR="91440" marT="45720" marB="45720" anchor="ctr">
                    <a:solidFill>
                      <a:srgbClr val="FFFFFF"/>
                    </a:solidFill>
                  </a:tcPr>
                </a:tc>
              </a:tr>
              <a:tr h="841375">
                <a:tc>
                  <a:txBody>
                    <a:bodyPr lIns="171450" tIns="95250" rIns="152400" bIns="95250"/>
                    <a:lstStyle/>
                    <a:p>
                      <a:r>
                        <a:rPr sz="2850" b="0">
                          <a:solidFill>
                            <a:srgbClr val="183247"/>
                          </a:solidFill>
                          <a:latin typeface="Arial"/>
                          <a:ea typeface="Arial"/>
                          <a:cs typeface="Arial"/>
                        </a:rPr>
                        <a:t>B</a:t>
                      </a:r>
                    </a:p>
                  </a:txBody>
                  <a:tcPr marL="91440" marR="91440" marT="45720" marB="45720" anchor="ctr">
                    <a:solidFill>
                      <a:srgbClr val="EFF4F7"/>
                    </a:solidFill>
                  </a:tcPr>
                </a:tc>
                <a:tc>
                  <a:txBody>
                    <a:bodyPr lIns="171450" tIns="95250" rIns="152400" bIns="95250"/>
                    <a:lstStyle/>
                    <a:p>
                      <a:r>
                        <a:rPr sz="2850" b="0">
                          <a:solidFill>
                            <a:srgbClr val="183247"/>
                          </a:solidFill>
                          <a:latin typeface="Arial"/>
                          <a:ea typeface="Arial"/>
                          <a:cs typeface="Arial"/>
                        </a:rPr>
                        <a:t>QB = 24 − 2P</a:t>
                      </a:r>
                    </a:p>
                  </a:txBody>
                  <a:tcPr marL="91440" marR="91440" marT="45720" marB="45720" anchor="ctr">
                    <a:solidFill>
                      <a:srgbClr val="EFF4F7"/>
                    </a:solidFill>
                  </a:tcPr>
                </a:tc>
                <a:tc>
                  <a:txBody>
                    <a:bodyPr lIns="171450" tIns="95250" rIns="152400" bIns="95250"/>
                    <a:lstStyle/>
                    <a:p>
                      <a:r>
                        <a:rPr sz="2850" b="0">
                          <a:solidFill>
                            <a:srgbClr val="183247"/>
                          </a:solidFill>
                          <a:latin typeface="Arial"/>
                          <a:ea typeface="Arial"/>
                          <a:cs typeface="Arial"/>
                        </a:rPr>
                        <a:t>0 ≤ P ≤ 12</a:t>
                      </a:r>
                    </a:p>
                  </a:txBody>
                  <a:tcPr marL="91440" marR="91440" marT="45720" marB="45720" anchor="ctr">
                    <a:solidFill>
                      <a:srgbClr val="EFF4F7"/>
                    </a:solidFill>
                  </a:tcPr>
                </a:tc>
              </a:tr>
            </a:tbl>
          </a:graphicData>
        </a:graphic>
      </p:graphicFrame>
      <p:sp>
        <p:nvSpPr>
          <p:cNvPr id="7" name="Q is reserveringen per week. P is euro per reservering.">
            <a:extLst xmlns:a="http://schemas.openxmlformats.org/drawingml/2006/main">
              <a:ext uri="{FF2B5EF4-FFF2-40B4-BE49-F238E27FC236}">
                <a16:creationId xmlns:a16="http://schemas.microsoft.com/office/drawing/2014/main" id="{C33D101B-3DC0-4EAC-AF48-423670A800A3}"/>
              </a:ext>
            </a:extLst>
          </p:cNvPr>
          <p:cNvSpPr>
            <a:spLocks xmlns:a="http://schemas.openxmlformats.org/drawingml/2006/main" noGrp="1"/>
          </p:cNvSpPr>
          <p:nvPr/>
        </p:nvSpPr>
        <p:spPr>
          <a:xfrm xmlns:a="http://schemas.openxmlformats.org/drawingml/2006/main">
            <a:off x="571500" y="631507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Q is reserveringen per week. P is euro per reservering.</a:t>
            </a:r>
          </a:p>
        </p:txBody>
      </p:sp>
      <p:sp>
        <p:nvSpPr>
          <p:cNvPr id="8" name="Boven de eigen koopgrens vraagt de groep nul.&#10;De overige oms">
            <a:extLst xmlns:a="http://schemas.openxmlformats.org/drawingml/2006/main">
              <a:ext uri="{FF2B5EF4-FFF2-40B4-BE49-F238E27FC236}">
                <a16:creationId xmlns:a16="http://schemas.microsoft.com/office/drawing/2014/main" id="{FE1002A6-4ABC-4E55-B733-ECF2ADF3FBC3}"/>
              </a:ext>
            </a:extLst>
          </p:cNvPr>
          <p:cNvSpPr>
            <a:spLocks xmlns:a="http://schemas.openxmlformats.org/drawingml/2006/main" noGrp="1"/>
          </p:cNvSpPr>
          <p:nvPr/>
        </p:nvSpPr>
        <p:spPr>
          <a:xfrm xmlns:a="http://schemas.openxmlformats.org/drawingml/2006/main">
            <a:off x="571500" y="71056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Boven de eigen koopgrens vraagt de groep nul.</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 overige omstandigheden blijven gelijk.</a:t>
            </a:r>
          </a:p>
        </p:txBody>
      </p:sp>
    </p:spTree>
    <p:extLst>
      <p:ext uri="{BB962C8B-B14F-4D97-AF65-F5344CB8AC3E}">
        <p14:creationId xmlns:p14="http://schemas.microsoft.com/office/powerpoint/2010/main" val="21135653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0 · Vragen a en b">
            <a:extLst xmlns:a="http://schemas.openxmlformats.org/drawingml/2006/main">
              <a:ext uri="{FF2B5EF4-FFF2-40B4-BE49-F238E27FC236}">
                <a16:creationId xmlns:a16="http://schemas.microsoft.com/office/drawing/2014/main" id="{912C86F1-0967-453A-A916-2A0D4184015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30 · Vragen a en b</a:t>
            </a:r>
          </a:p>
        </p:txBody>
      </p:sp>
      <p:sp>
        <p:nvSpPr>
          <p:cNvPr id="2" name="">
            <a:extLst xmlns:a="http://schemas.openxmlformats.org/drawingml/2006/main">
              <a:ext uri="{FF2B5EF4-FFF2-40B4-BE49-F238E27FC236}">
                <a16:creationId xmlns:a16="http://schemas.microsoft.com/office/drawing/2014/main" id="{25703A69-5EEC-4852-B61C-2CA90F62976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 Opgave 30 · Boekpagina 76">
            <a:extLst xmlns:a="http://schemas.openxmlformats.org/drawingml/2006/main">
              <a:ext uri="{FF2B5EF4-FFF2-40B4-BE49-F238E27FC236}">
                <a16:creationId xmlns:a16="http://schemas.microsoft.com/office/drawing/2014/main" id="{3C2E0081-0FC0-4187-B9EA-622BC392F42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 Opgave 30 · Boekpagina 76</a:t>
            </a:r>
          </a:p>
        </p:txBody>
      </p:sp>
      <p:sp>
        <p:nvSpPr>
          <p:cNvPr id="4" name="slide-number">
            <a:extLst xmlns:a="http://schemas.openxmlformats.org/drawingml/2006/main">
              <a:ext uri="{FF2B5EF4-FFF2-40B4-BE49-F238E27FC236}">
                <a16:creationId xmlns:a16="http://schemas.microsoft.com/office/drawing/2014/main" id="{FACC27A3-3B9D-4AE8-9364-4443C6CF0C1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a. Neem de tabel over en vul alle lege hoeveelheden in.">
            <a:extLst xmlns:a="http://schemas.openxmlformats.org/drawingml/2006/main">
              <a:ext uri="{FF2B5EF4-FFF2-40B4-BE49-F238E27FC236}">
                <a16:creationId xmlns:a16="http://schemas.microsoft.com/office/drawing/2014/main" id="{40351D60-5A6E-48BF-A445-F33F7A10EAF6}"/>
              </a:ext>
            </a:extLst>
          </p:cNvPr>
          <p:cNvSpPr>
            <a:spLocks xmlns:a="http://schemas.openxmlformats.org/drawingml/2006/main" noGrp="1"/>
          </p:cNvSpPr>
          <p:nvPr/>
        </p:nvSpPr>
        <p:spPr>
          <a:xfrm xmlns:a="http://schemas.openxmlformats.org/drawingml/2006/main">
            <a:off x="571500" y="17811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a. Neem de tabel over en vul alle lege hoeveelheden in.</a:t>
            </a:r>
          </a:p>
        </p:txBody>
      </p:sp>
      <p:graphicFrame>
        <p:nvGraphicFramePr>
          <p:cNvPr id="13" name=""/>
          <p:cNvGraphicFramePr/>
          <p:nvPr/>
        </p:nvGraphicFramePr>
        <p:xfrm>
          <a:off xmlns:a="http://schemas.openxmlformats.org/drawingml/2006/main" x="571500" y="2933700"/>
          <a:ext xmlns:a="http://schemas.openxmlformats.org/drawingml/2006/main" cx="14097000" cy="3343275"/>
        </p:xfrm>
        <a:graphic xmlns:a="http://schemas.openxmlformats.org/drawingml/2006/main">
          <a:graphicData uri="http://schemas.openxmlformats.org/drawingml/2006/table">
            <a:tbl>
              <a:tblPr/>
              <a:tblGrid>
                <a:gridCol w="5810250"/>
                <a:gridCol w="2762250"/>
                <a:gridCol w="2762250"/>
                <a:gridCol w="2762250"/>
              </a:tblGrid>
              <a:tr h="668655">
                <a:tc>
                  <a:txBody>
                    <a:bodyPr lIns="171450" tIns="95250" rIns="152400" bIns="95250"/>
                    <a:lstStyle/>
                    <a:p>
                      <a:r>
                        <a:rPr sz="2550" b="1">
                          <a:solidFill>
                            <a:srgbClr val="FFFFFF"/>
                          </a:solidFill>
                          <a:latin typeface="Arial"/>
                          <a:ea typeface="Arial"/>
                          <a:cs typeface="Arial"/>
                        </a:rPr>
                        <a:t>P (€ per reservering)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QA</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QB</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Q samen</a:t>
                      </a:r>
                    </a:p>
                  </a:txBody>
                  <a:tcPr marL="91440" marR="91440" marT="45720" marB="45720" anchor="ctr">
                    <a:solidFill>
                      <a:srgbClr val="183247"/>
                    </a:solidFill>
                  </a:tcPr>
                </a:tc>
              </a:tr>
              <a:tr h="668655">
                <a:tc>
                  <a:txBody>
                    <a:bodyPr lIns="171450" tIns="95250" rIns="152400" bIns="95250"/>
                    <a:lstStyle/>
                    <a:p>
                      <a:r>
                        <a:rPr sz="2550" b="0">
                          <a:solidFill>
                            <a:srgbClr val="183247"/>
                          </a:solidFill>
                          <a:latin typeface="Arial"/>
                          <a:ea typeface="Arial"/>
                          <a:cs typeface="Arial"/>
                        </a:rPr>
                        <a:t>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a:t>
                      </a:r>
                    </a:p>
                  </a:txBody>
                  <a:tcPr marL="91440" marR="91440" marT="45720" marB="45720" anchor="ctr">
                    <a:solidFill>
                      <a:srgbClr val="FFFFFF"/>
                    </a:solidFill>
                  </a:tcPr>
                </a:tc>
              </a:tr>
              <a:tr h="668655">
                <a:tc>
                  <a:txBody>
                    <a:bodyPr lIns="171450" tIns="95250" rIns="152400" bIns="95250"/>
                    <a:lstStyle/>
                    <a:p>
                      <a:r>
                        <a:rPr sz="2550" b="0">
                          <a:solidFill>
                            <a:srgbClr val="183247"/>
                          </a:solidFill>
                          <a:latin typeface="Arial"/>
                          <a:ea typeface="Arial"/>
                          <a:cs typeface="Arial"/>
                        </a:rPr>
                        <a:t>2</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a:t>
                      </a:r>
                    </a:p>
                  </a:txBody>
                  <a:tcPr marL="91440" marR="91440" marT="45720" marB="45720" anchor="ctr">
                    <a:solidFill>
                      <a:srgbClr val="EFF4F7"/>
                    </a:solidFill>
                  </a:tcPr>
                </a:tc>
              </a:tr>
              <a:tr h="668655">
                <a:tc>
                  <a:txBody>
                    <a:bodyPr lIns="171450" tIns="95250" rIns="152400" bIns="95250"/>
                    <a:lstStyle/>
                    <a:p>
                      <a:r>
                        <a:rPr sz="2550" b="0">
                          <a:solidFill>
                            <a:srgbClr val="183247"/>
                          </a:solidFill>
                          <a:latin typeface="Arial"/>
                          <a:ea typeface="Arial"/>
                          <a:cs typeface="Arial"/>
                        </a:rPr>
                        <a:t>4</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a:t>
                      </a:r>
                    </a:p>
                  </a:txBody>
                  <a:tcPr marL="91440" marR="91440" marT="45720" marB="45720" anchor="ctr">
                    <a:solidFill>
                      <a:srgbClr val="FFFFFF"/>
                    </a:solidFill>
                  </a:tcPr>
                </a:tc>
              </a:tr>
              <a:tr h="668655">
                <a:tc>
                  <a:txBody>
                    <a:bodyPr lIns="171450" tIns="95250" rIns="152400" bIns="95250"/>
                    <a:lstStyle/>
                    <a:p>
                      <a:r>
                        <a:rPr sz="2550" b="0">
                          <a:solidFill>
                            <a:srgbClr val="183247"/>
                          </a:solidFill>
                          <a:latin typeface="Arial"/>
                          <a:ea typeface="Arial"/>
                          <a:cs typeface="Arial"/>
                        </a:rPr>
                        <a:t>6</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a:t>
                      </a:r>
                    </a:p>
                  </a:txBody>
                  <a:tcPr marL="91440" marR="91440" marT="45720" marB="45720" anchor="ctr">
                    <a:solidFill>
                      <a:srgbClr val="EFF4F7"/>
                    </a:solidFill>
                  </a:tcPr>
                </a:tc>
              </a:tr>
            </a:tbl>
          </a:graphicData>
        </a:graphic>
      </p:graphicFrame>
      <p:sp>
        <p:nvSpPr>
          <p:cNvPr id="7" name="b. Stel de gezamenlijke vraagfunctie op voor 0 ≤ P ≤ 6.&#10;Cont">
            <a:extLst xmlns:a="http://schemas.openxmlformats.org/drawingml/2006/main">
              <a:ext uri="{FF2B5EF4-FFF2-40B4-BE49-F238E27FC236}">
                <a16:creationId xmlns:a16="http://schemas.microsoft.com/office/drawing/2014/main" id="{F4A27BE0-39F8-4089-B875-797935C06855}"/>
              </a:ext>
            </a:extLst>
          </p:cNvPr>
          <p:cNvSpPr>
            <a:spLocks xmlns:a="http://schemas.openxmlformats.org/drawingml/2006/main" noGrp="1"/>
          </p:cNvSpPr>
          <p:nvPr/>
        </p:nvSpPr>
        <p:spPr>
          <a:xfrm xmlns:a="http://schemas.openxmlformats.org/drawingml/2006/main">
            <a:off x="571500" y="6800850"/>
            <a:ext cx="1409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 Stel de gezamenlijke vraagfunctie op voor 0 ≤ P ≤ 6.</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Controleer de formule met de tabelwaarde bij € 4.</a:t>
            </a:r>
          </a:p>
        </p:txBody>
      </p:sp>
    </p:spTree>
    <p:extLst>
      <p:ext uri="{BB962C8B-B14F-4D97-AF65-F5344CB8AC3E}">
        <p14:creationId xmlns:p14="http://schemas.microsoft.com/office/powerpoint/2010/main" val="57176954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0 · Vragen c, d en e">
            <a:extLst xmlns:a="http://schemas.openxmlformats.org/drawingml/2006/main">
              <a:ext uri="{FF2B5EF4-FFF2-40B4-BE49-F238E27FC236}">
                <a16:creationId xmlns:a16="http://schemas.microsoft.com/office/drawing/2014/main" id="{2C7005B9-E8EC-49C7-9565-7B63BFE0C0C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30 · Vragen c, d en e</a:t>
            </a:r>
          </a:p>
        </p:txBody>
      </p:sp>
      <p:sp>
        <p:nvSpPr>
          <p:cNvPr id="2" name="">
            <a:extLst xmlns:a="http://schemas.openxmlformats.org/drawingml/2006/main">
              <a:ext uri="{FF2B5EF4-FFF2-40B4-BE49-F238E27FC236}">
                <a16:creationId xmlns:a16="http://schemas.microsoft.com/office/drawing/2014/main" id="{0A1100B1-9B17-450C-B6D9-60AF5F5CE32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 Opgave 30 · Boekpagina 76">
            <a:extLst xmlns:a="http://schemas.openxmlformats.org/drawingml/2006/main">
              <a:ext uri="{FF2B5EF4-FFF2-40B4-BE49-F238E27FC236}">
                <a16:creationId xmlns:a16="http://schemas.microsoft.com/office/drawing/2014/main" id="{34BD0ACB-A838-4E39-8DA5-4B970DC01C0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 Opgave 30 · Boekpagina 76</a:t>
            </a:r>
          </a:p>
        </p:txBody>
      </p:sp>
      <p:sp>
        <p:nvSpPr>
          <p:cNvPr id="4" name="slide-number">
            <a:extLst xmlns:a="http://schemas.openxmlformats.org/drawingml/2006/main">
              <a:ext uri="{FF2B5EF4-FFF2-40B4-BE49-F238E27FC236}">
                <a16:creationId xmlns:a16="http://schemas.microsoft.com/office/drawing/2014/main" id="{5599BC77-BB70-4C9B-8FF4-309B9BF1B75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c. Teken in je schrift de gezamenlijke vraag voor 0 ≤ P ≤ 6.">
            <a:extLst xmlns:a="http://schemas.openxmlformats.org/drawingml/2006/main">
              <a:ext uri="{FF2B5EF4-FFF2-40B4-BE49-F238E27FC236}">
                <a16:creationId xmlns:a16="http://schemas.microsoft.com/office/drawing/2014/main" id="{E60D388E-24F8-41A0-A455-7F0BCBE608C9}"/>
              </a:ext>
            </a:extLst>
          </p:cNvPr>
          <p:cNvSpPr>
            <a:spLocks xmlns:a="http://schemas.openxmlformats.org/drawingml/2006/main" noGrp="1"/>
          </p:cNvSpPr>
          <p:nvPr/>
        </p:nvSpPr>
        <p:spPr>
          <a:xfrm xmlns:a="http://schemas.openxmlformats.org/drawingml/2006/main">
            <a:off x="571500" y="2095500"/>
            <a:ext cx="14097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c. Teken in je schrift de gezamenlijke vraag voor 0 ≤ P ≤ 6. Noteer de eindpunten en markeer het punt bij € 4.</a:t>
            </a:r>
          </a:p>
        </p:txBody>
      </p:sp>
      <p:sp>
        <p:nvSpPr>
          <p:cNvPr id="6" name="">
            <a:extLst xmlns:a="http://schemas.openxmlformats.org/drawingml/2006/main">
              <a:ext uri="{FF2B5EF4-FFF2-40B4-BE49-F238E27FC236}">
                <a16:creationId xmlns:a16="http://schemas.microsoft.com/office/drawing/2014/main" id="{6FE37594-747B-4297-91F3-38367A28239D}"/>
              </a:ext>
            </a:extLst>
          </p:cNvPr>
          <p:cNvSpPr>
            <a:spLocks xmlns:a="http://schemas.openxmlformats.org/drawingml/2006/main" noGrp="1"/>
          </p:cNvSpPr>
          <p:nvPr/>
        </p:nvSpPr>
        <p:spPr>
          <a:xfrm xmlns:a="http://schemas.openxmlformats.org/drawingml/2006/main">
            <a:off x="571500" y="3886200"/>
            <a:ext cx="14097000" cy="0"/>
          </a:xfrm>
          <a:prstGeom xmlns:a="http://schemas.openxmlformats.org/drawingml/2006/main" prst="line">
            <a:avLst/>
          </a:prstGeom>
          <a:ln xmlns:a="http://schemas.openxmlformats.org/drawingml/2006/main" w="19050">
            <a:solidFill>
              <a:srgbClr val="C6D2DB"/>
            </a:solidFill>
          </a:ln>
        </p:spPr>
      </p:sp>
      <p:sp>
        <p:nvSpPr>
          <p:cNvPr id="7" name="d. Bereken de gezamenlijke vraag bij P = € 8.">
            <a:extLst xmlns:a="http://schemas.openxmlformats.org/drawingml/2006/main">
              <a:ext uri="{FF2B5EF4-FFF2-40B4-BE49-F238E27FC236}">
                <a16:creationId xmlns:a16="http://schemas.microsoft.com/office/drawing/2014/main" id="{7B6C9604-5795-419D-912C-E8984B328E1D}"/>
              </a:ext>
            </a:extLst>
          </p:cNvPr>
          <p:cNvSpPr>
            <a:spLocks xmlns:a="http://schemas.openxmlformats.org/drawingml/2006/main" noGrp="1"/>
          </p:cNvSpPr>
          <p:nvPr/>
        </p:nvSpPr>
        <p:spPr>
          <a:xfrm xmlns:a="http://schemas.openxmlformats.org/drawingml/2006/main">
            <a:off x="571500" y="4352925"/>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 Bereken de gezamenlijke vraag bij P = € 8.</a:t>
            </a:r>
          </a:p>
        </p:txBody>
      </p:sp>
      <p:sp>
        <p:nvSpPr>
          <p:cNvPr id="8" name="">
            <a:extLst xmlns:a="http://schemas.openxmlformats.org/drawingml/2006/main">
              <a:ext uri="{FF2B5EF4-FFF2-40B4-BE49-F238E27FC236}">
                <a16:creationId xmlns:a16="http://schemas.microsoft.com/office/drawing/2014/main" id="{79B19DB6-3BFE-4F54-AFA1-6006766173C8}"/>
              </a:ext>
            </a:extLst>
          </p:cNvPr>
          <p:cNvSpPr>
            <a:spLocks xmlns:a="http://schemas.openxmlformats.org/drawingml/2006/main" noGrp="1"/>
          </p:cNvSpPr>
          <p:nvPr/>
        </p:nvSpPr>
        <p:spPr>
          <a:xfrm xmlns:a="http://schemas.openxmlformats.org/drawingml/2006/main">
            <a:off x="571500" y="5610225"/>
            <a:ext cx="14097000" cy="0"/>
          </a:xfrm>
          <a:prstGeom xmlns:a="http://schemas.openxmlformats.org/drawingml/2006/main" prst="line">
            <a:avLst/>
          </a:prstGeom>
          <a:ln xmlns:a="http://schemas.openxmlformats.org/drawingml/2006/main" w="19050">
            <a:solidFill>
              <a:srgbClr val="C6D2DB"/>
            </a:solidFill>
          </a:ln>
        </p:spPr>
      </p:sp>
      <p:sp>
        <p:nvSpPr>
          <p:cNvPr id="9" name="e. Een leerling trekt de lijn uit c door en vindt bij € 8 ee">
            <a:extLst xmlns:a="http://schemas.openxmlformats.org/drawingml/2006/main">
              <a:ext uri="{FF2B5EF4-FFF2-40B4-BE49-F238E27FC236}">
                <a16:creationId xmlns:a16="http://schemas.microsoft.com/office/drawing/2014/main" id="{71674367-6701-4961-AB90-E193FDA264AE}"/>
              </a:ext>
            </a:extLst>
          </p:cNvPr>
          <p:cNvSpPr>
            <a:spLocks xmlns:a="http://schemas.openxmlformats.org/drawingml/2006/main" noGrp="1"/>
          </p:cNvSpPr>
          <p:nvPr/>
        </p:nvSpPr>
        <p:spPr>
          <a:xfrm xmlns:a="http://schemas.openxmlformats.org/drawingml/2006/main">
            <a:off x="571500" y="6115050"/>
            <a:ext cx="1409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 Een leerling trekt de lijn uit c door en vindt bij € 8 een gezamenlijke vraag van 2 reserveringen. Leg uit waarom dit onjuist is.</a:t>
            </a:r>
          </a:p>
        </p:txBody>
      </p:sp>
    </p:spTree>
    <p:extLst>
      <p:ext uri="{BB962C8B-B14F-4D97-AF65-F5344CB8AC3E}">
        <p14:creationId xmlns:p14="http://schemas.microsoft.com/office/powerpoint/2010/main" val="199476451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30a · Eén tabelrij berekenen">
            <a:extLst xmlns:a="http://schemas.openxmlformats.org/drawingml/2006/main">
              <a:ext uri="{FF2B5EF4-FFF2-40B4-BE49-F238E27FC236}">
                <a16:creationId xmlns:a16="http://schemas.microsoft.com/office/drawing/2014/main" id="{125F3D00-995B-4BB3-96F1-4CA34B04BA8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30a · Eén tabelrij berekenen</a:t>
            </a:r>
          </a:p>
        </p:txBody>
      </p:sp>
      <p:sp>
        <p:nvSpPr>
          <p:cNvPr id="2" name="">
            <a:extLst xmlns:a="http://schemas.openxmlformats.org/drawingml/2006/main">
              <a:ext uri="{FF2B5EF4-FFF2-40B4-BE49-F238E27FC236}">
                <a16:creationId xmlns:a16="http://schemas.microsoft.com/office/drawing/2014/main" id="{2C7F85DC-D9E2-4B05-984E-D520495D58E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 Opgave 30 · Boekpagina 76">
            <a:extLst xmlns:a="http://schemas.openxmlformats.org/drawingml/2006/main">
              <a:ext uri="{FF2B5EF4-FFF2-40B4-BE49-F238E27FC236}">
                <a16:creationId xmlns:a16="http://schemas.microsoft.com/office/drawing/2014/main" id="{78BA3426-A9FF-405D-93D3-2D7CF6A6578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 Opgave 30 · Boekpagina 76</a:t>
            </a:r>
          </a:p>
        </p:txBody>
      </p:sp>
      <p:sp>
        <p:nvSpPr>
          <p:cNvPr id="4" name="slide-number">
            <a:extLst xmlns:a="http://schemas.openxmlformats.org/drawingml/2006/main">
              <a:ext uri="{FF2B5EF4-FFF2-40B4-BE49-F238E27FC236}">
                <a16:creationId xmlns:a16="http://schemas.microsoft.com/office/drawing/2014/main" id="{21A4696D-E5A9-4617-9D3E-8DB64F54CBD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Bij P = € 4 per reservering">
            <a:extLst xmlns:a="http://schemas.openxmlformats.org/drawingml/2006/main">
              <a:ext uri="{FF2B5EF4-FFF2-40B4-BE49-F238E27FC236}">
                <a16:creationId xmlns:a16="http://schemas.microsoft.com/office/drawing/2014/main" id="{A4164805-D6C4-4939-8C97-A3C8134929A9}"/>
              </a:ext>
            </a:extLst>
          </p:cNvPr>
          <p:cNvSpPr>
            <a:spLocks xmlns:a="http://schemas.openxmlformats.org/drawingml/2006/main" noGrp="1"/>
          </p:cNvSpPr>
          <p:nvPr/>
        </p:nvSpPr>
        <p:spPr>
          <a:xfrm xmlns:a="http://schemas.openxmlformats.org/drawingml/2006/main">
            <a:off x="571500" y="20097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Bij P = € 4 per reservering</a:t>
            </a:r>
          </a:p>
        </p:txBody>
      </p:sp>
      <p:sp>
        <p:nvSpPr>
          <p:cNvPr id="6" name="Groep A">
            <a:extLst xmlns:a="http://schemas.openxmlformats.org/drawingml/2006/main">
              <a:ext uri="{FF2B5EF4-FFF2-40B4-BE49-F238E27FC236}">
                <a16:creationId xmlns:a16="http://schemas.microsoft.com/office/drawing/2014/main" id="{7E7CB37A-2EEA-4BFF-934B-50534E5B3E46}"/>
              </a:ext>
            </a:extLst>
          </p:cNvPr>
          <p:cNvSpPr>
            <a:spLocks xmlns:a="http://schemas.openxmlformats.org/drawingml/2006/main" noGrp="1"/>
          </p:cNvSpPr>
          <p:nvPr/>
        </p:nvSpPr>
        <p:spPr>
          <a:xfrm xmlns:a="http://schemas.openxmlformats.org/drawingml/2006/main">
            <a:off x="571500" y="331470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Groep A</a:t>
            </a:r>
          </a:p>
        </p:txBody>
      </p:sp>
      <p:sp>
        <p:nvSpPr>
          <p:cNvPr id="7" name="QA = 18 − 3 × 4 = 6">
            <a:extLst xmlns:a="http://schemas.openxmlformats.org/drawingml/2006/main">
              <a:ext uri="{FF2B5EF4-FFF2-40B4-BE49-F238E27FC236}">
                <a16:creationId xmlns:a16="http://schemas.microsoft.com/office/drawing/2014/main" id="{D43F0621-1496-4725-8A7A-AA3B6A2857E3}"/>
              </a:ext>
            </a:extLst>
          </p:cNvPr>
          <p:cNvSpPr>
            <a:spLocks xmlns:a="http://schemas.openxmlformats.org/drawingml/2006/main" noGrp="1"/>
          </p:cNvSpPr>
          <p:nvPr/>
        </p:nvSpPr>
        <p:spPr>
          <a:xfrm xmlns:a="http://schemas.openxmlformats.org/drawingml/2006/main">
            <a:off x="4191000" y="33147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QA = 18 − 3 × 4 = 6</a:t>
            </a:r>
          </a:p>
        </p:txBody>
      </p:sp>
      <p:sp>
        <p:nvSpPr>
          <p:cNvPr id="8" name="Groep B">
            <a:extLst xmlns:a="http://schemas.openxmlformats.org/drawingml/2006/main">
              <a:ext uri="{FF2B5EF4-FFF2-40B4-BE49-F238E27FC236}">
                <a16:creationId xmlns:a16="http://schemas.microsoft.com/office/drawing/2014/main" id="{F022A7F2-DD2A-4020-B74D-ED474A32A45C}"/>
              </a:ext>
            </a:extLst>
          </p:cNvPr>
          <p:cNvSpPr>
            <a:spLocks xmlns:a="http://schemas.openxmlformats.org/drawingml/2006/main" noGrp="1"/>
          </p:cNvSpPr>
          <p:nvPr/>
        </p:nvSpPr>
        <p:spPr>
          <a:xfrm xmlns:a="http://schemas.openxmlformats.org/drawingml/2006/main">
            <a:off x="571500" y="464820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Groep B</a:t>
            </a:r>
          </a:p>
        </p:txBody>
      </p:sp>
      <p:sp>
        <p:nvSpPr>
          <p:cNvPr id="9" name="QB = 24 − 2 × 4 = 16">
            <a:extLst xmlns:a="http://schemas.openxmlformats.org/drawingml/2006/main">
              <a:ext uri="{FF2B5EF4-FFF2-40B4-BE49-F238E27FC236}">
                <a16:creationId xmlns:a16="http://schemas.microsoft.com/office/drawing/2014/main" id="{0ED01128-E971-4ACC-B749-2679AA22A3A6}"/>
              </a:ext>
            </a:extLst>
          </p:cNvPr>
          <p:cNvSpPr>
            <a:spLocks xmlns:a="http://schemas.openxmlformats.org/drawingml/2006/main" noGrp="1"/>
          </p:cNvSpPr>
          <p:nvPr/>
        </p:nvSpPr>
        <p:spPr>
          <a:xfrm xmlns:a="http://schemas.openxmlformats.org/drawingml/2006/main">
            <a:off x="4191000" y="46482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QB = 24 − 2 × 4 = 16</a:t>
            </a:r>
          </a:p>
        </p:txBody>
      </p:sp>
      <p:sp>
        <p:nvSpPr>
          <p:cNvPr id="10" name="Samen">
            <a:extLst xmlns:a="http://schemas.openxmlformats.org/drawingml/2006/main">
              <a:ext uri="{FF2B5EF4-FFF2-40B4-BE49-F238E27FC236}">
                <a16:creationId xmlns:a16="http://schemas.microsoft.com/office/drawing/2014/main" id="{787F9270-E209-4B43-AC00-01F2000ABCE9}"/>
              </a:ext>
            </a:extLst>
          </p:cNvPr>
          <p:cNvSpPr>
            <a:spLocks xmlns:a="http://schemas.openxmlformats.org/drawingml/2006/main" noGrp="1"/>
          </p:cNvSpPr>
          <p:nvPr/>
        </p:nvSpPr>
        <p:spPr>
          <a:xfrm xmlns:a="http://schemas.openxmlformats.org/drawingml/2006/main">
            <a:off x="571500" y="598170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Samen</a:t>
            </a:r>
          </a:p>
        </p:txBody>
      </p:sp>
      <p:sp>
        <p:nvSpPr>
          <p:cNvPr id="11" name="Q = 6 + 16 = 22">
            <a:extLst xmlns:a="http://schemas.openxmlformats.org/drawingml/2006/main">
              <a:ext uri="{FF2B5EF4-FFF2-40B4-BE49-F238E27FC236}">
                <a16:creationId xmlns:a16="http://schemas.microsoft.com/office/drawing/2014/main" id="{74E5A9C2-FCB7-4A28-93D6-754D2222B21D}"/>
              </a:ext>
            </a:extLst>
          </p:cNvPr>
          <p:cNvSpPr>
            <a:spLocks xmlns:a="http://schemas.openxmlformats.org/drawingml/2006/main" noGrp="1"/>
          </p:cNvSpPr>
          <p:nvPr/>
        </p:nvSpPr>
        <p:spPr>
          <a:xfrm xmlns:a="http://schemas.openxmlformats.org/drawingml/2006/main">
            <a:off x="4191000" y="59817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Q = 6 + 16 = 22</a:t>
            </a:r>
          </a:p>
        </p:txBody>
      </p:sp>
      <p:sp>
        <p:nvSpPr>
          <p:cNvPr id="12" name="22 reserveringen per week bij € 4 per reservering">
            <a:extLst xmlns:a="http://schemas.openxmlformats.org/drawingml/2006/main">
              <a:ext uri="{FF2B5EF4-FFF2-40B4-BE49-F238E27FC236}">
                <a16:creationId xmlns:a16="http://schemas.microsoft.com/office/drawing/2014/main" id="{EDD9E47D-2ADA-4BDB-9145-F98E9C687E8F}"/>
              </a:ext>
            </a:extLst>
          </p:cNvPr>
          <p:cNvSpPr>
            <a:spLocks xmlns:a="http://schemas.openxmlformats.org/drawingml/2006/main" noGrp="1"/>
          </p:cNvSpPr>
          <p:nvPr/>
        </p:nvSpPr>
        <p:spPr>
          <a:xfrm xmlns:a="http://schemas.openxmlformats.org/drawingml/2006/main">
            <a:off x="571500" y="736282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22 reserveringen per week bij € 4 per reservering</a:t>
            </a:r>
          </a:p>
        </p:txBody>
      </p:sp>
    </p:spTree>
    <p:extLst>
      <p:ext uri="{BB962C8B-B14F-4D97-AF65-F5344CB8AC3E}">
        <p14:creationId xmlns:p14="http://schemas.microsoft.com/office/powerpoint/2010/main" val="162469077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0a · De volledige tabel">
            <a:extLst xmlns:a="http://schemas.openxmlformats.org/drawingml/2006/main">
              <a:ext uri="{FF2B5EF4-FFF2-40B4-BE49-F238E27FC236}">
                <a16:creationId xmlns:a16="http://schemas.microsoft.com/office/drawing/2014/main" id="{FD8BDD7A-2F72-412B-AB1D-F0B833BA9D8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30a · De volledige tabel</a:t>
            </a:r>
          </a:p>
        </p:txBody>
      </p:sp>
      <p:sp>
        <p:nvSpPr>
          <p:cNvPr id="2" name="">
            <a:extLst xmlns:a="http://schemas.openxmlformats.org/drawingml/2006/main">
              <a:ext uri="{FF2B5EF4-FFF2-40B4-BE49-F238E27FC236}">
                <a16:creationId xmlns:a16="http://schemas.microsoft.com/office/drawing/2014/main" id="{B488160B-265C-40D3-B259-93CBD492C7E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 Opgave 30 · Boekpagina 76">
            <a:extLst xmlns:a="http://schemas.openxmlformats.org/drawingml/2006/main">
              <a:ext uri="{FF2B5EF4-FFF2-40B4-BE49-F238E27FC236}">
                <a16:creationId xmlns:a16="http://schemas.microsoft.com/office/drawing/2014/main" id="{B7551EA6-7109-4FE3-846D-82435826075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 Opgave 30 · Boekpagina 76</a:t>
            </a:r>
          </a:p>
        </p:txBody>
      </p:sp>
      <p:sp>
        <p:nvSpPr>
          <p:cNvPr id="4" name="slide-number">
            <a:extLst xmlns:a="http://schemas.openxmlformats.org/drawingml/2006/main">
              <a:ext uri="{FF2B5EF4-FFF2-40B4-BE49-F238E27FC236}">
                <a16:creationId xmlns:a16="http://schemas.microsoft.com/office/drawing/2014/main" id="{57299D47-E50D-496D-925F-267DAEDE468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graphicFrame>
        <p:nvGraphicFramePr>
          <p:cNvPr id="12" name=""/>
          <p:cNvGraphicFramePr/>
          <p:nvPr/>
        </p:nvGraphicFramePr>
        <p:xfrm>
          <a:off xmlns:a="http://schemas.openxmlformats.org/drawingml/2006/main" x="571500" y="2295525"/>
          <a:ext xmlns:a="http://schemas.openxmlformats.org/drawingml/2006/main" cx="14097000" cy="3790950"/>
        </p:xfrm>
        <a:graphic xmlns:a="http://schemas.openxmlformats.org/drawingml/2006/main">
          <a:graphicData uri="http://schemas.openxmlformats.org/drawingml/2006/table">
            <a:tbl>
              <a:tblPr/>
              <a:tblGrid>
                <a:gridCol w="5810250"/>
                <a:gridCol w="2762250"/>
                <a:gridCol w="2762250"/>
                <a:gridCol w="2762250"/>
              </a:tblGrid>
              <a:tr h="758190">
                <a:tc>
                  <a:txBody>
                    <a:bodyPr lIns="171450" tIns="95250" rIns="152400" bIns="95250"/>
                    <a:lstStyle/>
                    <a:p>
                      <a:r>
                        <a:rPr sz="2850" b="1">
                          <a:solidFill>
                            <a:srgbClr val="FFFFFF"/>
                          </a:solidFill>
                          <a:latin typeface="Arial"/>
                          <a:ea typeface="Arial"/>
                          <a:cs typeface="Arial"/>
                        </a:rPr>
                        <a:t>P (€ per reservering)</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QA</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QB</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Q samen</a:t>
                      </a:r>
                    </a:p>
                  </a:txBody>
                  <a:tcPr marL="91440" marR="91440" marT="45720" marB="45720" anchor="ctr">
                    <a:solidFill>
                      <a:srgbClr val="183247"/>
                    </a:solidFill>
                  </a:tcPr>
                </a:tc>
              </a:tr>
              <a:tr h="758190">
                <a:tc>
                  <a:txBody>
                    <a:bodyPr lIns="171450" tIns="95250" rIns="152400" bIns="95250"/>
                    <a:lstStyle/>
                    <a:p>
                      <a:r>
                        <a:rPr sz="2850" b="0">
                          <a:solidFill>
                            <a:srgbClr val="183247"/>
                          </a:solidFill>
                          <a:latin typeface="Arial"/>
                          <a:ea typeface="Arial"/>
                          <a:cs typeface="Arial"/>
                        </a:rPr>
                        <a:t>0</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18</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24</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42</a:t>
                      </a:r>
                    </a:p>
                  </a:txBody>
                  <a:tcPr marL="91440" marR="91440" marT="45720" marB="45720" anchor="ctr">
                    <a:solidFill>
                      <a:srgbClr val="FFFFFF"/>
                    </a:solidFill>
                  </a:tcPr>
                </a:tc>
              </a:tr>
              <a:tr h="758190">
                <a:tc>
                  <a:txBody>
                    <a:bodyPr lIns="171450" tIns="95250" rIns="152400" bIns="95250"/>
                    <a:lstStyle/>
                    <a:p>
                      <a:r>
                        <a:rPr sz="2850" b="0">
                          <a:solidFill>
                            <a:srgbClr val="183247"/>
                          </a:solidFill>
                          <a:latin typeface="Arial"/>
                          <a:ea typeface="Arial"/>
                          <a:cs typeface="Arial"/>
                        </a:rPr>
                        <a:t>2</a:t>
                      </a:r>
                    </a:p>
                  </a:txBody>
                  <a:tcPr marL="91440" marR="91440" marT="45720" marB="45720" anchor="ctr">
                    <a:solidFill>
                      <a:srgbClr val="EFF4F7"/>
                    </a:solidFill>
                  </a:tcPr>
                </a:tc>
                <a:tc>
                  <a:txBody>
                    <a:bodyPr lIns="171450" tIns="95250" rIns="152400" bIns="95250"/>
                    <a:lstStyle/>
                    <a:p>
                      <a:r>
                        <a:rPr sz="2850" b="0">
                          <a:solidFill>
                            <a:srgbClr val="183247"/>
                          </a:solidFill>
                          <a:latin typeface="Arial"/>
                          <a:ea typeface="Arial"/>
                          <a:cs typeface="Arial"/>
                        </a:rPr>
                        <a:t>12</a:t>
                      </a:r>
                    </a:p>
                  </a:txBody>
                  <a:tcPr marL="91440" marR="91440" marT="45720" marB="45720" anchor="ctr">
                    <a:solidFill>
                      <a:srgbClr val="EFF4F7"/>
                    </a:solidFill>
                  </a:tcPr>
                </a:tc>
                <a:tc>
                  <a:txBody>
                    <a:bodyPr lIns="171450" tIns="95250" rIns="152400" bIns="95250"/>
                    <a:lstStyle/>
                    <a:p>
                      <a:r>
                        <a:rPr sz="2850" b="0">
                          <a:solidFill>
                            <a:srgbClr val="183247"/>
                          </a:solidFill>
                          <a:latin typeface="Arial"/>
                          <a:ea typeface="Arial"/>
                          <a:cs typeface="Arial"/>
                        </a:rPr>
                        <a:t>20</a:t>
                      </a:r>
                    </a:p>
                  </a:txBody>
                  <a:tcPr marL="91440" marR="91440" marT="45720" marB="45720" anchor="ctr">
                    <a:solidFill>
                      <a:srgbClr val="EFF4F7"/>
                    </a:solidFill>
                  </a:tcPr>
                </a:tc>
                <a:tc>
                  <a:txBody>
                    <a:bodyPr lIns="171450" tIns="95250" rIns="152400" bIns="95250"/>
                    <a:lstStyle/>
                    <a:p>
                      <a:r>
                        <a:rPr sz="2850" b="0">
                          <a:solidFill>
                            <a:srgbClr val="183247"/>
                          </a:solidFill>
                          <a:latin typeface="Arial"/>
                          <a:ea typeface="Arial"/>
                          <a:cs typeface="Arial"/>
                        </a:rPr>
                        <a:t>32</a:t>
                      </a:r>
                    </a:p>
                  </a:txBody>
                  <a:tcPr marL="91440" marR="91440" marT="45720" marB="45720" anchor="ctr">
                    <a:solidFill>
                      <a:srgbClr val="EFF4F7"/>
                    </a:solidFill>
                  </a:tcPr>
                </a:tc>
              </a:tr>
              <a:tr h="758190">
                <a:tc>
                  <a:txBody>
                    <a:bodyPr lIns="171450" tIns="95250" rIns="152400" bIns="95250"/>
                    <a:lstStyle/>
                    <a:p>
                      <a:r>
                        <a:rPr sz="2850" b="0">
                          <a:solidFill>
                            <a:srgbClr val="183247"/>
                          </a:solidFill>
                          <a:latin typeface="Arial"/>
                          <a:ea typeface="Arial"/>
                          <a:cs typeface="Arial"/>
                        </a:rPr>
                        <a:t>4</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6</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16</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22</a:t>
                      </a:r>
                    </a:p>
                  </a:txBody>
                  <a:tcPr marL="91440" marR="91440" marT="45720" marB="45720" anchor="ctr">
                    <a:solidFill>
                      <a:srgbClr val="FFFFFF"/>
                    </a:solidFill>
                  </a:tcPr>
                </a:tc>
              </a:tr>
              <a:tr h="758190">
                <a:tc>
                  <a:txBody>
                    <a:bodyPr lIns="171450" tIns="95250" rIns="152400" bIns="95250"/>
                    <a:lstStyle/>
                    <a:p>
                      <a:r>
                        <a:rPr sz="2850" b="0">
                          <a:solidFill>
                            <a:srgbClr val="183247"/>
                          </a:solidFill>
                          <a:latin typeface="Arial"/>
                          <a:ea typeface="Arial"/>
                          <a:cs typeface="Arial"/>
                        </a:rPr>
                        <a:t>6</a:t>
                      </a:r>
                    </a:p>
                  </a:txBody>
                  <a:tcPr marL="91440" marR="91440" marT="45720" marB="45720" anchor="ctr">
                    <a:solidFill>
                      <a:srgbClr val="EFF4F7"/>
                    </a:solidFill>
                  </a:tcPr>
                </a:tc>
                <a:tc>
                  <a:txBody>
                    <a:bodyPr lIns="171450" tIns="95250" rIns="152400" bIns="95250"/>
                    <a:lstStyle/>
                    <a:p>
                      <a:r>
                        <a:rPr sz="2850" b="0">
                          <a:solidFill>
                            <a:srgbClr val="183247"/>
                          </a:solidFill>
                          <a:latin typeface="Arial"/>
                          <a:ea typeface="Arial"/>
                          <a:cs typeface="Arial"/>
                        </a:rPr>
                        <a:t>0</a:t>
                      </a:r>
                    </a:p>
                  </a:txBody>
                  <a:tcPr marL="91440" marR="91440" marT="45720" marB="45720" anchor="ctr">
                    <a:solidFill>
                      <a:srgbClr val="EFF4F7"/>
                    </a:solidFill>
                  </a:tcPr>
                </a:tc>
                <a:tc>
                  <a:txBody>
                    <a:bodyPr lIns="171450" tIns="95250" rIns="152400" bIns="95250"/>
                    <a:lstStyle/>
                    <a:p>
                      <a:r>
                        <a:rPr sz="2850" b="0">
                          <a:solidFill>
                            <a:srgbClr val="183247"/>
                          </a:solidFill>
                          <a:latin typeface="Arial"/>
                          <a:ea typeface="Arial"/>
                          <a:cs typeface="Arial"/>
                        </a:rPr>
                        <a:t>12</a:t>
                      </a:r>
                    </a:p>
                  </a:txBody>
                  <a:tcPr marL="91440" marR="91440" marT="45720" marB="45720" anchor="ctr">
                    <a:solidFill>
                      <a:srgbClr val="EFF4F7"/>
                    </a:solidFill>
                  </a:tcPr>
                </a:tc>
                <a:tc>
                  <a:txBody>
                    <a:bodyPr lIns="171450" tIns="95250" rIns="152400" bIns="95250"/>
                    <a:lstStyle/>
                    <a:p>
                      <a:r>
                        <a:rPr sz="2850" b="0">
                          <a:solidFill>
                            <a:srgbClr val="183247"/>
                          </a:solidFill>
                          <a:latin typeface="Arial"/>
                          <a:ea typeface="Arial"/>
                          <a:cs typeface="Arial"/>
                        </a:rPr>
                        <a:t>12</a:t>
                      </a:r>
                    </a:p>
                  </a:txBody>
                  <a:tcPr marL="91440" marR="91440" marT="45720" marB="45720" anchor="ctr">
                    <a:solidFill>
                      <a:srgbClr val="EFF4F7"/>
                    </a:solidFill>
                  </a:tcPr>
                </a:tc>
              </a:tr>
            </a:tbl>
          </a:graphicData>
        </a:graphic>
      </p:graphicFrame>
      <p:sp>
        <p:nvSpPr>
          <p:cNvPr id="6" name="Bij € 6 draagt A precies nul bij.">
            <a:extLst xmlns:a="http://schemas.openxmlformats.org/drawingml/2006/main">
              <a:ext uri="{FF2B5EF4-FFF2-40B4-BE49-F238E27FC236}">
                <a16:creationId xmlns:a16="http://schemas.microsoft.com/office/drawing/2014/main" id="{E7F1852A-4F79-4094-88FF-600CBFA43124}"/>
              </a:ext>
            </a:extLst>
          </p:cNvPr>
          <p:cNvSpPr>
            <a:spLocks xmlns:a="http://schemas.openxmlformats.org/drawingml/2006/main" noGrp="1"/>
          </p:cNvSpPr>
          <p:nvPr/>
        </p:nvSpPr>
        <p:spPr>
          <a:xfrm xmlns:a="http://schemas.openxmlformats.org/drawingml/2006/main">
            <a:off x="571500" y="6677025"/>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Bij € 6 draagt A precies nul bij.</a:t>
            </a:r>
          </a:p>
        </p:txBody>
      </p:sp>
      <p:sp>
        <p:nvSpPr>
          <p:cNvPr id="7" name="Alle hoeveelheden: reserveringen per week">
            <a:extLst xmlns:a="http://schemas.openxmlformats.org/drawingml/2006/main">
              <a:ext uri="{FF2B5EF4-FFF2-40B4-BE49-F238E27FC236}">
                <a16:creationId xmlns:a16="http://schemas.microsoft.com/office/drawing/2014/main" id="{211CFB4D-589E-4BFC-A844-5036DBFB7D90}"/>
              </a:ext>
            </a:extLst>
          </p:cNvPr>
          <p:cNvSpPr>
            <a:spLocks xmlns:a="http://schemas.openxmlformats.org/drawingml/2006/main" noGrp="1"/>
          </p:cNvSpPr>
          <p:nvPr/>
        </p:nvSpPr>
        <p:spPr>
          <a:xfrm xmlns:a="http://schemas.openxmlformats.org/drawingml/2006/main">
            <a:off x="571500" y="7467600"/>
            <a:ext cx="1409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Alle hoeveelheden: reserveringen per week</a:t>
            </a:r>
          </a:p>
        </p:txBody>
      </p:sp>
    </p:spTree>
    <p:extLst>
      <p:ext uri="{BB962C8B-B14F-4D97-AF65-F5344CB8AC3E}">
        <p14:creationId xmlns:p14="http://schemas.microsoft.com/office/powerpoint/2010/main" val="16455379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30b · Somfunctie en controle">
            <a:extLst xmlns:a="http://schemas.openxmlformats.org/drawingml/2006/main">
              <a:ext uri="{FF2B5EF4-FFF2-40B4-BE49-F238E27FC236}">
                <a16:creationId xmlns:a16="http://schemas.microsoft.com/office/drawing/2014/main" id="{24AD1C18-7B36-4D40-8324-3E6ECADABB6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30b · Somfunctie en controle</a:t>
            </a:r>
          </a:p>
        </p:txBody>
      </p:sp>
      <p:sp>
        <p:nvSpPr>
          <p:cNvPr id="2" name="">
            <a:extLst xmlns:a="http://schemas.openxmlformats.org/drawingml/2006/main">
              <a:ext uri="{FF2B5EF4-FFF2-40B4-BE49-F238E27FC236}">
                <a16:creationId xmlns:a16="http://schemas.microsoft.com/office/drawing/2014/main" id="{0B1BBE58-31C3-49A5-B024-2A042ADDA31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 Opgave 30 · Boekpagina 76">
            <a:extLst xmlns:a="http://schemas.openxmlformats.org/drawingml/2006/main">
              <a:ext uri="{FF2B5EF4-FFF2-40B4-BE49-F238E27FC236}">
                <a16:creationId xmlns:a16="http://schemas.microsoft.com/office/drawing/2014/main" id="{8C0400BA-BF42-4CEF-B36A-02B45E7BA34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 Opgave 30 · Boekpagina 76</a:t>
            </a:r>
          </a:p>
        </p:txBody>
      </p:sp>
      <p:sp>
        <p:nvSpPr>
          <p:cNvPr id="4" name="slide-number">
            <a:extLst xmlns:a="http://schemas.openxmlformats.org/drawingml/2006/main">
              <a:ext uri="{FF2B5EF4-FFF2-40B4-BE49-F238E27FC236}">
                <a16:creationId xmlns:a16="http://schemas.microsoft.com/office/drawing/2014/main" id="{040499A6-90F7-4582-8758-B2805946D93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Q = (18 − 3P) + (24 − 2P)">
            <a:extLst xmlns:a="http://schemas.openxmlformats.org/drawingml/2006/main">
              <a:ext uri="{FF2B5EF4-FFF2-40B4-BE49-F238E27FC236}">
                <a16:creationId xmlns:a16="http://schemas.microsoft.com/office/drawing/2014/main" id="{1D9F5A8F-BFFE-4E4F-9FA7-926D97DAB103}"/>
              </a:ext>
            </a:extLst>
          </p:cNvPr>
          <p:cNvSpPr>
            <a:spLocks xmlns:a="http://schemas.openxmlformats.org/drawingml/2006/main" noGrp="1"/>
          </p:cNvSpPr>
          <p:nvPr/>
        </p:nvSpPr>
        <p:spPr>
          <a:xfrm xmlns:a="http://schemas.openxmlformats.org/drawingml/2006/main">
            <a:off x="571500" y="205740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0">
                <a:solidFill>
                  <a:srgbClr val="183247"/>
                </a:solidFill>
                <a:latin typeface="Arial"/>
                <a:ea typeface="Arial"/>
                <a:cs typeface="Arial"/>
              </a:defRPr>
            </a:pPr>
            <a:r>
              <a:rPr sz="3675" b="0">
                <a:solidFill>
                  <a:srgbClr val="183247"/>
                </a:solidFill>
                <a:latin typeface="Arial"/>
                <a:ea typeface="Arial"/>
                <a:cs typeface="Arial"/>
              </a:rPr>
              <a:t>Q = (18 − 3P) + (24 − 2P)</a:t>
            </a:r>
          </a:p>
        </p:txBody>
      </p:sp>
      <p:sp>
        <p:nvSpPr>
          <p:cNvPr id="6" name="Q = 42 − 5P">
            <a:extLst xmlns:a="http://schemas.openxmlformats.org/drawingml/2006/main">
              <a:ext uri="{FF2B5EF4-FFF2-40B4-BE49-F238E27FC236}">
                <a16:creationId xmlns:a16="http://schemas.microsoft.com/office/drawing/2014/main" id="{2E110A00-37B5-499F-9997-CE59D65821F2}"/>
              </a:ext>
            </a:extLst>
          </p:cNvPr>
          <p:cNvSpPr>
            <a:spLocks xmlns:a="http://schemas.openxmlformats.org/drawingml/2006/main" noGrp="1"/>
          </p:cNvSpPr>
          <p:nvPr/>
        </p:nvSpPr>
        <p:spPr>
          <a:xfrm xmlns:a="http://schemas.openxmlformats.org/drawingml/2006/main">
            <a:off x="571500" y="32766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17658A"/>
                </a:solidFill>
                <a:latin typeface="Arial"/>
                <a:ea typeface="Arial"/>
                <a:cs typeface="Arial"/>
              </a:defRPr>
            </a:pPr>
            <a:r>
              <a:rPr sz="4125" b="1">
                <a:solidFill>
                  <a:srgbClr val="17658A"/>
                </a:solidFill>
                <a:latin typeface="Arial"/>
                <a:ea typeface="Arial"/>
                <a:cs typeface="Arial"/>
              </a:rPr>
              <a:t>Q = 42 − 5P</a:t>
            </a:r>
          </a:p>
        </p:txBody>
      </p:sp>
      <p:sp>
        <p:nvSpPr>
          <p:cNvPr id="7" name="Geldig voor 0 ≤ P ≤ 6">
            <a:extLst xmlns:a="http://schemas.openxmlformats.org/drawingml/2006/main">
              <a:ext uri="{FF2B5EF4-FFF2-40B4-BE49-F238E27FC236}">
                <a16:creationId xmlns:a16="http://schemas.microsoft.com/office/drawing/2014/main" id="{CD6F02AF-A70F-4211-AF46-D169BE9B89E3}"/>
              </a:ext>
            </a:extLst>
          </p:cNvPr>
          <p:cNvSpPr>
            <a:spLocks xmlns:a="http://schemas.openxmlformats.org/drawingml/2006/main" noGrp="1"/>
          </p:cNvSpPr>
          <p:nvPr/>
        </p:nvSpPr>
        <p:spPr>
          <a:xfrm xmlns:a="http://schemas.openxmlformats.org/drawingml/2006/main">
            <a:off x="571500" y="43719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Geldig voor 0 ≤ P ≤ 6</a:t>
            </a:r>
          </a:p>
        </p:txBody>
      </p:sp>
      <p:sp>
        <p:nvSpPr>
          <p:cNvPr id="8" name="">
            <a:extLst xmlns:a="http://schemas.openxmlformats.org/drawingml/2006/main">
              <a:ext uri="{FF2B5EF4-FFF2-40B4-BE49-F238E27FC236}">
                <a16:creationId xmlns:a16="http://schemas.microsoft.com/office/drawing/2014/main" id="{B100F0EC-D717-45F8-B412-923CDFDB6CEE}"/>
              </a:ext>
            </a:extLst>
          </p:cNvPr>
          <p:cNvSpPr>
            <a:spLocks xmlns:a="http://schemas.openxmlformats.org/drawingml/2006/main" noGrp="1"/>
          </p:cNvSpPr>
          <p:nvPr/>
        </p:nvSpPr>
        <p:spPr>
          <a:xfrm xmlns:a="http://schemas.openxmlformats.org/drawingml/2006/main">
            <a:off x="571500" y="5334000"/>
            <a:ext cx="14097000" cy="0"/>
          </a:xfrm>
          <a:prstGeom xmlns:a="http://schemas.openxmlformats.org/drawingml/2006/main" prst="line">
            <a:avLst/>
          </a:prstGeom>
          <a:ln xmlns:a="http://schemas.openxmlformats.org/drawingml/2006/main" w="19050">
            <a:solidFill>
              <a:srgbClr val="C6D2DB"/>
            </a:solidFill>
          </a:ln>
        </p:spPr>
      </p:sp>
      <p:sp>
        <p:nvSpPr>
          <p:cNvPr id="9" name="Controle bij € 4">
            <a:extLst xmlns:a="http://schemas.openxmlformats.org/drawingml/2006/main">
              <a:ext uri="{FF2B5EF4-FFF2-40B4-BE49-F238E27FC236}">
                <a16:creationId xmlns:a16="http://schemas.microsoft.com/office/drawing/2014/main" id="{6701B1C1-368A-4DD7-8353-485B18A9FDB4}"/>
              </a:ext>
            </a:extLst>
          </p:cNvPr>
          <p:cNvSpPr>
            <a:spLocks xmlns:a="http://schemas.openxmlformats.org/drawingml/2006/main" noGrp="1"/>
          </p:cNvSpPr>
          <p:nvPr/>
        </p:nvSpPr>
        <p:spPr>
          <a:xfrm xmlns:a="http://schemas.openxmlformats.org/drawingml/2006/main">
            <a:off x="571500" y="578167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Controle bij € 4</a:t>
            </a:r>
          </a:p>
        </p:txBody>
      </p:sp>
      <p:sp>
        <p:nvSpPr>
          <p:cNvPr id="10" name="Q = 42 − 5 × 4 = 22 reserveringen per week">
            <a:extLst xmlns:a="http://schemas.openxmlformats.org/drawingml/2006/main">
              <a:ext uri="{FF2B5EF4-FFF2-40B4-BE49-F238E27FC236}">
                <a16:creationId xmlns:a16="http://schemas.microsoft.com/office/drawing/2014/main" id="{7B4C7A55-22FF-48A3-9CFF-8466220BBF74}"/>
              </a:ext>
            </a:extLst>
          </p:cNvPr>
          <p:cNvSpPr>
            <a:spLocks xmlns:a="http://schemas.openxmlformats.org/drawingml/2006/main" noGrp="1"/>
          </p:cNvSpPr>
          <p:nvPr/>
        </p:nvSpPr>
        <p:spPr>
          <a:xfrm xmlns:a="http://schemas.openxmlformats.org/drawingml/2006/main">
            <a:off x="571500" y="6791325"/>
            <a:ext cx="1409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Q = 42 − 5 × 4 = 22 reserveringen per week</a:t>
            </a:r>
          </a:p>
        </p:txBody>
      </p:sp>
    </p:spTree>
    <p:extLst>
      <p:ext uri="{BB962C8B-B14F-4D97-AF65-F5344CB8AC3E}">
        <p14:creationId xmlns:p14="http://schemas.microsoft.com/office/powerpoint/2010/main" val="4060602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0c · De punten voor de grafiek">
            <a:extLst xmlns:a="http://schemas.openxmlformats.org/drawingml/2006/main">
              <a:ext uri="{FF2B5EF4-FFF2-40B4-BE49-F238E27FC236}">
                <a16:creationId xmlns:a16="http://schemas.microsoft.com/office/drawing/2014/main" id="{FB2EE275-1394-4CCE-9ADB-62FF9450FDE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30c · De punten voor de grafiek</a:t>
            </a:r>
          </a:p>
        </p:txBody>
      </p:sp>
      <p:sp>
        <p:nvSpPr>
          <p:cNvPr id="2" name="">
            <a:extLst xmlns:a="http://schemas.openxmlformats.org/drawingml/2006/main">
              <a:ext uri="{FF2B5EF4-FFF2-40B4-BE49-F238E27FC236}">
                <a16:creationId xmlns:a16="http://schemas.microsoft.com/office/drawing/2014/main" id="{6DA99BA5-28DA-430A-A6A5-E42FE2923CE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 Opgave 30 · Boekpagina 76">
            <a:extLst xmlns:a="http://schemas.openxmlformats.org/drawingml/2006/main">
              <a:ext uri="{FF2B5EF4-FFF2-40B4-BE49-F238E27FC236}">
                <a16:creationId xmlns:a16="http://schemas.microsoft.com/office/drawing/2014/main" id="{D774367B-CD99-40A9-ACFE-7728FC388DF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 Opgave 30 · Boekpagina 76</a:t>
            </a:r>
          </a:p>
        </p:txBody>
      </p:sp>
      <p:sp>
        <p:nvSpPr>
          <p:cNvPr id="4" name="slide-number">
            <a:extLst xmlns:a="http://schemas.openxmlformats.org/drawingml/2006/main">
              <a:ext uri="{FF2B5EF4-FFF2-40B4-BE49-F238E27FC236}">
                <a16:creationId xmlns:a16="http://schemas.microsoft.com/office/drawing/2014/main" id="{C8D56717-24BD-41DB-94FB-D03F0DF6D42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2" name=""/>
          <p:cNvGraphicFramePr/>
          <p:nvPr/>
        </p:nvGraphicFramePr>
        <p:xfrm>
          <a:off xmlns:a="http://schemas.openxmlformats.org/drawingml/2006/main" x="571500" y="2238375"/>
          <a:ext xmlns:a="http://schemas.openxmlformats.org/drawingml/2006/main" cx="14097000" cy="3371850"/>
        </p:xfrm>
        <a:graphic xmlns:a="http://schemas.openxmlformats.org/drawingml/2006/main">
          <a:graphicData uri="http://schemas.openxmlformats.org/drawingml/2006/table">
            <a:tbl>
              <a:tblPr/>
              <a:tblGrid>
                <a:gridCol w="2190750"/>
                <a:gridCol w="7477125"/>
                <a:gridCol w="4429125"/>
              </a:tblGrid>
              <a:tr h="842963">
                <a:tc>
                  <a:txBody>
                    <a:bodyPr lIns="171450" tIns="95250" rIns="152400" bIns="95250"/>
                    <a:lstStyle/>
                    <a:p>
                      <a:r>
                        <a:rPr sz="2775" b="1">
                          <a:solidFill>
                            <a:srgbClr val="FFFFFF"/>
                          </a:solidFill>
                          <a:latin typeface="Arial"/>
                          <a:ea typeface="Arial"/>
                          <a:cs typeface="Arial"/>
                        </a:rPr>
                        <a:t>P</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Q = 42 − 5P</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Punt (Q; P)</a:t>
                      </a:r>
                    </a:p>
                  </a:txBody>
                  <a:tcPr marL="91440" marR="91440" marT="45720" marB="45720" anchor="ctr">
                    <a:solidFill>
                      <a:srgbClr val="183247"/>
                    </a:solidFill>
                  </a:tcPr>
                </a:tc>
              </a:tr>
              <a:tr h="842963">
                <a:tc>
                  <a:txBody>
                    <a:bodyPr lIns="171450" tIns="95250" rIns="152400" bIns="95250"/>
                    <a:lstStyle/>
                    <a:p>
                      <a:r>
                        <a:rPr sz="2775" b="0">
                          <a:solidFill>
                            <a:srgbClr val="183247"/>
                          </a:solidFill>
                          <a:latin typeface="Arial"/>
                          <a:ea typeface="Arial"/>
                          <a:cs typeface="Arial"/>
                        </a:rPr>
                        <a:t>0</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42 − 5 × 0 = 42</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(42; 0)</a:t>
                      </a:r>
                    </a:p>
                  </a:txBody>
                  <a:tcPr marL="91440" marR="91440" marT="45720" marB="45720" anchor="ctr">
                    <a:solidFill>
                      <a:srgbClr val="FFFFFF"/>
                    </a:solidFill>
                  </a:tcPr>
                </a:tc>
              </a:tr>
              <a:tr h="842963">
                <a:tc>
                  <a:txBody>
                    <a:bodyPr lIns="171450" tIns="95250" rIns="152400" bIns="95250"/>
                    <a:lstStyle/>
                    <a:p>
                      <a:r>
                        <a:rPr sz="2775" b="0">
                          <a:solidFill>
                            <a:srgbClr val="183247"/>
                          </a:solidFill>
                          <a:latin typeface="Arial"/>
                          <a:ea typeface="Arial"/>
                          <a:cs typeface="Arial"/>
                        </a:rPr>
                        <a:t>6</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42 − 5 × 6 = 12</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(12; 6)</a:t>
                      </a:r>
                    </a:p>
                  </a:txBody>
                  <a:tcPr marL="91440" marR="91440" marT="45720" marB="45720" anchor="ctr">
                    <a:solidFill>
                      <a:srgbClr val="EFF4F7"/>
                    </a:solidFill>
                  </a:tcPr>
                </a:tc>
              </a:tr>
              <a:tr h="842963">
                <a:tc>
                  <a:txBody>
                    <a:bodyPr lIns="171450" tIns="95250" rIns="152400" bIns="95250"/>
                    <a:lstStyle/>
                    <a:p>
                      <a:r>
                        <a:rPr sz="2775" b="0">
                          <a:solidFill>
                            <a:srgbClr val="183247"/>
                          </a:solidFill>
                          <a:latin typeface="Arial"/>
                          <a:ea typeface="Arial"/>
                          <a:cs typeface="Arial"/>
                        </a:rPr>
                        <a:t>4</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42 − 5 × 4 = 22</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(22; 4)</a:t>
                      </a:r>
                    </a:p>
                  </a:txBody>
                  <a:tcPr marL="91440" marR="91440" marT="45720" marB="45720" anchor="ctr">
                    <a:solidFill>
                      <a:srgbClr val="FFFFFF"/>
                    </a:solidFill>
                  </a:tcPr>
                </a:tc>
              </a:tr>
            </a:tbl>
          </a:graphicData>
        </a:graphic>
      </p:graphicFrame>
      <p:sp>
        <p:nvSpPr>
          <p:cNvPr id="6" name="Eindpunten: (42; 0) en (12; 6)">
            <a:extLst xmlns:a="http://schemas.openxmlformats.org/drawingml/2006/main">
              <a:ext uri="{FF2B5EF4-FFF2-40B4-BE49-F238E27FC236}">
                <a16:creationId xmlns:a16="http://schemas.microsoft.com/office/drawing/2014/main" id="{E44A66A8-B8E7-4DE2-AF89-33E6E01D287C}"/>
              </a:ext>
            </a:extLst>
          </p:cNvPr>
          <p:cNvSpPr>
            <a:spLocks xmlns:a="http://schemas.openxmlformats.org/drawingml/2006/main" noGrp="1"/>
          </p:cNvSpPr>
          <p:nvPr/>
        </p:nvSpPr>
        <p:spPr>
          <a:xfrm xmlns:a="http://schemas.openxmlformats.org/drawingml/2006/main">
            <a:off x="571500" y="6238875"/>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Eindpunten: (42; 0) en (12; 6)</a:t>
            </a:r>
          </a:p>
        </p:txBody>
      </p:sp>
      <p:sp>
        <p:nvSpPr>
          <p:cNvPr id="7" name="Q horizontaal. P verticaal. Markeer ook (22; 4).">
            <a:extLst xmlns:a="http://schemas.openxmlformats.org/drawingml/2006/main">
              <a:ext uri="{FF2B5EF4-FFF2-40B4-BE49-F238E27FC236}">
                <a16:creationId xmlns:a16="http://schemas.microsoft.com/office/drawing/2014/main" id="{B7962FF3-0242-48F1-B01E-21E22BF90A0D}"/>
              </a:ext>
            </a:extLst>
          </p:cNvPr>
          <p:cNvSpPr>
            <a:spLocks xmlns:a="http://schemas.openxmlformats.org/drawingml/2006/main" noGrp="1"/>
          </p:cNvSpPr>
          <p:nvPr/>
        </p:nvSpPr>
        <p:spPr>
          <a:xfrm xmlns:a="http://schemas.openxmlformats.org/drawingml/2006/main">
            <a:off x="571500" y="724852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Q horizontaal. P verticaal. Markeer ook (22; 4).</a:t>
            </a:r>
          </a:p>
        </p:txBody>
      </p:sp>
    </p:spTree>
    <p:extLst>
      <p:ext uri="{BB962C8B-B14F-4D97-AF65-F5344CB8AC3E}">
        <p14:creationId xmlns:p14="http://schemas.microsoft.com/office/powerpoint/2010/main" val="79050892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0c · Alleen het gevraagde lijnstuk">
            <a:extLst xmlns:a="http://schemas.openxmlformats.org/drawingml/2006/main">
              <a:ext uri="{FF2B5EF4-FFF2-40B4-BE49-F238E27FC236}">
                <a16:creationId xmlns:a16="http://schemas.microsoft.com/office/drawing/2014/main" id="{F03F6055-4AEB-4863-A6B7-22E2392BE72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30c · Alleen het gevraagde lijnstuk</a:t>
            </a:r>
          </a:p>
        </p:txBody>
      </p:sp>
      <p:sp>
        <p:nvSpPr>
          <p:cNvPr id="2" name="">
            <a:extLst xmlns:a="http://schemas.openxmlformats.org/drawingml/2006/main">
              <a:ext uri="{FF2B5EF4-FFF2-40B4-BE49-F238E27FC236}">
                <a16:creationId xmlns:a16="http://schemas.microsoft.com/office/drawing/2014/main" id="{E5C350C9-68CB-482B-9950-FD9F18D2B16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 Opgave 30 · Boekpagina 76">
            <a:extLst xmlns:a="http://schemas.openxmlformats.org/drawingml/2006/main">
              <a:ext uri="{FF2B5EF4-FFF2-40B4-BE49-F238E27FC236}">
                <a16:creationId xmlns:a16="http://schemas.microsoft.com/office/drawing/2014/main" id="{060C0BCC-254D-42B7-B665-BAB6886D282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 Opgave 30 · Boekpagina 76</a:t>
            </a:r>
          </a:p>
        </p:txBody>
      </p:sp>
      <p:sp>
        <p:nvSpPr>
          <p:cNvPr id="4" name="slide-number">
            <a:extLst xmlns:a="http://schemas.openxmlformats.org/drawingml/2006/main">
              <a:ext uri="{FF2B5EF4-FFF2-40B4-BE49-F238E27FC236}">
                <a16:creationId xmlns:a16="http://schemas.microsoft.com/office/drawing/2014/main" id="{774726D9-68BD-4D39-AB42-2DA19F0164A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4" name="Chart"/>
          <p:cNvGraphicFramePr/>
          <p:nvPr/>
        </p:nvGraphicFramePr>
        <p:xfrm>
          <a:off xmlns:a="http://schemas.openxmlformats.org/drawingml/2006/main" x="571500" y="2219325"/>
          <a:ext xmlns:a="http://schemas.openxmlformats.org/drawingml/2006/main" cx="9906000" cy="5381625"/>
        </p:xfrm>
        <a:graphic xmlns:a="http://schemas.openxmlformats.org/drawingml/2006/main">
          <a:graphicData uri="http://schemas.openxmlformats.org/drawingml/2006/chart">
            <c:chart xmlns:r="http://schemas.openxmlformats.org/officeDocument/2006/relationships" xmlns:c="http://schemas.openxmlformats.org/drawingml/2006/chart" r:id="R0421be7ae321438a"/>
          </a:graphicData>
        </a:graphic>
      </p:graphicFrame>
      <p:sp>
        <p:nvSpPr>
          <p:cNvPr id="6" name="V samen">
            <a:extLst xmlns:a="http://schemas.openxmlformats.org/drawingml/2006/main">
              <a:ext uri="{FF2B5EF4-FFF2-40B4-BE49-F238E27FC236}">
                <a16:creationId xmlns:a16="http://schemas.microsoft.com/office/drawing/2014/main" id="{AB9670EA-57B9-4745-A2D3-C7E7911A691F}"/>
              </a:ext>
            </a:extLst>
          </p:cNvPr>
          <p:cNvSpPr>
            <a:spLocks xmlns:a="http://schemas.openxmlformats.org/drawingml/2006/main" noGrp="1"/>
          </p:cNvSpPr>
          <p:nvPr/>
        </p:nvSpPr>
        <p:spPr>
          <a:xfrm xmlns:a="http://schemas.openxmlformats.org/drawingml/2006/main">
            <a:off x="10858500" y="2495550"/>
            <a:ext cx="3810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V samen</a:t>
            </a:r>
          </a:p>
        </p:txBody>
      </p:sp>
      <p:sp>
        <p:nvSpPr>
          <p:cNvPr id="7" name="(42; 0)&#10;(12; 6)">
            <a:extLst xmlns:a="http://schemas.openxmlformats.org/drawingml/2006/main">
              <a:ext uri="{FF2B5EF4-FFF2-40B4-BE49-F238E27FC236}">
                <a16:creationId xmlns:a16="http://schemas.microsoft.com/office/drawing/2014/main" id="{92E6089F-7CF0-4CFA-96E1-A5CC2B95DF94}"/>
              </a:ext>
            </a:extLst>
          </p:cNvPr>
          <p:cNvSpPr>
            <a:spLocks xmlns:a="http://schemas.openxmlformats.org/drawingml/2006/main" noGrp="1"/>
          </p:cNvSpPr>
          <p:nvPr/>
        </p:nvSpPr>
        <p:spPr>
          <a:xfrm xmlns:a="http://schemas.openxmlformats.org/drawingml/2006/main">
            <a:off x="10858500" y="3476625"/>
            <a:ext cx="3810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(42; 0)</a:t>
            </a:r>
          </a:p>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(12; 6)</a:t>
            </a:r>
          </a:p>
        </p:txBody>
      </p:sp>
      <p:sp>
        <p:nvSpPr>
          <p:cNvPr id="8" name="Gemarkeerd:&#10;(22; 4)">
            <a:extLst xmlns:a="http://schemas.openxmlformats.org/drawingml/2006/main">
              <a:ext uri="{FF2B5EF4-FFF2-40B4-BE49-F238E27FC236}">
                <a16:creationId xmlns:a16="http://schemas.microsoft.com/office/drawing/2014/main" id="{9A68A940-0860-4F45-AC1C-B87EFBB13609}"/>
              </a:ext>
            </a:extLst>
          </p:cNvPr>
          <p:cNvSpPr>
            <a:spLocks xmlns:a="http://schemas.openxmlformats.org/drawingml/2006/main" noGrp="1"/>
          </p:cNvSpPr>
          <p:nvPr/>
        </p:nvSpPr>
        <p:spPr>
          <a:xfrm xmlns:a="http://schemas.openxmlformats.org/drawingml/2006/main">
            <a:off x="10858500" y="5219700"/>
            <a:ext cx="3810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Gemarkeerd:</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(22; 4)</a:t>
            </a:r>
          </a:p>
        </p:txBody>
      </p:sp>
      <p:sp>
        <p:nvSpPr>
          <p:cNvPr id="9" name="0 ≤ P ≤ 6">
            <a:extLst xmlns:a="http://schemas.openxmlformats.org/drawingml/2006/main">
              <a:ext uri="{FF2B5EF4-FFF2-40B4-BE49-F238E27FC236}">
                <a16:creationId xmlns:a16="http://schemas.microsoft.com/office/drawing/2014/main" id="{AD1A8DE8-BC0C-4591-8330-12556B3A4A4D}"/>
              </a:ext>
            </a:extLst>
          </p:cNvPr>
          <p:cNvSpPr>
            <a:spLocks xmlns:a="http://schemas.openxmlformats.org/drawingml/2006/main" noGrp="1"/>
          </p:cNvSpPr>
          <p:nvPr/>
        </p:nvSpPr>
        <p:spPr>
          <a:xfrm xmlns:a="http://schemas.openxmlformats.org/drawingml/2006/main">
            <a:off x="10858500" y="7038975"/>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0 ≤ P ≤ 6</a:t>
            </a:r>
          </a:p>
        </p:txBody>
      </p:sp>
    </p:spTree>
    <p:extLst>
      <p:ext uri="{BB962C8B-B14F-4D97-AF65-F5344CB8AC3E}">
        <p14:creationId xmlns:p14="http://schemas.microsoft.com/office/powerpoint/2010/main" val="42633148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0d · De vraag bij € 8">
            <a:extLst xmlns:a="http://schemas.openxmlformats.org/drawingml/2006/main">
              <a:ext uri="{FF2B5EF4-FFF2-40B4-BE49-F238E27FC236}">
                <a16:creationId xmlns:a16="http://schemas.microsoft.com/office/drawing/2014/main" id="{21EECA5D-6FBF-4E91-A052-026A267DEDD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30d · De vraag bij € 8</a:t>
            </a:r>
          </a:p>
        </p:txBody>
      </p:sp>
      <p:sp>
        <p:nvSpPr>
          <p:cNvPr id="2" name="">
            <a:extLst xmlns:a="http://schemas.openxmlformats.org/drawingml/2006/main">
              <a:ext uri="{FF2B5EF4-FFF2-40B4-BE49-F238E27FC236}">
                <a16:creationId xmlns:a16="http://schemas.microsoft.com/office/drawing/2014/main" id="{3F78EACD-3195-42E9-97E1-C7CEE63F57B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 Opgave 30 · Boekpagina 76">
            <a:extLst xmlns:a="http://schemas.openxmlformats.org/drawingml/2006/main">
              <a:ext uri="{FF2B5EF4-FFF2-40B4-BE49-F238E27FC236}">
                <a16:creationId xmlns:a16="http://schemas.microsoft.com/office/drawing/2014/main" id="{189BE833-4AFD-4E70-905E-824E929B41D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 Opgave 30 · Boekpagina 76</a:t>
            </a:r>
          </a:p>
        </p:txBody>
      </p:sp>
      <p:sp>
        <p:nvSpPr>
          <p:cNvPr id="4" name="slide-number">
            <a:extLst xmlns:a="http://schemas.openxmlformats.org/drawingml/2006/main">
              <a:ext uri="{FF2B5EF4-FFF2-40B4-BE49-F238E27FC236}">
                <a16:creationId xmlns:a16="http://schemas.microsoft.com/office/drawing/2014/main" id="{C72C534D-AE14-4AE9-8D49-CAB21F3D186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2" name=""/>
          <p:cNvGraphicFramePr/>
          <p:nvPr/>
        </p:nvGraphicFramePr>
        <p:xfrm>
          <a:off xmlns:a="http://schemas.openxmlformats.org/drawingml/2006/main" x="571500" y="2286000"/>
          <a:ext xmlns:a="http://schemas.openxmlformats.org/drawingml/2006/main" cx="14097000" cy="3095625"/>
        </p:xfrm>
        <a:graphic xmlns:a="http://schemas.openxmlformats.org/drawingml/2006/main">
          <a:graphicData uri="http://schemas.openxmlformats.org/drawingml/2006/table">
            <a:tbl>
              <a:tblPr/>
              <a:tblGrid>
                <a:gridCol w="2000250"/>
                <a:gridCol w="6477000"/>
                <a:gridCol w="5619750"/>
              </a:tblGrid>
              <a:tr h="1031875">
                <a:tc>
                  <a:txBody>
                    <a:bodyPr lIns="171450" tIns="95250" rIns="152400" bIns="95250"/>
                    <a:lstStyle/>
                    <a:p>
                      <a:r>
                        <a:rPr sz="2625" b="1">
                          <a:solidFill>
                            <a:srgbClr val="FFFFFF"/>
                          </a:solidFill>
                          <a:latin typeface="Arial"/>
                          <a:ea typeface="Arial"/>
                          <a:cs typeface="Arial"/>
                        </a:rPr>
                        <a:t>Groep</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Eerst de koopgrens</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Vraag bij € 8</a:t>
                      </a:r>
                    </a:p>
                  </a:txBody>
                  <a:tcPr marL="91440" marR="91440" marT="45720" marB="45720" anchor="ctr">
                    <a:solidFill>
                      <a:srgbClr val="183247"/>
                    </a:solidFill>
                  </a:tcPr>
                </a:tc>
              </a:tr>
              <a:tr h="1031875">
                <a:tc>
                  <a:txBody>
                    <a:bodyPr lIns="171450" tIns="95250" rIns="152400" bIns="95250"/>
                    <a:lstStyle/>
                    <a:p>
                      <a:r>
                        <a:rPr sz="2625" b="0">
                          <a:solidFill>
                            <a:srgbClr val="183247"/>
                          </a:solidFill>
                          <a:latin typeface="Arial"/>
                          <a:ea typeface="Arial"/>
                          <a:cs typeface="Arial"/>
                        </a:rPr>
                        <a:t>A</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€ 8 is boven € 6</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QA = 0</a:t>
                      </a:r>
                    </a:p>
                  </a:txBody>
                  <a:tcPr marL="91440" marR="91440" marT="45720" marB="45720" anchor="ctr">
                    <a:solidFill>
                      <a:srgbClr val="FFFFFF"/>
                    </a:solidFill>
                  </a:tcPr>
                </a:tc>
              </a:tr>
              <a:tr h="1031875">
                <a:tc>
                  <a:txBody>
                    <a:bodyPr lIns="171450" tIns="95250" rIns="152400" bIns="95250"/>
                    <a:lstStyle/>
                    <a:p>
                      <a:r>
                        <a:rPr sz="2625" b="0">
                          <a:solidFill>
                            <a:srgbClr val="183247"/>
                          </a:solidFill>
                          <a:latin typeface="Arial"/>
                          <a:ea typeface="Arial"/>
                          <a:cs typeface="Arial"/>
                        </a:rPr>
                        <a:t>B</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€ 8 ligt binnen 0 tot 12</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QB = 24 − 2 × 8 = 8</a:t>
                      </a:r>
                    </a:p>
                  </a:txBody>
                  <a:tcPr marL="91440" marR="91440" marT="45720" marB="45720" anchor="ctr">
                    <a:solidFill>
                      <a:srgbClr val="EFF4F7"/>
                    </a:solidFill>
                  </a:tcPr>
                </a:tc>
              </a:tr>
            </a:tbl>
          </a:graphicData>
        </a:graphic>
      </p:graphicFrame>
      <p:sp>
        <p:nvSpPr>
          <p:cNvPr id="6" name="Q = 0 + 8 = 8 reserveringen per week">
            <a:extLst xmlns:a="http://schemas.openxmlformats.org/drawingml/2006/main">
              <a:ext uri="{FF2B5EF4-FFF2-40B4-BE49-F238E27FC236}">
                <a16:creationId xmlns:a16="http://schemas.microsoft.com/office/drawing/2014/main" id="{73171823-C30B-4BCF-87CC-DE92977F39EA}"/>
              </a:ext>
            </a:extLst>
          </p:cNvPr>
          <p:cNvSpPr>
            <a:spLocks xmlns:a="http://schemas.openxmlformats.org/drawingml/2006/main" noGrp="1"/>
          </p:cNvSpPr>
          <p:nvPr/>
        </p:nvSpPr>
        <p:spPr>
          <a:xfrm xmlns:a="http://schemas.openxmlformats.org/drawingml/2006/main">
            <a:off x="571500" y="6029325"/>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665B"/>
                </a:solidFill>
                <a:latin typeface="Arial"/>
                <a:ea typeface="Arial"/>
                <a:cs typeface="Arial"/>
              </a:defRPr>
            </a:pPr>
            <a:r>
              <a:rPr sz="3600" b="1">
                <a:solidFill>
                  <a:srgbClr val="20665B"/>
                </a:solidFill>
                <a:latin typeface="Arial"/>
                <a:ea typeface="Arial"/>
                <a:cs typeface="Arial"/>
              </a:rPr>
              <a:t>Q = 0 + 8 = 8 reserveringen per week</a:t>
            </a:r>
          </a:p>
        </p:txBody>
      </p:sp>
      <p:sp>
        <p:nvSpPr>
          <p:cNvPr id="7" name="De resterende vraag van B telt volledig mee.">
            <a:extLst xmlns:a="http://schemas.openxmlformats.org/drawingml/2006/main">
              <a:ext uri="{FF2B5EF4-FFF2-40B4-BE49-F238E27FC236}">
                <a16:creationId xmlns:a16="http://schemas.microsoft.com/office/drawing/2014/main" id="{F1969B93-5FCF-486F-924C-51F83FE7F6DB}"/>
              </a:ext>
            </a:extLst>
          </p:cNvPr>
          <p:cNvSpPr>
            <a:spLocks xmlns:a="http://schemas.openxmlformats.org/drawingml/2006/main" noGrp="1"/>
          </p:cNvSpPr>
          <p:nvPr/>
        </p:nvSpPr>
        <p:spPr>
          <a:xfrm xmlns:a="http://schemas.openxmlformats.org/drawingml/2006/main">
            <a:off x="571500" y="719137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De resterende vraag van B telt volledig mee.</a:t>
            </a:r>
          </a:p>
        </p:txBody>
      </p:sp>
    </p:spTree>
    <p:extLst>
      <p:ext uri="{BB962C8B-B14F-4D97-AF65-F5344CB8AC3E}">
        <p14:creationId xmlns:p14="http://schemas.microsoft.com/office/powerpoint/2010/main" val="204817807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30e · Waarom de verlenging faalt">
            <a:extLst xmlns:a="http://schemas.openxmlformats.org/drawingml/2006/main">
              <a:ext uri="{FF2B5EF4-FFF2-40B4-BE49-F238E27FC236}">
                <a16:creationId xmlns:a16="http://schemas.microsoft.com/office/drawing/2014/main" id="{2B482527-2FE3-448A-9062-A6B8D6A8D09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30e · Waarom de verlenging faalt</a:t>
            </a:r>
          </a:p>
        </p:txBody>
      </p:sp>
      <p:sp>
        <p:nvSpPr>
          <p:cNvPr id="2" name="">
            <a:extLst xmlns:a="http://schemas.openxmlformats.org/drawingml/2006/main">
              <a:ext uri="{FF2B5EF4-FFF2-40B4-BE49-F238E27FC236}">
                <a16:creationId xmlns:a16="http://schemas.microsoft.com/office/drawing/2014/main" id="{6C3BB258-D823-4E15-90DA-19268E8337C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 Opgave 30 · Boekpagina 76">
            <a:extLst xmlns:a="http://schemas.openxmlformats.org/drawingml/2006/main">
              <a:ext uri="{FF2B5EF4-FFF2-40B4-BE49-F238E27FC236}">
                <a16:creationId xmlns:a16="http://schemas.microsoft.com/office/drawing/2014/main" id="{CF7B8369-62DE-45C6-8E7C-EF45DD370D3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 Opgave 30 · Boekpagina 76</a:t>
            </a:r>
          </a:p>
        </p:txBody>
      </p:sp>
      <p:sp>
        <p:nvSpPr>
          <p:cNvPr id="4" name="slide-number">
            <a:extLst xmlns:a="http://schemas.openxmlformats.org/drawingml/2006/main">
              <a:ext uri="{FF2B5EF4-FFF2-40B4-BE49-F238E27FC236}">
                <a16:creationId xmlns:a16="http://schemas.microsoft.com/office/drawing/2014/main" id="{4A48A60F-589B-4ACA-BC50-3172D32F70E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De ongeldige berekening">
            <a:extLst xmlns:a="http://schemas.openxmlformats.org/drawingml/2006/main">
              <a:ext uri="{FF2B5EF4-FFF2-40B4-BE49-F238E27FC236}">
                <a16:creationId xmlns:a16="http://schemas.microsoft.com/office/drawing/2014/main" id="{8012B142-4E5A-4237-9D97-4D0446DDFDDB}"/>
              </a:ext>
            </a:extLst>
          </p:cNvPr>
          <p:cNvSpPr>
            <a:spLocks xmlns:a="http://schemas.openxmlformats.org/drawingml/2006/main" noGrp="1"/>
          </p:cNvSpPr>
          <p:nvPr/>
        </p:nvSpPr>
        <p:spPr>
          <a:xfrm xmlns:a="http://schemas.openxmlformats.org/drawingml/2006/main">
            <a:off x="571500" y="207645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De ongeldige berekening</a:t>
            </a:r>
          </a:p>
        </p:txBody>
      </p:sp>
      <p:sp>
        <p:nvSpPr>
          <p:cNvPr id="6" name="42 − 5 × 8 = 2">
            <a:extLst xmlns:a="http://schemas.openxmlformats.org/drawingml/2006/main">
              <a:ext uri="{FF2B5EF4-FFF2-40B4-BE49-F238E27FC236}">
                <a16:creationId xmlns:a16="http://schemas.microsoft.com/office/drawing/2014/main" id="{21454A78-0179-4E05-A8EF-903A4AD61E8C}"/>
              </a:ext>
            </a:extLst>
          </p:cNvPr>
          <p:cNvSpPr>
            <a:spLocks xmlns:a="http://schemas.openxmlformats.org/drawingml/2006/main" noGrp="1"/>
          </p:cNvSpPr>
          <p:nvPr/>
        </p:nvSpPr>
        <p:spPr>
          <a:xfrm xmlns:a="http://schemas.openxmlformats.org/drawingml/2006/main">
            <a:off x="571500" y="300037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183247"/>
                </a:solidFill>
                <a:latin typeface="Arial"/>
                <a:ea typeface="Arial"/>
                <a:cs typeface="Arial"/>
              </a:defRPr>
            </a:pPr>
            <a:r>
              <a:rPr sz="3825" b="0">
                <a:solidFill>
                  <a:srgbClr val="183247"/>
                </a:solidFill>
                <a:latin typeface="Arial"/>
                <a:ea typeface="Arial"/>
                <a:cs typeface="Arial"/>
              </a:rPr>
              <a:t>42 − 5 × 8 = 2</a:t>
            </a:r>
          </a:p>
        </p:txBody>
      </p:sp>
      <p:sp>
        <p:nvSpPr>
          <p:cNvPr id="7" name="Daarin zit: (18 − 3 × 8) + (24 − 2 × 8) = −6 + 8">
            <a:extLst xmlns:a="http://schemas.openxmlformats.org/drawingml/2006/main">
              <a:ext uri="{FF2B5EF4-FFF2-40B4-BE49-F238E27FC236}">
                <a16:creationId xmlns:a16="http://schemas.microsoft.com/office/drawing/2014/main" id="{717EDFD2-A3FE-4D64-85F1-A7D771DB2EF9}"/>
              </a:ext>
            </a:extLst>
          </p:cNvPr>
          <p:cNvSpPr>
            <a:spLocks xmlns:a="http://schemas.openxmlformats.org/drawingml/2006/main" noGrp="1"/>
          </p:cNvSpPr>
          <p:nvPr/>
        </p:nvSpPr>
        <p:spPr>
          <a:xfrm xmlns:a="http://schemas.openxmlformats.org/drawingml/2006/main">
            <a:off x="571500" y="410527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Daarin zit: (18 − 3 × 8) + (24 − 2 × 8) = −6 + 8</a:t>
            </a:r>
          </a:p>
        </p:txBody>
      </p:sp>
      <p:sp>
        <p:nvSpPr>
          <p:cNvPr id="8" name="">
            <a:extLst xmlns:a="http://schemas.openxmlformats.org/drawingml/2006/main">
              <a:ext uri="{FF2B5EF4-FFF2-40B4-BE49-F238E27FC236}">
                <a16:creationId xmlns:a16="http://schemas.microsoft.com/office/drawing/2014/main" id="{84DCB452-2471-40B8-B8CB-8F4411CF7985}"/>
              </a:ext>
            </a:extLst>
          </p:cNvPr>
          <p:cNvSpPr>
            <a:spLocks xmlns:a="http://schemas.openxmlformats.org/drawingml/2006/main" noGrp="1"/>
          </p:cNvSpPr>
          <p:nvPr/>
        </p:nvSpPr>
        <p:spPr>
          <a:xfrm xmlns:a="http://schemas.openxmlformats.org/drawingml/2006/main">
            <a:off x="571500" y="5429250"/>
            <a:ext cx="14097000" cy="0"/>
          </a:xfrm>
          <a:prstGeom xmlns:a="http://schemas.openxmlformats.org/drawingml/2006/main" prst="line">
            <a:avLst/>
          </a:prstGeom>
          <a:ln xmlns:a="http://schemas.openxmlformats.org/drawingml/2006/main" w="19050">
            <a:solidFill>
              <a:srgbClr val="C6D2DB"/>
            </a:solidFill>
          </a:ln>
        </p:spPr>
      </p:sp>
      <p:sp>
        <p:nvSpPr>
          <p:cNvPr id="9" name="A koopt nul. Er verdwijnen geen 6 reserveringen van B.">
            <a:extLst xmlns:a="http://schemas.openxmlformats.org/drawingml/2006/main">
              <a:ext uri="{FF2B5EF4-FFF2-40B4-BE49-F238E27FC236}">
                <a16:creationId xmlns:a16="http://schemas.microsoft.com/office/drawing/2014/main" id="{F69A484D-A2E4-4BF5-BEC9-EEFBB96AEB0D}"/>
              </a:ext>
            </a:extLst>
          </p:cNvPr>
          <p:cNvSpPr>
            <a:spLocks xmlns:a="http://schemas.openxmlformats.org/drawingml/2006/main" noGrp="1"/>
          </p:cNvSpPr>
          <p:nvPr/>
        </p:nvSpPr>
        <p:spPr>
          <a:xfrm xmlns:a="http://schemas.openxmlformats.org/drawingml/2006/main">
            <a:off x="571500" y="58864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A koopt nul. Er verdwijnen geen 6 reserveringen van B.</a:t>
            </a:r>
          </a:p>
        </p:txBody>
      </p:sp>
      <p:sp>
        <p:nvSpPr>
          <p:cNvPr id="10" name="De geldige som is 0 + 8 = 8 reserveringen per week.">
            <a:extLst xmlns:a="http://schemas.openxmlformats.org/drawingml/2006/main">
              <a:ext uri="{FF2B5EF4-FFF2-40B4-BE49-F238E27FC236}">
                <a16:creationId xmlns:a16="http://schemas.microsoft.com/office/drawing/2014/main" id="{DABA35AB-3D95-4E86-B9D1-52B70938D295}"/>
              </a:ext>
            </a:extLst>
          </p:cNvPr>
          <p:cNvSpPr>
            <a:spLocks xmlns:a="http://schemas.openxmlformats.org/drawingml/2006/main" noGrp="1"/>
          </p:cNvSpPr>
          <p:nvPr/>
        </p:nvSpPr>
        <p:spPr>
          <a:xfrm xmlns:a="http://schemas.openxmlformats.org/drawingml/2006/main">
            <a:off x="571500" y="716280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De geldige som is 0 + 8 = 8 reserveringen per week.</a:t>
            </a:r>
          </a:p>
        </p:txBody>
      </p:sp>
    </p:spTree>
    <p:extLst>
      <p:ext uri="{BB962C8B-B14F-4D97-AF65-F5344CB8AC3E}">
        <p14:creationId xmlns:p14="http://schemas.microsoft.com/office/powerpoint/2010/main" val="107460589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ntrole van je antwoord">
            <a:extLst xmlns:a="http://schemas.openxmlformats.org/drawingml/2006/main">
              <a:ext uri="{FF2B5EF4-FFF2-40B4-BE49-F238E27FC236}">
                <a16:creationId xmlns:a16="http://schemas.microsoft.com/office/drawing/2014/main" id="{F8A4D1F8-B85C-49C8-AC51-423F9D63077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Controle van je antwoord</a:t>
            </a:r>
          </a:p>
        </p:txBody>
      </p:sp>
      <p:sp>
        <p:nvSpPr>
          <p:cNvPr id="2" name="">
            <a:extLst xmlns:a="http://schemas.openxmlformats.org/drawingml/2006/main">
              <a:ext uri="{FF2B5EF4-FFF2-40B4-BE49-F238E27FC236}">
                <a16:creationId xmlns:a16="http://schemas.microsoft.com/office/drawing/2014/main" id="{DD5E6BCC-9507-4134-BAC3-6778D84E1E9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Van individuele naar collectieve vraag">
            <a:extLst xmlns:a="http://schemas.openxmlformats.org/drawingml/2006/main">
              <a:ext uri="{FF2B5EF4-FFF2-40B4-BE49-F238E27FC236}">
                <a16:creationId xmlns:a16="http://schemas.microsoft.com/office/drawing/2014/main" id="{C6DD1E96-BE70-4498-89B7-8B0CFA0DE92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Van individuele naar collectieve vraag</a:t>
            </a:r>
          </a:p>
        </p:txBody>
      </p:sp>
      <p:sp>
        <p:nvSpPr>
          <p:cNvPr id="4" name="slide-number">
            <a:extLst xmlns:a="http://schemas.openxmlformats.org/drawingml/2006/main">
              <a:ext uri="{FF2B5EF4-FFF2-40B4-BE49-F238E27FC236}">
                <a16:creationId xmlns:a16="http://schemas.microsoft.com/office/drawing/2014/main" id="{D31A6322-CE55-46C6-B3F4-B6A49A34DBD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Tabel en formule">
            <a:extLst xmlns:a="http://schemas.openxmlformats.org/drawingml/2006/main">
              <a:ext uri="{FF2B5EF4-FFF2-40B4-BE49-F238E27FC236}">
                <a16:creationId xmlns:a16="http://schemas.microsoft.com/office/drawing/2014/main" id="{3729FAFD-C93E-4EA2-AE30-489B333C0C7E}"/>
              </a:ext>
            </a:extLst>
          </p:cNvPr>
          <p:cNvSpPr>
            <a:spLocks xmlns:a="http://schemas.openxmlformats.org/drawingml/2006/main" noGrp="1"/>
          </p:cNvSpPr>
          <p:nvPr/>
        </p:nvSpPr>
        <p:spPr>
          <a:xfrm xmlns:a="http://schemas.openxmlformats.org/drawingml/2006/main">
            <a:off x="571500" y="1943100"/>
            <a:ext cx="41433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Tabel en formule</a:t>
            </a:r>
          </a:p>
        </p:txBody>
      </p:sp>
      <p:sp>
        <p:nvSpPr>
          <p:cNvPr id="6" name="Elke rij heeft één prijs. De controle bij € 4 klopt.">
            <a:extLst xmlns:a="http://schemas.openxmlformats.org/drawingml/2006/main">
              <a:ext uri="{FF2B5EF4-FFF2-40B4-BE49-F238E27FC236}">
                <a16:creationId xmlns:a16="http://schemas.microsoft.com/office/drawing/2014/main" id="{519CD155-1A13-44B2-A76C-678EC94B647C}"/>
              </a:ext>
            </a:extLst>
          </p:cNvPr>
          <p:cNvSpPr>
            <a:spLocks xmlns:a="http://schemas.openxmlformats.org/drawingml/2006/main" noGrp="1"/>
          </p:cNvSpPr>
          <p:nvPr/>
        </p:nvSpPr>
        <p:spPr>
          <a:xfrm xmlns:a="http://schemas.openxmlformats.org/drawingml/2006/main">
            <a:off x="5191125" y="1943100"/>
            <a:ext cx="9429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Elke rij heeft één prijs. De controle bij € 4 klopt.</a:t>
            </a:r>
          </a:p>
        </p:txBody>
      </p:sp>
      <p:sp>
        <p:nvSpPr>
          <p:cNvPr id="7" name="Geldigheid">
            <a:extLst xmlns:a="http://schemas.openxmlformats.org/drawingml/2006/main">
              <a:ext uri="{FF2B5EF4-FFF2-40B4-BE49-F238E27FC236}">
                <a16:creationId xmlns:a16="http://schemas.microsoft.com/office/drawing/2014/main" id="{8EC5E89F-63D4-43B7-A979-B5513E91C08F}"/>
              </a:ext>
            </a:extLst>
          </p:cNvPr>
          <p:cNvSpPr>
            <a:spLocks xmlns:a="http://schemas.openxmlformats.org/drawingml/2006/main" noGrp="1"/>
          </p:cNvSpPr>
          <p:nvPr/>
        </p:nvSpPr>
        <p:spPr>
          <a:xfrm xmlns:a="http://schemas.openxmlformats.org/drawingml/2006/main">
            <a:off x="571500" y="3305175"/>
            <a:ext cx="41433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Geldigheid</a:t>
            </a:r>
          </a:p>
        </p:txBody>
      </p:sp>
      <p:sp>
        <p:nvSpPr>
          <p:cNvPr id="8" name="Q = 42 − 5P geldt alleen bij 0 ≤ P ≤ 6.">
            <a:extLst xmlns:a="http://schemas.openxmlformats.org/drawingml/2006/main">
              <a:ext uri="{FF2B5EF4-FFF2-40B4-BE49-F238E27FC236}">
                <a16:creationId xmlns:a16="http://schemas.microsoft.com/office/drawing/2014/main" id="{F623C1AC-C55F-4FFA-AC17-F84895EC7503}"/>
              </a:ext>
            </a:extLst>
          </p:cNvPr>
          <p:cNvSpPr>
            <a:spLocks xmlns:a="http://schemas.openxmlformats.org/drawingml/2006/main" noGrp="1"/>
          </p:cNvSpPr>
          <p:nvPr/>
        </p:nvSpPr>
        <p:spPr>
          <a:xfrm xmlns:a="http://schemas.openxmlformats.org/drawingml/2006/main">
            <a:off x="5191125" y="3305175"/>
            <a:ext cx="9429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Q = 42 − 5P geldt alleen bij 0 ≤ P ≤ 6.</a:t>
            </a:r>
          </a:p>
        </p:txBody>
      </p:sp>
      <p:sp>
        <p:nvSpPr>
          <p:cNvPr id="9" name="Grafiek">
            <a:extLst xmlns:a="http://schemas.openxmlformats.org/drawingml/2006/main">
              <a:ext uri="{FF2B5EF4-FFF2-40B4-BE49-F238E27FC236}">
                <a16:creationId xmlns:a16="http://schemas.microsoft.com/office/drawing/2014/main" id="{03269B64-1966-436C-A836-AEBF636418EA}"/>
              </a:ext>
            </a:extLst>
          </p:cNvPr>
          <p:cNvSpPr>
            <a:spLocks xmlns:a="http://schemas.openxmlformats.org/drawingml/2006/main" noGrp="1"/>
          </p:cNvSpPr>
          <p:nvPr/>
        </p:nvSpPr>
        <p:spPr>
          <a:xfrm xmlns:a="http://schemas.openxmlformats.org/drawingml/2006/main">
            <a:off x="571500" y="4667250"/>
            <a:ext cx="41433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Grafiek</a:t>
            </a:r>
          </a:p>
        </p:txBody>
      </p:sp>
      <p:sp>
        <p:nvSpPr>
          <p:cNvPr id="10" name="Eindpunten en (22; 4) hebben de juiste coördinaten.">
            <a:extLst xmlns:a="http://schemas.openxmlformats.org/drawingml/2006/main">
              <a:ext uri="{FF2B5EF4-FFF2-40B4-BE49-F238E27FC236}">
                <a16:creationId xmlns:a16="http://schemas.microsoft.com/office/drawing/2014/main" id="{6831F47A-1B81-4D29-95AF-43010BC0DAB2}"/>
              </a:ext>
            </a:extLst>
          </p:cNvPr>
          <p:cNvSpPr>
            <a:spLocks xmlns:a="http://schemas.openxmlformats.org/drawingml/2006/main" noGrp="1"/>
          </p:cNvSpPr>
          <p:nvPr/>
        </p:nvSpPr>
        <p:spPr>
          <a:xfrm xmlns:a="http://schemas.openxmlformats.org/drawingml/2006/main">
            <a:off x="5191125" y="4667250"/>
            <a:ext cx="9429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Eindpunten en (22; 4) hebben de juiste coördinaten.</a:t>
            </a:r>
          </a:p>
        </p:txBody>
      </p:sp>
      <p:sp>
        <p:nvSpPr>
          <p:cNvPr id="11" name="Verklaring">
            <a:extLst xmlns:a="http://schemas.openxmlformats.org/drawingml/2006/main">
              <a:ext uri="{FF2B5EF4-FFF2-40B4-BE49-F238E27FC236}">
                <a16:creationId xmlns:a16="http://schemas.microsoft.com/office/drawing/2014/main" id="{61C2A641-F71B-4962-B28E-B40571790815}"/>
              </a:ext>
            </a:extLst>
          </p:cNvPr>
          <p:cNvSpPr>
            <a:spLocks xmlns:a="http://schemas.openxmlformats.org/drawingml/2006/main" noGrp="1"/>
          </p:cNvSpPr>
          <p:nvPr/>
        </p:nvSpPr>
        <p:spPr>
          <a:xfrm xmlns:a="http://schemas.openxmlformats.org/drawingml/2006/main">
            <a:off x="571500" y="6029325"/>
            <a:ext cx="41433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Verklaring</a:t>
            </a:r>
          </a:p>
        </p:txBody>
      </p:sp>
      <p:sp>
        <p:nvSpPr>
          <p:cNvPr id="12" name="Bij € 8 draagt A nul bij. B vraagt nog 8 per week.">
            <a:extLst xmlns:a="http://schemas.openxmlformats.org/drawingml/2006/main">
              <a:ext uri="{FF2B5EF4-FFF2-40B4-BE49-F238E27FC236}">
                <a16:creationId xmlns:a16="http://schemas.microsoft.com/office/drawing/2014/main" id="{7B620438-BBC5-408D-B6A9-B861AFE260F7}"/>
              </a:ext>
            </a:extLst>
          </p:cNvPr>
          <p:cNvSpPr>
            <a:spLocks xmlns:a="http://schemas.openxmlformats.org/drawingml/2006/main" noGrp="1"/>
          </p:cNvSpPr>
          <p:nvPr/>
        </p:nvSpPr>
        <p:spPr>
          <a:xfrm xmlns:a="http://schemas.openxmlformats.org/drawingml/2006/main">
            <a:off x="5191125" y="6029325"/>
            <a:ext cx="9429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Bij € 8 draagt A nul bij. B vraagt nog 8 per week.</a:t>
            </a:r>
          </a:p>
        </p:txBody>
      </p:sp>
    </p:spTree>
    <p:extLst>
      <p:ext uri="{BB962C8B-B14F-4D97-AF65-F5344CB8AC3E}">
        <p14:creationId xmlns:p14="http://schemas.microsoft.com/office/powerpoint/2010/main" val="54810219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2.3 Van individuele naar collectieve vraag">
            <a:extLst xmlns:a="http://schemas.openxmlformats.org/drawingml/2006/main">
              <a:ext uri="{FF2B5EF4-FFF2-40B4-BE49-F238E27FC236}">
                <a16:creationId xmlns:a16="http://schemas.microsoft.com/office/drawing/2014/main" id="{484231E7-0902-42FA-A76C-28F0D9346CF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Deze les: §1.2.3 Van individuele naar collectieve vraag</a:t>
            </a:r>
          </a:p>
        </p:txBody>
      </p:sp>
      <p:sp>
        <p:nvSpPr>
          <p:cNvPr id="2" name="">
            <a:extLst xmlns:a="http://schemas.openxmlformats.org/drawingml/2006/main">
              <a:ext uri="{FF2B5EF4-FFF2-40B4-BE49-F238E27FC236}">
                <a16:creationId xmlns:a16="http://schemas.microsoft.com/office/drawing/2014/main" id="{03BB7EF6-7A4E-4F30-AB72-D7F9C524A3C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3 Van individuele naar collectieve vraag">
            <a:extLst xmlns:a="http://schemas.openxmlformats.org/drawingml/2006/main">
              <a:ext uri="{FF2B5EF4-FFF2-40B4-BE49-F238E27FC236}">
                <a16:creationId xmlns:a16="http://schemas.microsoft.com/office/drawing/2014/main" id="{C10D5257-4702-4737-87EC-67E630CC2F1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§1.2.3 Van individuele naar collectieve vraag</a:t>
            </a:r>
          </a:p>
        </p:txBody>
      </p:sp>
      <p:sp>
        <p:nvSpPr>
          <p:cNvPr id="4" name="slide-number">
            <a:extLst xmlns:a="http://schemas.openxmlformats.org/drawingml/2006/main">
              <a:ext uri="{FF2B5EF4-FFF2-40B4-BE49-F238E27FC236}">
                <a16:creationId xmlns:a16="http://schemas.microsoft.com/office/drawing/2014/main" id="{D3CC0678-3A4B-4229-AD3D-7C912517408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phase">
            <a:extLst xmlns:a="http://schemas.openxmlformats.org/drawingml/2006/main">
              <a:ext uri="{FF2B5EF4-FFF2-40B4-BE49-F238E27FC236}">
                <a16:creationId xmlns:a16="http://schemas.microsoft.com/office/drawing/2014/main" id="{42E368AF-E2FB-423B-AE68-143D00795D26}"/>
              </a:ext>
            </a:extLst>
          </p:cNvPr>
          <p:cNvSpPr>
            <a:spLocks xmlns:a="http://schemas.openxmlformats.org/drawingml/2006/main" noGrp="1"/>
          </p:cNvSpPr>
          <p:nvPr/>
        </p:nvSpPr>
        <p:spPr>
          <a:xfrm xmlns:a="http://schemas.openxmlformats.org/drawingml/2006/main">
            <a:off x="571500" y="106680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3A02A05C-2824-4FC4-B102-E9B51D16DB3A}"/>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8DF0AADE-A4C0-4698-8BDD-D70E5F7822DD}"/>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46B669B2-AE4C-4799-8E93-8E6F62F4BDA4}"/>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CAE54F2D-E246-498E-AF40-8F47496FA7B0}"/>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0AD05151-25E5-4E94-A663-5D79029034E3}"/>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621A83C6-2A94-4E6C-8934-BCE88D0E28C9}"/>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614B602B-12FA-4405-A5C2-EC34910C7727}"/>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7877C71C-8D9A-43A4-B951-2D60E4211DCC}"/>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C8AADD01-C2D0-441C-A515-5BF80D1E4FE0}"/>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8F4A7273-2CCB-4075-BE59-EE033AE38787}"/>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0691BC39-2A59-410A-8829-70DAC6CFB9AF}"/>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3AAA95F2-DE9F-4DD3-A293-513A5E61001D}"/>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F3CA2B2E-A807-4A23-994C-FED37B13202C}"/>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30.</a:t>
            </a:r>
          </a:p>
        </p:txBody>
      </p:sp>
      <p:sp>
        <p:nvSpPr>
          <p:cNvPr id="19" name="route-number-7">
            <a:extLst xmlns:a="http://schemas.openxmlformats.org/drawingml/2006/main">
              <a:ext uri="{FF2B5EF4-FFF2-40B4-BE49-F238E27FC236}">
                <a16:creationId xmlns:a16="http://schemas.microsoft.com/office/drawing/2014/main" id="{554DFE65-8B82-41EF-BF9B-C8268FBB9262}"/>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8E738FB7-5DFC-4B9F-80BC-99627FEEBABB}"/>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C49CC32F-CA34-41D7-AE95-AC17B1CF89F5}"/>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BB118F41-BD7A-4D06-BD9C-E673A13E39A1}"/>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Hoeveelheden en functies optellen,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som tekenen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prijsgrenzen bewaken.</a:t>
            </a:r>
          </a:p>
        </p:txBody>
      </p:sp>
      <p:sp>
        <p:nvSpPr>
          <p:cNvPr id="23" name="">
            <a:extLst xmlns:a="http://schemas.openxmlformats.org/drawingml/2006/main">
              <a:ext uri="{FF2B5EF4-FFF2-40B4-BE49-F238E27FC236}">
                <a16:creationId xmlns:a16="http://schemas.microsoft.com/office/drawing/2014/main" id="{1BE463CE-86C1-454C-B42A-B61B03FDFE4F}"/>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141C19C4-EA19-4EB7-8679-327A6D0A8EF6}"/>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3967D3DB-0896-4E58-8F3D-0514F380D611}"/>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72 · Opgaven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24: verkennen met theorie p. 68</a:t>
            </a:r>
          </a:p>
        </p:txBody>
      </p:sp>
      <p:sp>
        <p:nvSpPr>
          <p:cNvPr id="26" name="">
            <a:extLst xmlns:a="http://schemas.openxmlformats.org/drawingml/2006/main">
              <a:ext uri="{FF2B5EF4-FFF2-40B4-BE49-F238E27FC236}">
                <a16:creationId xmlns:a16="http://schemas.microsoft.com/office/drawing/2014/main" id="{8D507E25-338E-41F4-B68A-7CB93FF6609C}"/>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561BA3A1-9151-4F75-9EE6-2F479056F596}"/>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63578DB5-7723-48AA-A3D3-B1254020AE0F}"/>
              </a:ext>
            </a:extLst>
          </p:cNvPr>
          <p:cNvSpPr>
            <a:spLocks xmlns:a="http://schemas.openxmlformats.org/drawingml/2006/main" noGrp="1"/>
          </p:cNvSpPr>
          <p:nvPr/>
        </p:nvSpPr>
        <p:spPr>
          <a:xfrm xmlns:a="http://schemas.openxmlformats.org/drawingml/2006/main">
            <a:off x="9258300" y="62293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§1.2.3</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25, 26 en 27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28 en 29</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30</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 25 t/m 30</a:t>
            </a:r>
          </a:p>
        </p:txBody>
      </p:sp>
    </p:spTree>
    <p:extLst>
      <p:ext uri="{BB962C8B-B14F-4D97-AF65-F5344CB8AC3E}">
        <p14:creationId xmlns:p14="http://schemas.microsoft.com/office/powerpoint/2010/main" val="2553018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2026-10-03T14:19:58.1760000Z</dcterms:created>
  <dcterms:modified xsi:type="dcterms:W3CDTF">2026-10-03T14:19:58.1760000Z</dcterms:modified>
</coreProperties>
</file>