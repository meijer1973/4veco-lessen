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0796e58c434e6c" /><Relationship Type="http://schemas.openxmlformats.org/officeDocument/2006/relationships/extended-properties" Target="/docProps/app.xml" Id="Ra90c5f61d7344ee3" /><Relationship Type="http://schemas.openxmlformats.org/officeDocument/2006/relationships/officeDocument" Target="/ppt/presentation.xml" Id="R1ed7ae0d1de945a6" /></Relationships>
</file>

<file path=ppt/presentation.xml><?xml version="1.0" encoding="utf-8"?>
<p:presentation xmlns:p="http://schemas.openxmlformats.org/presentationml/2006/main">
  <p:sldMasterIdLst>
    <p:sldMasterId xmlns:r="http://schemas.openxmlformats.org/officeDocument/2006/relationships" id="2147483648" r:id="R3d2cc6f061094051"/>
  </p:sldMasterIdLst>
  <p:notesMasterIdLst>
    <p:notesMasterId xmlns:r="http://schemas.openxmlformats.org/officeDocument/2006/relationships" r:id="Rb97033b910df488f"/>
  </p:notesMasterIdLst>
  <p:sldIdLst>
    <p:sldId xmlns:r="http://schemas.openxmlformats.org/officeDocument/2006/relationships" id="256" r:id="R54318240a5b54cd5"/>
    <p:sldId xmlns:r="http://schemas.openxmlformats.org/officeDocument/2006/relationships" id="257" r:id="R8f1d5cbbcf694185"/>
    <p:sldId xmlns:r="http://schemas.openxmlformats.org/officeDocument/2006/relationships" id="258" r:id="Rcd02a929d45a4c40"/>
    <p:sldId xmlns:r="http://schemas.openxmlformats.org/officeDocument/2006/relationships" id="259" r:id="Rc0a8ec0709134ac6"/>
    <p:sldId xmlns:r="http://schemas.openxmlformats.org/officeDocument/2006/relationships" id="260" r:id="R0999f6e9f8624811"/>
    <p:sldId xmlns:r="http://schemas.openxmlformats.org/officeDocument/2006/relationships" id="261" r:id="R2a7fb76cf0e24ea5"/>
    <p:sldId xmlns:r="http://schemas.openxmlformats.org/officeDocument/2006/relationships" id="262" r:id="Read883725ac84e25"/>
    <p:sldId xmlns:r="http://schemas.openxmlformats.org/officeDocument/2006/relationships" id="263" r:id="R1692f453a24c4aae"/>
    <p:sldId xmlns:r="http://schemas.openxmlformats.org/officeDocument/2006/relationships" id="264" r:id="R3e7df11ea727453a"/>
    <p:sldId xmlns:r="http://schemas.openxmlformats.org/officeDocument/2006/relationships" id="265" r:id="R333b9d7a3ede4d26"/>
    <p:sldId xmlns:r="http://schemas.openxmlformats.org/officeDocument/2006/relationships" id="266" r:id="R5c68467de95e4574"/>
    <p:sldId xmlns:r="http://schemas.openxmlformats.org/officeDocument/2006/relationships" id="267" r:id="R43b391038b894625"/>
    <p:sldId xmlns:r="http://schemas.openxmlformats.org/officeDocument/2006/relationships" id="268" r:id="Rdfb88aea724f4106"/>
    <p:sldId xmlns:r="http://schemas.openxmlformats.org/officeDocument/2006/relationships" id="269" r:id="Rc8c67f6356244b9d"/>
    <p:sldId xmlns:r="http://schemas.openxmlformats.org/officeDocument/2006/relationships" id="270" r:id="R5e0feb19fbb94bf9"/>
    <p:sldId xmlns:r="http://schemas.openxmlformats.org/officeDocument/2006/relationships" id="271" r:id="R3e51af94ff3840f0"/>
    <p:sldId xmlns:r="http://schemas.openxmlformats.org/officeDocument/2006/relationships" id="272" r:id="R72662682f9b3497f"/>
    <p:sldId xmlns:r="http://schemas.openxmlformats.org/officeDocument/2006/relationships" id="273" r:id="R099903afa41a49ba"/>
    <p:sldId xmlns:r="http://schemas.openxmlformats.org/officeDocument/2006/relationships" id="274" r:id="R0dcf5984a94345e9"/>
    <p:sldId xmlns:r="http://schemas.openxmlformats.org/officeDocument/2006/relationships" id="275" r:id="R6755ccc7e6684ae0"/>
    <p:sldId xmlns:r="http://schemas.openxmlformats.org/officeDocument/2006/relationships" id="276" r:id="Rb7376094ec3c48df"/>
    <p:sldId xmlns:r="http://schemas.openxmlformats.org/officeDocument/2006/relationships" id="277" r:id="R3f864d325a52486a"/>
    <p:sldId xmlns:r="http://schemas.openxmlformats.org/officeDocument/2006/relationships" id="278" r:id="Rb60bed8b5fd1484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6a4644a71446bd" /><Relationship Type="http://schemas.openxmlformats.org/officeDocument/2006/relationships/slideMaster" Target="/ppt/slideMasters/slideMaster1.xml" Id="R3d2cc6f061094051" /><Relationship Type="http://schemas.openxmlformats.org/officeDocument/2006/relationships/notesMaster" Target="/ppt/notesMasters/notesMaster1.xml" Id="Rb97033b910df488f" /><Relationship Type="http://schemas.openxmlformats.org/officeDocument/2006/relationships/presProps" Target="/ppt/presProps.xml" Id="R8cfed826de7c4b75" /><Relationship Type="http://schemas.openxmlformats.org/officeDocument/2006/relationships/tableStyles" Target="/ppt/tableStyles.xml" Id="R595e16d46b4f4335" /><Relationship Type="http://schemas.openxmlformats.org/officeDocument/2006/relationships/slide" Target="/ppt/slides/slide1.xml" Id="R54318240a5b54cd5" /><Relationship Type="http://schemas.openxmlformats.org/officeDocument/2006/relationships/slide" Target="/ppt/slides/slide2.xml" Id="R8f1d5cbbcf694185" /><Relationship Type="http://schemas.openxmlformats.org/officeDocument/2006/relationships/slide" Target="/ppt/slides/slide3.xml" Id="Rcd02a929d45a4c40" /><Relationship Type="http://schemas.openxmlformats.org/officeDocument/2006/relationships/slide" Target="/ppt/slides/slide4.xml" Id="Rc0a8ec0709134ac6" /><Relationship Type="http://schemas.openxmlformats.org/officeDocument/2006/relationships/slide" Target="/ppt/slides/slide5.xml" Id="R0999f6e9f8624811" /><Relationship Type="http://schemas.openxmlformats.org/officeDocument/2006/relationships/slide" Target="/ppt/slides/slide6.xml" Id="R2a7fb76cf0e24ea5" /><Relationship Type="http://schemas.openxmlformats.org/officeDocument/2006/relationships/slide" Target="/ppt/slides/slide7.xml" Id="Read883725ac84e25" /><Relationship Type="http://schemas.openxmlformats.org/officeDocument/2006/relationships/slide" Target="/ppt/slides/slide8.xml" Id="R1692f453a24c4aae" /><Relationship Type="http://schemas.openxmlformats.org/officeDocument/2006/relationships/slide" Target="/ppt/slides/slide9.xml" Id="R3e7df11ea727453a" /><Relationship Type="http://schemas.openxmlformats.org/officeDocument/2006/relationships/slide" Target="/ppt/slides/slide10.xml" Id="R333b9d7a3ede4d26" /><Relationship Type="http://schemas.openxmlformats.org/officeDocument/2006/relationships/slide" Target="/ppt/slides/slide11.xml" Id="R5c68467de95e4574" /><Relationship Type="http://schemas.openxmlformats.org/officeDocument/2006/relationships/slide" Target="/ppt/slides/slide12.xml" Id="R43b391038b894625" /><Relationship Type="http://schemas.openxmlformats.org/officeDocument/2006/relationships/slide" Target="/ppt/slides/slide13.xml" Id="Rdfb88aea724f4106" /><Relationship Type="http://schemas.openxmlformats.org/officeDocument/2006/relationships/slide" Target="/ppt/slides/slide14.xml" Id="Rc8c67f6356244b9d" /><Relationship Type="http://schemas.openxmlformats.org/officeDocument/2006/relationships/slide" Target="/ppt/slides/slide15.xml" Id="R5e0feb19fbb94bf9" /><Relationship Type="http://schemas.openxmlformats.org/officeDocument/2006/relationships/slide" Target="/ppt/slides/slide16.xml" Id="R3e51af94ff3840f0" /><Relationship Type="http://schemas.openxmlformats.org/officeDocument/2006/relationships/slide" Target="/ppt/slides/slide17.xml" Id="R72662682f9b3497f" /><Relationship Type="http://schemas.openxmlformats.org/officeDocument/2006/relationships/slide" Target="/ppt/slides/slide18.xml" Id="R099903afa41a49ba" /><Relationship Type="http://schemas.openxmlformats.org/officeDocument/2006/relationships/slide" Target="/ppt/slides/slide19.xml" Id="R0dcf5984a94345e9" /><Relationship Type="http://schemas.openxmlformats.org/officeDocument/2006/relationships/slide" Target="/ppt/slides/slide20.xml" Id="R6755ccc7e6684ae0" /><Relationship Type="http://schemas.openxmlformats.org/officeDocument/2006/relationships/slide" Target="/ppt/slides/slide21.xml" Id="Rb7376094ec3c48df" /><Relationship Type="http://schemas.openxmlformats.org/officeDocument/2006/relationships/slide" Target="/ppt/slides/slide22.xml" Id="R3f864d325a52486a" /><Relationship Type="http://schemas.openxmlformats.org/officeDocument/2006/relationships/slide" Target="/ppt/slides/slide23.xml" Id="Rb60bed8b5fd148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7f138bab1b48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f10da5539b4804" /><Relationship Type="http://schemas.openxmlformats.org/officeDocument/2006/relationships/notesMaster" Target="/ppt/notesMasters/notesMaster1.xml" Id="Rbbd842211baf4a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19f3b9f7e944bd" /><Relationship Type="http://schemas.openxmlformats.org/officeDocument/2006/relationships/notesMaster" Target="/ppt/notesMasters/notesMaster1.xml" Id="R5fed1640f99545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4c9313775e403f" /><Relationship Type="http://schemas.openxmlformats.org/officeDocument/2006/relationships/notesMaster" Target="/ppt/notesMasters/notesMaster1.xml" Id="Re98c4a696c564b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3d813e65cc46b3" /><Relationship Type="http://schemas.openxmlformats.org/officeDocument/2006/relationships/notesMaster" Target="/ppt/notesMasters/notesMaster1.xml" Id="R1b14a53a36fe42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69d948e6094f99" /><Relationship Type="http://schemas.openxmlformats.org/officeDocument/2006/relationships/notesMaster" Target="/ppt/notesMasters/notesMaster1.xml" Id="R01908793f26843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36d8346ed04858" /><Relationship Type="http://schemas.openxmlformats.org/officeDocument/2006/relationships/notesMaster" Target="/ppt/notesMasters/notesMaster1.xml" Id="Rb814d8cc00524c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aba203713b47a0" /><Relationship Type="http://schemas.openxmlformats.org/officeDocument/2006/relationships/notesMaster" Target="/ppt/notesMasters/notesMaster1.xml" Id="Ra36d572cc61840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9ceb188eae4fb1" /><Relationship Type="http://schemas.openxmlformats.org/officeDocument/2006/relationships/notesMaster" Target="/ppt/notesMasters/notesMaster1.xml" Id="Re4c7414af2284d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68f33bb7a944ea" /><Relationship Type="http://schemas.openxmlformats.org/officeDocument/2006/relationships/notesMaster" Target="/ppt/notesMasters/notesMaster1.xml" Id="R63ca05e0232f4b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a4524c4314456f" /><Relationship Type="http://schemas.openxmlformats.org/officeDocument/2006/relationships/notesMaster" Target="/ppt/notesMasters/notesMaster1.xml" Id="R2c2811d45b3a4d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55a71d253b4cbd" /><Relationship Type="http://schemas.openxmlformats.org/officeDocument/2006/relationships/notesMaster" Target="/ppt/notesMasters/notesMaster1.xml" Id="Rdcebedcc66b748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1a47acf481430a" /><Relationship Type="http://schemas.openxmlformats.org/officeDocument/2006/relationships/notesMaster" Target="/ppt/notesMasters/notesMaster1.xml" Id="Red38125edceb46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6a1058fc8149e2" /><Relationship Type="http://schemas.openxmlformats.org/officeDocument/2006/relationships/notesMaster" Target="/ppt/notesMasters/notesMaster1.xml" Id="Rb52bf69cf7f748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968963532d4b8f" /><Relationship Type="http://schemas.openxmlformats.org/officeDocument/2006/relationships/notesMaster" Target="/ppt/notesMasters/notesMaster1.xml" Id="Ree0ba7671aba42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2eef30caf841d9" /><Relationship Type="http://schemas.openxmlformats.org/officeDocument/2006/relationships/notesMaster" Target="/ppt/notesMasters/notesMaster1.xml" Id="R422c080c6bd246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e90c1306194e3b" /><Relationship Type="http://schemas.openxmlformats.org/officeDocument/2006/relationships/notesMaster" Target="/ppt/notesMasters/notesMaster1.xml" Id="Re6cea19fc5b64a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866f8765894e03" /><Relationship Type="http://schemas.openxmlformats.org/officeDocument/2006/relationships/notesMaster" Target="/ppt/notesMasters/notesMaster1.xml" Id="Rdd0f35c5477b43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5990fa9f3246f2" /><Relationship Type="http://schemas.openxmlformats.org/officeDocument/2006/relationships/notesMaster" Target="/ppt/notesMasters/notesMaster1.xml" Id="Rc0e187078e454a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bacc02fe70413b" /><Relationship Type="http://schemas.openxmlformats.org/officeDocument/2006/relationships/notesMaster" Target="/ppt/notesMasters/notesMaster1.xml" Id="Rda8adeb921444e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8e86b2cc284205" /><Relationship Type="http://schemas.openxmlformats.org/officeDocument/2006/relationships/notesMaster" Target="/ppt/notesMasters/notesMaster1.xml" Id="Re9669c9ae79142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bb8aa9a8d049f8" /><Relationship Type="http://schemas.openxmlformats.org/officeDocument/2006/relationships/notesMaster" Target="/ppt/notesMasters/notesMaster1.xml" Id="R52389a3705fe44f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1bb7e078974d0a" /><Relationship Type="http://schemas.openxmlformats.org/officeDocument/2006/relationships/notesMaster" Target="/ppt/notesMasters/notesMaster1.xml" Id="R22b5dd91a5ad48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af3ff9788f4ade" /><Relationship Type="http://schemas.openxmlformats.org/officeDocument/2006/relationships/notesMaster" Target="/ppt/notesMasters/notesMaster1.xml" Id="R49d0fe38b5d24d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en welke eerder geleerde regel heb je nodig?</a:t>
            </a:r>
          </a:p>
          <a:p xmlns:a="http://schemas.openxmlformats.org/drawingml/2006/main">
            <a:r>
              <a:rPr sz="1400"/>
              <a:t/>
            </a:r>
          </a:p>
          <a:p xmlns:a="http://schemas.openxmlformats.org/drawingml/2006/main">
            <a:r>
              <a:rPr sz="1400"/>
              <a:t>Uitleg: Laat deze dia staan tijdens startopdracht. Begin met de eerste echte gemengde opgave, 34 op p. 78. Vervolg: 35 op p. 78, 36 op p. 79, daarna doel 37 met bronnen p. 80 en vragen p. 81. Huiswerk: alle gemengde opgaven 34, 35, 36, 37 en 38 maken en nakijken, waarbij 38 op p. 82 het bonuslabel behoudt. Deze gemengde paragraaf kent geen afzonderlijk basisblok: voeg geen fictieve basis- of startopgaven toe. 37 is gekozen voor bespreking omdat alle hoofdstukbewerkingen samenkomen. De boekplanning schat 63 minuten voor de normale gemengde route. Dat is geen gemeten duur en geen garantie dat alles in één les past. Start 34 gebruikt eerder uitgelegde kennis: betalingsbereidheid en gelijkheid op p. 46–47, procentuele verandering op p. 14. Verwijs bij twijfel daarheen. Bij terugkeer naar dit overzicht na de korte herhaling laat je leerlingen hun aanpak van 34 nalopen, zonder vooraf hun uitwerking te onthullen. Bij 36d: p. 60 legt expliciet uit dat meer kopers de groepsvraag kunnen veranderen zonder dat een bestaande koper meer vraagt.</a:t>
            </a:r>
          </a:p>
          <a:p xmlns:a="http://schemas.openxmlformats.org/drawingml/2006/main">
            <a:r>
              <a:rPr sz="1400"/>
              <a:t/>
            </a:r>
          </a:p>
          <a:p xmlns:a="http://schemas.openxmlformats.org/drawingml/2006/main">
            <a:r>
              <a:rPr sz="1400"/>
              <a:t>Misvatting: Start 34 is herhaling van eerder onderwezen bewerkingen; dit bewijst nog geen beheersing door de klas.</a:t>
            </a:r>
          </a:p>
          <a:p xmlns:a="http://schemas.openxmlformats.org/drawingml/2006/main">
            <a:r>
              <a:rPr sz="1400"/>
              <a:t/>
            </a:r>
          </a:p>
          <a:p xmlns:a="http://schemas.openxmlformats.org/drawingml/2006/main">
            <a:r>
              <a:rPr sz="1400"/>
              <a:t>Overgang: Ga verder naar de volgende lesfase wanneer de klas daarvoor klaar is.</a:t>
            </a:r>
          </a:p>
          <a:p xmlns:a="http://schemas.openxmlformats.org/drawingml/2006/main">
            <a:r>
              <a:rPr sz="1400"/>
              <a:t/>
            </a:r>
          </a:p>
          <a:p xmlns:a="http://schemas.openxmlformats.org/drawingml/2006/main">
            <a:r>
              <a:rPr sz="1400"/>
              <a:t>Bron: Boek 1, tweede editie 2026, gedrukte pagina 78–82.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sticker ligt precies op de koopgrens?</a:t>
            </a:r>
          </a:p>
          <a:p xmlns:a="http://schemas.openxmlformats.org/drawingml/2006/main">
            <a:r>
              <a:rPr sz="1400"/>
              <a:t/>
            </a:r>
          </a:p>
          <a:p xmlns:a="http://schemas.openxmlformats.org/drawingml/2006/main">
            <a:r>
              <a:rPr sz="1400"/>
              <a:t>Uitleg: Dit is een eigen voorbeeld met losse eenheden, niet een boekopgave. Geef voldoende budget en beschikbare stickers als aannamen. De gelijkheidsafspraak maakt de tweede sticker een aankoop. Vraag leerlingen per eenheid te vergelijken. Alleen als de start laat zien dat het nodig is: herhaal procenten met een andere prijsverandering, € 5 naar € 6. (6 − 5) / 5 × 100% = 20%. De oude prijs vormt de basis. Houd dit kort en ga bij problemen terug naar de uitleg op p. 14.</a:t>
            </a:r>
          </a:p>
          <a:p xmlns:a="http://schemas.openxmlformats.org/drawingml/2006/main">
            <a:r>
              <a:rPr sz="1400"/>
              <a:t/>
            </a:r>
          </a:p>
          <a:p xmlns:a="http://schemas.openxmlformats.org/drawingml/2006/main">
            <a:r>
              <a:rPr sz="1400"/>
              <a:t>Misvatting: De betalingsbereidheden gelden per extra sticker, niet voor alle stickers samen.</a:t>
            </a:r>
          </a:p>
          <a:p xmlns:a="http://schemas.openxmlformats.org/drawingml/2006/main">
            <a:r>
              <a:rPr sz="1400"/>
              <a:t/>
            </a:r>
          </a:p>
          <a:p xmlns:a="http://schemas.openxmlformats.org/drawingml/2006/main">
            <a:r>
              <a:rPr sz="1400"/>
              <a:t>Overgang: Wissel nu expliciet naar een afzonderlijk lineair model van rondvaartkaartjes.</a:t>
            </a:r>
          </a:p>
          <a:p xmlns:a="http://schemas.openxmlformats.org/drawingml/2006/main">
            <a:r>
              <a:rPr sz="1400"/>
              <a:t/>
            </a:r>
          </a:p>
          <a:p xmlns:a="http://schemas.openxmlformats.org/drawingml/2006/main">
            <a:r>
              <a:rPr sz="1400"/>
              <a:t>Bron: Boek 1, tweede editie 2026, gedrukte pagina 14, 46–47.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Eigen context en getallen. De geciteerde boekpagina’s onderbouwen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de som niet door twee?</a:t>
            </a:r>
          </a:p>
          <a:p xmlns:a="http://schemas.openxmlformats.org/drawingml/2006/main">
            <a:r>
              <a:rPr sz="1400"/>
              <a:t/>
            </a:r>
          </a:p>
          <a:p xmlns:a="http://schemas.openxmlformats.org/drawingml/2006/main">
            <a:r>
              <a:rPr sz="1400"/>
              <a:t>Uitleg: Eigen geconstrueerd model, los van Lina’s stickers. Beide groepen zijn disjunct en betalen dezelfde prijs voor hetzelfde product in dezelfde week. Alle overige omstandigheden blijven gelijk. Boven de eigen koopgrens draagt een groep nul bij. Verzamel de constante termen en daarna de P-termen. Op het gemeenschappelijke interval tot en met € 9 zijn beide regels geldig. Controleer Q bij € 3: A 18 − 6 = 12, B 30 − 6 = 24, samen 36. Buiten dit interval opnieuw per groep rekenen.</a:t>
            </a:r>
          </a:p>
          <a:p xmlns:a="http://schemas.openxmlformats.org/drawingml/2006/main">
            <a:r>
              <a:rPr sz="1400"/>
              <a:t/>
            </a:r>
          </a:p>
          <a:p xmlns:a="http://schemas.openxmlformats.org/drawingml/2006/main">
            <a:r>
              <a:rPr sz="1400"/>
              <a:t>Misvatting: Een groepsgemiddelde is niet de totale vraag. Tel personen die al in een groep zitten niet opnieuw mee.</a:t>
            </a:r>
          </a:p>
          <a:p xmlns:a="http://schemas.openxmlformats.org/drawingml/2006/main">
            <a:r>
              <a:rPr sz="1400"/>
              <a:t/>
            </a:r>
          </a:p>
          <a:p xmlns:a="http://schemas.openxmlformats.org/drawingml/2006/main">
            <a:r>
              <a:rPr sz="1400"/>
              <a:t>Overgang: Lees dezelfde functie in de omgekeerde richting.</a:t>
            </a:r>
          </a:p>
          <a:p xmlns:a="http://schemas.openxmlformats.org/drawingml/2006/main">
            <a:r>
              <a:rPr sz="1400"/>
              <a:t/>
            </a:r>
          </a:p>
          <a:p xmlns:a="http://schemas.openxmlformats.org/drawingml/2006/main">
            <a:r>
              <a:rPr sz="1400"/>
              <a:t>Bron: Boek 1, tweede editie 2026, gedrukte pagina 68–71.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Eigen context en getallen. Boekpagina’s onderbouwen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hoort bij de onbekende?</a:t>
            </a:r>
          </a:p>
          <a:p xmlns:a="http://schemas.openxmlformats.org/drawingml/2006/main">
            <a:r>
              <a:rPr sz="1400"/>
              <a:t/>
            </a:r>
          </a:p>
          <a:p xmlns:a="http://schemas.openxmlformats.org/drawingml/2006/main">
            <a:r>
              <a:rPr sz="1400"/>
              <a:t>Uitleg: De prijs € 5 ligt binnen 0 ≤ P ≤ 9. Elke regel gebruikt dezelfde bewerking aan beide kanten. Een andere schrijfwijze van dezelfde relatie is P = 12 − 0,25Q. Als Q onbekend is bij P = 3: 3 = 12 − 0,25Q, dus 0,25Q = 9 en Q = 36; terugcontrole 12 − 0,25 × 36 = 3. Hiermee wordt de schrijfwijze in gemengde oefening 36 kort opgehaald zonder die boekopgave uit te werken. In de grafiek blijft Q horizontaal en P verticaal, ook wanneer P links staat.</a:t>
            </a:r>
          </a:p>
          <a:p xmlns:a="http://schemas.openxmlformats.org/drawingml/2006/main">
            <a:r>
              <a:rPr sz="1400"/>
              <a:t/>
            </a:r>
          </a:p>
          <a:p xmlns:a="http://schemas.openxmlformats.org/drawingml/2006/main">
            <a:r>
              <a:rPr sz="1400"/>
              <a:t>Misvatting: De letter links in de formule bepaalt niet de horizontale as.</a:t>
            </a:r>
          </a:p>
          <a:p xmlns:a="http://schemas.openxmlformats.org/drawingml/2006/main">
            <a:r>
              <a:rPr sz="1400"/>
              <a:t/>
            </a:r>
          </a:p>
          <a:p xmlns:a="http://schemas.openxmlformats.org/drawingml/2006/main">
            <a:r>
              <a:rPr sz="1400"/>
              <a:t>Overgang: Bekijk het effect van een eigen prijsverandering op dezelfde vraaglijn.</a:t>
            </a:r>
          </a:p>
          <a:p xmlns:a="http://schemas.openxmlformats.org/drawingml/2006/main">
            <a:r>
              <a:rPr sz="1400"/>
              <a:t/>
            </a:r>
          </a:p>
          <a:p xmlns:a="http://schemas.openxmlformats.org/drawingml/2006/main">
            <a:r>
              <a:rPr sz="1400"/>
              <a:t>Bron: Boek 1, tweede editie 2026, gedrukte pagina 48–51, 69–72.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Eigen rondvaartmodel, geen boekgegevens.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verandert en welke lijn hoort erbij?</a:t>
            </a:r>
          </a:p>
          <a:p xmlns:a="http://schemas.openxmlformats.org/drawingml/2006/main">
            <a:r>
              <a:rPr sz="1400"/>
              <a:t/>
            </a:r>
          </a:p>
          <a:p xmlns:a="http://schemas.openxmlformats.org/drawingml/2006/main">
            <a:r>
              <a:rPr sz="1400"/>
              <a:t>Uitleg: Eigen rondvaartmodel. Onder verder gelijke omstandigheden stijgt de kaartjesprijs van € 3 naar € 4. Q wordt 48 − 4 × 4 = 32 in plaats van 36 kaartjes per week. A = (36; 3), B = (32; 4). Laat zien dat beide op V₀ liggen. Eindpunten voor 0 ≤ P ≤ 9: (12; 9) en (48; 0). De lijn wordt niet naar de P-as verlengd.</a:t>
            </a:r>
          </a:p>
          <a:p xmlns:a="http://schemas.openxmlformats.org/drawingml/2006/main">
            <a:r>
              <a:rPr sz="1400"/>
              <a:t/>
            </a:r>
          </a:p>
          <a:p xmlns:a="http://schemas.openxmlformats.org/drawingml/2006/main">
            <a:r>
              <a:rPr sz="1400"/>
              <a:t>Misvatting: Eigen prijs geeft een beweging langs de lijn; de hogere prijs van het genoemde substituut veroorzaakt de verschuiving.</a:t>
            </a:r>
          </a:p>
          <a:p xmlns:a="http://schemas.openxmlformats.org/drawingml/2006/main">
            <a:r>
              <a:rPr sz="1400"/>
              <a:t/>
            </a:r>
          </a:p>
          <a:p xmlns:a="http://schemas.openxmlformats.org/drawingml/2006/main">
            <a:r>
              <a:rPr sz="1400"/>
              <a:t>Overgang: Voeg daarna het andere prijseffect toe bij dezelfde rondvaartprijs.</a:t>
            </a:r>
          </a:p>
          <a:p xmlns:a="http://schemas.openxmlformats.org/drawingml/2006/main">
            <a:r>
              <a:rPr sz="1400"/>
              <a:t/>
            </a:r>
          </a:p>
          <a:p xmlns:a="http://schemas.openxmlformats.org/drawingml/2006/main">
            <a:r>
              <a:rPr sz="1400"/>
              <a:t>Bron: Boek 1, tweede editie 2026, gedrukte pagina 58–61, 69–72.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Eigen context en getallen. De boekpagina’s onderbouwen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verandert en welke lijn hoort erbij?</a:t>
            </a:r>
          </a:p>
          <a:p xmlns:a="http://schemas.openxmlformats.org/drawingml/2006/main">
            <a:r>
              <a:rPr sz="1400"/>
              <a:t/>
            </a:r>
          </a:p>
          <a:p xmlns:a="http://schemas.openxmlformats.org/drawingml/2006/main">
            <a:r>
              <a:rPr sz="1400"/>
              <a:t>Uitleg: In deze eigen bron zijn waterfietsen een substituut voor rondvaart. De waterfietsprijs stijgt. Gegeven is een toename van 8 kaartjes per week bij elke prijs van € 0 tot en met € 9. Dus Q nieuw = 48 − 4P + 8 = 56 − 4P, met eindpunten (20; 9) en (56; 0). Bij P = 4: Q = 40. C = (40; 4). Vergelijk B en C horizontaal bij dezelfde prijs. Netto: 36 − 4 + 8 = 40. B is een denkstap, geen waargenomen tussensituatie. Er is geen aanbodmodel.</a:t>
            </a:r>
          </a:p>
          <a:p xmlns:a="http://schemas.openxmlformats.org/drawingml/2006/main">
            <a:r>
              <a:rPr sz="1400"/>
              <a:t/>
            </a:r>
          </a:p>
          <a:p xmlns:a="http://schemas.openxmlformats.org/drawingml/2006/main">
            <a:r>
              <a:rPr sz="1400"/>
              <a:t>Misvatting: Eigen prijs geeft een beweging langs de lijn; de hogere prijs van het genoemde substituut veroorzaakt de verschuiving.</a:t>
            </a:r>
          </a:p>
          <a:p xmlns:a="http://schemas.openxmlformats.org/drawingml/2006/main">
            <a:r>
              <a:rPr sz="1400"/>
              <a:t/>
            </a:r>
          </a:p>
          <a:p xmlns:a="http://schemas.openxmlformats.org/drawingml/2006/main">
            <a:r>
              <a:rPr sz="1400"/>
              <a:t>Overgang: Leerlingen vervolgen het gemengde werk.</a:t>
            </a:r>
          </a:p>
          <a:p xmlns:a="http://schemas.openxmlformats.org/drawingml/2006/main">
            <a:r>
              <a:rPr sz="1400"/>
              <a:t/>
            </a:r>
          </a:p>
          <a:p xmlns:a="http://schemas.openxmlformats.org/drawingml/2006/main">
            <a:r>
              <a:rPr sz="1400"/>
              <a:t>Bron: Boek 1, tweede editie 2026, gedrukte pagina 58–61, 69–72.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Eigen context en getallen. De boekpagina’s onderbouwen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en welke eerder geleerde regel heb je nodig?</a:t>
            </a:r>
          </a:p>
          <a:p xmlns:a="http://schemas.openxmlformats.org/drawingml/2006/main">
            <a:r>
              <a:rPr sz="1400"/>
              <a:t/>
            </a:r>
          </a:p>
          <a:p xmlns:a="http://schemas.openxmlformats.org/drawingml/2006/main">
            <a:r>
              <a:rPr sz="1400"/>
              <a:t>Uitleg: Laat deze dia staan tijdens gemengde opgaven. Begin met de eerste echte gemengde opgave, 34 op p. 78. Vervolg: 35 op p. 78, 36 op p. 79, daarna doel 37 met bronnen p. 80 en vragen p. 81. Huiswerk: alle gemengde opgaven 34, 35, 36, 37 en 38 maken en nakijken, waarbij 38 op p. 82 het bonuslabel behoudt. Deze gemengde paragraaf kent geen afzonderlijk basisblok: voeg geen fictieve basis- of startopgaven toe. 37 is gekozen voor bespreking omdat alle hoofdstukbewerkingen samenkomen. De boekplanning schat 63 minuten voor de normale gemengde route. Dat is geen gemeten duur en geen garantie dat alles in één les past. Start 34 gebruikt eerder uitgelegde kennis: betalingsbereidheid en gelijkheid op p. 46–47, procentuele verandering op p. 14. Verwijs bij twijfel daarheen. Bij terugkeer naar dit overzicht na de korte herhaling laat je leerlingen hun aanpak van 34 nalopen, zonder vooraf hun uitwerking te onthullen. Bij 36d: p. 60 legt expliciet uit dat meer kopers de groepsvraag kunnen veranderen zonder dat een bestaande koper meer vraagt.</a:t>
            </a:r>
          </a:p>
          <a:p xmlns:a="http://schemas.openxmlformats.org/drawingml/2006/main">
            <a:r>
              <a:rPr sz="1400"/>
              <a:t/>
            </a:r>
          </a:p>
          <a:p xmlns:a="http://schemas.openxmlformats.org/drawingml/2006/main">
            <a:r>
              <a:rPr sz="1400"/>
              <a:t>Misvatting: Start 34 is herhaling van eerder onderwezen bewerkingen; dit bewijst nog geen beheersing door de klas.</a:t>
            </a:r>
          </a:p>
          <a:p xmlns:a="http://schemas.openxmlformats.org/drawingml/2006/main">
            <a:r>
              <a:rPr sz="1400"/>
              <a:t/>
            </a:r>
          </a:p>
          <a:p xmlns:a="http://schemas.openxmlformats.org/drawingml/2006/main">
            <a:r>
              <a:rPr sz="1400"/>
              <a:t>Overgang: Ga verder naar de volgende lesfase wanneer de klas daarvoor klaar is.</a:t>
            </a:r>
          </a:p>
          <a:p xmlns:a="http://schemas.openxmlformats.org/drawingml/2006/main">
            <a:r>
              <a:rPr sz="1400"/>
              <a:t/>
            </a:r>
          </a:p>
          <a:p xmlns:a="http://schemas.openxmlformats.org/drawingml/2006/main">
            <a:r>
              <a:rPr sz="1400"/>
              <a:t>Bron: Boek 1, tweede editie 2026, gedrukte pagina 78–82.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en perioden geeft de bron?</a:t>
            </a:r>
          </a:p>
          <a:p xmlns:a="http://schemas.openxmlformats.org/drawingml/2006/main">
            <a:r>
              <a:rPr sz="1400"/>
              <a:t/>
            </a:r>
          </a:p>
          <a:p xmlns:a="http://schemas.openxmlformats.org/drawingml/2006/main">
            <a:r>
              <a:rPr sz="1400"/>
              <a:t>Uitleg: Toon de echte gegevens uit bron A. Andere omstandigheden zijn aanvankelijk gelijk. Alle cijfers zijn geconstrueerde modelgegevens. De club onderzoekt uitsluitend de vraag: er staat geen informatie over aanbod of beschikbaarheid. Geef nog geen somfunctie of berekende vraag.</a:t>
            </a:r>
          </a:p>
          <a:p xmlns:a="http://schemas.openxmlformats.org/drawingml/2006/main">
            <a:r>
              <a:rPr sz="1400"/>
              <a:t/>
            </a:r>
          </a:p>
          <a:p xmlns:a="http://schemas.openxmlformats.org/drawingml/2006/main">
            <a:r>
              <a:rPr sz="1400"/>
              <a:t>Misvatting: De twee groepen hebben verschillende koopgrenzen.</a:t>
            </a:r>
          </a:p>
          <a:p xmlns:a="http://schemas.openxmlformats.org/drawingml/2006/main">
            <a:r>
              <a:rPr sz="1400"/>
              <a:t/>
            </a:r>
          </a:p>
          <a:p xmlns:a="http://schemas.openxmlformats.org/drawingml/2006/main">
            <a:r>
              <a:rPr sz="1400"/>
              <a:t>Overgang: Lees eerst ook bron B en C, daarna alle vragen.</a:t>
            </a:r>
          </a:p>
          <a:p xmlns:a="http://schemas.openxmlformats.org/drawingml/2006/main">
            <a:r>
              <a:rPr sz="1400"/>
              <a:t/>
            </a:r>
          </a:p>
          <a:p xmlns:a="http://schemas.openxmlformats.org/drawingml/2006/main">
            <a:r>
              <a:rPr sz="1400"/>
              <a:t>Bron: Boek 1, tweede editie 2026, gedrukte pagina 80.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veranderingen noemt de bron precies?</a:t>
            </a:r>
          </a:p>
          <a:p xmlns:a="http://schemas.openxmlformats.org/drawingml/2006/main">
            <a:r>
              <a:rPr sz="1400"/>
              <a:t/>
            </a:r>
          </a:p>
          <a:p xmlns:a="http://schemas.openxmlformats.org/drawingml/2006/main">
            <a:r>
              <a:rPr sz="1400"/>
              <a:t>Uitleg: Lees bron B zonder alvast een nieuwe formule of netto-uitkomst te onthullen. Bewaar het afgebakende prijsinterval en de periode. De eigen prijs en de prijs van bowlen veranderen tegelijk.</a:t>
            </a:r>
          </a:p>
          <a:p xmlns:a="http://schemas.openxmlformats.org/drawingml/2006/main">
            <a:r>
              <a:rPr sz="1400"/>
              <a:t/>
            </a:r>
          </a:p>
          <a:p xmlns:a="http://schemas.openxmlformats.org/drawingml/2006/main">
            <a:r>
              <a:rPr sz="1400"/>
              <a:t>Misvatting: De bron geeft een prijs van een substituut, geen verandering van voorkeur.</a:t>
            </a:r>
          </a:p>
          <a:p xmlns:a="http://schemas.openxmlformats.org/drawingml/2006/main">
            <a:r>
              <a:rPr sz="1400"/>
              <a:t/>
            </a:r>
          </a:p>
          <a:p xmlns:a="http://schemas.openxmlformats.org/drawingml/2006/main">
            <a:r>
              <a:rPr sz="1400"/>
              <a:t>Overgang: Lees bron C voordat je de vragen bespreekt.</a:t>
            </a:r>
          </a:p>
          <a:p xmlns:a="http://schemas.openxmlformats.org/drawingml/2006/main">
            <a:r>
              <a:rPr sz="1400"/>
              <a:t/>
            </a:r>
          </a:p>
          <a:p xmlns:a="http://schemas.openxmlformats.org/drawingml/2006/main">
            <a:r>
              <a:rPr sz="1400"/>
              <a:t>Bron: Boek 1, tweede editie 2026, gedrukte pagina 80.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heb je nodig voor Sems koopbeslissing?</a:t>
            </a:r>
          </a:p>
          <a:p xmlns:a="http://schemas.openxmlformats.org/drawingml/2006/main">
            <a:r>
              <a:rPr sz="1400"/>
              <a:t/>
            </a:r>
          </a:p>
          <a:p xmlns:a="http://schemas.openxmlformats.org/drawingml/2006/main">
            <a:r>
              <a:rPr sz="1400"/>
              <a:t>Uitleg: Dit zijn de echte bron-C-gegevens. Geef nog geen antwoord op f. De zin over groep A behoort tot de bron en moet zichtbaar blijven.</a:t>
            </a:r>
          </a:p>
          <a:p xmlns:a="http://schemas.openxmlformats.org/drawingml/2006/main">
            <a:r>
              <a:rPr sz="1400"/>
              <a:t/>
            </a:r>
          </a:p>
          <a:p xmlns:a="http://schemas.openxmlformats.org/drawingml/2006/main">
            <a:r>
              <a:rPr sz="1400"/>
              <a:t>Misvatting: Een brongegeven is nog geen uitgewerkt antwoord. Laat leerlingen eerst hun eigen redenering vergelijken.</a:t>
            </a:r>
          </a:p>
          <a:p xmlns:a="http://schemas.openxmlformats.org/drawingml/2006/main">
            <a:r>
              <a:rPr sz="1400"/>
              <a:t/>
            </a:r>
          </a:p>
          <a:p xmlns:a="http://schemas.openxmlformats.org/drawingml/2006/main">
            <a:r>
              <a:rPr sz="1400"/>
              <a:t>Overgang: Toon de oningevulde beginfiguur.</a:t>
            </a:r>
          </a:p>
          <a:p xmlns:a="http://schemas.openxmlformats.org/drawingml/2006/main">
            <a:r>
              <a:rPr sz="1400"/>
              <a:t/>
            </a:r>
          </a:p>
          <a:p xmlns:a="http://schemas.openxmlformats.org/drawingml/2006/main">
            <a:r>
              <a:rPr sz="1400"/>
              <a:t>Bron: Boek 1, tweede editie 2026, gedrukte pagina 80.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prijsinterval mag je straks aanvullen?</a:t>
            </a:r>
          </a:p>
          <a:p xmlns:a="http://schemas.openxmlformats.org/drawingml/2006/main">
            <a:r>
              <a:rPr sz="1400"/>
              <a:t/>
            </a:r>
          </a:p>
          <a:p xmlns:a="http://schemas.openxmlformats.org/drawingml/2006/main">
            <a:r>
              <a:rPr sz="1400"/>
              <a:t>Uitleg: De native grafiek reproduceert figuur 22 met hetzelfde oorspronkelijke lijnstuk: (12; 8) naar (60; 0). De x-as loopt iets verder, tot 84, om de latere curveaanduiding leesbaar te houden; het boek gebruikt 72. De prijsas behoudt 0–12. Er staan geen antwoordpunten of nieuwe lijn in deze vraagfase.</a:t>
            </a:r>
          </a:p>
          <a:p xmlns:a="http://schemas.openxmlformats.org/drawingml/2006/main">
            <a:r>
              <a:rPr sz="1400"/>
              <a:t/>
            </a:r>
          </a:p>
          <a:p xmlns:a="http://schemas.openxmlformats.org/drawingml/2006/main">
            <a:r>
              <a:rPr sz="1400"/>
              <a:t>Misvatting: De lijn hoeft niet doorgetrokken te worden naar de prijsas.</a:t>
            </a:r>
          </a:p>
          <a:p xmlns:a="http://schemas.openxmlformats.org/drawingml/2006/main">
            <a:r>
              <a:rPr sz="1400"/>
              <a:t/>
            </a:r>
          </a:p>
          <a:p xmlns:a="http://schemas.openxmlformats.org/drawingml/2006/main">
            <a:r>
              <a:rPr sz="1400"/>
              <a:t>Overgang: Laat alle deelvragen zien voordat de antwoorden verschijnen.</a:t>
            </a:r>
          </a:p>
          <a:p xmlns:a="http://schemas.openxmlformats.org/drawingml/2006/main">
            <a:r>
              <a:rPr sz="1400"/>
              <a:t/>
            </a:r>
          </a:p>
          <a:p xmlns:a="http://schemas.openxmlformats.org/drawingml/2006/main">
            <a:r>
              <a:rPr sz="1400"/>
              <a:t>Bron: Boek 1, tweede editie 2026, gedrukte pagina 80.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gebruik je per deelvraag?</a:t>
            </a:r>
          </a:p>
          <a:p xmlns:a="http://schemas.openxmlformats.org/drawingml/2006/main">
            <a:r>
              <a:rPr sz="1400"/>
              <a:t/>
            </a:r>
          </a:p>
          <a:p xmlns:a="http://schemas.openxmlformats.org/drawingml/2006/main">
            <a:r>
              <a:rPr sz="1400"/>
              <a:t>Uitleg: Dit zijn alle deelvragen a–c van de echte doelopgave. Gebruik de drie bronnen en figuur 22 op p. 80. Bij berekeningen worden de eenheid en bij verklaringen de specifieke oorzaak gevraagd. Antwoorden blijven nog buiten beeld.</a:t>
            </a:r>
          </a:p>
          <a:p xmlns:a="http://schemas.openxmlformats.org/drawingml/2006/main">
            <a:r>
              <a:rPr sz="1400"/>
              <a:t/>
            </a:r>
          </a:p>
          <a:p xmlns:a="http://schemas.openxmlformats.org/drawingml/2006/main">
            <a:r>
              <a:rPr sz="1400"/>
              <a:t>Misvatting: Sla controleberekeningen niet over.</a:t>
            </a:r>
          </a:p>
          <a:p xmlns:a="http://schemas.openxmlformats.org/drawingml/2006/main">
            <a:r>
              <a:rPr sz="1400"/>
              <a:t/>
            </a:r>
          </a:p>
          <a:p xmlns:a="http://schemas.openxmlformats.org/drawingml/2006/main">
            <a:r>
              <a:rPr sz="1400"/>
              <a:t>Overgang: Toon ook d–f, pas daarna beginnen de antwoorden.</a:t>
            </a:r>
          </a:p>
          <a:p xmlns:a="http://schemas.openxmlformats.org/drawingml/2006/main">
            <a:r>
              <a:rPr sz="1400"/>
              <a:t/>
            </a:r>
          </a:p>
          <a:p xmlns:a="http://schemas.openxmlformats.org/drawingml/2006/main">
            <a:r>
              <a:rPr sz="1400"/>
              <a:t>Bron: Boek 1, tweede editie 2026, gedrukte pagina 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jouw antwoord moet je kunnen verklaren?</a:t>
            </a:r>
          </a:p>
          <a:p xmlns:a="http://schemas.openxmlformats.org/drawingml/2006/main">
            <a:r>
              <a:rPr sz="1400"/>
              <a:t/>
            </a:r>
          </a:p>
          <a:p xmlns:a="http://schemas.openxmlformats.org/drawingml/2006/main">
            <a:r>
              <a:rPr sz="1400"/>
              <a:t>Uitleg: Dit zijn alle deelvragen d–f van de echte doelopgave. Laat de bronbeperking zichtbaar: er wordt gevraagd, niet bewezen verkocht. Alle context, brongegevens, de gegeven figuur en alle zes deelvragen zijn nu beschikbaar vóór de eerste antwoorddia.</a:t>
            </a:r>
          </a:p>
          <a:p xmlns:a="http://schemas.openxmlformats.org/drawingml/2006/main">
            <a:r>
              <a:rPr sz="1400"/>
              <a:t/>
            </a:r>
          </a:p>
          <a:p xmlns:a="http://schemas.openxmlformats.org/drawingml/2006/main">
            <a:r>
              <a:rPr sz="1400"/>
              <a:t>Misvatting: Een gelijk totaal betekent niet automatisch dat de afzonderlijke effecten nul zijn.</a:t>
            </a:r>
          </a:p>
          <a:p xmlns:a="http://schemas.openxmlformats.org/drawingml/2006/main">
            <a:r>
              <a:rPr sz="1400"/>
              <a:t/>
            </a:r>
          </a:p>
          <a:p xmlns:a="http://schemas.openxmlformats.org/drawingml/2006/main">
            <a:r>
              <a:rPr sz="1400"/>
              <a:t>Overgang: Start nu met a: de functie en de oude hoeveelheid.</a:t>
            </a:r>
          </a:p>
          <a:p xmlns:a="http://schemas.openxmlformats.org/drawingml/2006/main">
            <a:r>
              <a:rPr sz="1400"/>
              <a:t/>
            </a:r>
          </a:p>
          <a:p xmlns:a="http://schemas.openxmlformats.org/drawingml/2006/main">
            <a:r>
              <a:rPr sz="1400"/>
              <a:t>Bron: Boek 1, tweede editie 2026, gedrukte pagina 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het interval naast de somfunctie?</a:t>
            </a:r>
          </a:p>
          <a:p xmlns:a="http://schemas.openxmlformats.org/drawingml/2006/main">
            <a:r>
              <a:rPr sz="1400"/>
              <a:t/>
            </a:r>
          </a:p>
          <a:p xmlns:a="http://schemas.openxmlformats.org/drawingml/2006/main">
            <a:r>
              <a:rPr sz="1400"/>
              <a:t>Uitleg: Bron A levert beide functies. Tel hoeveelheden bij dezelfde prijs op. De groep-A-grens van € 8 begrenst dit gezamenlijke lijnstuk. Bij de oude prijs € 4 is de gezamenlijke vraag 36 halfuren per week. De afzonderlijke berekeningen leveren 12 en 24; dezelfde som bevestigt de uitkomst.</a:t>
            </a:r>
          </a:p>
          <a:p xmlns:a="http://schemas.openxmlformats.org/drawingml/2006/main">
            <a:r>
              <a:rPr sz="1400"/>
              <a:t/>
            </a:r>
          </a:p>
          <a:p xmlns:a="http://schemas.openxmlformats.org/drawingml/2006/main">
            <a:r>
              <a:rPr sz="1400"/>
              <a:t>Misvatting: De ruwe somfunctie mag niet zonder meer boven € 8 gebruikt worden.</a:t>
            </a:r>
          </a:p>
          <a:p xmlns:a="http://schemas.openxmlformats.org/drawingml/2006/main">
            <a:r>
              <a:rPr sz="1400"/>
              <a:t/>
            </a:r>
          </a:p>
          <a:p xmlns:a="http://schemas.openxmlformats.org/drawingml/2006/main">
            <a:r>
              <a:rPr sz="1400"/>
              <a:t>Overgang: Reken met de oorspronkelijke functie terug naar een prijs.</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zowel de algebra als de geldigheid?</a:t>
            </a:r>
          </a:p>
          <a:p xmlns:a="http://schemas.openxmlformats.org/drawingml/2006/main">
            <a:r>
              <a:rPr sz="1400"/>
              <a:t/>
            </a:r>
          </a:p>
          <a:p xmlns:a="http://schemas.openxmlformats.org/drawingml/2006/main">
            <a:r>
              <a:rPr sz="1400"/>
              <a:t>Uitleg: Voeg aan beide kanten 6P toe, trek vervolgens 30 af, deel door 6. Controleer in de oorspronkelijke gezamenlijke functie én op het interval. Het antwoord is een prijs per halfuur.</a:t>
            </a:r>
          </a:p>
          <a:p xmlns:a="http://schemas.openxmlformats.org/drawingml/2006/main">
            <a:r>
              <a:rPr sz="1400"/>
              <a:t/>
            </a:r>
          </a:p>
          <a:p xmlns:a="http://schemas.openxmlformats.org/drawingml/2006/main">
            <a:r>
              <a:rPr sz="1400"/>
              <a:t>Misvatting: Verwissel Q en P niet.</a:t>
            </a:r>
          </a:p>
          <a:p xmlns:a="http://schemas.openxmlformats.org/drawingml/2006/main">
            <a:r>
              <a:rPr sz="1400"/>
              <a:t/>
            </a:r>
          </a:p>
          <a:p xmlns:a="http://schemas.openxmlformats.org/drawingml/2006/main">
            <a:r>
              <a:rPr sz="1400"/>
              <a:t>Overgang: Splits de twee veranderingen uit bron B.</a:t>
            </a:r>
          </a:p>
          <a:p xmlns:a="http://schemas.openxmlformats.org/drawingml/2006/main">
            <a:r>
              <a:rPr sz="1400"/>
              <a:t/>
            </a:r>
          </a:p>
          <a:p xmlns:a="http://schemas.openxmlformats.org/drawingml/2006/main">
            <a:r>
              <a:rPr sz="1400"/>
              <a:t>Bron: Boek 1, tweede editie 2026, gedrukte pagina 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veroorzaakt de beweging, welke de verschuiving?</a:t>
            </a:r>
          </a:p>
          <a:p xmlns:a="http://schemas.openxmlformats.org/drawingml/2006/main">
            <a:r>
              <a:rPr sz="1400"/>
              <a:t/>
            </a:r>
          </a:p>
          <a:p xmlns:a="http://schemas.openxmlformats.org/drawingml/2006/main">
            <a:r>
              <a:rPr sz="1400"/>
              <a:t>Uitleg: Het eigen-prijseffect is een daling van 36 naar 24. De andere specifieke factor is de hogere prijs van het substituut bowlen. Die verhoogt de vraag bij elke prijs op het gegeven interval. Dit is niet een onbenoemde smaakverandering. De tussenstap met alleen de tafeltennisprijs is analytisch, geen gemeten tijdsvolgorde.</a:t>
            </a:r>
          </a:p>
          <a:p xmlns:a="http://schemas.openxmlformats.org/drawingml/2006/main">
            <a:r>
              <a:rPr sz="1400"/>
              <a:t/>
            </a:r>
          </a:p>
          <a:p xmlns:a="http://schemas.openxmlformats.org/drawingml/2006/main">
            <a:r>
              <a:rPr sz="1400"/>
              <a:t>Misvatting: Noem de onderzochte markt: tafeltennistijd.</a:t>
            </a:r>
          </a:p>
          <a:p xmlns:a="http://schemas.openxmlformats.org/drawingml/2006/main">
            <a:r>
              <a:rPr sz="1400"/>
              <a:t/>
            </a:r>
          </a:p>
          <a:p xmlns:a="http://schemas.openxmlformats.org/drawingml/2006/main">
            <a:r>
              <a:rPr sz="1400"/>
              <a:t>Overgang: Stel eerst de nieuwe functie op en bepaal de eindpunten.</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stoppen beide lijnen bij P = 8?</a:t>
            </a:r>
          </a:p>
          <a:p xmlns:a="http://schemas.openxmlformats.org/drawingml/2006/main">
            <a:r>
              <a:rPr sz="1400"/>
              <a:t/>
            </a:r>
          </a:p>
          <a:p xmlns:a="http://schemas.openxmlformats.org/drawingml/2006/main">
            <a:r>
              <a:rPr sz="1400"/>
              <a:t>Uitleg: Tel de constante toename 12 bij de oude functie. Vul de onder- en bovengrens van het gegeven prijsinterval in. Het gevraagde nieuwe lijnstuk eindigt bij (24; 8), niet op de P-as. De oude eindpunten zijn zichtbaar ter controle. Alle hoeveelheden zijn halfuren per week.</a:t>
            </a:r>
          </a:p>
          <a:p xmlns:a="http://schemas.openxmlformats.org/drawingml/2006/main">
            <a:r>
              <a:rPr sz="1400"/>
              <a:t/>
            </a:r>
          </a:p>
          <a:p xmlns:a="http://schemas.openxmlformats.org/drawingml/2006/main">
            <a:r>
              <a:rPr sz="1400"/>
              <a:t>Misvatting: De rekenkundige P-asafsnede van de nieuwe formule valt buiten de gegeven geldigheid.</a:t>
            </a:r>
          </a:p>
          <a:p xmlns:a="http://schemas.openxmlformats.org/drawingml/2006/main">
            <a:r>
              <a:rPr sz="1400"/>
              <a:t/>
            </a:r>
          </a:p>
          <a:p xmlns:a="http://schemas.openxmlformats.org/drawingml/2006/main">
            <a:r>
              <a:rPr sz="1400"/>
              <a:t>Overgang: Teken eerst de oude situatie A en de tussenstap B op V₀.</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oude en welke bij de gewijzigde omstandigheden?</a:t>
            </a:r>
          </a:p>
          <a:p xmlns:a="http://schemas.openxmlformats.org/drawingml/2006/main">
            <a:r>
              <a:rPr sz="1400"/>
              <a:t/>
            </a:r>
          </a:p>
          <a:p xmlns:a="http://schemas.openxmlformats.org/drawingml/2006/main">
            <a:r>
              <a:rPr sz="1400"/>
              <a:t>Uitleg: A = (36; 4) is de oude situatie. B = (24; 6) ligt op dezelfde V₀ en stelt alleen de eigen-prijsverandering voor. Controleer 60 − 6 × 4 = 36 en 60 − 6 × 6 = 24. De assen zijn identiek aan de oorspronkelijke figuur in deze presentatie.</a:t>
            </a:r>
          </a:p>
          <a:p xmlns:a="http://schemas.openxmlformats.org/drawingml/2006/main">
            <a:r>
              <a:rPr sz="1400"/>
              <a:t/>
            </a:r>
          </a:p>
          <a:p xmlns:a="http://schemas.openxmlformats.org/drawingml/2006/main">
            <a:r>
              <a:rPr sz="1400"/>
              <a:t>Misvatting: Schrijf eerst de hoeveelheid en dan de prijs in een coördinaat.</a:t>
            </a:r>
          </a:p>
          <a:p xmlns:a="http://schemas.openxmlformats.org/drawingml/2006/main">
            <a:r>
              <a:rPr sz="1400"/>
              <a:t/>
            </a:r>
          </a:p>
          <a:p xmlns:a="http://schemas.openxmlformats.org/drawingml/2006/main">
            <a:r>
              <a:rPr sz="1400"/>
              <a:t>Overgang: Voeg V₁ en C toe met dezelfde assenschalen.</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oude en welke bij de gewijzigde omstandigheden?</a:t>
            </a:r>
          </a:p>
          <a:p xmlns:a="http://schemas.openxmlformats.org/drawingml/2006/main">
            <a:r>
              <a:rPr sz="1400"/>
              <a:t/>
            </a:r>
          </a:p>
          <a:p xmlns:a="http://schemas.openxmlformats.org/drawingml/2006/main">
            <a:r>
              <a:rPr sz="1400"/>
              <a:t>Uitleg: De nieuwe V₁ loopt door (24; 8) en (72; 0). C = (36; 6) ligt op V₁: 72 − 6 × 6 = 36. De horizontale stippellijn van B naar C vergelijkt de vraag bij € 6. Deze afstand is 12 halfuren per week. A en C hebben dezelfde Q maar verschillende P. B blijft een denkstap; er is geen aanbod of evenwicht weergegeven.</a:t>
            </a:r>
          </a:p>
          <a:p xmlns:a="http://schemas.openxmlformats.org/drawingml/2006/main">
            <a:r>
              <a:rPr sz="1400"/>
              <a:t/>
            </a:r>
          </a:p>
          <a:p xmlns:a="http://schemas.openxmlformats.org/drawingml/2006/main">
            <a:r>
              <a:rPr sz="1400"/>
              <a:t>Misvatting: Schrijf eerst de hoeveelheid en dan de prijs in een coördinaat.</a:t>
            </a:r>
          </a:p>
          <a:p xmlns:a="http://schemas.openxmlformats.org/drawingml/2006/main">
            <a:r>
              <a:rPr sz="1400"/>
              <a:t/>
            </a:r>
          </a:p>
          <a:p xmlns:a="http://schemas.openxmlformats.org/drawingml/2006/main">
            <a:r>
              <a:rPr sz="1400"/>
              <a:t>Overgang: Beoordeel de uitspraak over het gelijke totaal.</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zou de vraag zijn zonder de verandering van de bowlingprijs?</a:t>
            </a:r>
          </a:p>
          <a:p xmlns:a="http://schemas.openxmlformats.org/drawingml/2006/main">
            <a:r>
              <a:rPr sz="1400"/>
              <a:t/>
            </a:r>
          </a:p>
          <a:p xmlns:a="http://schemas.openxmlformats.org/drawingml/2006/main">
            <a:r>
              <a:rPr sz="1400"/>
              <a:t>Uitleg: De uiteindelijke vraag is 36, gelijk aan de oude hoeveelheid. De eigen prijs had wél effect: zonder de duurdere bowling zou de hoeveelheid 24 zijn. Het substituuteffect voegt 12 toe. Controle: 36 − 12 + 12 = 36 halfuren per week. Deze nulverandering is specifiek voor de gegeven effectgroottes.</a:t>
            </a:r>
          </a:p>
          <a:p xmlns:a="http://schemas.openxmlformats.org/drawingml/2006/main">
            <a:r>
              <a:rPr sz="1400"/>
              <a:t/>
            </a:r>
          </a:p>
          <a:p xmlns:a="http://schemas.openxmlformats.org/drawingml/2006/main">
            <a:r>
              <a:rPr sz="1400"/>
              <a:t>Misvatting: Hetzelfde totaal bewijst niet dat er niets is veranderd.</a:t>
            </a:r>
          </a:p>
          <a:p xmlns:a="http://schemas.openxmlformats.org/drawingml/2006/main">
            <a:r>
              <a:rPr sz="1400"/>
              <a:t/>
            </a:r>
          </a:p>
          <a:p xmlns:a="http://schemas.openxmlformats.org/drawingml/2006/main">
            <a:r>
              <a:rPr sz="1400"/>
              <a:t>Overgang: Onderzoek tot slot Sem als koper binnen de groep.</a:t>
            </a:r>
          </a:p>
          <a:p xmlns:a="http://schemas.openxmlformats.org/drawingml/2006/main">
            <a:r>
              <a:rPr sz="1400"/>
              <a:t/>
            </a:r>
          </a:p>
          <a:p xmlns:a="http://schemas.openxmlformats.org/drawingml/2006/main">
            <a:r>
              <a:rPr sz="1400"/>
              <a:t>Bron: Boek 1, tweede editie 2026, gedrukte pagina 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voorkomt een extra optelling?</a:t>
            </a:r>
          </a:p>
          <a:p xmlns:a="http://schemas.openxmlformats.org/drawingml/2006/main">
            <a:r>
              <a:rPr sz="1400"/>
              <a:t/>
            </a:r>
          </a:p>
          <a:p xmlns:a="http://schemas.openxmlformats.org/drawingml/2006/main">
            <a:r>
              <a:rPr sz="1400"/>
              <a:t>Uitleg: Vergelijk per halfuur: 7 ≥ 6 en 6 = 6, maar 4 &lt; 6 en 2 &lt; 6. Dus Sem wil twee halfuren. Zijn budget beperkt hem niet verder. De bron noemt hem expliciet als al meegeteld in A. Hij komt daarom niet bovenop de gezamenlijke 36. Zijn individuele beslissing illustreert een deel van de bestaande groep.</a:t>
            </a:r>
          </a:p>
          <a:p xmlns:a="http://schemas.openxmlformats.org/drawingml/2006/main">
            <a:r>
              <a:rPr sz="1400"/>
              <a:t/>
            </a:r>
          </a:p>
          <a:p xmlns:a="http://schemas.openxmlformats.org/drawingml/2006/main">
            <a:r>
              <a:rPr sz="1400"/>
              <a:t>Misvatting: Een herkenbare persoon binnen een groepsbron is geen extra groep.</a:t>
            </a:r>
          </a:p>
          <a:p xmlns:a="http://schemas.openxmlformats.org/drawingml/2006/main">
            <a:r>
              <a:rPr sz="1400"/>
              <a:t/>
            </a:r>
          </a:p>
          <a:p xmlns:a="http://schemas.openxmlformats.org/drawingml/2006/main">
            <a:r>
              <a:rPr sz="1400"/>
              <a:t>Overgang: Controleer nu hoe ver de economische conclusie mag gaan.</a:t>
            </a:r>
          </a:p>
          <a:p xmlns:a="http://schemas.openxmlformats.org/drawingml/2006/main">
            <a:r>
              <a:rPr sz="1400"/>
              <a:t/>
            </a:r>
          </a:p>
          <a:p xmlns:a="http://schemas.openxmlformats.org/drawingml/2006/main">
            <a:r>
              <a:rPr sz="1400"/>
              <a:t>Bron: Boek 1, tweede editie 2026, gedrukte pagina 80–81.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informatie zou je nodig hebben voor een uitspraak over verkoop?</a:t>
            </a:r>
          </a:p>
          <a:p xmlns:a="http://schemas.openxmlformats.org/drawingml/2006/main">
            <a:r>
              <a:rPr sz="1400"/>
              <a:t/>
            </a:r>
          </a:p>
          <a:p xmlns:a="http://schemas.openxmlformats.org/drawingml/2006/main">
            <a:r>
              <a:rPr sz="1400"/>
              <a:t>Uitleg: Loop het eigen antwoord na: a som, interval en groepscontrole; b prijs en controle; c specifieke oorzaken; d twee lijnstukken, assen, A/B/C; e berekening en twee effecten; f gelijkheid en geen dubbeltelling. De club onderzoekt de koopkant, niet de gerealiseerde transacties. Vraag en aanbod samen komen in hoofdstuk 1.3.</a:t>
            </a:r>
          </a:p>
          <a:p xmlns:a="http://schemas.openxmlformats.org/drawingml/2006/main">
            <a:r>
              <a:rPr sz="1400"/>
              <a:t/>
            </a:r>
          </a:p>
          <a:p xmlns:a="http://schemas.openxmlformats.org/drawingml/2006/main">
            <a:r>
              <a:rPr sz="1400"/>
              <a:t>Misvatting: Gevraagde hoeveelheid is geen bewijs van werkelijk verkochte hoeveelheid.</a:t>
            </a:r>
          </a:p>
          <a:p xmlns:a="http://schemas.openxmlformats.org/drawingml/2006/main">
            <a:r>
              <a:rPr sz="1400"/>
              <a:t/>
            </a:r>
          </a:p>
          <a:p xmlns:a="http://schemas.openxmlformats.org/drawingml/2006/main">
            <a:r>
              <a:rPr sz="1400"/>
              <a:t>Overgang: Laat de afsluitende overzichtsdia staan.</a:t>
            </a:r>
          </a:p>
          <a:p xmlns:a="http://schemas.openxmlformats.org/drawingml/2006/main">
            <a:r>
              <a:rPr sz="1400"/>
              <a:t/>
            </a:r>
          </a:p>
          <a:p xmlns:a="http://schemas.openxmlformats.org/drawingml/2006/main">
            <a:r>
              <a:rPr sz="1400"/>
              <a:t>Bron: Boek 1, tweede editie 2026, gedrukte pagina 49, 79–81.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en welke eerder geleerde regel heb je nodig?</a:t>
            </a:r>
          </a:p>
          <a:p xmlns:a="http://schemas.openxmlformats.org/drawingml/2006/main">
            <a:r>
              <a:rPr sz="1400"/>
              <a:t/>
            </a:r>
          </a:p>
          <a:p xmlns:a="http://schemas.openxmlformats.org/drawingml/2006/main">
            <a:r>
              <a:rPr sz="1400"/>
              <a:t>Uitleg: Laat deze dia staan tijdens afsluiting / huiswerk. Begin met de eerste echte gemengde opgave, 34 op p. 78. Vervolg: 35 op p. 78, 36 op p. 79, daarna doel 37 met bronnen p. 80 en vragen p. 81. Huiswerk: alle gemengde opgaven 34, 35, 36, 37 en 38 maken en nakijken, waarbij 38 op p. 82 het bonuslabel behoudt. Deze gemengde paragraaf kent geen afzonderlijk basisblok: voeg geen fictieve basis- of startopgaven toe. 37 is gekozen voor bespreking omdat alle hoofdstukbewerkingen samenkomen. De boekplanning schat 63 minuten voor de normale gemengde route. Dat is geen gemeten duur en geen garantie dat alles in één les past. Start 34 gebruikt eerder uitgelegde kennis: betalingsbereidheid en gelijkheid op p. 46–47, procentuele verandering op p. 14. Verwijs bij twijfel daarheen. Bij terugkeer naar dit overzicht na de korte herhaling laat je leerlingen hun aanpak van 34 nalopen, zonder vooraf hun uitwerking te onthullen. Bij 36d: p. 60 legt expliciet uit dat meer kopers de groepsvraag kunnen veranderen zonder dat een bestaande koper meer vraagt.</a:t>
            </a:r>
          </a:p>
          <a:p xmlns:a="http://schemas.openxmlformats.org/drawingml/2006/main">
            <a:r>
              <a:rPr sz="1400"/>
              <a:t/>
            </a:r>
          </a:p>
          <a:p xmlns:a="http://schemas.openxmlformats.org/drawingml/2006/main">
            <a:r>
              <a:rPr sz="1400"/>
              <a:t>Misvatting: Start 34 is herhaling van eerder onderwezen bewerkingen; dit bewijst nog geen beheersing door de klas.</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1, tweede editie 2026, gedrukte pagina 78–82.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https://github.com/meijer1973/4veco-lessen/blob/173aa9a803897965c572df2c4e7f83cdb135eb1c/Boek%201%20-%20Grondslagen%2C%20vraag%20en%20aanbod/edities/tweede-editie-2026/bronnen/H2/Antwoorden.md#ans37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f1b20748f944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fa326ccdcc4565" /><Relationship Type="http://schemas.openxmlformats.org/officeDocument/2006/relationships/slideLayout" Target="/ppt/slideLayouts/slideLayout1.xml" Id="R3a2d8e469f0f44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2d8e469f0f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4be3007f5444aa" /><Relationship Type="http://schemas.openxmlformats.org/officeDocument/2006/relationships/notesSlide" Target="/ppt/notesSlides/notesSlide1.xml" Id="Rcee02115db024b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4a378271054bc7" /><Relationship Type="http://schemas.openxmlformats.org/officeDocument/2006/relationships/notesSlide" Target="/ppt/notesSlides/notesSlide2.xml" Id="R7f7782aa35cc49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e50d8af64a432d" /><Relationship Type="http://schemas.openxmlformats.org/officeDocument/2006/relationships/notesSlide" Target="/ppt/notesSlides/notesSlide3.xml" Id="R15ab6227e0fe42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a81cfa191e4584" /><Relationship Type="http://schemas.openxmlformats.org/officeDocument/2006/relationships/notesSlide" Target="/ppt/notesSlides/notesSlide4.xml" Id="R9534cde69d3348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f6d59e7b0041b4" /><Relationship Type="http://schemas.openxmlformats.org/officeDocument/2006/relationships/chart" Target="/ppt/slides/charts/chart1.xml" Id="Ra98d3fd9de0c4308" /><Relationship Type="http://schemas.openxmlformats.org/officeDocument/2006/relationships/notesSlide" Target="/ppt/notesSlides/notesSlide5.xml" Id="R6e24a3e4ce5645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4b826a36ae4bce" /><Relationship Type="http://schemas.openxmlformats.org/officeDocument/2006/relationships/chart" Target="/ppt/slides/charts/chart2.xml" Id="R281d0441fb614756" /><Relationship Type="http://schemas.openxmlformats.org/officeDocument/2006/relationships/notesSlide" Target="/ppt/notesSlides/notesSlide6.xml" Id="R387ff87b4fce45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6661df16924352" /><Relationship Type="http://schemas.openxmlformats.org/officeDocument/2006/relationships/notesSlide" Target="/ppt/notesSlides/notesSlide7.xml" Id="R58ff208e5e27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670b654c98469c" /><Relationship Type="http://schemas.openxmlformats.org/officeDocument/2006/relationships/notesSlide" Target="/ppt/notesSlides/notesSlide8.xml" Id="Rb5c4fc1607de4b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2bb86d8f744d2f" /><Relationship Type="http://schemas.openxmlformats.org/officeDocument/2006/relationships/notesSlide" Target="/ppt/notesSlides/notesSlide9.xml" Id="Ra8f3d208669847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c44e7d0c474753" /><Relationship Type="http://schemas.openxmlformats.org/officeDocument/2006/relationships/notesSlide" Target="/ppt/notesSlides/notesSlide10.xml" Id="Re7bd144ea5d34e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f1846be573433b" /><Relationship Type="http://schemas.openxmlformats.org/officeDocument/2006/relationships/chart" Target="/ppt/slides/charts/chart3.xml" Id="R7fcc3b75694343b9" /><Relationship Type="http://schemas.openxmlformats.org/officeDocument/2006/relationships/notesSlide" Target="/ppt/notesSlides/notesSlide11.xml" Id="R760552bb8e784f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136d05ffe64189" /><Relationship Type="http://schemas.openxmlformats.org/officeDocument/2006/relationships/notesSlide" Target="/ppt/notesSlides/notesSlide12.xml" Id="Rc9cc4de2a8de42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1d609cc8eb4a92" /><Relationship Type="http://schemas.openxmlformats.org/officeDocument/2006/relationships/notesSlide" Target="/ppt/notesSlides/notesSlide13.xml" Id="R412ce22df65642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cca85f77b6e413e" /><Relationship Type="http://schemas.openxmlformats.org/officeDocument/2006/relationships/notesSlide" Target="/ppt/notesSlides/notesSlide14.xml" Id="R165ba15679e44f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a346de07564a6e" /><Relationship Type="http://schemas.openxmlformats.org/officeDocument/2006/relationships/notesSlide" Target="/ppt/notesSlides/notesSlide15.xml" Id="R6e1351c49af241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e2acae5453c4e24" /><Relationship Type="http://schemas.openxmlformats.org/officeDocument/2006/relationships/notesSlide" Target="/ppt/notesSlides/notesSlide16.xml" Id="R7e62a4f9529747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00af709fb2040fc" /><Relationship Type="http://schemas.openxmlformats.org/officeDocument/2006/relationships/notesSlide" Target="/ppt/notesSlides/notesSlide17.xml" Id="R4de262aeeb5a4a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3ce92f0a1124e48" /><Relationship Type="http://schemas.openxmlformats.org/officeDocument/2006/relationships/chart" Target="/ppt/slides/charts/chart4.xml" Id="R94d4fbf653ef4116" /><Relationship Type="http://schemas.openxmlformats.org/officeDocument/2006/relationships/notesSlide" Target="/ppt/notesSlides/notesSlide18.xml" Id="R6417cb4f10684e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ee3a6ed69b4345" /><Relationship Type="http://schemas.openxmlformats.org/officeDocument/2006/relationships/chart" Target="/ppt/slides/charts/chart5.xml" Id="R62b330eede934c6f" /><Relationship Type="http://schemas.openxmlformats.org/officeDocument/2006/relationships/notesSlide" Target="/ppt/notesSlides/notesSlide19.xml" Id="R0dd193a5a47540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021eaaaad404a71" /><Relationship Type="http://schemas.openxmlformats.org/officeDocument/2006/relationships/notesSlide" Target="/ppt/notesSlides/notesSlide20.xml" Id="R4749542eedae40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9abfe4937404a6b" /><Relationship Type="http://schemas.openxmlformats.org/officeDocument/2006/relationships/notesSlide" Target="/ppt/notesSlides/notesSlide21.xml" Id="R0a3a0229510e43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8d1c334bee84b54" /><Relationship Type="http://schemas.openxmlformats.org/officeDocument/2006/relationships/notesSlide" Target="/ppt/notesSlides/notesSlide22.xml" Id="Rb0bd9e4abfed44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215946710e84029" /><Relationship Type="http://schemas.openxmlformats.org/officeDocument/2006/relationships/notesSlide" Target="/ppt/notesSlides/notesSlide23.xml" Id="R21c8fa93a5fa4d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7658A"/>
              </a:solidFill>
              <a:prstDash val="solid"/>
            </a:ln>
          </c:spPr>
          <c:marker>
            <c:symbol val="none"/>
            <c:size val="10"/>
            <c:spPr>
              <a:solidFill xmlns:a="http://schemas.openxmlformats.org/drawingml/2006/main">
                <a:srgbClr val="17658A"/>
              </a:solidFill>
            </c:spPr>
          </c:marker>
          <c:dLbls>
            <c:dLbl>
              <c:idx val="0"/>
              <c:dLblPos val="t"/>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183247"/>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12</c:v>
                </c:pt>
                <c:pt idx="1">
                  <c:v>48</c:v>
                </c:pt>
              </c:numCache>
            </c:numRef>
          </c:xVal>
          <c:yVal>
            <c:numRef>
              <c:f>'Chart Data'!$B$2:$B$3</c:f>
              <c:numCache>
                <c:formatCode>0</c:formatCode>
                <c:ptCount val="2"/>
                <c:pt idx="0">
                  <c:v>9</c:v>
                </c:pt>
                <c:pt idx="1">
                  <c:v>0</c:v>
                </c:pt>
              </c:numCache>
            </c:numRef>
          </c:yVal>
          <c:smooth val="0"/>
        </c:ser>
        <c:ser>
          <c:idx val="1"/>
          <c:order val="1"/>
          <c:tx>
            <c:v>A</c:v>
          </c:tx>
          <c:spPr>
            <a:ln xmlns:a="http://schemas.openxmlformats.org/drawingml/2006/main" w="0">
              <a:solidFill>
                <a:srgbClr val="17658A"/>
              </a:solidFill>
              <a:prstDash val="solid"/>
            </a:ln>
          </c:spPr>
          <c:marker>
            <c:symbol val="circle"/>
            <c:size val="10"/>
            <c:spPr>
              <a:solidFill xmlns:a="http://schemas.openxmlformats.org/drawingml/2006/main">
                <a:srgbClr val="17658A"/>
              </a:solidFill>
            </c:spPr>
          </c:marker>
          <c:dLbls>
            <c:dLbl>
              <c:idx val="0"/>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83247"/>
                    </ns5:solidFill>
                    <ns5:latin typeface="Arial"/>
                  </ns5:defRPr>
                </ns5:pPr>
                <ns5:endParaRPr lang="nl-NL"/>
              </ns5:p>
            </c:txPr>
            <c:showLegendKey val="0"/>
            <c:showVal val="0"/>
            <c:showCatName val="0"/>
            <c:showSerName val="0"/>
            <c:showPercent val="0"/>
            <c:showBubbleSize val="0"/>
            <c:showLeaderLines val="0"/>
          </c:dLbls>
          <c:xVal>
            <c:numRef>
              <c:f>'Chart Data'!$C$2:$C$2</c:f>
              <c:numCache>
                <c:formatCode>General</c:formatCode>
                <c:ptCount val="1"/>
                <c:pt idx="0">
                  <c:v>36</c:v>
                </c:pt>
              </c:numCache>
            </c:numRef>
          </c:xVal>
          <c:yVal>
            <c:numRef>
              <c:f>'Chart Data'!$D$2:$D$2</c:f>
              <c:numCache>
                <c:formatCode>0</c:formatCode>
                <c:ptCount val="1"/>
                <c:pt idx="0">
                  <c:v>3</c:v>
                </c:pt>
              </c:numCache>
            </c:numRef>
          </c:yVal>
          <c:smooth val="0"/>
        </c:ser>
        <c:ser>
          <c:idx val="2"/>
          <c:order val="2"/>
          <c:tx>
            <c:v>B</c:v>
          </c:tx>
          <c:spPr>
            <a:ln xmlns:a="http://schemas.openxmlformats.org/drawingml/2006/main" w="0">
              <a:solidFill>
                <a:srgbClr val="183247"/>
              </a:solidFill>
              <a:prstDash val="solid"/>
            </a:ln>
          </c:spPr>
          <c:marker>
            <c:symbol val="square"/>
            <c:size val="10"/>
            <c:spPr>
              <a:solidFill xmlns:a="http://schemas.openxmlformats.org/drawingml/2006/main">
                <a:srgbClr val="183247"/>
              </a:solidFill>
            </c:spPr>
          </c:marker>
          <c:dLbls>
            <c:dLbl>
              <c:idx val="0"/>
              <c:dLblPos val="l"/>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100" b="1">
                    <ns8:solidFill>
                      <ns8:srgbClr val="183247"/>
                    </ns8:solidFill>
                    <ns8:latin typeface="Arial"/>
                  </ns8:defRPr>
                </ns8:pPr>
                <ns8:endParaRPr lang="nl-NL"/>
              </ns8:p>
            </c:txPr>
            <c:showLegendKey val="0"/>
            <c:showVal val="0"/>
            <c:showCatName val="0"/>
            <c:showSerName val="0"/>
            <c:showPercent val="0"/>
            <c:showBubbleSize val="0"/>
            <c:showLeaderLines val="0"/>
          </c:dLbls>
          <c:xVal>
            <c:numRef>
              <c:f>'Chart Data'!$E$2:$E$2</c:f>
              <c:numCache>
                <c:formatCode>General</c:formatCode>
                <c:ptCount val="1"/>
                <c:pt idx="0">
                  <c:v>32</c:v>
                </c:pt>
              </c:numCache>
            </c:numRef>
          </c:xVal>
          <c:yVal>
            <c:numRef>
              <c:f>'Chart Data'!$F$2:$F$2</c:f>
              <c:numCache>
                <c:formatCode>0</c:formatCode>
                <c:ptCount val="1"/>
                <c:pt idx="0">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7658A"/>
              </a:solidFill>
              <a:prstDash val="solid"/>
            </a:ln>
          </c:spPr>
          <c:marker>
            <c:symbol val="none"/>
            <c:size val="10"/>
            <c:spPr>
              <a:solidFill xmlns:a="http://schemas.openxmlformats.org/drawingml/2006/main">
                <a:srgbClr val="17658A"/>
              </a:solidFill>
            </c:spPr>
          </c:marker>
          <c:dLbls>
            <c:dLbl>
              <c:idx val="0"/>
              <c:dLblPos val="t"/>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183247"/>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12</c:v>
                </c:pt>
                <c:pt idx="1">
                  <c:v>48</c:v>
                </c:pt>
              </c:numCache>
            </c:numRef>
          </c:xVal>
          <c:yVal>
            <c:numRef>
              <c:f>'Chart Data'!$B$2:$B$3</c:f>
              <c:numCache>
                <c:formatCode>0</c:formatCode>
                <c:ptCount val="2"/>
                <c:pt idx="0">
                  <c:v>9</c:v>
                </c:pt>
                <c:pt idx="1">
                  <c:v>0</c:v>
                </c:pt>
              </c:numCache>
            </c:numRef>
          </c:yVal>
          <c:smooth val="0"/>
        </c:ser>
        <c:ser>
          <c:idx val="1"/>
          <c:order val="1"/>
          <c:tx>
            <c:v>V₁</c:v>
          </c:tx>
          <c:spPr>
            <a:ln xmlns:a="http://schemas.openxmlformats.org/drawingml/2006/main" w="38100">
              <a:solidFill>
                <a:srgbClr val="A94D16"/>
              </a:solidFill>
              <a:prstDash val="solid"/>
            </a:ln>
          </c:spPr>
          <c:marker>
            <c:symbol val="none"/>
            <c:size val="10"/>
            <c:spPr>
              <a:solidFill xmlns:a="http://schemas.openxmlformats.org/drawingml/2006/main">
                <a:srgbClr val="A94D16"/>
              </a:solidFill>
            </c:spPr>
          </c:marker>
          <c:dLbls>
            <c:dLbl>
              <c:idx val="0"/>
              <c:dLblPos val="t"/>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20</c:v>
                </c:pt>
                <c:pt idx="1">
                  <c:v>56</c:v>
                </c:pt>
              </c:numCache>
            </c:numRef>
          </c:xVal>
          <c:yVal>
            <c:numRef>
              <c:f>'Chart Data'!$D$2:$D$3</c:f>
              <c:numCache>
                <c:formatCode>0</c:formatCode>
                <c:ptCount val="2"/>
                <c:pt idx="0">
                  <c:v>9</c:v>
                </c:pt>
                <c:pt idx="1">
                  <c:v>0</c:v>
                </c:pt>
              </c:numCache>
            </c:numRef>
          </c:yVal>
          <c:smooth val="0"/>
        </c:ser>
        <c:ser>
          <c:idx val="2"/>
          <c:order val="2"/>
          <c:tx>
            <c:v>A</c:v>
          </c:tx>
          <c:spPr>
            <a:ln xmlns:a="http://schemas.openxmlformats.org/drawingml/2006/main" w="0">
              <a:solidFill>
                <a:srgbClr val="17658A"/>
              </a:solidFill>
              <a:prstDash val="solid"/>
            </a:ln>
          </c:spPr>
          <c:marker>
            <c:symbol val="circle"/>
            <c:size val="10"/>
            <c:spPr>
              <a:solidFill xmlns:a="http://schemas.openxmlformats.org/drawingml/2006/main">
                <a:srgbClr val="17658A"/>
              </a:solidFill>
            </c:spPr>
          </c:marker>
          <c:dLbls>
            <c:dLbl>
              <c:idx val="0"/>
              <c:dLblPos val="r"/>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100" b="1">
                    <ns8:solidFill>
                      <ns8:srgbClr val="183247"/>
                    </ns8:solidFill>
                    <ns8:latin typeface="Arial"/>
                  </ns8:defRPr>
                </ns8:pPr>
                <ns8:endParaRPr lang="nl-NL"/>
              </ns8:p>
            </c:txPr>
            <c:showLegendKey val="0"/>
            <c:showVal val="0"/>
            <c:showCatName val="0"/>
            <c:showSerName val="0"/>
            <c:showPercent val="0"/>
            <c:showBubbleSize val="0"/>
            <c:showLeaderLines val="0"/>
          </c:dLbls>
          <c:xVal>
            <c:numRef>
              <c:f>'Chart Data'!$E$2:$E$2</c:f>
              <c:numCache>
                <c:formatCode>General</c:formatCode>
                <c:ptCount val="1"/>
                <c:pt idx="0">
                  <c:v>36</c:v>
                </c:pt>
              </c:numCache>
            </c:numRef>
          </c:xVal>
          <c:yVal>
            <c:numRef>
              <c:f>'Chart Data'!$F$2:$F$2</c:f>
              <c:numCache>
                <c:formatCode>0</c:formatCode>
                <c:ptCount val="1"/>
                <c:pt idx="0">
                  <c:v>3</c:v>
                </c:pt>
              </c:numCache>
            </c:numRef>
          </c:yVal>
          <c:smooth val="0"/>
        </c:ser>
        <c:ser>
          <c:idx val="3"/>
          <c:order val="3"/>
          <c:tx>
            <c:v>B</c:v>
          </c:tx>
          <c:spPr>
            <a:ln xmlns:a="http://schemas.openxmlformats.org/drawingml/2006/main" w="0">
              <a:solidFill>
                <a:srgbClr val="183247"/>
              </a:solidFill>
              <a:prstDash val="solid"/>
            </a:ln>
          </c:spPr>
          <c:marker>
            <c:symbol val="square"/>
            <c:size val="10"/>
            <c:spPr>
              <a:solidFill xmlns:a="http://schemas.openxmlformats.org/drawingml/2006/main">
                <a:srgbClr val="183247"/>
              </a:solidFill>
            </c:spPr>
          </c:marker>
          <c:dLbls>
            <c:dLbl>
              <c:idx val="0"/>
              <c:dLblPos val="l"/>
              <c:showLegendKey val="0"/>
              <c:showVal val="0"/>
              <c:showCatName val="0"/>
              <c:showSerName val="1"/>
            </c:dLbl>
            <c:txPr>
              <ns9:bodyPr xmlns:ns9="http://schemas.openxmlformats.org/drawingml/2006/main"/>
              <ns10:lstStyle xmlns:ns10="http://schemas.openxmlformats.org/drawingml/2006/main"/>
              <ns11:p xmlns:ns11="http://schemas.openxmlformats.org/drawingml/2006/main">
                <ns11:pPr>
                  <ns11:defRPr sz="2100" b="1">
                    <ns11:solidFill>
                      <ns11:srgbClr val="183247"/>
                    </ns11:solidFill>
                    <ns11:latin typeface="Arial"/>
                  </ns11:defRPr>
                </ns11:pPr>
                <ns11:endParaRPr lang="nl-NL"/>
              </ns11:p>
            </c:txPr>
            <c:showLegendKey val="0"/>
            <c:showVal val="0"/>
            <c:showCatName val="0"/>
            <c:showSerName val="0"/>
            <c:showPercent val="0"/>
            <c:showBubbleSize val="0"/>
            <c:showLeaderLines val="0"/>
          </c:dLbls>
          <c:xVal>
            <c:numRef>
              <c:f>'Chart Data'!$G$2:$G$2</c:f>
              <c:numCache>
                <c:formatCode>General</c:formatCode>
                <c:ptCount val="1"/>
                <c:pt idx="0">
                  <c:v>32</c:v>
                </c:pt>
              </c:numCache>
            </c:numRef>
          </c:xVal>
          <c:yVal>
            <c:numRef>
              <c:f>'Chart Data'!$H$2:$H$2</c:f>
              <c:numCache>
                <c:formatCode>0</c:formatCode>
                <c:ptCount val="1"/>
                <c:pt idx="0">
                  <c:v>4</c:v>
                </c:pt>
              </c:numCache>
            </c:numRef>
          </c:yVal>
          <c:smooth val="0"/>
        </c:ser>
        <c:ser>
          <c:idx val="4"/>
          <c:order val="4"/>
          <c:tx>
            <c:v>C</c:v>
          </c:tx>
          <c:spPr>
            <a:ln xmlns:a="http://schemas.openxmlformats.org/drawingml/2006/main" w="0">
              <a:solidFill>
                <a:srgbClr val="A94D16"/>
              </a:solidFill>
              <a:prstDash val="solid"/>
            </a:ln>
          </c:spPr>
          <c:marker>
            <c:symbol val="diamond"/>
            <c:size val="10"/>
            <c:spPr>
              <a:solidFill xmlns:a="http://schemas.openxmlformats.org/drawingml/2006/main">
                <a:srgbClr val="A94D16"/>
              </a:solidFill>
            </c:spPr>
          </c:marker>
          <c:dLbls>
            <c:dLbl>
              <c:idx val="0"/>
              <c:dLblPos val="r"/>
              <c:showLegendKey val="0"/>
              <c:showVal val="0"/>
              <c:showCatName val="0"/>
              <c:showSerName val="1"/>
            </c:dLbl>
            <c:txPr>
              <ns12:bodyPr xmlns:ns12="http://schemas.openxmlformats.org/drawingml/2006/main"/>
              <ns13:lstStyle xmlns:ns13="http://schemas.openxmlformats.org/drawingml/2006/main"/>
              <ns14:p xmlns:ns14="http://schemas.openxmlformats.org/drawingml/2006/main">
                <ns14:pPr>
                  <ns14:defRPr sz="2100" b="1">
                    <ns14:solidFill>
                      <ns14:srgbClr val="A94D16"/>
                    </ns14:solidFill>
                    <ns14:latin typeface="Arial"/>
                  </ns14:defRPr>
                </ns14:pPr>
                <ns14:endParaRPr lang="nl-NL"/>
              </ns14:p>
            </c:txPr>
            <c:showLegendKey val="0"/>
            <c:showVal val="0"/>
            <c:showCatName val="0"/>
            <c:showSerName val="0"/>
            <c:showPercent val="0"/>
            <c:showBubbleSize val="0"/>
            <c:showLeaderLines val="0"/>
          </c:dLbls>
          <c:xVal>
            <c:numRef>
              <c:f>'Chart Data'!$I$2:$I$2</c:f>
              <c:numCache>
                <c:formatCode>General</c:formatCode>
                <c:ptCount val="1"/>
                <c:pt idx="0">
                  <c:v>40</c:v>
                </c:pt>
              </c:numCache>
            </c:numRef>
          </c:xVal>
          <c:yVal>
            <c:numRef>
              <c:f>'Chart Data'!$J$2:$J$2</c:f>
              <c:numCache>
                <c:formatCode>0</c:formatCode>
                <c:ptCount val="1"/>
                <c:pt idx="0">
                  <c:v>4</c:v>
                </c:pt>
              </c:numCache>
            </c:numRef>
          </c:yVal>
          <c:smooth val="0"/>
        </c:ser>
        <c:ser>
          <c:idx val="5"/>
          <c:order val="5"/>
          <c:tx>
            <c:v>Vergelijking bij dezelfde prijs</c:v>
          </c:tx>
          <c:spPr>
            <a:ln xmlns:a="http://schemas.openxmlformats.org/drawingml/2006/main" w="19050">
              <a:solidFill>
                <a:srgbClr val="445B6B"/>
              </a:solidFill>
              <a:prstDash val="dash"/>
            </a:ln>
          </c:spPr>
          <c:marker>
            <c:symbol val="none"/>
            <c:size val="10"/>
            <c:spPr>
              <a:solidFill xmlns:a="http://schemas.openxmlformats.org/drawingml/2006/main">
                <a:srgbClr val="445B6B"/>
              </a:solidFill>
            </c:spPr>
          </c:marker>
          <c:xVal>
            <c:numRef>
              <c:f>'Chart Data'!$K$2:$K$3</c:f>
              <c:numCache>
                <c:formatCode>General</c:formatCode>
                <c:ptCount val="2"/>
                <c:pt idx="0">
                  <c:v>32</c:v>
                </c:pt>
                <c:pt idx="1">
                  <c:v>40</c:v>
                </c:pt>
              </c:numCache>
            </c:numRef>
          </c:xVal>
          <c:yVal>
            <c:numRef>
              <c:f>'Chart Data'!$L$2:$L$3</c:f>
              <c:numCache>
                <c:formatCode>0</c:formatCode>
                <c:ptCount val="2"/>
                <c:pt idx="0">
                  <c:v>4</c:v>
                </c:pt>
                <c:pt idx="1">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7658A"/>
              </a:solidFill>
              <a:prstDash val="solid"/>
            </a:ln>
          </c:spPr>
          <c:marker>
            <c:symbol val="none"/>
            <c:size val="10"/>
            <c:spPr>
              <a:solidFill xmlns:a="http://schemas.openxmlformats.org/drawingml/2006/main">
                <a:srgbClr val="17658A"/>
              </a:solidFill>
            </c:spPr>
          </c:marker>
          <c:dLbls>
            <c:dLbl>
              <c:idx val="0"/>
              <c:dLblPos val="t"/>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183247"/>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12</c:v>
                </c:pt>
                <c:pt idx="1">
                  <c:v>60</c:v>
                </c:pt>
              </c:numCache>
            </c:numRef>
          </c:xVal>
          <c:yVal>
            <c:numRef>
              <c:f>'Chart Data'!$B$2:$B$3</c:f>
              <c:numCache>
                <c:formatCode>0</c:formatCode>
                <c:ptCount val="2"/>
                <c:pt idx="0">
                  <c:v>8</c:v>
                </c:pt>
                <c:pt idx="1">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halfuur)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4"/>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(halfuren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7658A"/>
              </a:solidFill>
              <a:prstDash val="solid"/>
            </a:ln>
          </c:spPr>
          <c:marker>
            <c:symbol val="none"/>
            <c:size val="10"/>
            <c:spPr>
              <a:solidFill xmlns:a="http://schemas.openxmlformats.org/drawingml/2006/main">
                <a:srgbClr val="17658A"/>
              </a:solidFill>
            </c:spPr>
          </c:marker>
          <c:dLbls>
            <c:dLbl>
              <c:idx val="0"/>
              <c:dLblPos val="t"/>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183247"/>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12</c:v>
                </c:pt>
                <c:pt idx="1">
                  <c:v>60</c:v>
                </c:pt>
              </c:numCache>
            </c:numRef>
          </c:xVal>
          <c:yVal>
            <c:numRef>
              <c:f>'Chart Data'!$B$2:$B$3</c:f>
              <c:numCache>
                <c:formatCode>0</c:formatCode>
                <c:ptCount val="2"/>
                <c:pt idx="0">
                  <c:v>8</c:v>
                </c:pt>
                <c:pt idx="1">
                  <c:v>0</c:v>
                </c:pt>
              </c:numCache>
            </c:numRef>
          </c:yVal>
          <c:smooth val="0"/>
        </c:ser>
        <c:ser>
          <c:idx val="1"/>
          <c:order val="1"/>
          <c:tx>
            <c:v>A</c:v>
          </c:tx>
          <c:spPr>
            <a:ln xmlns:a="http://schemas.openxmlformats.org/drawingml/2006/main" w="0">
              <a:solidFill>
                <a:srgbClr val="17658A"/>
              </a:solidFill>
              <a:prstDash val="solid"/>
            </a:ln>
          </c:spPr>
          <c:marker>
            <c:symbol val="circle"/>
            <c:size val="10"/>
            <c:spPr>
              <a:solidFill xmlns:a="http://schemas.openxmlformats.org/drawingml/2006/main">
                <a:srgbClr val="17658A"/>
              </a:solidFill>
            </c:spPr>
          </c:marker>
          <c:dLbls>
            <c:dLbl>
              <c:idx val="0"/>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183247"/>
                    </ns5:solidFill>
                    <ns5:latin typeface="Arial"/>
                  </ns5:defRPr>
                </ns5:pPr>
                <ns5:endParaRPr lang="nl-NL"/>
              </ns5:p>
            </c:txPr>
            <c:showLegendKey val="0"/>
            <c:showVal val="0"/>
            <c:showCatName val="0"/>
            <c:showSerName val="0"/>
            <c:showPercent val="0"/>
            <c:showBubbleSize val="0"/>
            <c:showLeaderLines val="0"/>
          </c:dLbls>
          <c:xVal>
            <c:numRef>
              <c:f>'Chart Data'!$C$2:$C$2</c:f>
              <c:numCache>
                <c:formatCode>General</c:formatCode>
                <c:ptCount val="1"/>
                <c:pt idx="0">
                  <c:v>36</c:v>
                </c:pt>
              </c:numCache>
            </c:numRef>
          </c:xVal>
          <c:yVal>
            <c:numRef>
              <c:f>'Chart Data'!$D$2:$D$2</c:f>
              <c:numCache>
                <c:formatCode>0</c:formatCode>
                <c:ptCount val="1"/>
                <c:pt idx="0">
                  <c:v>4</c:v>
                </c:pt>
              </c:numCache>
            </c:numRef>
          </c:yVal>
          <c:smooth val="0"/>
        </c:ser>
        <c:ser>
          <c:idx val="2"/>
          <c:order val="2"/>
          <c:tx>
            <c:v>B</c:v>
          </c:tx>
          <c:spPr>
            <a:ln xmlns:a="http://schemas.openxmlformats.org/drawingml/2006/main" w="0">
              <a:solidFill>
                <a:srgbClr val="183247"/>
              </a:solidFill>
              <a:prstDash val="solid"/>
            </a:ln>
          </c:spPr>
          <c:marker>
            <c:symbol val="square"/>
            <c:size val="10"/>
            <c:spPr>
              <a:solidFill xmlns:a="http://schemas.openxmlformats.org/drawingml/2006/main">
                <a:srgbClr val="183247"/>
              </a:solidFill>
            </c:spPr>
          </c:marker>
          <c:dLbls>
            <c:dLbl>
              <c:idx val="0"/>
              <c:dLblPos val="l"/>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100" b="1">
                    <ns8:solidFill>
                      <ns8:srgbClr val="183247"/>
                    </ns8:solidFill>
                    <ns8:latin typeface="Arial"/>
                  </ns8:defRPr>
                </ns8:pPr>
                <ns8:endParaRPr lang="nl-NL"/>
              </ns8:p>
            </c:txPr>
            <c:showLegendKey val="0"/>
            <c:showVal val="0"/>
            <c:showCatName val="0"/>
            <c:showSerName val="0"/>
            <c:showPercent val="0"/>
            <c:showBubbleSize val="0"/>
            <c:showLeaderLines val="0"/>
          </c:dLbls>
          <c:xVal>
            <c:numRef>
              <c:f>'Chart Data'!$E$2:$E$2</c:f>
              <c:numCache>
                <c:formatCode>General</c:formatCode>
                <c:ptCount val="1"/>
                <c:pt idx="0">
                  <c:v>24</c:v>
                </c:pt>
              </c:numCache>
            </c:numRef>
          </c:xVal>
          <c:yVal>
            <c:numRef>
              <c:f>'Chart Data'!$F$2:$F$2</c:f>
              <c:numCache>
                <c:formatCode>0</c:formatCode>
                <c:ptCount val="1"/>
                <c:pt idx="0">
                  <c:v>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halfuur)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4"/>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(halfuren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7658A"/>
              </a:solidFill>
              <a:prstDash val="solid"/>
            </a:ln>
          </c:spPr>
          <c:marker>
            <c:symbol val="none"/>
            <c:size val="10"/>
            <c:spPr>
              <a:solidFill xmlns:a="http://schemas.openxmlformats.org/drawingml/2006/main">
                <a:srgbClr val="17658A"/>
              </a:solidFill>
            </c:spPr>
          </c:marker>
          <c:dLbls>
            <c:dLbl>
              <c:idx val="0"/>
              <c:dLblPos val="t"/>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100" b="1">
                    <ns2:solidFill>
                      <ns2:srgbClr val="183247"/>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12</c:v>
                </c:pt>
                <c:pt idx="1">
                  <c:v>60</c:v>
                </c:pt>
              </c:numCache>
            </c:numRef>
          </c:xVal>
          <c:yVal>
            <c:numRef>
              <c:f>'Chart Data'!$B$2:$B$3</c:f>
              <c:numCache>
                <c:formatCode>0</c:formatCode>
                <c:ptCount val="2"/>
                <c:pt idx="0">
                  <c:v>8</c:v>
                </c:pt>
                <c:pt idx="1">
                  <c:v>0</c:v>
                </c:pt>
              </c:numCache>
            </c:numRef>
          </c:yVal>
          <c:smooth val="0"/>
        </c:ser>
        <c:ser>
          <c:idx val="1"/>
          <c:order val="1"/>
          <c:tx>
            <c:v>V₁</c:v>
          </c:tx>
          <c:spPr>
            <a:ln xmlns:a="http://schemas.openxmlformats.org/drawingml/2006/main" w="38100">
              <a:solidFill>
                <a:srgbClr val="A94D16"/>
              </a:solidFill>
              <a:prstDash val="solid"/>
            </a:ln>
          </c:spPr>
          <c:marker>
            <c:symbol val="none"/>
            <c:size val="10"/>
            <c:spPr>
              <a:solidFill xmlns:a="http://schemas.openxmlformats.org/drawingml/2006/main">
                <a:srgbClr val="A94D16"/>
              </a:solidFill>
            </c:spPr>
          </c:marker>
          <c:dLbls>
            <c:dLbl>
              <c:idx val="0"/>
              <c:dLblPos val="t"/>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100"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24</c:v>
                </c:pt>
                <c:pt idx="1">
                  <c:v>72</c:v>
                </c:pt>
              </c:numCache>
            </c:numRef>
          </c:xVal>
          <c:yVal>
            <c:numRef>
              <c:f>'Chart Data'!$D$2:$D$3</c:f>
              <c:numCache>
                <c:formatCode>0</c:formatCode>
                <c:ptCount val="2"/>
                <c:pt idx="0">
                  <c:v>8</c:v>
                </c:pt>
                <c:pt idx="1">
                  <c:v>0</c:v>
                </c:pt>
              </c:numCache>
            </c:numRef>
          </c:yVal>
          <c:smooth val="0"/>
        </c:ser>
        <c:ser>
          <c:idx val="2"/>
          <c:order val="2"/>
          <c:tx>
            <c:v>A</c:v>
          </c:tx>
          <c:spPr>
            <a:ln xmlns:a="http://schemas.openxmlformats.org/drawingml/2006/main" w="0">
              <a:solidFill>
                <a:srgbClr val="17658A"/>
              </a:solidFill>
              <a:prstDash val="solid"/>
            </a:ln>
          </c:spPr>
          <c:marker>
            <c:symbol val="circle"/>
            <c:size val="10"/>
            <c:spPr>
              <a:solidFill xmlns:a="http://schemas.openxmlformats.org/drawingml/2006/main">
                <a:srgbClr val="17658A"/>
              </a:solidFill>
            </c:spPr>
          </c:marker>
          <c:dLbls>
            <c:dLbl>
              <c:idx val="0"/>
              <c:dLblPos val="r"/>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100" b="1">
                    <ns8:solidFill>
                      <ns8:srgbClr val="183247"/>
                    </ns8:solidFill>
                    <ns8:latin typeface="Arial"/>
                  </ns8:defRPr>
                </ns8:pPr>
                <ns8:endParaRPr lang="nl-NL"/>
              </ns8:p>
            </c:txPr>
            <c:showLegendKey val="0"/>
            <c:showVal val="0"/>
            <c:showCatName val="0"/>
            <c:showSerName val="0"/>
            <c:showPercent val="0"/>
            <c:showBubbleSize val="0"/>
            <c:showLeaderLines val="0"/>
          </c:dLbls>
          <c:xVal>
            <c:numRef>
              <c:f>'Chart Data'!$E$2:$E$2</c:f>
              <c:numCache>
                <c:formatCode>General</c:formatCode>
                <c:ptCount val="1"/>
                <c:pt idx="0">
                  <c:v>36</c:v>
                </c:pt>
              </c:numCache>
            </c:numRef>
          </c:xVal>
          <c:yVal>
            <c:numRef>
              <c:f>'Chart Data'!$F$2:$F$2</c:f>
              <c:numCache>
                <c:formatCode>0</c:formatCode>
                <c:ptCount val="1"/>
                <c:pt idx="0">
                  <c:v>4</c:v>
                </c:pt>
              </c:numCache>
            </c:numRef>
          </c:yVal>
          <c:smooth val="0"/>
        </c:ser>
        <c:ser>
          <c:idx val="3"/>
          <c:order val="3"/>
          <c:tx>
            <c:v>B</c:v>
          </c:tx>
          <c:spPr>
            <a:ln xmlns:a="http://schemas.openxmlformats.org/drawingml/2006/main" w="0">
              <a:solidFill>
                <a:srgbClr val="183247"/>
              </a:solidFill>
              <a:prstDash val="solid"/>
            </a:ln>
          </c:spPr>
          <c:marker>
            <c:symbol val="square"/>
            <c:size val="10"/>
            <c:spPr>
              <a:solidFill xmlns:a="http://schemas.openxmlformats.org/drawingml/2006/main">
                <a:srgbClr val="183247"/>
              </a:solidFill>
            </c:spPr>
          </c:marker>
          <c:dLbls>
            <c:dLbl>
              <c:idx val="0"/>
              <c:dLblPos val="l"/>
              <c:showLegendKey val="0"/>
              <c:showVal val="0"/>
              <c:showCatName val="0"/>
              <c:showSerName val="1"/>
            </c:dLbl>
            <c:txPr>
              <ns9:bodyPr xmlns:ns9="http://schemas.openxmlformats.org/drawingml/2006/main"/>
              <ns10:lstStyle xmlns:ns10="http://schemas.openxmlformats.org/drawingml/2006/main"/>
              <ns11:p xmlns:ns11="http://schemas.openxmlformats.org/drawingml/2006/main">
                <ns11:pPr>
                  <ns11:defRPr sz="2100" b="1">
                    <ns11:solidFill>
                      <ns11:srgbClr val="183247"/>
                    </ns11:solidFill>
                    <ns11:latin typeface="Arial"/>
                  </ns11:defRPr>
                </ns11:pPr>
                <ns11:endParaRPr lang="nl-NL"/>
              </ns11:p>
            </c:txPr>
            <c:showLegendKey val="0"/>
            <c:showVal val="0"/>
            <c:showCatName val="0"/>
            <c:showSerName val="0"/>
            <c:showPercent val="0"/>
            <c:showBubbleSize val="0"/>
            <c:showLeaderLines val="0"/>
          </c:dLbls>
          <c:xVal>
            <c:numRef>
              <c:f>'Chart Data'!$G$2:$G$2</c:f>
              <c:numCache>
                <c:formatCode>General</c:formatCode>
                <c:ptCount val="1"/>
                <c:pt idx="0">
                  <c:v>24</c:v>
                </c:pt>
              </c:numCache>
            </c:numRef>
          </c:xVal>
          <c:yVal>
            <c:numRef>
              <c:f>'Chart Data'!$H$2:$H$2</c:f>
              <c:numCache>
                <c:formatCode>0</c:formatCode>
                <c:ptCount val="1"/>
                <c:pt idx="0">
                  <c:v>6</c:v>
                </c:pt>
              </c:numCache>
            </c:numRef>
          </c:yVal>
          <c:smooth val="0"/>
        </c:ser>
        <c:ser>
          <c:idx val="4"/>
          <c:order val="4"/>
          <c:tx>
            <c:v>C</c:v>
          </c:tx>
          <c:spPr>
            <a:ln xmlns:a="http://schemas.openxmlformats.org/drawingml/2006/main" w="0">
              <a:solidFill>
                <a:srgbClr val="A94D16"/>
              </a:solidFill>
              <a:prstDash val="solid"/>
            </a:ln>
          </c:spPr>
          <c:marker>
            <c:symbol val="diamond"/>
            <c:size val="10"/>
            <c:spPr>
              <a:solidFill xmlns:a="http://schemas.openxmlformats.org/drawingml/2006/main">
                <a:srgbClr val="A94D16"/>
              </a:solidFill>
            </c:spPr>
          </c:marker>
          <c:dLbls>
            <c:dLbl>
              <c:idx val="0"/>
              <c:dLblPos val="r"/>
              <c:showLegendKey val="0"/>
              <c:showVal val="0"/>
              <c:showCatName val="0"/>
              <c:showSerName val="1"/>
            </c:dLbl>
            <c:txPr>
              <ns12:bodyPr xmlns:ns12="http://schemas.openxmlformats.org/drawingml/2006/main"/>
              <ns13:lstStyle xmlns:ns13="http://schemas.openxmlformats.org/drawingml/2006/main"/>
              <ns14:p xmlns:ns14="http://schemas.openxmlformats.org/drawingml/2006/main">
                <ns14:pPr>
                  <ns14:defRPr sz="2100" b="1">
                    <ns14:solidFill>
                      <ns14:srgbClr val="A94D16"/>
                    </ns14:solidFill>
                    <ns14:latin typeface="Arial"/>
                  </ns14:defRPr>
                </ns14:pPr>
                <ns14:endParaRPr lang="nl-NL"/>
              </ns14:p>
            </c:txPr>
            <c:showLegendKey val="0"/>
            <c:showVal val="0"/>
            <c:showCatName val="0"/>
            <c:showSerName val="0"/>
            <c:showPercent val="0"/>
            <c:showBubbleSize val="0"/>
            <c:showLeaderLines val="0"/>
          </c:dLbls>
          <c:xVal>
            <c:numRef>
              <c:f>'Chart Data'!$I$2:$I$2</c:f>
              <c:numCache>
                <c:formatCode>General</c:formatCode>
                <c:ptCount val="1"/>
                <c:pt idx="0">
                  <c:v>36</c:v>
                </c:pt>
              </c:numCache>
            </c:numRef>
          </c:xVal>
          <c:yVal>
            <c:numRef>
              <c:f>'Chart Data'!$J$2:$J$2</c:f>
              <c:numCache>
                <c:formatCode>0</c:formatCode>
                <c:ptCount val="1"/>
                <c:pt idx="0">
                  <c:v>6</c:v>
                </c:pt>
              </c:numCache>
            </c:numRef>
          </c:yVal>
          <c:smooth val="0"/>
        </c:ser>
        <c:ser>
          <c:idx val="5"/>
          <c:order val="5"/>
          <c:tx>
            <c:v>Vergelijking bij dezelfde prijs</c:v>
          </c:tx>
          <c:spPr>
            <a:ln xmlns:a="http://schemas.openxmlformats.org/drawingml/2006/main" w="19050">
              <a:solidFill>
                <a:srgbClr val="445B6B"/>
              </a:solidFill>
              <a:prstDash val="dash"/>
            </a:ln>
          </c:spPr>
          <c:marker>
            <c:symbol val="none"/>
            <c:size val="10"/>
            <c:spPr>
              <a:solidFill xmlns:a="http://schemas.openxmlformats.org/drawingml/2006/main">
                <a:srgbClr val="445B6B"/>
              </a:solidFill>
            </c:spPr>
          </c:marker>
          <c:xVal>
            <c:numRef>
              <c:f>'Chart Data'!$K$2:$K$3</c:f>
              <c:numCache>
                <c:formatCode>General</c:formatCode>
                <c:ptCount val="2"/>
                <c:pt idx="0">
                  <c:v>24</c:v>
                </c:pt>
                <c:pt idx="1">
                  <c:v>36</c:v>
                </c:pt>
              </c:numCache>
            </c:numRef>
          </c:xVal>
          <c:yVal>
            <c:numRef>
              <c:f>'Chart Data'!$L$2:$L$3</c:f>
              <c:numCache>
                <c:formatCode>0</c:formatCode>
                <c:ptCount val="2"/>
                <c:pt idx="0">
                  <c:v>6</c:v>
                </c:pt>
                <c:pt idx="1">
                  <c:v>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halfuur)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84"/>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(halfuren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4 Gemengde opgaven">
            <a:extLst xmlns:a="http://schemas.openxmlformats.org/drawingml/2006/main">
              <a:ext uri="{FF2B5EF4-FFF2-40B4-BE49-F238E27FC236}">
                <a16:creationId xmlns:a16="http://schemas.microsoft.com/office/drawing/2014/main" id="{481E81C6-F0A0-4978-8A30-943CF66C59F0}"/>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§1.2.4 Gemengde opgaven</a:t>
            </a:r>
          </a:p>
        </p:txBody>
      </p:sp>
      <p:sp>
        <p:nvSpPr>
          <p:cNvPr id="2" name="">
            <a:extLst xmlns:a="http://schemas.openxmlformats.org/drawingml/2006/main">
              <a:ext uri="{FF2B5EF4-FFF2-40B4-BE49-F238E27FC236}">
                <a16:creationId xmlns:a16="http://schemas.microsoft.com/office/drawing/2014/main" id="{A18A14EE-10F1-4D4A-A0B2-E268463AD6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5AB24C2D-08F9-4F3C-9F58-E82B9EA523A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1">
            <a:extLst xmlns:a="http://schemas.openxmlformats.org/drawingml/2006/main">
              <a:ext uri="{FF2B5EF4-FFF2-40B4-BE49-F238E27FC236}">
                <a16:creationId xmlns:a16="http://schemas.microsoft.com/office/drawing/2014/main" id="{72FBF532-0AD2-4AF5-8FD0-BF88291468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50BAB0D5-7C89-4C45-8D57-2F51A75F2B43}"/>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F7CED66E-94A1-4EF0-BE2C-473F770FF7B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3C03CB24-54A1-4148-AB8D-FED7A3B781B7}"/>
              </a:ext>
            </a:extLst>
          </p:cNvPr>
          <p:cNvSpPr>
            <a:spLocks xmlns:a="http://schemas.openxmlformats.org/drawingml/2006/main" noGrp="1"/>
          </p:cNvSpPr>
          <p:nvPr/>
        </p:nvSpPr>
        <p:spPr>
          <a:xfrm xmlns:a="http://schemas.openxmlformats.org/drawingml/2006/main">
            <a:off x="571500" y="2324100"/>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FBD103A-CD34-4D15-ABFD-65EAA176161B}"/>
              </a:ext>
            </a:extLst>
          </p:cNvPr>
          <p:cNvSpPr>
            <a:spLocks xmlns:a="http://schemas.openxmlformats.org/drawingml/2006/main" noGrp="1"/>
          </p:cNvSpPr>
          <p:nvPr/>
        </p:nvSpPr>
        <p:spPr>
          <a:xfrm xmlns:a="http://schemas.openxmlformats.org/drawingml/2006/main">
            <a:off x="1104900" y="2324100"/>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9961008-AA6D-4D4F-8E3E-D04B24CF64D3}"/>
              </a:ext>
            </a:extLst>
          </p:cNvPr>
          <p:cNvSpPr>
            <a:spLocks xmlns:a="http://schemas.openxmlformats.org/drawingml/2006/main" noGrp="1"/>
          </p:cNvSpPr>
          <p:nvPr/>
        </p:nvSpPr>
        <p:spPr>
          <a:xfrm xmlns:a="http://schemas.openxmlformats.org/drawingml/2006/main">
            <a:off x="571500" y="32861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DD75B7F-8A21-49FD-AF58-A85CBD6F1D8A}"/>
              </a:ext>
            </a:extLst>
          </p:cNvPr>
          <p:cNvSpPr>
            <a:spLocks xmlns:a="http://schemas.openxmlformats.org/drawingml/2006/main" noGrp="1"/>
          </p:cNvSpPr>
          <p:nvPr/>
        </p:nvSpPr>
        <p:spPr>
          <a:xfrm xmlns:a="http://schemas.openxmlformats.org/drawingml/2006/main">
            <a:off x="1104900" y="32861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3F0C2AE-B255-449B-8601-E9AA39B5958B}"/>
              </a:ext>
            </a:extLst>
          </p:cNvPr>
          <p:cNvSpPr>
            <a:spLocks xmlns:a="http://schemas.openxmlformats.org/drawingml/2006/main" noGrp="1"/>
          </p:cNvSpPr>
          <p:nvPr/>
        </p:nvSpPr>
        <p:spPr>
          <a:xfrm xmlns:a="http://schemas.openxmlformats.org/drawingml/2006/main">
            <a:off x="571500" y="39052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99D151F-95AF-4611-AE6A-E857600F8DF4}"/>
              </a:ext>
            </a:extLst>
          </p:cNvPr>
          <p:cNvSpPr>
            <a:spLocks xmlns:a="http://schemas.openxmlformats.org/drawingml/2006/main" noGrp="1"/>
          </p:cNvSpPr>
          <p:nvPr/>
        </p:nvSpPr>
        <p:spPr>
          <a:xfrm xmlns:a="http://schemas.openxmlformats.org/drawingml/2006/main">
            <a:off x="1104900" y="39052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79E29D18-C40D-42CB-9E26-A643856917B9}"/>
              </a:ext>
            </a:extLst>
          </p:cNvPr>
          <p:cNvSpPr>
            <a:spLocks xmlns:a="http://schemas.openxmlformats.org/drawingml/2006/main" noGrp="1"/>
          </p:cNvSpPr>
          <p:nvPr/>
        </p:nvSpPr>
        <p:spPr>
          <a:xfrm xmlns:a="http://schemas.openxmlformats.org/drawingml/2006/main">
            <a:off x="571500" y="4619625"/>
            <a:ext cx="457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2FEF3D7-2DFF-41B3-A661-F2ABCF31B7BC}"/>
              </a:ext>
            </a:extLst>
          </p:cNvPr>
          <p:cNvSpPr>
            <a:spLocks xmlns:a="http://schemas.openxmlformats.org/drawingml/2006/main" noGrp="1"/>
          </p:cNvSpPr>
          <p:nvPr/>
        </p:nvSpPr>
        <p:spPr>
          <a:xfrm xmlns:a="http://schemas.openxmlformats.org/drawingml/2006/main">
            <a:off x="1104900" y="4619625"/>
            <a:ext cx="74199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94EEC268-C4E3-4D65-A82E-A2D847F4C08A}"/>
              </a:ext>
            </a:extLst>
          </p:cNvPr>
          <p:cNvSpPr>
            <a:spLocks xmlns:a="http://schemas.openxmlformats.org/drawingml/2006/main" noGrp="1"/>
          </p:cNvSpPr>
          <p:nvPr/>
        </p:nvSpPr>
        <p:spPr>
          <a:xfrm xmlns:a="http://schemas.openxmlformats.org/drawingml/2006/main">
            <a:off x="571500" y="5838825"/>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2FECF00-9F0A-4EDA-A35B-20D9AC58E3B6}"/>
              </a:ext>
            </a:extLst>
          </p:cNvPr>
          <p:cNvSpPr>
            <a:spLocks xmlns:a="http://schemas.openxmlformats.org/drawingml/2006/main" noGrp="1"/>
          </p:cNvSpPr>
          <p:nvPr/>
        </p:nvSpPr>
        <p:spPr>
          <a:xfrm xmlns:a="http://schemas.openxmlformats.org/drawingml/2006/main">
            <a:off x="1104900" y="5838825"/>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F537BD53-5339-4CFE-8510-EDF2924E69CD}"/>
              </a:ext>
            </a:extLst>
          </p:cNvPr>
          <p:cNvSpPr>
            <a:spLocks xmlns:a="http://schemas.openxmlformats.org/drawingml/2006/main" noGrp="1"/>
          </p:cNvSpPr>
          <p:nvPr/>
        </p:nvSpPr>
        <p:spPr>
          <a:xfrm xmlns:a="http://schemas.openxmlformats.org/drawingml/2006/main">
            <a:off x="571500" y="66770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455BFF4-DF3A-414F-9E3E-468323804BC0}"/>
              </a:ext>
            </a:extLst>
          </p:cNvPr>
          <p:cNvSpPr>
            <a:spLocks xmlns:a="http://schemas.openxmlformats.org/drawingml/2006/main" noGrp="1"/>
          </p:cNvSpPr>
          <p:nvPr/>
        </p:nvSpPr>
        <p:spPr>
          <a:xfrm xmlns:a="http://schemas.openxmlformats.org/drawingml/2006/main">
            <a:off x="1104900" y="66770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E59DEA23-8C6F-4C06-87C1-841E0932FCB4}"/>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75E3E2A9-5694-4D34-9636-F99BE22F7C15}"/>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408E4E9-B97F-4E40-92FC-A239D196119B}"/>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11A4515-D696-4833-8990-69AD98820D43}"/>
              </a:ext>
            </a:extLst>
          </p:cNvPr>
          <p:cNvSpPr>
            <a:spLocks xmlns:a="http://schemas.openxmlformats.org/drawingml/2006/main" noGrp="1"/>
          </p:cNvSpPr>
          <p:nvPr/>
        </p:nvSpPr>
        <p:spPr>
          <a:xfrm xmlns:a="http://schemas.openxmlformats.org/drawingml/2006/main">
            <a:off x="9258300" y="2324100"/>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Koopbeslissingen onderbouwen.</a:t>
            </a:r>
          </a:p>
        </p:txBody>
      </p:sp>
      <p:sp>
        <p:nvSpPr>
          <p:cNvPr id="23" name="">
            <a:extLst xmlns:a="http://schemas.openxmlformats.org/drawingml/2006/main">
              <a:ext uri="{FF2B5EF4-FFF2-40B4-BE49-F238E27FC236}">
                <a16:creationId xmlns:a16="http://schemas.microsoft.com/office/drawing/2014/main" id="{AB232698-3102-4136-ABC9-8A51DB32C18A}"/>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801A3EC-F4EC-48E3-A27F-0B8394820D7D}"/>
              </a:ext>
            </a:extLst>
          </p:cNvPr>
          <p:cNvSpPr>
            <a:spLocks xmlns:a="http://schemas.openxmlformats.org/drawingml/2006/main" noGrp="1"/>
          </p:cNvSpPr>
          <p:nvPr/>
        </p:nvSpPr>
        <p:spPr>
          <a:xfrm xmlns:a="http://schemas.openxmlformats.org/drawingml/2006/main">
            <a:off x="9258300" y="39909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9093315-F019-4864-A6E7-05CF21486899}"/>
              </a:ext>
            </a:extLst>
          </p:cNvPr>
          <p:cNvSpPr>
            <a:spLocks xmlns:a="http://schemas.openxmlformats.org/drawingml/2006/main" noGrp="1"/>
          </p:cNvSpPr>
          <p:nvPr/>
        </p:nvSpPr>
        <p:spPr>
          <a:xfrm xmlns:a="http://schemas.openxmlformats.org/drawingml/2006/main">
            <a:off x="9258300" y="4514850"/>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78 · 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p. 14 en p. 46–47</a:t>
            </a:r>
          </a:p>
        </p:txBody>
      </p:sp>
      <p:sp>
        <p:nvSpPr>
          <p:cNvPr id="26" name="">
            <a:extLst xmlns:a="http://schemas.openxmlformats.org/drawingml/2006/main">
              <a:ext uri="{FF2B5EF4-FFF2-40B4-BE49-F238E27FC236}">
                <a16:creationId xmlns:a16="http://schemas.microsoft.com/office/drawing/2014/main" id="{E1C17403-88EF-463D-A2D3-FE028740D014}"/>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0D0F7507-12E6-4B44-84B8-65E4C95C12C8}"/>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1467B8C-1C51-4AA1-A348-62CEABC2368D}"/>
              </a:ext>
            </a:extLst>
          </p:cNvPr>
          <p:cNvSpPr>
            <a:spLocks xmlns:a="http://schemas.openxmlformats.org/drawingml/2006/main" noGrp="1"/>
          </p:cNvSpPr>
          <p:nvPr/>
        </p:nvSpPr>
        <p:spPr>
          <a:xfrm xmlns:a="http://schemas.openxmlformats.org/drawingml/2006/main">
            <a:off x="9258300" y="6296025"/>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§1.2.4 · Opgaven 34–38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34–36 · Doel: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bonusopgave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9070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herhaling: kopen bij een gegeven prijs">
            <a:extLst xmlns:a="http://schemas.openxmlformats.org/drawingml/2006/main">
              <a:ext uri="{FF2B5EF4-FFF2-40B4-BE49-F238E27FC236}">
                <a16:creationId xmlns:a16="http://schemas.microsoft.com/office/drawing/2014/main" id="{EA605353-708B-4B4D-BE65-384CEF744BF7}"/>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kopen bij een gegeven prijs</a:t>
            </a:r>
          </a:p>
        </p:txBody>
      </p:sp>
      <p:sp>
        <p:nvSpPr>
          <p:cNvPr id="2" name="">
            <a:extLst xmlns:a="http://schemas.openxmlformats.org/drawingml/2006/main">
              <a:ext uri="{FF2B5EF4-FFF2-40B4-BE49-F238E27FC236}">
                <a16:creationId xmlns:a16="http://schemas.microsoft.com/office/drawing/2014/main" id="{0A7E40F1-B9C7-439F-81AD-1C063FEFC1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66C1399C-38C7-4DA3-8113-8E44FDD41BD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2">
            <a:extLst xmlns:a="http://schemas.openxmlformats.org/drawingml/2006/main">
              <a:ext uri="{FF2B5EF4-FFF2-40B4-BE49-F238E27FC236}">
                <a16:creationId xmlns:a16="http://schemas.microsoft.com/office/drawing/2014/main" id="{98E789B2-B73A-46AB-83FB-9513DBEB86A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Uitlegvoorbeeld — niet uit het boek">
            <a:extLst xmlns:a="http://schemas.openxmlformats.org/drawingml/2006/main">
              <a:ext uri="{FF2B5EF4-FFF2-40B4-BE49-F238E27FC236}">
                <a16:creationId xmlns:a16="http://schemas.microsoft.com/office/drawing/2014/main" id="{652DA487-EF4F-4B6F-B13A-EC14CDA9134D}"/>
              </a:ext>
            </a:extLst>
          </p:cNvPr>
          <p:cNvSpPr>
            <a:spLocks xmlns:a="http://schemas.openxmlformats.org/drawingml/2006/main" noGrp="1"/>
          </p:cNvSpPr>
          <p:nvPr/>
        </p:nvSpPr>
        <p:spPr>
          <a:xfrm xmlns:a="http://schemas.openxmlformats.org/drawingml/2006/main">
            <a:off x="571500" y="17526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Uitlegvoorbeeld — niet uit het boek</a:t>
            </a:r>
          </a:p>
        </p:txBody>
      </p:sp>
      <p:sp>
        <p:nvSpPr>
          <p:cNvPr id="6" name="Lina heeft € 8, € 5 en € 1 over voor drie extra ">
            <a:extLst xmlns:a="http://schemas.openxmlformats.org/drawingml/2006/main">
              <a:ext uri="{FF2B5EF4-FFF2-40B4-BE49-F238E27FC236}">
                <a16:creationId xmlns:a16="http://schemas.microsoft.com/office/drawing/2014/main" id="{56336889-B90D-4D28-9377-7A96A08A48C4}"/>
              </a:ext>
            </a:extLst>
          </p:cNvPr>
          <p:cNvSpPr>
            <a:spLocks xmlns:a="http://schemas.openxmlformats.org/drawingml/2006/main" noGrp="1"/>
          </p:cNvSpPr>
          <p:nvPr/>
        </p:nvSpPr>
        <p:spPr>
          <a:xfrm xmlns:a="http://schemas.openxmlformats.org/drawingml/2006/main">
            <a:off x="571500" y="24955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Lina heeft € 8, € 5 en € 1 over voor drie extra stickers.</a:t>
            </a:r>
          </a:p>
        </p:txBody>
      </p:sp>
      <p:graphicFrame>
        <p:nvGraphicFramePr>
          <p:cNvPr id="15" name=""/>
          <p:cNvGraphicFramePr/>
          <p:nvPr/>
        </p:nvGraphicFramePr>
        <p:xfrm>
          <a:off xmlns:a="http://schemas.openxmlformats.org/drawingml/2006/main" x="571500" y="3495675"/>
          <a:ext xmlns:a="http://schemas.openxmlformats.org/drawingml/2006/main" cx="14097000" cy="2533650"/>
        </p:xfrm>
        <a:graphic xmlns:a="http://schemas.openxmlformats.org/drawingml/2006/main">
          <a:graphicData uri="http://schemas.openxmlformats.org/drawingml/2006/table">
            <a:tbl>
              <a:tblPr/>
              <a:tblGrid>
                <a:gridCol w="4476750"/>
                <a:gridCol w="2952750"/>
                <a:gridCol w="3619500"/>
                <a:gridCol w="3048000"/>
              </a:tblGrid>
              <a:tr h="844550">
                <a:tc>
                  <a:txBody>
                    <a:bodyPr lIns="171450" tIns="95250" rIns="152400" bIns="95250"/>
                    <a:lstStyle/>
                    <a:p>
                      <a:r>
                        <a:rPr sz="2400" b="1">
                          <a:solidFill>
                            <a:srgbClr val="FFFFFF"/>
                          </a:solidFill>
                          <a:latin typeface="Arial"/>
                          <a:ea typeface="Arial"/>
                          <a:cs typeface="Arial"/>
                        </a:rPr>
                        <a:t>Sticker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Eerste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Tweede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Derde</a:t>
                      </a:r>
                    </a:p>
                  </a:txBody>
                  <a:tcPr marL="91440" marR="91440" marT="45720" marB="45720" anchor="ctr">
                    <a:solidFill>
                      <a:srgbClr val="183247"/>
                    </a:solidFill>
                  </a:tcPr>
                </a:tc>
              </a:tr>
              <a:tr h="844550">
                <a:tc>
                  <a:txBody>
                    <a:bodyPr lIns="171450" tIns="95250" rIns="152400" bIns="95250"/>
                    <a:lstStyle/>
                    <a:p>
                      <a:r>
                        <a:rPr sz="2400" b="0">
                          <a:solidFill>
                            <a:srgbClr val="183247"/>
                          </a:solidFill>
                          <a:latin typeface="Arial"/>
                          <a:ea typeface="Arial"/>
                          <a:cs typeface="Arial"/>
                        </a:rPr>
                        <a:t>Betalingsbereidheid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€ 5</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a:t>
                      </a:r>
                    </a:p>
                  </a:txBody>
                  <a:tcPr marL="91440" marR="91440" marT="45720" marB="45720" anchor="ctr">
                    <a:solidFill>
                      <a:srgbClr val="FFFFFF"/>
                    </a:solidFill>
                  </a:tcPr>
                </a:tc>
              </a:tr>
              <a:tr h="844550">
                <a:tc>
                  <a:txBody>
                    <a:bodyPr lIns="171450" tIns="95250" rIns="152400" bIns="95250"/>
                    <a:lstStyle/>
                    <a:p>
                      <a:r>
                        <a:rPr sz="2400" b="0">
                          <a:solidFill>
                            <a:srgbClr val="183247"/>
                          </a:solidFill>
                          <a:latin typeface="Arial"/>
                          <a:ea typeface="Arial"/>
                          <a:cs typeface="Arial"/>
                        </a:rPr>
                        <a:t>Kopen bij € 5?</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Ja</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Ja, bij gelijkheid</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Nee</a:t>
                      </a:r>
                    </a:p>
                  </a:txBody>
                  <a:tcPr marL="91440" marR="91440" marT="45720" marB="45720" anchor="ctr">
                    <a:solidFill>
                      <a:srgbClr val="EFF4F7"/>
                    </a:solidFill>
                  </a:tcPr>
                </a:tc>
              </a:tr>
            </a:tbl>
          </a:graphicData>
        </a:graphic>
      </p:graphicFrame>
      <p:sp>
        <p:nvSpPr>
          <p:cNvPr id="8" name="Lina wil 2 stickers kopen bij € 5 per sticker.">
            <a:extLst xmlns:a="http://schemas.openxmlformats.org/drawingml/2006/main">
              <a:ext uri="{FF2B5EF4-FFF2-40B4-BE49-F238E27FC236}">
                <a16:creationId xmlns:a16="http://schemas.microsoft.com/office/drawing/2014/main" id="{36EA59D5-E1C5-490F-B710-0B1DE1BC0542}"/>
              </a:ext>
            </a:extLst>
          </p:cNvPr>
          <p:cNvSpPr>
            <a:spLocks xmlns:a="http://schemas.openxmlformats.org/drawingml/2006/main" noGrp="1"/>
          </p:cNvSpPr>
          <p:nvPr/>
        </p:nvSpPr>
        <p:spPr>
          <a:xfrm xmlns:a="http://schemas.openxmlformats.org/drawingml/2006/main">
            <a:off x="571500" y="66198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Lina wil 2 stickers kopen bij € 5 per sticker.</a:t>
            </a:r>
          </a:p>
        </p:txBody>
      </p:sp>
    </p:spTree>
    <p:extLst>
      <p:ext uri="{BB962C8B-B14F-4D97-AF65-F5344CB8AC3E}">
        <p14:creationId xmlns:p14="http://schemas.microsoft.com/office/powerpoint/2010/main" val="13064262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orte herhaling: twee groepen samen">
            <a:extLst xmlns:a="http://schemas.openxmlformats.org/drawingml/2006/main">
              <a:ext uri="{FF2B5EF4-FFF2-40B4-BE49-F238E27FC236}">
                <a16:creationId xmlns:a16="http://schemas.microsoft.com/office/drawing/2014/main" id="{3E7612BC-15A9-47DD-BEB0-154B043898C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twee groepen samen</a:t>
            </a:r>
          </a:p>
        </p:txBody>
      </p:sp>
      <p:sp>
        <p:nvSpPr>
          <p:cNvPr id="2" name="">
            <a:extLst xmlns:a="http://schemas.openxmlformats.org/drawingml/2006/main">
              <a:ext uri="{FF2B5EF4-FFF2-40B4-BE49-F238E27FC236}">
                <a16:creationId xmlns:a16="http://schemas.microsoft.com/office/drawing/2014/main" id="{88492C38-BD7B-48E9-9959-5D33F48325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7B19F757-9068-4A04-8D4F-507288F7510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3">
            <a:extLst xmlns:a="http://schemas.openxmlformats.org/drawingml/2006/main">
              <a:ext uri="{FF2B5EF4-FFF2-40B4-BE49-F238E27FC236}">
                <a16:creationId xmlns:a16="http://schemas.microsoft.com/office/drawing/2014/main" id="{0ACB3381-764D-478C-BFFD-9ABFB7F8A1D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A2E84358-BF7C-42D4-8830-B763B0A774E6}"/>
              </a:ext>
            </a:extLst>
          </p:cNvPr>
          <p:cNvSpPr>
            <a:spLocks xmlns:a="http://schemas.openxmlformats.org/drawingml/2006/main" noGrp="1"/>
          </p:cNvSpPr>
          <p:nvPr/>
        </p:nvSpPr>
        <p:spPr>
          <a:xfrm xmlns:a="http://schemas.openxmlformats.org/drawingml/2006/main">
            <a:off x="571500" y="17526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Uitlegvoorbeeld — niet uit het boek</a:t>
            </a:r>
          </a:p>
        </p:txBody>
      </p:sp>
      <p:sp>
        <p:nvSpPr>
          <p:cNvPr id="6" name="Rondvaart: kaartjes per week, P in euro per kaar">
            <a:extLst xmlns:a="http://schemas.openxmlformats.org/drawingml/2006/main">
              <a:ext uri="{FF2B5EF4-FFF2-40B4-BE49-F238E27FC236}">
                <a16:creationId xmlns:a16="http://schemas.microsoft.com/office/drawing/2014/main" id="{B287CC00-BDAE-4671-A913-8889D99B1DF8}"/>
              </a:ext>
            </a:extLst>
          </p:cNvPr>
          <p:cNvSpPr>
            <a:spLocks xmlns:a="http://schemas.openxmlformats.org/drawingml/2006/main" noGrp="1"/>
          </p:cNvSpPr>
          <p:nvPr/>
        </p:nvSpPr>
        <p:spPr>
          <a:xfrm xmlns:a="http://schemas.openxmlformats.org/drawingml/2006/main">
            <a:off x="571500" y="23907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Rondvaart: kaartjes per week, P in euro per kaartje</a:t>
            </a:r>
          </a:p>
        </p:txBody>
      </p:sp>
      <p:sp>
        <p:nvSpPr>
          <p:cNvPr id="7" name="Qₐ = 18 − 2P     voor 0 ≤ P ≤ 9&#10;Qᵦ = 30 − 2P    ">
            <a:extLst xmlns:a="http://schemas.openxmlformats.org/drawingml/2006/main">
              <a:ext uri="{FF2B5EF4-FFF2-40B4-BE49-F238E27FC236}">
                <a16:creationId xmlns:a16="http://schemas.microsoft.com/office/drawing/2014/main" id="{310F7909-0E99-4305-807B-EA3B451DF1A5}"/>
              </a:ext>
            </a:extLst>
          </p:cNvPr>
          <p:cNvSpPr>
            <a:spLocks xmlns:a="http://schemas.openxmlformats.org/drawingml/2006/main" noGrp="1"/>
          </p:cNvSpPr>
          <p:nvPr/>
        </p:nvSpPr>
        <p:spPr>
          <a:xfrm xmlns:a="http://schemas.openxmlformats.org/drawingml/2006/main">
            <a:off x="571500" y="3238500"/>
            <a:ext cx="1409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xml:space="preserve">Q</a:t>
            </a:r>
            <a:r>
              <a:rPr sz="2580" b="0" baseline="-25000">
                <a:solidFill>
                  <a:srgbClr val="183247"/>
                </a:solidFill>
                <a:latin typeface="Arial"/>
                <a:ea typeface="Arial"/>
                <a:cs typeface="Arial"/>
              </a:rPr>
              <a:t xml:space="preserve">A</a:t>
            </a:r>
            <a:r>
              <a:rPr sz="3225" b="0">
                <a:solidFill>
                  <a:srgbClr val="183247"/>
                </a:solidFill>
                <a:latin typeface="Arial"/>
                <a:ea typeface="Arial"/>
                <a:cs typeface="Arial"/>
              </a:rPr>
              <a:t xml:space="preserve"> = 18 − 2P     voor 0 ≤ P ≤ 9</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xml:space="preserve">Q</a:t>
            </a:r>
            <a:r>
              <a:rPr sz="2580" b="0" baseline="-25000">
                <a:solidFill>
                  <a:srgbClr val="183247"/>
                </a:solidFill>
                <a:latin typeface="Arial"/>
                <a:ea typeface="Arial"/>
                <a:cs typeface="Arial"/>
              </a:rPr>
              <a:t xml:space="preserve">B</a:t>
            </a:r>
            <a:r>
              <a:rPr sz="3225" b="0">
                <a:solidFill>
                  <a:srgbClr val="183247"/>
                </a:solidFill>
                <a:latin typeface="Arial"/>
                <a:ea typeface="Arial"/>
                <a:cs typeface="Arial"/>
              </a:rPr>
              <a:t xml:space="preserve"> = 30 − 2P     voor 0 ≤ P ≤ 15</a:t>
            </a:r>
          </a:p>
        </p:txBody>
      </p:sp>
      <p:sp>
        <p:nvSpPr>
          <p:cNvPr id="8" name="Q = (18 − 2P) + (30 − 2P) = 48 − 4P">
            <a:extLst xmlns:a="http://schemas.openxmlformats.org/drawingml/2006/main">
              <a:ext uri="{FF2B5EF4-FFF2-40B4-BE49-F238E27FC236}">
                <a16:creationId xmlns:a16="http://schemas.microsoft.com/office/drawing/2014/main" id="{135B4028-552E-4882-8038-CB4E6EE51864}"/>
              </a:ext>
            </a:extLst>
          </p:cNvPr>
          <p:cNvSpPr>
            <a:spLocks xmlns:a="http://schemas.openxmlformats.org/drawingml/2006/main" noGrp="1"/>
          </p:cNvSpPr>
          <p:nvPr/>
        </p:nvSpPr>
        <p:spPr>
          <a:xfrm xmlns:a="http://schemas.openxmlformats.org/drawingml/2006/main">
            <a:off x="571500" y="49149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 = (18 − 2P) + (30 − 2P) = 48 − 4P</a:t>
            </a:r>
          </a:p>
        </p:txBody>
      </p:sp>
      <p:sp>
        <p:nvSpPr>
          <p:cNvPr id="9" name="Gemeenschappelijk interval: 0 ≤ P ≤ 9">
            <a:extLst xmlns:a="http://schemas.openxmlformats.org/drawingml/2006/main">
              <a:ext uri="{FF2B5EF4-FFF2-40B4-BE49-F238E27FC236}">
                <a16:creationId xmlns:a16="http://schemas.microsoft.com/office/drawing/2014/main" id="{0EBEC24B-6C2B-4AF3-84E3-AD8E6579E65D}"/>
              </a:ext>
            </a:extLst>
          </p:cNvPr>
          <p:cNvSpPr>
            <a:spLocks xmlns:a="http://schemas.openxmlformats.org/drawingml/2006/main" noGrp="1"/>
          </p:cNvSpPr>
          <p:nvPr/>
        </p:nvSpPr>
        <p:spPr>
          <a:xfrm xmlns:a="http://schemas.openxmlformats.org/drawingml/2006/main">
            <a:off x="571500" y="57626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Gemeenschappelijk interval: 0 ≤ P ≤ 9</a:t>
            </a:r>
          </a:p>
        </p:txBody>
      </p:sp>
      <p:sp>
        <p:nvSpPr>
          <p:cNvPr id="10" name="Bij € 3: 12 + 24 = 36 kaartjes per week">
            <a:extLst xmlns:a="http://schemas.openxmlformats.org/drawingml/2006/main">
              <a:ext uri="{FF2B5EF4-FFF2-40B4-BE49-F238E27FC236}">
                <a16:creationId xmlns:a16="http://schemas.microsoft.com/office/drawing/2014/main" id="{BB17DB88-2954-4D3E-8766-88D253E618F4}"/>
              </a:ext>
            </a:extLst>
          </p:cNvPr>
          <p:cNvSpPr>
            <a:spLocks xmlns:a="http://schemas.openxmlformats.org/drawingml/2006/main" noGrp="1"/>
          </p:cNvSpPr>
          <p:nvPr/>
        </p:nvSpPr>
        <p:spPr>
          <a:xfrm xmlns:a="http://schemas.openxmlformats.org/drawingml/2006/main">
            <a:off x="571500" y="69723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Bij € 3: 12 + 24 = 36 kaartjes per week</a:t>
            </a:r>
          </a:p>
        </p:txBody>
      </p:sp>
    </p:spTree>
    <p:extLst>
      <p:ext uri="{BB962C8B-B14F-4D97-AF65-F5344CB8AC3E}">
        <p14:creationId xmlns:p14="http://schemas.microsoft.com/office/powerpoint/2010/main" val="9243973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orte herhaling: terugrekenen en controleren">
            <a:extLst xmlns:a="http://schemas.openxmlformats.org/drawingml/2006/main">
              <a:ext uri="{FF2B5EF4-FFF2-40B4-BE49-F238E27FC236}">
                <a16:creationId xmlns:a16="http://schemas.microsoft.com/office/drawing/2014/main" id="{8AECE72C-8695-4F06-B114-B5388955E484}"/>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terugrekenen en controleren</a:t>
            </a:r>
          </a:p>
        </p:txBody>
      </p:sp>
      <p:sp>
        <p:nvSpPr>
          <p:cNvPr id="2" name="">
            <a:extLst xmlns:a="http://schemas.openxmlformats.org/drawingml/2006/main">
              <a:ext uri="{FF2B5EF4-FFF2-40B4-BE49-F238E27FC236}">
                <a16:creationId xmlns:a16="http://schemas.microsoft.com/office/drawing/2014/main" id="{A64A687D-33D3-491E-97E9-B4DFE0CA07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1D8ABDFE-40AE-4EEA-8079-B1FC7E22E39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4">
            <a:extLst xmlns:a="http://schemas.openxmlformats.org/drawingml/2006/main">
              <a:ext uri="{FF2B5EF4-FFF2-40B4-BE49-F238E27FC236}">
                <a16:creationId xmlns:a16="http://schemas.microsoft.com/office/drawing/2014/main" id="{5B43AD0A-5F24-4472-B83A-FA0E973A0D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EB39288A-831E-463B-95DA-BDB1CD44A49A}"/>
              </a:ext>
            </a:extLst>
          </p:cNvPr>
          <p:cNvSpPr>
            <a:spLocks xmlns:a="http://schemas.openxmlformats.org/drawingml/2006/main" noGrp="1"/>
          </p:cNvSpPr>
          <p:nvPr/>
        </p:nvSpPr>
        <p:spPr>
          <a:xfrm xmlns:a="http://schemas.openxmlformats.org/drawingml/2006/main">
            <a:off x="571500" y="17526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Uitlegvoorbeeld — niet uit het boek</a:t>
            </a:r>
          </a:p>
        </p:txBody>
      </p:sp>
      <p:sp>
        <p:nvSpPr>
          <p:cNvPr id="6" name="Rondvaart: welke prijs hoort bij 28 kaartjes per">
            <a:extLst xmlns:a="http://schemas.openxmlformats.org/drawingml/2006/main">
              <a:ext uri="{FF2B5EF4-FFF2-40B4-BE49-F238E27FC236}">
                <a16:creationId xmlns:a16="http://schemas.microsoft.com/office/drawing/2014/main" id="{C164FB6F-9FDC-469F-87BE-605C6394D446}"/>
              </a:ext>
            </a:extLst>
          </p:cNvPr>
          <p:cNvSpPr>
            <a:spLocks xmlns:a="http://schemas.openxmlformats.org/drawingml/2006/main" noGrp="1"/>
          </p:cNvSpPr>
          <p:nvPr/>
        </p:nvSpPr>
        <p:spPr>
          <a:xfrm xmlns:a="http://schemas.openxmlformats.org/drawingml/2006/main">
            <a:off x="571500" y="24384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Rondvaart: welke prijs hoort bij 28 kaartjes per week?</a:t>
            </a:r>
          </a:p>
        </p:txBody>
      </p:sp>
      <p:sp>
        <p:nvSpPr>
          <p:cNvPr id="7" name="28 = 48 − 4P&#10;28 + 4P = 48&#10;4P = 20&#10;P = € 5 per ka">
            <a:extLst xmlns:a="http://schemas.openxmlformats.org/drawingml/2006/main">
              <a:ext uri="{FF2B5EF4-FFF2-40B4-BE49-F238E27FC236}">
                <a16:creationId xmlns:a16="http://schemas.microsoft.com/office/drawing/2014/main" id="{AD548FAA-C3E4-4C0B-83CB-9A31ED92C8A2}"/>
              </a:ext>
            </a:extLst>
          </p:cNvPr>
          <p:cNvSpPr>
            <a:spLocks xmlns:a="http://schemas.openxmlformats.org/drawingml/2006/main" noGrp="1"/>
          </p:cNvSpPr>
          <p:nvPr/>
        </p:nvSpPr>
        <p:spPr>
          <a:xfrm xmlns:a="http://schemas.openxmlformats.org/drawingml/2006/main">
            <a:off x="571500" y="3486150"/>
            <a:ext cx="75247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28 = 48 − 4P</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28 + 4P = 48</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4P = 20</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P = € 5 per kaartje</a:t>
            </a:r>
          </a:p>
        </p:txBody>
      </p:sp>
      <p:sp>
        <p:nvSpPr>
          <p:cNvPr id="8" name="Aan beide kanten +4P&#10;Aan beide kanten −28&#10;Aan be">
            <a:extLst xmlns:a="http://schemas.openxmlformats.org/drawingml/2006/main">
              <a:ext uri="{FF2B5EF4-FFF2-40B4-BE49-F238E27FC236}">
                <a16:creationId xmlns:a16="http://schemas.microsoft.com/office/drawing/2014/main" id="{3B415F77-56CA-45FE-8295-8E7BDC70D1BF}"/>
              </a:ext>
            </a:extLst>
          </p:cNvPr>
          <p:cNvSpPr>
            <a:spLocks xmlns:a="http://schemas.openxmlformats.org/drawingml/2006/main" noGrp="1"/>
          </p:cNvSpPr>
          <p:nvPr/>
        </p:nvSpPr>
        <p:spPr>
          <a:xfrm xmlns:a="http://schemas.openxmlformats.org/drawingml/2006/main">
            <a:off x="8810625" y="4048125"/>
            <a:ext cx="585787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Aan beide kanten +4P</a:t>
            </a:r>
          </a:p>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Aan beide kanten −28</a:t>
            </a:r>
          </a:p>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Aan beide kanten ÷4</a:t>
            </a:r>
          </a:p>
        </p:txBody>
      </p:sp>
      <p:sp>
        <p:nvSpPr>
          <p:cNvPr id="9" name="Controle: 48 − 4 × 5 = 28 kaartjes per week">
            <a:extLst xmlns:a="http://schemas.openxmlformats.org/drawingml/2006/main">
              <a:ext uri="{FF2B5EF4-FFF2-40B4-BE49-F238E27FC236}">
                <a16:creationId xmlns:a16="http://schemas.microsoft.com/office/drawing/2014/main" id="{382A6B57-5163-4CA9-B2D2-74F00BEDDA0E}"/>
              </a:ext>
            </a:extLst>
          </p:cNvPr>
          <p:cNvSpPr>
            <a:spLocks xmlns:a="http://schemas.openxmlformats.org/drawingml/2006/main" noGrp="1"/>
          </p:cNvSpPr>
          <p:nvPr/>
        </p:nvSpPr>
        <p:spPr>
          <a:xfrm xmlns:a="http://schemas.openxmlformats.org/drawingml/2006/main">
            <a:off x="571500" y="66008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Controle: 48 − 4 × 5 = 28 kaartjes per week</a:t>
            </a:r>
          </a:p>
        </p:txBody>
      </p:sp>
      <p:sp>
        <p:nvSpPr>
          <p:cNvPr id="10" name="Dezelfde relatie met P links: P = 12 − 0,25Q">
            <a:extLst xmlns:a="http://schemas.openxmlformats.org/drawingml/2006/main">
              <a:ext uri="{FF2B5EF4-FFF2-40B4-BE49-F238E27FC236}">
                <a16:creationId xmlns:a16="http://schemas.microsoft.com/office/drawing/2014/main" id="{AFA09BFC-B226-40B3-9E3A-246447969BE5}"/>
              </a:ext>
            </a:extLst>
          </p:cNvPr>
          <p:cNvSpPr>
            <a:spLocks xmlns:a="http://schemas.openxmlformats.org/drawingml/2006/main" noGrp="1"/>
          </p:cNvSpPr>
          <p:nvPr/>
        </p:nvSpPr>
        <p:spPr>
          <a:xfrm xmlns:a="http://schemas.openxmlformats.org/drawingml/2006/main">
            <a:off x="571500" y="742950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Dezelfde relatie met P links: P = 12 − 0,25Q</a:t>
            </a:r>
          </a:p>
        </p:txBody>
      </p:sp>
    </p:spTree>
    <p:extLst>
      <p:ext uri="{BB962C8B-B14F-4D97-AF65-F5344CB8AC3E}">
        <p14:creationId xmlns:p14="http://schemas.microsoft.com/office/powerpoint/2010/main" val="743088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herhaling: alleen de eigen prijs">
            <a:extLst xmlns:a="http://schemas.openxmlformats.org/drawingml/2006/main">
              <a:ext uri="{FF2B5EF4-FFF2-40B4-BE49-F238E27FC236}">
                <a16:creationId xmlns:a16="http://schemas.microsoft.com/office/drawing/2014/main" id="{163B4756-3A79-44EA-BEDA-F7C13346F06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alleen de eigen prijs</a:t>
            </a:r>
          </a:p>
        </p:txBody>
      </p:sp>
      <p:sp>
        <p:nvSpPr>
          <p:cNvPr id="2" name="">
            <a:extLst xmlns:a="http://schemas.openxmlformats.org/drawingml/2006/main">
              <a:ext uri="{FF2B5EF4-FFF2-40B4-BE49-F238E27FC236}">
                <a16:creationId xmlns:a16="http://schemas.microsoft.com/office/drawing/2014/main" id="{038A8DC1-E4BB-45F7-BF81-4ED7FEA81DD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F8D68863-55D9-461D-9AA3-92EE86456A8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5">
            <a:extLst xmlns:a="http://schemas.openxmlformats.org/drawingml/2006/main">
              <a:ext uri="{FF2B5EF4-FFF2-40B4-BE49-F238E27FC236}">
                <a16:creationId xmlns:a16="http://schemas.microsoft.com/office/drawing/2014/main" id="{0AEE8D15-C125-4A61-B57D-25E6CE0A6F7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19688B29-9481-4D6F-8408-79294BFE1066}"/>
              </a:ext>
            </a:extLst>
          </p:cNvPr>
          <p:cNvSpPr>
            <a:spLocks xmlns:a="http://schemas.openxmlformats.org/drawingml/2006/main" noGrp="1"/>
          </p:cNvSpPr>
          <p:nvPr/>
        </p:nvSpPr>
        <p:spPr>
          <a:xfrm xmlns:a="http://schemas.openxmlformats.org/drawingml/2006/main">
            <a:off x="571500" y="17526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00300"/>
          <a:ext xmlns:a="http://schemas.openxmlformats.org/drawingml/2006/main" cx="10287000" cy="5381625"/>
        </p:xfrm>
        <a:graphic xmlns:a="http://schemas.openxmlformats.org/drawingml/2006/main">
          <a:graphicData uri="http://schemas.openxmlformats.org/drawingml/2006/chart">
            <c:chart xmlns:r="http://schemas.openxmlformats.org/officeDocument/2006/relationships" xmlns:c="http://schemas.openxmlformats.org/drawingml/2006/chart" r:id="Ra98d3fd9de0c4308"/>
          </a:graphicData>
        </a:graphic>
      </p:graphicFrame>
      <p:sp>
        <p:nvSpPr>
          <p:cNvPr id="7" name="Rondvaart&#10;P: € 3 naar € 4">
            <a:extLst xmlns:a="http://schemas.openxmlformats.org/drawingml/2006/main">
              <a:ext uri="{FF2B5EF4-FFF2-40B4-BE49-F238E27FC236}">
                <a16:creationId xmlns:a16="http://schemas.microsoft.com/office/drawing/2014/main" id="{B020AE06-C9B7-49E0-B95C-768AFE97C482}"/>
              </a:ext>
            </a:extLst>
          </p:cNvPr>
          <p:cNvSpPr>
            <a:spLocks xmlns:a="http://schemas.openxmlformats.org/drawingml/2006/main" noGrp="1"/>
          </p:cNvSpPr>
          <p:nvPr/>
        </p:nvSpPr>
        <p:spPr>
          <a:xfrm xmlns:a="http://schemas.openxmlformats.org/drawingml/2006/main">
            <a:off x="11334750" y="253365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Rondvaart</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P: € 3 naar € 4</a:t>
            </a:r>
          </a:p>
        </p:txBody>
      </p:sp>
      <p:sp>
        <p:nvSpPr>
          <p:cNvPr id="8" name="Q = 48 − 4P&#10;&#10;36 naar 32&#10;kaartjes per week">
            <a:extLst xmlns:a="http://schemas.openxmlformats.org/drawingml/2006/main">
              <a:ext uri="{FF2B5EF4-FFF2-40B4-BE49-F238E27FC236}">
                <a16:creationId xmlns:a16="http://schemas.microsoft.com/office/drawing/2014/main" id="{AC45962A-8A42-4FC9-A8BB-F170C369A940}"/>
              </a:ext>
            </a:extLst>
          </p:cNvPr>
          <p:cNvSpPr>
            <a:spLocks xmlns:a="http://schemas.openxmlformats.org/drawingml/2006/main" noGrp="1"/>
          </p:cNvSpPr>
          <p:nvPr/>
        </p:nvSpPr>
        <p:spPr>
          <a:xfrm xmlns:a="http://schemas.openxmlformats.org/drawingml/2006/main">
            <a:off x="11334750" y="4191000"/>
            <a:ext cx="33337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 48 − 4P</a:t>
            </a:r>
          </a:p>
          <a:p xmlns:a="http://schemas.openxmlformats.org/drawingml/2006/main">
            <a:r>
              <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36 naar 32</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kaartjes per week</a:t>
            </a:r>
          </a:p>
        </p:txBody>
      </p:sp>
      <p:sp>
        <p:nvSpPr>
          <p:cNvPr id="9" name="A naar B:&#10;langs V₀">
            <a:extLst xmlns:a="http://schemas.openxmlformats.org/drawingml/2006/main">
              <a:ext uri="{FF2B5EF4-FFF2-40B4-BE49-F238E27FC236}">
                <a16:creationId xmlns:a16="http://schemas.microsoft.com/office/drawing/2014/main" id="{C438CD72-342C-4FA8-BD0A-FCA48A9EC1DE}"/>
              </a:ext>
            </a:extLst>
          </p:cNvPr>
          <p:cNvSpPr>
            <a:spLocks xmlns:a="http://schemas.openxmlformats.org/drawingml/2006/main" noGrp="1"/>
          </p:cNvSpPr>
          <p:nvPr/>
        </p:nvSpPr>
        <p:spPr>
          <a:xfrm xmlns:a="http://schemas.openxmlformats.org/drawingml/2006/main">
            <a:off x="11334750" y="65722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A naar B:</a:t>
            </a:r>
          </a:p>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langs V₀</a:t>
            </a:r>
          </a:p>
        </p:txBody>
      </p:sp>
    </p:spTree>
    <p:extLst>
      <p:ext uri="{BB962C8B-B14F-4D97-AF65-F5344CB8AC3E}">
        <p14:creationId xmlns:p14="http://schemas.microsoft.com/office/powerpoint/2010/main" val="6170054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herhaling: een substituut wordt duurder">
            <a:extLst xmlns:a="http://schemas.openxmlformats.org/drawingml/2006/main">
              <a:ext uri="{FF2B5EF4-FFF2-40B4-BE49-F238E27FC236}">
                <a16:creationId xmlns:a16="http://schemas.microsoft.com/office/drawing/2014/main" id="{07CC733E-77D2-4321-9D6F-FE8C605082F8}"/>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een substituut wordt duurder</a:t>
            </a:r>
          </a:p>
        </p:txBody>
      </p:sp>
      <p:sp>
        <p:nvSpPr>
          <p:cNvPr id="2" name="">
            <a:extLst xmlns:a="http://schemas.openxmlformats.org/drawingml/2006/main">
              <a:ext uri="{FF2B5EF4-FFF2-40B4-BE49-F238E27FC236}">
                <a16:creationId xmlns:a16="http://schemas.microsoft.com/office/drawing/2014/main" id="{8E0FDDA8-EEAA-4E43-899E-E115A06D6F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525967E4-461F-4E89-BB8A-72F53573CB4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6">
            <a:extLst xmlns:a="http://schemas.openxmlformats.org/drawingml/2006/main">
              <a:ext uri="{FF2B5EF4-FFF2-40B4-BE49-F238E27FC236}">
                <a16:creationId xmlns:a16="http://schemas.microsoft.com/office/drawing/2014/main" id="{666DB0B8-5F3A-4E3C-B6EC-CAB4A7416E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5BF01ECD-C4F1-4A6F-97AB-295C415487D9}"/>
              </a:ext>
            </a:extLst>
          </p:cNvPr>
          <p:cNvSpPr>
            <a:spLocks xmlns:a="http://schemas.openxmlformats.org/drawingml/2006/main" noGrp="1"/>
          </p:cNvSpPr>
          <p:nvPr/>
        </p:nvSpPr>
        <p:spPr>
          <a:xfrm xmlns:a="http://schemas.openxmlformats.org/drawingml/2006/main">
            <a:off x="571500" y="175260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00300"/>
          <a:ext xmlns:a="http://schemas.openxmlformats.org/drawingml/2006/main" cx="10287000" cy="5381625"/>
        </p:xfrm>
        <a:graphic xmlns:a="http://schemas.openxmlformats.org/drawingml/2006/main">
          <a:graphicData uri="http://schemas.openxmlformats.org/drawingml/2006/chart">
            <c:chart xmlns:r="http://schemas.openxmlformats.org/officeDocument/2006/relationships" xmlns:c="http://schemas.openxmlformats.org/drawingml/2006/chart" r:id="R281d0441fb614756"/>
          </a:graphicData>
        </a:graphic>
      </p:graphicFrame>
      <p:sp>
        <p:nvSpPr>
          <p:cNvPr id="7" name="Waterfietsen&#10;wordt duurder">
            <a:extLst xmlns:a="http://schemas.openxmlformats.org/drawingml/2006/main">
              <a:ext uri="{FF2B5EF4-FFF2-40B4-BE49-F238E27FC236}">
                <a16:creationId xmlns:a16="http://schemas.microsoft.com/office/drawing/2014/main" id="{0CEC8833-C98B-45D7-8A1B-E4AAE366E231}"/>
              </a:ext>
            </a:extLst>
          </p:cNvPr>
          <p:cNvSpPr>
            <a:spLocks xmlns:a="http://schemas.openxmlformats.org/drawingml/2006/main" noGrp="1"/>
          </p:cNvSpPr>
          <p:nvPr/>
        </p:nvSpPr>
        <p:spPr>
          <a:xfrm xmlns:a="http://schemas.openxmlformats.org/drawingml/2006/main">
            <a:off x="11334750" y="253365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Waterfietsen</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wordt duurder</a:t>
            </a:r>
          </a:p>
        </p:txBody>
      </p:sp>
      <p:sp>
        <p:nvSpPr>
          <p:cNvPr id="8" name="Gegeven: bij elke&#10;prijs +8 kaartjes&#10;per week">
            <a:extLst xmlns:a="http://schemas.openxmlformats.org/drawingml/2006/main">
              <a:ext uri="{FF2B5EF4-FFF2-40B4-BE49-F238E27FC236}">
                <a16:creationId xmlns:a16="http://schemas.microsoft.com/office/drawing/2014/main" id="{295FAC85-FC2E-43BF-A980-3448D6BEE173}"/>
              </a:ext>
            </a:extLst>
          </p:cNvPr>
          <p:cNvSpPr>
            <a:spLocks xmlns:a="http://schemas.openxmlformats.org/drawingml/2006/main" noGrp="1"/>
          </p:cNvSpPr>
          <p:nvPr/>
        </p:nvSpPr>
        <p:spPr>
          <a:xfrm xmlns:a="http://schemas.openxmlformats.org/drawingml/2006/main">
            <a:off x="11334750" y="4191000"/>
            <a:ext cx="33337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Gegeven: bij elke</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prijs +8 kaartjes</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per week</a:t>
            </a:r>
          </a:p>
        </p:txBody>
      </p:sp>
      <p:sp>
        <p:nvSpPr>
          <p:cNvPr id="9" name="V₁: Q = 56 − 4P&#10;Bij € 4: Q = 40">
            <a:extLst xmlns:a="http://schemas.openxmlformats.org/drawingml/2006/main">
              <a:ext uri="{FF2B5EF4-FFF2-40B4-BE49-F238E27FC236}">
                <a16:creationId xmlns:a16="http://schemas.microsoft.com/office/drawing/2014/main" id="{C402C28B-6BD7-4F2A-9EE8-F084A6AAFF1B}"/>
              </a:ext>
            </a:extLst>
          </p:cNvPr>
          <p:cNvSpPr>
            <a:spLocks xmlns:a="http://schemas.openxmlformats.org/drawingml/2006/main" noGrp="1"/>
          </p:cNvSpPr>
          <p:nvPr/>
        </p:nvSpPr>
        <p:spPr>
          <a:xfrm xmlns:a="http://schemas.openxmlformats.org/drawingml/2006/main">
            <a:off x="11334750" y="65722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V₁: Q = 56 − 4P</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Bij € 4: Q = 40</a:t>
            </a:r>
          </a:p>
        </p:txBody>
      </p:sp>
    </p:spTree>
    <p:extLst>
      <p:ext uri="{BB962C8B-B14F-4D97-AF65-F5344CB8AC3E}">
        <p14:creationId xmlns:p14="http://schemas.microsoft.com/office/powerpoint/2010/main" val="1941098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4 Gemengde opgaven">
            <a:extLst xmlns:a="http://schemas.openxmlformats.org/drawingml/2006/main">
              <a:ext uri="{FF2B5EF4-FFF2-40B4-BE49-F238E27FC236}">
                <a16:creationId xmlns:a16="http://schemas.microsoft.com/office/drawing/2014/main" id="{BE530203-1017-44A5-AB03-5193D51FC20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§1.2.4 Gemengde opgaven</a:t>
            </a:r>
          </a:p>
        </p:txBody>
      </p:sp>
      <p:sp>
        <p:nvSpPr>
          <p:cNvPr id="2" name="">
            <a:extLst xmlns:a="http://schemas.openxmlformats.org/drawingml/2006/main">
              <a:ext uri="{FF2B5EF4-FFF2-40B4-BE49-F238E27FC236}">
                <a16:creationId xmlns:a16="http://schemas.microsoft.com/office/drawing/2014/main" id="{566E918D-5E92-492C-B6BF-8B8E42BBB94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3A15BF60-9244-452C-ADDC-E396AA598F6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7">
            <a:extLst xmlns:a="http://schemas.openxmlformats.org/drawingml/2006/main">
              <a:ext uri="{FF2B5EF4-FFF2-40B4-BE49-F238E27FC236}">
                <a16:creationId xmlns:a16="http://schemas.microsoft.com/office/drawing/2014/main" id="{419E1A82-88E8-496A-BC80-0BA24205165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phase">
            <a:extLst xmlns:a="http://schemas.openxmlformats.org/drawingml/2006/main">
              <a:ext uri="{FF2B5EF4-FFF2-40B4-BE49-F238E27FC236}">
                <a16:creationId xmlns:a16="http://schemas.microsoft.com/office/drawing/2014/main" id="{91179618-621E-47E7-852C-CB66F37509A7}"/>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Gemengde opgaven</a:t>
            </a:r>
          </a:p>
        </p:txBody>
      </p:sp>
      <p:sp>
        <p:nvSpPr>
          <p:cNvPr id="6" name="Lesroute">
            <a:extLst xmlns:a="http://schemas.openxmlformats.org/drawingml/2006/main">
              <a:ext uri="{FF2B5EF4-FFF2-40B4-BE49-F238E27FC236}">
                <a16:creationId xmlns:a16="http://schemas.microsoft.com/office/drawing/2014/main" id="{EDFB8CD4-5077-4498-A684-D5C0DD8782E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3FB76EE3-BB24-4616-80E2-5DB37675AD91}"/>
              </a:ext>
            </a:extLst>
          </p:cNvPr>
          <p:cNvSpPr>
            <a:spLocks xmlns:a="http://schemas.openxmlformats.org/drawingml/2006/main" noGrp="1"/>
          </p:cNvSpPr>
          <p:nvPr/>
        </p:nvSpPr>
        <p:spPr>
          <a:xfrm xmlns:a="http://schemas.openxmlformats.org/drawingml/2006/main">
            <a:off x="571500" y="2324100"/>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96B4DB3-B915-4C99-9640-84E7AD2CF2D9}"/>
              </a:ext>
            </a:extLst>
          </p:cNvPr>
          <p:cNvSpPr>
            <a:spLocks xmlns:a="http://schemas.openxmlformats.org/drawingml/2006/main" noGrp="1"/>
          </p:cNvSpPr>
          <p:nvPr/>
        </p:nvSpPr>
        <p:spPr>
          <a:xfrm xmlns:a="http://schemas.openxmlformats.org/drawingml/2006/main">
            <a:off x="1104900" y="2324100"/>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55FB5B1-8A15-492E-B967-2E86E77DB97F}"/>
              </a:ext>
            </a:extLst>
          </p:cNvPr>
          <p:cNvSpPr>
            <a:spLocks xmlns:a="http://schemas.openxmlformats.org/drawingml/2006/main" noGrp="1"/>
          </p:cNvSpPr>
          <p:nvPr/>
        </p:nvSpPr>
        <p:spPr>
          <a:xfrm xmlns:a="http://schemas.openxmlformats.org/drawingml/2006/main">
            <a:off x="571500" y="32861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986A49A-326F-4D6C-8E14-80D03B87F6B7}"/>
              </a:ext>
            </a:extLst>
          </p:cNvPr>
          <p:cNvSpPr>
            <a:spLocks xmlns:a="http://schemas.openxmlformats.org/drawingml/2006/main" noGrp="1"/>
          </p:cNvSpPr>
          <p:nvPr/>
        </p:nvSpPr>
        <p:spPr>
          <a:xfrm xmlns:a="http://schemas.openxmlformats.org/drawingml/2006/main">
            <a:off x="1104900" y="32861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98E6CD6-6910-4FBB-92E3-A08645F2246E}"/>
              </a:ext>
            </a:extLst>
          </p:cNvPr>
          <p:cNvSpPr>
            <a:spLocks xmlns:a="http://schemas.openxmlformats.org/drawingml/2006/main" noGrp="1"/>
          </p:cNvSpPr>
          <p:nvPr/>
        </p:nvSpPr>
        <p:spPr>
          <a:xfrm xmlns:a="http://schemas.openxmlformats.org/drawingml/2006/main">
            <a:off x="571500" y="39052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16612392-12F0-4FDB-8067-F2FF73D9B1A3}"/>
              </a:ext>
            </a:extLst>
          </p:cNvPr>
          <p:cNvSpPr>
            <a:spLocks xmlns:a="http://schemas.openxmlformats.org/drawingml/2006/main" noGrp="1"/>
          </p:cNvSpPr>
          <p:nvPr/>
        </p:nvSpPr>
        <p:spPr>
          <a:xfrm xmlns:a="http://schemas.openxmlformats.org/drawingml/2006/main">
            <a:off x="1104900" y="39052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D3BAF3A1-0567-4EDB-86E9-CDB6618B70A5}"/>
              </a:ext>
            </a:extLst>
          </p:cNvPr>
          <p:cNvSpPr>
            <a:spLocks xmlns:a="http://schemas.openxmlformats.org/drawingml/2006/main" noGrp="1"/>
          </p:cNvSpPr>
          <p:nvPr/>
        </p:nvSpPr>
        <p:spPr>
          <a:xfrm xmlns:a="http://schemas.openxmlformats.org/drawingml/2006/main">
            <a:off x="571500" y="4619625"/>
            <a:ext cx="457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AE87D2A-145C-4B4A-A3B9-233A38D5C631}"/>
              </a:ext>
            </a:extLst>
          </p:cNvPr>
          <p:cNvSpPr>
            <a:spLocks xmlns:a="http://schemas.openxmlformats.org/drawingml/2006/main" noGrp="1"/>
          </p:cNvSpPr>
          <p:nvPr/>
        </p:nvSpPr>
        <p:spPr>
          <a:xfrm xmlns:a="http://schemas.openxmlformats.org/drawingml/2006/main">
            <a:off x="1104900" y="4619625"/>
            <a:ext cx="74199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C8302237-EF0D-4F69-BD28-863FBED692AE}"/>
              </a:ext>
            </a:extLst>
          </p:cNvPr>
          <p:cNvSpPr>
            <a:spLocks xmlns:a="http://schemas.openxmlformats.org/drawingml/2006/main" noGrp="1"/>
          </p:cNvSpPr>
          <p:nvPr/>
        </p:nvSpPr>
        <p:spPr>
          <a:xfrm xmlns:a="http://schemas.openxmlformats.org/drawingml/2006/main">
            <a:off x="571500" y="5838825"/>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450998B-DAC7-42D1-AEBA-449E0318C785}"/>
              </a:ext>
            </a:extLst>
          </p:cNvPr>
          <p:cNvSpPr>
            <a:spLocks xmlns:a="http://schemas.openxmlformats.org/drawingml/2006/main" noGrp="1"/>
          </p:cNvSpPr>
          <p:nvPr/>
        </p:nvSpPr>
        <p:spPr>
          <a:xfrm xmlns:a="http://schemas.openxmlformats.org/drawingml/2006/main">
            <a:off x="1104900" y="5838825"/>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CFBEA37-D47B-45C9-B87F-E69BFB3D6730}"/>
              </a:ext>
            </a:extLst>
          </p:cNvPr>
          <p:cNvSpPr>
            <a:spLocks xmlns:a="http://schemas.openxmlformats.org/drawingml/2006/main" noGrp="1"/>
          </p:cNvSpPr>
          <p:nvPr/>
        </p:nvSpPr>
        <p:spPr>
          <a:xfrm xmlns:a="http://schemas.openxmlformats.org/drawingml/2006/main">
            <a:off x="571500" y="66770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2008154-D058-4399-9012-7E447FA2A27D}"/>
              </a:ext>
            </a:extLst>
          </p:cNvPr>
          <p:cNvSpPr>
            <a:spLocks xmlns:a="http://schemas.openxmlformats.org/drawingml/2006/main" noGrp="1"/>
          </p:cNvSpPr>
          <p:nvPr/>
        </p:nvSpPr>
        <p:spPr>
          <a:xfrm xmlns:a="http://schemas.openxmlformats.org/drawingml/2006/main">
            <a:off x="1104900" y="66770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77100231-4D8A-4943-BCE3-1EBD8B877563}"/>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09392A9-9B33-437D-9627-FBAF218F99AE}"/>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B9B528D-4A26-4BF4-A030-5A1F1EB4404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2E7C2CC-9C93-48B7-BD02-5F949303A401}"/>
              </a:ext>
            </a:extLst>
          </p:cNvPr>
          <p:cNvSpPr>
            <a:spLocks xmlns:a="http://schemas.openxmlformats.org/drawingml/2006/main" noGrp="1"/>
          </p:cNvSpPr>
          <p:nvPr/>
        </p:nvSpPr>
        <p:spPr>
          <a:xfrm xmlns:a="http://schemas.openxmlformats.org/drawingml/2006/main">
            <a:off x="9258300" y="2324100"/>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Koopbeslissingen onderbouwen.</a:t>
            </a:r>
          </a:p>
        </p:txBody>
      </p:sp>
      <p:sp>
        <p:nvSpPr>
          <p:cNvPr id="23" name="">
            <a:extLst xmlns:a="http://schemas.openxmlformats.org/drawingml/2006/main">
              <a:ext uri="{FF2B5EF4-FFF2-40B4-BE49-F238E27FC236}">
                <a16:creationId xmlns:a16="http://schemas.microsoft.com/office/drawing/2014/main" id="{BA399616-323A-4F00-9470-9EF6CF9B5252}"/>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8A276C8-0B44-4075-94CC-C1FB9D5D085A}"/>
              </a:ext>
            </a:extLst>
          </p:cNvPr>
          <p:cNvSpPr>
            <a:spLocks xmlns:a="http://schemas.openxmlformats.org/drawingml/2006/main" noGrp="1"/>
          </p:cNvSpPr>
          <p:nvPr/>
        </p:nvSpPr>
        <p:spPr>
          <a:xfrm xmlns:a="http://schemas.openxmlformats.org/drawingml/2006/main">
            <a:off x="9258300" y="39909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95A023B-F74F-451E-A8CB-D6571722E750}"/>
              </a:ext>
            </a:extLst>
          </p:cNvPr>
          <p:cNvSpPr>
            <a:spLocks xmlns:a="http://schemas.openxmlformats.org/drawingml/2006/main" noGrp="1"/>
          </p:cNvSpPr>
          <p:nvPr/>
        </p:nvSpPr>
        <p:spPr>
          <a:xfrm xmlns:a="http://schemas.openxmlformats.org/drawingml/2006/main">
            <a:off x="9258300" y="4514850"/>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78 · 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p. 14 en p. 46–47</a:t>
            </a:r>
          </a:p>
        </p:txBody>
      </p:sp>
      <p:sp>
        <p:nvSpPr>
          <p:cNvPr id="26" name="">
            <a:extLst xmlns:a="http://schemas.openxmlformats.org/drawingml/2006/main">
              <a:ext uri="{FF2B5EF4-FFF2-40B4-BE49-F238E27FC236}">
                <a16:creationId xmlns:a16="http://schemas.microsoft.com/office/drawing/2014/main" id="{94399A42-0BE2-4CCE-A88E-FD987A43DAD9}"/>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9C99A00-6DBB-40C5-B21E-CBC9906BD2D5}"/>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DDDA1EC-EC45-46C9-A5CB-72382CB4B01D}"/>
              </a:ext>
            </a:extLst>
          </p:cNvPr>
          <p:cNvSpPr>
            <a:spLocks xmlns:a="http://schemas.openxmlformats.org/drawingml/2006/main" noGrp="1"/>
          </p:cNvSpPr>
          <p:nvPr/>
        </p:nvSpPr>
        <p:spPr>
          <a:xfrm xmlns:a="http://schemas.openxmlformats.org/drawingml/2006/main">
            <a:off x="9258300" y="6296025"/>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§1.2.4 · Opgaven 34–38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34–36 · Doel: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bonusopgave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3025352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 · Tafeltennistijd bij Club Noord">
            <a:extLst xmlns:a="http://schemas.openxmlformats.org/drawingml/2006/main">
              <a:ext uri="{FF2B5EF4-FFF2-40B4-BE49-F238E27FC236}">
                <a16:creationId xmlns:a16="http://schemas.microsoft.com/office/drawing/2014/main" id="{33349408-C54D-4983-869E-4A762EAA3005}"/>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Tafeltennistijd bij Club Noord</a:t>
            </a:r>
          </a:p>
        </p:txBody>
      </p:sp>
      <p:sp>
        <p:nvSpPr>
          <p:cNvPr id="2" name="">
            <a:extLst xmlns:a="http://schemas.openxmlformats.org/drawingml/2006/main">
              <a:ext uri="{FF2B5EF4-FFF2-40B4-BE49-F238E27FC236}">
                <a16:creationId xmlns:a16="http://schemas.microsoft.com/office/drawing/2014/main" id="{52DEA08C-B613-4F3F-BA30-87983922F89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0D11E0CB-6576-4A5D-94B1-E3C5C180110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8">
            <a:extLst xmlns:a="http://schemas.openxmlformats.org/drawingml/2006/main">
              <a:ext uri="{FF2B5EF4-FFF2-40B4-BE49-F238E27FC236}">
                <a16:creationId xmlns:a16="http://schemas.microsoft.com/office/drawing/2014/main" id="{99AD95B8-C64A-4B66-BD55-FA90F506C9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Bron A · Twee groepen, één prijs">
            <a:extLst xmlns:a="http://schemas.openxmlformats.org/drawingml/2006/main">
              <a:ext uri="{FF2B5EF4-FFF2-40B4-BE49-F238E27FC236}">
                <a16:creationId xmlns:a16="http://schemas.microsoft.com/office/drawing/2014/main" id="{DF24C735-E592-4BC5-A865-87135C70249D}"/>
              </a:ext>
            </a:extLst>
          </p:cNvPr>
          <p:cNvSpPr>
            <a:spLocks xmlns:a="http://schemas.openxmlformats.org/drawingml/2006/main" noGrp="1"/>
          </p:cNvSpPr>
          <p:nvPr/>
        </p:nvSpPr>
        <p:spPr>
          <a:xfrm xmlns:a="http://schemas.openxmlformats.org/drawingml/2006/main">
            <a:off x="571500" y="17907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A · Twee groepen, één prijs</a:t>
            </a:r>
          </a:p>
        </p:txBody>
      </p:sp>
      <p:sp>
        <p:nvSpPr>
          <p:cNvPr id="6" name="Iedereen betaalt P euro per halfuur.&#10;Qₐ en Qᵦ zi">
            <a:extLst xmlns:a="http://schemas.openxmlformats.org/drawingml/2006/main">
              <a:ext uri="{FF2B5EF4-FFF2-40B4-BE49-F238E27FC236}">
                <a16:creationId xmlns:a16="http://schemas.microsoft.com/office/drawing/2014/main" id="{6A3F44D3-9528-421D-8B45-275F4B4DEBB8}"/>
              </a:ext>
            </a:extLst>
          </p:cNvPr>
          <p:cNvSpPr>
            <a:spLocks xmlns:a="http://schemas.openxmlformats.org/drawingml/2006/main" noGrp="1"/>
          </p:cNvSpPr>
          <p:nvPr/>
        </p:nvSpPr>
        <p:spPr>
          <a:xfrm xmlns:a="http://schemas.openxmlformats.org/drawingml/2006/main">
            <a:off x="571500" y="2714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Iedereen betaalt P euro per halfuur.</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 xml:space="preserve">Q</a:t>
            </a:r>
            <a:r>
              <a:rPr sz="2280" b="0" baseline="-25000">
                <a:solidFill>
                  <a:srgbClr val="183247"/>
                </a:solidFill>
                <a:latin typeface="Arial"/>
                <a:ea typeface="Arial"/>
                <a:cs typeface="Arial"/>
              </a:rPr>
              <a:t xml:space="preserve">A</a:t>
            </a:r>
            <a:r>
              <a:rPr sz="2850" b="0">
                <a:solidFill>
                  <a:srgbClr val="183247"/>
                </a:solidFill>
                <a:latin typeface="Arial"/>
                <a:ea typeface="Arial"/>
                <a:cs typeface="Arial"/>
              </a:rPr>
              <a:t xml:space="preserve"> en Q</a:t>
            </a:r>
            <a:r>
              <a:rPr sz="2280" b="0" baseline="-25000">
                <a:solidFill>
                  <a:srgbClr val="183247"/>
                </a:solidFill>
                <a:latin typeface="Arial"/>
                <a:ea typeface="Arial"/>
                <a:cs typeface="Arial"/>
              </a:rPr>
              <a:t xml:space="preserve">B</a:t>
            </a:r>
            <a:r>
              <a:rPr sz="2850" b="0">
                <a:solidFill>
                  <a:srgbClr val="183247"/>
                </a:solidFill>
                <a:latin typeface="Arial"/>
                <a:ea typeface="Arial"/>
                <a:cs typeface="Arial"/>
              </a:rPr>
              <a:t xml:space="preserve"> zijn halfuren per week.</a:t>
            </a:r>
          </a:p>
        </p:txBody>
      </p:sp>
      <p:graphicFrame>
        <p:nvGraphicFramePr>
          <p:cNvPr id="15" name=""/>
          <p:cNvGraphicFramePr/>
          <p:nvPr/>
        </p:nvGraphicFramePr>
        <p:xfrm>
          <a:off xmlns:a="http://schemas.openxmlformats.org/drawingml/2006/main" x="571500" y="4171950"/>
          <a:ext xmlns:a="http://schemas.openxmlformats.org/drawingml/2006/main" cx="14097000" cy="2352675"/>
        </p:xfrm>
        <a:graphic xmlns:a="http://schemas.openxmlformats.org/drawingml/2006/main">
          <a:graphicData uri="http://schemas.openxmlformats.org/drawingml/2006/table">
            <a:tbl>
              <a:tblPr/>
              <a:tblGrid>
                <a:gridCol w="2762250"/>
                <a:gridCol w="5715000"/>
                <a:gridCol w="5619750"/>
              </a:tblGrid>
              <a:tr h="784225">
                <a:tc>
                  <a:txBody>
                    <a:bodyPr lIns="171450" tIns="95250" rIns="152400" bIns="95250"/>
                    <a:lstStyle/>
                    <a:p>
                      <a:r>
                        <a:rPr sz="2625"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Vraagfunctie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Geldigheid</a:t>
                      </a:r>
                    </a:p>
                  </a:txBody>
                  <a:tcPr marL="91440" marR="91440" marT="45720" marB="45720" anchor="ctr">
                    <a:solidFill>
                      <a:srgbClr val="183247"/>
                    </a:solidFill>
                  </a:tcPr>
                </a:tc>
              </a:tr>
              <a:tr h="784225">
                <a:tc>
                  <a:txBody>
                    <a:bodyPr lIns="171450" tIns="95250" rIns="152400" bIns="95250"/>
                    <a:lstStyle/>
                    <a:p>
                      <a:r>
                        <a:rPr sz="2625"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xml:space="preserve">Q</a:t>
                      </a:r>
                      <a:r>
                        <a:rPr sz="2100" b="0" baseline="-25000">
                          <a:solidFill>
                            <a:srgbClr val="183247"/>
                          </a:solidFill>
                          <a:latin typeface="Arial"/>
                          <a:ea typeface="Arial"/>
                          <a:cs typeface="Arial"/>
                        </a:rPr>
                        <a:t xml:space="preserve">A</a:t>
                      </a:r>
                      <a:r>
                        <a:rPr sz="2625" b="0">
                          <a:solidFill>
                            <a:srgbClr val="183247"/>
                          </a:solidFill>
                          <a:latin typeface="Arial"/>
                          <a:ea typeface="Arial"/>
                          <a:cs typeface="Arial"/>
                        </a:rPr>
                        <a:t xml:space="preserve"> = 24 − 3P</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 ≤ P ≤ 8</a:t>
                      </a:r>
                    </a:p>
                  </a:txBody>
                  <a:tcPr marL="91440" marR="91440" marT="45720" marB="45720" anchor="ctr">
                    <a:solidFill>
                      <a:srgbClr val="FFFFFF"/>
                    </a:solidFill>
                  </a:tcPr>
                </a:tc>
              </a:tr>
              <a:tr h="784225">
                <a:tc>
                  <a:txBody>
                    <a:bodyPr lIns="171450" tIns="95250" rIns="152400" bIns="95250"/>
                    <a:lstStyle/>
                    <a:p>
                      <a:r>
                        <a:rPr sz="2625"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xml:space="preserve">Q</a:t>
                      </a:r>
                      <a:r>
                        <a:rPr sz="2100" b="0" baseline="-25000">
                          <a:solidFill>
                            <a:srgbClr val="183247"/>
                          </a:solidFill>
                          <a:latin typeface="Arial"/>
                          <a:ea typeface="Arial"/>
                          <a:cs typeface="Arial"/>
                        </a:rPr>
                        <a:t xml:space="preserve">B</a:t>
                      </a:r>
                      <a:r>
                        <a:rPr sz="2625" b="0">
                          <a:solidFill>
                            <a:srgbClr val="183247"/>
                          </a:solidFill>
                          <a:latin typeface="Arial"/>
                          <a:ea typeface="Arial"/>
                          <a:cs typeface="Arial"/>
                        </a:rPr>
                        <a:t xml:space="preserve"> = 36 − 3P</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0 ≤ P ≤ 12</a:t>
                      </a:r>
                    </a:p>
                  </a:txBody>
                  <a:tcPr marL="91440" marR="91440" marT="45720" marB="45720" anchor="ctr">
                    <a:solidFill>
                      <a:srgbClr val="EFF4F7"/>
                    </a:solidFill>
                  </a:tcPr>
                </a:tc>
              </a:tr>
            </a:tbl>
          </a:graphicData>
        </a:graphic>
      </p:graphicFrame>
      <p:sp>
        <p:nvSpPr>
          <p:cNvPr id="8" name="Oude prijs: € 4 per halfuur. Boven de eigen koop">
            <a:extLst xmlns:a="http://schemas.openxmlformats.org/drawingml/2006/main">
              <a:ext uri="{FF2B5EF4-FFF2-40B4-BE49-F238E27FC236}">
                <a16:creationId xmlns:a16="http://schemas.microsoft.com/office/drawing/2014/main" id="{342FE1D0-A46A-4F12-9D7A-7F2555356538}"/>
              </a:ext>
            </a:extLst>
          </p:cNvPr>
          <p:cNvSpPr>
            <a:spLocks xmlns:a="http://schemas.openxmlformats.org/drawingml/2006/main" noGrp="1"/>
          </p:cNvSpPr>
          <p:nvPr/>
        </p:nvSpPr>
        <p:spPr>
          <a:xfrm xmlns:a="http://schemas.openxmlformats.org/drawingml/2006/main">
            <a:off x="571500" y="6800850"/>
            <a:ext cx="1409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Oude prijs: € 4 per halfuur. Boven de eigen koopgrens: vraag nul.</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Overige omstandigheden aanvankelijk gelijk. Geconstrueerde modelgegevens.</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Aanbod en beschikbaarheid ontbreken.</a:t>
            </a:r>
          </a:p>
        </p:txBody>
      </p:sp>
    </p:spTree>
    <p:extLst>
      <p:ext uri="{BB962C8B-B14F-4D97-AF65-F5344CB8AC3E}">
        <p14:creationId xmlns:p14="http://schemas.microsoft.com/office/powerpoint/2010/main" val="5955966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 · Bron B: twee veranderingen">
            <a:extLst xmlns:a="http://schemas.openxmlformats.org/drawingml/2006/main">
              <a:ext uri="{FF2B5EF4-FFF2-40B4-BE49-F238E27FC236}">
                <a16:creationId xmlns:a16="http://schemas.microsoft.com/office/drawing/2014/main" id="{22DFC2D5-E60C-4CCA-98B3-EA7578E36FF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Bron B: twee veranderingen</a:t>
            </a:r>
          </a:p>
        </p:txBody>
      </p:sp>
      <p:sp>
        <p:nvSpPr>
          <p:cNvPr id="2" name="">
            <a:extLst xmlns:a="http://schemas.openxmlformats.org/drawingml/2006/main">
              <a:ext uri="{FF2B5EF4-FFF2-40B4-BE49-F238E27FC236}">
                <a16:creationId xmlns:a16="http://schemas.microsoft.com/office/drawing/2014/main" id="{6EB6F07C-33EB-4CDA-9DCF-C4EA0148A6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1E53329D-9380-45BF-BD4B-3456F2209B3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9">
            <a:extLst xmlns:a="http://schemas.openxmlformats.org/drawingml/2006/main">
              <a:ext uri="{FF2B5EF4-FFF2-40B4-BE49-F238E27FC236}">
                <a16:creationId xmlns:a16="http://schemas.microsoft.com/office/drawing/2014/main" id="{A8733845-1E1E-4A6E-B707-2F7ECC2EAB5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De club verhoogt P naar € 6 per halfuur.">
            <a:extLst xmlns:a="http://schemas.openxmlformats.org/drawingml/2006/main">
              <a:ext uri="{FF2B5EF4-FFF2-40B4-BE49-F238E27FC236}">
                <a16:creationId xmlns:a16="http://schemas.microsoft.com/office/drawing/2014/main" id="{2EBA1946-550E-4BD2-989D-9DE7316582E7}"/>
              </a:ext>
            </a:extLst>
          </p:cNvPr>
          <p:cNvSpPr>
            <a:spLocks xmlns:a="http://schemas.openxmlformats.org/drawingml/2006/main" noGrp="1"/>
          </p:cNvSpPr>
          <p:nvPr/>
        </p:nvSpPr>
        <p:spPr>
          <a:xfrm xmlns:a="http://schemas.openxmlformats.org/drawingml/2006/main">
            <a:off x="571500" y="20383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 club verhoogt P naar € 6 per halfuur.</a:t>
            </a:r>
          </a:p>
        </p:txBody>
      </p:sp>
      <p:sp>
        <p:nvSpPr>
          <p:cNvPr id="6" name="Tegelijk wordt bowlen duurder.&#10;Voor deze kopers ">
            <a:extLst xmlns:a="http://schemas.openxmlformats.org/drawingml/2006/main">
              <a:ext uri="{FF2B5EF4-FFF2-40B4-BE49-F238E27FC236}">
                <a16:creationId xmlns:a16="http://schemas.microsoft.com/office/drawing/2014/main" id="{2F635FD1-7FE1-4E13-9CE3-E8BB42DFD890}"/>
              </a:ext>
            </a:extLst>
          </p:cNvPr>
          <p:cNvSpPr>
            <a:spLocks xmlns:a="http://schemas.openxmlformats.org/drawingml/2006/main" noGrp="1"/>
          </p:cNvSpPr>
          <p:nvPr/>
        </p:nvSpPr>
        <p:spPr>
          <a:xfrm xmlns:a="http://schemas.openxmlformats.org/drawingml/2006/main">
            <a:off x="571500" y="34575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Tegelijk wordt bowlen duurder.</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Voor deze kopers is bowlen een substituut.</a:t>
            </a:r>
          </a:p>
        </p:txBody>
      </p:sp>
      <p:sp>
        <p:nvSpPr>
          <p:cNvPr id="7" name="Daardoor: bij elke prijs van € 0 tot en met € 8&#10;">
            <a:extLst xmlns:a="http://schemas.openxmlformats.org/drawingml/2006/main">
              <a:ext uri="{FF2B5EF4-FFF2-40B4-BE49-F238E27FC236}">
                <a16:creationId xmlns:a16="http://schemas.microsoft.com/office/drawing/2014/main" id="{E19C662E-C3BB-4D89-8961-E9419F600222}"/>
              </a:ext>
            </a:extLst>
          </p:cNvPr>
          <p:cNvSpPr>
            <a:spLocks xmlns:a="http://schemas.openxmlformats.org/drawingml/2006/main" noGrp="1"/>
          </p:cNvSpPr>
          <p:nvPr/>
        </p:nvSpPr>
        <p:spPr>
          <a:xfrm xmlns:a="http://schemas.openxmlformats.org/drawingml/2006/main">
            <a:off x="571500" y="5343525"/>
            <a:ext cx="14097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Daardoor: bij elke prijs van € 0 tot en met € 8</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12 halfuren per week extra vraag naar tafeltennistijd.</a:t>
            </a:r>
          </a:p>
        </p:txBody>
      </p:sp>
      <p:sp>
        <p:nvSpPr>
          <p:cNvPr id="8" name="Alle overige omstandigheden blijven gelijk.">
            <a:extLst xmlns:a="http://schemas.openxmlformats.org/drawingml/2006/main">
              <a:ext uri="{FF2B5EF4-FFF2-40B4-BE49-F238E27FC236}">
                <a16:creationId xmlns:a16="http://schemas.microsoft.com/office/drawing/2014/main" id="{E20BCB17-D54F-4D02-91A8-333657E86930}"/>
              </a:ext>
            </a:extLst>
          </p:cNvPr>
          <p:cNvSpPr>
            <a:spLocks xmlns:a="http://schemas.openxmlformats.org/drawingml/2006/main" noGrp="1"/>
          </p:cNvSpPr>
          <p:nvPr/>
        </p:nvSpPr>
        <p:spPr>
          <a:xfrm xmlns:a="http://schemas.openxmlformats.org/drawingml/2006/main">
            <a:off x="571500" y="73437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Alle overige omstandigheden blijven gelijk.</a:t>
            </a:r>
          </a:p>
        </p:txBody>
      </p:sp>
    </p:spTree>
    <p:extLst>
      <p:ext uri="{BB962C8B-B14F-4D97-AF65-F5344CB8AC3E}">
        <p14:creationId xmlns:p14="http://schemas.microsoft.com/office/powerpoint/2010/main" val="8816787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 · Bron C: Sem">
            <a:extLst xmlns:a="http://schemas.openxmlformats.org/drawingml/2006/main">
              <a:ext uri="{FF2B5EF4-FFF2-40B4-BE49-F238E27FC236}">
                <a16:creationId xmlns:a16="http://schemas.microsoft.com/office/drawing/2014/main" id="{13C7B602-FA6A-4CD7-AE3D-94D0C7C1043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Bron C: Sem</a:t>
            </a:r>
          </a:p>
        </p:txBody>
      </p:sp>
      <p:sp>
        <p:nvSpPr>
          <p:cNvPr id="2" name="">
            <a:extLst xmlns:a="http://schemas.openxmlformats.org/drawingml/2006/main">
              <a:ext uri="{FF2B5EF4-FFF2-40B4-BE49-F238E27FC236}">
                <a16:creationId xmlns:a16="http://schemas.microsoft.com/office/drawing/2014/main" id="{7CBA5FAA-DFF7-46B6-862A-A57646D8A78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EFB8DC51-A676-41D6-B811-D9191A6FC15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0">
            <a:extLst xmlns:a="http://schemas.openxmlformats.org/drawingml/2006/main">
              <a:ext uri="{FF2B5EF4-FFF2-40B4-BE49-F238E27FC236}">
                <a16:creationId xmlns:a16="http://schemas.microsoft.com/office/drawing/2014/main" id="{E1AE43B3-D381-4D5B-BF79-A40B8182A4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Sem is al meegeteld in groep A.">
            <a:extLst xmlns:a="http://schemas.openxmlformats.org/drawingml/2006/main">
              <a:ext uri="{FF2B5EF4-FFF2-40B4-BE49-F238E27FC236}">
                <a16:creationId xmlns:a16="http://schemas.microsoft.com/office/drawing/2014/main" id="{58E151A5-16BD-4724-A1DA-98988833C4D2}"/>
              </a:ext>
            </a:extLst>
          </p:cNvPr>
          <p:cNvSpPr>
            <a:spLocks xmlns:a="http://schemas.openxmlformats.org/drawingml/2006/main" noGrp="1"/>
          </p:cNvSpPr>
          <p:nvPr/>
        </p:nvSpPr>
        <p:spPr>
          <a:xfrm xmlns:a="http://schemas.openxmlformats.org/drawingml/2006/main">
            <a:off x="571500" y="20383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Sem is al meegeteld in groep A.</a:t>
            </a:r>
          </a:p>
        </p:txBody>
      </p:sp>
      <p:sp>
        <p:nvSpPr>
          <p:cNvPr id="6" name="Zijn betalingsbereidheid voor vier extra halfure">
            <a:extLst xmlns:a="http://schemas.openxmlformats.org/drawingml/2006/main">
              <a:ext uri="{FF2B5EF4-FFF2-40B4-BE49-F238E27FC236}">
                <a16:creationId xmlns:a16="http://schemas.microsoft.com/office/drawing/2014/main" id="{C596DF05-3BF6-4EF7-84A4-8FB153A55EE8}"/>
              </a:ext>
            </a:extLst>
          </p:cNvPr>
          <p:cNvSpPr>
            <a:spLocks xmlns:a="http://schemas.openxmlformats.org/drawingml/2006/main" noGrp="1"/>
          </p:cNvSpPr>
          <p:nvPr/>
        </p:nvSpPr>
        <p:spPr>
          <a:xfrm xmlns:a="http://schemas.openxmlformats.org/drawingml/2006/main">
            <a:off x="571500" y="32766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Zijn betalingsbereidheid voor vier extra halfuren:</a:t>
            </a:r>
          </a:p>
        </p:txBody>
      </p:sp>
      <p:graphicFrame>
        <p:nvGraphicFramePr>
          <p:cNvPr id="15" name=""/>
          <p:cNvGraphicFramePr/>
          <p:nvPr/>
        </p:nvGraphicFramePr>
        <p:xfrm>
          <a:off xmlns:a="http://schemas.openxmlformats.org/drawingml/2006/main" x="571500" y="4362450"/>
          <a:ext xmlns:a="http://schemas.openxmlformats.org/drawingml/2006/main" cx="14097000" cy="1819275"/>
        </p:xfrm>
        <a:graphic xmlns:a="http://schemas.openxmlformats.org/drawingml/2006/main">
          <a:graphicData uri="http://schemas.openxmlformats.org/drawingml/2006/table">
            <a:tbl>
              <a:tblPr/>
              <a:tblGrid>
                <a:gridCol w="4476750"/>
                <a:gridCol w="2400300"/>
                <a:gridCol w="2409825"/>
                <a:gridCol w="2400300"/>
                <a:gridCol w="2409825"/>
              </a:tblGrid>
              <a:tr h="909638">
                <a:tc>
                  <a:txBody>
                    <a:bodyPr lIns="171450" tIns="95250" rIns="152400" bIns="95250"/>
                    <a:lstStyle/>
                    <a:p>
                      <a:r>
                        <a:rPr sz="2400" b="1">
                          <a:solidFill>
                            <a:srgbClr val="FFFFFF"/>
                          </a:solidFill>
                          <a:latin typeface="Arial"/>
                          <a:ea typeface="Arial"/>
                          <a:cs typeface="Arial"/>
                        </a:rPr>
                        <a:t>Extra halfuur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Eerste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Tweede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Derde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Vierde</a:t>
                      </a:r>
                    </a:p>
                  </a:txBody>
                  <a:tcPr marL="91440" marR="91440" marT="45720" marB="45720" anchor="ctr">
                    <a:solidFill>
                      <a:srgbClr val="183247"/>
                    </a:solidFill>
                  </a:tcPr>
                </a:tc>
              </a:tr>
              <a:tr h="909638">
                <a:tc>
                  <a:txBody>
                    <a:bodyPr lIns="171450" tIns="95250" rIns="152400" bIns="95250"/>
                    <a:lstStyle/>
                    <a:p>
                      <a:r>
                        <a:rPr sz="2400" b="0">
                          <a:solidFill>
                            <a:srgbClr val="183247"/>
                          </a:solidFill>
                          <a:latin typeface="Arial"/>
                          <a:ea typeface="Arial"/>
                          <a:cs typeface="Arial"/>
                        </a:rPr>
                        <a:t>Maximaal per halfuur</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€ 7</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€ 2</a:t>
                      </a:r>
                    </a:p>
                  </a:txBody>
                  <a:tcPr marL="91440" marR="91440" marT="45720" marB="45720" anchor="ctr">
                    <a:solidFill>
                      <a:srgbClr val="FFFFFF"/>
                    </a:solidFill>
                  </a:tcPr>
                </a:tc>
              </a:tr>
            </a:tbl>
          </a:graphicData>
        </a:graphic>
      </p:graphicFrame>
      <p:sp>
        <p:nvSpPr>
          <p:cNvPr id="8" name="Bij gelijkheid wil Sem kopen.&#10;Zijn budget beperk">
            <a:extLst xmlns:a="http://schemas.openxmlformats.org/drawingml/2006/main">
              <a:ext uri="{FF2B5EF4-FFF2-40B4-BE49-F238E27FC236}">
                <a16:creationId xmlns:a16="http://schemas.microsoft.com/office/drawing/2014/main" id="{0782F186-FBF7-40D1-8DDA-0B1F6954AE2F}"/>
              </a:ext>
            </a:extLst>
          </p:cNvPr>
          <p:cNvSpPr>
            <a:spLocks xmlns:a="http://schemas.openxmlformats.org/drawingml/2006/main" noGrp="1"/>
          </p:cNvSpPr>
          <p:nvPr/>
        </p:nvSpPr>
        <p:spPr>
          <a:xfrm xmlns:a="http://schemas.openxmlformats.org/drawingml/2006/main">
            <a:off x="571500" y="6838950"/>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Bij gelijkheid wil Sem kopen.</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Zijn budget beperkt hem niet extra.</a:t>
            </a:r>
          </a:p>
        </p:txBody>
      </p:sp>
    </p:spTree>
    <p:extLst>
      <p:ext uri="{BB962C8B-B14F-4D97-AF65-F5344CB8AC3E}">
        <p14:creationId xmlns:p14="http://schemas.microsoft.com/office/powerpoint/2010/main" val="2974218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 · Figuur 22: de oorspronkelijke vraag">
            <a:extLst xmlns:a="http://schemas.openxmlformats.org/drawingml/2006/main">
              <a:ext uri="{FF2B5EF4-FFF2-40B4-BE49-F238E27FC236}">
                <a16:creationId xmlns:a16="http://schemas.microsoft.com/office/drawing/2014/main" id="{7B476615-B8B9-4BAF-B2B4-233C425CF913}"/>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Figuur 22: de oorspronkelijke vraag</a:t>
            </a:r>
          </a:p>
        </p:txBody>
      </p:sp>
      <p:sp>
        <p:nvSpPr>
          <p:cNvPr id="2" name="">
            <a:extLst xmlns:a="http://schemas.openxmlformats.org/drawingml/2006/main">
              <a:ext uri="{FF2B5EF4-FFF2-40B4-BE49-F238E27FC236}">
                <a16:creationId xmlns:a16="http://schemas.microsoft.com/office/drawing/2014/main" id="{CCF2D126-4C5A-4F37-8CD2-7A8FFE7DD5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B86F6685-7C84-4595-9B69-5C9CBCCAAF8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1">
            <a:extLst xmlns:a="http://schemas.openxmlformats.org/drawingml/2006/main">
              <a:ext uri="{FF2B5EF4-FFF2-40B4-BE49-F238E27FC236}">
                <a16:creationId xmlns:a16="http://schemas.microsoft.com/office/drawing/2014/main" id="{C355456F-954C-4932-BC4B-A778E765937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Alleen het oorspronkelijke lijnstuk voor 0 ≤ P ≤">
            <a:extLst xmlns:a="http://schemas.openxmlformats.org/drawingml/2006/main">
              <a:ext uri="{FF2B5EF4-FFF2-40B4-BE49-F238E27FC236}">
                <a16:creationId xmlns:a16="http://schemas.microsoft.com/office/drawing/2014/main" id="{76CDFCC4-CF96-4BD0-B85F-827E8A23A060}"/>
              </a:ext>
            </a:extLst>
          </p:cNvPr>
          <p:cNvSpPr>
            <a:spLocks xmlns:a="http://schemas.openxmlformats.org/drawingml/2006/main" noGrp="1"/>
          </p:cNvSpPr>
          <p:nvPr/>
        </p:nvSpPr>
        <p:spPr>
          <a:xfrm xmlns:a="http://schemas.openxmlformats.org/drawingml/2006/main">
            <a:off x="571500" y="17526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Alleen het oorspronkelijke lijnstuk voor 0 ≤ P ≤ 8</a:t>
            </a:r>
          </a:p>
        </p:txBody>
      </p:sp>
      <p:graphicFrame>
        <p:nvGraphicFramePr>
          <p:cNvPr id="14" name="Chart"/>
          <p:cNvGraphicFramePr/>
          <p:nvPr/>
        </p:nvGraphicFramePr>
        <p:xfrm>
          <a:off xmlns:a="http://schemas.openxmlformats.org/drawingml/2006/main" x="571500" y="2400300"/>
          <a:ext xmlns:a="http://schemas.openxmlformats.org/drawingml/2006/main" cx="10287000" cy="5381625"/>
        </p:xfrm>
        <a:graphic xmlns:a="http://schemas.openxmlformats.org/drawingml/2006/main">
          <a:graphicData uri="http://schemas.openxmlformats.org/drawingml/2006/chart">
            <c:chart xmlns:r="http://schemas.openxmlformats.org/officeDocument/2006/relationships" xmlns:c="http://schemas.openxmlformats.org/drawingml/2006/chart" r:id="R7fcc3b75694343b9"/>
          </a:graphicData>
        </a:graphic>
      </p:graphicFrame>
      <p:sp>
        <p:nvSpPr>
          <p:cNvPr id="7" name="V₀&#10;&#10;De antwoord-&#10;markeringen&#10;voeg je zelf toe.">
            <a:extLst xmlns:a="http://schemas.openxmlformats.org/drawingml/2006/main">
              <a:ext uri="{FF2B5EF4-FFF2-40B4-BE49-F238E27FC236}">
                <a16:creationId xmlns:a16="http://schemas.microsoft.com/office/drawing/2014/main" id="{0BA0313D-18B6-4EFE-8175-4108601E989D}"/>
              </a:ext>
            </a:extLst>
          </p:cNvPr>
          <p:cNvSpPr>
            <a:spLocks xmlns:a="http://schemas.openxmlformats.org/drawingml/2006/main" noGrp="1"/>
          </p:cNvSpPr>
          <p:nvPr/>
        </p:nvSpPr>
        <p:spPr>
          <a:xfrm xmlns:a="http://schemas.openxmlformats.org/drawingml/2006/main">
            <a:off x="11334750" y="3114675"/>
            <a:ext cx="33337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V₀</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antwoord-</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markeringen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voeg je zelf toe.</a:t>
            </a:r>
          </a:p>
        </p:txBody>
      </p:sp>
      <p:sp>
        <p:nvSpPr>
          <p:cNvPr id="8" name="Q horizontaal&#10;P verticaal">
            <a:extLst xmlns:a="http://schemas.openxmlformats.org/drawingml/2006/main">
              <a:ext uri="{FF2B5EF4-FFF2-40B4-BE49-F238E27FC236}">
                <a16:creationId xmlns:a16="http://schemas.microsoft.com/office/drawing/2014/main" id="{5F6FBEFC-DAB4-462E-A11D-196952D2C061}"/>
              </a:ext>
            </a:extLst>
          </p:cNvPr>
          <p:cNvSpPr>
            <a:spLocks xmlns:a="http://schemas.openxmlformats.org/drawingml/2006/main" noGrp="1"/>
          </p:cNvSpPr>
          <p:nvPr/>
        </p:nvSpPr>
        <p:spPr>
          <a:xfrm xmlns:a="http://schemas.openxmlformats.org/drawingml/2006/main">
            <a:off x="11334750" y="6553200"/>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Q horizontaal</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P verticaal</a:t>
            </a:r>
          </a:p>
        </p:txBody>
      </p:sp>
    </p:spTree>
    <p:extLst>
      <p:ext uri="{BB962C8B-B14F-4D97-AF65-F5344CB8AC3E}">
        <p14:creationId xmlns:p14="http://schemas.microsoft.com/office/powerpoint/2010/main" val="14917908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37 · Vragen a, b en c">
            <a:extLst xmlns:a="http://schemas.openxmlformats.org/drawingml/2006/main">
              <a:ext uri="{FF2B5EF4-FFF2-40B4-BE49-F238E27FC236}">
                <a16:creationId xmlns:a16="http://schemas.microsoft.com/office/drawing/2014/main" id="{CD8B08AB-A1F0-4D81-B090-6CF7DC86E2B1}"/>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Vragen a, b en c</a:t>
            </a:r>
          </a:p>
        </p:txBody>
      </p:sp>
      <p:sp>
        <p:nvSpPr>
          <p:cNvPr id="2" name="">
            <a:extLst xmlns:a="http://schemas.openxmlformats.org/drawingml/2006/main">
              <a:ext uri="{FF2B5EF4-FFF2-40B4-BE49-F238E27FC236}">
                <a16:creationId xmlns:a16="http://schemas.microsoft.com/office/drawing/2014/main" id="{97A70A34-0AF2-4CE4-8D72-D068EB38782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7EA76C4F-43EA-4705-85AA-711BBDCC148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2">
            <a:extLst xmlns:a="http://schemas.openxmlformats.org/drawingml/2006/main">
              <a:ext uri="{FF2B5EF4-FFF2-40B4-BE49-F238E27FC236}">
                <a16:creationId xmlns:a16="http://schemas.microsoft.com/office/drawing/2014/main" id="{C0F0383E-E6E1-4C85-AE07-25F0B690789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a.">
            <a:extLst xmlns:a="http://schemas.openxmlformats.org/drawingml/2006/main">
              <a:ext uri="{FF2B5EF4-FFF2-40B4-BE49-F238E27FC236}">
                <a16:creationId xmlns:a16="http://schemas.microsoft.com/office/drawing/2014/main" id="{96DDFAD0-6979-4D9C-A556-BC7943E3868B}"/>
              </a:ext>
            </a:extLst>
          </p:cNvPr>
          <p:cNvSpPr>
            <a:spLocks xmlns:a="http://schemas.openxmlformats.org/drawingml/2006/main" noGrp="1"/>
          </p:cNvSpPr>
          <p:nvPr/>
        </p:nvSpPr>
        <p:spPr>
          <a:xfrm xmlns:a="http://schemas.openxmlformats.org/drawingml/2006/main">
            <a:off x="571500" y="20288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a:t>
            </a:r>
          </a:p>
        </p:txBody>
      </p:sp>
      <p:sp>
        <p:nvSpPr>
          <p:cNvPr id="6" name="Stel uit bron A de gezamenlijke vraagfunctie op ">
            <a:extLst xmlns:a="http://schemas.openxmlformats.org/drawingml/2006/main">
              <a:ext uri="{FF2B5EF4-FFF2-40B4-BE49-F238E27FC236}">
                <a16:creationId xmlns:a16="http://schemas.microsoft.com/office/drawing/2014/main" id="{08E3BE61-9E1B-4E7F-9526-B5C39706FC13}"/>
              </a:ext>
            </a:extLst>
          </p:cNvPr>
          <p:cNvSpPr>
            <a:spLocks xmlns:a="http://schemas.openxmlformats.org/drawingml/2006/main" noGrp="1"/>
          </p:cNvSpPr>
          <p:nvPr/>
        </p:nvSpPr>
        <p:spPr>
          <a:xfrm xmlns:a="http://schemas.openxmlformats.org/drawingml/2006/main">
            <a:off x="1333500" y="2028825"/>
            <a:ext cx="1323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Stel uit bron A de gezamenlijke vraagfunctie op voor 0 ≤ P ≤ 8. Bereken de oude vraag bij € 4 en controleer door beide groepen afzonderlijk te berekenen.</a:t>
            </a:r>
          </a:p>
        </p:txBody>
      </p:sp>
      <p:sp>
        <p:nvSpPr>
          <p:cNvPr id="7" name="">
            <a:extLst xmlns:a="http://schemas.openxmlformats.org/drawingml/2006/main">
              <a:ext uri="{FF2B5EF4-FFF2-40B4-BE49-F238E27FC236}">
                <a16:creationId xmlns:a16="http://schemas.microsoft.com/office/drawing/2014/main" id="{DF1AA15C-4932-40E3-ACDF-7E9C4E177B1B}"/>
              </a:ext>
            </a:extLst>
          </p:cNvPr>
          <p:cNvSpPr>
            <a:spLocks xmlns:a="http://schemas.openxmlformats.org/drawingml/2006/main" noGrp="1"/>
          </p:cNvSpPr>
          <p:nvPr/>
        </p:nvSpPr>
        <p:spPr>
          <a:xfrm xmlns:a="http://schemas.openxmlformats.org/drawingml/2006/main">
            <a:off x="571500" y="3752850"/>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818250DC-E83B-4AD6-9FFA-2CB3B6D77100}"/>
              </a:ext>
            </a:extLst>
          </p:cNvPr>
          <p:cNvSpPr>
            <a:spLocks xmlns:a="http://schemas.openxmlformats.org/drawingml/2006/main" noGrp="1"/>
          </p:cNvSpPr>
          <p:nvPr/>
        </p:nvSpPr>
        <p:spPr>
          <a:xfrm xmlns:a="http://schemas.openxmlformats.org/drawingml/2006/main">
            <a:off x="571500" y="39433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a:t>
            </a:r>
          </a:p>
        </p:txBody>
      </p:sp>
      <p:sp>
        <p:nvSpPr>
          <p:cNvPr id="9" name="Welke prijs hoort volgens de oorspronkelijke gez">
            <a:extLst xmlns:a="http://schemas.openxmlformats.org/drawingml/2006/main">
              <a:ext uri="{FF2B5EF4-FFF2-40B4-BE49-F238E27FC236}">
                <a16:creationId xmlns:a16="http://schemas.microsoft.com/office/drawing/2014/main" id="{78CE7281-1BC3-4953-BAA8-66822F0D24E5}"/>
              </a:ext>
            </a:extLst>
          </p:cNvPr>
          <p:cNvSpPr>
            <a:spLocks xmlns:a="http://schemas.openxmlformats.org/drawingml/2006/main" noGrp="1"/>
          </p:cNvSpPr>
          <p:nvPr/>
        </p:nvSpPr>
        <p:spPr>
          <a:xfrm xmlns:a="http://schemas.openxmlformats.org/drawingml/2006/main">
            <a:off x="1333500" y="3943350"/>
            <a:ext cx="1323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Welke prijs hoort volgens de oorspronkelijke gezamenlijke functie bij Q = 30 halfuren per week? Controleer je antwoord.</a:t>
            </a:r>
          </a:p>
        </p:txBody>
      </p:sp>
      <p:sp>
        <p:nvSpPr>
          <p:cNvPr id="10" name="">
            <a:extLst xmlns:a="http://schemas.openxmlformats.org/drawingml/2006/main">
              <a:ext uri="{FF2B5EF4-FFF2-40B4-BE49-F238E27FC236}">
                <a16:creationId xmlns:a16="http://schemas.microsoft.com/office/drawing/2014/main" id="{F997BF9E-CB63-4DCE-8E55-B39FB05DFA87}"/>
              </a:ext>
            </a:extLst>
          </p:cNvPr>
          <p:cNvSpPr>
            <a:spLocks xmlns:a="http://schemas.openxmlformats.org/drawingml/2006/main" noGrp="1"/>
          </p:cNvSpPr>
          <p:nvPr/>
        </p:nvSpPr>
        <p:spPr>
          <a:xfrm xmlns:a="http://schemas.openxmlformats.org/drawingml/2006/main">
            <a:off x="571500" y="5667375"/>
            <a:ext cx="14097000" cy="0"/>
          </a:xfrm>
          <a:prstGeom xmlns:a="http://schemas.openxmlformats.org/drawingml/2006/main" prst="line">
            <a:avLst/>
          </a:prstGeom>
          <a:ln xmlns:a="http://schemas.openxmlformats.org/drawingml/2006/main" w="19050">
            <a:solidFill>
              <a:srgbClr val="C6D2DB"/>
            </a:solidFill>
          </a:ln>
        </p:spPr>
      </p:sp>
      <p:sp>
        <p:nvSpPr>
          <p:cNvPr id="11" name="c.">
            <a:extLst xmlns:a="http://schemas.openxmlformats.org/drawingml/2006/main">
              <a:ext uri="{FF2B5EF4-FFF2-40B4-BE49-F238E27FC236}">
                <a16:creationId xmlns:a16="http://schemas.microsoft.com/office/drawing/2014/main" id="{6393C22F-6D38-4F67-8CDA-5DA3BA67D2EE}"/>
              </a:ext>
            </a:extLst>
          </p:cNvPr>
          <p:cNvSpPr>
            <a:spLocks xmlns:a="http://schemas.openxmlformats.org/drawingml/2006/main" noGrp="1"/>
          </p:cNvSpPr>
          <p:nvPr/>
        </p:nvSpPr>
        <p:spPr>
          <a:xfrm xmlns:a="http://schemas.openxmlformats.org/drawingml/2006/main">
            <a:off x="571500" y="585787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a:t>
            </a:r>
          </a:p>
        </p:txBody>
      </p:sp>
      <p:sp>
        <p:nvSpPr>
          <p:cNvPr id="12" name="Bekijk de twee veranderingen uit bron B afzonder">
            <a:extLst xmlns:a="http://schemas.openxmlformats.org/drawingml/2006/main">
              <a:ext uri="{FF2B5EF4-FFF2-40B4-BE49-F238E27FC236}">
                <a16:creationId xmlns:a16="http://schemas.microsoft.com/office/drawing/2014/main" id="{FFC565AB-9588-43A1-81DF-2B27D4E2AA05}"/>
              </a:ext>
            </a:extLst>
          </p:cNvPr>
          <p:cNvSpPr>
            <a:spLocks xmlns:a="http://schemas.openxmlformats.org/drawingml/2006/main" noGrp="1"/>
          </p:cNvSpPr>
          <p:nvPr/>
        </p:nvSpPr>
        <p:spPr>
          <a:xfrm xmlns:a="http://schemas.openxmlformats.org/drawingml/2006/main">
            <a:off x="1333500" y="5857875"/>
            <a:ext cx="1323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Bekijk de twee veranderingen uit bron B afzonderlijk. Bereken eerst de hoeveelheid na alleen de eigen prijsstijging. Benoem daarna de specifieke factor en de richting van het andere effect.</a:t>
            </a:r>
          </a:p>
        </p:txBody>
      </p:sp>
    </p:spTree>
    <p:extLst>
      <p:ext uri="{BB962C8B-B14F-4D97-AF65-F5344CB8AC3E}">
        <p14:creationId xmlns:p14="http://schemas.microsoft.com/office/powerpoint/2010/main" val="7568537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37 · Vragen d, e en f">
            <a:extLst xmlns:a="http://schemas.openxmlformats.org/drawingml/2006/main">
              <a:ext uri="{FF2B5EF4-FFF2-40B4-BE49-F238E27FC236}">
                <a16:creationId xmlns:a16="http://schemas.microsoft.com/office/drawing/2014/main" id="{A157BDB5-8531-4143-A1CC-A1857386ABE1}"/>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 · Vragen d, e en f</a:t>
            </a:r>
          </a:p>
        </p:txBody>
      </p:sp>
      <p:sp>
        <p:nvSpPr>
          <p:cNvPr id="2" name="">
            <a:extLst xmlns:a="http://schemas.openxmlformats.org/drawingml/2006/main">
              <a:ext uri="{FF2B5EF4-FFF2-40B4-BE49-F238E27FC236}">
                <a16:creationId xmlns:a16="http://schemas.microsoft.com/office/drawing/2014/main" id="{1EE3167D-F42F-4CE2-BC49-D05A044C3F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80CC195D-D505-4000-9616-FD36E730586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3">
            <a:extLst xmlns:a="http://schemas.openxmlformats.org/drawingml/2006/main">
              <a:ext uri="{FF2B5EF4-FFF2-40B4-BE49-F238E27FC236}">
                <a16:creationId xmlns:a16="http://schemas.microsoft.com/office/drawing/2014/main" id="{36E8C349-043E-45CA-A1C9-52783D18260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d.">
            <a:extLst xmlns:a="http://schemas.openxmlformats.org/drawingml/2006/main">
              <a:ext uri="{FF2B5EF4-FFF2-40B4-BE49-F238E27FC236}">
                <a16:creationId xmlns:a16="http://schemas.microsoft.com/office/drawing/2014/main" id="{130AC486-CC64-407E-80EE-84A276DD82D7}"/>
              </a:ext>
            </a:extLst>
          </p:cNvPr>
          <p:cNvSpPr>
            <a:spLocks xmlns:a="http://schemas.openxmlformats.org/drawingml/2006/main" noGrp="1"/>
          </p:cNvSpPr>
          <p:nvPr/>
        </p:nvSpPr>
        <p:spPr>
          <a:xfrm xmlns:a="http://schemas.openxmlformats.org/drawingml/2006/main">
            <a:off x="571500" y="19526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d.</a:t>
            </a:r>
          </a:p>
        </p:txBody>
      </p:sp>
      <p:sp>
        <p:nvSpPr>
          <p:cNvPr id="6" name="Teken de nieuwe gezamenlijke vraaglijn voor 0 ≤ ">
            <a:extLst xmlns:a="http://schemas.openxmlformats.org/drawingml/2006/main">
              <a:ext uri="{FF2B5EF4-FFF2-40B4-BE49-F238E27FC236}">
                <a16:creationId xmlns:a16="http://schemas.microsoft.com/office/drawing/2014/main" id="{D6474409-173C-424C-B01B-32DD26343392}"/>
              </a:ext>
            </a:extLst>
          </p:cNvPr>
          <p:cNvSpPr>
            <a:spLocks xmlns:a="http://schemas.openxmlformats.org/drawingml/2006/main" noGrp="1"/>
          </p:cNvSpPr>
          <p:nvPr/>
        </p:nvSpPr>
        <p:spPr>
          <a:xfrm xmlns:a="http://schemas.openxmlformats.org/drawingml/2006/main">
            <a:off x="1333500" y="1952625"/>
            <a:ext cx="13239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Teken de nieuwe gezamenlijke vraaglijn voor 0 ≤ P ≤ 8 in figuur 22. Markeer A (oud), B (alleen de eigen prijsstijging) en C (beide veranderingen); noteer de coördinaten.</a:t>
            </a:r>
          </a:p>
        </p:txBody>
      </p:sp>
      <p:sp>
        <p:nvSpPr>
          <p:cNvPr id="7" name="">
            <a:extLst xmlns:a="http://schemas.openxmlformats.org/drawingml/2006/main">
              <a:ext uri="{FF2B5EF4-FFF2-40B4-BE49-F238E27FC236}">
                <a16:creationId xmlns:a16="http://schemas.microsoft.com/office/drawing/2014/main" id="{240AC70F-0002-4361-AD85-62BEFAA5A1E5}"/>
              </a:ext>
            </a:extLst>
          </p:cNvPr>
          <p:cNvSpPr>
            <a:spLocks xmlns:a="http://schemas.openxmlformats.org/drawingml/2006/main" noGrp="1"/>
          </p:cNvSpPr>
          <p:nvPr/>
        </p:nvSpPr>
        <p:spPr>
          <a:xfrm xmlns:a="http://schemas.openxmlformats.org/drawingml/2006/main">
            <a:off x="571500" y="3448050"/>
            <a:ext cx="14097000" cy="0"/>
          </a:xfrm>
          <a:prstGeom xmlns:a="http://schemas.openxmlformats.org/drawingml/2006/main" prst="line">
            <a:avLst/>
          </a:prstGeom>
          <a:ln xmlns:a="http://schemas.openxmlformats.org/drawingml/2006/main" w="19050">
            <a:solidFill>
              <a:srgbClr val="C6D2DB"/>
            </a:solidFill>
          </a:ln>
        </p:spPr>
      </p:sp>
      <p:sp>
        <p:nvSpPr>
          <p:cNvPr id="8" name="e.">
            <a:extLst xmlns:a="http://schemas.openxmlformats.org/drawingml/2006/main">
              <a:ext uri="{FF2B5EF4-FFF2-40B4-BE49-F238E27FC236}">
                <a16:creationId xmlns:a16="http://schemas.microsoft.com/office/drawing/2014/main" id="{8F7566F1-8E4B-4B07-9B01-15437C4CC9A5}"/>
              </a:ext>
            </a:extLst>
          </p:cNvPr>
          <p:cNvSpPr>
            <a:spLocks xmlns:a="http://schemas.openxmlformats.org/drawingml/2006/main" noGrp="1"/>
          </p:cNvSpPr>
          <p:nvPr/>
        </p:nvSpPr>
        <p:spPr>
          <a:xfrm xmlns:a="http://schemas.openxmlformats.org/drawingml/2006/main">
            <a:off x="571500" y="36671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a:t>
            </a:r>
          </a:p>
        </p:txBody>
      </p:sp>
      <p:sp>
        <p:nvSpPr>
          <p:cNvPr id="9" name="Bereken de uiteindelijke gezamenlijke vraag. Beo">
            <a:extLst xmlns:a="http://schemas.openxmlformats.org/drawingml/2006/main">
              <a:ext uri="{FF2B5EF4-FFF2-40B4-BE49-F238E27FC236}">
                <a16:creationId xmlns:a16="http://schemas.microsoft.com/office/drawing/2014/main" id="{9C60E93D-8CC7-4B0B-A3D2-BC89F12F2E83}"/>
              </a:ext>
            </a:extLst>
          </p:cNvPr>
          <p:cNvSpPr>
            <a:spLocks xmlns:a="http://schemas.openxmlformats.org/drawingml/2006/main" noGrp="1"/>
          </p:cNvSpPr>
          <p:nvPr/>
        </p:nvSpPr>
        <p:spPr>
          <a:xfrm xmlns:a="http://schemas.openxmlformats.org/drawingml/2006/main">
            <a:off x="1333500" y="3667125"/>
            <a:ext cx="13239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Bereken de uiteindelijke gezamenlijke vraag. Beoordeel daarmee de uitspraak: “Het totaal blijft gelijk, dus de eigen prijsstijging heeft geen effect.”</a:t>
            </a:r>
          </a:p>
        </p:txBody>
      </p:sp>
      <p:sp>
        <p:nvSpPr>
          <p:cNvPr id="10" name="">
            <a:extLst xmlns:a="http://schemas.openxmlformats.org/drawingml/2006/main">
              <a:ext uri="{FF2B5EF4-FFF2-40B4-BE49-F238E27FC236}">
                <a16:creationId xmlns:a16="http://schemas.microsoft.com/office/drawing/2014/main" id="{FAA5EA12-BC73-4196-8264-03AA2D5B0FE0}"/>
              </a:ext>
            </a:extLst>
          </p:cNvPr>
          <p:cNvSpPr>
            <a:spLocks xmlns:a="http://schemas.openxmlformats.org/drawingml/2006/main" noGrp="1"/>
          </p:cNvSpPr>
          <p:nvPr/>
        </p:nvSpPr>
        <p:spPr>
          <a:xfrm xmlns:a="http://schemas.openxmlformats.org/drawingml/2006/main">
            <a:off x="571500" y="5162550"/>
            <a:ext cx="14097000" cy="0"/>
          </a:xfrm>
          <a:prstGeom xmlns:a="http://schemas.openxmlformats.org/drawingml/2006/main" prst="line">
            <a:avLst/>
          </a:prstGeom>
          <a:ln xmlns:a="http://schemas.openxmlformats.org/drawingml/2006/main" w="19050">
            <a:solidFill>
              <a:srgbClr val="C6D2DB"/>
            </a:solidFill>
          </a:ln>
        </p:spPr>
      </p:sp>
      <p:sp>
        <p:nvSpPr>
          <p:cNvPr id="11" name="f.">
            <a:extLst xmlns:a="http://schemas.openxmlformats.org/drawingml/2006/main">
              <a:ext uri="{FF2B5EF4-FFF2-40B4-BE49-F238E27FC236}">
                <a16:creationId xmlns:a16="http://schemas.microsoft.com/office/drawing/2014/main" id="{7452C74A-E68A-4956-A3BF-A0B8B273725B}"/>
              </a:ext>
            </a:extLst>
          </p:cNvPr>
          <p:cNvSpPr>
            <a:spLocks xmlns:a="http://schemas.openxmlformats.org/drawingml/2006/main" noGrp="1"/>
          </p:cNvSpPr>
          <p:nvPr/>
        </p:nvSpPr>
        <p:spPr>
          <a:xfrm xmlns:a="http://schemas.openxmlformats.org/drawingml/2006/main">
            <a:off x="571500" y="53816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f.</a:t>
            </a:r>
          </a:p>
        </p:txBody>
      </p:sp>
      <p:sp>
        <p:nvSpPr>
          <p:cNvPr id="12" name="Hoeveel halfuren wil Sem volgens bron C bij € 6 ">
            <a:extLst xmlns:a="http://schemas.openxmlformats.org/drawingml/2006/main">
              <a:ext uri="{FF2B5EF4-FFF2-40B4-BE49-F238E27FC236}">
                <a16:creationId xmlns:a16="http://schemas.microsoft.com/office/drawing/2014/main" id="{DFF0B748-DAC0-4C0D-8F2D-01B2119FBBC3}"/>
              </a:ext>
            </a:extLst>
          </p:cNvPr>
          <p:cNvSpPr>
            <a:spLocks xmlns:a="http://schemas.openxmlformats.org/drawingml/2006/main" noGrp="1"/>
          </p:cNvSpPr>
          <p:nvPr/>
        </p:nvSpPr>
        <p:spPr>
          <a:xfrm xmlns:a="http://schemas.openxmlformats.org/drawingml/2006/main">
            <a:off x="1333500" y="5381625"/>
            <a:ext cx="13239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Hoeveel halfuren wil Sem volgens bron C bij € 6 kopen? Mag je die hoeveelheid nog bij de uitkomst van e optellen? Leg uit.</a:t>
            </a:r>
          </a:p>
        </p:txBody>
      </p:sp>
      <p:sp>
        <p:nvSpPr>
          <p:cNvPr id="13" name="Conclusie: gevraagde tafeltennistijd onder de mo">
            <a:extLst xmlns:a="http://schemas.openxmlformats.org/drawingml/2006/main">
              <a:ext uri="{FF2B5EF4-FFF2-40B4-BE49-F238E27FC236}">
                <a16:creationId xmlns:a16="http://schemas.microsoft.com/office/drawing/2014/main" id="{BD81D6BF-2569-4F03-8686-33BB39D29683}"/>
              </a:ext>
            </a:extLst>
          </p:cNvPr>
          <p:cNvSpPr>
            <a:spLocks xmlns:a="http://schemas.openxmlformats.org/drawingml/2006/main" noGrp="1"/>
          </p:cNvSpPr>
          <p:nvPr/>
        </p:nvSpPr>
        <p:spPr>
          <a:xfrm xmlns:a="http://schemas.openxmlformats.org/drawingml/2006/main">
            <a:off x="571500" y="74961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Conclusie: gevraagde tafeltennistijd onder de modelaannamen.</a:t>
            </a:r>
          </a:p>
        </p:txBody>
      </p:sp>
    </p:spTree>
    <p:extLst>
      <p:ext uri="{BB962C8B-B14F-4D97-AF65-F5344CB8AC3E}">
        <p14:creationId xmlns:p14="http://schemas.microsoft.com/office/powerpoint/2010/main" val="18414456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a · De gezamenlijke vraag">
            <a:extLst xmlns:a="http://schemas.openxmlformats.org/drawingml/2006/main">
              <a:ext uri="{FF2B5EF4-FFF2-40B4-BE49-F238E27FC236}">
                <a16:creationId xmlns:a16="http://schemas.microsoft.com/office/drawing/2014/main" id="{94976358-A6F7-4C66-AFC2-8625B7BD4FBD}"/>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37a · De gezamenlijke vraag</a:t>
            </a:r>
          </a:p>
        </p:txBody>
      </p:sp>
      <p:sp>
        <p:nvSpPr>
          <p:cNvPr id="2" name="">
            <a:extLst xmlns:a="http://schemas.openxmlformats.org/drawingml/2006/main">
              <a:ext uri="{FF2B5EF4-FFF2-40B4-BE49-F238E27FC236}">
                <a16:creationId xmlns:a16="http://schemas.microsoft.com/office/drawing/2014/main" id="{2441739D-D5DF-4FC0-AB27-4698444173F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65576BF8-5A1A-47BC-93AF-C2B2AF4527F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4">
            <a:extLst xmlns:a="http://schemas.openxmlformats.org/drawingml/2006/main">
              <a:ext uri="{FF2B5EF4-FFF2-40B4-BE49-F238E27FC236}">
                <a16:creationId xmlns:a16="http://schemas.microsoft.com/office/drawing/2014/main" id="{F14B9F11-7623-4288-91FC-CB9090A34FB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Q = Qₐ + Qᵦ">
            <a:extLst xmlns:a="http://schemas.openxmlformats.org/drawingml/2006/main">
              <a:ext uri="{FF2B5EF4-FFF2-40B4-BE49-F238E27FC236}">
                <a16:creationId xmlns:a16="http://schemas.microsoft.com/office/drawing/2014/main" id="{6C7D5D9D-F4E1-419D-A214-4DE9CCF742BA}"/>
              </a:ext>
            </a:extLst>
          </p:cNvPr>
          <p:cNvSpPr>
            <a:spLocks xmlns:a="http://schemas.openxmlformats.org/drawingml/2006/main" noGrp="1"/>
          </p:cNvSpPr>
          <p:nvPr/>
        </p:nvSpPr>
        <p:spPr>
          <a:xfrm xmlns:a="http://schemas.openxmlformats.org/drawingml/2006/main">
            <a:off x="571500" y="1857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 xml:space="preserve">Q = Q</a:t>
            </a:r>
            <a:r>
              <a:rPr sz="2520" b="1" baseline="-25000">
                <a:solidFill>
                  <a:srgbClr val="17658A"/>
                </a:solidFill>
                <a:latin typeface="Arial"/>
                <a:ea typeface="Arial"/>
                <a:cs typeface="Arial"/>
              </a:rPr>
              <a:t xml:space="preserve">A</a:t>
            </a:r>
            <a:r>
              <a:rPr sz="3150" b="1">
                <a:solidFill>
                  <a:srgbClr val="17658A"/>
                </a:solidFill>
                <a:latin typeface="Arial"/>
                <a:ea typeface="Arial"/>
                <a:cs typeface="Arial"/>
              </a:rPr>
              <a:t xml:space="preserve"> + Q</a:t>
            </a:r>
            <a:r>
              <a:rPr sz="2520" b="1" baseline="-25000">
                <a:solidFill>
                  <a:srgbClr val="17658A"/>
                </a:solidFill>
                <a:latin typeface="Arial"/>
                <a:ea typeface="Arial"/>
                <a:cs typeface="Arial"/>
              </a:rPr>
              <a:t xml:space="preserve">B</a:t>
            </a:r>
          </a:p>
        </p:txBody>
      </p:sp>
      <p:sp>
        <p:nvSpPr>
          <p:cNvPr id="6" name="Q = (24 − 3P) + (36 − 3P)&#10;Q = 60 − 6P, voor 0 ≤ ">
            <a:extLst xmlns:a="http://schemas.openxmlformats.org/drawingml/2006/main">
              <a:ext uri="{FF2B5EF4-FFF2-40B4-BE49-F238E27FC236}">
                <a16:creationId xmlns:a16="http://schemas.microsoft.com/office/drawing/2014/main" id="{EF5BD80B-EB26-4E2A-85A4-EFB9829C459B}"/>
              </a:ext>
            </a:extLst>
          </p:cNvPr>
          <p:cNvSpPr>
            <a:spLocks xmlns:a="http://schemas.openxmlformats.org/drawingml/2006/main" noGrp="1"/>
          </p:cNvSpPr>
          <p:nvPr/>
        </p:nvSpPr>
        <p:spPr>
          <a:xfrm xmlns:a="http://schemas.openxmlformats.org/drawingml/2006/main">
            <a:off x="571500" y="2771775"/>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 = (24 − 3P) + (36 − 3P)</a:t>
            </a:r>
          </a:p>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 = 60 − 6P, voor 0 ≤ P ≤ 8</a:t>
            </a:r>
          </a:p>
        </p:txBody>
      </p:sp>
      <p:sp>
        <p:nvSpPr>
          <p:cNvPr id="7" name="Bij € 4: Q = 60 − 6 × 4 = 36 halfuren per week">
            <a:extLst xmlns:a="http://schemas.openxmlformats.org/drawingml/2006/main">
              <a:ext uri="{FF2B5EF4-FFF2-40B4-BE49-F238E27FC236}">
                <a16:creationId xmlns:a16="http://schemas.microsoft.com/office/drawing/2014/main" id="{7BB55D4F-91EB-4E13-A00A-9B9BF0882F8A}"/>
              </a:ext>
            </a:extLst>
          </p:cNvPr>
          <p:cNvSpPr>
            <a:spLocks xmlns:a="http://schemas.openxmlformats.org/drawingml/2006/main" noGrp="1"/>
          </p:cNvSpPr>
          <p:nvPr/>
        </p:nvSpPr>
        <p:spPr>
          <a:xfrm xmlns:a="http://schemas.openxmlformats.org/drawingml/2006/main">
            <a:off x="571500" y="46958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Bij € 4: Q = 60 − 6 × 4 = 36 halfuren per week</a:t>
            </a:r>
          </a:p>
        </p:txBody>
      </p:sp>
      <p:graphicFrame>
        <p:nvGraphicFramePr>
          <p:cNvPr id="16" name=""/>
          <p:cNvGraphicFramePr/>
          <p:nvPr/>
        </p:nvGraphicFramePr>
        <p:xfrm>
          <a:off xmlns:a="http://schemas.openxmlformats.org/drawingml/2006/main" x="571500" y="6181725"/>
          <a:ext xmlns:a="http://schemas.openxmlformats.org/drawingml/2006/main" cx="14097000" cy="1495425"/>
        </p:xfrm>
        <a:graphic xmlns:a="http://schemas.openxmlformats.org/drawingml/2006/main">
          <a:graphicData uri="http://schemas.openxmlformats.org/drawingml/2006/table">
            <a:tbl>
              <a:tblPr/>
              <a:tblGrid>
                <a:gridCol w="3810000"/>
                <a:gridCol w="3476625"/>
                <a:gridCol w="3476625"/>
                <a:gridCol w="3333750"/>
              </a:tblGrid>
              <a:tr h="747713">
                <a:tc>
                  <a:txBody>
                    <a:bodyPr lIns="171450" tIns="95250" rIns="152400" bIns="95250"/>
                    <a:lstStyle/>
                    <a:p>
                      <a:r>
                        <a:rPr sz="2325" b="1">
                          <a:solidFill>
                            <a:srgbClr val="FFFFFF"/>
                          </a:solidFill>
                          <a:latin typeface="Arial"/>
                          <a:ea typeface="Arial"/>
                          <a:cs typeface="Arial"/>
                        </a:rPr>
                        <a:t>Controle bij € 4</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Groep A</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Groep B</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Samen</a:t>
                      </a:r>
                    </a:p>
                  </a:txBody>
                  <a:tcPr marL="91440" marR="91440" marT="45720" marB="45720" anchor="ctr">
                    <a:solidFill>
                      <a:srgbClr val="183247"/>
                    </a:solidFill>
                  </a:tcPr>
                </a:tc>
              </a:tr>
              <a:tr h="747713">
                <a:tc>
                  <a:txBody>
                    <a:bodyPr lIns="171450" tIns="95250" rIns="152400" bIns="95250"/>
                    <a:lstStyle/>
                    <a:p>
                      <a:r>
                        <a:rPr sz="2325" b="0">
                          <a:solidFill>
                            <a:srgbClr val="183247"/>
                          </a:solidFill>
                          <a:latin typeface="Arial"/>
                          <a:ea typeface="Arial"/>
                          <a:cs typeface="Arial"/>
                        </a:rPr>
                        <a:t>Halfuren per week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24 − 3 × 4 = 12</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36 − 3 × 4 = 24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12 + 24 = 36</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893242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7b · De prijs bij 30 halfuren">
            <a:extLst xmlns:a="http://schemas.openxmlformats.org/drawingml/2006/main">
              <a:ext uri="{FF2B5EF4-FFF2-40B4-BE49-F238E27FC236}">
                <a16:creationId xmlns:a16="http://schemas.microsoft.com/office/drawing/2014/main" id="{849F2F85-A213-435D-8FCA-5B31068D8E7A}"/>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37b · De prijs bij 30 halfuren</a:t>
            </a:r>
          </a:p>
        </p:txBody>
      </p:sp>
      <p:sp>
        <p:nvSpPr>
          <p:cNvPr id="2" name="">
            <a:extLst xmlns:a="http://schemas.openxmlformats.org/drawingml/2006/main">
              <a:ext uri="{FF2B5EF4-FFF2-40B4-BE49-F238E27FC236}">
                <a16:creationId xmlns:a16="http://schemas.microsoft.com/office/drawing/2014/main" id="{2C675301-42B0-4F71-886C-9204DF93265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8FA57ABC-B3DA-4BE5-850F-8364BC17C97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5">
            <a:extLst xmlns:a="http://schemas.openxmlformats.org/drawingml/2006/main">
              <a:ext uri="{FF2B5EF4-FFF2-40B4-BE49-F238E27FC236}">
                <a16:creationId xmlns:a16="http://schemas.microsoft.com/office/drawing/2014/main" id="{A1F90357-630A-41F6-9923-DF86AD53831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30 = 60 − 6P&#10;30 + 6P = 60&#10;6P = 30&#10;P = € 5 per ha">
            <a:extLst xmlns:a="http://schemas.openxmlformats.org/drawingml/2006/main">
              <a:ext uri="{FF2B5EF4-FFF2-40B4-BE49-F238E27FC236}">
                <a16:creationId xmlns:a16="http://schemas.microsoft.com/office/drawing/2014/main" id="{6C749BCD-7815-43FA-BF31-4A4DD8EE589B}"/>
              </a:ext>
            </a:extLst>
          </p:cNvPr>
          <p:cNvSpPr>
            <a:spLocks xmlns:a="http://schemas.openxmlformats.org/drawingml/2006/main" noGrp="1"/>
          </p:cNvSpPr>
          <p:nvPr/>
        </p:nvSpPr>
        <p:spPr>
          <a:xfrm xmlns:a="http://schemas.openxmlformats.org/drawingml/2006/main">
            <a:off x="571500" y="2085975"/>
            <a:ext cx="140970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30 = 60 − 6P</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30 + 6P = 60</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6P = 30</a:t>
            </a:r>
          </a:p>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P = € 5 per halfuur</a:t>
            </a:r>
          </a:p>
        </p:txBody>
      </p:sp>
      <p:sp>
        <p:nvSpPr>
          <p:cNvPr id="6" name="Controle: 60 − 6 × 5 = 30 halfuren per week">
            <a:extLst xmlns:a="http://schemas.openxmlformats.org/drawingml/2006/main">
              <a:ext uri="{FF2B5EF4-FFF2-40B4-BE49-F238E27FC236}">
                <a16:creationId xmlns:a16="http://schemas.microsoft.com/office/drawing/2014/main" id="{C388EF50-BE7B-4B12-9D9A-87C37AB090F1}"/>
              </a:ext>
            </a:extLst>
          </p:cNvPr>
          <p:cNvSpPr>
            <a:spLocks xmlns:a="http://schemas.openxmlformats.org/drawingml/2006/main" noGrp="1"/>
          </p:cNvSpPr>
          <p:nvPr/>
        </p:nvSpPr>
        <p:spPr>
          <a:xfrm xmlns:a="http://schemas.openxmlformats.org/drawingml/2006/main">
            <a:off x="571500" y="571500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Controle: 60 − 6 × 5 = 30 halfuren per week</a:t>
            </a:r>
          </a:p>
        </p:txBody>
      </p:sp>
      <p:sp>
        <p:nvSpPr>
          <p:cNvPr id="7" name="€ 5 ligt binnen het geldige interval van € 0 tot">
            <a:extLst xmlns:a="http://schemas.openxmlformats.org/drawingml/2006/main">
              <a:ext uri="{FF2B5EF4-FFF2-40B4-BE49-F238E27FC236}">
                <a16:creationId xmlns:a16="http://schemas.microsoft.com/office/drawing/2014/main" id="{9AA93924-1F80-4037-83B0-A0E723D5A021}"/>
              </a:ext>
            </a:extLst>
          </p:cNvPr>
          <p:cNvSpPr>
            <a:spLocks xmlns:a="http://schemas.openxmlformats.org/drawingml/2006/main" noGrp="1"/>
          </p:cNvSpPr>
          <p:nvPr/>
        </p:nvSpPr>
        <p:spPr>
          <a:xfrm xmlns:a="http://schemas.openxmlformats.org/drawingml/2006/main">
            <a:off x="571500" y="71342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€ 5 ligt binnen het geldige interval van € 0 tot en met € 8.</a:t>
            </a:r>
          </a:p>
        </p:txBody>
      </p:sp>
    </p:spTree>
    <p:extLst>
      <p:ext uri="{BB962C8B-B14F-4D97-AF65-F5344CB8AC3E}">
        <p14:creationId xmlns:p14="http://schemas.microsoft.com/office/powerpoint/2010/main" val="5207891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7c · Twee oorzaken afzonderlijk">
            <a:extLst xmlns:a="http://schemas.openxmlformats.org/drawingml/2006/main">
              <a:ext uri="{FF2B5EF4-FFF2-40B4-BE49-F238E27FC236}">
                <a16:creationId xmlns:a16="http://schemas.microsoft.com/office/drawing/2014/main" id="{107C2248-4FEF-4C60-ACCC-043BA38DFDCB}"/>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37c · Twee oorzaken afzonderlijk</a:t>
            </a:r>
          </a:p>
        </p:txBody>
      </p:sp>
      <p:sp>
        <p:nvSpPr>
          <p:cNvPr id="2" name="">
            <a:extLst xmlns:a="http://schemas.openxmlformats.org/drawingml/2006/main">
              <a:ext uri="{FF2B5EF4-FFF2-40B4-BE49-F238E27FC236}">
                <a16:creationId xmlns:a16="http://schemas.microsoft.com/office/drawing/2014/main" id="{D2147C82-895E-42C5-91DC-1A6F37550E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1AD81822-8573-4181-8114-44EFFD0F51A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6">
            <a:extLst xmlns:a="http://schemas.openxmlformats.org/drawingml/2006/main">
              <a:ext uri="{FF2B5EF4-FFF2-40B4-BE49-F238E27FC236}">
                <a16:creationId xmlns:a16="http://schemas.microsoft.com/office/drawing/2014/main" id="{894E9EEF-4F07-426F-ABE3-D731361C9A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lleen de tafeltennisprijs: € 4 naar € 6">
            <a:extLst xmlns:a="http://schemas.openxmlformats.org/drawingml/2006/main">
              <a:ext uri="{FF2B5EF4-FFF2-40B4-BE49-F238E27FC236}">
                <a16:creationId xmlns:a16="http://schemas.microsoft.com/office/drawing/2014/main" id="{C9AF9A80-6039-4E09-8061-A64C37751031}"/>
              </a:ext>
            </a:extLst>
          </p:cNvPr>
          <p:cNvSpPr>
            <a:spLocks xmlns:a="http://schemas.openxmlformats.org/drawingml/2006/main" noGrp="1"/>
          </p:cNvSpPr>
          <p:nvPr/>
        </p:nvSpPr>
        <p:spPr>
          <a:xfrm xmlns:a="http://schemas.openxmlformats.org/drawingml/2006/main">
            <a:off x="571500" y="19145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Alleen de tafeltennisprijs: € 4 naar € 6</a:t>
            </a:r>
          </a:p>
        </p:txBody>
      </p:sp>
      <p:sp>
        <p:nvSpPr>
          <p:cNvPr id="6" name="Q = 60 − 6 × 6 = 24 halfuren per week&#10;Van 36 naa">
            <a:extLst xmlns:a="http://schemas.openxmlformats.org/drawingml/2006/main">
              <a:ext uri="{FF2B5EF4-FFF2-40B4-BE49-F238E27FC236}">
                <a16:creationId xmlns:a16="http://schemas.microsoft.com/office/drawing/2014/main" id="{CCFE049C-EEAA-4A91-998A-71D301C6A9D5}"/>
              </a:ext>
            </a:extLst>
          </p:cNvPr>
          <p:cNvSpPr>
            <a:spLocks xmlns:a="http://schemas.openxmlformats.org/drawingml/2006/main" noGrp="1"/>
          </p:cNvSpPr>
          <p:nvPr/>
        </p:nvSpPr>
        <p:spPr>
          <a:xfrm xmlns:a="http://schemas.openxmlformats.org/drawingml/2006/main">
            <a:off x="571500" y="28003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Q = 60 − 6 × 6 = 24 halfuren per week</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Van 36 naar 24: 12 halfuren minder, langs V₀.</a:t>
            </a:r>
          </a:p>
        </p:txBody>
      </p:sp>
      <p:sp>
        <p:nvSpPr>
          <p:cNvPr id="7" name="">
            <a:extLst xmlns:a="http://schemas.openxmlformats.org/drawingml/2006/main">
              <a:ext uri="{FF2B5EF4-FFF2-40B4-BE49-F238E27FC236}">
                <a16:creationId xmlns:a16="http://schemas.microsoft.com/office/drawing/2014/main" id="{F7C88038-92BB-4DCD-9DCE-9F56348680B2}"/>
              </a:ext>
            </a:extLst>
          </p:cNvPr>
          <p:cNvSpPr>
            <a:spLocks xmlns:a="http://schemas.openxmlformats.org/drawingml/2006/main" noGrp="1"/>
          </p:cNvSpPr>
          <p:nvPr/>
        </p:nvSpPr>
        <p:spPr>
          <a:xfrm xmlns:a="http://schemas.openxmlformats.org/drawingml/2006/main">
            <a:off x="571500" y="4410075"/>
            <a:ext cx="14097000" cy="0"/>
          </a:xfrm>
          <a:prstGeom xmlns:a="http://schemas.openxmlformats.org/drawingml/2006/main" prst="line">
            <a:avLst/>
          </a:prstGeom>
          <a:ln xmlns:a="http://schemas.openxmlformats.org/drawingml/2006/main" w="19050">
            <a:solidFill>
              <a:srgbClr val="C6D2DB"/>
            </a:solidFill>
          </a:ln>
        </p:spPr>
      </p:sp>
      <p:sp>
        <p:nvSpPr>
          <p:cNvPr id="8" name="Bowlen wordt duurder: prijs van een substituut">
            <a:extLst xmlns:a="http://schemas.openxmlformats.org/drawingml/2006/main">
              <a:ext uri="{FF2B5EF4-FFF2-40B4-BE49-F238E27FC236}">
                <a16:creationId xmlns:a16="http://schemas.microsoft.com/office/drawing/2014/main" id="{C78DC7E1-9318-4347-B6EF-BBB621BF5AE3}"/>
              </a:ext>
            </a:extLst>
          </p:cNvPr>
          <p:cNvSpPr>
            <a:spLocks xmlns:a="http://schemas.openxmlformats.org/drawingml/2006/main" noGrp="1"/>
          </p:cNvSpPr>
          <p:nvPr/>
        </p:nvSpPr>
        <p:spPr>
          <a:xfrm xmlns:a="http://schemas.openxmlformats.org/drawingml/2006/main">
            <a:off x="571500" y="48482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Bowlen wordt duurder: prijs van een substituut</a:t>
            </a:r>
          </a:p>
        </p:txBody>
      </p:sp>
      <p:sp>
        <p:nvSpPr>
          <p:cNvPr id="9" name="Bij iedere prijs 12 halfuren per week meer vraag">
            <a:extLst xmlns:a="http://schemas.openxmlformats.org/drawingml/2006/main">
              <a:ext uri="{FF2B5EF4-FFF2-40B4-BE49-F238E27FC236}">
                <a16:creationId xmlns:a16="http://schemas.microsoft.com/office/drawing/2014/main" id="{CFEDCBC6-945D-4C55-AD50-D7EA43B11570}"/>
              </a:ext>
            </a:extLst>
          </p:cNvPr>
          <p:cNvSpPr>
            <a:spLocks xmlns:a="http://schemas.openxmlformats.org/drawingml/2006/main" noGrp="1"/>
          </p:cNvSpPr>
          <p:nvPr/>
        </p:nvSpPr>
        <p:spPr>
          <a:xfrm xmlns:a="http://schemas.openxmlformats.org/drawingml/2006/main">
            <a:off x="571500" y="5953125"/>
            <a:ext cx="14097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Bij iedere prijs 12 halfuren per week meer vraag.</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tafeltennisvraag verschuift naar rechts.</a:t>
            </a:r>
          </a:p>
        </p:txBody>
      </p:sp>
    </p:spTree>
    <p:extLst>
      <p:ext uri="{BB962C8B-B14F-4D97-AF65-F5344CB8AC3E}">
        <p14:creationId xmlns:p14="http://schemas.microsoft.com/office/powerpoint/2010/main" val="771061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d · De nieuwe lijn voorbereiden">
            <a:extLst xmlns:a="http://schemas.openxmlformats.org/drawingml/2006/main">
              <a:ext uri="{FF2B5EF4-FFF2-40B4-BE49-F238E27FC236}">
                <a16:creationId xmlns:a16="http://schemas.microsoft.com/office/drawing/2014/main" id="{205EA798-BCBF-4289-8CF2-CDEC07F6791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37d · De nieuwe lijn voorbereiden</a:t>
            </a:r>
          </a:p>
        </p:txBody>
      </p:sp>
      <p:sp>
        <p:nvSpPr>
          <p:cNvPr id="2" name="">
            <a:extLst xmlns:a="http://schemas.openxmlformats.org/drawingml/2006/main">
              <a:ext uri="{FF2B5EF4-FFF2-40B4-BE49-F238E27FC236}">
                <a16:creationId xmlns:a16="http://schemas.microsoft.com/office/drawing/2014/main" id="{31EF2DAA-01B3-481F-B428-6EC52F521F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520B7854-8793-4F5B-B1CB-90D24CC2403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7">
            <a:extLst xmlns:a="http://schemas.openxmlformats.org/drawingml/2006/main">
              <a:ext uri="{FF2B5EF4-FFF2-40B4-BE49-F238E27FC236}">
                <a16:creationId xmlns:a16="http://schemas.microsoft.com/office/drawing/2014/main" id="{06A01D8F-885D-4AF3-8DB5-198FEE32FE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₁: Q = (60 − 6P) + 12 = 72 − 6P">
            <a:extLst xmlns:a="http://schemas.openxmlformats.org/drawingml/2006/main">
              <a:ext uri="{FF2B5EF4-FFF2-40B4-BE49-F238E27FC236}">
                <a16:creationId xmlns:a16="http://schemas.microsoft.com/office/drawing/2014/main" id="{1AAD8A78-075C-49FE-A850-DD7024E001EA}"/>
              </a:ext>
            </a:extLst>
          </p:cNvPr>
          <p:cNvSpPr>
            <a:spLocks xmlns:a="http://schemas.openxmlformats.org/drawingml/2006/main" noGrp="1"/>
          </p:cNvSpPr>
          <p:nvPr/>
        </p:nvSpPr>
        <p:spPr>
          <a:xfrm xmlns:a="http://schemas.openxmlformats.org/drawingml/2006/main">
            <a:off x="571500" y="19716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V₁: Q = (60 − 6P) + 12 = 72 − 6P</a:t>
            </a:r>
          </a:p>
        </p:txBody>
      </p:sp>
      <p:sp>
        <p:nvSpPr>
          <p:cNvPr id="6" name="Alleen voor 0 ≤ P ≤ 8. Coördinaten: (Q; P).">
            <a:extLst xmlns:a="http://schemas.openxmlformats.org/drawingml/2006/main">
              <a:ext uri="{FF2B5EF4-FFF2-40B4-BE49-F238E27FC236}">
                <a16:creationId xmlns:a16="http://schemas.microsoft.com/office/drawing/2014/main" id="{5A06FEFC-506B-49F3-BB8A-12A3FC2796B1}"/>
              </a:ext>
            </a:extLst>
          </p:cNvPr>
          <p:cNvSpPr>
            <a:spLocks xmlns:a="http://schemas.openxmlformats.org/drawingml/2006/main" noGrp="1"/>
          </p:cNvSpPr>
          <p:nvPr/>
        </p:nvSpPr>
        <p:spPr>
          <a:xfrm xmlns:a="http://schemas.openxmlformats.org/drawingml/2006/main">
            <a:off x="571500" y="30384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Alleen voor 0 ≤ P ≤ 8. Coördinaten: (Q; P).</a:t>
            </a:r>
          </a:p>
        </p:txBody>
      </p:sp>
      <p:graphicFrame>
        <p:nvGraphicFramePr>
          <p:cNvPr id="15" name=""/>
          <p:cNvGraphicFramePr/>
          <p:nvPr/>
        </p:nvGraphicFramePr>
        <p:xfrm>
          <a:off xmlns:a="http://schemas.openxmlformats.org/drawingml/2006/main" x="571500" y="4238625"/>
          <a:ext xmlns:a="http://schemas.openxmlformats.org/drawingml/2006/main" cx="14097000" cy="2676525"/>
        </p:xfrm>
        <a:graphic xmlns:a="http://schemas.openxmlformats.org/drawingml/2006/main">
          <a:graphicData uri="http://schemas.openxmlformats.org/drawingml/2006/table">
            <a:tbl>
              <a:tblPr/>
              <a:tblGrid>
                <a:gridCol w="2476500"/>
                <a:gridCol w="5810250"/>
                <a:gridCol w="5810250"/>
              </a:tblGrid>
              <a:tr h="892175">
                <a:tc>
                  <a:txBody>
                    <a:bodyPr lIns="171450" tIns="95250" rIns="152400" bIns="95250"/>
                    <a:lstStyle/>
                    <a:p>
                      <a:r>
                        <a:rPr sz="2550" b="1">
                          <a:solidFill>
                            <a:srgbClr val="FFFFFF"/>
                          </a:solidFill>
                          <a:latin typeface="Arial"/>
                          <a:ea typeface="Arial"/>
                          <a:cs typeface="Arial"/>
                        </a:rPr>
                        <a:t>Prijs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Oorspronkelijke V₀</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Nieuwe V₁</a:t>
                      </a:r>
                    </a:p>
                  </a:txBody>
                  <a:tcPr marL="91440" marR="91440" marT="45720" marB="45720" anchor="ctr">
                    <a:solidFill>
                      <a:srgbClr val="183247"/>
                    </a:solidFill>
                  </a:tcPr>
                </a:tc>
              </a:tr>
              <a:tr h="892175">
                <a:tc>
                  <a:txBody>
                    <a:bodyPr lIns="171450" tIns="95250" rIns="152400" bIns="95250"/>
                    <a:lstStyle/>
                    <a:p>
                      <a:r>
                        <a:rPr sz="2550" b="0">
                          <a:solidFill>
                            <a:srgbClr val="183247"/>
                          </a:solidFill>
                          <a:latin typeface="Arial"/>
                          <a:ea typeface="Arial"/>
                          <a:cs typeface="Arial"/>
                        </a:rPr>
                        <a:t>P =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 60  →  (60;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 72  →  (72; 0)</a:t>
                      </a:r>
                    </a:p>
                  </a:txBody>
                  <a:tcPr marL="91440" marR="91440" marT="45720" marB="45720" anchor="ctr">
                    <a:solidFill>
                      <a:srgbClr val="FFFFFF"/>
                    </a:solidFill>
                  </a:tcPr>
                </a:tc>
              </a:tr>
              <a:tr h="892175">
                <a:tc>
                  <a:txBody>
                    <a:bodyPr lIns="171450" tIns="95250" rIns="152400" bIns="95250"/>
                    <a:lstStyle/>
                    <a:p>
                      <a:r>
                        <a:rPr sz="2550" b="0">
                          <a:solidFill>
                            <a:srgbClr val="183247"/>
                          </a:solidFill>
                          <a:latin typeface="Arial"/>
                          <a:ea typeface="Arial"/>
                          <a:cs typeface="Arial"/>
                        </a:rPr>
                        <a:t>P = 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Q = 12  →  (12; 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Q = 24  →  (24; 8)</a:t>
                      </a:r>
                    </a:p>
                  </a:txBody>
                  <a:tcPr marL="91440" marR="91440" marT="45720" marB="45720" anchor="ctr">
                    <a:solidFill>
                      <a:srgbClr val="EFF4F7"/>
                    </a:solidFill>
                  </a:tcPr>
                </a:tc>
              </a:tr>
            </a:tbl>
          </a:graphicData>
        </a:graphic>
      </p:graphicFrame>
      <p:sp>
        <p:nvSpPr>
          <p:cNvPr id="8" name="Verbind per lijn de twee eindpunten binnen het i">
            <a:extLst xmlns:a="http://schemas.openxmlformats.org/drawingml/2006/main">
              <a:ext uri="{FF2B5EF4-FFF2-40B4-BE49-F238E27FC236}">
                <a16:creationId xmlns:a16="http://schemas.microsoft.com/office/drawing/2014/main" id="{5D7F08D2-4554-465C-88BD-95E48F863934}"/>
              </a:ext>
            </a:extLst>
          </p:cNvPr>
          <p:cNvSpPr>
            <a:spLocks xmlns:a="http://schemas.openxmlformats.org/drawingml/2006/main" noGrp="1"/>
          </p:cNvSpPr>
          <p:nvPr/>
        </p:nvSpPr>
        <p:spPr>
          <a:xfrm xmlns:a="http://schemas.openxmlformats.org/drawingml/2006/main">
            <a:off x="571500" y="736282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Verbind per lijn de twee eindpunten binnen het interval.</a:t>
            </a:r>
          </a:p>
        </p:txBody>
      </p:sp>
    </p:spTree>
    <p:extLst>
      <p:ext uri="{BB962C8B-B14F-4D97-AF65-F5344CB8AC3E}">
        <p14:creationId xmlns:p14="http://schemas.microsoft.com/office/powerpoint/2010/main" val="13171024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d · A en B op de oude lijn">
            <a:extLst xmlns:a="http://schemas.openxmlformats.org/drawingml/2006/main">
              <a:ext uri="{FF2B5EF4-FFF2-40B4-BE49-F238E27FC236}">
                <a16:creationId xmlns:a16="http://schemas.microsoft.com/office/drawing/2014/main" id="{7FBF5AB5-33FF-4442-9A01-6E5804A88EA6}"/>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37d · A en B op de oude lijn</a:t>
            </a:r>
          </a:p>
        </p:txBody>
      </p:sp>
      <p:sp>
        <p:nvSpPr>
          <p:cNvPr id="2" name="">
            <a:extLst xmlns:a="http://schemas.openxmlformats.org/drawingml/2006/main">
              <a:ext uri="{FF2B5EF4-FFF2-40B4-BE49-F238E27FC236}">
                <a16:creationId xmlns:a16="http://schemas.microsoft.com/office/drawing/2014/main" id="{E905AE02-B916-4C39-9E6C-5DEC29D16C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302F432F-8A3C-4B70-B937-802656186D6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8">
            <a:extLst xmlns:a="http://schemas.openxmlformats.org/drawingml/2006/main">
              <a:ext uri="{FF2B5EF4-FFF2-40B4-BE49-F238E27FC236}">
                <a16:creationId xmlns:a16="http://schemas.microsoft.com/office/drawing/2014/main" id="{EB14A8C8-FB15-40F0-BC11-5F1987A5F5B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oud · B: alleen de eigen prijsstijging">
            <a:extLst xmlns:a="http://schemas.openxmlformats.org/drawingml/2006/main">
              <a:ext uri="{FF2B5EF4-FFF2-40B4-BE49-F238E27FC236}">
                <a16:creationId xmlns:a16="http://schemas.microsoft.com/office/drawing/2014/main" id="{FE8356BC-27DD-4F62-9A10-7F4603145FE8}"/>
              </a:ext>
            </a:extLst>
          </p:cNvPr>
          <p:cNvSpPr>
            <a:spLocks xmlns:a="http://schemas.openxmlformats.org/drawingml/2006/main" noGrp="1"/>
          </p:cNvSpPr>
          <p:nvPr/>
        </p:nvSpPr>
        <p:spPr>
          <a:xfrm xmlns:a="http://schemas.openxmlformats.org/drawingml/2006/main">
            <a:off x="571500" y="17526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A: oud · B: alleen de eigen prijsstijging</a:t>
            </a:r>
          </a:p>
        </p:txBody>
      </p:sp>
      <p:graphicFrame>
        <p:nvGraphicFramePr>
          <p:cNvPr id="14" name="Chart"/>
          <p:cNvGraphicFramePr/>
          <p:nvPr/>
        </p:nvGraphicFramePr>
        <p:xfrm>
          <a:off xmlns:a="http://schemas.openxmlformats.org/drawingml/2006/main" x="571500" y="2400300"/>
          <a:ext xmlns:a="http://schemas.openxmlformats.org/drawingml/2006/main" cx="10287000" cy="5381625"/>
        </p:xfrm>
        <a:graphic xmlns:a="http://schemas.openxmlformats.org/drawingml/2006/main">
          <a:graphicData uri="http://schemas.openxmlformats.org/drawingml/2006/chart">
            <c:chart xmlns:r="http://schemas.openxmlformats.org/officeDocument/2006/relationships" xmlns:c="http://schemas.openxmlformats.org/drawingml/2006/chart" r:id="R94d4fbf653ef4116"/>
          </a:graphicData>
        </a:graphic>
      </p:graphicFrame>
      <p:sp>
        <p:nvSpPr>
          <p:cNvPr id="7" name="A = (36; 4)&#10;B = (24; 6)">
            <a:extLst xmlns:a="http://schemas.openxmlformats.org/drawingml/2006/main">
              <a:ext uri="{FF2B5EF4-FFF2-40B4-BE49-F238E27FC236}">
                <a16:creationId xmlns:a16="http://schemas.microsoft.com/office/drawing/2014/main" id="{38C133F2-B922-4B7F-95E3-66C200A451C6}"/>
              </a:ext>
            </a:extLst>
          </p:cNvPr>
          <p:cNvSpPr>
            <a:spLocks xmlns:a="http://schemas.openxmlformats.org/drawingml/2006/main" noGrp="1"/>
          </p:cNvSpPr>
          <p:nvPr/>
        </p:nvSpPr>
        <p:spPr>
          <a:xfrm xmlns:a="http://schemas.openxmlformats.org/drawingml/2006/main">
            <a:off x="11334750" y="285750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A = (36; 4)</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 = (24; 6)</a:t>
            </a:r>
          </a:p>
        </p:txBody>
      </p:sp>
      <p:sp>
        <p:nvSpPr>
          <p:cNvPr id="8" name="V₀: Q = 60 − 6P&#10;&#10;A naar B:&#10;langs dezelfde lijn">
            <a:extLst xmlns:a="http://schemas.openxmlformats.org/drawingml/2006/main">
              <a:ext uri="{FF2B5EF4-FFF2-40B4-BE49-F238E27FC236}">
                <a16:creationId xmlns:a16="http://schemas.microsoft.com/office/drawing/2014/main" id="{CD738079-8C18-44FA-BE77-7767B1D6BC07}"/>
              </a:ext>
            </a:extLst>
          </p:cNvPr>
          <p:cNvSpPr>
            <a:spLocks xmlns:a="http://schemas.openxmlformats.org/drawingml/2006/main" noGrp="1"/>
          </p:cNvSpPr>
          <p:nvPr/>
        </p:nvSpPr>
        <p:spPr>
          <a:xfrm xmlns:a="http://schemas.openxmlformats.org/drawingml/2006/main">
            <a:off x="11334750" y="5457825"/>
            <a:ext cx="333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658A"/>
                </a:solidFill>
                <a:latin typeface="Arial"/>
                <a:ea typeface="Arial"/>
                <a:cs typeface="Arial"/>
              </a:defRPr>
            </a:pPr>
            <a:r>
              <a:rPr sz="2325" b="0">
                <a:solidFill>
                  <a:srgbClr val="17658A"/>
                </a:solidFill>
                <a:latin typeface="Arial"/>
                <a:ea typeface="Arial"/>
                <a:cs typeface="Arial"/>
              </a:rPr>
              <a:t>V₀: Q = 60 − 6P</a:t>
            </a:r>
          </a:p>
          <a:p xmlns:a="http://schemas.openxmlformats.org/drawingml/2006/main">
            <a:r>
              <a:t/>
            </a:r>
          </a:p>
          <a:p xmlns:a="http://schemas.openxmlformats.org/drawingml/2006/main">
            <a:pPr algn="l">
              <a:defRPr sz="2325" b="0">
                <a:solidFill>
                  <a:srgbClr val="17658A"/>
                </a:solidFill>
                <a:latin typeface="Arial"/>
                <a:ea typeface="Arial"/>
                <a:cs typeface="Arial"/>
              </a:defRPr>
            </a:pPr>
            <a:r>
              <a:rPr sz="2325" b="0">
                <a:solidFill>
                  <a:srgbClr val="17658A"/>
                </a:solidFill>
                <a:latin typeface="Arial"/>
                <a:ea typeface="Arial"/>
                <a:cs typeface="Arial"/>
              </a:rPr>
              <a:t>A naar B:</a:t>
            </a:r>
          </a:p>
          <a:p xmlns:a="http://schemas.openxmlformats.org/drawingml/2006/main">
            <a:pPr algn="l">
              <a:defRPr sz="2325" b="0">
                <a:solidFill>
                  <a:srgbClr val="17658A"/>
                </a:solidFill>
                <a:latin typeface="Arial"/>
                <a:ea typeface="Arial"/>
                <a:cs typeface="Arial"/>
              </a:defRPr>
            </a:pPr>
            <a:r>
              <a:rPr sz="2325" b="0">
                <a:solidFill>
                  <a:srgbClr val="17658A"/>
                </a:solidFill>
                <a:latin typeface="Arial"/>
                <a:ea typeface="Arial"/>
                <a:cs typeface="Arial"/>
              </a:rPr>
              <a:t>langs dezelfde lijn</a:t>
            </a:r>
          </a:p>
        </p:txBody>
      </p:sp>
    </p:spTree>
    <p:extLst>
      <p:ext uri="{BB962C8B-B14F-4D97-AF65-F5344CB8AC3E}">
        <p14:creationId xmlns:p14="http://schemas.microsoft.com/office/powerpoint/2010/main" val="11909094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7d · C op de nieuwe lijn">
            <a:extLst xmlns:a="http://schemas.openxmlformats.org/drawingml/2006/main">
              <a:ext uri="{FF2B5EF4-FFF2-40B4-BE49-F238E27FC236}">
                <a16:creationId xmlns:a16="http://schemas.microsoft.com/office/drawing/2014/main" id="{235BF55B-1881-4E0D-822E-44C1B96629B2}"/>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37d · C op de nieuwe lijn</a:t>
            </a:r>
          </a:p>
        </p:txBody>
      </p:sp>
      <p:sp>
        <p:nvSpPr>
          <p:cNvPr id="2" name="">
            <a:extLst xmlns:a="http://schemas.openxmlformats.org/drawingml/2006/main">
              <a:ext uri="{FF2B5EF4-FFF2-40B4-BE49-F238E27FC236}">
                <a16:creationId xmlns:a16="http://schemas.microsoft.com/office/drawing/2014/main" id="{44D66B12-145D-4337-8DE0-7F484AE498C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F12D2A67-9C98-44F6-937A-FD7C4AB35ED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19">
            <a:extLst xmlns:a="http://schemas.openxmlformats.org/drawingml/2006/main">
              <a:ext uri="{FF2B5EF4-FFF2-40B4-BE49-F238E27FC236}">
                <a16:creationId xmlns:a16="http://schemas.microsoft.com/office/drawing/2014/main" id="{16747747-B7FA-4C68-A948-B036650E7F3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C: beide veranderingen · verschuiving bij dezelf">
            <a:extLst xmlns:a="http://schemas.openxmlformats.org/drawingml/2006/main">
              <a:ext uri="{FF2B5EF4-FFF2-40B4-BE49-F238E27FC236}">
                <a16:creationId xmlns:a16="http://schemas.microsoft.com/office/drawing/2014/main" id="{CE48ADE7-AC4E-4533-B807-C4AAED44B154}"/>
              </a:ext>
            </a:extLst>
          </p:cNvPr>
          <p:cNvSpPr>
            <a:spLocks xmlns:a="http://schemas.openxmlformats.org/drawingml/2006/main" noGrp="1"/>
          </p:cNvSpPr>
          <p:nvPr/>
        </p:nvSpPr>
        <p:spPr>
          <a:xfrm xmlns:a="http://schemas.openxmlformats.org/drawingml/2006/main">
            <a:off x="571500" y="175260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C: beide veranderingen · verschuiving bij dezelfde prijs</a:t>
            </a:r>
          </a:p>
        </p:txBody>
      </p:sp>
      <p:graphicFrame>
        <p:nvGraphicFramePr>
          <p:cNvPr id="14" name="Chart"/>
          <p:cNvGraphicFramePr/>
          <p:nvPr/>
        </p:nvGraphicFramePr>
        <p:xfrm>
          <a:off xmlns:a="http://schemas.openxmlformats.org/drawingml/2006/main" x="571500" y="2400300"/>
          <a:ext xmlns:a="http://schemas.openxmlformats.org/drawingml/2006/main" cx="10287000" cy="5381625"/>
        </p:xfrm>
        <a:graphic xmlns:a="http://schemas.openxmlformats.org/drawingml/2006/main">
          <a:graphicData uri="http://schemas.openxmlformats.org/drawingml/2006/chart">
            <c:chart xmlns:r="http://schemas.openxmlformats.org/officeDocument/2006/relationships" xmlns:c="http://schemas.openxmlformats.org/drawingml/2006/chart" r:id="R62b330eede934c6f"/>
          </a:graphicData>
        </a:graphic>
      </p:graphicFrame>
      <p:sp>
        <p:nvSpPr>
          <p:cNvPr id="7" name="A = (36; 4)&#10;B = (24; 6)&#10;C = (36; 6)">
            <a:extLst xmlns:a="http://schemas.openxmlformats.org/drawingml/2006/main">
              <a:ext uri="{FF2B5EF4-FFF2-40B4-BE49-F238E27FC236}">
                <a16:creationId xmlns:a16="http://schemas.microsoft.com/office/drawing/2014/main" id="{80D5BA5B-58F0-4B2F-9135-2CB4BD0C77FE}"/>
              </a:ext>
            </a:extLst>
          </p:cNvPr>
          <p:cNvSpPr>
            <a:spLocks xmlns:a="http://schemas.openxmlformats.org/drawingml/2006/main" noGrp="1"/>
          </p:cNvSpPr>
          <p:nvPr/>
        </p:nvSpPr>
        <p:spPr>
          <a:xfrm xmlns:a="http://schemas.openxmlformats.org/drawingml/2006/main">
            <a:off x="11334750" y="285750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A = (36; 4)</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 = (24; 6)</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C = (36; 6)</a:t>
            </a:r>
          </a:p>
        </p:txBody>
      </p:sp>
      <p:sp>
        <p:nvSpPr>
          <p:cNvPr id="8" name="V₀: Q = 60 − 6P&#10;V₁: Q = 72 − 6P&#10;&#10;Bij P = 6:&#10;24 n">
            <a:extLst xmlns:a="http://schemas.openxmlformats.org/drawingml/2006/main">
              <a:ext uri="{FF2B5EF4-FFF2-40B4-BE49-F238E27FC236}">
                <a16:creationId xmlns:a16="http://schemas.microsoft.com/office/drawing/2014/main" id="{D2F089DC-C433-47FF-B4AB-0F4A0F55EBB2}"/>
              </a:ext>
            </a:extLst>
          </p:cNvPr>
          <p:cNvSpPr>
            <a:spLocks xmlns:a="http://schemas.openxmlformats.org/drawingml/2006/main" noGrp="1"/>
          </p:cNvSpPr>
          <p:nvPr/>
        </p:nvSpPr>
        <p:spPr>
          <a:xfrm xmlns:a="http://schemas.openxmlformats.org/drawingml/2006/main">
            <a:off x="11334750" y="5457825"/>
            <a:ext cx="333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A94D16"/>
                </a:solidFill>
                <a:latin typeface="Arial"/>
                <a:ea typeface="Arial"/>
                <a:cs typeface="Arial"/>
              </a:defRPr>
            </a:pPr>
            <a:r>
              <a:rPr sz="2325" b="0">
                <a:solidFill>
                  <a:srgbClr val="A94D16"/>
                </a:solidFill>
                <a:latin typeface="Arial"/>
                <a:ea typeface="Arial"/>
                <a:cs typeface="Arial"/>
              </a:rPr>
              <a:t>V₀: Q = 60 − 6P</a:t>
            </a:r>
          </a:p>
          <a:p xmlns:a="http://schemas.openxmlformats.org/drawingml/2006/main">
            <a:pPr algn="l">
              <a:defRPr sz="2325" b="0">
                <a:solidFill>
                  <a:srgbClr val="A94D16"/>
                </a:solidFill>
                <a:latin typeface="Arial"/>
                <a:ea typeface="Arial"/>
                <a:cs typeface="Arial"/>
              </a:defRPr>
            </a:pPr>
            <a:r>
              <a:rPr sz="2325" b="0">
                <a:solidFill>
                  <a:srgbClr val="A94D16"/>
                </a:solidFill>
                <a:latin typeface="Arial"/>
                <a:ea typeface="Arial"/>
                <a:cs typeface="Arial"/>
              </a:rPr>
              <a:t>V₁: Q = 72 − 6P</a:t>
            </a:r>
          </a:p>
          <a:p xmlns:a="http://schemas.openxmlformats.org/drawingml/2006/main">
            <a:r>
              <a:t/>
            </a:r>
          </a:p>
          <a:p xmlns:a="http://schemas.openxmlformats.org/drawingml/2006/main">
            <a:pPr algn="l">
              <a:defRPr sz="2325" b="0">
                <a:solidFill>
                  <a:srgbClr val="A94D16"/>
                </a:solidFill>
                <a:latin typeface="Arial"/>
                <a:ea typeface="Arial"/>
                <a:cs typeface="Arial"/>
              </a:defRPr>
            </a:pPr>
            <a:r>
              <a:rPr sz="2325" b="0">
                <a:solidFill>
                  <a:srgbClr val="A94D16"/>
                </a:solidFill>
                <a:latin typeface="Arial"/>
                <a:ea typeface="Arial"/>
                <a:cs typeface="Arial"/>
              </a:rPr>
              <a:t>Bij P = 6:</a:t>
            </a:r>
          </a:p>
          <a:p xmlns:a="http://schemas.openxmlformats.org/drawingml/2006/main">
            <a:pPr algn="l">
              <a:defRPr sz="2325" b="0">
                <a:solidFill>
                  <a:srgbClr val="A94D16"/>
                </a:solidFill>
                <a:latin typeface="Arial"/>
                <a:ea typeface="Arial"/>
                <a:cs typeface="Arial"/>
              </a:defRPr>
            </a:pPr>
            <a:r>
              <a:rPr sz="2325" b="0">
                <a:solidFill>
                  <a:srgbClr val="A94D16"/>
                </a:solidFill>
                <a:latin typeface="Arial"/>
                <a:ea typeface="Arial"/>
                <a:cs typeface="Arial"/>
              </a:rPr>
              <a:t>24 naar 36</a:t>
            </a:r>
          </a:p>
        </p:txBody>
      </p:sp>
    </p:spTree>
    <p:extLst>
      <p:ext uri="{BB962C8B-B14F-4D97-AF65-F5344CB8AC3E}">
        <p14:creationId xmlns:p14="http://schemas.microsoft.com/office/powerpoint/2010/main" val="1860298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7e · Gelijk totaal, twee effecten">
            <a:extLst xmlns:a="http://schemas.openxmlformats.org/drawingml/2006/main">
              <a:ext uri="{FF2B5EF4-FFF2-40B4-BE49-F238E27FC236}">
                <a16:creationId xmlns:a16="http://schemas.microsoft.com/office/drawing/2014/main" id="{DEABDE19-31B5-4B24-9FD0-6B1F66586DFE}"/>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37e · Gelijk totaal, twee effecten</a:t>
            </a:r>
          </a:p>
        </p:txBody>
      </p:sp>
      <p:sp>
        <p:nvSpPr>
          <p:cNvPr id="2" name="">
            <a:extLst xmlns:a="http://schemas.openxmlformats.org/drawingml/2006/main">
              <a:ext uri="{FF2B5EF4-FFF2-40B4-BE49-F238E27FC236}">
                <a16:creationId xmlns:a16="http://schemas.microsoft.com/office/drawing/2014/main" id="{009086C9-9B96-4410-92AB-C69ED02C5C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303401A6-D3B9-45CE-B856-AFE1FBD7757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20">
            <a:extLst xmlns:a="http://schemas.openxmlformats.org/drawingml/2006/main">
              <a:ext uri="{FF2B5EF4-FFF2-40B4-BE49-F238E27FC236}">
                <a16:creationId xmlns:a16="http://schemas.microsoft.com/office/drawing/2014/main" id="{9B2BF00C-4C5B-47C3-A571-20AC15FD2F9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Q nieuw = 72 − 6 × 6 = 36 halfuren per week">
            <a:extLst xmlns:a="http://schemas.openxmlformats.org/drawingml/2006/main">
              <a:ext uri="{FF2B5EF4-FFF2-40B4-BE49-F238E27FC236}">
                <a16:creationId xmlns:a16="http://schemas.microsoft.com/office/drawing/2014/main" id="{B5DFF130-3BF7-4420-8ACB-133D725390BD}"/>
              </a:ext>
            </a:extLst>
          </p:cNvPr>
          <p:cNvSpPr>
            <a:spLocks xmlns:a="http://schemas.openxmlformats.org/drawingml/2006/main" noGrp="1"/>
          </p:cNvSpPr>
          <p:nvPr/>
        </p:nvSpPr>
        <p:spPr>
          <a:xfrm xmlns:a="http://schemas.openxmlformats.org/drawingml/2006/main">
            <a:off x="571500" y="20002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Q nieuw = 72 − 6 × 6 = 36 halfuren per week</a:t>
            </a:r>
          </a:p>
        </p:txBody>
      </p:sp>
      <p:graphicFrame>
        <p:nvGraphicFramePr>
          <p:cNvPr id="13" name=""/>
          <p:cNvGraphicFramePr/>
          <p:nvPr/>
        </p:nvGraphicFramePr>
        <p:xfrm>
          <a:off xmlns:a="http://schemas.openxmlformats.org/drawingml/2006/main" x="571500" y="3409950"/>
          <a:ext xmlns:a="http://schemas.openxmlformats.org/drawingml/2006/main" cx="14097000" cy="2895600"/>
        </p:xfrm>
        <a:graphic xmlns:a="http://schemas.openxmlformats.org/drawingml/2006/main">
          <a:graphicData uri="http://schemas.openxmlformats.org/drawingml/2006/table">
            <a:tbl>
              <a:tblPr/>
              <a:tblGrid>
                <a:gridCol w="9144000"/>
                <a:gridCol w="4953000"/>
              </a:tblGrid>
              <a:tr h="723900">
                <a:tc>
                  <a:txBody>
                    <a:bodyPr lIns="171450" tIns="95250" rIns="152400" bIns="95250"/>
                    <a:lstStyle/>
                    <a:p>
                      <a:r>
                        <a:rPr sz="2550"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Verandering (halfuren per week)</a:t>
                      </a:r>
                    </a:p>
                  </a:txBody>
                  <a:tcPr marL="91440" marR="91440" marT="45720" marB="45720" anchor="ctr">
                    <a:solidFill>
                      <a:srgbClr val="183247"/>
                    </a:solidFill>
                  </a:tcPr>
                </a:tc>
              </a:tr>
              <a:tr h="723900">
                <a:tc>
                  <a:txBody>
                    <a:bodyPr lIns="171450" tIns="95250" rIns="152400" bIns="95250"/>
                    <a:lstStyle/>
                    <a:p>
                      <a:r>
                        <a:rPr sz="2550" b="0">
                          <a:solidFill>
                            <a:srgbClr val="183247"/>
                          </a:solidFill>
                          <a:latin typeface="Arial"/>
                          <a:ea typeface="Arial"/>
                          <a:cs typeface="Arial"/>
                        </a:rPr>
                        <a:t>Alleen hogere tafeltennisprijs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−12</a:t>
                      </a:r>
                    </a:p>
                  </a:txBody>
                  <a:tcPr marL="91440" marR="91440" marT="45720" marB="45720" anchor="ctr">
                    <a:solidFill>
                      <a:srgbClr val="FFFFFF"/>
                    </a:solidFill>
                  </a:tcPr>
                </a:tc>
              </a:tr>
              <a:tr h="723900">
                <a:tc>
                  <a:txBody>
                    <a:bodyPr lIns="171450" tIns="95250" rIns="152400" bIns="95250"/>
                    <a:lstStyle/>
                    <a:p>
                      <a:r>
                        <a:rPr sz="2550" b="0">
                          <a:solidFill>
                            <a:srgbClr val="183247"/>
                          </a:solidFill>
                          <a:latin typeface="Arial"/>
                          <a:ea typeface="Arial"/>
                          <a:cs typeface="Arial"/>
                        </a:rPr>
                        <a:t>Hogere prijs van substituut bowlen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a:t>
                      </a:r>
                    </a:p>
                  </a:txBody>
                  <a:tcPr marL="91440" marR="91440" marT="45720" marB="45720" anchor="ctr">
                    <a:solidFill>
                      <a:srgbClr val="EFF4F7"/>
                    </a:solidFill>
                  </a:tcPr>
                </a:tc>
              </a:tr>
              <a:tr h="723900">
                <a:tc>
                  <a:txBody>
                    <a:bodyPr lIns="171450" tIns="95250" rIns="152400" bIns="95250"/>
                    <a:lstStyle/>
                    <a:p>
                      <a:r>
                        <a:rPr sz="2550" b="0">
                          <a:solidFill>
                            <a:srgbClr val="183247"/>
                          </a:solidFill>
                          <a:latin typeface="Arial"/>
                          <a:ea typeface="Arial"/>
                          <a:cs typeface="Arial"/>
                        </a:rPr>
                        <a:t>Netto</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De uitspraak is onjuist: de effecten heffen elka">
            <a:extLst xmlns:a="http://schemas.openxmlformats.org/drawingml/2006/main">
              <a:ext uri="{FF2B5EF4-FFF2-40B4-BE49-F238E27FC236}">
                <a16:creationId xmlns:a16="http://schemas.microsoft.com/office/drawing/2014/main" id="{4DD0EDB0-31CB-4266-9AEC-FAA72F3F6442}"/>
              </a:ext>
            </a:extLst>
          </p:cNvPr>
          <p:cNvSpPr>
            <a:spLocks xmlns:a="http://schemas.openxmlformats.org/drawingml/2006/main" noGrp="1"/>
          </p:cNvSpPr>
          <p:nvPr/>
        </p:nvSpPr>
        <p:spPr>
          <a:xfrm xmlns:a="http://schemas.openxmlformats.org/drawingml/2006/main">
            <a:off x="571500" y="69818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De uitspraak is onjuist: de effecten heffen elkaar precies op.</a:t>
            </a:r>
          </a:p>
        </p:txBody>
      </p:sp>
    </p:spTree>
    <p:extLst>
      <p:ext uri="{BB962C8B-B14F-4D97-AF65-F5344CB8AC3E}">
        <p14:creationId xmlns:p14="http://schemas.microsoft.com/office/powerpoint/2010/main" val="12985267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7f · Sem telt al mee">
            <a:extLst xmlns:a="http://schemas.openxmlformats.org/drawingml/2006/main">
              <a:ext uri="{FF2B5EF4-FFF2-40B4-BE49-F238E27FC236}">
                <a16:creationId xmlns:a16="http://schemas.microsoft.com/office/drawing/2014/main" id="{AEE1858A-F1CF-4875-B00F-0D75E6C0EFF9}"/>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37f · Sem telt al mee</a:t>
            </a:r>
          </a:p>
        </p:txBody>
      </p:sp>
      <p:sp>
        <p:nvSpPr>
          <p:cNvPr id="2" name="">
            <a:extLst xmlns:a="http://schemas.openxmlformats.org/drawingml/2006/main">
              <a:ext uri="{FF2B5EF4-FFF2-40B4-BE49-F238E27FC236}">
                <a16:creationId xmlns:a16="http://schemas.microsoft.com/office/drawing/2014/main" id="{20A3CAC5-AE20-44DC-AB22-79E9585E19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 Opgave 37 · Boe">
            <a:extLst xmlns:a="http://schemas.openxmlformats.org/drawingml/2006/main">
              <a:ext uri="{FF2B5EF4-FFF2-40B4-BE49-F238E27FC236}">
                <a16:creationId xmlns:a16="http://schemas.microsoft.com/office/drawing/2014/main" id="{098D9F74-A2F2-4D86-95C2-237F302060A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 · Opgave 37 · Boekpagina 80–81</a:t>
            </a:r>
          </a:p>
        </p:txBody>
      </p:sp>
      <p:sp>
        <p:nvSpPr>
          <p:cNvPr id="4" name="21">
            <a:extLst xmlns:a="http://schemas.openxmlformats.org/drawingml/2006/main">
              <a:ext uri="{FF2B5EF4-FFF2-40B4-BE49-F238E27FC236}">
                <a16:creationId xmlns:a16="http://schemas.microsoft.com/office/drawing/2014/main" id="{53BB36A9-BAB5-434D-BC7F-9A5532A94A3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257425"/>
          <a:ext xmlns:a="http://schemas.openxmlformats.org/drawingml/2006/main" cx="14097000" cy="2628900"/>
        </p:xfrm>
        <a:graphic xmlns:a="http://schemas.openxmlformats.org/drawingml/2006/main">
          <a:graphicData uri="http://schemas.openxmlformats.org/drawingml/2006/table">
            <a:tbl>
              <a:tblPr/>
              <a:tblGrid>
                <a:gridCol w="4191000"/>
                <a:gridCol w="2381250"/>
                <a:gridCol w="2762250"/>
                <a:gridCol w="2381250"/>
                <a:gridCol w="2381250"/>
              </a:tblGrid>
              <a:tr h="876300">
                <a:tc>
                  <a:txBody>
                    <a:bodyPr lIns="171450" tIns="95250" rIns="152400" bIns="95250"/>
                    <a:lstStyle/>
                    <a:p>
                      <a:r>
                        <a:rPr sz="2325" b="1">
                          <a:solidFill>
                            <a:srgbClr val="FFFFFF"/>
                          </a:solidFill>
                          <a:latin typeface="Arial"/>
                          <a:ea typeface="Arial"/>
                          <a:cs typeface="Arial"/>
                        </a:rPr>
                        <a:t>Extra halfuur</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Eerste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Tweede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Derde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Vierde</a:t>
                      </a:r>
                    </a:p>
                  </a:txBody>
                  <a:tcPr marL="91440" marR="91440" marT="45720" marB="45720" anchor="ctr">
                    <a:solidFill>
                      <a:srgbClr val="183247"/>
                    </a:solidFill>
                  </a:tcPr>
                </a:tc>
              </a:tr>
              <a:tr h="876300">
                <a:tc>
                  <a:txBody>
                    <a:bodyPr lIns="171450" tIns="95250" rIns="152400" bIns="95250"/>
                    <a:lstStyle/>
                    <a:p>
                      <a:r>
                        <a:rPr sz="2325" b="0">
                          <a:solidFill>
                            <a:srgbClr val="183247"/>
                          </a:solidFill>
                          <a:latin typeface="Arial"/>
                          <a:ea typeface="Arial"/>
                          <a:cs typeface="Arial"/>
                        </a:rPr>
                        <a:t>Betalingsbereidheid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€ 7</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€ 2</a:t>
                      </a:r>
                    </a:p>
                  </a:txBody>
                  <a:tcPr marL="91440" marR="91440" marT="45720" marB="45720" anchor="ctr">
                    <a:solidFill>
                      <a:srgbClr val="FFFFFF"/>
                    </a:solidFill>
                  </a:tcPr>
                </a:tc>
              </a:tr>
              <a:tr h="876300">
                <a:tc>
                  <a:txBody>
                    <a:bodyPr lIns="171450" tIns="95250" rIns="152400" bIns="95250"/>
                    <a:lstStyle/>
                    <a:p>
                      <a:r>
                        <a:rPr sz="2325" b="0">
                          <a:solidFill>
                            <a:srgbClr val="183247"/>
                          </a:solidFill>
                          <a:latin typeface="Arial"/>
                          <a:ea typeface="Arial"/>
                          <a:cs typeface="Arial"/>
                        </a:rPr>
                        <a:t>Bij prijs € 6</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Wel</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Wel: gelijkheid</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Niet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Niet</a:t>
                      </a:r>
                    </a:p>
                  </a:txBody>
                  <a:tcPr marL="91440" marR="91440" marT="45720" marB="45720" anchor="ctr">
                    <a:solidFill>
                      <a:srgbClr val="EFF4F7"/>
                    </a:solidFill>
                  </a:tcPr>
                </a:tc>
              </a:tr>
            </a:tbl>
          </a:graphicData>
        </a:graphic>
      </p:graphicFrame>
      <p:sp>
        <p:nvSpPr>
          <p:cNvPr id="6" name="Sem wil 2 halfuren kopen bij € 6 per halfuur.">
            <a:extLst xmlns:a="http://schemas.openxmlformats.org/drawingml/2006/main">
              <a:ext uri="{FF2B5EF4-FFF2-40B4-BE49-F238E27FC236}">
                <a16:creationId xmlns:a16="http://schemas.microsoft.com/office/drawing/2014/main" id="{82013255-9E49-475B-B9A5-DF858CF3BF96}"/>
              </a:ext>
            </a:extLst>
          </p:cNvPr>
          <p:cNvSpPr>
            <a:spLocks xmlns:a="http://schemas.openxmlformats.org/drawingml/2006/main" noGrp="1"/>
          </p:cNvSpPr>
          <p:nvPr/>
        </p:nvSpPr>
        <p:spPr>
          <a:xfrm xmlns:a="http://schemas.openxmlformats.org/drawingml/2006/main">
            <a:off x="571500" y="54673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Sem wil 2 halfuren kopen bij € 6 per halfuur.</a:t>
            </a:r>
          </a:p>
        </p:txBody>
      </p:sp>
      <p:sp>
        <p:nvSpPr>
          <p:cNvPr id="7" name="Hij zit al in groep A. Nogmaals optellen zou dub">
            <a:extLst xmlns:a="http://schemas.openxmlformats.org/drawingml/2006/main">
              <a:ext uri="{FF2B5EF4-FFF2-40B4-BE49-F238E27FC236}">
                <a16:creationId xmlns:a16="http://schemas.microsoft.com/office/drawing/2014/main" id="{42A9B06F-AA28-4B3D-BC2A-FD4B14B730B5}"/>
              </a:ext>
            </a:extLst>
          </p:cNvPr>
          <p:cNvSpPr>
            <a:spLocks xmlns:a="http://schemas.openxmlformats.org/drawingml/2006/main" noGrp="1"/>
          </p:cNvSpPr>
          <p:nvPr/>
        </p:nvSpPr>
        <p:spPr>
          <a:xfrm xmlns:a="http://schemas.openxmlformats.org/drawingml/2006/main">
            <a:off x="571500" y="685800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Hij zit al in groep A. Nogmaals optellen zou dubbeltelling zijn.</a:t>
            </a:r>
          </a:p>
        </p:txBody>
      </p:sp>
    </p:spTree>
    <p:extLst>
      <p:ext uri="{BB962C8B-B14F-4D97-AF65-F5344CB8AC3E}">
        <p14:creationId xmlns:p14="http://schemas.microsoft.com/office/powerpoint/2010/main" val="4823123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ntwoordcontrole · Wat zegt de bron?">
            <a:extLst xmlns:a="http://schemas.openxmlformats.org/drawingml/2006/main">
              <a:ext uri="{FF2B5EF4-FFF2-40B4-BE49-F238E27FC236}">
                <a16:creationId xmlns:a16="http://schemas.microsoft.com/office/drawing/2014/main" id="{3D3CCAAE-EDA1-4D24-9748-59C635336BFF}"/>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 Wat zegt de bron?</a:t>
            </a:r>
          </a:p>
        </p:txBody>
      </p:sp>
      <p:sp>
        <p:nvSpPr>
          <p:cNvPr id="2" name="">
            <a:extLst xmlns:a="http://schemas.openxmlformats.org/drawingml/2006/main">
              <a:ext uri="{FF2B5EF4-FFF2-40B4-BE49-F238E27FC236}">
                <a16:creationId xmlns:a16="http://schemas.microsoft.com/office/drawing/2014/main" id="{896EB302-4A71-4FFC-842A-1599B258B8A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1FD06FC2-769C-4FAF-8C3B-2FB97444329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22">
            <a:extLst xmlns:a="http://schemas.openxmlformats.org/drawingml/2006/main">
              <a:ext uri="{FF2B5EF4-FFF2-40B4-BE49-F238E27FC236}">
                <a16:creationId xmlns:a16="http://schemas.microsoft.com/office/drawing/2014/main" id="{A929E305-03BF-4947-A80E-0A7ED6A6E8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36 halfuren tafeltennistijd per week gevraagd">
            <a:extLst xmlns:a="http://schemas.openxmlformats.org/drawingml/2006/main">
              <a:ext uri="{FF2B5EF4-FFF2-40B4-BE49-F238E27FC236}">
                <a16:creationId xmlns:a16="http://schemas.microsoft.com/office/drawing/2014/main" id="{6FD61D90-4B44-477D-9757-71A807C7B4F7}"/>
              </a:ext>
            </a:extLst>
          </p:cNvPr>
          <p:cNvSpPr>
            <a:spLocks xmlns:a="http://schemas.openxmlformats.org/drawingml/2006/main" noGrp="1"/>
          </p:cNvSpPr>
          <p:nvPr/>
        </p:nvSpPr>
        <p:spPr>
          <a:xfrm xmlns:a="http://schemas.openxmlformats.org/drawingml/2006/main">
            <a:off x="571500" y="223837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36 halfuren tafeltennistijd per week gevraagd</a:t>
            </a:r>
          </a:p>
        </p:txBody>
      </p:sp>
      <p:sp>
        <p:nvSpPr>
          <p:cNvPr id="6" name="Bij € 6 per halfuur, na beide veranderingen,&#10;ond">
            <a:extLst xmlns:a="http://schemas.openxmlformats.org/drawingml/2006/main">
              <a:ext uri="{FF2B5EF4-FFF2-40B4-BE49-F238E27FC236}">
                <a16:creationId xmlns:a16="http://schemas.microsoft.com/office/drawing/2014/main" id="{EB9C8139-55C5-45DC-8E68-FFEA9B239C4E}"/>
              </a:ext>
            </a:extLst>
          </p:cNvPr>
          <p:cNvSpPr>
            <a:spLocks xmlns:a="http://schemas.openxmlformats.org/drawingml/2006/main" noGrp="1"/>
          </p:cNvSpPr>
          <p:nvPr/>
        </p:nvSpPr>
        <p:spPr>
          <a:xfrm xmlns:a="http://schemas.openxmlformats.org/drawingml/2006/main">
            <a:off x="571500" y="350520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Bij € 6 per halfuur, na beide veranderingen,</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onder de gegeven modelaannamen.</a:t>
            </a:r>
          </a:p>
        </p:txBody>
      </p:sp>
      <p:sp>
        <p:nvSpPr>
          <p:cNvPr id="7" name="">
            <a:extLst xmlns:a="http://schemas.openxmlformats.org/drawingml/2006/main">
              <a:ext uri="{FF2B5EF4-FFF2-40B4-BE49-F238E27FC236}">
                <a16:creationId xmlns:a16="http://schemas.microsoft.com/office/drawing/2014/main" id="{1C99A210-AD11-404D-84EE-8DF046812E8F}"/>
              </a:ext>
            </a:extLst>
          </p:cNvPr>
          <p:cNvSpPr>
            <a:spLocks xmlns:a="http://schemas.openxmlformats.org/drawingml/2006/main" noGrp="1"/>
          </p:cNvSpPr>
          <p:nvPr/>
        </p:nvSpPr>
        <p:spPr>
          <a:xfrm xmlns:a="http://schemas.openxmlformats.org/drawingml/2006/main">
            <a:off x="571500" y="5286375"/>
            <a:ext cx="14097000" cy="0"/>
          </a:xfrm>
          <a:prstGeom xmlns:a="http://schemas.openxmlformats.org/drawingml/2006/main" prst="line">
            <a:avLst/>
          </a:prstGeom>
          <a:ln xmlns:a="http://schemas.openxmlformats.org/drawingml/2006/main" w="19050">
            <a:solidFill>
              <a:srgbClr val="C6D2DB"/>
            </a:solidFill>
          </a:ln>
        </p:spPr>
      </p:sp>
      <p:sp>
        <p:nvSpPr>
          <p:cNvPr id="8" name="Aanbod en beschikbaarheid ontbreken.&#10;Feitelijke ">
            <a:extLst xmlns:a="http://schemas.openxmlformats.org/drawingml/2006/main">
              <a:ext uri="{FF2B5EF4-FFF2-40B4-BE49-F238E27FC236}">
                <a16:creationId xmlns:a16="http://schemas.microsoft.com/office/drawing/2014/main" id="{B5ED5A3E-AFDF-4A46-B7C4-87E19DD6933D}"/>
              </a:ext>
            </a:extLst>
          </p:cNvPr>
          <p:cNvSpPr>
            <a:spLocks xmlns:a="http://schemas.openxmlformats.org/drawingml/2006/main" noGrp="1"/>
          </p:cNvSpPr>
          <p:nvPr/>
        </p:nvSpPr>
        <p:spPr>
          <a:xfrm xmlns:a="http://schemas.openxmlformats.org/drawingml/2006/main">
            <a:off x="571500" y="5753100"/>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Aanbod en beschikbaarheid ontbreken.</a:t>
            </a:r>
          </a:p>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Feitelijke verkoop is hiermee niet vastgesteld.</a:t>
            </a:r>
          </a:p>
        </p:txBody>
      </p:sp>
      <p:sp>
        <p:nvSpPr>
          <p:cNvPr id="9" name="Verbeter één ontbrekende eenheid, controle of ve">
            <a:extLst xmlns:a="http://schemas.openxmlformats.org/drawingml/2006/main">
              <a:ext uri="{FF2B5EF4-FFF2-40B4-BE49-F238E27FC236}">
                <a16:creationId xmlns:a16="http://schemas.microsoft.com/office/drawing/2014/main" id="{CBFFE9CD-CB6B-4D5C-A462-A387284FC727}"/>
              </a:ext>
            </a:extLst>
          </p:cNvPr>
          <p:cNvSpPr>
            <a:spLocks xmlns:a="http://schemas.openxmlformats.org/drawingml/2006/main" noGrp="1"/>
          </p:cNvSpPr>
          <p:nvPr/>
        </p:nvSpPr>
        <p:spPr>
          <a:xfrm xmlns:a="http://schemas.openxmlformats.org/drawingml/2006/main">
            <a:off x="571500" y="75057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Verbeter één ontbrekende eenheid, controle of verklaring.</a:t>
            </a:r>
          </a:p>
        </p:txBody>
      </p:sp>
    </p:spTree>
    <p:extLst>
      <p:ext uri="{BB962C8B-B14F-4D97-AF65-F5344CB8AC3E}">
        <p14:creationId xmlns:p14="http://schemas.microsoft.com/office/powerpoint/2010/main" val="5014196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4 Gemengde opgaven">
            <a:extLst xmlns:a="http://schemas.openxmlformats.org/drawingml/2006/main">
              <a:ext uri="{FF2B5EF4-FFF2-40B4-BE49-F238E27FC236}">
                <a16:creationId xmlns:a16="http://schemas.microsoft.com/office/drawing/2014/main" id="{0B8B5EB8-C85E-42FB-B76A-B8C98DF3D826}"/>
              </a:ext>
            </a:extLst>
          </p:cNvPr>
          <p:cNvSpPr>
            <a:spLocks xmlns:a="http://schemas.openxmlformats.org/drawingml/2006/main" noGrp="1"/>
          </p:cNvSpPr>
          <p:nvPr/>
        </p:nvSpPr>
        <p:spPr>
          <a:xfrm xmlns:a="http://schemas.openxmlformats.org/drawingml/2006/main">
            <a:off x="571500" y="4000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§1.2.4 Gemengde opgaven</a:t>
            </a:r>
          </a:p>
        </p:txBody>
      </p:sp>
      <p:sp>
        <p:nvSpPr>
          <p:cNvPr id="2" name="">
            <a:extLst xmlns:a="http://schemas.openxmlformats.org/drawingml/2006/main">
              <a:ext uri="{FF2B5EF4-FFF2-40B4-BE49-F238E27FC236}">
                <a16:creationId xmlns:a16="http://schemas.microsoft.com/office/drawing/2014/main" id="{0105AFC3-0D5E-44F2-80A4-B873D47FAAD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4 Gemengde opgaven: vraag">
            <a:extLst xmlns:a="http://schemas.openxmlformats.org/drawingml/2006/main">
              <a:ext uri="{FF2B5EF4-FFF2-40B4-BE49-F238E27FC236}">
                <a16:creationId xmlns:a16="http://schemas.microsoft.com/office/drawing/2014/main" id="{1446D2DE-9C3D-448D-BFD7-0EC91B8B86A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§1.2.4 Gemengde opgaven: vraag</a:t>
            </a:r>
          </a:p>
        </p:txBody>
      </p:sp>
      <p:sp>
        <p:nvSpPr>
          <p:cNvPr id="4" name="23">
            <a:extLst xmlns:a="http://schemas.openxmlformats.org/drawingml/2006/main">
              <a:ext uri="{FF2B5EF4-FFF2-40B4-BE49-F238E27FC236}">
                <a16:creationId xmlns:a16="http://schemas.microsoft.com/office/drawing/2014/main" id="{7583650C-293C-43D2-9A53-54B9140CFC5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BC3C4936-EA64-4E5E-AA89-B12E94306341}"/>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84B0ECB0-C52E-44D2-AC9C-3E0321AE4A9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C1A8801-3EC4-4127-8ED4-903338FC9F71}"/>
              </a:ext>
            </a:extLst>
          </p:cNvPr>
          <p:cNvSpPr>
            <a:spLocks xmlns:a="http://schemas.openxmlformats.org/drawingml/2006/main" noGrp="1"/>
          </p:cNvSpPr>
          <p:nvPr/>
        </p:nvSpPr>
        <p:spPr>
          <a:xfrm xmlns:a="http://schemas.openxmlformats.org/drawingml/2006/main">
            <a:off x="571500" y="2324100"/>
            <a:ext cx="457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DE15A04-6D8D-4BEC-81A6-6A268385EBEA}"/>
              </a:ext>
            </a:extLst>
          </p:cNvPr>
          <p:cNvSpPr>
            <a:spLocks xmlns:a="http://schemas.openxmlformats.org/drawingml/2006/main" noGrp="1"/>
          </p:cNvSpPr>
          <p:nvPr/>
        </p:nvSpPr>
        <p:spPr>
          <a:xfrm xmlns:a="http://schemas.openxmlformats.org/drawingml/2006/main">
            <a:off x="1104900" y="2324100"/>
            <a:ext cx="7419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2B44C5E-854C-4D0B-B6CC-BE2DE9411346}"/>
              </a:ext>
            </a:extLst>
          </p:cNvPr>
          <p:cNvSpPr>
            <a:spLocks xmlns:a="http://schemas.openxmlformats.org/drawingml/2006/main" noGrp="1"/>
          </p:cNvSpPr>
          <p:nvPr/>
        </p:nvSpPr>
        <p:spPr>
          <a:xfrm xmlns:a="http://schemas.openxmlformats.org/drawingml/2006/main">
            <a:off x="571500" y="32861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C7116D9-4A13-4A96-BC74-49026213482B}"/>
              </a:ext>
            </a:extLst>
          </p:cNvPr>
          <p:cNvSpPr>
            <a:spLocks xmlns:a="http://schemas.openxmlformats.org/drawingml/2006/main" noGrp="1"/>
          </p:cNvSpPr>
          <p:nvPr/>
        </p:nvSpPr>
        <p:spPr>
          <a:xfrm xmlns:a="http://schemas.openxmlformats.org/drawingml/2006/main">
            <a:off x="1104900" y="32861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CF58DEA-A308-4806-8E3F-3C47413F6213}"/>
              </a:ext>
            </a:extLst>
          </p:cNvPr>
          <p:cNvSpPr>
            <a:spLocks xmlns:a="http://schemas.openxmlformats.org/drawingml/2006/main" noGrp="1"/>
          </p:cNvSpPr>
          <p:nvPr/>
        </p:nvSpPr>
        <p:spPr>
          <a:xfrm xmlns:a="http://schemas.openxmlformats.org/drawingml/2006/main">
            <a:off x="571500" y="39052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CA0E8257-AC30-4F32-B1BD-1286CA5319EA}"/>
              </a:ext>
            </a:extLst>
          </p:cNvPr>
          <p:cNvSpPr>
            <a:spLocks xmlns:a="http://schemas.openxmlformats.org/drawingml/2006/main" noGrp="1"/>
          </p:cNvSpPr>
          <p:nvPr/>
        </p:nvSpPr>
        <p:spPr>
          <a:xfrm xmlns:a="http://schemas.openxmlformats.org/drawingml/2006/main">
            <a:off x="1104900" y="39052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2608141A-BCAE-4489-9182-400FA535131E}"/>
              </a:ext>
            </a:extLst>
          </p:cNvPr>
          <p:cNvSpPr>
            <a:spLocks xmlns:a="http://schemas.openxmlformats.org/drawingml/2006/main" noGrp="1"/>
          </p:cNvSpPr>
          <p:nvPr/>
        </p:nvSpPr>
        <p:spPr>
          <a:xfrm xmlns:a="http://schemas.openxmlformats.org/drawingml/2006/main">
            <a:off x="571500" y="4619625"/>
            <a:ext cx="457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2252495-520D-455D-A14D-0BBC509C353C}"/>
              </a:ext>
            </a:extLst>
          </p:cNvPr>
          <p:cNvSpPr>
            <a:spLocks xmlns:a="http://schemas.openxmlformats.org/drawingml/2006/main" noGrp="1"/>
          </p:cNvSpPr>
          <p:nvPr/>
        </p:nvSpPr>
        <p:spPr>
          <a:xfrm xmlns:a="http://schemas.openxmlformats.org/drawingml/2006/main">
            <a:off x="1104900" y="4619625"/>
            <a:ext cx="74199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1869C3EC-207D-47E0-B2CC-ABDC7BEFABF4}"/>
              </a:ext>
            </a:extLst>
          </p:cNvPr>
          <p:cNvSpPr>
            <a:spLocks xmlns:a="http://schemas.openxmlformats.org/drawingml/2006/main" noGrp="1"/>
          </p:cNvSpPr>
          <p:nvPr/>
        </p:nvSpPr>
        <p:spPr>
          <a:xfrm xmlns:a="http://schemas.openxmlformats.org/drawingml/2006/main">
            <a:off x="571500" y="5838825"/>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BADCCC4-D54F-4D53-AD32-52845C10C74D}"/>
              </a:ext>
            </a:extLst>
          </p:cNvPr>
          <p:cNvSpPr>
            <a:spLocks xmlns:a="http://schemas.openxmlformats.org/drawingml/2006/main" noGrp="1"/>
          </p:cNvSpPr>
          <p:nvPr/>
        </p:nvSpPr>
        <p:spPr>
          <a:xfrm xmlns:a="http://schemas.openxmlformats.org/drawingml/2006/main">
            <a:off x="1104900" y="5838825"/>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B13C152-61A3-448A-8816-90277F43E44C}"/>
              </a:ext>
            </a:extLst>
          </p:cNvPr>
          <p:cNvSpPr>
            <a:spLocks xmlns:a="http://schemas.openxmlformats.org/drawingml/2006/main" noGrp="1"/>
          </p:cNvSpPr>
          <p:nvPr/>
        </p:nvSpPr>
        <p:spPr>
          <a:xfrm xmlns:a="http://schemas.openxmlformats.org/drawingml/2006/main">
            <a:off x="571500" y="66770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B6920A8-68EF-4ED5-9F6D-37FB089C7064}"/>
              </a:ext>
            </a:extLst>
          </p:cNvPr>
          <p:cNvSpPr>
            <a:spLocks xmlns:a="http://schemas.openxmlformats.org/drawingml/2006/main" noGrp="1"/>
          </p:cNvSpPr>
          <p:nvPr/>
        </p:nvSpPr>
        <p:spPr>
          <a:xfrm xmlns:a="http://schemas.openxmlformats.org/drawingml/2006/main">
            <a:off x="1104900" y="6677025"/>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DDAF8627-19D8-443B-9B90-5B0ABEC47FC0}"/>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D311597-3EC9-42A7-9EB0-A484212C41F2}"/>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38B702C-D7E9-4BCB-87E7-105633AC639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C9DAB8B-A5AD-4ADF-BD50-B89C16FB82FB}"/>
              </a:ext>
            </a:extLst>
          </p:cNvPr>
          <p:cNvSpPr>
            <a:spLocks xmlns:a="http://schemas.openxmlformats.org/drawingml/2006/main" noGrp="1"/>
          </p:cNvSpPr>
          <p:nvPr/>
        </p:nvSpPr>
        <p:spPr>
          <a:xfrm xmlns:a="http://schemas.openxmlformats.org/drawingml/2006/main">
            <a:off x="9258300" y="2324100"/>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Koopbeslissingen onderbouwen.</a:t>
            </a:r>
          </a:p>
        </p:txBody>
      </p:sp>
      <p:sp>
        <p:nvSpPr>
          <p:cNvPr id="23" name="">
            <a:extLst xmlns:a="http://schemas.openxmlformats.org/drawingml/2006/main">
              <a:ext uri="{FF2B5EF4-FFF2-40B4-BE49-F238E27FC236}">
                <a16:creationId xmlns:a16="http://schemas.microsoft.com/office/drawing/2014/main" id="{E4989287-6CFA-473C-A216-1C21343A68BB}"/>
              </a:ext>
            </a:extLst>
          </p:cNvPr>
          <p:cNvSpPr>
            <a:spLocks xmlns:a="http://schemas.openxmlformats.org/drawingml/2006/main" noGrp="1"/>
          </p:cNvSpPr>
          <p:nvPr/>
        </p:nvSpPr>
        <p:spPr>
          <a:xfrm xmlns:a="http://schemas.openxmlformats.org/drawingml/2006/main">
            <a:off x="9258300" y="37242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E6C8E47-DF6C-4650-9C76-63A66909BDDC}"/>
              </a:ext>
            </a:extLst>
          </p:cNvPr>
          <p:cNvSpPr>
            <a:spLocks xmlns:a="http://schemas.openxmlformats.org/drawingml/2006/main" noGrp="1"/>
          </p:cNvSpPr>
          <p:nvPr/>
        </p:nvSpPr>
        <p:spPr>
          <a:xfrm xmlns:a="http://schemas.openxmlformats.org/drawingml/2006/main">
            <a:off x="9258300" y="39909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02AECC8-4F9D-40F0-A781-F369D42A953D}"/>
              </a:ext>
            </a:extLst>
          </p:cNvPr>
          <p:cNvSpPr>
            <a:spLocks xmlns:a="http://schemas.openxmlformats.org/drawingml/2006/main" noGrp="1"/>
          </p:cNvSpPr>
          <p:nvPr/>
        </p:nvSpPr>
        <p:spPr>
          <a:xfrm xmlns:a="http://schemas.openxmlformats.org/drawingml/2006/main">
            <a:off x="9258300" y="4514850"/>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78 · 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p. 14 en p. 46–47</a:t>
            </a:r>
          </a:p>
        </p:txBody>
      </p:sp>
      <p:sp>
        <p:nvSpPr>
          <p:cNvPr id="26" name="">
            <a:extLst xmlns:a="http://schemas.openxmlformats.org/drawingml/2006/main">
              <a:ext uri="{FF2B5EF4-FFF2-40B4-BE49-F238E27FC236}">
                <a16:creationId xmlns:a16="http://schemas.microsoft.com/office/drawing/2014/main" id="{02DB8408-C4DA-4A26-B44C-B1AA3ABBE292}"/>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00480BD-7817-4AF4-A476-30885C15710C}"/>
              </a:ext>
            </a:extLst>
          </p:cNvPr>
          <p:cNvSpPr>
            <a:spLocks xmlns:a="http://schemas.openxmlformats.org/drawingml/2006/main" noGrp="1"/>
          </p:cNvSpPr>
          <p:nvPr/>
        </p:nvSpPr>
        <p:spPr>
          <a:xfrm xmlns:a="http://schemas.openxmlformats.org/drawingml/2006/main">
            <a:off x="9258300" y="57531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E76B756-E244-487C-B922-2A533F8F6F8A}"/>
              </a:ext>
            </a:extLst>
          </p:cNvPr>
          <p:cNvSpPr>
            <a:spLocks xmlns:a="http://schemas.openxmlformats.org/drawingml/2006/main" noGrp="1"/>
          </p:cNvSpPr>
          <p:nvPr/>
        </p:nvSpPr>
        <p:spPr>
          <a:xfrm xmlns:a="http://schemas.openxmlformats.org/drawingml/2006/main">
            <a:off x="9258300" y="6296025"/>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§1.2.4 · Opgaven 34–38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34–36 · Doel: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bonusopgave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520911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2026-10-03T14:48:55.2300000Z</dcterms:created>
  <dcterms:modified xsi:type="dcterms:W3CDTF">2026-10-03T14:48:55.2300000Z</dcterms:modified>
</coreProperties>
</file>