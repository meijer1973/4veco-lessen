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5.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6.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b9f2a5eeb3b41e2" /><Relationship Type="http://schemas.openxmlformats.org/officeDocument/2006/relationships/extended-properties" Target="/docProps/app.xml" Id="R102d593f81a94a6a" /><Relationship Type="http://schemas.openxmlformats.org/officeDocument/2006/relationships/officeDocument" Target="/ppt/presentation.xml" Id="R5d74ba69b1a0477f" /></Relationships>
</file>

<file path=ppt/presentation.xml><?xml version="1.0" encoding="utf-8"?>
<p:presentation xmlns:p="http://schemas.openxmlformats.org/presentationml/2006/main">
  <p:sldMasterIdLst>
    <p:sldMasterId xmlns:r="http://schemas.openxmlformats.org/officeDocument/2006/relationships" id="2147483648" r:id="R977d6f454d5a433f"/>
  </p:sldMasterIdLst>
  <p:notesMasterIdLst>
    <p:notesMasterId xmlns:r="http://schemas.openxmlformats.org/officeDocument/2006/relationships" r:id="R1de76ffe34414dd1"/>
  </p:notesMasterIdLst>
  <p:sldIdLst>
    <p:sldId xmlns:r="http://schemas.openxmlformats.org/officeDocument/2006/relationships" id="256" r:id="R92e72e6fa3c24b6a"/>
    <p:sldId xmlns:r="http://schemas.openxmlformats.org/officeDocument/2006/relationships" id="257" r:id="Rcac020e8413c4dbf"/>
    <p:sldId xmlns:r="http://schemas.openxmlformats.org/officeDocument/2006/relationships" id="258" r:id="R0e4d52a4e62b4585"/>
    <p:sldId xmlns:r="http://schemas.openxmlformats.org/officeDocument/2006/relationships" id="259" r:id="R276202365c3243ff"/>
    <p:sldId xmlns:r="http://schemas.openxmlformats.org/officeDocument/2006/relationships" id="260" r:id="Rf5c58d0ac7cc421d"/>
    <p:sldId xmlns:r="http://schemas.openxmlformats.org/officeDocument/2006/relationships" id="261" r:id="Rc40a0decaf2942e7"/>
    <p:sldId xmlns:r="http://schemas.openxmlformats.org/officeDocument/2006/relationships" id="262" r:id="R7ff63aaa30eb4f0e"/>
    <p:sldId xmlns:r="http://schemas.openxmlformats.org/officeDocument/2006/relationships" id="263" r:id="R0dc427d3b586498e"/>
    <p:sldId xmlns:r="http://schemas.openxmlformats.org/officeDocument/2006/relationships" id="264" r:id="R30a85160971241e2"/>
    <p:sldId xmlns:r="http://schemas.openxmlformats.org/officeDocument/2006/relationships" id="265" r:id="R8330dde7d24f4f84"/>
    <p:sldId xmlns:r="http://schemas.openxmlformats.org/officeDocument/2006/relationships" id="266" r:id="R153e5cb0df504b65"/>
    <p:sldId xmlns:r="http://schemas.openxmlformats.org/officeDocument/2006/relationships" id="267" r:id="R9cd446dbd2c74178"/>
    <p:sldId xmlns:r="http://schemas.openxmlformats.org/officeDocument/2006/relationships" id="268" r:id="Re0bf4da016034953"/>
    <p:sldId xmlns:r="http://schemas.openxmlformats.org/officeDocument/2006/relationships" id="269" r:id="Re64464300224448a"/>
    <p:sldId xmlns:r="http://schemas.openxmlformats.org/officeDocument/2006/relationships" id="270" r:id="R509d0a82f2bb4fde"/>
    <p:sldId xmlns:r="http://schemas.openxmlformats.org/officeDocument/2006/relationships" id="271" r:id="R42a964da359c4f23"/>
    <p:sldId xmlns:r="http://schemas.openxmlformats.org/officeDocument/2006/relationships" id="272" r:id="Rf382da66fe43440c"/>
    <p:sldId xmlns:r="http://schemas.openxmlformats.org/officeDocument/2006/relationships" id="273" r:id="Rde755d433ecd4de6"/>
    <p:sldId xmlns:r="http://schemas.openxmlformats.org/officeDocument/2006/relationships" id="274" r:id="Ra67d41afef3340f9"/>
    <p:sldId xmlns:r="http://schemas.openxmlformats.org/officeDocument/2006/relationships" id="275" r:id="R6c2d58e3e26a446e"/>
    <p:sldId xmlns:r="http://schemas.openxmlformats.org/officeDocument/2006/relationships" id="276" r:id="R6dcc415ef605414e"/>
    <p:sldId xmlns:r="http://schemas.openxmlformats.org/officeDocument/2006/relationships" id="277" r:id="R21a68ff81a824e9d"/>
    <p:sldId xmlns:r="http://schemas.openxmlformats.org/officeDocument/2006/relationships" id="278" r:id="Rae912f4c6f954077"/>
    <p:sldId xmlns:r="http://schemas.openxmlformats.org/officeDocument/2006/relationships" id="279" r:id="R98074d638157497a"/>
    <p:sldId xmlns:r="http://schemas.openxmlformats.org/officeDocument/2006/relationships" id="280" r:id="R2a0ade30d7a2460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e495092fb54edd" /><Relationship Type="http://schemas.openxmlformats.org/officeDocument/2006/relationships/slideMaster" Target="/ppt/slideMasters/slideMaster1.xml" Id="R977d6f454d5a433f" /><Relationship Type="http://schemas.openxmlformats.org/officeDocument/2006/relationships/notesMaster" Target="/ppt/notesMasters/notesMaster1.xml" Id="R1de76ffe34414dd1" /><Relationship Type="http://schemas.openxmlformats.org/officeDocument/2006/relationships/presProps" Target="/ppt/presProps.xml" Id="R11cc293aac8c4ff6" /><Relationship Type="http://schemas.openxmlformats.org/officeDocument/2006/relationships/tableStyles" Target="/ppt/tableStyles.xml" Id="Rfce2611e6f074b2e" /><Relationship Type="http://schemas.openxmlformats.org/officeDocument/2006/relationships/slide" Target="/ppt/slides/slide1.xml" Id="R92e72e6fa3c24b6a" /><Relationship Type="http://schemas.openxmlformats.org/officeDocument/2006/relationships/slide" Target="/ppt/slides/slide2.xml" Id="Rcac020e8413c4dbf" /><Relationship Type="http://schemas.openxmlformats.org/officeDocument/2006/relationships/slide" Target="/ppt/slides/slide3.xml" Id="R0e4d52a4e62b4585" /><Relationship Type="http://schemas.openxmlformats.org/officeDocument/2006/relationships/slide" Target="/ppt/slides/slide4.xml" Id="R276202365c3243ff" /><Relationship Type="http://schemas.openxmlformats.org/officeDocument/2006/relationships/slide" Target="/ppt/slides/slide5.xml" Id="Rf5c58d0ac7cc421d" /><Relationship Type="http://schemas.openxmlformats.org/officeDocument/2006/relationships/slide" Target="/ppt/slides/slide6.xml" Id="Rc40a0decaf2942e7" /><Relationship Type="http://schemas.openxmlformats.org/officeDocument/2006/relationships/slide" Target="/ppt/slides/slide7.xml" Id="R7ff63aaa30eb4f0e" /><Relationship Type="http://schemas.openxmlformats.org/officeDocument/2006/relationships/slide" Target="/ppt/slides/slide8.xml" Id="R0dc427d3b586498e" /><Relationship Type="http://schemas.openxmlformats.org/officeDocument/2006/relationships/slide" Target="/ppt/slides/slide9.xml" Id="R30a85160971241e2" /><Relationship Type="http://schemas.openxmlformats.org/officeDocument/2006/relationships/slide" Target="/ppt/slides/slide10.xml" Id="R8330dde7d24f4f84" /><Relationship Type="http://schemas.openxmlformats.org/officeDocument/2006/relationships/slide" Target="/ppt/slides/slide11.xml" Id="R153e5cb0df504b65" /><Relationship Type="http://schemas.openxmlformats.org/officeDocument/2006/relationships/slide" Target="/ppt/slides/slide12.xml" Id="R9cd446dbd2c74178" /><Relationship Type="http://schemas.openxmlformats.org/officeDocument/2006/relationships/slide" Target="/ppt/slides/slide13.xml" Id="Re0bf4da016034953" /><Relationship Type="http://schemas.openxmlformats.org/officeDocument/2006/relationships/slide" Target="/ppt/slides/slide14.xml" Id="Re64464300224448a" /><Relationship Type="http://schemas.openxmlformats.org/officeDocument/2006/relationships/slide" Target="/ppt/slides/slide15.xml" Id="R509d0a82f2bb4fde" /><Relationship Type="http://schemas.openxmlformats.org/officeDocument/2006/relationships/slide" Target="/ppt/slides/slide16.xml" Id="R42a964da359c4f23" /><Relationship Type="http://schemas.openxmlformats.org/officeDocument/2006/relationships/slide" Target="/ppt/slides/slide17.xml" Id="Rf382da66fe43440c" /><Relationship Type="http://schemas.openxmlformats.org/officeDocument/2006/relationships/slide" Target="/ppt/slides/slide18.xml" Id="Rde755d433ecd4de6" /><Relationship Type="http://schemas.openxmlformats.org/officeDocument/2006/relationships/slide" Target="/ppt/slides/slide19.xml" Id="Ra67d41afef3340f9" /><Relationship Type="http://schemas.openxmlformats.org/officeDocument/2006/relationships/slide" Target="/ppt/slides/slide20.xml" Id="R6c2d58e3e26a446e" /><Relationship Type="http://schemas.openxmlformats.org/officeDocument/2006/relationships/slide" Target="/ppt/slides/slide21.xml" Id="R6dcc415ef605414e" /><Relationship Type="http://schemas.openxmlformats.org/officeDocument/2006/relationships/slide" Target="/ppt/slides/slide22.xml" Id="R21a68ff81a824e9d" /><Relationship Type="http://schemas.openxmlformats.org/officeDocument/2006/relationships/slide" Target="/ppt/slides/slide23.xml" Id="Rae912f4c6f954077" /><Relationship Type="http://schemas.openxmlformats.org/officeDocument/2006/relationships/slide" Target="/ppt/slides/slide24.xml" Id="R98074d638157497a" /><Relationship Type="http://schemas.openxmlformats.org/officeDocument/2006/relationships/slide" Target="/ppt/slides/slide25.xml" Id="R2a0ade30d7a246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c196da608340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aa0c6d4d4d4cd3" /><Relationship Type="http://schemas.openxmlformats.org/officeDocument/2006/relationships/notesMaster" Target="/ppt/notesMasters/notesMaster1.xml" Id="Rc6b9de703c6b4f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b721da7ad8432d" /><Relationship Type="http://schemas.openxmlformats.org/officeDocument/2006/relationships/notesMaster" Target="/ppt/notesMasters/notesMaster1.xml" Id="Rc12701f4592941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6763103b65491d" /><Relationship Type="http://schemas.openxmlformats.org/officeDocument/2006/relationships/notesMaster" Target="/ppt/notesMasters/notesMaster1.xml" Id="Rabb5fc53c43145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04245b04314083" /><Relationship Type="http://schemas.openxmlformats.org/officeDocument/2006/relationships/notesMaster" Target="/ppt/notesMasters/notesMaster1.xml" Id="Rc8ed540d61bc4b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60de2180f84bc8" /><Relationship Type="http://schemas.openxmlformats.org/officeDocument/2006/relationships/notesMaster" Target="/ppt/notesMasters/notesMaster1.xml" Id="R4ebafd4cb74a41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a3cf1b9f7d4fc6" /><Relationship Type="http://schemas.openxmlformats.org/officeDocument/2006/relationships/notesMaster" Target="/ppt/notesMasters/notesMaster1.xml" Id="Re452de804d6f41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6a127b37d944ab" /><Relationship Type="http://schemas.openxmlformats.org/officeDocument/2006/relationships/notesMaster" Target="/ppt/notesMasters/notesMaster1.xml" Id="R5ae8a88c745d45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46f823650e41a3" /><Relationship Type="http://schemas.openxmlformats.org/officeDocument/2006/relationships/notesMaster" Target="/ppt/notesMasters/notesMaster1.xml" Id="R6d28f9473de141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a7d78246f849fb" /><Relationship Type="http://schemas.openxmlformats.org/officeDocument/2006/relationships/notesMaster" Target="/ppt/notesMasters/notesMaster1.xml" Id="R55535ff05d8242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9812f675ca4a47" /><Relationship Type="http://schemas.openxmlformats.org/officeDocument/2006/relationships/notesMaster" Target="/ppt/notesMasters/notesMaster1.xml" Id="Reec72b725cbc44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09db4a266848c2" /><Relationship Type="http://schemas.openxmlformats.org/officeDocument/2006/relationships/notesMaster" Target="/ppt/notesMasters/notesMaster1.xml" Id="R4d9cbe15a58740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d75f9ad2a34f61" /><Relationship Type="http://schemas.openxmlformats.org/officeDocument/2006/relationships/notesMaster" Target="/ppt/notesMasters/notesMaster1.xml" Id="R487b907256cc4d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e46de86a2a4aee" /><Relationship Type="http://schemas.openxmlformats.org/officeDocument/2006/relationships/notesMaster" Target="/ppt/notesMasters/notesMaster1.xml" Id="R586aa79aad8d4d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24e64a3ed04612" /><Relationship Type="http://schemas.openxmlformats.org/officeDocument/2006/relationships/notesMaster" Target="/ppt/notesMasters/notesMaster1.xml" Id="Rf40bb5e5286944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67be7a29684b8f" /><Relationship Type="http://schemas.openxmlformats.org/officeDocument/2006/relationships/notesMaster" Target="/ppt/notesMasters/notesMaster1.xml" Id="R735030476a254b8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74b702c59c4efb" /><Relationship Type="http://schemas.openxmlformats.org/officeDocument/2006/relationships/notesMaster" Target="/ppt/notesMasters/notesMaster1.xml" Id="R518c0fdd20fc46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2c3b1dfa6241e3" /><Relationship Type="http://schemas.openxmlformats.org/officeDocument/2006/relationships/notesMaster" Target="/ppt/notesMasters/notesMaster1.xml" Id="R84e3cb2adee241d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483d689c284a8a" /><Relationship Type="http://schemas.openxmlformats.org/officeDocument/2006/relationships/notesMaster" Target="/ppt/notesMasters/notesMaster1.xml" Id="R7e93daac434d4d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9e1688498c843bf" /><Relationship Type="http://schemas.openxmlformats.org/officeDocument/2006/relationships/notesMaster" Target="/ppt/notesMasters/notesMaster1.xml" Id="Ra74685004d0d428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58960160d4143d2" /><Relationship Type="http://schemas.openxmlformats.org/officeDocument/2006/relationships/notesMaster" Target="/ppt/notesMasters/notesMaster1.xml" Id="R9ee5e03f262848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15dabad18e949ae" /><Relationship Type="http://schemas.openxmlformats.org/officeDocument/2006/relationships/notesMaster" Target="/ppt/notesMasters/notesMaster1.xml" Id="R8c0e509d7e9d4ea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9ee338e612945ac" /><Relationship Type="http://schemas.openxmlformats.org/officeDocument/2006/relationships/notesMaster" Target="/ppt/notesMasters/notesMaster1.xml" Id="Rbad06947a01e46d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81a96b6580443c" /><Relationship Type="http://schemas.openxmlformats.org/officeDocument/2006/relationships/notesMaster" Target="/ppt/notesMasters/notesMaster1.xml" Id="R9679fe665aac437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bddf7c9ed194322" /><Relationship Type="http://schemas.openxmlformats.org/officeDocument/2006/relationships/notesMaster" Target="/ppt/notesMasters/notesMaster1.xml" Id="R05e8270bdd71492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d03197d55b24b69" /><Relationship Type="http://schemas.openxmlformats.org/officeDocument/2006/relationships/notesMaster" Target="/ppt/notesMasters/notesMaster1.xml" Id="Rb826878f67194d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herken je al, en waar heb je theorie bij nodig?</a:t>
            </a:r>
          </a:p>
          <a:p xmlns:a="http://schemas.openxmlformats.org/drawingml/2006/main">
            <a:r>
              <a:rPr sz="1400"/>
              <a:t/>
            </a:r>
          </a:p>
          <a:p xmlns:a="http://schemas.openxmlformats.org/drawingml/2006/main">
            <a:r>
              <a:rPr sz="1400"/>
              <a:t>Uitleg: Laat de dia staan tijdens startopdracht. Start 12–13 staat op p. 62. Basis 14 op p. 62, 15 op p. 63 en 16 op p. 64. Zelfstandig 17 op p. 64 en 18 op p. 65. Doelopgave 19 staat volledig op p. 66. Huiswerk: 14, 15, 16, 17, 18 en 19 maken en nakijken. Bonus 20 en herhaling 21–22 zijn extra. Start 12 herhaalt (nieuw − oud) / oud × 100% van p. 14 en invullen uit §1.2.1 p. 48. Herinner zo nodig aan haakjes en het minteken bij daling. Start 13 gebruikt het nieuwe onderscheid tussen bewegen en verschuiven. Laat leerlingen daarvoor p. 58–59 openen, de oorzaak in de opgave onderstrepen en bij de passende definitie zoeken. Een eerste poging met steun is een verkenning, geen bewijs van beheersing. Keer vóór het basiswerk naar 13 terug: laat de leerling de oorzaak en verandering opnieuw benoemen en vraag waarom de lijn gelijk blijft. De vorige paragraaf leerde q, P, invullen, snijpunten en (q; P) op p. 48–49. Deze les gaat naar groepsvraag Q, zonder al individuele vragen op te tellen. De complete route hoeft niet in één les af.</a:t>
            </a:r>
          </a:p>
          <a:p xmlns:a="http://schemas.openxmlformats.org/drawingml/2006/main">
            <a:r>
              <a:rPr sz="1400"/>
              <a:t/>
            </a:r>
          </a:p>
          <a:p xmlns:a="http://schemas.openxmlformats.org/drawingml/2006/main">
            <a:r>
              <a:rPr sz="1400"/>
              <a:t>Misvatting: Hoofdstukpagina 18 is gedrukte boekpagina 62. De boekeditie en de gedrukte voetregels zijn gecontroleerd.</a:t>
            </a:r>
          </a:p>
          <a:p xmlns:a="http://schemas.openxmlformats.org/drawingml/2006/main">
            <a:r>
              <a:rPr sz="1400"/>
              <a:t/>
            </a:r>
          </a:p>
          <a:p xmlns:a="http://schemas.openxmlformats.org/drawingml/2006/main">
            <a:r>
              <a:rPr sz="1400"/>
              <a:t>Overgang: Ga verder wanneer de klas klaar is voor de volgende lesfase.</a:t>
            </a:r>
          </a:p>
          <a:p xmlns:a="http://schemas.openxmlformats.org/drawingml/2006/main">
            <a:r>
              <a:rPr sz="1400"/>
              <a:t/>
            </a:r>
          </a:p>
          <a:p xmlns:a="http://schemas.openxmlformats.org/drawingml/2006/main">
            <a:r>
              <a:rPr sz="1400"/>
              <a:t>Bron: Boek 1, tweede editie 2026, gedrukte boekpagina 14, 48–49, 58–66.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de horizontale as van een vraaggrafiek?</a:t>
            </a:r>
          </a:p>
          <a:p xmlns:a="http://schemas.openxmlformats.org/drawingml/2006/main">
            <a:r>
              <a:rPr sz="1400"/>
              <a:t/>
            </a:r>
          </a:p>
          <a:p xmlns:a="http://schemas.openxmlformats.org/drawingml/2006/main">
            <a:r>
              <a:rPr sz="1400"/>
              <a:t>Uitleg: De doelen bereiden op opgave 19 voor: invullen, specifieke factor benoemen, V₁ en A/B/C tekenen, netto-effect berekenen en een foute verklaring weerleggen. Verbind de bekende coördinatenvolgorde (q; P) met groepsvraag (Q; P). q hoort bij één koper, Q bij de groep. Het optellen van kopers komt pas in §1.2.3.</a:t>
            </a:r>
          </a:p>
          <a:p xmlns:a="http://schemas.openxmlformats.org/drawingml/2006/main">
            <a:r>
              <a:rPr sz="1400"/>
              <a:t/>
            </a:r>
          </a:p>
          <a:p xmlns:a="http://schemas.openxmlformats.org/drawingml/2006/main">
            <a:r>
              <a:rPr sz="1400"/>
              <a:t>Misvatting: Vraag is wat kopers willen en kunnen kopen, geen vastgestelde verkoop of evenwicht.</a:t>
            </a:r>
          </a:p>
          <a:p xmlns:a="http://schemas.openxmlformats.org/drawingml/2006/main">
            <a:r>
              <a:rPr sz="1400"/>
              <a:t/>
            </a:r>
          </a:p>
          <a:p xmlns:a="http://schemas.openxmlformats.org/drawingml/2006/main">
            <a:r>
              <a:rPr sz="1400"/>
              <a:t>Overgang: Introduceer een eigen context met eigen gegevens.</a:t>
            </a:r>
          </a:p>
          <a:p xmlns:a="http://schemas.openxmlformats.org/drawingml/2006/main">
            <a:r>
              <a:rPr sz="1400"/>
              <a:t/>
            </a:r>
          </a:p>
          <a:p xmlns:a="http://schemas.openxmlformats.org/drawingml/2006/main">
            <a:r>
              <a:rPr sz="1400"/>
              <a:t>Bron: Boek 1, tweede editie 2026, gedrukte boekpagina 48–49, 58–61.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verandering betreft het onderzochte product zelf?</a:t>
            </a:r>
          </a:p>
          <a:p xmlns:a="http://schemas.openxmlformats.org/drawingml/2006/main">
            <a:r>
              <a:rPr sz="1400"/>
              <a:t/>
            </a:r>
          </a:p>
          <a:p xmlns:a="http://schemas.openxmlformats.org/drawingml/2006/main">
            <a:r>
              <a:rPr sz="1400"/>
              <a:t>Uitleg: Dit is een zelfgemaakt voorbeeld. Onderzoek de groepsvraag naar huurfietsen bij Stadfiets per dag. Scooterverhuur kan die huur volgens de veronderstelling vervangen. De effectgrootte +18 komt uit het voorbeeld en is geen algemene wet. De nieuwe lijn blijft recht tot de hoeveelheid nul wordt. De prijsstijging en de duurdere scooter gebeuren tegelijk; we bekijken ze in denkstappen.</a:t>
            </a:r>
          </a:p>
          <a:p xmlns:a="http://schemas.openxmlformats.org/drawingml/2006/main">
            <a:r>
              <a:rPr sz="1400"/>
              <a:t/>
            </a:r>
          </a:p>
          <a:p xmlns:a="http://schemas.openxmlformats.org/drawingml/2006/main">
            <a:r>
              <a:rPr sz="1400"/>
              <a:t>Misvatting: Scooterhuur en fietshuur zijn twee verschillende prijzen.</a:t>
            </a:r>
          </a:p>
          <a:p xmlns:a="http://schemas.openxmlformats.org/drawingml/2006/main">
            <a:r>
              <a:rPr sz="1400"/>
              <a:t/>
            </a:r>
          </a:p>
          <a:p xmlns:a="http://schemas.openxmlformats.org/drawingml/2006/main">
            <a:r>
              <a:rPr sz="1400"/>
              <a:t>Overgang: Begin bij de oude situatie en de bekende grafiekprocedure.</a:t>
            </a:r>
          </a:p>
          <a:p xmlns:a="http://schemas.openxmlformats.org/drawingml/2006/main">
            <a:r>
              <a:rPr sz="1400"/>
              <a:t/>
            </a:r>
          </a:p>
          <a:p xmlns:a="http://schemas.openxmlformats.org/drawingml/2006/main">
            <a:r>
              <a:rPr sz="1400"/>
              <a:t>Bron: Boek 1, tweede editie 2026, gedrukte boekpagina 58–61.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Stadfiets, de verhuurde fietsen, scooterverhuur en alle bijbehorende gegevens zijn voor deze presentatie bedacht. De boekverwijzing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in (60;10) staat horizontaal?</a:t>
            </a:r>
          </a:p>
          <a:p xmlns:a="http://schemas.openxmlformats.org/drawingml/2006/main">
            <a:r>
              <a:rPr sz="1400"/>
              <a:t/>
            </a:r>
          </a:p>
          <a:p xmlns:a="http://schemas.openxmlformats.org/drawingml/2006/main">
            <a:r>
              <a:rPr sz="1400"/>
              <a:t>Uitleg: Herhaal de tekenprocedure. P=0 geeft Q=90: (90;0). Q=0 geeft 3P=90 en P=30: (0;30). Verbind de snijpunten en zet A=(60;10) op de lijn. De assen tonen aantallen fietsen per dag en euro per fiets per dag. Alle grafieken van Stadfiets gebruiken dezelfde schalen.</a:t>
            </a:r>
          </a:p>
          <a:p xmlns:a="http://schemas.openxmlformats.org/drawingml/2006/main">
            <a:r>
              <a:rPr sz="1400"/>
              <a:t/>
            </a:r>
          </a:p>
          <a:p xmlns:a="http://schemas.openxmlformats.org/drawingml/2006/main">
            <a:r>
              <a:rPr sz="1400"/>
              <a:t>Misvatting: Een prijs boven 30 valt buiten deze oude functie; een negatieve hoeveelheid is geen vraag.</a:t>
            </a:r>
          </a:p>
          <a:p xmlns:a="http://schemas.openxmlformats.org/drawingml/2006/main">
            <a:r>
              <a:rPr sz="1400"/>
              <a:t/>
            </a:r>
          </a:p>
          <a:p xmlns:a="http://schemas.openxmlformats.org/drawingml/2006/main">
            <a:r>
              <a:rPr sz="1400"/>
              <a:t>Overgang: Verander nu alleen de eigen fietsprijs.</a:t>
            </a:r>
          </a:p>
          <a:p xmlns:a="http://schemas.openxmlformats.org/drawingml/2006/main">
            <a:r>
              <a:rPr sz="1400"/>
              <a:t/>
            </a:r>
          </a:p>
          <a:p xmlns:a="http://schemas.openxmlformats.org/drawingml/2006/main">
            <a:r>
              <a:rPr sz="1400"/>
              <a:t>Bron: Boek 1, tweede editie 2026, gedrukte boekpagina 48–49, 58.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Stadfiets, de verhuurde fietsen, scooterverhuur en alle bijbehorende gegevens zijn voor deze presentatie bedacht. De boekverwijzing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verplaatsen we het punt, maar laten we V₀ liggen?</a:t>
            </a:r>
          </a:p>
          <a:p xmlns:a="http://schemas.openxmlformats.org/drawingml/2006/main">
            <a:r>
              <a:rPr sz="1400"/>
              <a:t/>
            </a:r>
          </a:p>
          <a:p xmlns:a="http://schemas.openxmlformats.org/drawingml/2006/main">
            <a:r>
              <a:rPr sz="1400"/>
              <a:t>Uitleg: A wordt B langs dezelfde V₀. 48−60=−12 fietsen per dag. De overige omstandigheden houden we voor deze denkstap gelijk. B is een berekende tussensituatie, niet een afzonderlijk waargenomen gebeurtenis. De oranje pijl volgt de bestaande vraaglijn.</a:t>
            </a:r>
          </a:p>
          <a:p xmlns:a="http://schemas.openxmlformats.org/drawingml/2006/main">
            <a:r>
              <a:rPr sz="1400"/>
              <a:t/>
            </a:r>
          </a:p>
          <a:p xmlns:a="http://schemas.openxmlformats.org/drawingml/2006/main">
            <a:r>
              <a:rPr sz="1400"/>
              <a:t>Misvatting: Een hoger punt door een hogere prijs is geen verschuiving van de hele lijn.</a:t>
            </a:r>
          </a:p>
          <a:p xmlns:a="http://schemas.openxmlformats.org/drawingml/2006/main">
            <a:r>
              <a:rPr sz="1400"/>
              <a:t/>
            </a:r>
          </a:p>
          <a:p xmlns:a="http://schemas.openxmlformats.org/drawingml/2006/main">
            <a:r>
              <a:rPr sz="1400"/>
              <a:t>Overgang: Vergelijk daarna bij dezelfde prijs de oude met de nieuwe vraag.</a:t>
            </a:r>
          </a:p>
          <a:p xmlns:a="http://schemas.openxmlformats.org/drawingml/2006/main">
            <a:r>
              <a:rPr sz="1400"/>
              <a:t/>
            </a:r>
          </a:p>
          <a:p xmlns:a="http://schemas.openxmlformats.org/drawingml/2006/main">
            <a:r>
              <a:rPr sz="1400"/>
              <a:t>Bron: Boek 1, tweede editie 2026, gedrukte boekpagina 58, 61.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Stadfiets, de verhuurde fietsen, scooterverhuur en alle bijbehorende gegevens zijn voor deze presentatie bedacht. De boekverwijzing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blijft gelijk in de vergelijking van B en C?</a:t>
            </a:r>
          </a:p>
          <a:p xmlns:a="http://schemas.openxmlformats.org/drawingml/2006/main">
            <a:r>
              <a:rPr sz="1400"/>
              <a:t/>
            </a:r>
          </a:p>
          <a:p xmlns:a="http://schemas.openxmlformats.org/drawingml/2006/main">
            <a:r>
              <a:rPr sz="1400"/>
              <a:t>Uitleg: De factor is de prijs van een substituut. Sommige klanten kiezen huurfietsen in plaats van de duurdere scooters. Bij iedere onderzochte prijs zijn er 18 fietsen extra gevraagd. De horizontale vergelijking B naar C houdt de fietsprijs op 14. De nieuwe lijn geldt als Q=108−3P tot P=36. Het verschil tussen de lijnen is horizontaal 18 bij eenzelfde prijs binnen beide domeinen.</a:t>
            </a:r>
          </a:p>
          <a:p xmlns:a="http://schemas.openxmlformats.org/drawingml/2006/main">
            <a:r>
              <a:rPr sz="1400"/>
              <a:t/>
            </a:r>
          </a:p>
          <a:p xmlns:a="http://schemas.openxmlformats.org/drawingml/2006/main">
            <a:r>
              <a:rPr sz="1400"/>
              <a:t>Misvatting: Noem de prijs van een substituut, niet alleen een veranderde voorkeur.</a:t>
            </a:r>
          </a:p>
          <a:p xmlns:a="http://schemas.openxmlformats.org/drawingml/2006/main">
            <a:r>
              <a:rPr sz="1400"/>
              <a:t/>
            </a:r>
          </a:p>
          <a:p xmlns:a="http://schemas.openxmlformats.org/drawingml/2006/main">
            <a:r>
              <a:rPr sz="1400"/>
              <a:t>Overgang: Bereken nu hoe je de nieuwe lijn zelf tekent.</a:t>
            </a:r>
          </a:p>
          <a:p xmlns:a="http://schemas.openxmlformats.org/drawingml/2006/main">
            <a:r>
              <a:rPr sz="1400"/>
              <a:t/>
            </a:r>
          </a:p>
          <a:p xmlns:a="http://schemas.openxmlformats.org/drawingml/2006/main">
            <a:r>
              <a:rPr sz="1400"/>
              <a:t>Bron: Boek 1, tweede editie 2026, gedrukte boekpagina 59–61.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Stadfiets, de verhuurde fietsen, scooterverhuur en alle bijbehorende gegevens zijn voor deze presentatie bedacht. De boekverwijzing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blijft de coëfficiënt −3 gelijk?</a:t>
            </a:r>
          </a:p>
          <a:p xmlns:a="http://schemas.openxmlformats.org/drawingml/2006/main">
            <a:r>
              <a:rPr sz="1400"/>
              <a:t/>
            </a:r>
          </a:p>
          <a:p xmlns:a="http://schemas.openxmlformats.org/drawingml/2006/main">
            <a:r>
              <a:rPr sz="1400"/>
              <a:t>Uitleg: De bron zegt +18 bij elke prijs, zodat alleen het constante getal van 90 naar 108 gaat. Voor het snijpunt met de prijsas lossen we Q=0 op. De bekende algebra geeft P=36. De uitbreiding tot die nulvraag is toegestaan omdat de voorbeeldbron de nieuwe lijn expliciet recht laat blijven. Controleer C: 108−3×14=66. Het snijpunt is geen daadwerkelijk gekozen marktprijs.</a:t>
            </a:r>
          </a:p>
          <a:p xmlns:a="http://schemas.openxmlformats.org/drawingml/2006/main">
            <a:r>
              <a:rPr sz="1400"/>
              <a:t/>
            </a:r>
          </a:p>
          <a:p xmlns:a="http://schemas.openxmlformats.org/drawingml/2006/main">
            <a:r>
              <a:rPr sz="1400"/>
              <a:t>Misvatting: Tel geen 18 euro bij P op: de verandering is 18 fietsen.</a:t>
            </a:r>
          </a:p>
          <a:p xmlns:a="http://schemas.openxmlformats.org/drawingml/2006/main">
            <a:r>
              <a:rPr sz="1400"/>
              <a:t/>
            </a:r>
          </a:p>
          <a:p xmlns:a="http://schemas.openxmlformats.org/drawingml/2006/main">
            <a:r>
              <a:rPr sz="1400"/>
              <a:t>Overgang: Benoem ook de andere mogelijke vraagfactoren.</a:t>
            </a:r>
          </a:p>
          <a:p xmlns:a="http://schemas.openxmlformats.org/drawingml/2006/main">
            <a:r>
              <a:rPr sz="1400"/>
              <a:t/>
            </a:r>
          </a:p>
          <a:p xmlns:a="http://schemas.openxmlformats.org/drawingml/2006/main">
            <a:r>
              <a:rPr sz="1400"/>
              <a:t>Bron: Boek 1, tweede editie 2026, gedrukte boekpagina 48–49, 59–61.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Stadfiets, de verhuurde fietsen, scooterverhuur en alle bijbehorende gegevens zijn voor deze presentatie bedacht. De boekverwijzing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product onderzoeken we in elke rij?</a:t>
            </a:r>
          </a:p>
          <a:p xmlns:a="http://schemas.openxmlformats.org/drawingml/2006/main">
            <a:r>
              <a:rPr sz="1400"/>
              <a:t/>
            </a:r>
          </a:p>
          <a:p xmlns:a="http://schemas.openxmlformats.org/drawingml/2006/main">
            <a:r>
              <a:rPr sz="1400"/>
              <a:t>Uitleg: Dit zijn de uitlegvoorbeelden uit de theorie, geen toegewezen oefenuitwerkingen. Substituten kunnen elkaar vervangen. Bij duurdere thee kiezen sommige kopers koffie. Complementen worden samen gebruikt. Bij duurdere printers koopt men minder printers en is minder bijpassende inkt nodig. De conclusie berust op het gegeven gebruik.</a:t>
            </a:r>
          </a:p>
          <a:p xmlns:a="http://schemas.openxmlformats.org/drawingml/2006/main">
            <a:r>
              <a:rPr sz="1400"/>
              <a:t/>
            </a:r>
          </a:p>
          <a:p xmlns:a="http://schemas.openxmlformats.org/drawingml/2006/main">
            <a:r>
              <a:rPr sz="1400"/>
              <a:t>Misvatting: De printerprijs is niet de inktprijs. De relatie tussen goederen hangt af van de context.</a:t>
            </a:r>
          </a:p>
          <a:p xmlns:a="http://schemas.openxmlformats.org/drawingml/2006/main">
            <a:r>
              <a:rPr sz="1400"/>
              <a:t/>
            </a:r>
          </a:p>
          <a:p xmlns:a="http://schemas.openxmlformats.org/drawingml/2006/main">
            <a:r>
              <a:rPr sz="1400"/>
              <a:t>Overgang: Bekijk overige oorzaken, steeds bij gelijkblijvende eigen prijs.</a:t>
            </a:r>
          </a:p>
          <a:p xmlns:a="http://schemas.openxmlformats.org/drawingml/2006/main">
            <a:r>
              <a:rPr sz="1400"/>
              <a:t/>
            </a:r>
          </a:p>
          <a:p xmlns:a="http://schemas.openxmlformats.org/drawingml/2006/main">
            <a:r>
              <a:rPr sz="1400"/>
              <a:t>Bron: Boek 1, tweede editie 2026, gedrukte boekpagina 60.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alleen “inkomen stijgt” onvoldoende om de richting te kennen?</a:t>
            </a:r>
          </a:p>
          <a:p xmlns:a="http://schemas.openxmlformats.org/drawingml/2006/main">
            <a:r>
              <a:rPr sz="1400"/>
              <a:t/>
            </a:r>
          </a:p>
          <a:p xmlns:a="http://schemas.openxmlformats.org/drawingml/2006/main">
            <a:r>
              <a:rPr sz="1400"/>
              <a:t>Uitleg: Inkomen heeft geen automatische richting voor elk goed. Geef de bronvoorbeelden: vaker concerten versus minder goedkope maaltijden omdat men vaker uit eten gaat. Bij voorkeuren kan warmer weer de behoefte aan ijs vergroten. Meer kopers verandert groepsvraag Q, zonder dat één bestaande koper meer hoeft te willen. Verwachtingen raken de huidige vraag als klanten nu uitstellen. De huidige eigen prijs blijft bij deze vergelijkingen gelijk.</a:t>
            </a:r>
          </a:p>
          <a:p xmlns:a="http://schemas.openxmlformats.org/drawingml/2006/main">
            <a:r>
              <a:rPr sz="1400"/>
              <a:t/>
            </a:r>
          </a:p>
          <a:p xmlns:a="http://schemas.openxmlformats.org/drawingml/2006/main">
            <a:r>
              <a:rPr sz="1400"/>
              <a:t>Misvatting: Noem het brongegeven gedrag en verander de periode niet van nu naar volgende week.</a:t>
            </a:r>
          </a:p>
          <a:p xmlns:a="http://schemas.openxmlformats.org/drawingml/2006/main">
            <a:r>
              <a:rPr sz="1400"/>
              <a:t/>
            </a:r>
          </a:p>
          <a:p xmlns:a="http://schemas.openxmlformats.org/drawingml/2006/main">
            <a:r>
              <a:rPr sz="1400"/>
              <a:t>Overgang: Combineer de twee berekende effecten van Stadfiets.</a:t>
            </a:r>
          </a:p>
          <a:p xmlns:a="http://schemas.openxmlformats.org/drawingml/2006/main">
            <a:r>
              <a:rPr sz="1400"/>
              <a:t/>
            </a:r>
          </a:p>
          <a:p xmlns:a="http://schemas.openxmlformats.org/drawingml/2006/main">
            <a:r>
              <a:rPr sz="1400"/>
              <a:t>Bron: Boek 1, tweede editie 2026, gedrukte boekpagina 59–60.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Vergelijk je voor het netto-effect C met A of met B?</a:t>
            </a:r>
          </a:p>
          <a:p xmlns:a="http://schemas.openxmlformats.org/drawingml/2006/main">
            <a:r>
              <a:rPr sz="1400"/>
              <a:t/>
            </a:r>
          </a:p>
          <a:p xmlns:a="http://schemas.openxmlformats.org/drawingml/2006/main">
            <a:r>
              <a:rPr sz="1400"/>
              <a:t>Uitleg: De prijsstijging verkleint de gevraagde hoeveelheid en de duurdere scooter vergroot deze. Daarom werken ze elkaar tegen. Het verschuivingseffect is groter en het resultaat ligt 6 fietsen per dag boven de oude situatie. Alleen C bevat beide gelijktijdige veranderingen.</a:t>
            </a:r>
          </a:p>
          <a:p xmlns:a="http://schemas.openxmlformats.org/drawingml/2006/main">
            <a:r>
              <a:rPr sz="1400"/>
              <a:t/>
            </a:r>
          </a:p>
          <a:p xmlns:a="http://schemas.openxmlformats.org/drawingml/2006/main">
            <a:r>
              <a:rPr sz="1400"/>
              <a:t>Misvatting: +18 is alleen het verschuivingseffect. Het netto-effect is +6.</a:t>
            </a:r>
          </a:p>
          <a:p xmlns:a="http://schemas.openxmlformats.org/drawingml/2006/main">
            <a:r>
              <a:rPr sz="1400"/>
              <a:t/>
            </a:r>
          </a:p>
          <a:p xmlns:a="http://schemas.openxmlformats.org/drawingml/2006/main">
            <a:r>
              <a:rPr sz="1400"/>
              <a:t>Overgang: Controleer of de klas ook begrijpt wat zonder effectgroottes kan worden geconcludeerd.</a:t>
            </a:r>
          </a:p>
          <a:p xmlns:a="http://schemas.openxmlformats.org/drawingml/2006/main">
            <a:r>
              <a:rPr sz="1400"/>
              <a:t/>
            </a:r>
          </a:p>
          <a:p xmlns:a="http://schemas.openxmlformats.org/drawingml/2006/main">
            <a:r>
              <a:rPr sz="1400"/>
              <a:t>Bron: Boek 1, tweede editie 2026, gedrukte boekpagina 61.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Stadfiets, de verhuurde fietsen, scooterverhuur en alle bijbehorende gegevens zijn voor deze presentatie bedacht. De boekverwijzing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heb je nodig om te kiezen tussen meer en minder?</a:t>
            </a:r>
          </a:p>
          <a:p xmlns:a="http://schemas.openxmlformats.org/drawingml/2006/main">
            <a:r>
              <a:rPr sz="1400"/>
              <a:t/>
            </a:r>
          </a:p>
          <a:p xmlns:a="http://schemas.openxmlformats.org/drawingml/2006/main">
            <a:r>
              <a:rPr sz="1400"/>
              <a:t>Uitleg: Dit is een nieuwe, afzonderlijke situatie. De vorige getallen gelden hier niet. Laat leerlingen eerst het eigen-prijseffect benoemen, dan de verschuiving en daarna beoordelen of een netto-richting te geven is. Wacht met het antwoord tot de volgende dia.</a:t>
            </a:r>
          </a:p>
          <a:p xmlns:a="http://schemas.openxmlformats.org/drawingml/2006/main">
            <a:r>
              <a:rPr sz="1400"/>
              <a:t/>
            </a:r>
          </a:p>
          <a:p xmlns:a="http://schemas.openxmlformats.org/drawingml/2006/main">
            <a:r>
              <a:rPr sz="1400"/>
              <a:t>Misvatting: Het toevallige netto-resultaat van Stadfiets is geen algemene regel voor twee veranderingen.</a:t>
            </a:r>
          </a:p>
          <a:p xmlns:a="http://schemas.openxmlformats.org/drawingml/2006/main">
            <a:r>
              <a:rPr sz="1400"/>
              <a:t/>
            </a:r>
          </a:p>
          <a:p xmlns:a="http://schemas.openxmlformats.org/drawingml/2006/main">
            <a:r>
              <a:rPr sz="1400"/>
              <a:t>Overgang: Bespreek de richting van beide effecten.</a:t>
            </a:r>
          </a:p>
          <a:p xmlns:a="http://schemas.openxmlformats.org/drawingml/2006/main">
            <a:r>
              <a:rPr sz="1400"/>
              <a:t/>
            </a:r>
          </a:p>
          <a:p xmlns:a="http://schemas.openxmlformats.org/drawingml/2006/main">
            <a:r>
              <a:rPr sz="1400"/>
              <a:t>Bron: Boek 1, tweede editie 2026, gedrukte boekpagina 61.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Stadfiets, de verhuurde fietsen, scooterverhuur en alle bijbehorende gegevens zijn voor deze presentatie bedacht. De boekverwijzing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aan de conclusie als de eigen fietsprijs daalt?</a:t>
            </a:r>
          </a:p>
          <a:p xmlns:a="http://schemas.openxmlformats.org/drawingml/2006/main">
            <a:r>
              <a:rPr sz="1400"/>
              <a:t/>
            </a:r>
          </a:p>
          <a:p xmlns:a="http://schemas.openxmlformats.org/drawingml/2006/main">
            <a:r>
              <a:rPr sz="1400"/>
              <a:t>Uitleg: Tegenwerkende effecten zonder groottes geven geen bepaalde netto-richting. Als de fietsprijs in deze losse situatie daalde en de scooterhuur steeg, zouden beide effecten de hoeveelheid vergroten: dan staat meer wel vast, ook zonder precieze grootte. Dat is een korte conceptuele variant, geen uitwerking van de danslessenopgave.</a:t>
            </a:r>
          </a:p>
          <a:p xmlns:a="http://schemas.openxmlformats.org/drawingml/2006/main">
            <a:r>
              <a:rPr sz="1400"/>
              <a:t/>
            </a:r>
          </a:p>
          <a:p xmlns:a="http://schemas.openxmlformats.org/drawingml/2006/main">
            <a:r>
              <a:rPr sz="1400"/>
              <a:t>Misvatting: Zeg niet dat twee veranderingen altijd onbeslisbaar zijn. Groottes en richtingen bepalen wat je kunt concluderen.</a:t>
            </a:r>
          </a:p>
          <a:p xmlns:a="http://schemas.openxmlformats.org/drawingml/2006/main">
            <a:r>
              <a:rPr sz="1400"/>
              <a:t/>
            </a:r>
          </a:p>
          <a:p xmlns:a="http://schemas.openxmlformats.org/drawingml/2006/main">
            <a:r>
              <a:rPr sz="1400"/>
              <a:t>Overgang: Keer naar de route terug en laat start 13 opnieuw beantwoorden vóór basis 14.</a:t>
            </a:r>
          </a:p>
          <a:p xmlns:a="http://schemas.openxmlformats.org/drawingml/2006/main">
            <a:r>
              <a:rPr sz="1400"/>
              <a:t/>
            </a:r>
          </a:p>
          <a:p xmlns:a="http://schemas.openxmlformats.org/drawingml/2006/main">
            <a:r>
              <a:rPr sz="1400"/>
              <a:t>Bron: Boek 1, tweede editie 2026, gedrukte boekpagina 61, 64–65.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Uitlegvoorbeeld — niet uit het boek. Stadfiets, de verhuurde fietsen, scooterverhuur en alle bijbehorende gegevens zijn voor deze presentatie bedacht. De boekverwijzing onderbouwt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uitleg helpt je om startopgave 13 nu opnieuw te beantwoorden?</a:t>
            </a:r>
          </a:p>
          <a:p xmlns:a="http://schemas.openxmlformats.org/drawingml/2006/main">
            <a:r>
              <a:rPr sz="1400"/>
              <a:t/>
            </a:r>
          </a:p>
          <a:p xmlns:a="http://schemas.openxmlformats.org/drawingml/2006/main">
            <a:r>
              <a:rPr sz="1400"/>
              <a:t>Uitleg: Laat de dia staan tijdens zelfstandig werken. Start 12–13 staat op p. 62. Basis 14 op p. 62, 15 op p. 63 en 16 op p. 64. Zelfstandig 17 op p. 64 en 18 op p. 65. Doelopgave 19 staat volledig op p. 66. Huiswerk: 14, 15, 16, 17, 18 en 19 maken en nakijken. Bonus 20 en herhaling 21–22 zijn extra. Start 12 herhaalt (nieuw − oud) / oud × 100% van p. 14 en invullen uit §1.2.1 p. 48. Herinner zo nodig aan haakjes en het minteken bij daling. Start 13 gebruikt het nieuwe onderscheid tussen bewegen en verschuiven. Laat leerlingen daarvoor p. 58–59 openen, de oorzaak in de opgave onderstrepen en bij de passende definitie zoeken. Een eerste poging met steun is een verkenning, geen bewijs van beheersing. Keer vóór het basiswerk naar 13 terug: laat de leerling de oorzaak en verandering opnieuw benoemen en vraag waarom de lijn gelijk blijft. De vorige paragraaf leerde q, P, invullen, snijpunten en (q; P) op p. 48–49. Deze les gaat naar groepsvraag Q, zonder al individuele vragen op te tellen. De complete route hoeft niet in één les af.</a:t>
            </a:r>
          </a:p>
          <a:p xmlns:a="http://schemas.openxmlformats.org/drawingml/2006/main">
            <a:r>
              <a:rPr sz="1400"/>
              <a:t/>
            </a:r>
          </a:p>
          <a:p xmlns:a="http://schemas.openxmlformats.org/drawingml/2006/main">
            <a:r>
              <a:rPr sz="1400"/>
              <a:t>Misvatting: Hoofdstukpagina 18 is gedrukte boekpagina 62. De boekeditie en de gedrukte voetregels zijn gecontroleerd.</a:t>
            </a:r>
          </a:p>
          <a:p xmlns:a="http://schemas.openxmlformats.org/drawingml/2006/main">
            <a:r>
              <a:rPr sz="1400"/>
              <a:t/>
            </a:r>
          </a:p>
          <a:p xmlns:a="http://schemas.openxmlformats.org/drawingml/2006/main">
            <a:r>
              <a:rPr sz="1400"/>
              <a:t>Overgang: Ga verder wanneer de klas klaar is voor de volgende lesfase.</a:t>
            </a:r>
          </a:p>
          <a:p xmlns:a="http://schemas.openxmlformats.org/drawingml/2006/main">
            <a:r>
              <a:rPr sz="1400"/>
              <a:t/>
            </a:r>
          </a:p>
          <a:p xmlns:a="http://schemas.openxmlformats.org/drawingml/2006/main">
            <a:r>
              <a:rPr sz="1400"/>
              <a:t>Bron: Boek 1, tweede editie 2026, gedrukte boekpagina 14, 48–49, 58–66.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prijzen veranderen volgens de bron?</a:t>
            </a:r>
          </a:p>
          <a:p xmlns:a="http://schemas.openxmlformats.org/drawingml/2006/main">
            <a:r>
              <a:rPr sz="1400"/>
              <a:t/>
            </a:r>
          </a:p>
          <a:p xmlns:a="http://schemas.openxmlformats.org/drawingml/2006/main">
            <a:r>
              <a:rPr sz="1400"/>
              <a:t>Uitleg: Toon deze context pas nadat de doelopgave zelfstandig is geprobeerd. Alle gegevens en aannames komen uit de werkelijke boekopgave. De volgende twee dia’s tonen de beginfiguur en alle vijf deelvragen zonder antwoorden.</a:t>
            </a:r>
          </a:p>
          <a:p xmlns:a="http://schemas.openxmlformats.org/drawingml/2006/main">
            <a:r>
              <a:rPr sz="1400"/>
              <a:t/>
            </a:r>
          </a:p>
          <a:p xmlns:a="http://schemas.openxmlformats.org/drawingml/2006/main">
            <a:r>
              <a:rPr sz="1400"/>
              <a:t>Misvatting: De extra 20 bezoeken is broninformatie per gegeven prijs, niet het reeds bepaalde netto-effect.</a:t>
            </a:r>
          </a:p>
          <a:p xmlns:a="http://schemas.openxmlformats.org/drawingml/2006/main">
            <a:r>
              <a:rPr sz="1400"/>
              <a:t/>
            </a:r>
          </a:p>
          <a:p xmlns:a="http://schemas.openxmlformats.org/drawingml/2006/main">
            <a:r>
              <a:rPr sz="1400"/>
              <a:t>Overgang: Toon de beginfiguur en deelvragen a en b.</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uit de context heb je voor a nodig?</a:t>
            </a:r>
          </a:p>
          <a:p xmlns:a="http://schemas.openxmlformats.org/drawingml/2006/main">
            <a:r>
              <a:rPr sz="1400"/>
              <a:t/>
            </a:r>
          </a:p>
          <a:p xmlns:a="http://schemas.openxmlformats.org/drawingml/2006/main">
            <a:r>
              <a:rPr sz="1400"/>
              <a:t>Uitleg: De beginfiguur is als bewerkbare XY-grafiek gereconstrueerd met dezelfde schalen 0–120 en 0–24, de oorspronkelijke V₀ en correcte eenheden. Er staan nog geen antwoorden, nieuwe lijn of punten op. Houd de context bij de hand.</a:t>
            </a:r>
          </a:p>
          <a:p xmlns:a="http://schemas.openxmlformats.org/drawingml/2006/main">
            <a:r>
              <a:rPr sz="1400"/>
              <a:t/>
            </a:r>
          </a:p>
          <a:p xmlns:a="http://schemas.openxmlformats.org/drawingml/2006/main">
            <a:r>
              <a:rPr sz="1400"/>
              <a:t>Misvatting: V₀ is de vraaglijn; er is geen aanbodlijn of evenwicht in deze opgave.</a:t>
            </a:r>
          </a:p>
          <a:p xmlns:a="http://schemas.openxmlformats.org/drawingml/2006/main">
            <a:r>
              <a:rPr sz="1400"/>
              <a:t/>
            </a:r>
          </a:p>
          <a:p xmlns:a="http://schemas.openxmlformats.org/drawingml/2006/main">
            <a:r>
              <a:rPr sz="1400"/>
              <a:t>Overgang: Toon eerst ook c, d en e vóór de uitwerking.</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vraagt de opgave om uitleg naast het berekenen?</a:t>
            </a:r>
          </a:p>
          <a:p xmlns:a="http://schemas.openxmlformats.org/drawingml/2006/main">
            <a:r>
              <a:rPr sz="1400"/>
              <a:t/>
            </a:r>
          </a:p>
          <a:p xmlns:a="http://schemas.openxmlformats.org/drawingml/2006/main">
            <a:r>
              <a:rPr sz="1400"/>
              <a:t>Uitleg: Alle deelvragen a–e zijn nu aangeboden zonder oplossingen. Laat leerlingen hun eigen werk bij de hand houden. c vraagt zowel de nieuwe lijn als drie gemarkeerde punten en coördinaten. d vraagt eindhoeveelheid, netto-verandering en de richting van beide effecten. e vraagt een beargumenteerd oordeel.</a:t>
            </a:r>
          </a:p>
          <a:p xmlns:a="http://schemas.openxmlformats.org/drawingml/2006/main">
            <a:r>
              <a:rPr sz="1400"/>
              <a:t/>
            </a:r>
          </a:p>
          <a:p xmlns:a="http://schemas.openxmlformats.org/drawingml/2006/main">
            <a:r>
              <a:rPr sz="1400"/>
              <a:t>Misvatting: Een punt op de juiste lijn zonder coördinaten is geen volledig antwoord op c.</a:t>
            </a:r>
          </a:p>
          <a:p xmlns:a="http://schemas.openxmlformats.org/drawingml/2006/main">
            <a:r>
              <a:rPr sz="1400"/>
              <a:t/>
            </a:r>
          </a:p>
          <a:p xmlns:a="http://schemas.openxmlformats.org/drawingml/2006/main">
            <a:r>
              <a:rPr sz="1400"/>
              <a:t>Overgang: Begin de bespreking met alleen de eigen prijs.</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gebruiken we hier twee keer dezelfde formule?</a:t>
            </a:r>
          </a:p>
          <a:p xmlns:a="http://schemas.openxmlformats.org/drawingml/2006/main">
            <a:r>
              <a:rPr sz="1400"/>
              <a:t/>
            </a:r>
          </a:p>
          <a:p xmlns:a="http://schemas.openxmlformats.org/drawingml/2006/main">
            <a:r>
              <a:rPr sz="1400"/>
              <a:t>Uitleg: Vul eerst 8 en daarna 10 in dezelfde oude formule in. 50−60=−10 bezoeken per week. Laat leerlingen de eenheid opschrijven. De andere bioscoopprijs houden we in deze analytische stap nog gelijk.</a:t>
            </a:r>
          </a:p>
          <a:p xmlns:a="http://schemas.openxmlformats.org/drawingml/2006/main">
            <a:r>
              <a:rPr sz="1400"/>
              <a:t/>
            </a:r>
          </a:p>
          <a:p xmlns:a="http://schemas.openxmlformats.org/drawingml/2006/main">
            <a:r>
              <a:rPr sz="1400"/>
              <a:t>Misvatting: Bij B is alleen de eigen prijs verwerkt; het is niet de uiteindelijke situatie.</a:t>
            </a:r>
          </a:p>
          <a:p xmlns:a="http://schemas.openxmlformats.org/drawingml/2006/main">
            <a:r>
              <a:rPr sz="1400"/>
              <a:t/>
            </a:r>
          </a:p>
          <a:p xmlns:a="http://schemas.openxmlformats.org/drawingml/2006/main">
            <a:r>
              <a:rPr sz="1400"/>
              <a:t>Overgang: Zet A en B op V₀.</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kan punt B nog niet het eindantwoord zijn?</a:t>
            </a:r>
          </a:p>
          <a:p xmlns:a="http://schemas.openxmlformats.org/drawingml/2006/main">
            <a:r>
              <a:rPr sz="1400"/>
              <a:t/>
            </a:r>
          </a:p>
          <a:p xmlns:a="http://schemas.openxmlformats.org/drawingml/2006/main">
            <a:r>
              <a:rPr sz="1400"/>
              <a:t>Uitleg: A ligt bij Q=60 en P=8. B ligt op dezelfde oude lijn bij Q=50 en P=10. De pijl beweegt over de lijn. De puntnamen en coördinaten horen samen. B is een tegenfeitelijke denkstap bij gelijktijdige veranderingen.</a:t>
            </a:r>
          </a:p>
          <a:p xmlns:a="http://schemas.openxmlformats.org/drawingml/2006/main">
            <a:r>
              <a:rPr sz="1400"/>
              <a:t/>
            </a:r>
          </a:p>
          <a:p xmlns:a="http://schemas.openxmlformats.org/drawingml/2006/main">
            <a:r>
              <a:rPr sz="1400"/>
              <a:t>Misvatting: Een stijging van P is geen opwaartse verschuiving van de vraaglijn.</a:t>
            </a:r>
          </a:p>
          <a:p xmlns:a="http://schemas.openxmlformats.org/drawingml/2006/main">
            <a:r>
              <a:rPr sz="1400"/>
              <a:t/>
            </a:r>
          </a:p>
          <a:p xmlns:a="http://schemas.openxmlformats.org/drawingml/2006/main">
            <a:r>
              <a:rPr sz="1400"/>
              <a:t>Overgang: Benoem nu de specifieke factor achter de nieuwe lijn.</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houden we gelijk wanneer we rechtsverschuiving zeggen?</a:t>
            </a:r>
          </a:p>
          <a:p xmlns:a="http://schemas.openxmlformats.org/drawingml/2006/main">
            <a:r>
              <a:rPr sz="1400"/>
              <a:t/>
            </a:r>
          </a:p>
          <a:p xmlns:a="http://schemas.openxmlformats.org/drawingml/2006/main">
            <a:r>
              <a:rPr sz="1400"/>
              <a:t>Uitleg: De nabijgelegen bioscoop kan een bezoek aan Lumi vervangen volgens de bron. Die bioscoop wordt duurder. Kopers kiezen daardoor bij elke onderzochte Lumiprijs 20 extra Lumi-bezoeken. De specifieke factor is de prijs van een substituut, niet Lumi’s eigen prijs en niet zomaar voorkeur.</a:t>
            </a:r>
          </a:p>
          <a:p xmlns:a="http://schemas.openxmlformats.org/drawingml/2006/main">
            <a:r>
              <a:rPr sz="1400"/>
              <a:t/>
            </a:r>
          </a:p>
          <a:p xmlns:a="http://schemas.openxmlformats.org/drawingml/2006/main">
            <a:r>
              <a:rPr sz="1400"/>
              <a:t>Misvatting: Lumi wordt relatief aantrekkelijker is een tussenstap; de volledige oorzaak blijft de prijs van het substituut.</a:t>
            </a:r>
          </a:p>
          <a:p xmlns:a="http://schemas.openxmlformats.org/drawingml/2006/main">
            <a:r>
              <a:rPr sz="1400"/>
              <a:t/>
            </a:r>
          </a:p>
          <a:p xmlns:a="http://schemas.openxmlformats.org/drawingml/2006/main">
            <a:r>
              <a:rPr sz="1400"/>
              <a:t>Overgang: Stel de nieuwe functie op en bereken de snijpunten.</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er in de formule en wat blijft gelijk?</a:t>
            </a:r>
          </a:p>
          <a:p xmlns:a="http://schemas.openxmlformats.org/drawingml/2006/main">
            <a:r>
              <a:rPr sz="1400"/>
              <a:t/>
            </a:r>
          </a:p>
          <a:p xmlns:a="http://schemas.openxmlformats.org/drawingml/2006/main">
            <a:r>
              <a:rPr sz="1400"/>
              <a:t>Uitleg: Tel 20 bij de hoeveelheid op voor elke prijs. De hellingscoëfficiënt blijft −5. Het snijpunt bij nul prijs is 120 bezoeken. Los nul hoeveelheid op voor het andere snijpunt: P=24. Het boek staat voortzetten van de rechte lijn tot nul expliciet toe. Beide snijpunten passen in de gegeven figuur.</a:t>
            </a:r>
          </a:p>
          <a:p xmlns:a="http://schemas.openxmlformats.org/drawingml/2006/main">
            <a:r>
              <a:rPr sz="1400"/>
              <a:t/>
            </a:r>
          </a:p>
          <a:p xmlns:a="http://schemas.openxmlformats.org/drawingml/2006/main">
            <a:r>
              <a:rPr sz="1400"/>
              <a:t>Misvatting: +20 bezoeken betekent geen prijsstijging van 20 euro.</a:t>
            </a:r>
          </a:p>
          <a:p xmlns:a="http://schemas.openxmlformats.org/drawingml/2006/main">
            <a:r>
              <a:rPr sz="1400"/>
              <a:t/>
            </a:r>
          </a:p>
          <a:p xmlns:a="http://schemas.openxmlformats.org/drawingml/2006/main">
            <a:r>
              <a:rPr sz="1400"/>
              <a:t>Overgang: Voeg V₁ en het uiteindelijke punt C toe.</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liggen B en C op dezelfde hoogte?</a:t>
            </a:r>
          </a:p>
          <a:p xmlns:a="http://schemas.openxmlformats.org/drawingml/2006/main">
            <a:r>
              <a:rPr sz="1400"/>
              <a:t/>
            </a:r>
          </a:p>
          <a:p xmlns:a="http://schemas.openxmlformats.org/drawingml/2006/main">
            <a:r>
              <a:rPr sz="1400"/>
              <a:t>Uitleg: De figuur heeft identieke schalen aan de beginfiguur. V₁ heeft snijpunten (0;24) en (120;0). A en B blijven op V₀. C=(70;10) ligt op V₁. B naar C is horizontaal: dezelfde Lumiprijs, 20 extra bezoeken. A naar C combineert de veranderingen. Controle: 70=120−5×10.</a:t>
            </a:r>
          </a:p>
          <a:p xmlns:a="http://schemas.openxmlformats.org/drawingml/2006/main">
            <a:r>
              <a:rPr sz="1400"/>
              <a:t/>
            </a:r>
          </a:p>
          <a:p xmlns:a="http://schemas.openxmlformats.org/drawingml/2006/main">
            <a:r>
              <a:rPr sz="1400"/>
              <a:t>Misvatting: C ligt niet bij de oude prijs van 8; beide veranderingen gelden in de eindsituatie.</a:t>
            </a:r>
          </a:p>
          <a:p xmlns:a="http://schemas.openxmlformats.org/drawingml/2006/main">
            <a:r>
              <a:rPr sz="1400"/>
              <a:t/>
            </a:r>
          </a:p>
          <a:p xmlns:a="http://schemas.openxmlformats.org/drawingml/2006/main">
            <a:r>
              <a:rPr sz="1400"/>
              <a:t>Overgang: Vergelijk het einde met het echte begin.</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zou de fout zijn als je +20 als totale verandering opschrijft?</a:t>
            </a:r>
          </a:p>
          <a:p xmlns:a="http://schemas.openxmlformats.org/drawingml/2006/main">
            <a:r>
              <a:rPr sz="1400"/>
              <a:t/>
            </a:r>
          </a:p>
          <a:p xmlns:a="http://schemas.openxmlformats.org/drawingml/2006/main">
            <a:r>
              <a:rPr sz="1400"/>
              <a:t>Uitleg: De eindhoeveelheid is 70 bezoeken per week. Vergelijk met 60 in A, niet met 50 in B. De eigen prijsstijging geeft −10; het substituuteffect +20. Samen −10+20=+10. De bron geeft de groottes, dus hier kan een netto-uitkomst wel worden berekend.</a:t>
            </a:r>
          </a:p>
          <a:p xmlns:a="http://schemas.openxmlformats.org/drawingml/2006/main">
            <a:r>
              <a:rPr sz="1400"/>
              <a:t/>
            </a:r>
          </a:p>
          <a:p xmlns:a="http://schemas.openxmlformats.org/drawingml/2006/main">
            <a:r>
              <a:rPr sz="1400"/>
              <a:t>Misvatting: Een positief netto-effect betekent niet dat beide oorzaken de vraag vergroten.</a:t>
            </a:r>
          </a:p>
          <a:p xmlns:a="http://schemas.openxmlformats.org/drawingml/2006/main">
            <a:r>
              <a:rPr sz="1400"/>
              <a:t/>
            </a:r>
          </a:p>
          <a:p xmlns:a="http://schemas.openxmlformats.org/drawingml/2006/main">
            <a:r>
              <a:rPr sz="1400"/>
              <a:t>Overgang: Gebruik deze aparte effecten om de uitspraak te beoordelen.</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deel van de uitspraak is precies verkeerd?</a:t>
            </a:r>
          </a:p>
          <a:p xmlns:a="http://schemas.openxmlformats.org/drawingml/2006/main">
            <a:r>
              <a:rPr sz="1400"/>
              <a:t/>
            </a:r>
          </a:p>
          <a:p xmlns:a="http://schemas.openxmlformats.org/drawingml/2006/main">
            <a:r>
              <a:rPr sz="1400"/>
              <a:t>Uitleg: Een volledig oordeel weerlegt de oorzaak met de berekende effecten. Lumi’s hogere prijs vermindert de hoeveelheid langs V₀. De prijsstijging bij de andere bioscoop veroorzaakt V₁. De uiteindelijke stijging naar 70 bewijst dus geen omgekeerde eigen-prijsreactie.</a:t>
            </a:r>
          </a:p>
          <a:p xmlns:a="http://schemas.openxmlformats.org/drawingml/2006/main">
            <a:r>
              <a:rPr sz="1400"/>
              <a:t/>
            </a:r>
          </a:p>
          <a:p xmlns:a="http://schemas.openxmlformats.org/drawingml/2006/main">
            <a:r>
              <a:rPr sz="1400"/>
              <a:t>Misvatting: Alleen “onjuist” is onvoldoende. Gebruik getallen, grafieksoort en specifieke oorzaak.</a:t>
            </a:r>
          </a:p>
          <a:p xmlns:a="http://schemas.openxmlformats.org/drawingml/2006/main">
            <a:r>
              <a:rPr sz="1400"/>
              <a:t/>
            </a:r>
          </a:p>
          <a:p xmlns:a="http://schemas.openxmlformats.org/drawingml/2006/main">
            <a:r>
              <a:rPr sz="1400"/>
              <a:t>Overgang: Laat leerlingen ontbrekende onderdelen van hun eigen antwoord aanvullen.</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ontbreekt nog in jouw uitwerking?</a:t>
            </a:r>
          </a:p>
          <a:p xmlns:a="http://schemas.openxmlformats.org/drawingml/2006/main">
            <a:r>
              <a:rPr sz="1400"/>
              <a:t/>
            </a:r>
          </a:p>
          <a:p xmlns:a="http://schemas.openxmlformats.org/drawingml/2006/main">
            <a:r>
              <a:rPr sz="1400"/>
              <a:t>Uitleg: Controleer tegen het antwoordmodel: 60 en 50, beweging langs V₀; substituutprijs stijgt, rechts; V₁=120−5P voor 0≤P≤24, A(60;8), B(50;10), C(70;10); Qnieuw 70 en netto +10; effecten tegenwerkend; eigen prijs veroorzaakt geen verschuiving. Laat leerlingen een fout of onvolledig onderdeel herstellen.</a:t>
            </a:r>
          </a:p>
          <a:p xmlns:a="http://schemas.openxmlformats.org/drawingml/2006/main">
            <a:r>
              <a:rPr sz="1400"/>
              <a:t/>
            </a:r>
          </a:p>
          <a:p xmlns:a="http://schemas.openxmlformats.org/drawingml/2006/main">
            <a:r>
              <a:rPr sz="1400"/>
              <a:t>Misvatting: Een juiste eindhoeveelheid vervangt niet de grafiek, coördinaten of gevraagde redenering.</a:t>
            </a:r>
          </a:p>
          <a:p xmlns:a="http://schemas.openxmlformats.org/drawingml/2006/main">
            <a:r>
              <a:rPr sz="1400"/>
              <a:t/>
            </a:r>
          </a:p>
          <a:p xmlns:a="http://schemas.openxmlformats.org/drawingml/2006/main">
            <a:r>
              <a:rPr sz="1400"/>
              <a:t>Overgang: Sluit af met dezelfde huiswerkroute.</a:t>
            </a:r>
          </a:p>
          <a:p xmlns:a="http://schemas.openxmlformats.org/drawingml/2006/main">
            <a:r>
              <a:rPr sz="1400"/>
              <a:t/>
            </a:r>
          </a:p>
          <a:p xmlns:a="http://schemas.openxmlformats.org/drawingml/2006/main">
            <a:r>
              <a:rPr sz="1400"/>
              <a:t>Bron: Boek 1, tweede editie 2026, gedrukte boekpagina 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uitleg helpt je om startopgave 13 nu opnieuw te beantwoorden?</a:t>
            </a:r>
          </a:p>
          <a:p xmlns:a="http://schemas.openxmlformats.org/drawingml/2006/main">
            <a:r>
              <a:rPr sz="1400"/>
              <a:t/>
            </a:r>
          </a:p>
          <a:p xmlns:a="http://schemas.openxmlformats.org/drawingml/2006/main">
            <a:r>
              <a:rPr sz="1400"/>
              <a:t>Uitleg: Laat de dia staan tijdens afsluiting / huiswerk. Start 12–13 staat op p. 62. Basis 14 op p. 62, 15 op p. 63 en 16 op p. 64. Zelfstandig 17 op p. 64 en 18 op p. 65. Doelopgave 19 staat volledig op p. 66. Huiswerk: 14, 15, 16, 17, 18 en 19 maken en nakijken. Bonus 20 en herhaling 21–22 zijn extra. Start 12 herhaalt (nieuw − oud) / oud × 100% van p. 14 en invullen uit §1.2.1 p. 48. Herinner zo nodig aan haakjes en het minteken bij daling. Start 13 gebruikt het nieuwe onderscheid tussen bewegen en verschuiven. Laat leerlingen daarvoor p. 58–59 openen, de oorzaak in de opgave onderstrepen en bij de passende definitie zoeken. Een eerste poging met steun is een verkenning, geen bewijs van beheersing. Keer vóór het basiswerk naar 13 terug: laat de leerling de oorzaak en verandering opnieuw benoemen en vraag waarom de lijn gelijk blijft. De vorige paragraaf leerde q, P, invullen, snijpunten en (q; P) op p. 48–49. Deze les gaat naar groepsvraag Q, zonder al individuele vragen op te tellen. De complete route hoeft niet in één les af.</a:t>
            </a:r>
          </a:p>
          <a:p xmlns:a="http://schemas.openxmlformats.org/drawingml/2006/main">
            <a:r>
              <a:rPr sz="1400"/>
              <a:t/>
            </a:r>
          </a:p>
          <a:p xmlns:a="http://schemas.openxmlformats.org/drawingml/2006/main">
            <a:r>
              <a:rPr sz="1400"/>
              <a:t>Misvatting: Hoofdstukpagina 18 is gedrukte boekpagina 62. De boekeditie en de gedrukte voetregels zijn gecontroleerd.</a:t>
            </a:r>
          </a:p>
          <a:p xmlns:a="http://schemas.openxmlformats.org/drawingml/2006/main">
            <a:r>
              <a:rPr sz="1400"/>
              <a:t/>
            </a:r>
          </a:p>
          <a:p xmlns:a="http://schemas.openxmlformats.org/drawingml/2006/main">
            <a:r>
              <a:rPr sz="1400"/>
              <a:t>Overgang: Laat het huiswerk in de agenda zetten. De volgende paragraaf telt individuele vragen op.</a:t>
            </a:r>
          </a:p>
          <a:p xmlns:a="http://schemas.openxmlformats.org/drawingml/2006/main">
            <a:r>
              <a:rPr sz="1400"/>
              <a:t/>
            </a:r>
          </a:p>
          <a:p xmlns:a="http://schemas.openxmlformats.org/drawingml/2006/main">
            <a:r>
              <a:rPr sz="1400"/>
              <a:t>Bron: Boek 1, tweede editie 2026, gedrukte boekpagina 14, 48–49, 58–66. https://github.com/meijer1973/4veco-lessen/blob/173aa9a803897965c572df2c4e7f83cdb135eb1c/Boek%201%20-%20Grondslagen%2C%20vraag%20en%20aanbod/edities/tweede-editie-2026/boek/Boek_1_Compleet_Tweede_editie.pdf</a:t>
            </a:r>
          </a:p>
          <a:p xmlns:a="http://schemas.openxmlformats.org/drawingml/2006/main">
            <a:r>
              <a:rPr sz="1400"/>
              <a:t>Manuscript: https://github.com/meijer1973/4veco-lessen/blob/173aa9a803897965c572df2c4e7f83cdb135eb1c/Boek%201%20-%20Grondslagen%2C%20vraag%20en%20aanbod/edities/tweede-editie-2026/bronnen/H2/1.2.2%20Vraagfactoren%20%E2%80%93%20paragraaf.md</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02b337238a41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da100699bd449a" /><Relationship Type="http://schemas.openxmlformats.org/officeDocument/2006/relationships/slideLayout" Target="/ppt/slideLayouts/slideLayout1.xml" Id="R5b95693fa40b4a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95693fa40b4a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1c3e60752f47d2" /><Relationship Type="http://schemas.openxmlformats.org/officeDocument/2006/relationships/notesSlide" Target="/ppt/notesSlides/notesSlide1.xml" Id="R139c7ea8327d44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b44d16d6444988" /><Relationship Type="http://schemas.openxmlformats.org/officeDocument/2006/relationships/notesSlide" Target="/ppt/notesSlides/notesSlide2.xml" Id="R717b6164cf8f4c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953814769946d9" /><Relationship Type="http://schemas.openxmlformats.org/officeDocument/2006/relationships/notesSlide" Target="/ppt/notesSlides/notesSlide3.xml" Id="R15f36e01506b46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f6d9e233284bff" /><Relationship Type="http://schemas.openxmlformats.org/officeDocument/2006/relationships/chart" Target="/ppt/slides/charts/chart1.xml" Id="R14ecf08c82bd4507" /><Relationship Type="http://schemas.openxmlformats.org/officeDocument/2006/relationships/notesSlide" Target="/ppt/notesSlides/notesSlide4.xml" Id="R67a5c76e461548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34150d49924975" /><Relationship Type="http://schemas.openxmlformats.org/officeDocument/2006/relationships/chart" Target="/ppt/slides/charts/chart2.xml" Id="R8322ae1c1946413f" /><Relationship Type="http://schemas.openxmlformats.org/officeDocument/2006/relationships/notesSlide" Target="/ppt/notesSlides/notesSlide5.xml" Id="Rfc6b83811d3f4b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b9a8cba6864132" /><Relationship Type="http://schemas.openxmlformats.org/officeDocument/2006/relationships/chart" Target="/ppt/slides/charts/chart3.xml" Id="R5be419f57bd640ea" /><Relationship Type="http://schemas.openxmlformats.org/officeDocument/2006/relationships/notesSlide" Target="/ppt/notesSlides/notesSlide6.xml" Id="Rc32d0da6e25441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bee41cdda14049" /><Relationship Type="http://schemas.openxmlformats.org/officeDocument/2006/relationships/notesSlide" Target="/ppt/notesSlides/notesSlide7.xml" Id="R56a6e718f27d45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6017131bc34ed5" /><Relationship Type="http://schemas.openxmlformats.org/officeDocument/2006/relationships/notesSlide" Target="/ppt/notesSlides/notesSlide8.xml" Id="R935acd679c2f40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460509ea4404068" /><Relationship Type="http://schemas.openxmlformats.org/officeDocument/2006/relationships/notesSlide" Target="/ppt/notesSlides/notesSlide9.xml" Id="R6144478e16e741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88ae902bb44062" /><Relationship Type="http://schemas.openxmlformats.org/officeDocument/2006/relationships/notesSlide" Target="/ppt/notesSlides/notesSlide10.xml" Id="Re21009913a9940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e36fa75d6a4964" /><Relationship Type="http://schemas.openxmlformats.org/officeDocument/2006/relationships/notesSlide" Target="/ppt/notesSlides/notesSlide11.xml" Id="R3892b3bf4d764f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99f28e4c4242ff" /><Relationship Type="http://schemas.openxmlformats.org/officeDocument/2006/relationships/notesSlide" Target="/ppt/notesSlides/notesSlide12.xml" Id="R4cf2955b5c3f4a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e88ddd3de24d89" /><Relationship Type="http://schemas.openxmlformats.org/officeDocument/2006/relationships/notesSlide" Target="/ppt/notesSlides/notesSlide13.xml" Id="R6c5b4425584e4c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89e264443f54bd0" /><Relationship Type="http://schemas.openxmlformats.org/officeDocument/2006/relationships/notesSlide" Target="/ppt/notesSlides/notesSlide14.xml" Id="Rc290a66e85b543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691d3d440274764" /><Relationship Type="http://schemas.openxmlformats.org/officeDocument/2006/relationships/chart" Target="/ppt/slides/charts/chart4.xml" Id="R89a391e4b9544f15" /><Relationship Type="http://schemas.openxmlformats.org/officeDocument/2006/relationships/notesSlide" Target="/ppt/notesSlides/notesSlide15.xml" Id="R40200af548984e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b2fd0b181944311" /><Relationship Type="http://schemas.openxmlformats.org/officeDocument/2006/relationships/notesSlide" Target="/ppt/notesSlides/notesSlide16.xml" Id="Rfe703421485b467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da50581f7e64fbb" /><Relationship Type="http://schemas.openxmlformats.org/officeDocument/2006/relationships/notesSlide" Target="/ppt/notesSlides/notesSlide17.xml" Id="Rd74fe4ac51cf4c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f2d440c4cfa4446" /><Relationship Type="http://schemas.openxmlformats.org/officeDocument/2006/relationships/chart" Target="/ppt/slides/charts/chart5.xml" Id="R524eb587889a48c6" /><Relationship Type="http://schemas.openxmlformats.org/officeDocument/2006/relationships/notesSlide" Target="/ppt/notesSlides/notesSlide18.xml" Id="R5d46ebc0c1e849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4053913e81495d" /><Relationship Type="http://schemas.openxmlformats.org/officeDocument/2006/relationships/notesSlide" Target="/ppt/notesSlides/notesSlide19.xml" Id="Rf15983937649481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9a20a429ada4b75" /><Relationship Type="http://schemas.openxmlformats.org/officeDocument/2006/relationships/notesSlide" Target="/ppt/notesSlides/notesSlide20.xml" Id="R0500faf87a6043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18246f70386456a" /><Relationship Type="http://schemas.openxmlformats.org/officeDocument/2006/relationships/chart" Target="/ppt/slides/charts/chart6.xml" Id="R42123450a1494838" /><Relationship Type="http://schemas.openxmlformats.org/officeDocument/2006/relationships/notesSlide" Target="/ppt/notesSlides/notesSlide21.xml" Id="Rba3c55f4d0544c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8f4a40b576e43ed" /><Relationship Type="http://schemas.openxmlformats.org/officeDocument/2006/relationships/notesSlide" Target="/ppt/notesSlides/notesSlide22.xml" Id="Rd0bf3275849042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1e91835e4b6498f" /><Relationship Type="http://schemas.openxmlformats.org/officeDocument/2006/relationships/notesSlide" Target="/ppt/notesSlides/notesSlide23.xml" Id="R359d55c6409642e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1ab167ce20b4d73" /><Relationship Type="http://schemas.openxmlformats.org/officeDocument/2006/relationships/notesSlide" Target="/ppt/notesSlides/notesSlide24.xml" Id="R016e95a65c71466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5c16164aed4481d" /><Relationship Type="http://schemas.openxmlformats.org/officeDocument/2006/relationships/notesSlide" Target="/ppt/notesSlides/notesSlide25.xml" Id="R5a922c4e3260443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72</c:v>
                </c:pt>
                <c:pt idx="2">
                  <c:v>90</c:v>
                </c:pt>
              </c:numCache>
            </c:numRef>
          </c:xVal>
          <c:yVal>
            <c:numRef>
              <c:f>'Chart Data'!$B$2:$B$4</c:f>
              <c:numCache>
                <c:formatCode>0</c:formatCode>
                <c:ptCount val="3"/>
                <c:pt idx="0">
                  <c:v>30</c:v>
                </c:pt>
                <c:pt idx="1">
                  <c:v>6</c:v>
                </c:pt>
                <c:pt idx="2">
                  <c:v>0</c:v>
                </c:pt>
              </c:numCache>
            </c:numRef>
          </c:yVal>
          <c:smooth val="0"/>
        </c:ser>
        <c:ser>
          <c:idx val="1"/>
          <c:order val="1"/>
          <c:tx>
            <c:v>Hulplijnen</c:v>
          </c:tx>
          <c:spPr>
            <a:ln xmlns:a="http://schemas.openxmlformats.org/drawingml/2006/main" w="14288">
              <a:solidFill>
                <a:srgbClr val="445B6B"/>
              </a:solidFill>
              <a:prstDash val="dash"/>
            </a:ln>
          </c:spPr>
          <c:marker>
            <c:symbol val="none"/>
          </c:marker>
          <c:xVal>
            <c:numRef>
              <c:f>'Chart Data'!$C$2:$C$4</c:f>
              <c:numCache>
                <c:formatCode>General</c:formatCode>
                <c:ptCount val="3"/>
                <c:pt idx="0">
                  <c:v>0</c:v>
                </c:pt>
                <c:pt idx="1">
                  <c:v>60</c:v>
                </c:pt>
                <c:pt idx="2">
                  <c:v>60</c:v>
                </c:pt>
              </c:numCache>
            </c:numRef>
          </c:xVal>
          <c:yVal>
            <c:numRef>
              <c:f>'Chart Data'!$D$2:$D$4</c:f>
              <c:numCache>
                <c:formatCode>0</c:formatCode>
                <c:ptCount val="3"/>
                <c:pt idx="0">
                  <c:v>10</c:v>
                </c:pt>
                <c:pt idx="1">
                  <c:v>10</c:v>
                </c:pt>
                <c:pt idx="2">
                  <c:v>0</c:v>
                </c:pt>
              </c:numCache>
            </c:numRef>
          </c:yVal>
          <c:smooth val="0"/>
        </c:ser>
        <c:ser>
          <c:idx val="2"/>
          <c:order val="2"/>
          <c:tx>
            <c:v>A</c:v>
          </c:tx>
          <c:spPr>
            <a:ln xmlns:a="http://schemas.openxmlformats.org/drawingml/2006/main" w="0">
              <a:noFill/>
            </a:ln>
          </c:spPr>
          <c:marker>
            <c:symbol val="circle"/>
            <c:size val="10"/>
            <c:spPr>
              <a:solidFill xmlns:a="http://schemas.openxmlformats.org/drawingml/2006/main">
                <a:srgbClr val="183247"/>
              </a:solidFill>
            </c:spPr>
          </c:marker>
          <c:xVal>
            <c:numRef>
              <c:f>'Chart Data'!$E$2:$E$2</c:f>
              <c:numCache>
                <c:formatCode>General</c:formatCode>
                <c:ptCount val="1"/>
                <c:pt idx="0">
                  <c:v>60</c:v>
                </c:pt>
              </c:numCache>
            </c:numRef>
          </c:xVal>
          <c:yVal>
            <c:numRef>
              <c:f>'Chart Data'!$F$2:$F$2</c:f>
              <c:numCache>
                <c:formatCode>0</c:formatCode>
                <c:ptCount val="1"/>
                <c:pt idx="0">
                  <c:v>10</c:v>
                </c:pt>
              </c:numCache>
            </c:numRef>
          </c:yVal>
          <c:smooth val="0"/>
        </c:ser>
        <c:ser>
          <c:idx val="3"/>
          <c:order val="3"/>
          <c:tx>
            <c:v>A label</c:v>
          </c:tx>
          <c:spPr>
            <a:ln xmlns:a="http://schemas.openxmlformats.org/drawingml/2006/main" w="0">
              <a:solidFill>
                <a:srgbClr val="183247"/>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57.2</c:v>
                </c:pt>
              </c:numCache>
            </c:numRef>
          </c:xVal>
          <c:yVal>
            <c:numRef>
              <c:f>'Chart Data'!$H$2:$H$2</c:f>
              <c:numCache>
                <c:formatCode>0</c:formatCode>
                <c:ptCount val="1"/>
                <c:pt idx="0">
                  <c:v>7</c:v>
                </c:pt>
              </c:numCache>
            </c:numRef>
          </c:yVal>
          <c:smooth val="0"/>
        </c:ser>
        <c:ser>
          <c:idx val="4"/>
          <c:order val="4"/>
          <c:tx>
            <c:v>(0; 30)</c:v>
          </c:tx>
          <c:spPr>
            <a:ln xmlns:a="http://schemas.openxmlformats.org/drawingml/2006/main" w="0">
              <a:no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(0; 30)</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0</c:v>
                </c:pt>
              </c:numCache>
            </c:numRef>
          </c:xVal>
          <c:yVal>
            <c:numRef>
              <c:f>'Chart Data'!$J$2:$J$2</c:f>
              <c:numCache>
                <c:formatCode>0</c:formatCode>
                <c:ptCount val="1"/>
                <c:pt idx="0">
                  <c:v>30</c:v>
                </c:pt>
              </c:numCache>
            </c:numRef>
          </c:yVal>
          <c:smooth val="0"/>
        </c:ser>
        <c:ser>
          <c:idx val="5"/>
          <c:order val="5"/>
          <c:tx>
            <c:v>(90; 0)</c:v>
          </c:tx>
          <c:spPr>
            <a:ln xmlns:a="http://schemas.openxmlformats.org/drawingml/2006/main" w="0">
              <a:no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(90; 0)</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90</c:v>
                </c:pt>
              </c:numCache>
            </c:numRef>
          </c:xVal>
          <c:yVal>
            <c:numRef>
              <c:f>'Chart Data'!$L$2:$L$2</c:f>
              <c:numCache>
                <c:formatCode>0</c:formatCode>
                <c:ptCount val="1"/>
                <c:pt idx="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fiets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(fietsen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72</c:v>
                </c:pt>
                <c:pt idx="2">
                  <c:v>90</c:v>
                </c:pt>
              </c:numCache>
            </c:numRef>
          </c:xVal>
          <c:yVal>
            <c:numRef>
              <c:f>'Chart Data'!$B$2:$B$4</c:f>
              <c:numCache>
                <c:formatCode>0</c:formatCode>
                <c:ptCount val="3"/>
                <c:pt idx="0">
                  <c:v>30</c:v>
                </c:pt>
                <c:pt idx="1">
                  <c:v>6</c:v>
                </c:pt>
                <c:pt idx="2">
                  <c:v>0</c:v>
                </c:pt>
              </c:numCache>
            </c:numRef>
          </c:yVal>
          <c:smooth val="0"/>
        </c:ser>
        <c:ser>
          <c:idx val="1"/>
          <c:order val="1"/>
          <c:tx>
            <c:v>Hulplijnen</c:v>
          </c:tx>
          <c:spPr>
            <a:ln xmlns:a="http://schemas.openxmlformats.org/drawingml/2006/main" w="14288">
              <a:solidFill>
                <a:srgbClr val="445B6B"/>
              </a:solidFill>
              <a:prstDash val="dash"/>
            </a:ln>
          </c:spPr>
          <c:marker>
            <c:symbol val="none"/>
          </c:marker>
          <c:xVal>
            <c:numRef>
              <c:f>'Chart Data'!$C$2:$C$4</c:f>
              <c:numCache>
                <c:formatCode>General</c:formatCode>
                <c:ptCount val="3"/>
                <c:pt idx="0">
                  <c:v>0</c:v>
                </c:pt>
                <c:pt idx="1">
                  <c:v>60</c:v>
                </c:pt>
                <c:pt idx="2">
                  <c:v>60</c:v>
                </c:pt>
              </c:numCache>
            </c:numRef>
          </c:xVal>
          <c:yVal>
            <c:numRef>
              <c:f>'Chart Data'!$D$2:$D$4</c:f>
              <c:numCache>
                <c:formatCode>0</c:formatCode>
                <c:ptCount val="3"/>
                <c:pt idx="0">
                  <c:v>10</c:v>
                </c:pt>
                <c:pt idx="1">
                  <c:v>10</c:v>
                </c:pt>
                <c:pt idx="2">
                  <c:v>0</c:v>
                </c:pt>
              </c:numCache>
            </c:numRef>
          </c:yVal>
          <c:smooth val="0"/>
        </c:ser>
        <c:ser>
          <c:idx val="2"/>
          <c:order val="2"/>
          <c:tx>
            <c:v>A</c:v>
          </c:tx>
          <c:spPr>
            <a:ln xmlns:a="http://schemas.openxmlformats.org/drawingml/2006/main" w="0">
              <a:noFill/>
            </a:ln>
          </c:spPr>
          <c:marker>
            <c:symbol val="circle"/>
            <c:size val="10"/>
            <c:spPr>
              <a:solidFill xmlns:a="http://schemas.openxmlformats.org/drawingml/2006/main">
                <a:srgbClr val="183247"/>
              </a:solidFill>
            </c:spPr>
          </c:marker>
          <c:xVal>
            <c:numRef>
              <c:f>'Chart Data'!$E$2:$E$2</c:f>
              <c:numCache>
                <c:formatCode>General</c:formatCode>
                <c:ptCount val="1"/>
                <c:pt idx="0">
                  <c:v>60</c:v>
                </c:pt>
              </c:numCache>
            </c:numRef>
          </c:xVal>
          <c:yVal>
            <c:numRef>
              <c:f>'Chart Data'!$F$2:$F$2</c:f>
              <c:numCache>
                <c:formatCode>0</c:formatCode>
                <c:ptCount val="1"/>
                <c:pt idx="0">
                  <c:v>10</c:v>
                </c:pt>
              </c:numCache>
            </c:numRef>
          </c:yVal>
          <c:smooth val="0"/>
        </c:ser>
        <c:ser>
          <c:idx val="3"/>
          <c:order val="3"/>
          <c:tx>
            <c:v>A label</c:v>
          </c:tx>
          <c:spPr>
            <a:ln xmlns:a="http://schemas.openxmlformats.org/drawingml/2006/main" w="0">
              <a:solidFill>
                <a:srgbClr val="183247"/>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57.2</c:v>
                </c:pt>
              </c:numCache>
            </c:numRef>
          </c:xVal>
          <c:yVal>
            <c:numRef>
              <c:f>'Chart Data'!$H$2:$H$2</c:f>
              <c:numCache>
                <c:formatCode>0</c:formatCode>
                <c:ptCount val="1"/>
                <c:pt idx="0">
                  <c:v>7</c:v>
                </c:pt>
              </c:numCache>
            </c:numRef>
          </c:yVal>
          <c:smooth val="0"/>
        </c:ser>
        <c:ser>
          <c:idx val="4"/>
          <c:order val="4"/>
          <c:tx>
            <c:v>Hulplijnen</c:v>
          </c:tx>
          <c:spPr>
            <a:ln xmlns:a="http://schemas.openxmlformats.org/drawingml/2006/main" w="14288">
              <a:solidFill>
                <a:srgbClr val="445B6B"/>
              </a:solidFill>
              <a:prstDash val="dash"/>
            </a:ln>
          </c:spPr>
          <c:marker>
            <c:symbol val="none"/>
          </c:marker>
          <c:xVal>
            <c:numRef>
              <c:f>'Chart Data'!$I$2:$I$4</c:f>
              <c:numCache>
                <c:formatCode>General</c:formatCode>
                <c:ptCount val="3"/>
                <c:pt idx="0">
                  <c:v>0</c:v>
                </c:pt>
                <c:pt idx="1">
                  <c:v>48</c:v>
                </c:pt>
                <c:pt idx="2">
                  <c:v>48</c:v>
                </c:pt>
              </c:numCache>
            </c:numRef>
          </c:xVal>
          <c:yVal>
            <c:numRef>
              <c:f>'Chart Data'!$J$2:$J$4</c:f>
              <c:numCache>
                <c:formatCode>0</c:formatCode>
                <c:ptCount val="3"/>
                <c:pt idx="0">
                  <c:v>14</c:v>
                </c:pt>
                <c:pt idx="1">
                  <c:v>14</c:v>
                </c:pt>
                <c:pt idx="2">
                  <c:v>0</c:v>
                </c:pt>
              </c:numCache>
            </c:numRef>
          </c:yVal>
          <c:smooth val="0"/>
        </c:ser>
        <c:ser>
          <c:idx val="5"/>
          <c:order val="5"/>
          <c:tx>
            <c:v>B</c:v>
          </c:tx>
          <c:spPr>
            <a:ln xmlns:a="http://schemas.openxmlformats.org/drawingml/2006/main" w="0">
              <a:noFill/>
            </a:ln>
          </c:spPr>
          <c:marker>
            <c:symbol val="circle"/>
            <c:size val="10"/>
            <c:spPr>
              <a:solidFill xmlns:a="http://schemas.openxmlformats.org/drawingml/2006/main">
                <a:srgbClr val="183247"/>
              </a:solidFill>
            </c:spPr>
          </c:marker>
          <c:xVal>
            <c:numRef>
              <c:f>'Chart Data'!$K$2:$K$2</c:f>
              <c:numCache>
                <c:formatCode>General</c:formatCode>
                <c:ptCount val="1"/>
                <c:pt idx="0">
                  <c:v>48</c:v>
                </c:pt>
              </c:numCache>
            </c:numRef>
          </c:xVal>
          <c:yVal>
            <c:numRef>
              <c:f>'Chart Data'!$L$2:$L$2</c:f>
              <c:numCache>
                <c:formatCode>0</c:formatCode>
                <c:ptCount val="1"/>
                <c:pt idx="0">
                  <c:v>14</c:v>
                </c:pt>
              </c:numCache>
            </c:numRef>
          </c:yVal>
          <c:smooth val="0"/>
        </c:ser>
        <c:ser>
          <c:idx val="6"/>
          <c:order val="6"/>
          <c:tx>
            <c:v>B label</c:v>
          </c:tx>
          <c:spPr>
            <a:ln xmlns:a="http://schemas.openxmlformats.org/drawingml/2006/main" w="0">
              <a:solidFill>
                <a:srgbClr val="183247"/>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50.8</c:v>
                </c:pt>
              </c:numCache>
            </c:numRef>
          </c:xVal>
          <c:yVal>
            <c:numRef>
              <c:f>'Chart Data'!$N$2:$N$2</c:f>
              <c:numCache>
                <c:formatCode>0</c:formatCode>
                <c:ptCount val="1"/>
                <c:pt idx="0">
                  <c:v>17</c:v>
                </c:pt>
              </c:numCache>
            </c:numRef>
          </c:yVal>
          <c:smooth val="0"/>
        </c:ser>
        <c:ser>
          <c:idx val="7"/>
          <c:order val="7"/>
          <c:tx>
            <c:v>Alleen eigen prijs</c:v>
          </c:tx>
          <c:spPr>
            <a:ln xmlns:a="http://schemas.openxmlformats.org/drawingml/2006/main" w="38100">
              <a:solidFill>
                <a:srgbClr val="A94D16"/>
              </a:solidFill>
              <a:prstDash val="solid"/>
            </a:ln>
          </c:spPr>
          <c:marker>
            <c:symbol val="none"/>
          </c:marker>
          <c:xVal>
            <c:numRef>
              <c:f>'Chart Data'!$O$2:$O$3</c:f>
              <c:numCache>
                <c:formatCode>General</c:formatCode>
                <c:ptCount val="2"/>
                <c:pt idx="0">
                  <c:v>60</c:v>
                </c:pt>
                <c:pt idx="1">
                  <c:v>48</c:v>
                </c:pt>
              </c:numCache>
            </c:numRef>
          </c:xVal>
          <c:yVal>
            <c:numRef>
              <c:f>'Chart Data'!$P$2:$P$3</c:f>
              <c:numCache>
                <c:formatCode>0</c:formatCode>
                <c:ptCount val="2"/>
                <c:pt idx="0">
                  <c:v>10</c:v>
                </c:pt>
                <c:pt idx="1">
                  <c:v>14</c:v>
                </c:pt>
              </c:numCache>
            </c:numRef>
          </c:yVal>
          <c:smooth val="0"/>
        </c:ser>
        <c:ser>
          <c:idx val="8"/>
          <c:order val="8"/>
          <c:tx>
            <c:v>Alleen eigen prijs pijlpunt</c:v>
          </c:tx>
          <c:spPr>
            <a:ln xmlns:a="http://schemas.openxmlformats.org/drawingml/2006/main" w="38100">
              <a:solidFill>
                <a:srgbClr val="A94D16"/>
              </a:solidFill>
              <a:prstDash val="solid"/>
            </a:ln>
          </c:spPr>
          <c:marker>
            <c:symbol val="none"/>
          </c:marker>
          <c:xVal>
            <c:numRef>
              <c:f>'Chart Data'!$Q$2:$Q$4</c:f>
              <c:numCache>
                <c:formatCode>General</c:formatCode>
                <c:ptCount val="3"/>
                <c:pt idx="0">
                  <c:v>48.763675323681</c:v>
                </c:pt>
                <c:pt idx="1">
                  <c:v>48</c:v>
                </c:pt>
                <c:pt idx="2">
                  <c:v>50.291025971044</c:v>
                </c:pt>
              </c:numCache>
            </c:numRef>
          </c:xVal>
          <c:yVal>
            <c:numRef>
              <c:f>'Chart Data'!$R$2:$R$4</c:f>
              <c:numCache>
                <c:formatCode>0</c:formatCode>
                <c:ptCount val="3"/>
                <c:pt idx="0">
                  <c:v>13.236324676319</c:v>
                </c:pt>
                <c:pt idx="1">
                  <c:v>14</c:v>
                </c:pt>
                <c:pt idx="2">
                  <c:v>13.745441558773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fiets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(fietsen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72</c:v>
                </c:pt>
                <c:pt idx="2">
                  <c:v>90</c:v>
                </c:pt>
              </c:numCache>
            </c:numRef>
          </c:xVal>
          <c:yVal>
            <c:numRef>
              <c:f>'Chart Data'!$B$2:$B$4</c:f>
              <c:numCache>
                <c:formatCode>0</c:formatCode>
                <c:ptCount val="3"/>
                <c:pt idx="0">
                  <c:v>30</c:v>
                </c:pt>
                <c:pt idx="1">
                  <c:v>6</c:v>
                </c:pt>
                <c:pt idx="2">
                  <c:v>0</c:v>
                </c:pt>
              </c:numCache>
            </c:numRef>
          </c:yVal>
          <c:smooth val="0"/>
        </c:ser>
        <c:ser>
          <c:idx val="1"/>
          <c:order val="1"/>
          <c:tx>
            <c:v>V₁</c:v>
          </c:tx>
          <c:spPr>
            <a:ln xmlns:a="http://schemas.openxmlformats.org/drawingml/2006/main" w="38100">
              <a:solidFill>
                <a:srgbClr val="20665B"/>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V₁</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86.4</c:v>
                </c:pt>
                <c:pt idx="2">
                  <c:v>108</c:v>
                </c:pt>
              </c:numCache>
            </c:numRef>
          </c:xVal>
          <c:yVal>
            <c:numRef>
              <c:f>'Chart Data'!$D$2:$D$4</c:f>
              <c:numCache>
                <c:formatCode>0</c:formatCode>
                <c:ptCount val="3"/>
                <c:pt idx="0">
                  <c:v>36</c:v>
                </c:pt>
                <c:pt idx="1">
                  <c:v>7.2</c:v>
                </c:pt>
                <c:pt idx="2">
                  <c:v>0</c:v>
                </c:pt>
              </c:numCache>
            </c:numRef>
          </c:yVal>
          <c:smooth val="0"/>
        </c:ser>
        <c:ser>
          <c:idx val="2"/>
          <c:order val="2"/>
          <c:tx>
            <c:v>Hulplijnen</c:v>
          </c:tx>
          <c:spPr>
            <a:ln xmlns:a="http://schemas.openxmlformats.org/drawingml/2006/main" w="14288">
              <a:solidFill>
                <a:srgbClr val="445B6B"/>
              </a:solidFill>
              <a:prstDash val="dash"/>
            </a:ln>
          </c:spPr>
          <c:marker>
            <c:symbol val="none"/>
          </c:marker>
          <c:xVal>
            <c:numRef>
              <c:f>'Chart Data'!$E$2:$E$4</c:f>
              <c:numCache>
                <c:formatCode>General</c:formatCode>
                <c:ptCount val="3"/>
                <c:pt idx="0">
                  <c:v>0</c:v>
                </c:pt>
                <c:pt idx="1">
                  <c:v>60</c:v>
                </c:pt>
                <c:pt idx="2">
                  <c:v>60</c:v>
                </c:pt>
              </c:numCache>
            </c:numRef>
          </c:xVal>
          <c:yVal>
            <c:numRef>
              <c:f>'Chart Data'!$F$2:$F$4</c:f>
              <c:numCache>
                <c:formatCode>0</c:formatCode>
                <c:ptCount val="3"/>
                <c:pt idx="0">
                  <c:v>10</c:v>
                </c:pt>
                <c:pt idx="1">
                  <c:v>10</c:v>
                </c:pt>
                <c:pt idx="2">
                  <c:v>0</c:v>
                </c:pt>
              </c:numCache>
            </c:numRef>
          </c:yVal>
          <c:smooth val="0"/>
        </c:ser>
        <c:ser>
          <c:idx val="3"/>
          <c:order val="3"/>
          <c:tx>
            <c:v>A</c:v>
          </c:tx>
          <c:spPr>
            <a:ln xmlns:a="http://schemas.openxmlformats.org/drawingml/2006/main" w="0">
              <a:noFill/>
            </a:ln>
          </c:spPr>
          <c:marker>
            <c:symbol val="circle"/>
            <c:size val="10"/>
            <c:spPr>
              <a:solidFill xmlns:a="http://schemas.openxmlformats.org/drawingml/2006/main">
                <a:srgbClr val="183247"/>
              </a:solidFill>
            </c:spPr>
          </c:marker>
          <c:xVal>
            <c:numRef>
              <c:f>'Chart Data'!$G$2:$G$2</c:f>
              <c:numCache>
                <c:formatCode>General</c:formatCode>
                <c:ptCount val="1"/>
                <c:pt idx="0">
                  <c:v>60</c:v>
                </c:pt>
              </c:numCache>
            </c:numRef>
          </c:xVal>
          <c:yVal>
            <c:numRef>
              <c:f>'Chart Data'!$H$2:$H$2</c:f>
              <c:numCache>
                <c:formatCode>0</c:formatCode>
                <c:ptCount val="1"/>
                <c:pt idx="0">
                  <c:v>10</c:v>
                </c:pt>
              </c:numCache>
            </c:numRef>
          </c:yVal>
          <c:smooth val="0"/>
        </c:ser>
        <c:ser>
          <c:idx val="4"/>
          <c:order val="4"/>
          <c:tx>
            <c:v>A label</c:v>
          </c:tx>
          <c:spPr>
            <a:ln xmlns:a="http://schemas.openxmlformats.org/drawingml/2006/main" w="0">
              <a:solidFill>
                <a:srgbClr val="183247"/>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57.2</c:v>
                </c:pt>
              </c:numCache>
            </c:numRef>
          </c:xVal>
          <c:yVal>
            <c:numRef>
              <c:f>'Chart Data'!$J$2:$J$2</c:f>
              <c:numCache>
                <c:formatCode>0</c:formatCode>
                <c:ptCount val="1"/>
                <c:pt idx="0">
                  <c:v>7</c:v>
                </c:pt>
              </c:numCache>
            </c:numRef>
          </c:yVal>
          <c:smooth val="0"/>
        </c:ser>
        <c:ser>
          <c:idx val="5"/>
          <c:order val="5"/>
          <c:tx>
            <c:v>Hulplijnen</c:v>
          </c:tx>
          <c:spPr>
            <a:ln xmlns:a="http://schemas.openxmlformats.org/drawingml/2006/main" w="14288">
              <a:solidFill>
                <a:srgbClr val="445B6B"/>
              </a:solidFill>
              <a:prstDash val="dash"/>
            </a:ln>
          </c:spPr>
          <c:marker>
            <c:symbol val="none"/>
          </c:marker>
          <c:xVal>
            <c:numRef>
              <c:f>'Chart Data'!$K$2:$K$4</c:f>
              <c:numCache>
                <c:formatCode>General</c:formatCode>
                <c:ptCount val="3"/>
                <c:pt idx="0">
                  <c:v>0</c:v>
                </c:pt>
                <c:pt idx="1">
                  <c:v>48</c:v>
                </c:pt>
                <c:pt idx="2">
                  <c:v>48</c:v>
                </c:pt>
              </c:numCache>
            </c:numRef>
          </c:xVal>
          <c:yVal>
            <c:numRef>
              <c:f>'Chart Data'!$L$2:$L$4</c:f>
              <c:numCache>
                <c:formatCode>0</c:formatCode>
                <c:ptCount val="3"/>
                <c:pt idx="0">
                  <c:v>14</c:v>
                </c:pt>
                <c:pt idx="1">
                  <c:v>14</c:v>
                </c:pt>
                <c:pt idx="2">
                  <c:v>0</c:v>
                </c:pt>
              </c:numCache>
            </c:numRef>
          </c:yVal>
          <c:smooth val="0"/>
        </c:ser>
        <c:ser>
          <c:idx val="6"/>
          <c:order val="6"/>
          <c:tx>
            <c:v>B</c:v>
          </c:tx>
          <c:spPr>
            <a:ln xmlns:a="http://schemas.openxmlformats.org/drawingml/2006/main" w="0">
              <a:noFill/>
            </a:ln>
          </c:spPr>
          <c:marker>
            <c:symbol val="circle"/>
            <c:size val="10"/>
            <c:spPr>
              <a:solidFill xmlns:a="http://schemas.openxmlformats.org/drawingml/2006/main">
                <a:srgbClr val="183247"/>
              </a:solidFill>
            </c:spPr>
          </c:marker>
          <c:xVal>
            <c:numRef>
              <c:f>'Chart Data'!$M$2:$M$2</c:f>
              <c:numCache>
                <c:formatCode>General</c:formatCode>
                <c:ptCount val="1"/>
                <c:pt idx="0">
                  <c:v>48</c:v>
                </c:pt>
              </c:numCache>
            </c:numRef>
          </c:xVal>
          <c:yVal>
            <c:numRef>
              <c:f>'Chart Data'!$N$2:$N$2</c:f>
              <c:numCache>
                <c:formatCode>0</c:formatCode>
                <c:ptCount val="1"/>
                <c:pt idx="0">
                  <c:v>14</c:v>
                </c:pt>
              </c:numCache>
            </c:numRef>
          </c:yVal>
          <c:smooth val="0"/>
        </c:ser>
        <c:ser>
          <c:idx val="7"/>
          <c:order val="7"/>
          <c:tx>
            <c:v>B label</c:v>
          </c:tx>
          <c:spPr>
            <a:ln xmlns:a="http://schemas.openxmlformats.org/drawingml/2006/main" w="0">
              <a:solidFill>
                <a:srgbClr val="183247"/>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50.8</c:v>
                </c:pt>
              </c:numCache>
            </c:numRef>
          </c:xVal>
          <c:yVal>
            <c:numRef>
              <c:f>'Chart Data'!$P$2:$P$2</c:f>
              <c:numCache>
                <c:formatCode>0</c:formatCode>
                <c:ptCount val="1"/>
                <c:pt idx="0">
                  <c:v>17</c:v>
                </c:pt>
              </c:numCache>
            </c:numRef>
          </c:yVal>
          <c:smooth val="0"/>
        </c:ser>
        <c:ser>
          <c:idx val="8"/>
          <c:order val="8"/>
          <c:tx>
            <c:v>Alleen eigen prijs</c:v>
          </c:tx>
          <c:spPr>
            <a:ln xmlns:a="http://schemas.openxmlformats.org/drawingml/2006/main" w="38100">
              <a:solidFill>
                <a:srgbClr val="A94D16"/>
              </a:solidFill>
              <a:prstDash val="solid"/>
            </a:ln>
          </c:spPr>
          <c:marker>
            <c:symbol val="none"/>
          </c:marker>
          <c:xVal>
            <c:numRef>
              <c:f>'Chart Data'!$Q$2:$Q$3</c:f>
              <c:numCache>
                <c:formatCode>General</c:formatCode>
                <c:ptCount val="2"/>
                <c:pt idx="0">
                  <c:v>60</c:v>
                </c:pt>
                <c:pt idx="1">
                  <c:v>48</c:v>
                </c:pt>
              </c:numCache>
            </c:numRef>
          </c:xVal>
          <c:yVal>
            <c:numRef>
              <c:f>'Chart Data'!$R$2:$R$3</c:f>
              <c:numCache>
                <c:formatCode>0</c:formatCode>
                <c:ptCount val="2"/>
                <c:pt idx="0">
                  <c:v>10</c:v>
                </c:pt>
                <c:pt idx="1">
                  <c:v>14</c:v>
                </c:pt>
              </c:numCache>
            </c:numRef>
          </c:yVal>
          <c:smooth val="0"/>
        </c:ser>
        <c:ser>
          <c:idx val="9"/>
          <c:order val="9"/>
          <c:tx>
            <c:v>Alleen eigen prijs pijlpunt</c:v>
          </c:tx>
          <c:spPr>
            <a:ln xmlns:a="http://schemas.openxmlformats.org/drawingml/2006/main" w="38100">
              <a:solidFill>
                <a:srgbClr val="A94D16"/>
              </a:solidFill>
              <a:prstDash val="solid"/>
            </a:ln>
          </c:spPr>
          <c:marker>
            <c:symbol val="none"/>
          </c:marker>
          <c:xVal>
            <c:numRef>
              <c:f>'Chart Data'!$S$2:$S$4</c:f>
              <c:numCache>
                <c:formatCode>General</c:formatCode>
                <c:ptCount val="3"/>
                <c:pt idx="0">
                  <c:v>48.763675323681</c:v>
                </c:pt>
                <c:pt idx="1">
                  <c:v>48</c:v>
                </c:pt>
                <c:pt idx="2">
                  <c:v>50.291025971044</c:v>
                </c:pt>
              </c:numCache>
            </c:numRef>
          </c:xVal>
          <c:yVal>
            <c:numRef>
              <c:f>'Chart Data'!$T$2:$T$4</c:f>
              <c:numCache>
                <c:formatCode>0</c:formatCode>
                <c:ptCount val="3"/>
                <c:pt idx="0">
                  <c:v>13.236324676319</c:v>
                </c:pt>
                <c:pt idx="1">
                  <c:v>14</c:v>
                </c:pt>
                <c:pt idx="2">
                  <c:v>13.745441558773</c:v>
                </c:pt>
              </c:numCache>
            </c:numRef>
          </c:yVal>
          <c:smooth val="0"/>
        </c:ser>
        <c:ser>
          <c:idx val="10"/>
          <c:order val="10"/>
          <c:tx>
            <c:v>Hulplijnen</c:v>
          </c:tx>
          <c:spPr>
            <a:ln xmlns:a="http://schemas.openxmlformats.org/drawingml/2006/main" w="14288">
              <a:solidFill>
                <a:srgbClr val="445B6B"/>
              </a:solidFill>
              <a:prstDash val="dash"/>
            </a:ln>
          </c:spPr>
          <c:marker>
            <c:symbol val="none"/>
          </c:marker>
          <c:xVal>
            <c:numRef>
              <c:f>'Chart Data'!$U$2:$U$4</c:f>
              <c:numCache>
                <c:formatCode>General</c:formatCode>
                <c:ptCount val="3"/>
                <c:pt idx="0">
                  <c:v>0</c:v>
                </c:pt>
                <c:pt idx="1">
                  <c:v>66</c:v>
                </c:pt>
                <c:pt idx="2">
                  <c:v>66</c:v>
                </c:pt>
              </c:numCache>
            </c:numRef>
          </c:xVal>
          <c:yVal>
            <c:numRef>
              <c:f>'Chart Data'!$V$2:$V$4</c:f>
              <c:numCache>
                <c:formatCode>0</c:formatCode>
                <c:ptCount val="3"/>
                <c:pt idx="0">
                  <c:v>14</c:v>
                </c:pt>
                <c:pt idx="1">
                  <c:v>14</c:v>
                </c:pt>
                <c:pt idx="2">
                  <c:v>0</c:v>
                </c:pt>
              </c:numCache>
            </c:numRef>
          </c:yVal>
          <c:smooth val="0"/>
        </c:ser>
        <c:ser>
          <c:idx val="11"/>
          <c:order val="11"/>
          <c:tx>
            <c:v>C</c:v>
          </c:tx>
          <c:spPr>
            <a:ln xmlns:a="http://schemas.openxmlformats.org/drawingml/2006/main" w="0">
              <a:no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C</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66</c:v>
                </c:pt>
              </c:numCache>
            </c:numRef>
          </c:xVal>
          <c:yVal>
            <c:numRef>
              <c:f>'Chart Data'!$X$2:$X$2</c:f>
              <c:numCache>
                <c:formatCode>0</c:formatCode>
                <c:ptCount val="1"/>
                <c:pt idx="0">
                  <c:v>14</c:v>
                </c:pt>
              </c:numCache>
            </c:numRef>
          </c:yVal>
          <c:smooth val="0"/>
        </c:ser>
        <c:ser>
          <c:idx val="12"/>
          <c:order val="12"/>
          <c:tx>
            <c:v>Andere vraagfactor</c:v>
          </c:tx>
          <c:spPr>
            <a:ln xmlns:a="http://schemas.openxmlformats.org/drawingml/2006/main" w="38100">
              <a:solidFill>
                <a:srgbClr val="20665B"/>
              </a:solidFill>
              <a:prstDash val="solid"/>
            </a:ln>
          </c:spPr>
          <c:marker>
            <c:symbol val="none"/>
          </c:marker>
          <c:xVal>
            <c:numRef>
              <c:f>'Chart Data'!$Y$2:$Y$3</c:f>
              <c:numCache>
                <c:formatCode>General</c:formatCode>
                <c:ptCount val="2"/>
                <c:pt idx="0">
                  <c:v>48</c:v>
                </c:pt>
                <c:pt idx="1">
                  <c:v>66</c:v>
                </c:pt>
              </c:numCache>
            </c:numRef>
          </c:xVal>
          <c:yVal>
            <c:numRef>
              <c:f>'Chart Data'!$Z$2:$Z$3</c:f>
              <c:numCache>
                <c:formatCode>0</c:formatCode>
                <c:ptCount val="2"/>
                <c:pt idx="0">
                  <c:v>14</c:v>
                </c:pt>
                <c:pt idx="1">
                  <c:v>14</c:v>
                </c:pt>
              </c:numCache>
            </c:numRef>
          </c:yVal>
          <c:smooth val="0"/>
        </c:ser>
        <c:ser>
          <c:idx val="13"/>
          <c:order val="13"/>
          <c:tx>
            <c:v>Andere vraagfactor pijlpunt</c:v>
          </c:tx>
          <c:spPr>
            <a:ln xmlns:a="http://schemas.openxmlformats.org/drawingml/2006/main" w="38100">
              <a:solidFill>
                <a:srgbClr val="20665B"/>
              </a:solidFill>
              <a:prstDash val="solid"/>
            </a:ln>
          </c:spPr>
          <c:marker>
            <c:symbol val="none"/>
          </c:marker>
          <c:xVal>
            <c:numRef>
              <c:f>'Chart Data'!$AA$2:$AA$4</c:f>
              <c:numCache>
                <c:formatCode>General</c:formatCode>
                <c:ptCount val="3"/>
                <c:pt idx="0">
                  <c:v>63.84</c:v>
                </c:pt>
                <c:pt idx="1">
                  <c:v>66</c:v>
                </c:pt>
                <c:pt idx="2">
                  <c:v>63.84</c:v>
                </c:pt>
              </c:numCache>
            </c:numRef>
          </c:xVal>
          <c:yVal>
            <c:numRef>
              <c:f>'Chart Data'!$AB$2:$AB$4</c:f>
              <c:numCache>
                <c:formatCode>0</c:formatCode>
                <c:ptCount val="3"/>
                <c:pt idx="0">
                  <c:v>14.36</c:v>
                </c:pt>
                <c:pt idx="1">
                  <c:v>14</c:v>
                </c:pt>
                <c:pt idx="2">
                  <c:v>13.64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fiets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0"/>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(fietsen per dag)</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80</c:v>
                </c:pt>
                <c:pt idx="2">
                  <c:v>100</c:v>
                </c:pt>
              </c:numCache>
            </c:numRef>
          </c:xVal>
          <c:yVal>
            <c:numRef>
              <c:f>'Chart Data'!$B$2:$B$4</c:f>
              <c:numCache>
                <c:formatCode>0</c:formatCode>
                <c:ptCount val="3"/>
                <c:pt idx="0">
                  <c:v>20</c:v>
                </c:pt>
                <c:pt idx="1">
                  <c:v>4</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bezoek)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(bezoeken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80</c:v>
                </c:pt>
                <c:pt idx="2">
                  <c:v>100</c:v>
                </c:pt>
              </c:numCache>
            </c:numRef>
          </c:xVal>
          <c:yVal>
            <c:numRef>
              <c:f>'Chart Data'!$B$2:$B$4</c:f>
              <c:numCache>
                <c:formatCode>0</c:formatCode>
                <c:ptCount val="3"/>
                <c:pt idx="0">
                  <c:v>20</c:v>
                </c:pt>
                <c:pt idx="1">
                  <c:v>4</c:v>
                </c:pt>
                <c:pt idx="2">
                  <c:v>0</c:v>
                </c:pt>
              </c:numCache>
            </c:numRef>
          </c:yVal>
          <c:smooth val="0"/>
        </c:ser>
        <c:ser>
          <c:idx val="1"/>
          <c:order val="1"/>
          <c:tx>
            <c:v>Hulplijnen</c:v>
          </c:tx>
          <c:spPr>
            <a:ln xmlns:a="http://schemas.openxmlformats.org/drawingml/2006/main" w="14288">
              <a:solidFill>
                <a:srgbClr val="445B6B"/>
              </a:solidFill>
              <a:prstDash val="dash"/>
            </a:ln>
          </c:spPr>
          <c:marker>
            <c:symbol val="none"/>
          </c:marker>
          <c:xVal>
            <c:numRef>
              <c:f>'Chart Data'!$C$2:$C$4</c:f>
              <c:numCache>
                <c:formatCode>General</c:formatCode>
                <c:ptCount val="3"/>
                <c:pt idx="0">
                  <c:v>0</c:v>
                </c:pt>
                <c:pt idx="1">
                  <c:v>60</c:v>
                </c:pt>
                <c:pt idx="2">
                  <c:v>60</c:v>
                </c:pt>
              </c:numCache>
            </c:numRef>
          </c:xVal>
          <c:yVal>
            <c:numRef>
              <c:f>'Chart Data'!$D$2:$D$4</c:f>
              <c:numCache>
                <c:formatCode>0</c:formatCode>
                <c:ptCount val="3"/>
                <c:pt idx="0">
                  <c:v>8</c:v>
                </c:pt>
                <c:pt idx="1">
                  <c:v>8</c:v>
                </c:pt>
                <c:pt idx="2">
                  <c:v>0</c:v>
                </c:pt>
              </c:numCache>
            </c:numRef>
          </c:yVal>
          <c:smooth val="0"/>
        </c:ser>
        <c:ser>
          <c:idx val="2"/>
          <c:order val="2"/>
          <c:tx>
            <c:v>A</c:v>
          </c:tx>
          <c:spPr>
            <a:ln xmlns:a="http://schemas.openxmlformats.org/drawingml/2006/main" w="0">
              <a:noFill/>
            </a:ln>
          </c:spPr>
          <c:marker>
            <c:symbol val="circle"/>
            <c:size val="10"/>
            <c:spPr>
              <a:solidFill xmlns:a="http://schemas.openxmlformats.org/drawingml/2006/main">
                <a:srgbClr val="183247"/>
              </a:solidFill>
            </c:spPr>
          </c:marker>
          <c:xVal>
            <c:numRef>
              <c:f>'Chart Data'!$E$2:$E$2</c:f>
              <c:numCache>
                <c:formatCode>General</c:formatCode>
                <c:ptCount val="1"/>
                <c:pt idx="0">
                  <c:v>60</c:v>
                </c:pt>
              </c:numCache>
            </c:numRef>
          </c:xVal>
          <c:yVal>
            <c:numRef>
              <c:f>'Chart Data'!$F$2:$F$2</c:f>
              <c:numCache>
                <c:formatCode>0</c:formatCode>
                <c:ptCount val="1"/>
                <c:pt idx="0">
                  <c:v>8</c:v>
                </c:pt>
              </c:numCache>
            </c:numRef>
          </c:yVal>
          <c:smooth val="0"/>
        </c:ser>
        <c:ser>
          <c:idx val="3"/>
          <c:order val="3"/>
          <c:tx>
            <c:v>A label</c:v>
          </c:tx>
          <c:spPr>
            <a:ln xmlns:a="http://schemas.openxmlformats.org/drawingml/2006/main" w="0">
              <a:solidFill>
                <a:srgbClr val="183247"/>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57.2</c:v>
                </c:pt>
              </c:numCache>
            </c:numRef>
          </c:xVal>
          <c:yVal>
            <c:numRef>
              <c:f>'Chart Data'!$H$2:$H$2</c:f>
              <c:numCache>
                <c:formatCode>0</c:formatCode>
                <c:ptCount val="1"/>
                <c:pt idx="0">
                  <c:v>6.2</c:v>
                </c:pt>
              </c:numCache>
            </c:numRef>
          </c:yVal>
          <c:smooth val="0"/>
        </c:ser>
        <c:ser>
          <c:idx val="4"/>
          <c:order val="4"/>
          <c:tx>
            <c:v>Hulplijnen</c:v>
          </c:tx>
          <c:spPr>
            <a:ln xmlns:a="http://schemas.openxmlformats.org/drawingml/2006/main" w="14288">
              <a:solidFill>
                <a:srgbClr val="445B6B"/>
              </a:solidFill>
              <a:prstDash val="dash"/>
            </a:ln>
          </c:spPr>
          <c:marker>
            <c:symbol val="none"/>
          </c:marker>
          <c:xVal>
            <c:numRef>
              <c:f>'Chart Data'!$I$2:$I$4</c:f>
              <c:numCache>
                <c:formatCode>General</c:formatCode>
                <c:ptCount val="3"/>
                <c:pt idx="0">
                  <c:v>0</c:v>
                </c:pt>
                <c:pt idx="1">
                  <c:v>50</c:v>
                </c:pt>
                <c:pt idx="2">
                  <c:v>50</c:v>
                </c:pt>
              </c:numCache>
            </c:numRef>
          </c:xVal>
          <c:yVal>
            <c:numRef>
              <c:f>'Chart Data'!$J$2:$J$4</c:f>
              <c:numCache>
                <c:formatCode>0</c:formatCode>
                <c:ptCount val="3"/>
                <c:pt idx="0">
                  <c:v>10</c:v>
                </c:pt>
                <c:pt idx="1">
                  <c:v>10</c:v>
                </c:pt>
                <c:pt idx="2">
                  <c:v>0</c:v>
                </c:pt>
              </c:numCache>
            </c:numRef>
          </c:yVal>
          <c:smooth val="0"/>
        </c:ser>
        <c:ser>
          <c:idx val="5"/>
          <c:order val="5"/>
          <c:tx>
            <c:v>B</c:v>
          </c:tx>
          <c:spPr>
            <a:ln xmlns:a="http://schemas.openxmlformats.org/drawingml/2006/main" w="0">
              <a:noFill/>
            </a:ln>
          </c:spPr>
          <c:marker>
            <c:symbol val="circle"/>
            <c:size val="10"/>
            <c:spPr>
              <a:solidFill xmlns:a="http://schemas.openxmlformats.org/drawingml/2006/main">
                <a:srgbClr val="183247"/>
              </a:solidFill>
            </c:spPr>
          </c:marker>
          <c:xVal>
            <c:numRef>
              <c:f>'Chart Data'!$K$2:$K$2</c:f>
              <c:numCache>
                <c:formatCode>General</c:formatCode>
                <c:ptCount val="1"/>
                <c:pt idx="0">
                  <c:v>50</c:v>
                </c:pt>
              </c:numCache>
            </c:numRef>
          </c:xVal>
          <c:yVal>
            <c:numRef>
              <c:f>'Chart Data'!$L$2:$L$2</c:f>
              <c:numCache>
                <c:formatCode>0</c:formatCode>
                <c:ptCount val="1"/>
                <c:pt idx="0">
                  <c:v>10</c:v>
                </c:pt>
              </c:numCache>
            </c:numRef>
          </c:yVal>
          <c:smooth val="0"/>
        </c:ser>
        <c:ser>
          <c:idx val="6"/>
          <c:order val="6"/>
          <c:tx>
            <c:v>B label</c:v>
          </c:tx>
          <c:spPr>
            <a:ln xmlns:a="http://schemas.openxmlformats.org/drawingml/2006/main" w="0">
              <a:solidFill>
                <a:srgbClr val="183247"/>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52.8</c:v>
                </c:pt>
              </c:numCache>
            </c:numRef>
          </c:xVal>
          <c:yVal>
            <c:numRef>
              <c:f>'Chart Data'!$N$2:$N$2</c:f>
              <c:numCache>
                <c:formatCode>0</c:formatCode>
                <c:ptCount val="1"/>
                <c:pt idx="0">
                  <c:v>11.8</c:v>
                </c:pt>
              </c:numCache>
            </c:numRef>
          </c:yVal>
          <c:smooth val="0"/>
        </c:ser>
        <c:ser>
          <c:idx val="7"/>
          <c:order val="7"/>
          <c:tx>
            <c:v>Alleen eigen prijs</c:v>
          </c:tx>
          <c:spPr>
            <a:ln xmlns:a="http://schemas.openxmlformats.org/drawingml/2006/main" w="38100">
              <a:solidFill>
                <a:srgbClr val="A94D16"/>
              </a:solidFill>
              <a:prstDash val="solid"/>
            </a:ln>
          </c:spPr>
          <c:marker>
            <c:symbol val="none"/>
          </c:marker>
          <c:xVal>
            <c:numRef>
              <c:f>'Chart Data'!$O$2:$O$3</c:f>
              <c:numCache>
                <c:formatCode>General</c:formatCode>
                <c:ptCount val="2"/>
                <c:pt idx="0">
                  <c:v>60</c:v>
                </c:pt>
                <c:pt idx="1">
                  <c:v>50</c:v>
                </c:pt>
              </c:numCache>
            </c:numRef>
          </c:xVal>
          <c:yVal>
            <c:numRef>
              <c:f>'Chart Data'!$P$2:$P$3</c:f>
              <c:numCache>
                <c:formatCode>0</c:formatCode>
                <c:ptCount val="2"/>
                <c:pt idx="0">
                  <c:v>8</c:v>
                </c:pt>
                <c:pt idx="1">
                  <c:v>10</c:v>
                </c:pt>
              </c:numCache>
            </c:numRef>
          </c:yVal>
          <c:smooth val="0"/>
        </c:ser>
        <c:ser>
          <c:idx val="8"/>
          <c:order val="8"/>
          <c:tx>
            <c:v>Alleen eigen prijs pijlpunt</c:v>
          </c:tx>
          <c:spPr>
            <a:ln xmlns:a="http://schemas.openxmlformats.org/drawingml/2006/main" w="38100">
              <a:solidFill>
                <a:srgbClr val="A94D16"/>
              </a:solidFill>
              <a:prstDash val="solid"/>
            </a:ln>
          </c:spPr>
          <c:marker>
            <c:symbol val="none"/>
          </c:marker>
          <c:xVal>
            <c:numRef>
              <c:f>'Chart Data'!$Q$2:$Q$4</c:f>
              <c:numCache>
                <c:formatCode>General</c:formatCode>
                <c:ptCount val="3"/>
                <c:pt idx="0">
                  <c:v>50.763675323681</c:v>
                </c:pt>
                <c:pt idx="1">
                  <c:v>50</c:v>
                </c:pt>
                <c:pt idx="2">
                  <c:v>52.291025971044</c:v>
                </c:pt>
              </c:numCache>
            </c:numRef>
          </c:xVal>
          <c:yVal>
            <c:numRef>
              <c:f>'Chart Data'!$R$2:$R$4</c:f>
              <c:numCache>
                <c:formatCode>0</c:formatCode>
                <c:ptCount val="3"/>
                <c:pt idx="0">
                  <c:v>9.5417948057911</c:v>
                </c:pt>
                <c:pt idx="1">
                  <c:v>10</c:v>
                </c:pt>
                <c:pt idx="2">
                  <c:v>9.8472649352637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bezoek)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(bezoeken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V₀</c:v>
          </c:tx>
          <c:spPr>
            <a:ln xmlns:a="http://schemas.openxmlformats.org/drawingml/2006/main" w="38100">
              <a:solidFill>
                <a:srgbClr val="1A5276"/>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1A5276"/>
                        </a:solidFill>
                        <a:latin typeface="Arial"/>
                        <a:ea typeface="Arial"/>
                        <a:cs typeface="Arial"/>
                      </a:rPr>
                      <a:t>V₀</a:t>
                    </a:r>
                  </a:p>
                </c:rich>
              </c:tx>
              <c:txPr>
                <a:bodyPr xmlns:a="http://schemas.openxmlformats.org/drawingml/2006/main" anchorCtr="1"/>
                <a:lstStyle xmlns:a="http://schemas.openxmlformats.org/drawingml/2006/main"/>
                <a:p xmlns:a="http://schemas.openxmlformats.org/drawingml/2006/main">
                  <a:pPr>
                    <a:defRPr sz="2100" b="1">
                      <a:solidFill>
                        <a:srgbClr val="1A527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80</c:v>
                </c:pt>
                <c:pt idx="2">
                  <c:v>100</c:v>
                </c:pt>
              </c:numCache>
            </c:numRef>
          </c:xVal>
          <c:yVal>
            <c:numRef>
              <c:f>'Chart Data'!$B$2:$B$4</c:f>
              <c:numCache>
                <c:formatCode>0</c:formatCode>
                <c:ptCount val="3"/>
                <c:pt idx="0">
                  <c:v>20</c:v>
                </c:pt>
                <c:pt idx="1">
                  <c:v>4</c:v>
                </c:pt>
                <c:pt idx="2">
                  <c:v>0</c:v>
                </c:pt>
              </c:numCache>
            </c:numRef>
          </c:yVal>
          <c:smooth val="0"/>
        </c:ser>
        <c:ser>
          <c:idx val="1"/>
          <c:order val="1"/>
          <c:tx>
            <c:v>V₁</c:v>
          </c:tx>
          <c:spPr>
            <a:ln xmlns:a="http://schemas.openxmlformats.org/drawingml/2006/main" w="38100">
              <a:solidFill>
                <a:srgbClr val="20665B"/>
              </a:solidFill>
              <a:prstDash val="solid"/>
            </a:ln>
          </c:spPr>
          <c:marker>
            <c:symbol val="none"/>
          </c:marker>
          <c:dLbls>
            <c:dLbl>
              <c:idx val="1"/>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V₁</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96</c:v>
                </c:pt>
                <c:pt idx="2">
                  <c:v>120</c:v>
                </c:pt>
              </c:numCache>
            </c:numRef>
          </c:xVal>
          <c:yVal>
            <c:numRef>
              <c:f>'Chart Data'!$D$2:$D$4</c:f>
              <c:numCache>
                <c:formatCode>0</c:formatCode>
                <c:ptCount val="3"/>
                <c:pt idx="0">
                  <c:v>24</c:v>
                </c:pt>
                <c:pt idx="1">
                  <c:v>4.8</c:v>
                </c:pt>
                <c:pt idx="2">
                  <c:v>0</c:v>
                </c:pt>
              </c:numCache>
            </c:numRef>
          </c:yVal>
          <c:smooth val="0"/>
        </c:ser>
        <c:ser>
          <c:idx val="2"/>
          <c:order val="2"/>
          <c:tx>
            <c:v>Hulplijnen</c:v>
          </c:tx>
          <c:spPr>
            <a:ln xmlns:a="http://schemas.openxmlformats.org/drawingml/2006/main" w="14288">
              <a:solidFill>
                <a:srgbClr val="445B6B"/>
              </a:solidFill>
              <a:prstDash val="dash"/>
            </a:ln>
          </c:spPr>
          <c:marker>
            <c:symbol val="none"/>
          </c:marker>
          <c:xVal>
            <c:numRef>
              <c:f>'Chart Data'!$E$2:$E$4</c:f>
              <c:numCache>
                <c:formatCode>General</c:formatCode>
                <c:ptCount val="3"/>
                <c:pt idx="0">
                  <c:v>0</c:v>
                </c:pt>
                <c:pt idx="1">
                  <c:v>60</c:v>
                </c:pt>
                <c:pt idx="2">
                  <c:v>60</c:v>
                </c:pt>
              </c:numCache>
            </c:numRef>
          </c:xVal>
          <c:yVal>
            <c:numRef>
              <c:f>'Chart Data'!$F$2:$F$4</c:f>
              <c:numCache>
                <c:formatCode>0</c:formatCode>
                <c:ptCount val="3"/>
                <c:pt idx="0">
                  <c:v>8</c:v>
                </c:pt>
                <c:pt idx="1">
                  <c:v>8</c:v>
                </c:pt>
                <c:pt idx="2">
                  <c:v>0</c:v>
                </c:pt>
              </c:numCache>
            </c:numRef>
          </c:yVal>
          <c:smooth val="0"/>
        </c:ser>
        <c:ser>
          <c:idx val="3"/>
          <c:order val="3"/>
          <c:tx>
            <c:v>A</c:v>
          </c:tx>
          <c:spPr>
            <a:ln xmlns:a="http://schemas.openxmlformats.org/drawingml/2006/main" w="0">
              <a:noFill/>
            </a:ln>
          </c:spPr>
          <c:marker>
            <c:symbol val="circle"/>
            <c:size val="10"/>
            <c:spPr>
              <a:solidFill xmlns:a="http://schemas.openxmlformats.org/drawingml/2006/main">
                <a:srgbClr val="183247"/>
              </a:solidFill>
            </c:spPr>
          </c:marker>
          <c:xVal>
            <c:numRef>
              <c:f>'Chart Data'!$G$2:$G$2</c:f>
              <c:numCache>
                <c:formatCode>General</c:formatCode>
                <c:ptCount val="1"/>
                <c:pt idx="0">
                  <c:v>60</c:v>
                </c:pt>
              </c:numCache>
            </c:numRef>
          </c:xVal>
          <c:yVal>
            <c:numRef>
              <c:f>'Chart Data'!$H$2:$H$2</c:f>
              <c:numCache>
                <c:formatCode>0</c:formatCode>
                <c:ptCount val="1"/>
                <c:pt idx="0">
                  <c:v>8</c:v>
                </c:pt>
              </c:numCache>
            </c:numRef>
          </c:yVal>
          <c:smooth val="0"/>
        </c:ser>
        <c:ser>
          <c:idx val="4"/>
          <c:order val="4"/>
          <c:tx>
            <c:v>A label</c:v>
          </c:tx>
          <c:spPr>
            <a:ln xmlns:a="http://schemas.openxmlformats.org/drawingml/2006/main" w="0">
              <a:solidFill>
                <a:srgbClr val="183247"/>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57.2</c:v>
                </c:pt>
              </c:numCache>
            </c:numRef>
          </c:xVal>
          <c:yVal>
            <c:numRef>
              <c:f>'Chart Data'!$J$2:$J$2</c:f>
              <c:numCache>
                <c:formatCode>0</c:formatCode>
                <c:ptCount val="1"/>
                <c:pt idx="0">
                  <c:v>6.2</c:v>
                </c:pt>
              </c:numCache>
            </c:numRef>
          </c:yVal>
          <c:smooth val="0"/>
        </c:ser>
        <c:ser>
          <c:idx val="5"/>
          <c:order val="5"/>
          <c:tx>
            <c:v>Hulplijnen</c:v>
          </c:tx>
          <c:spPr>
            <a:ln xmlns:a="http://schemas.openxmlformats.org/drawingml/2006/main" w="14288">
              <a:solidFill>
                <a:srgbClr val="445B6B"/>
              </a:solidFill>
              <a:prstDash val="dash"/>
            </a:ln>
          </c:spPr>
          <c:marker>
            <c:symbol val="none"/>
          </c:marker>
          <c:xVal>
            <c:numRef>
              <c:f>'Chart Data'!$K$2:$K$4</c:f>
              <c:numCache>
                <c:formatCode>General</c:formatCode>
                <c:ptCount val="3"/>
                <c:pt idx="0">
                  <c:v>0</c:v>
                </c:pt>
                <c:pt idx="1">
                  <c:v>50</c:v>
                </c:pt>
                <c:pt idx="2">
                  <c:v>50</c:v>
                </c:pt>
              </c:numCache>
            </c:numRef>
          </c:xVal>
          <c:yVal>
            <c:numRef>
              <c:f>'Chart Data'!$L$2:$L$4</c:f>
              <c:numCache>
                <c:formatCode>0</c:formatCode>
                <c:ptCount val="3"/>
                <c:pt idx="0">
                  <c:v>10</c:v>
                </c:pt>
                <c:pt idx="1">
                  <c:v>10</c:v>
                </c:pt>
                <c:pt idx="2">
                  <c:v>0</c:v>
                </c:pt>
              </c:numCache>
            </c:numRef>
          </c:yVal>
          <c:smooth val="0"/>
        </c:ser>
        <c:ser>
          <c:idx val="6"/>
          <c:order val="6"/>
          <c:tx>
            <c:v>B</c:v>
          </c:tx>
          <c:spPr>
            <a:ln xmlns:a="http://schemas.openxmlformats.org/drawingml/2006/main" w="0">
              <a:noFill/>
            </a:ln>
          </c:spPr>
          <c:marker>
            <c:symbol val="circle"/>
            <c:size val="10"/>
            <c:spPr>
              <a:solidFill xmlns:a="http://schemas.openxmlformats.org/drawingml/2006/main">
                <a:srgbClr val="183247"/>
              </a:solidFill>
            </c:spPr>
          </c:marker>
          <c:xVal>
            <c:numRef>
              <c:f>'Chart Data'!$M$2:$M$2</c:f>
              <c:numCache>
                <c:formatCode>General</c:formatCode>
                <c:ptCount val="1"/>
                <c:pt idx="0">
                  <c:v>50</c:v>
                </c:pt>
              </c:numCache>
            </c:numRef>
          </c:xVal>
          <c:yVal>
            <c:numRef>
              <c:f>'Chart Data'!$N$2:$N$2</c:f>
              <c:numCache>
                <c:formatCode>0</c:formatCode>
                <c:ptCount val="1"/>
                <c:pt idx="0">
                  <c:v>10</c:v>
                </c:pt>
              </c:numCache>
            </c:numRef>
          </c:yVal>
          <c:smooth val="0"/>
        </c:ser>
        <c:ser>
          <c:idx val="7"/>
          <c:order val="7"/>
          <c:tx>
            <c:v>B label</c:v>
          </c:tx>
          <c:spPr>
            <a:ln xmlns:a="http://schemas.openxmlformats.org/drawingml/2006/main" w="0">
              <a:solidFill>
                <a:srgbClr val="183247"/>
              </a:solidFill>
              <a:prstDash val="solid"/>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ct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52.8</c:v>
                </c:pt>
              </c:numCache>
            </c:numRef>
          </c:xVal>
          <c:yVal>
            <c:numRef>
              <c:f>'Chart Data'!$P$2:$P$2</c:f>
              <c:numCache>
                <c:formatCode>0</c:formatCode>
                <c:ptCount val="1"/>
                <c:pt idx="0">
                  <c:v>11.8</c:v>
                </c:pt>
              </c:numCache>
            </c:numRef>
          </c:yVal>
          <c:smooth val="0"/>
        </c:ser>
        <c:ser>
          <c:idx val="8"/>
          <c:order val="8"/>
          <c:tx>
            <c:v>Alleen eigen prijs</c:v>
          </c:tx>
          <c:spPr>
            <a:ln xmlns:a="http://schemas.openxmlformats.org/drawingml/2006/main" w="38100">
              <a:solidFill>
                <a:srgbClr val="A94D16"/>
              </a:solidFill>
              <a:prstDash val="solid"/>
            </a:ln>
          </c:spPr>
          <c:marker>
            <c:symbol val="none"/>
          </c:marker>
          <c:xVal>
            <c:numRef>
              <c:f>'Chart Data'!$Q$2:$Q$3</c:f>
              <c:numCache>
                <c:formatCode>General</c:formatCode>
                <c:ptCount val="2"/>
                <c:pt idx="0">
                  <c:v>60</c:v>
                </c:pt>
                <c:pt idx="1">
                  <c:v>50</c:v>
                </c:pt>
              </c:numCache>
            </c:numRef>
          </c:xVal>
          <c:yVal>
            <c:numRef>
              <c:f>'Chart Data'!$R$2:$R$3</c:f>
              <c:numCache>
                <c:formatCode>0</c:formatCode>
                <c:ptCount val="2"/>
                <c:pt idx="0">
                  <c:v>8</c:v>
                </c:pt>
                <c:pt idx="1">
                  <c:v>10</c:v>
                </c:pt>
              </c:numCache>
            </c:numRef>
          </c:yVal>
          <c:smooth val="0"/>
        </c:ser>
        <c:ser>
          <c:idx val="9"/>
          <c:order val="9"/>
          <c:tx>
            <c:v>Alleen eigen prijs pijlpunt</c:v>
          </c:tx>
          <c:spPr>
            <a:ln xmlns:a="http://schemas.openxmlformats.org/drawingml/2006/main" w="38100">
              <a:solidFill>
                <a:srgbClr val="A94D16"/>
              </a:solidFill>
              <a:prstDash val="solid"/>
            </a:ln>
          </c:spPr>
          <c:marker>
            <c:symbol val="none"/>
          </c:marker>
          <c:xVal>
            <c:numRef>
              <c:f>'Chart Data'!$S$2:$S$4</c:f>
              <c:numCache>
                <c:formatCode>General</c:formatCode>
                <c:ptCount val="3"/>
                <c:pt idx="0">
                  <c:v>50.763675323681</c:v>
                </c:pt>
                <c:pt idx="1">
                  <c:v>50</c:v>
                </c:pt>
                <c:pt idx="2">
                  <c:v>52.291025971044</c:v>
                </c:pt>
              </c:numCache>
            </c:numRef>
          </c:xVal>
          <c:yVal>
            <c:numRef>
              <c:f>'Chart Data'!$T$2:$T$4</c:f>
              <c:numCache>
                <c:formatCode>0</c:formatCode>
                <c:ptCount val="3"/>
                <c:pt idx="0">
                  <c:v>9.5417948057911</c:v>
                </c:pt>
                <c:pt idx="1">
                  <c:v>10</c:v>
                </c:pt>
                <c:pt idx="2">
                  <c:v>9.8472649352637</c:v>
                </c:pt>
              </c:numCache>
            </c:numRef>
          </c:yVal>
          <c:smooth val="0"/>
        </c:ser>
        <c:ser>
          <c:idx val="10"/>
          <c:order val="10"/>
          <c:tx>
            <c:v>Hulplijnen</c:v>
          </c:tx>
          <c:spPr>
            <a:ln xmlns:a="http://schemas.openxmlformats.org/drawingml/2006/main" w="14288">
              <a:solidFill>
                <a:srgbClr val="445B6B"/>
              </a:solidFill>
              <a:prstDash val="dash"/>
            </a:ln>
          </c:spPr>
          <c:marker>
            <c:symbol val="none"/>
          </c:marker>
          <c:xVal>
            <c:numRef>
              <c:f>'Chart Data'!$U$2:$U$4</c:f>
              <c:numCache>
                <c:formatCode>General</c:formatCode>
                <c:ptCount val="3"/>
                <c:pt idx="0">
                  <c:v>0</c:v>
                </c:pt>
                <c:pt idx="1">
                  <c:v>70</c:v>
                </c:pt>
                <c:pt idx="2">
                  <c:v>70</c:v>
                </c:pt>
              </c:numCache>
            </c:numRef>
          </c:xVal>
          <c:yVal>
            <c:numRef>
              <c:f>'Chart Data'!$V$2:$V$4</c:f>
              <c:numCache>
                <c:formatCode>0</c:formatCode>
                <c:ptCount val="3"/>
                <c:pt idx="0">
                  <c:v>10</c:v>
                </c:pt>
                <c:pt idx="1">
                  <c:v>10</c:v>
                </c:pt>
                <c:pt idx="2">
                  <c:v>0</c:v>
                </c:pt>
              </c:numCache>
            </c:numRef>
          </c:yVal>
          <c:smooth val="0"/>
        </c:ser>
        <c:ser>
          <c:idx val="11"/>
          <c:order val="11"/>
          <c:tx>
            <c:v>C</c:v>
          </c:tx>
          <c:spPr>
            <a:ln xmlns:a="http://schemas.openxmlformats.org/drawingml/2006/main" w="0">
              <a:noFill/>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C</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70</c:v>
                </c:pt>
              </c:numCache>
            </c:numRef>
          </c:xVal>
          <c:yVal>
            <c:numRef>
              <c:f>'Chart Data'!$X$2:$X$2</c:f>
              <c:numCache>
                <c:formatCode>0</c:formatCode>
                <c:ptCount val="1"/>
                <c:pt idx="0">
                  <c:v>10</c:v>
                </c:pt>
              </c:numCache>
            </c:numRef>
          </c:yVal>
          <c:smooth val="0"/>
        </c:ser>
        <c:ser>
          <c:idx val="12"/>
          <c:order val="12"/>
          <c:tx>
            <c:v>Andere vraagfactor</c:v>
          </c:tx>
          <c:spPr>
            <a:ln xmlns:a="http://schemas.openxmlformats.org/drawingml/2006/main" w="38100">
              <a:solidFill>
                <a:srgbClr val="20665B"/>
              </a:solidFill>
              <a:prstDash val="solid"/>
            </a:ln>
          </c:spPr>
          <c:marker>
            <c:symbol val="none"/>
          </c:marker>
          <c:xVal>
            <c:numRef>
              <c:f>'Chart Data'!$Y$2:$Y$3</c:f>
              <c:numCache>
                <c:formatCode>General</c:formatCode>
                <c:ptCount val="2"/>
                <c:pt idx="0">
                  <c:v>50</c:v>
                </c:pt>
                <c:pt idx="1">
                  <c:v>70</c:v>
                </c:pt>
              </c:numCache>
            </c:numRef>
          </c:xVal>
          <c:yVal>
            <c:numRef>
              <c:f>'Chart Data'!$Z$2:$Z$3</c:f>
              <c:numCache>
                <c:formatCode>0</c:formatCode>
                <c:ptCount val="2"/>
                <c:pt idx="0">
                  <c:v>10</c:v>
                </c:pt>
                <c:pt idx="1">
                  <c:v>10</c:v>
                </c:pt>
              </c:numCache>
            </c:numRef>
          </c:yVal>
          <c:smooth val="0"/>
        </c:ser>
        <c:ser>
          <c:idx val="13"/>
          <c:order val="13"/>
          <c:tx>
            <c:v>Andere vraagfactor pijlpunt</c:v>
          </c:tx>
          <c:spPr>
            <a:ln xmlns:a="http://schemas.openxmlformats.org/drawingml/2006/main" w="38100">
              <a:solidFill>
                <a:srgbClr val="20665B"/>
              </a:solidFill>
              <a:prstDash val="solid"/>
            </a:ln>
          </c:spPr>
          <c:marker>
            <c:symbol val="none"/>
          </c:marker>
          <c:xVal>
            <c:numRef>
              <c:f>'Chart Data'!$AA$2:$AA$4</c:f>
              <c:numCache>
                <c:formatCode>General</c:formatCode>
                <c:ptCount val="3"/>
                <c:pt idx="0">
                  <c:v>67.84</c:v>
                </c:pt>
                <c:pt idx="1">
                  <c:v>70</c:v>
                </c:pt>
                <c:pt idx="2">
                  <c:v>67.84</c:v>
                </c:pt>
              </c:numCache>
            </c:numRef>
          </c:xVal>
          <c:yVal>
            <c:numRef>
              <c:f>'Chart Data'!$AB$2:$AB$4</c:f>
              <c:numCache>
                <c:formatCode>0</c:formatCode>
                <c:ptCount val="3"/>
                <c:pt idx="0">
                  <c:v>10.216</c:v>
                </c:pt>
                <c:pt idx="1">
                  <c:v>10</c:v>
                </c:pt>
                <c:pt idx="2">
                  <c:v>9.784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bezoek)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4"/>
      </c:valAx>
      <c:valAx>
        <c:axId val="48650112"/>
        <c:scaling>
          <c:orientation val="minMax"/>
          <c:max val="12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(bezoeken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2 Vraagfactoren">
            <a:extLst xmlns:a="http://schemas.openxmlformats.org/drawingml/2006/main">
              <a:ext uri="{FF2B5EF4-FFF2-40B4-BE49-F238E27FC236}">
                <a16:creationId xmlns:a16="http://schemas.microsoft.com/office/drawing/2014/main" id="{280BCA43-0A12-4DBE-80D8-69A78227010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§1.2.2 Vraagfactoren</a:t>
            </a:r>
          </a:p>
        </p:txBody>
      </p:sp>
      <p:sp>
        <p:nvSpPr>
          <p:cNvPr id="2" name="">
            <a:extLst xmlns:a="http://schemas.openxmlformats.org/drawingml/2006/main">
              <a:ext uri="{FF2B5EF4-FFF2-40B4-BE49-F238E27FC236}">
                <a16:creationId xmlns:a16="http://schemas.microsoft.com/office/drawing/2014/main" id="{BBFCA907-6696-464E-8DB8-2F77450DE23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3E058DF2-A700-4D9B-B98F-EB782C69D15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1">
            <a:extLst xmlns:a="http://schemas.openxmlformats.org/drawingml/2006/main">
              <a:ext uri="{FF2B5EF4-FFF2-40B4-BE49-F238E27FC236}">
                <a16:creationId xmlns:a16="http://schemas.microsoft.com/office/drawing/2014/main" id="{CFAD1819-8E55-4EE8-80DD-A31D17B0219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C8A5DFA9-5162-4A25-A782-E415DAF1B2E1}"/>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4DD77566-2711-4469-A516-937CBD17DD25}"/>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0CFB1EB8-1A7A-4D5B-BA58-ABE247150EFE}"/>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1E01C0D8-9E14-4EA8-83EC-0917DC8D16C6}"/>
              </a:ext>
            </a:extLst>
          </p:cNvPr>
          <p:cNvSpPr>
            <a:spLocks xmlns:a="http://schemas.openxmlformats.org/drawingml/2006/main" noGrp="1"/>
          </p:cNvSpPr>
          <p:nvPr/>
        </p:nvSpPr>
        <p:spPr>
          <a:xfrm xmlns:a="http://schemas.openxmlformats.org/drawingml/2006/main">
            <a:off x="1104900" y="2324100"/>
            <a:ext cx="747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757251A0-79D7-48E1-9A5F-39AEF7189B38}"/>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7372BC7D-B356-47AE-B605-85769372B8B9}"/>
              </a:ext>
            </a:extLst>
          </p:cNvPr>
          <p:cNvSpPr>
            <a:spLocks xmlns:a="http://schemas.openxmlformats.org/drawingml/2006/main" noGrp="1"/>
          </p:cNvSpPr>
          <p:nvPr/>
        </p:nvSpPr>
        <p:spPr>
          <a:xfrm xmlns:a="http://schemas.openxmlformats.org/drawingml/2006/main">
            <a:off x="1104900" y="3200400"/>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57C37193-4459-4826-B754-D5E05E8985CF}"/>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AB31593C-63A6-4F10-9B26-78E3514EB0EB}"/>
              </a:ext>
            </a:extLst>
          </p:cNvPr>
          <p:cNvSpPr>
            <a:spLocks xmlns:a="http://schemas.openxmlformats.org/drawingml/2006/main" noGrp="1"/>
          </p:cNvSpPr>
          <p:nvPr/>
        </p:nvSpPr>
        <p:spPr>
          <a:xfrm xmlns:a="http://schemas.openxmlformats.org/drawingml/2006/main">
            <a:off x="1104900" y="3714750"/>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A79C8772-4030-4AE6-8F52-BDB84CC80A7D}"/>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F96A645-66EE-4046-B71A-FE566592DECF}"/>
              </a:ext>
            </a:extLst>
          </p:cNvPr>
          <p:cNvSpPr>
            <a:spLocks xmlns:a="http://schemas.openxmlformats.org/drawingml/2006/main" noGrp="1"/>
          </p:cNvSpPr>
          <p:nvPr/>
        </p:nvSpPr>
        <p:spPr>
          <a:xfrm xmlns:a="http://schemas.openxmlformats.org/drawingml/2006/main">
            <a:off x="1104900" y="4248150"/>
            <a:ext cx="74771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9DE386B7-E8F1-46DF-8307-871353D534EB}"/>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67CF19E6-96F6-4CC9-907C-84C0BE18AC8F}"/>
              </a:ext>
            </a:extLst>
          </p:cNvPr>
          <p:cNvSpPr>
            <a:spLocks xmlns:a="http://schemas.openxmlformats.org/drawingml/2006/main" noGrp="1"/>
          </p:cNvSpPr>
          <p:nvPr/>
        </p:nvSpPr>
        <p:spPr>
          <a:xfrm xmlns:a="http://schemas.openxmlformats.org/drawingml/2006/main">
            <a:off x="1104900" y="6057900"/>
            <a:ext cx="7477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471D5A8-45C4-41CD-80DB-A01150B864CD}"/>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58D62BEA-1602-45BF-ABE0-51A387A097CF}"/>
              </a:ext>
            </a:extLst>
          </p:cNvPr>
          <p:cNvSpPr>
            <a:spLocks xmlns:a="http://schemas.openxmlformats.org/drawingml/2006/main" noGrp="1"/>
          </p:cNvSpPr>
          <p:nvPr/>
        </p:nvSpPr>
        <p:spPr>
          <a:xfrm xmlns:a="http://schemas.openxmlformats.org/drawingml/2006/main">
            <a:off x="1104900" y="6819900"/>
            <a:ext cx="7477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19.</a:t>
            </a:r>
          </a:p>
        </p:txBody>
      </p:sp>
      <p:sp>
        <p:nvSpPr>
          <p:cNvPr id="19" name="route-number-7">
            <a:extLst xmlns:a="http://schemas.openxmlformats.org/drawingml/2006/main">
              <a:ext uri="{FF2B5EF4-FFF2-40B4-BE49-F238E27FC236}">
                <a16:creationId xmlns:a16="http://schemas.microsoft.com/office/drawing/2014/main" id="{5912DE2C-C351-4179-B8F1-9A9FB4996C38}"/>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DAF31EA5-B330-4458-904A-E127BD49B818}"/>
              </a:ext>
            </a:extLst>
          </p:cNvPr>
          <p:cNvSpPr>
            <a:spLocks xmlns:a="http://schemas.openxmlformats.org/drawingml/2006/main" noGrp="1"/>
          </p:cNvSpPr>
          <p:nvPr/>
        </p:nvSpPr>
        <p:spPr>
          <a:xfrm xmlns:a="http://schemas.openxmlformats.org/drawingml/2006/main">
            <a:off x="1104900" y="7372350"/>
            <a:ext cx="7477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02343C7-6533-4D59-8FA3-FF25042C4A66}"/>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0D88DAD-F7E7-4CFB-929E-2B7642238569}"/>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Oorzaken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bewegen of verschuiven tekenen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twee effecten combineren.</a:t>
            </a:r>
          </a:p>
        </p:txBody>
      </p:sp>
      <p:sp>
        <p:nvSpPr>
          <p:cNvPr id="23" name="">
            <a:extLst xmlns:a="http://schemas.openxmlformats.org/drawingml/2006/main">
              <a:ext uri="{FF2B5EF4-FFF2-40B4-BE49-F238E27FC236}">
                <a16:creationId xmlns:a16="http://schemas.microsoft.com/office/drawing/2014/main" id="{7184167E-A7BD-4C8B-92D4-30AF41BA5D7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48D979D7-0B5B-4EB7-BFDE-DB3C0613C1D7}"/>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84B0672-FC79-4EC1-B02A-0D4CFD9DAE2E}"/>
              </a:ext>
            </a:extLst>
          </p:cNvPr>
          <p:cNvSpPr>
            <a:spLocks xmlns:a="http://schemas.openxmlformats.org/drawingml/2006/main" noGrp="1"/>
          </p:cNvSpPr>
          <p:nvPr/>
        </p:nvSpPr>
        <p:spPr>
          <a:xfrm xmlns:a="http://schemas.openxmlformats.org/drawingml/2006/main">
            <a:off x="9258300" y="4371975"/>
            <a:ext cx="53816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62 · Opgaven 12 en 13</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13: verkennen met de theorie</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op pagina 58–59</a:t>
            </a:r>
          </a:p>
        </p:txBody>
      </p:sp>
      <p:sp>
        <p:nvSpPr>
          <p:cNvPr id="26" name="">
            <a:extLst xmlns:a="http://schemas.openxmlformats.org/drawingml/2006/main">
              <a:ext uri="{FF2B5EF4-FFF2-40B4-BE49-F238E27FC236}">
                <a16:creationId xmlns:a16="http://schemas.microsoft.com/office/drawing/2014/main" id="{AED416E8-A32B-487E-8906-24E01CA04179}"/>
              </a:ext>
            </a:extLst>
          </p:cNvPr>
          <p:cNvSpPr>
            <a:spLocks xmlns:a="http://schemas.openxmlformats.org/drawingml/2006/main" noGrp="1"/>
          </p:cNvSpPr>
          <p:nvPr/>
        </p:nvSpPr>
        <p:spPr>
          <a:xfrm xmlns:a="http://schemas.openxmlformats.org/drawingml/2006/main">
            <a:off x="9258300" y="55626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67710A7C-6BDB-4674-B616-1983276DEB03}"/>
              </a:ext>
            </a:extLst>
          </p:cNvPr>
          <p:cNvSpPr>
            <a:spLocks xmlns:a="http://schemas.openxmlformats.org/drawingml/2006/main" noGrp="1"/>
          </p:cNvSpPr>
          <p:nvPr/>
        </p:nvSpPr>
        <p:spPr>
          <a:xfrm xmlns:a="http://schemas.openxmlformats.org/drawingml/2006/main">
            <a:off x="9258300" y="57721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2A953D0-80BA-4D96-BBBB-BBE7D1F83CC1}"/>
              </a:ext>
            </a:extLst>
          </p:cNvPr>
          <p:cNvSpPr>
            <a:spLocks xmlns:a="http://schemas.openxmlformats.org/drawingml/2006/main" noGrp="1"/>
          </p:cNvSpPr>
          <p:nvPr/>
        </p:nvSpPr>
        <p:spPr>
          <a:xfrm xmlns:a="http://schemas.openxmlformats.org/drawingml/2006/main">
            <a:off x="9258300" y="6296025"/>
            <a:ext cx="5381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§1.2.2 Vraagfactoren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14, 15 en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17 en 18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0703636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Wat kun je na deze les?">
            <a:extLst xmlns:a="http://schemas.openxmlformats.org/drawingml/2006/main">
              <a:ext uri="{FF2B5EF4-FFF2-40B4-BE49-F238E27FC236}">
                <a16:creationId xmlns:a16="http://schemas.microsoft.com/office/drawing/2014/main" id="{AA22E847-90A6-4B64-A6B7-8BC6AE7B2AE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B9B87165-1EDA-4A24-AF50-D4B5AB2F931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391DD773-F4C0-43A9-BF24-7746668B3340}"/>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2">
            <a:extLst xmlns:a="http://schemas.openxmlformats.org/drawingml/2006/main">
              <a:ext uri="{FF2B5EF4-FFF2-40B4-BE49-F238E27FC236}">
                <a16:creationId xmlns:a16="http://schemas.microsoft.com/office/drawing/2014/main" id="{41E1587A-9D0A-4B5A-A973-0A0E1D2B2D7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Oorzaak">
            <a:extLst xmlns:a="http://schemas.openxmlformats.org/drawingml/2006/main">
              <a:ext uri="{FF2B5EF4-FFF2-40B4-BE49-F238E27FC236}">
                <a16:creationId xmlns:a16="http://schemas.microsoft.com/office/drawing/2014/main" id="{D4C1176E-708C-4AC1-BF41-AC2634E6B778}"/>
              </a:ext>
            </a:extLst>
          </p:cNvPr>
          <p:cNvSpPr>
            <a:spLocks xmlns:a="http://schemas.openxmlformats.org/drawingml/2006/main" noGrp="1"/>
          </p:cNvSpPr>
          <p:nvPr/>
        </p:nvSpPr>
        <p:spPr>
          <a:xfrm xmlns:a="http://schemas.openxmlformats.org/drawingml/2006/main">
            <a:off x="571500" y="2076450"/>
            <a:ext cx="561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Oorzaak</a:t>
            </a:r>
          </a:p>
        </p:txBody>
      </p:sp>
      <p:sp>
        <p:nvSpPr>
          <p:cNvPr id="6" name="Eigen prijs of een andere vraagfactor?">
            <a:extLst xmlns:a="http://schemas.openxmlformats.org/drawingml/2006/main">
              <a:ext uri="{FF2B5EF4-FFF2-40B4-BE49-F238E27FC236}">
                <a16:creationId xmlns:a16="http://schemas.microsoft.com/office/drawing/2014/main" id="{54BFF058-C082-4E84-BB08-000AEBC27FBE}"/>
              </a:ext>
            </a:extLst>
          </p:cNvPr>
          <p:cNvSpPr>
            <a:spLocks xmlns:a="http://schemas.openxmlformats.org/drawingml/2006/main" noGrp="1"/>
          </p:cNvSpPr>
          <p:nvPr/>
        </p:nvSpPr>
        <p:spPr>
          <a:xfrm xmlns:a="http://schemas.openxmlformats.org/drawingml/2006/main">
            <a:off x="6572250" y="2076450"/>
            <a:ext cx="809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Eigen prijs of een andere vraagfactor?</a:t>
            </a:r>
          </a:p>
        </p:txBody>
      </p:sp>
      <p:sp>
        <p:nvSpPr>
          <p:cNvPr id="7" name="">
            <a:extLst xmlns:a="http://schemas.openxmlformats.org/drawingml/2006/main">
              <a:ext uri="{FF2B5EF4-FFF2-40B4-BE49-F238E27FC236}">
                <a16:creationId xmlns:a16="http://schemas.microsoft.com/office/drawing/2014/main" id="{44F20269-83C0-4601-AFE3-4A784F9E5DA5}"/>
              </a:ext>
            </a:extLst>
          </p:cNvPr>
          <p:cNvSpPr>
            <a:spLocks xmlns:a="http://schemas.openxmlformats.org/drawingml/2006/main" noGrp="1"/>
          </p:cNvSpPr>
          <p:nvPr/>
        </p:nvSpPr>
        <p:spPr>
          <a:xfrm xmlns:a="http://schemas.openxmlformats.org/drawingml/2006/main">
            <a:off x="571500" y="3209925"/>
            <a:ext cx="14097000" cy="0"/>
          </a:xfrm>
          <a:prstGeom xmlns:a="http://schemas.openxmlformats.org/drawingml/2006/main" prst="line">
            <a:avLst/>
          </a:prstGeom>
          <a:ln xmlns:a="http://schemas.openxmlformats.org/drawingml/2006/main" w="19050">
            <a:solidFill>
              <a:srgbClr val="C6D2DB"/>
            </a:solidFill>
          </a:ln>
        </p:spPr>
      </p:sp>
      <p:sp>
        <p:nvSpPr>
          <p:cNvPr id="8" name="Grafiek">
            <a:extLst xmlns:a="http://schemas.openxmlformats.org/drawingml/2006/main">
              <a:ext uri="{FF2B5EF4-FFF2-40B4-BE49-F238E27FC236}">
                <a16:creationId xmlns:a16="http://schemas.microsoft.com/office/drawing/2014/main" id="{1F0C4C78-4C33-480F-8D3F-1091CE713E05}"/>
              </a:ext>
            </a:extLst>
          </p:cNvPr>
          <p:cNvSpPr>
            <a:spLocks xmlns:a="http://schemas.openxmlformats.org/drawingml/2006/main" noGrp="1"/>
          </p:cNvSpPr>
          <p:nvPr/>
        </p:nvSpPr>
        <p:spPr>
          <a:xfrm xmlns:a="http://schemas.openxmlformats.org/drawingml/2006/main">
            <a:off x="571500" y="3552825"/>
            <a:ext cx="561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Grafiek</a:t>
            </a:r>
          </a:p>
        </p:txBody>
      </p:sp>
      <p:sp>
        <p:nvSpPr>
          <p:cNvPr id="9" name="Een ander punt of een andere lijn?">
            <a:extLst xmlns:a="http://schemas.openxmlformats.org/drawingml/2006/main">
              <a:ext uri="{FF2B5EF4-FFF2-40B4-BE49-F238E27FC236}">
                <a16:creationId xmlns:a16="http://schemas.microsoft.com/office/drawing/2014/main" id="{9F731EBD-7B8F-49F1-8A25-C0DA9EE4A769}"/>
              </a:ext>
            </a:extLst>
          </p:cNvPr>
          <p:cNvSpPr>
            <a:spLocks xmlns:a="http://schemas.openxmlformats.org/drawingml/2006/main" noGrp="1"/>
          </p:cNvSpPr>
          <p:nvPr/>
        </p:nvSpPr>
        <p:spPr>
          <a:xfrm xmlns:a="http://schemas.openxmlformats.org/drawingml/2006/main">
            <a:off x="6572250" y="3552825"/>
            <a:ext cx="809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Een ander punt of een andere lijn?</a:t>
            </a:r>
          </a:p>
        </p:txBody>
      </p:sp>
      <p:sp>
        <p:nvSpPr>
          <p:cNvPr id="10" name="">
            <a:extLst xmlns:a="http://schemas.openxmlformats.org/drawingml/2006/main">
              <a:ext uri="{FF2B5EF4-FFF2-40B4-BE49-F238E27FC236}">
                <a16:creationId xmlns:a16="http://schemas.microsoft.com/office/drawing/2014/main" id="{AE5E0760-8D32-4FC0-ADD8-0DF27DABC2BC}"/>
              </a:ext>
            </a:extLst>
          </p:cNvPr>
          <p:cNvSpPr>
            <a:spLocks xmlns:a="http://schemas.openxmlformats.org/drawingml/2006/main" noGrp="1"/>
          </p:cNvSpPr>
          <p:nvPr/>
        </p:nvSpPr>
        <p:spPr>
          <a:xfrm xmlns:a="http://schemas.openxmlformats.org/drawingml/2006/main">
            <a:off x="571500" y="4686300"/>
            <a:ext cx="14097000" cy="0"/>
          </a:xfrm>
          <a:prstGeom xmlns:a="http://schemas.openxmlformats.org/drawingml/2006/main" prst="line">
            <a:avLst/>
          </a:prstGeom>
          <a:ln xmlns:a="http://schemas.openxmlformats.org/drawingml/2006/main" w="19050">
            <a:solidFill>
              <a:srgbClr val="C6D2DB"/>
            </a:solidFill>
          </a:ln>
        </p:spPr>
      </p:sp>
      <p:sp>
        <p:nvSpPr>
          <p:cNvPr id="11" name="Twee veranderingen">
            <a:extLst xmlns:a="http://schemas.openxmlformats.org/drawingml/2006/main">
              <a:ext uri="{FF2B5EF4-FFF2-40B4-BE49-F238E27FC236}">
                <a16:creationId xmlns:a16="http://schemas.microsoft.com/office/drawing/2014/main" id="{ACE9FAE8-976D-4212-A923-F561C7508DF5}"/>
              </a:ext>
            </a:extLst>
          </p:cNvPr>
          <p:cNvSpPr>
            <a:spLocks xmlns:a="http://schemas.openxmlformats.org/drawingml/2006/main" noGrp="1"/>
          </p:cNvSpPr>
          <p:nvPr/>
        </p:nvSpPr>
        <p:spPr>
          <a:xfrm xmlns:a="http://schemas.openxmlformats.org/drawingml/2006/main">
            <a:off x="571500" y="5029200"/>
            <a:ext cx="561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Twee veranderingen</a:t>
            </a:r>
          </a:p>
        </p:txBody>
      </p:sp>
      <p:sp>
        <p:nvSpPr>
          <p:cNvPr id="12" name="Eerst afzonderlijk, daarna samen.">
            <a:extLst xmlns:a="http://schemas.openxmlformats.org/drawingml/2006/main">
              <a:ext uri="{FF2B5EF4-FFF2-40B4-BE49-F238E27FC236}">
                <a16:creationId xmlns:a16="http://schemas.microsoft.com/office/drawing/2014/main" id="{B7DDB34B-5080-430D-96AC-74BB14E873CB}"/>
              </a:ext>
            </a:extLst>
          </p:cNvPr>
          <p:cNvSpPr>
            <a:spLocks xmlns:a="http://schemas.openxmlformats.org/drawingml/2006/main" noGrp="1"/>
          </p:cNvSpPr>
          <p:nvPr/>
        </p:nvSpPr>
        <p:spPr>
          <a:xfrm xmlns:a="http://schemas.openxmlformats.org/drawingml/2006/main">
            <a:off x="6572250" y="5029200"/>
            <a:ext cx="809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Eerst afzonderlijk, daarna samen.</a:t>
            </a:r>
          </a:p>
        </p:txBody>
      </p:sp>
      <p:sp>
        <p:nvSpPr>
          <p:cNvPr id="13" name="">
            <a:extLst xmlns:a="http://schemas.openxmlformats.org/drawingml/2006/main">
              <a:ext uri="{FF2B5EF4-FFF2-40B4-BE49-F238E27FC236}">
                <a16:creationId xmlns:a16="http://schemas.microsoft.com/office/drawing/2014/main" id="{29AF9D6C-805D-4956-A3F8-49C662E39027}"/>
              </a:ext>
            </a:extLst>
          </p:cNvPr>
          <p:cNvSpPr>
            <a:spLocks xmlns:a="http://schemas.openxmlformats.org/drawingml/2006/main" noGrp="1"/>
          </p:cNvSpPr>
          <p:nvPr/>
        </p:nvSpPr>
        <p:spPr>
          <a:xfrm xmlns:a="http://schemas.openxmlformats.org/drawingml/2006/main">
            <a:off x="571500" y="6162675"/>
            <a:ext cx="14097000" cy="0"/>
          </a:xfrm>
          <a:prstGeom xmlns:a="http://schemas.openxmlformats.org/drawingml/2006/main" prst="line">
            <a:avLst/>
          </a:prstGeom>
          <a:ln xmlns:a="http://schemas.openxmlformats.org/drawingml/2006/main" w="19050">
            <a:solidFill>
              <a:srgbClr val="C6D2DB"/>
            </a:solidFill>
          </a:ln>
        </p:spPr>
      </p:sp>
      <p:sp>
        <p:nvSpPr>
          <p:cNvPr id="14" name="Eerst het product en de periode kiezen">
            <a:extLst xmlns:a="http://schemas.openxmlformats.org/drawingml/2006/main">
              <a:ext uri="{FF2B5EF4-FFF2-40B4-BE49-F238E27FC236}">
                <a16:creationId xmlns:a16="http://schemas.microsoft.com/office/drawing/2014/main" id="{0EF70209-F121-4A1D-9049-2721977C3D0B}"/>
              </a:ext>
            </a:extLst>
          </p:cNvPr>
          <p:cNvSpPr>
            <a:spLocks xmlns:a="http://schemas.openxmlformats.org/drawingml/2006/main" noGrp="1"/>
          </p:cNvSpPr>
          <p:nvPr/>
        </p:nvSpPr>
        <p:spPr>
          <a:xfrm xmlns:a="http://schemas.openxmlformats.org/drawingml/2006/main">
            <a:off x="571500" y="70866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Eerst het product en de periode kiezen</a:t>
            </a:r>
          </a:p>
        </p:txBody>
      </p:sp>
    </p:spTree>
    <p:extLst>
      <p:ext uri="{BB962C8B-B14F-4D97-AF65-F5344CB8AC3E}">
        <p14:creationId xmlns:p14="http://schemas.microsoft.com/office/powerpoint/2010/main" val="256085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tadfiets: twee veranderingen">
            <a:extLst xmlns:a="http://schemas.openxmlformats.org/drawingml/2006/main">
              <a:ext uri="{FF2B5EF4-FFF2-40B4-BE49-F238E27FC236}">
                <a16:creationId xmlns:a16="http://schemas.microsoft.com/office/drawing/2014/main" id="{9F55A731-BC77-467A-B58E-02BAA195F7F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Stadfiets: twee veranderingen</a:t>
            </a:r>
          </a:p>
        </p:txBody>
      </p:sp>
      <p:sp>
        <p:nvSpPr>
          <p:cNvPr id="2" name="">
            <a:extLst xmlns:a="http://schemas.openxmlformats.org/drawingml/2006/main">
              <a:ext uri="{FF2B5EF4-FFF2-40B4-BE49-F238E27FC236}">
                <a16:creationId xmlns:a16="http://schemas.microsoft.com/office/drawing/2014/main" id="{00BFC07C-68F6-4706-8987-ACF01F113EC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6E5E7331-4BC7-4BDF-8FB3-DBC0DBD9FA8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3">
            <a:extLst xmlns:a="http://schemas.openxmlformats.org/drawingml/2006/main">
              <a:ext uri="{FF2B5EF4-FFF2-40B4-BE49-F238E27FC236}">
                <a16:creationId xmlns:a16="http://schemas.microsoft.com/office/drawing/2014/main" id="{E9FAEC09-0674-43DA-A233-9FE96097CD5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E24A293C-C103-4061-950A-7065B1C00FAD}"/>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Q = 90 − 3P">
            <a:extLst xmlns:a="http://schemas.openxmlformats.org/drawingml/2006/main">
              <a:ext uri="{FF2B5EF4-FFF2-40B4-BE49-F238E27FC236}">
                <a16:creationId xmlns:a16="http://schemas.microsoft.com/office/drawing/2014/main" id="{06F41619-5725-451D-A35B-42964A6D5FC6}"/>
              </a:ext>
            </a:extLst>
          </p:cNvPr>
          <p:cNvSpPr>
            <a:spLocks xmlns:a="http://schemas.openxmlformats.org/drawingml/2006/main" noGrp="1"/>
          </p:cNvSpPr>
          <p:nvPr/>
        </p:nvSpPr>
        <p:spPr>
          <a:xfrm xmlns:a="http://schemas.openxmlformats.org/drawingml/2006/main">
            <a:off x="571500" y="2476500"/>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a:solidFill>
                  <a:srgbClr val="1A5276"/>
                </a:solidFill>
                <a:latin typeface="Arial"/>
                <a:ea typeface="Arial"/>
                <a:cs typeface="Arial"/>
              </a:defRPr>
            </a:pPr>
            <a:r>
              <a:rPr sz="4275" b="1">
                <a:solidFill>
                  <a:srgbClr val="1A5276"/>
                </a:solidFill>
                <a:latin typeface="Arial"/>
                <a:ea typeface="Arial"/>
                <a:cs typeface="Arial"/>
              </a:rPr>
              <a:t>Q = 90 − 3P</a:t>
            </a:r>
          </a:p>
        </p:txBody>
      </p:sp>
      <p:sp>
        <p:nvSpPr>
          <p:cNvPr id="7" name="Q: fietsen per dag&#10;P: euro per fiets per dag&#10;Geldig voor 0 ≤ P ≤ ">
            <a:extLst xmlns:a="http://schemas.openxmlformats.org/drawingml/2006/main">
              <a:ext uri="{FF2B5EF4-FFF2-40B4-BE49-F238E27FC236}">
                <a16:creationId xmlns:a16="http://schemas.microsoft.com/office/drawing/2014/main" id="{4561B608-6506-4655-A540-403C8C20A6A4}"/>
              </a:ext>
            </a:extLst>
          </p:cNvPr>
          <p:cNvSpPr>
            <a:spLocks xmlns:a="http://schemas.openxmlformats.org/drawingml/2006/main" noGrp="1"/>
          </p:cNvSpPr>
          <p:nvPr/>
        </p:nvSpPr>
        <p:spPr>
          <a:xfrm xmlns:a="http://schemas.openxmlformats.org/drawingml/2006/main">
            <a:off x="9048750" y="2381250"/>
            <a:ext cx="5619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fietsen per dag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euro per fiets per dag</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Geldig voor 0 ≤ P ≤ 30</a:t>
            </a:r>
          </a:p>
        </p:txBody>
      </p:sp>
      <p:graphicFrame>
        <p:nvGraphicFramePr>
          <p:cNvPr id="17" name=""/>
          <p:cNvGraphicFramePr/>
          <p:nvPr/>
        </p:nvGraphicFramePr>
        <p:xfrm>
          <a:off xmlns:a="http://schemas.openxmlformats.org/drawingml/2006/main" x="571500" y="4152900"/>
          <a:ext xmlns:a="http://schemas.openxmlformats.org/drawingml/2006/main" cx="14097000" cy="2600325"/>
        </p:xfrm>
        <a:graphic xmlns:a="http://schemas.openxmlformats.org/drawingml/2006/main">
          <a:graphicData uri="http://schemas.openxmlformats.org/drawingml/2006/table">
            <a:tbl>
              <a:tblPr/>
              <a:tblGrid>
                <a:gridCol w="5334000"/>
                <a:gridCol w="8763000"/>
              </a:tblGrid>
              <a:tr h="866775">
                <a:tc>
                  <a:txBody>
                    <a:bodyPr lIns="171450" tIns="95250" rIns="152400" bIns="95250"/>
                    <a:lstStyle/>
                    <a:p>
                      <a:r>
                        <a:rPr sz="2550" b="1">
                          <a:solidFill>
                            <a:srgbClr val="FFFFFF"/>
                          </a:solidFill>
                          <a:latin typeface="Arial"/>
                          <a:ea typeface="Arial"/>
                          <a:cs typeface="Arial"/>
                        </a:rPr>
                        <a:t>Verandering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Gegeven in dit voorbeeld</a:t>
                      </a:r>
                    </a:p>
                  </a:txBody>
                  <a:tcPr marL="91440" marR="91440" marT="45720" marB="45720" anchor="ctr">
                    <a:solidFill>
                      <a:srgbClr val="183247"/>
                    </a:solidFill>
                  </a:tcPr>
                </a:tc>
              </a:tr>
              <a:tr h="866775">
                <a:tc>
                  <a:txBody>
                    <a:bodyPr lIns="171450" tIns="95250" rIns="152400" bIns="95250"/>
                    <a:lstStyle/>
                    <a:p>
                      <a:r>
                        <a:rPr sz="2550" b="0">
                          <a:solidFill>
                            <a:srgbClr val="183247"/>
                          </a:solidFill>
                          <a:latin typeface="Arial"/>
                          <a:ea typeface="Arial"/>
                          <a:cs typeface="Arial"/>
                        </a:rPr>
                        <a:t>Eigen huurprijs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Van € 10 naar € 14 per fiets per dag</a:t>
                      </a:r>
                    </a:p>
                  </a:txBody>
                  <a:tcPr marL="91440" marR="91440" marT="45720" marB="45720" anchor="ctr">
                    <a:solidFill>
                      <a:srgbClr val="FFFFFF"/>
                    </a:solidFill>
                  </a:tcPr>
                </a:tc>
              </a:tr>
              <a:tr h="866775">
                <a:tc>
                  <a:txBody>
                    <a:bodyPr lIns="171450" tIns="95250" rIns="152400" bIns="95250"/>
                    <a:lstStyle/>
                    <a:p>
                      <a:r>
                        <a:rPr sz="2550" b="0">
                          <a:solidFill>
                            <a:srgbClr val="183247"/>
                          </a:solidFill>
                          <a:latin typeface="Arial"/>
                          <a:ea typeface="Arial"/>
                          <a:cs typeface="Arial"/>
                        </a:rPr>
                        <a:t>Scooterverhuur wordt duurder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Een substituut. Bij elke prijs 18 fietsen meer gevraagd.</a:t>
                      </a:r>
                    </a:p>
                  </a:txBody>
                  <a:tcPr marL="91440" marR="91440" marT="45720" marB="45720" anchor="ctr">
                    <a:solidFill>
                      <a:srgbClr val="EFF4F7"/>
                    </a:solidFill>
                  </a:tcPr>
                </a:tc>
              </a:tr>
            </a:tbl>
          </a:graphicData>
        </a:graphic>
      </p:graphicFrame>
      <p:sp>
        <p:nvSpPr>
          <p:cNvPr id="9" name="De nieuwe lijn blijft recht tot Q = 0. Verder verandert niets.">
            <a:extLst xmlns:a="http://schemas.openxmlformats.org/drawingml/2006/main">
              <a:ext uri="{FF2B5EF4-FFF2-40B4-BE49-F238E27FC236}">
                <a16:creationId xmlns:a16="http://schemas.microsoft.com/office/drawing/2014/main" id="{BC83111E-38C8-4EC9-BD43-4212D47A146F}"/>
              </a:ext>
            </a:extLst>
          </p:cNvPr>
          <p:cNvSpPr>
            <a:spLocks xmlns:a="http://schemas.openxmlformats.org/drawingml/2006/main" noGrp="1"/>
          </p:cNvSpPr>
          <p:nvPr/>
        </p:nvSpPr>
        <p:spPr>
          <a:xfrm xmlns:a="http://schemas.openxmlformats.org/drawingml/2006/main">
            <a:off x="571500" y="720090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De nieuwe lijn blijft recht tot Q = 0. Verder verandert niets.</a:t>
            </a:r>
          </a:p>
        </p:txBody>
      </p:sp>
    </p:spTree>
    <p:extLst>
      <p:ext uri="{BB962C8B-B14F-4D97-AF65-F5344CB8AC3E}">
        <p14:creationId xmlns:p14="http://schemas.microsoft.com/office/powerpoint/2010/main" val="4138962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 oude vraaglijn en het beginpunt">
            <a:extLst xmlns:a="http://schemas.openxmlformats.org/drawingml/2006/main">
              <a:ext uri="{FF2B5EF4-FFF2-40B4-BE49-F238E27FC236}">
                <a16:creationId xmlns:a16="http://schemas.microsoft.com/office/drawing/2014/main" id="{D67BEE6C-3619-48D2-9685-49606BDEF2C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oude vraaglijn en het beginpunt</a:t>
            </a:r>
          </a:p>
        </p:txBody>
      </p:sp>
      <p:sp>
        <p:nvSpPr>
          <p:cNvPr id="2" name="">
            <a:extLst xmlns:a="http://schemas.openxmlformats.org/drawingml/2006/main">
              <a:ext uri="{FF2B5EF4-FFF2-40B4-BE49-F238E27FC236}">
                <a16:creationId xmlns:a16="http://schemas.microsoft.com/office/drawing/2014/main" id="{0A339805-026C-4B45-8AF1-E61636F9D28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C246EDD2-0BC7-464D-857D-73C8B57344A2}"/>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4">
            <a:extLst xmlns:a="http://schemas.openxmlformats.org/drawingml/2006/main">
              <a:ext uri="{FF2B5EF4-FFF2-40B4-BE49-F238E27FC236}">
                <a16:creationId xmlns:a16="http://schemas.microsoft.com/office/drawing/2014/main" id="{7CE88E79-73BA-403F-A83D-3FDDC6765CD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DF0D0AD7-BB11-48B2-8E57-673836EDE130}"/>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238375"/>
          <a:ext xmlns:a="http://schemas.openxmlformats.org/drawingml/2006/main" cx="9620250" cy="5276850"/>
        </p:xfrm>
        <a:graphic xmlns:a="http://schemas.openxmlformats.org/drawingml/2006/main">
          <a:graphicData uri="http://schemas.openxmlformats.org/drawingml/2006/chart">
            <c:chart xmlns:r="http://schemas.openxmlformats.org/officeDocument/2006/relationships" xmlns:c="http://schemas.openxmlformats.org/drawingml/2006/chart" r:id="R14ecf08c82bd4507"/>
          </a:graphicData>
        </a:graphic>
      </p:graphicFrame>
      <p:sp>
        <p:nvSpPr>
          <p:cNvPr id="7" name="Bij P = € 10">
            <a:extLst xmlns:a="http://schemas.openxmlformats.org/drawingml/2006/main">
              <a:ext uri="{FF2B5EF4-FFF2-40B4-BE49-F238E27FC236}">
                <a16:creationId xmlns:a16="http://schemas.microsoft.com/office/drawing/2014/main" id="{7FDD6979-90A7-4B91-B89A-18A75543B47C}"/>
              </a:ext>
            </a:extLst>
          </p:cNvPr>
          <p:cNvSpPr>
            <a:spLocks xmlns:a="http://schemas.openxmlformats.org/drawingml/2006/main" noGrp="1"/>
          </p:cNvSpPr>
          <p:nvPr/>
        </p:nvSpPr>
        <p:spPr>
          <a:xfrm xmlns:a="http://schemas.openxmlformats.org/drawingml/2006/main">
            <a:off x="10763250" y="241935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Bij P = € 10</a:t>
            </a:r>
          </a:p>
        </p:txBody>
      </p:sp>
      <p:sp>
        <p:nvSpPr>
          <p:cNvPr id="8" name="Q = 90 − 3 × 10&#10;Q = 60">
            <a:extLst xmlns:a="http://schemas.openxmlformats.org/drawingml/2006/main">
              <a:ext uri="{FF2B5EF4-FFF2-40B4-BE49-F238E27FC236}">
                <a16:creationId xmlns:a16="http://schemas.microsoft.com/office/drawing/2014/main" id="{44D9A60B-34C9-4A8D-8C78-0C571E484E2D}"/>
              </a:ext>
            </a:extLst>
          </p:cNvPr>
          <p:cNvSpPr>
            <a:spLocks xmlns:a="http://schemas.openxmlformats.org/drawingml/2006/main" noGrp="1"/>
          </p:cNvSpPr>
          <p:nvPr/>
        </p:nvSpPr>
        <p:spPr>
          <a:xfrm xmlns:a="http://schemas.openxmlformats.org/drawingml/2006/main">
            <a:off x="10763250" y="3267075"/>
            <a:ext cx="3905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Q = 90 − 3 × 10</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Q = 60</a:t>
            </a:r>
          </a:p>
        </p:txBody>
      </p:sp>
      <p:sp>
        <p:nvSpPr>
          <p:cNvPr id="9" name="A = (60; 10)">
            <a:extLst xmlns:a="http://schemas.openxmlformats.org/drawingml/2006/main">
              <a:ext uri="{FF2B5EF4-FFF2-40B4-BE49-F238E27FC236}">
                <a16:creationId xmlns:a16="http://schemas.microsoft.com/office/drawing/2014/main" id="{BC42DE8A-3DF9-439B-BC56-B2D069476CA4}"/>
              </a:ext>
            </a:extLst>
          </p:cNvPr>
          <p:cNvSpPr>
            <a:spLocks xmlns:a="http://schemas.openxmlformats.org/drawingml/2006/main" noGrp="1"/>
          </p:cNvSpPr>
          <p:nvPr/>
        </p:nvSpPr>
        <p:spPr>
          <a:xfrm xmlns:a="http://schemas.openxmlformats.org/drawingml/2006/main">
            <a:off x="10763250" y="4953000"/>
            <a:ext cx="3905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A = (60; 10)</a:t>
            </a:r>
          </a:p>
        </p:txBody>
      </p:sp>
      <p:sp>
        <p:nvSpPr>
          <p:cNvPr id="10" name="Q horizontaal&#10;P verticaal">
            <a:extLst xmlns:a="http://schemas.openxmlformats.org/drawingml/2006/main">
              <a:ext uri="{FF2B5EF4-FFF2-40B4-BE49-F238E27FC236}">
                <a16:creationId xmlns:a16="http://schemas.microsoft.com/office/drawing/2014/main" id="{74AD8DF6-3F42-45BD-BB90-4EDE3DDFEE44}"/>
              </a:ext>
            </a:extLst>
          </p:cNvPr>
          <p:cNvSpPr>
            <a:spLocks xmlns:a="http://schemas.openxmlformats.org/drawingml/2006/main" noGrp="1"/>
          </p:cNvSpPr>
          <p:nvPr/>
        </p:nvSpPr>
        <p:spPr>
          <a:xfrm xmlns:a="http://schemas.openxmlformats.org/drawingml/2006/main">
            <a:off x="10763250" y="6076950"/>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horizontaal</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P verticaal</a:t>
            </a:r>
          </a:p>
        </p:txBody>
      </p:sp>
    </p:spTree>
    <p:extLst>
      <p:ext uri="{BB962C8B-B14F-4D97-AF65-F5344CB8AC3E}">
        <p14:creationId xmlns:p14="http://schemas.microsoft.com/office/powerpoint/2010/main" val="3308953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igen prijs: bewegen langs V₀">
            <a:extLst xmlns:a="http://schemas.openxmlformats.org/drawingml/2006/main">
              <a:ext uri="{FF2B5EF4-FFF2-40B4-BE49-F238E27FC236}">
                <a16:creationId xmlns:a16="http://schemas.microsoft.com/office/drawing/2014/main" id="{47012540-D12A-403D-8B9D-F8B4F69148E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Eigen prijs: bewegen langs V₀</a:t>
            </a:r>
          </a:p>
        </p:txBody>
      </p:sp>
      <p:sp>
        <p:nvSpPr>
          <p:cNvPr id="2" name="">
            <a:extLst xmlns:a="http://schemas.openxmlformats.org/drawingml/2006/main">
              <a:ext uri="{FF2B5EF4-FFF2-40B4-BE49-F238E27FC236}">
                <a16:creationId xmlns:a16="http://schemas.microsoft.com/office/drawing/2014/main" id="{34663FF2-2280-4911-AA3A-A3FA0381843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1C815108-39A7-4836-8D5A-BC38361195C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5">
            <a:extLst xmlns:a="http://schemas.openxmlformats.org/drawingml/2006/main">
              <a:ext uri="{FF2B5EF4-FFF2-40B4-BE49-F238E27FC236}">
                <a16:creationId xmlns:a16="http://schemas.microsoft.com/office/drawing/2014/main" id="{93875AC6-1179-46A7-8E1E-1C9D92755CD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EE4203BF-20C8-4714-8F8F-B048F141001F}"/>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238375"/>
          <a:ext xmlns:a="http://schemas.openxmlformats.org/drawingml/2006/main" cx="9620250" cy="5276850"/>
        </p:xfrm>
        <a:graphic xmlns:a="http://schemas.openxmlformats.org/drawingml/2006/main">
          <a:graphicData uri="http://schemas.openxmlformats.org/drawingml/2006/chart">
            <c:chart xmlns:r="http://schemas.openxmlformats.org/officeDocument/2006/relationships" xmlns:c="http://schemas.openxmlformats.org/drawingml/2006/chart" r:id="R8322ae1c1946413f"/>
          </a:graphicData>
        </a:graphic>
      </p:graphicFrame>
      <p:sp>
        <p:nvSpPr>
          <p:cNvPr id="7" name="€ 10 wordt € 14">
            <a:extLst xmlns:a="http://schemas.openxmlformats.org/drawingml/2006/main">
              <a:ext uri="{FF2B5EF4-FFF2-40B4-BE49-F238E27FC236}">
                <a16:creationId xmlns:a16="http://schemas.microsoft.com/office/drawing/2014/main" id="{56F7A0B4-9545-4239-B78E-F4BD2813241F}"/>
              </a:ext>
            </a:extLst>
          </p:cNvPr>
          <p:cNvSpPr>
            <a:spLocks xmlns:a="http://schemas.openxmlformats.org/drawingml/2006/main" noGrp="1"/>
          </p:cNvSpPr>
          <p:nvPr/>
        </p:nvSpPr>
        <p:spPr>
          <a:xfrm xmlns:a="http://schemas.openxmlformats.org/drawingml/2006/main">
            <a:off x="10763250" y="232410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€ 10 wordt € 14</a:t>
            </a:r>
          </a:p>
        </p:txBody>
      </p:sp>
      <p:sp>
        <p:nvSpPr>
          <p:cNvPr id="8" name="Q = 90 − 3 × 14&#10;Q = 48">
            <a:extLst xmlns:a="http://schemas.openxmlformats.org/drawingml/2006/main">
              <a:ext uri="{FF2B5EF4-FFF2-40B4-BE49-F238E27FC236}">
                <a16:creationId xmlns:a16="http://schemas.microsoft.com/office/drawing/2014/main" id="{157B4636-3411-4249-AE79-9C66C4D76B18}"/>
              </a:ext>
            </a:extLst>
          </p:cNvPr>
          <p:cNvSpPr>
            <a:spLocks xmlns:a="http://schemas.openxmlformats.org/drawingml/2006/main" noGrp="1"/>
          </p:cNvSpPr>
          <p:nvPr/>
        </p:nvSpPr>
        <p:spPr>
          <a:xfrm xmlns:a="http://schemas.openxmlformats.org/drawingml/2006/main">
            <a:off x="10763250" y="3324225"/>
            <a:ext cx="3905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Q = 90 − 3 × 14</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Q = 48</a:t>
            </a:r>
          </a:p>
        </p:txBody>
      </p:sp>
      <p:sp>
        <p:nvSpPr>
          <p:cNvPr id="9" name="B = (48; 14)">
            <a:extLst xmlns:a="http://schemas.openxmlformats.org/drawingml/2006/main">
              <a:ext uri="{FF2B5EF4-FFF2-40B4-BE49-F238E27FC236}">
                <a16:creationId xmlns:a16="http://schemas.microsoft.com/office/drawing/2014/main" id="{A35BD789-19B6-4AF6-81CD-E6C05FD1C339}"/>
              </a:ext>
            </a:extLst>
          </p:cNvPr>
          <p:cNvSpPr>
            <a:spLocks xmlns:a="http://schemas.openxmlformats.org/drawingml/2006/main" noGrp="1"/>
          </p:cNvSpPr>
          <p:nvPr/>
        </p:nvSpPr>
        <p:spPr>
          <a:xfrm xmlns:a="http://schemas.openxmlformats.org/drawingml/2006/main">
            <a:off x="10763250" y="5000625"/>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 = (48; 14)</a:t>
            </a:r>
          </a:p>
        </p:txBody>
      </p:sp>
      <p:sp>
        <p:nvSpPr>
          <p:cNvPr id="10" name="12 fietsen minder&#10;De lijn blijft gelijk.">
            <a:extLst xmlns:a="http://schemas.openxmlformats.org/drawingml/2006/main">
              <a:ext uri="{FF2B5EF4-FFF2-40B4-BE49-F238E27FC236}">
                <a16:creationId xmlns:a16="http://schemas.microsoft.com/office/drawing/2014/main" id="{247B9C90-A2C9-4914-91C2-E04CBD5A3733}"/>
              </a:ext>
            </a:extLst>
          </p:cNvPr>
          <p:cNvSpPr>
            <a:spLocks xmlns:a="http://schemas.openxmlformats.org/drawingml/2006/main" noGrp="1"/>
          </p:cNvSpPr>
          <p:nvPr/>
        </p:nvSpPr>
        <p:spPr>
          <a:xfrm xmlns:a="http://schemas.openxmlformats.org/drawingml/2006/main">
            <a:off x="10763250" y="6191250"/>
            <a:ext cx="3905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12 fietsen minder</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 lijn blijft gelijk.</a:t>
            </a:r>
          </a:p>
        </p:txBody>
      </p:sp>
    </p:spTree>
    <p:extLst>
      <p:ext uri="{BB962C8B-B14F-4D97-AF65-F5344CB8AC3E}">
        <p14:creationId xmlns:p14="http://schemas.microsoft.com/office/powerpoint/2010/main" val="18303868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ndere prijs: de vraaglijn verschuift">
            <a:extLst xmlns:a="http://schemas.openxmlformats.org/drawingml/2006/main">
              <a:ext uri="{FF2B5EF4-FFF2-40B4-BE49-F238E27FC236}">
                <a16:creationId xmlns:a16="http://schemas.microsoft.com/office/drawing/2014/main" id="{F49DC8E6-0B96-4A4C-848A-E5A18351698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Andere prijs: de vraaglijn verschuift</a:t>
            </a:r>
          </a:p>
        </p:txBody>
      </p:sp>
      <p:sp>
        <p:nvSpPr>
          <p:cNvPr id="2" name="">
            <a:extLst xmlns:a="http://schemas.openxmlformats.org/drawingml/2006/main">
              <a:ext uri="{FF2B5EF4-FFF2-40B4-BE49-F238E27FC236}">
                <a16:creationId xmlns:a16="http://schemas.microsoft.com/office/drawing/2014/main" id="{5291D962-B7B7-4CD7-989C-63C115F9991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151A99A5-AC0C-49AA-9F3F-60FBD4D2958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6">
            <a:extLst xmlns:a="http://schemas.openxmlformats.org/drawingml/2006/main">
              <a:ext uri="{FF2B5EF4-FFF2-40B4-BE49-F238E27FC236}">
                <a16:creationId xmlns:a16="http://schemas.microsoft.com/office/drawing/2014/main" id="{7AC931DB-B62D-4A12-A3AA-A398BCD12E1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F1E17747-F73E-4990-AD08-9D00B0C4D5E5}"/>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238375"/>
          <a:ext xmlns:a="http://schemas.openxmlformats.org/drawingml/2006/main" cx="9620250" cy="5276850"/>
        </p:xfrm>
        <a:graphic xmlns:a="http://schemas.openxmlformats.org/drawingml/2006/main">
          <a:graphicData uri="http://schemas.openxmlformats.org/drawingml/2006/chart">
            <c:chart xmlns:r="http://schemas.openxmlformats.org/officeDocument/2006/relationships" xmlns:c="http://schemas.openxmlformats.org/drawingml/2006/chart" r:id="R5be419f57bd640ea"/>
          </a:graphicData>
        </a:graphic>
      </p:graphicFrame>
      <p:sp>
        <p:nvSpPr>
          <p:cNvPr id="7" name="Bij dezelfde € 14">
            <a:extLst xmlns:a="http://schemas.openxmlformats.org/drawingml/2006/main">
              <a:ext uri="{FF2B5EF4-FFF2-40B4-BE49-F238E27FC236}">
                <a16:creationId xmlns:a16="http://schemas.microsoft.com/office/drawing/2014/main" id="{95181696-DC18-43E7-9FED-09D2AF53590F}"/>
              </a:ext>
            </a:extLst>
          </p:cNvPr>
          <p:cNvSpPr>
            <a:spLocks xmlns:a="http://schemas.openxmlformats.org/drawingml/2006/main" noGrp="1"/>
          </p:cNvSpPr>
          <p:nvPr/>
        </p:nvSpPr>
        <p:spPr>
          <a:xfrm xmlns:a="http://schemas.openxmlformats.org/drawingml/2006/main">
            <a:off x="10763250" y="232410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665B"/>
                </a:solidFill>
                <a:latin typeface="Arial"/>
                <a:ea typeface="Arial"/>
                <a:cs typeface="Arial"/>
              </a:defRPr>
            </a:pPr>
            <a:r>
              <a:rPr sz="2775" b="1">
                <a:solidFill>
                  <a:srgbClr val="20665B"/>
                </a:solidFill>
                <a:latin typeface="Arial"/>
                <a:ea typeface="Arial"/>
                <a:cs typeface="Arial"/>
              </a:rPr>
              <a:t>Bij dezelfde € 14</a:t>
            </a:r>
          </a:p>
        </p:txBody>
      </p:sp>
      <p:sp>
        <p:nvSpPr>
          <p:cNvPr id="8" name="48 + 18 = 66&#10;fietsen per dag">
            <a:extLst xmlns:a="http://schemas.openxmlformats.org/drawingml/2006/main">
              <a:ext uri="{FF2B5EF4-FFF2-40B4-BE49-F238E27FC236}">
                <a16:creationId xmlns:a16="http://schemas.microsoft.com/office/drawing/2014/main" id="{959A6D9C-B93D-480F-8FF5-44C05183E0C0}"/>
              </a:ext>
            </a:extLst>
          </p:cNvPr>
          <p:cNvSpPr>
            <a:spLocks xmlns:a="http://schemas.openxmlformats.org/drawingml/2006/main" noGrp="1"/>
          </p:cNvSpPr>
          <p:nvPr/>
        </p:nvSpPr>
        <p:spPr>
          <a:xfrm xmlns:a="http://schemas.openxmlformats.org/drawingml/2006/main">
            <a:off x="10763250" y="3333750"/>
            <a:ext cx="3905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48 + 18 = 66</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fietsen per dag</a:t>
            </a:r>
          </a:p>
        </p:txBody>
      </p:sp>
      <p:sp>
        <p:nvSpPr>
          <p:cNvPr id="9" name="C = (66; 14)">
            <a:extLst xmlns:a="http://schemas.openxmlformats.org/drawingml/2006/main">
              <a:ext uri="{FF2B5EF4-FFF2-40B4-BE49-F238E27FC236}">
                <a16:creationId xmlns:a16="http://schemas.microsoft.com/office/drawing/2014/main" id="{2CFBBAEB-6311-449F-97AC-59E99ED82F98}"/>
              </a:ext>
            </a:extLst>
          </p:cNvPr>
          <p:cNvSpPr>
            <a:spLocks xmlns:a="http://schemas.openxmlformats.org/drawingml/2006/main" noGrp="1"/>
          </p:cNvSpPr>
          <p:nvPr/>
        </p:nvSpPr>
        <p:spPr>
          <a:xfrm xmlns:a="http://schemas.openxmlformats.org/drawingml/2006/main">
            <a:off x="10763250" y="50482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C = (66; 14)</a:t>
            </a:r>
          </a:p>
        </p:txBody>
      </p:sp>
      <p:sp>
        <p:nvSpPr>
          <p:cNvPr id="10" name="Scooterhuur duurder&#10;V₁ ligt rechts van V₀.">
            <a:extLst xmlns:a="http://schemas.openxmlformats.org/drawingml/2006/main">
              <a:ext uri="{FF2B5EF4-FFF2-40B4-BE49-F238E27FC236}">
                <a16:creationId xmlns:a16="http://schemas.microsoft.com/office/drawing/2014/main" id="{F639C193-F8C7-4AB7-9FD2-14801FCE7438}"/>
              </a:ext>
            </a:extLst>
          </p:cNvPr>
          <p:cNvSpPr>
            <a:spLocks xmlns:a="http://schemas.openxmlformats.org/drawingml/2006/main" noGrp="1"/>
          </p:cNvSpPr>
          <p:nvPr/>
        </p:nvSpPr>
        <p:spPr>
          <a:xfrm xmlns:a="http://schemas.openxmlformats.org/drawingml/2006/main">
            <a:off x="10763250" y="6191250"/>
            <a:ext cx="3905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Scooterhuur duurder</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V₁ ligt rechts van V₀.</a:t>
            </a:r>
          </a:p>
        </p:txBody>
      </p:sp>
    </p:spTree>
    <p:extLst>
      <p:ext uri="{BB962C8B-B14F-4D97-AF65-F5344CB8AC3E}">
        <p14:creationId xmlns:p14="http://schemas.microsoft.com/office/powerpoint/2010/main" val="6540986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nieuwe lijn tekenen">
            <a:extLst xmlns:a="http://schemas.openxmlformats.org/drawingml/2006/main">
              <a:ext uri="{FF2B5EF4-FFF2-40B4-BE49-F238E27FC236}">
                <a16:creationId xmlns:a16="http://schemas.microsoft.com/office/drawing/2014/main" id="{FE4522CC-DABA-4065-83DC-827C51C1BEA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nieuwe lijn tekenen</a:t>
            </a:r>
          </a:p>
        </p:txBody>
      </p:sp>
      <p:sp>
        <p:nvSpPr>
          <p:cNvPr id="2" name="">
            <a:extLst xmlns:a="http://schemas.openxmlformats.org/drawingml/2006/main">
              <a:ext uri="{FF2B5EF4-FFF2-40B4-BE49-F238E27FC236}">
                <a16:creationId xmlns:a16="http://schemas.microsoft.com/office/drawing/2014/main" id="{C2A581AA-7DF1-4C01-BE9B-DAF8708BE6C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0C1D807A-5EC9-4376-8E87-F324DAD3C38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7">
            <a:extLst xmlns:a="http://schemas.openxmlformats.org/drawingml/2006/main">
              <a:ext uri="{FF2B5EF4-FFF2-40B4-BE49-F238E27FC236}">
                <a16:creationId xmlns:a16="http://schemas.microsoft.com/office/drawing/2014/main" id="{5DE5813F-4505-4AE3-957F-F6D5201B45F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26E59A4B-2B17-4154-9E26-54C3BD052F89}"/>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Q = (90 − 3P) + 18 = 108 − 3P">
            <a:extLst xmlns:a="http://schemas.openxmlformats.org/drawingml/2006/main">
              <a:ext uri="{FF2B5EF4-FFF2-40B4-BE49-F238E27FC236}">
                <a16:creationId xmlns:a16="http://schemas.microsoft.com/office/drawing/2014/main" id="{36CD3D3A-1645-4E8A-B93C-69AC25DDCF10}"/>
              </a:ext>
            </a:extLst>
          </p:cNvPr>
          <p:cNvSpPr>
            <a:spLocks xmlns:a="http://schemas.openxmlformats.org/drawingml/2006/main" noGrp="1"/>
          </p:cNvSpPr>
          <p:nvPr/>
        </p:nvSpPr>
        <p:spPr>
          <a:xfrm xmlns:a="http://schemas.openxmlformats.org/drawingml/2006/main">
            <a:off x="571500" y="23622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20665B"/>
                </a:solidFill>
                <a:latin typeface="Arial"/>
                <a:ea typeface="Arial"/>
                <a:cs typeface="Arial"/>
              </a:defRPr>
            </a:pPr>
            <a:r>
              <a:rPr sz="3900" b="1">
                <a:solidFill>
                  <a:srgbClr val="20665B"/>
                </a:solidFill>
                <a:latin typeface="Arial"/>
                <a:ea typeface="Arial"/>
                <a:cs typeface="Arial"/>
              </a:rPr>
              <a:t>Q = (90 − 3P) + 18 = 108 − 3P</a:t>
            </a:r>
          </a:p>
        </p:txBody>
      </p:sp>
      <p:graphicFrame>
        <p:nvGraphicFramePr>
          <p:cNvPr id="15" name=""/>
          <p:cNvGraphicFramePr/>
          <p:nvPr/>
        </p:nvGraphicFramePr>
        <p:xfrm>
          <a:off xmlns:a="http://schemas.openxmlformats.org/drawingml/2006/main" x="571500" y="3714750"/>
          <a:ext xmlns:a="http://schemas.openxmlformats.org/drawingml/2006/main" cx="14097000" cy="2667000"/>
        </p:xfrm>
        <a:graphic xmlns:a="http://schemas.openxmlformats.org/drawingml/2006/main">
          <a:graphicData uri="http://schemas.openxmlformats.org/drawingml/2006/table">
            <a:tbl>
              <a:tblPr/>
              <a:tblGrid>
                <a:gridCol w="3905250"/>
                <a:gridCol w="6667500"/>
                <a:gridCol w="3524250"/>
              </a:tblGrid>
              <a:tr h="889000">
                <a:tc>
                  <a:txBody>
                    <a:bodyPr lIns="171450" tIns="95250" rIns="152400" bIns="95250"/>
                    <a:lstStyle/>
                    <a:p>
                      <a:r>
                        <a:rPr sz="2400" b="1">
                          <a:solidFill>
                            <a:srgbClr val="FFFFFF"/>
                          </a:solidFill>
                          <a:latin typeface="Arial"/>
                          <a:ea typeface="Arial"/>
                          <a:cs typeface="Arial"/>
                        </a:rPr>
                        <a:t>Snijpunt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Coördinaat (Q; P)</a:t>
                      </a:r>
                    </a:p>
                  </a:txBody>
                  <a:tcPr marL="91440" marR="91440" marT="45720" marB="45720" anchor="ctr">
                    <a:solidFill>
                      <a:srgbClr val="183247"/>
                    </a:solidFill>
                  </a:tcPr>
                </a:tc>
              </a:tr>
              <a:tr h="889000">
                <a:tc>
                  <a:txBody>
                    <a:bodyPr lIns="171450" tIns="95250" rIns="152400" bIns="95250"/>
                    <a:lstStyle/>
                    <a:p>
                      <a:r>
                        <a:rPr sz="2400" b="0">
                          <a:solidFill>
                            <a:srgbClr val="183247"/>
                          </a:solidFill>
                          <a:latin typeface="Arial"/>
                          <a:ea typeface="Arial"/>
                          <a:cs typeface="Arial"/>
                        </a:rPr>
                        <a:t>Q-as: P = 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Q = 108 − 3 × 0 = 108</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(108; 0)</a:t>
                      </a:r>
                    </a:p>
                  </a:txBody>
                  <a:tcPr marL="91440" marR="91440" marT="45720" marB="45720" anchor="ctr">
                    <a:solidFill>
                      <a:srgbClr val="FFFFFF"/>
                    </a:solidFill>
                  </a:tcPr>
                </a:tc>
              </a:tr>
              <a:tr h="889000">
                <a:tc>
                  <a:txBody>
                    <a:bodyPr lIns="171450" tIns="95250" rIns="152400" bIns="95250"/>
                    <a:lstStyle/>
                    <a:p>
                      <a:r>
                        <a:rPr sz="2400" b="0">
                          <a:solidFill>
                            <a:srgbClr val="183247"/>
                          </a:solidFill>
                          <a:latin typeface="Arial"/>
                          <a:ea typeface="Arial"/>
                          <a:cs typeface="Arial"/>
                        </a:rPr>
                        <a:t>P-as: Q = 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 = 108 − 3P; 3P = 108; P = 36</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 36)</a:t>
                      </a:r>
                    </a:p>
                  </a:txBody>
                  <a:tcPr marL="91440" marR="91440" marT="45720" marB="45720" anchor="ctr">
                    <a:solidFill>
                      <a:srgbClr val="EFF4F7"/>
                    </a:solidFill>
                  </a:tcPr>
                </a:tc>
              </a:tr>
            </a:tbl>
          </a:graphicData>
        </a:graphic>
      </p:graphicFrame>
      <p:sp>
        <p:nvSpPr>
          <p:cNvPr id="8" name="Verbind beide punten. Geldig voor 0 ≤ P ≤ 36.">
            <a:extLst xmlns:a="http://schemas.openxmlformats.org/drawingml/2006/main">
              <a:ext uri="{FF2B5EF4-FFF2-40B4-BE49-F238E27FC236}">
                <a16:creationId xmlns:a16="http://schemas.microsoft.com/office/drawing/2014/main" id="{C44791CF-3131-4ED3-99E3-162305546029}"/>
              </a:ext>
            </a:extLst>
          </p:cNvPr>
          <p:cNvSpPr>
            <a:spLocks xmlns:a="http://schemas.openxmlformats.org/drawingml/2006/main" noGrp="1"/>
          </p:cNvSpPr>
          <p:nvPr/>
        </p:nvSpPr>
        <p:spPr>
          <a:xfrm xmlns:a="http://schemas.openxmlformats.org/drawingml/2006/main">
            <a:off x="571500" y="687705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Verbind beide punten. Geldig voor 0 ≤ P ≤ 36.</a:t>
            </a:r>
          </a:p>
        </p:txBody>
      </p:sp>
    </p:spTree>
    <p:extLst>
      <p:ext uri="{BB962C8B-B14F-4D97-AF65-F5344CB8AC3E}">
        <p14:creationId xmlns:p14="http://schemas.microsoft.com/office/powerpoint/2010/main" val="18075535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ubstituten en complementen">
            <a:extLst xmlns:a="http://schemas.openxmlformats.org/drawingml/2006/main">
              <a:ext uri="{FF2B5EF4-FFF2-40B4-BE49-F238E27FC236}">
                <a16:creationId xmlns:a16="http://schemas.microsoft.com/office/drawing/2014/main" id="{172ADF70-200E-4C14-90B7-CC571495A1A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Substituten en complementen</a:t>
            </a:r>
          </a:p>
        </p:txBody>
      </p:sp>
      <p:sp>
        <p:nvSpPr>
          <p:cNvPr id="2" name="">
            <a:extLst xmlns:a="http://schemas.openxmlformats.org/drawingml/2006/main">
              <a:ext uri="{FF2B5EF4-FFF2-40B4-BE49-F238E27FC236}">
                <a16:creationId xmlns:a16="http://schemas.microsoft.com/office/drawing/2014/main" id="{DDBF2FD4-F159-4C6D-B6B3-77D4A9F1F2C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24CB2563-802F-476C-94C8-A037B0AA099F}"/>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8">
            <a:extLst xmlns:a="http://schemas.openxmlformats.org/drawingml/2006/main">
              <a:ext uri="{FF2B5EF4-FFF2-40B4-BE49-F238E27FC236}">
                <a16:creationId xmlns:a16="http://schemas.microsoft.com/office/drawing/2014/main" id="{01810658-9B98-4769-B552-E8C731CE832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1" name=""/>
          <p:cNvGraphicFramePr/>
          <p:nvPr/>
        </p:nvGraphicFramePr>
        <p:xfrm>
          <a:off xmlns:a="http://schemas.openxmlformats.org/drawingml/2006/main" x="571500" y="2209800"/>
          <a:ext xmlns:a="http://schemas.openxmlformats.org/drawingml/2006/main" cx="14097000" cy="3905250"/>
        </p:xfrm>
        <a:graphic xmlns:a="http://schemas.openxmlformats.org/drawingml/2006/main">
          <a:graphicData uri="http://schemas.openxmlformats.org/drawingml/2006/table">
            <a:tbl>
              <a:tblPr/>
              <a:tblGrid>
                <a:gridCol w="4524375"/>
                <a:gridCol w="4762500"/>
                <a:gridCol w="4810125"/>
              </a:tblGrid>
              <a:tr h="1301750">
                <a:tc>
                  <a:txBody>
                    <a:bodyPr lIns="171450" tIns="95250" rIns="152400" bIns="95250"/>
                    <a:lstStyle/>
                    <a:p>
                      <a:r>
                        <a:rPr sz="2550" b="1">
                          <a:solidFill>
                            <a:srgbClr val="FFFFFF"/>
                          </a:solidFill>
                          <a:latin typeface="Arial"/>
                          <a:ea typeface="Arial"/>
                          <a:cs typeface="Arial"/>
                        </a:rPr>
                        <a:t>Relatie uit de bron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Verandering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Vraag naar onderzocht product</a:t>
                      </a:r>
                    </a:p>
                  </a:txBody>
                  <a:tcPr marL="91440" marR="91440" marT="45720" marB="45720" anchor="ctr">
                    <a:solidFill>
                      <a:srgbClr val="183247"/>
                    </a:solidFill>
                  </a:tcPr>
                </a:tc>
              </a:tr>
              <a:tr h="1301750">
                <a:tc>
                  <a:txBody>
                    <a:bodyPr lIns="171450" tIns="95250" rIns="152400" bIns="95250"/>
                    <a:lstStyle/>
                    <a:p>
                      <a:r>
                        <a:rPr sz="2550" b="0">
                          <a:solidFill>
                            <a:srgbClr val="183247"/>
                          </a:solidFill>
                          <a:latin typeface="Arial"/>
                          <a:ea typeface="Arial"/>
                          <a:cs typeface="Arial"/>
                        </a:rPr>
                        <a:t>Vervangen elkaar</a:t>
                      </a:r>
                    </a:p>
                    <a:p>
                      <a:r>
                        <a:rPr sz="2550" b="0">
                          <a:solidFill>
                            <a:srgbClr val="183247"/>
                          </a:solidFill>
                          <a:latin typeface="Arial"/>
                          <a:ea typeface="Arial"/>
                          <a:cs typeface="Arial"/>
                        </a:rPr>
                        <a:t>Thee en koffie</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Thee wordt duurder.</a:t>
                      </a:r>
                    </a:p>
                    <a:p>
                      <a:r>
                        <a:rPr sz="2550" b="0">
                          <a:solidFill>
                            <a:srgbClr val="183247"/>
                          </a:solidFill>
                          <a:latin typeface="Arial"/>
                          <a:ea typeface="Arial"/>
                          <a:cs typeface="Arial"/>
                        </a:rPr>
                        <a:t>Koffieprijs blijft gelijk.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Koffie: naar rechts</a:t>
                      </a:r>
                    </a:p>
                  </a:txBody>
                  <a:tcPr marL="91440" marR="91440" marT="45720" marB="45720" anchor="ctr">
                    <a:solidFill>
                      <a:srgbClr val="FFFFFF"/>
                    </a:solidFill>
                  </a:tcPr>
                </a:tc>
              </a:tr>
              <a:tr h="1301750">
                <a:tc>
                  <a:txBody>
                    <a:bodyPr lIns="171450" tIns="95250" rIns="152400" bIns="95250"/>
                    <a:lstStyle/>
                    <a:p>
                      <a:r>
                        <a:rPr sz="2550" b="0">
                          <a:solidFill>
                            <a:srgbClr val="183247"/>
                          </a:solidFill>
                          <a:latin typeface="Arial"/>
                          <a:ea typeface="Arial"/>
                          <a:cs typeface="Arial"/>
                        </a:rPr>
                        <a:t>Samen gebruiken</a:t>
                      </a:r>
                    </a:p>
                    <a:p>
                      <a:r>
                        <a:rPr sz="2550" b="0">
                          <a:solidFill>
                            <a:srgbClr val="183247"/>
                          </a:solidFill>
                          <a:latin typeface="Arial"/>
                          <a:ea typeface="Arial"/>
                          <a:cs typeface="Arial"/>
                        </a:rPr>
                        <a:t>Printer en inkt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Printer wordt duurder.</a:t>
                      </a:r>
                    </a:p>
                    <a:p>
                      <a:r>
                        <a:rPr sz="2550" b="0">
                          <a:solidFill>
                            <a:srgbClr val="183247"/>
                          </a:solidFill>
                          <a:latin typeface="Arial"/>
                          <a:ea typeface="Arial"/>
                          <a:cs typeface="Arial"/>
                        </a:rPr>
                        <a:t>Inktprijs blijft gelijk.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Inkt: naar links</a:t>
                      </a:r>
                    </a:p>
                  </a:txBody>
                  <a:tcPr marL="91440" marR="91440" marT="45720" marB="45720" anchor="ctr">
                    <a:solidFill>
                      <a:srgbClr val="EFF4F7"/>
                    </a:solidFill>
                  </a:tcPr>
                </a:tc>
              </a:tr>
            </a:tbl>
          </a:graphicData>
        </a:graphic>
      </p:graphicFrame>
      <p:sp>
        <p:nvSpPr>
          <p:cNvPr id="6" name="De specifieke factor: de prijs van een ander goed">
            <a:extLst xmlns:a="http://schemas.openxmlformats.org/drawingml/2006/main">
              <a:ext uri="{FF2B5EF4-FFF2-40B4-BE49-F238E27FC236}">
                <a16:creationId xmlns:a16="http://schemas.microsoft.com/office/drawing/2014/main" id="{29B83F42-F1D7-4023-BF25-A585530CE779}"/>
              </a:ext>
            </a:extLst>
          </p:cNvPr>
          <p:cNvSpPr>
            <a:spLocks xmlns:a="http://schemas.openxmlformats.org/drawingml/2006/main" noGrp="1"/>
          </p:cNvSpPr>
          <p:nvPr/>
        </p:nvSpPr>
        <p:spPr>
          <a:xfrm xmlns:a="http://schemas.openxmlformats.org/drawingml/2006/main">
            <a:off x="571500" y="69627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De specifieke factor: de prijs van een ander goed</a:t>
            </a:r>
          </a:p>
        </p:txBody>
      </p:sp>
    </p:spTree>
    <p:extLst>
      <p:ext uri="{BB962C8B-B14F-4D97-AF65-F5344CB8AC3E}">
        <p14:creationId xmlns:p14="http://schemas.microsoft.com/office/powerpoint/2010/main" val="3278020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dere vraagfactoren">
            <a:extLst xmlns:a="http://schemas.openxmlformats.org/drawingml/2006/main">
              <a:ext uri="{FF2B5EF4-FFF2-40B4-BE49-F238E27FC236}">
                <a16:creationId xmlns:a16="http://schemas.microsoft.com/office/drawing/2014/main" id="{7C79A421-0B63-4CCE-9065-5B74B16631A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Andere vraagfactoren</a:t>
            </a:r>
          </a:p>
        </p:txBody>
      </p:sp>
      <p:sp>
        <p:nvSpPr>
          <p:cNvPr id="2" name="">
            <a:extLst xmlns:a="http://schemas.openxmlformats.org/drawingml/2006/main">
              <a:ext uri="{FF2B5EF4-FFF2-40B4-BE49-F238E27FC236}">
                <a16:creationId xmlns:a16="http://schemas.microsoft.com/office/drawing/2014/main" id="{E4785CA4-14A1-457C-B40B-4F0A8BFAEA6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8C3B307C-8076-4D0D-A59D-90D704744A7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9">
            <a:extLst xmlns:a="http://schemas.openxmlformats.org/drawingml/2006/main">
              <a:ext uri="{FF2B5EF4-FFF2-40B4-BE49-F238E27FC236}">
                <a16:creationId xmlns:a16="http://schemas.microsoft.com/office/drawing/2014/main" id="{79BA4199-C605-4E8F-A75D-2D6DFD29E98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1" name=""/>
          <p:cNvGraphicFramePr/>
          <p:nvPr/>
        </p:nvGraphicFramePr>
        <p:xfrm>
          <a:off xmlns:a="http://schemas.openxmlformats.org/drawingml/2006/main" x="571500" y="2000250"/>
          <a:ext xmlns:a="http://schemas.openxmlformats.org/drawingml/2006/main" cx="14097000" cy="4953000"/>
        </p:xfrm>
        <a:graphic xmlns:a="http://schemas.openxmlformats.org/drawingml/2006/main">
          <a:graphicData uri="http://schemas.openxmlformats.org/drawingml/2006/table">
            <a:tbl>
              <a:tblPr/>
              <a:tblGrid>
                <a:gridCol w="4238625"/>
                <a:gridCol w="9858375"/>
              </a:tblGrid>
              <a:tr h="990600">
                <a:tc>
                  <a:txBody>
                    <a:bodyPr lIns="171450" tIns="95250" rIns="152400" bIns="95250"/>
                    <a:lstStyle/>
                    <a:p>
                      <a:r>
                        <a:rPr sz="2400" b="1">
                          <a:solidFill>
                            <a:srgbClr val="FFFFFF"/>
                          </a:solidFill>
                          <a:latin typeface="Arial"/>
                          <a:ea typeface="Arial"/>
                          <a:cs typeface="Arial"/>
                        </a:rPr>
                        <a:t>Factor</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Wat bepaalt de richting?</a:t>
                      </a:r>
                    </a:p>
                  </a:txBody>
                  <a:tcPr marL="91440" marR="91440" marT="45720" marB="45720" anchor="ctr">
                    <a:solidFill>
                      <a:srgbClr val="183247"/>
                    </a:solidFill>
                  </a:tcPr>
                </a:tc>
              </a:tr>
              <a:tr h="990600">
                <a:tc>
                  <a:txBody>
                    <a:bodyPr lIns="171450" tIns="95250" rIns="152400" bIns="95250"/>
                    <a:lstStyle/>
                    <a:p>
                      <a:r>
                        <a:rPr sz="2400" b="0">
                          <a:solidFill>
                            <a:srgbClr val="183247"/>
                          </a:solidFill>
                          <a:latin typeface="Arial"/>
                          <a:ea typeface="Arial"/>
                          <a:cs typeface="Arial"/>
                        </a:rPr>
                        <a:t>Inkomen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Lees het gedrag: meer concerten kan rechts betekenen, minder goedkope maaltijden links.</a:t>
                      </a:r>
                    </a:p>
                  </a:txBody>
                  <a:tcPr marL="91440" marR="91440" marT="45720" marB="45720" anchor="ctr">
                    <a:solidFill>
                      <a:srgbClr val="FFFFFF"/>
                    </a:solidFill>
                  </a:tcPr>
                </a:tc>
              </a:tr>
              <a:tr h="990600">
                <a:tc>
                  <a:txBody>
                    <a:bodyPr lIns="171450" tIns="95250" rIns="152400" bIns="95250"/>
                    <a:lstStyle/>
                    <a:p>
                      <a:r>
                        <a:rPr sz="2400" b="0">
                          <a:solidFill>
                            <a:srgbClr val="183247"/>
                          </a:solidFill>
                          <a:latin typeface="Arial"/>
                          <a:ea typeface="Arial"/>
                          <a:cs typeface="Arial"/>
                        </a:rPr>
                        <a:t>Behoeften en voorkeuren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Meer waardering voor dit product: bij dezelfde prijs meer vraag.</a:t>
                      </a:r>
                    </a:p>
                  </a:txBody>
                  <a:tcPr marL="91440" marR="91440" marT="45720" marB="45720" anchor="ctr">
                    <a:solidFill>
                      <a:srgbClr val="EFF4F7"/>
                    </a:solidFill>
                  </a:tcPr>
                </a:tc>
              </a:tr>
              <a:tr h="990600">
                <a:tc>
                  <a:txBody>
                    <a:bodyPr lIns="171450" tIns="95250" rIns="152400" bIns="95250"/>
                    <a:lstStyle/>
                    <a:p>
                      <a:r>
                        <a:rPr sz="2400" b="0">
                          <a:solidFill>
                            <a:srgbClr val="183247"/>
                          </a:solidFill>
                          <a:latin typeface="Arial"/>
                          <a:ea typeface="Arial"/>
                          <a:cs typeface="Arial"/>
                        </a:rPr>
                        <a:t>Aantal kopers</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Meer kopers vergroot de vraag van de groep.</a:t>
                      </a:r>
                    </a:p>
                  </a:txBody>
                  <a:tcPr marL="91440" marR="91440" marT="45720" marB="45720" anchor="ctr">
                    <a:solidFill>
                      <a:srgbClr val="FFFFFF"/>
                    </a:solidFill>
                  </a:tcPr>
                </a:tc>
              </a:tr>
              <a:tr h="990600">
                <a:tc>
                  <a:txBody>
                    <a:bodyPr lIns="171450" tIns="95250" rIns="152400" bIns="95250"/>
                    <a:lstStyle/>
                    <a:p>
                      <a:r>
                        <a:rPr sz="2400" b="0">
                          <a:solidFill>
                            <a:srgbClr val="183247"/>
                          </a:solidFill>
                          <a:latin typeface="Arial"/>
                          <a:ea typeface="Arial"/>
                          <a:cs typeface="Arial"/>
                        </a:rPr>
                        <a:t>Verwachtingen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Korting volgende week verwacht en aankoop uitgesteld: minder vraag nú.</a:t>
                      </a:r>
                    </a:p>
                  </a:txBody>
                  <a:tcPr marL="91440" marR="91440" marT="45720" marB="45720" anchor="ctr">
                    <a:solidFill>
                      <a:srgbClr val="EFF4F7"/>
                    </a:solidFill>
                  </a:tcPr>
                </a:tc>
              </a:tr>
            </a:tbl>
          </a:graphicData>
        </a:graphic>
      </p:graphicFrame>
      <p:sp>
        <p:nvSpPr>
          <p:cNvPr id="6" name="Vergelijk hetzelfde product, dezelfde prijs en dezelfde periode.">
            <a:extLst xmlns:a="http://schemas.openxmlformats.org/drawingml/2006/main">
              <a:ext uri="{FF2B5EF4-FFF2-40B4-BE49-F238E27FC236}">
                <a16:creationId xmlns:a16="http://schemas.microsoft.com/office/drawing/2014/main" id="{B3FDF062-65AD-42CD-A428-F938A3BF4614}"/>
              </a:ext>
            </a:extLst>
          </p:cNvPr>
          <p:cNvSpPr>
            <a:spLocks xmlns:a="http://schemas.openxmlformats.org/drawingml/2006/main" noGrp="1"/>
          </p:cNvSpPr>
          <p:nvPr/>
        </p:nvSpPr>
        <p:spPr>
          <a:xfrm xmlns:a="http://schemas.openxmlformats.org/drawingml/2006/main">
            <a:off x="571500" y="73152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Vergelijk hetzelfde product, dezelfde prijs en dezelfde periode.</a:t>
            </a:r>
          </a:p>
        </p:txBody>
      </p:sp>
    </p:spTree>
    <p:extLst>
      <p:ext uri="{BB962C8B-B14F-4D97-AF65-F5344CB8AC3E}">
        <p14:creationId xmlns:p14="http://schemas.microsoft.com/office/powerpoint/2010/main" val="7618121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wee effecten samen">
            <a:extLst xmlns:a="http://schemas.openxmlformats.org/drawingml/2006/main">
              <a:ext uri="{FF2B5EF4-FFF2-40B4-BE49-F238E27FC236}">
                <a16:creationId xmlns:a16="http://schemas.microsoft.com/office/drawing/2014/main" id="{6F958F4B-F896-4C47-BA76-11C6D8EC51E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effecten samen</a:t>
            </a:r>
          </a:p>
        </p:txBody>
      </p:sp>
      <p:sp>
        <p:nvSpPr>
          <p:cNvPr id="2" name="">
            <a:extLst xmlns:a="http://schemas.openxmlformats.org/drawingml/2006/main">
              <a:ext uri="{FF2B5EF4-FFF2-40B4-BE49-F238E27FC236}">
                <a16:creationId xmlns:a16="http://schemas.microsoft.com/office/drawing/2014/main" id="{0A7280D3-F25E-46C1-AFAB-BF1666967FE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FBC77482-EE49-4BE7-B5E9-EF4F476D9641}"/>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10">
            <a:extLst xmlns:a="http://schemas.openxmlformats.org/drawingml/2006/main">
              <a:ext uri="{FF2B5EF4-FFF2-40B4-BE49-F238E27FC236}">
                <a16:creationId xmlns:a16="http://schemas.microsoft.com/office/drawing/2014/main" id="{4C336E87-F1BB-4985-9691-A302401ED78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674E99D1-F85F-42DD-BB0D-EF7D00A2BDB0}"/>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419350"/>
          <a:ext xmlns:a="http://schemas.openxmlformats.org/drawingml/2006/main" cx="14097000" cy="3381375"/>
        </p:xfrm>
        <a:graphic xmlns:a="http://schemas.openxmlformats.org/drawingml/2006/main">
          <a:graphicData uri="http://schemas.openxmlformats.org/drawingml/2006/table">
            <a:tbl>
              <a:tblPr/>
              <a:tblGrid>
                <a:gridCol w="6334125"/>
                <a:gridCol w="4810125"/>
                <a:gridCol w="2952750"/>
              </a:tblGrid>
              <a:tr h="845344">
                <a:tc>
                  <a:txBody>
                    <a:bodyPr lIns="171450" tIns="95250" rIns="152400" bIns="95250"/>
                    <a:lstStyle/>
                    <a:p>
                      <a:r>
                        <a:rPr sz="2475" b="1">
                          <a:solidFill>
                            <a:srgbClr val="FFFFFF"/>
                          </a:solidFill>
                          <a:latin typeface="Arial"/>
                          <a:ea typeface="Arial"/>
                          <a:cs typeface="Arial"/>
                        </a:rPr>
                        <a:t>Denkstap</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Gevraagde fietsen per dag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Verandering</a:t>
                      </a:r>
                    </a:p>
                  </a:txBody>
                  <a:tcPr marL="91440" marR="91440" marT="45720" marB="45720" anchor="ctr">
                    <a:solidFill>
                      <a:srgbClr val="183247"/>
                    </a:solidFill>
                  </a:tcPr>
                </a:tc>
              </a:tr>
              <a:tr h="845344">
                <a:tc>
                  <a:txBody>
                    <a:bodyPr lIns="171450" tIns="95250" rIns="152400" bIns="95250"/>
                    <a:lstStyle/>
                    <a:p>
                      <a:r>
                        <a:rPr sz="2475" b="0">
                          <a:solidFill>
                            <a:srgbClr val="183247"/>
                          </a:solidFill>
                          <a:latin typeface="Arial"/>
                          <a:ea typeface="Arial"/>
                          <a:cs typeface="Arial"/>
                        </a:rPr>
                        <a:t>A: oude situatie</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60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a:t>
                      </a:r>
                    </a:p>
                  </a:txBody>
                  <a:tcPr marL="91440" marR="91440" marT="45720" marB="45720" anchor="ctr">
                    <a:solidFill>
                      <a:srgbClr val="FFFFFF"/>
                    </a:solidFill>
                  </a:tcPr>
                </a:tc>
              </a:tr>
              <a:tr h="845344">
                <a:tc>
                  <a:txBody>
                    <a:bodyPr lIns="171450" tIns="95250" rIns="152400" bIns="95250"/>
                    <a:lstStyle/>
                    <a:p>
                      <a:r>
                        <a:rPr sz="2475" b="0">
                          <a:solidFill>
                            <a:srgbClr val="183247"/>
                          </a:solidFill>
                          <a:latin typeface="Arial"/>
                          <a:ea typeface="Arial"/>
                          <a:cs typeface="Arial"/>
                        </a:rPr>
                        <a:t>B: alleen eigen prijs hoger</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48</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−12</a:t>
                      </a:r>
                    </a:p>
                  </a:txBody>
                  <a:tcPr marL="91440" marR="91440" marT="45720" marB="45720" anchor="ctr">
                    <a:solidFill>
                      <a:srgbClr val="EFF4F7"/>
                    </a:solidFill>
                  </a:tcPr>
                </a:tc>
              </a:tr>
              <a:tr h="845344">
                <a:tc>
                  <a:txBody>
                    <a:bodyPr lIns="171450" tIns="95250" rIns="152400" bIns="95250"/>
                    <a:lstStyle/>
                    <a:p>
                      <a:r>
                        <a:rPr sz="2475" b="0">
                          <a:solidFill>
                            <a:srgbClr val="183247"/>
                          </a:solidFill>
                          <a:latin typeface="Arial"/>
                          <a:ea typeface="Arial"/>
                          <a:cs typeface="Arial"/>
                        </a:rPr>
                        <a:t>C: ook scooterhuur duurder</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66</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+18 vanaf B</a:t>
                      </a:r>
                    </a:p>
                  </a:txBody>
                  <a:tcPr marL="91440" marR="91440" marT="45720" marB="45720" anchor="ctr">
                    <a:solidFill>
                      <a:srgbClr val="FFFFFF"/>
                    </a:solidFill>
                  </a:tcPr>
                </a:tc>
              </a:tr>
            </a:tbl>
          </a:graphicData>
        </a:graphic>
      </p:graphicFrame>
      <p:sp>
        <p:nvSpPr>
          <p:cNvPr id="7" name="60 − 12 + 18 = 66 fietsen per dag">
            <a:extLst xmlns:a="http://schemas.openxmlformats.org/drawingml/2006/main">
              <a:ext uri="{FF2B5EF4-FFF2-40B4-BE49-F238E27FC236}">
                <a16:creationId xmlns:a16="http://schemas.microsoft.com/office/drawing/2014/main" id="{64BC6BAD-0B09-4D8C-A8D3-BB3763D728FA}"/>
              </a:ext>
            </a:extLst>
          </p:cNvPr>
          <p:cNvSpPr>
            <a:spLocks xmlns:a="http://schemas.openxmlformats.org/drawingml/2006/main" noGrp="1"/>
          </p:cNvSpPr>
          <p:nvPr/>
        </p:nvSpPr>
        <p:spPr>
          <a:xfrm xmlns:a="http://schemas.openxmlformats.org/drawingml/2006/main">
            <a:off x="571500" y="63531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20665B"/>
                </a:solidFill>
                <a:latin typeface="Arial"/>
                <a:ea typeface="Arial"/>
                <a:cs typeface="Arial"/>
              </a:defRPr>
            </a:pPr>
            <a:r>
              <a:rPr sz="3525" b="1">
                <a:solidFill>
                  <a:srgbClr val="20665B"/>
                </a:solidFill>
                <a:latin typeface="Arial"/>
                <a:ea typeface="Arial"/>
                <a:cs typeface="Arial"/>
              </a:rPr>
              <a:t>60 − 12 + 18 = 66 fietsen per dag</a:t>
            </a:r>
          </a:p>
        </p:txBody>
      </p:sp>
      <p:sp>
        <p:nvSpPr>
          <p:cNvPr id="8" name="Tegengestelde effecten. Netto: 66 − 60 = 6 meer.">
            <a:extLst xmlns:a="http://schemas.openxmlformats.org/drawingml/2006/main">
              <a:ext uri="{FF2B5EF4-FFF2-40B4-BE49-F238E27FC236}">
                <a16:creationId xmlns:a16="http://schemas.microsoft.com/office/drawing/2014/main" id="{747B907E-AE59-49EA-8F9A-1D5CF55EEAAA}"/>
              </a:ext>
            </a:extLst>
          </p:cNvPr>
          <p:cNvSpPr>
            <a:spLocks xmlns:a="http://schemas.openxmlformats.org/drawingml/2006/main" noGrp="1"/>
          </p:cNvSpPr>
          <p:nvPr/>
        </p:nvSpPr>
        <p:spPr>
          <a:xfrm xmlns:a="http://schemas.openxmlformats.org/drawingml/2006/main">
            <a:off x="571500" y="73247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Tegengestelde effecten. Netto: 66 − 60 = 6 meer.</a:t>
            </a:r>
          </a:p>
        </p:txBody>
      </p:sp>
    </p:spTree>
    <p:extLst>
      <p:ext uri="{BB962C8B-B14F-4D97-AF65-F5344CB8AC3E}">
        <p14:creationId xmlns:p14="http://schemas.microsoft.com/office/powerpoint/2010/main" val="1723946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de grootte ontbreekt">
            <a:extLst xmlns:a="http://schemas.openxmlformats.org/drawingml/2006/main">
              <a:ext uri="{FF2B5EF4-FFF2-40B4-BE49-F238E27FC236}">
                <a16:creationId xmlns:a16="http://schemas.microsoft.com/office/drawing/2014/main" id="{74D59C4C-00FB-4E9A-9D6C-4E6D26784A8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 de grootte ontbreekt</a:t>
            </a:r>
          </a:p>
        </p:txBody>
      </p:sp>
      <p:sp>
        <p:nvSpPr>
          <p:cNvPr id="2" name="">
            <a:extLst xmlns:a="http://schemas.openxmlformats.org/drawingml/2006/main">
              <a:ext uri="{FF2B5EF4-FFF2-40B4-BE49-F238E27FC236}">
                <a16:creationId xmlns:a16="http://schemas.microsoft.com/office/drawing/2014/main" id="{4C14F5DC-73DD-4CBD-A3DA-C9F122C8E6C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4EF846D9-B50A-4944-8F75-DBB64B9DBD9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11">
            <a:extLst xmlns:a="http://schemas.openxmlformats.org/drawingml/2006/main">
              <a:ext uri="{FF2B5EF4-FFF2-40B4-BE49-F238E27FC236}">
                <a16:creationId xmlns:a16="http://schemas.microsoft.com/office/drawing/2014/main" id="{FFDEEBB8-1043-4E6F-910E-66653B3C9BA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079C788E-17FE-4A09-95CC-8EF6E1C0853C}"/>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sp>
        <p:nvSpPr>
          <p:cNvPr id="6" name="Een afzonderlijke situatie zonder formule of effectgroottes">
            <a:extLst xmlns:a="http://schemas.openxmlformats.org/drawingml/2006/main">
              <a:ext uri="{FF2B5EF4-FFF2-40B4-BE49-F238E27FC236}">
                <a16:creationId xmlns:a16="http://schemas.microsoft.com/office/drawing/2014/main" id="{61970ACD-7B11-4713-9DE6-47B64F008D05}"/>
              </a:ext>
            </a:extLst>
          </p:cNvPr>
          <p:cNvSpPr>
            <a:spLocks xmlns:a="http://schemas.openxmlformats.org/drawingml/2006/main" noGrp="1"/>
          </p:cNvSpPr>
          <p:nvPr/>
        </p:nvSpPr>
        <p:spPr>
          <a:xfrm xmlns:a="http://schemas.openxmlformats.org/drawingml/2006/main">
            <a:off x="571500" y="23812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Een afzonderlijke situatie zonder formule of effectgroottes</a:t>
            </a:r>
          </a:p>
        </p:txBody>
      </p:sp>
      <p:sp>
        <p:nvSpPr>
          <p:cNvPr id="7" name="De eigen fietsprijs stijgt.&#10;Scooterhuur wordt ook duurder.&#10;Scoote">
            <a:extLst xmlns:a="http://schemas.openxmlformats.org/drawingml/2006/main">
              <a:ext uri="{FF2B5EF4-FFF2-40B4-BE49-F238E27FC236}">
                <a16:creationId xmlns:a16="http://schemas.microsoft.com/office/drawing/2014/main" id="{A04BBD08-D7FB-4F9F-9693-4A50E05A2749}"/>
              </a:ext>
            </a:extLst>
          </p:cNvPr>
          <p:cNvSpPr>
            <a:spLocks xmlns:a="http://schemas.openxmlformats.org/drawingml/2006/main" noGrp="1"/>
          </p:cNvSpPr>
          <p:nvPr/>
        </p:nvSpPr>
        <p:spPr>
          <a:xfrm xmlns:a="http://schemas.openxmlformats.org/drawingml/2006/main">
            <a:off x="571500" y="3743325"/>
            <a:ext cx="1409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De eigen fietsprijs stijgt.</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Scooterhuur wordt ook duurder.</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Scooterhuur is een substituut.</a:t>
            </a:r>
          </a:p>
        </p:txBody>
      </p:sp>
      <p:sp>
        <p:nvSpPr>
          <p:cNvPr id="8" name="Worden uiteindelijk meer of minder fietsen gevraagd?">
            <a:extLst xmlns:a="http://schemas.openxmlformats.org/drawingml/2006/main">
              <a:ext uri="{FF2B5EF4-FFF2-40B4-BE49-F238E27FC236}">
                <a16:creationId xmlns:a16="http://schemas.microsoft.com/office/drawing/2014/main" id="{163D23C5-B354-4BA9-A111-FAE9BA100AAA}"/>
              </a:ext>
            </a:extLst>
          </p:cNvPr>
          <p:cNvSpPr>
            <a:spLocks xmlns:a="http://schemas.openxmlformats.org/drawingml/2006/main" noGrp="1"/>
          </p:cNvSpPr>
          <p:nvPr/>
        </p:nvSpPr>
        <p:spPr>
          <a:xfrm xmlns:a="http://schemas.openxmlformats.org/drawingml/2006/main">
            <a:off x="571500" y="6534150"/>
            <a:ext cx="14097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Worden uiteindelijk meer of minder fietsen gevraagd?</a:t>
            </a:r>
          </a:p>
        </p:txBody>
      </p:sp>
    </p:spTree>
    <p:extLst>
      <p:ext uri="{BB962C8B-B14F-4D97-AF65-F5344CB8AC3E}">
        <p14:creationId xmlns:p14="http://schemas.microsoft.com/office/powerpoint/2010/main" val="18276158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genwerken zonder bekende grootte">
            <a:extLst xmlns:a="http://schemas.openxmlformats.org/drawingml/2006/main">
              <a:ext uri="{FF2B5EF4-FFF2-40B4-BE49-F238E27FC236}">
                <a16:creationId xmlns:a16="http://schemas.microsoft.com/office/drawing/2014/main" id="{32A4BE75-B4FE-4771-9C88-A4F59FE316D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Tegenwerken zonder bekende grootte</a:t>
            </a:r>
          </a:p>
        </p:txBody>
      </p:sp>
      <p:sp>
        <p:nvSpPr>
          <p:cNvPr id="2" name="">
            <a:extLst xmlns:a="http://schemas.openxmlformats.org/drawingml/2006/main">
              <a:ext uri="{FF2B5EF4-FFF2-40B4-BE49-F238E27FC236}">
                <a16:creationId xmlns:a16="http://schemas.microsoft.com/office/drawing/2014/main" id="{1B301795-16A6-4145-9347-3933DEF3BEB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8E5C8B6F-705A-45D7-97CA-B41C99FDDC50}"/>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12">
            <a:extLst xmlns:a="http://schemas.openxmlformats.org/drawingml/2006/main">
              <a:ext uri="{FF2B5EF4-FFF2-40B4-BE49-F238E27FC236}">
                <a16:creationId xmlns:a16="http://schemas.microsoft.com/office/drawing/2014/main" id="{028DC77D-822F-48E3-9850-BE8CB311E0A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E9EF74A7-C1BD-46BF-A9F3-52066A08CB07}"/>
              </a:ext>
            </a:extLst>
          </p:cNvPr>
          <p:cNvSpPr>
            <a:spLocks xmlns:a="http://schemas.openxmlformats.org/drawingml/2006/main" noGrp="1"/>
          </p:cNvSpPr>
          <p:nvPr/>
        </p:nvSpPr>
        <p:spPr>
          <a:xfrm xmlns:a="http://schemas.openxmlformats.org/drawingml/2006/main">
            <a:off x="571500" y="16573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445B6B"/>
                </a:solidFill>
                <a:latin typeface="Arial"/>
                <a:ea typeface="Arial"/>
                <a:cs typeface="Arial"/>
              </a:defRPr>
            </a:pPr>
            <a:r>
              <a:rPr sz="2175" b="0">
                <a:solidFill>
                  <a:srgbClr val="445B6B"/>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571750"/>
          <a:ext xmlns:a="http://schemas.openxmlformats.org/drawingml/2006/main" cx="14097000" cy="2857500"/>
        </p:xfrm>
        <a:graphic xmlns:a="http://schemas.openxmlformats.org/drawingml/2006/main">
          <a:graphicData uri="http://schemas.openxmlformats.org/drawingml/2006/table">
            <a:tbl>
              <a:tblPr/>
              <a:tblGrid>
                <a:gridCol w="6858000"/>
                <a:gridCol w="7239000"/>
              </a:tblGrid>
              <a:tr h="952500">
                <a:tc>
                  <a:txBody>
                    <a:bodyPr lIns="171450" tIns="95250" rIns="152400" bIns="95250"/>
                    <a:lstStyle/>
                    <a:p>
                      <a:r>
                        <a:rPr sz="2625" b="1">
                          <a:solidFill>
                            <a:srgbClr val="FFFFFF"/>
                          </a:solidFill>
                          <a:latin typeface="Arial"/>
                          <a:ea typeface="Arial"/>
                          <a:cs typeface="Arial"/>
                        </a:rPr>
                        <a:t>Verandering</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Effect op gevraagde hoeveelheid</a:t>
                      </a:r>
                    </a:p>
                  </a:txBody>
                  <a:tcPr marL="91440" marR="91440" marT="45720" marB="45720" anchor="ctr">
                    <a:solidFill>
                      <a:srgbClr val="183247"/>
                    </a:solidFill>
                  </a:tcPr>
                </a:tc>
              </a:tr>
              <a:tr h="952500">
                <a:tc>
                  <a:txBody>
                    <a:bodyPr lIns="171450" tIns="95250" rIns="152400" bIns="95250"/>
                    <a:lstStyle/>
                    <a:p>
                      <a:r>
                        <a:rPr sz="2625" b="0">
                          <a:solidFill>
                            <a:srgbClr val="183247"/>
                          </a:solidFill>
                          <a:latin typeface="Arial"/>
                          <a:ea typeface="Arial"/>
                          <a:cs typeface="Arial"/>
                        </a:rPr>
                        <a:t>Alleen de eigen fietsprijs hoger</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Minder, langs dezelfde lijn</a:t>
                      </a:r>
                    </a:p>
                  </a:txBody>
                  <a:tcPr marL="91440" marR="91440" marT="45720" marB="45720" anchor="ctr">
                    <a:solidFill>
                      <a:srgbClr val="FFFFFF"/>
                    </a:solidFill>
                  </a:tcPr>
                </a:tc>
              </a:tr>
              <a:tr h="952500">
                <a:tc>
                  <a:txBody>
                    <a:bodyPr lIns="171450" tIns="95250" rIns="152400" bIns="95250"/>
                    <a:lstStyle/>
                    <a:p>
                      <a:r>
                        <a:rPr sz="2625" b="0">
                          <a:solidFill>
                            <a:srgbClr val="183247"/>
                          </a:solidFill>
                          <a:latin typeface="Arial"/>
                          <a:ea typeface="Arial"/>
                          <a:cs typeface="Arial"/>
                        </a:rPr>
                        <a:t>Alleen het substituut duurder</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Meer bij dezelfde fietsprijs, lijn naar rechts</a:t>
                      </a:r>
                    </a:p>
                  </a:txBody>
                  <a:tcPr marL="91440" marR="91440" marT="45720" marB="45720" anchor="ctr">
                    <a:solidFill>
                      <a:srgbClr val="EFF4F7"/>
                    </a:solidFill>
                  </a:tcPr>
                </a:tc>
              </a:tr>
            </a:tbl>
          </a:graphicData>
        </a:graphic>
      </p:graphicFrame>
      <p:sp>
        <p:nvSpPr>
          <p:cNvPr id="7" name="De uiteindelijke hoeveelheid is niet te bepalen.">
            <a:extLst xmlns:a="http://schemas.openxmlformats.org/drawingml/2006/main">
              <a:ext uri="{FF2B5EF4-FFF2-40B4-BE49-F238E27FC236}">
                <a16:creationId xmlns:a16="http://schemas.microsoft.com/office/drawing/2014/main" id="{E607F359-B371-4182-81CB-C238511F6E8A}"/>
              </a:ext>
            </a:extLst>
          </p:cNvPr>
          <p:cNvSpPr>
            <a:spLocks xmlns:a="http://schemas.openxmlformats.org/drawingml/2006/main" noGrp="1"/>
          </p:cNvSpPr>
          <p:nvPr/>
        </p:nvSpPr>
        <p:spPr>
          <a:xfrm xmlns:a="http://schemas.openxmlformats.org/drawingml/2006/main">
            <a:off x="571500" y="60483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A94D16"/>
                </a:solidFill>
                <a:latin typeface="Arial"/>
                <a:ea typeface="Arial"/>
                <a:cs typeface="Arial"/>
              </a:defRPr>
            </a:pPr>
            <a:r>
              <a:rPr sz="3525" b="1">
                <a:solidFill>
                  <a:srgbClr val="A94D16"/>
                </a:solidFill>
                <a:latin typeface="Arial"/>
                <a:ea typeface="Arial"/>
                <a:cs typeface="Arial"/>
              </a:rPr>
              <a:t>De uiteindelijke hoeveelheid is niet te bepalen.</a:t>
            </a:r>
          </a:p>
        </p:txBody>
      </p:sp>
      <p:sp>
        <p:nvSpPr>
          <p:cNvPr id="8" name="Bij versterkende effecten staat de richting wél vast.">
            <a:extLst xmlns:a="http://schemas.openxmlformats.org/drawingml/2006/main">
              <a:ext uri="{FF2B5EF4-FFF2-40B4-BE49-F238E27FC236}">
                <a16:creationId xmlns:a16="http://schemas.microsoft.com/office/drawing/2014/main" id="{EEE709C2-B5E8-48BA-BC7D-35252952B4F0}"/>
              </a:ext>
            </a:extLst>
          </p:cNvPr>
          <p:cNvSpPr>
            <a:spLocks xmlns:a="http://schemas.openxmlformats.org/drawingml/2006/main" noGrp="1"/>
          </p:cNvSpPr>
          <p:nvPr/>
        </p:nvSpPr>
        <p:spPr>
          <a:xfrm xmlns:a="http://schemas.openxmlformats.org/drawingml/2006/main">
            <a:off x="571500" y="7248525"/>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Bij versterkende effecten staat de richting wél vast.</a:t>
            </a:r>
          </a:p>
        </p:txBody>
      </p:sp>
    </p:spTree>
    <p:extLst>
      <p:ext uri="{BB962C8B-B14F-4D97-AF65-F5344CB8AC3E}">
        <p14:creationId xmlns:p14="http://schemas.microsoft.com/office/powerpoint/2010/main" val="8604061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2 Vraagfactoren">
            <a:extLst xmlns:a="http://schemas.openxmlformats.org/drawingml/2006/main">
              <a:ext uri="{FF2B5EF4-FFF2-40B4-BE49-F238E27FC236}">
                <a16:creationId xmlns:a16="http://schemas.microsoft.com/office/drawing/2014/main" id="{0E5AC8F4-B2A3-45D1-B6F1-602ED4E9E03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§1.2.2 Vraagfactoren</a:t>
            </a:r>
          </a:p>
        </p:txBody>
      </p:sp>
      <p:sp>
        <p:nvSpPr>
          <p:cNvPr id="2" name="">
            <a:extLst xmlns:a="http://schemas.openxmlformats.org/drawingml/2006/main">
              <a:ext uri="{FF2B5EF4-FFF2-40B4-BE49-F238E27FC236}">
                <a16:creationId xmlns:a16="http://schemas.microsoft.com/office/drawing/2014/main" id="{B2759C9E-90B2-4276-BC23-68F0BBB4BF8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2520C89F-7B98-478B-A5F3-7428C3D1DCA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13">
            <a:extLst xmlns:a="http://schemas.openxmlformats.org/drawingml/2006/main">
              <a:ext uri="{FF2B5EF4-FFF2-40B4-BE49-F238E27FC236}">
                <a16:creationId xmlns:a16="http://schemas.microsoft.com/office/drawing/2014/main" id="{0CBA5024-9AF7-491C-ABBA-A3D8E9BB1C1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phase">
            <a:extLst xmlns:a="http://schemas.openxmlformats.org/drawingml/2006/main">
              <a:ext uri="{FF2B5EF4-FFF2-40B4-BE49-F238E27FC236}">
                <a16:creationId xmlns:a16="http://schemas.microsoft.com/office/drawing/2014/main" id="{06815634-1123-4722-B0DE-AA7438121BAD}"/>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3D7EFF6D-8549-434B-B4A2-349DBABE8D3A}"/>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F2037D5F-EEF5-4B81-894C-CF99B925FDFC}"/>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5A7B094A-5919-450B-9E52-8A455AEE6DB3}"/>
              </a:ext>
            </a:extLst>
          </p:cNvPr>
          <p:cNvSpPr>
            <a:spLocks xmlns:a="http://schemas.openxmlformats.org/drawingml/2006/main" noGrp="1"/>
          </p:cNvSpPr>
          <p:nvPr/>
        </p:nvSpPr>
        <p:spPr>
          <a:xfrm xmlns:a="http://schemas.openxmlformats.org/drawingml/2006/main">
            <a:off x="1104900" y="2324100"/>
            <a:ext cx="747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963DAC5C-A172-4581-959E-AAC84DF36747}"/>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4235A5F6-B90F-402C-9DB4-B3798DE27A99}"/>
              </a:ext>
            </a:extLst>
          </p:cNvPr>
          <p:cNvSpPr>
            <a:spLocks xmlns:a="http://schemas.openxmlformats.org/drawingml/2006/main" noGrp="1"/>
          </p:cNvSpPr>
          <p:nvPr/>
        </p:nvSpPr>
        <p:spPr>
          <a:xfrm xmlns:a="http://schemas.openxmlformats.org/drawingml/2006/main">
            <a:off x="1104900" y="3200400"/>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BDD94056-AD89-4A98-BCF7-C1296AAD720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9D6A03B-9BED-4BB7-BCC7-CC8EAB68CAFD}"/>
              </a:ext>
            </a:extLst>
          </p:cNvPr>
          <p:cNvSpPr>
            <a:spLocks xmlns:a="http://schemas.openxmlformats.org/drawingml/2006/main" noGrp="1"/>
          </p:cNvSpPr>
          <p:nvPr/>
        </p:nvSpPr>
        <p:spPr>
          <a:xfrm xmlns:a="http://schemas.openxmlformats.org/drawingml/2006/main">
            <a:off x="1104900" y="3714750"/>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4CC01C27-E8DC-4FFD-8FE3-DAA1881EE04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AD012BC9-80FA-473D-8E2D-BDFE3508C89A}"/>
              </a:ext>
            </a:extLst>
          </p:cNvPr>
          <p:cNvSpPr>
            <a:spLocks xmlns:a="http://schemas.openxmlformats.org/drawingml/2006/main" noGrp="1"/>
          </p:cNvSpPr>
          <p:nvPr/>
        </p:nvSpPr>
        <p:spPr>
          <a:xfrm xmlns:a="http://schemas.openxmlformats.org/drawingml/2006/main">
            <a:off x="1104900" y="4248150"/>
            <a:ext cx="74771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5326C518-E425-4D08-B1A6-299197DC577E}"/>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88666DF8-53C0-4D15-A904-FF3CDB95944E}"/>
              </a:ext>
            </a:extLst>
          </p:cNvPr>
          <p:cNvSpPr>
            <a:spLocks xmlns:a="http://schemas.openxmlformats.org/drawingml/2006/main" noGrp="1"/>
          </p:cNvSpPr>
          <p:nvPr/>
        </p:nvSpPr>
        <p:spPr>
          <a:xfrm xmlns:a="http://schemas.openxmlformats.org/drawingml/2006/main">
            <a:off x="1104900" y="6057900"/>
            <a:ext cx="7477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FA77C48-A13C-44D1-B9C1-6E8DB8D494E2}"/>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1564E17F-9C66-4DCB-8D03-D4627323C836}"/>
              </a:ext>
            </a:extLst>
          </p:cNvPr>
          <p:cNvSpPr>
            <a:spLocks xmlns:a="http://schemas.openxmlformats.org/drawingml/2006/main" noGrp="1"/>
          </p:cNvSpPr>
          <p:nvPr/>
        </p:nvSpPr>
        <p:spPr>
          <a:xfrm xmlns:a="http://schemas.openxmlformats.org/drawingml/2006/main">
            <a:off x="1104900" y="6819900"/>
            <a:ext cx="7477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19.</a:t>
            </a:r>
          </a:p>
        </p:txBody>
      </p:sp>
      <p:sp>
        <p:nvSpPr>
          <p:cNvPr id="19" name="route-number-7">
            <a:extLst xmlns:a="http://schemas.openxmlformats.org/drawingml/2006/main">
              <a:ext uri="{FF2B5EF4-FFF2-40B4-BE49-F238E27FC236}">
                <a16:creationId xmlns:a16="http://schemas.microsoft.com/office/drawing/2014/main" id="{475D9955-381C-4A36-A987-C238BC2BA090}"/>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53890BC-D012-47B5-923F-6FD7405DAE0C}"/>
              </a:ext>
            </a:extLst>
          </p:cNvPr>
          <p:cNvSpPr>
            <a:spLocks xmlns:a="http://schemas.openxmlformats.org/drawingml/2006/main" noGrp="1"/>
          </p:cNvSpPr>
          <p:nvPr/>
        </p:nvSpPr>
        <p:spPr>
          <a:xfrm xmlns:a="http://schemas.openxmlformats.org/drawingml/2006/main">
            <a:off x="1104900" y="7372350"/>
            <a:ext cx="7477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8A22E29D-A955-4BB8-9B5B-4C520D1D8C1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DF466B4-902F-49F8-9BCB-C1DAE0656A16}"/>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Oorzaken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bewegen of verschuiven tekenen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twee effecten combineren.</a:t>
            </a:r>
          </a:p>
        </p:txBody>
      </p:sp>
      <p:sp>
        <p:nvSpPr>
          <p:cNvPr id="23" name="">
            <a:extLst xmlns:a="http://schemas.openxmlformats.org/drawingml/2006/main">
              <a:ext uri="{FF2B5EF4-FFF2-40B4-BE49-F238E27FC236}">
                <a16:creationId xmlns:a16="http://schemas.microsoft.com/office/drawing/2014/main" id="{CDD1D996-369E-4E58-A02C-86FE6BEC58B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30A839EB-5FCB-4BA7-AA3D-9197B95C984B}"/>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A62D436-7A71-4F36-86F8-FEC333E94D20}"/>
              </a:ext>
            </a:extLst>
          </p:cNvPr>
          <p:cNvSpPr>
            <a:spLocks xmlns:a="http://schemas.openxmlformats.org/drawingml/2006/main" noGrp="1"/>
          </p:cNvSpPr>
          <p:nvPr/>
        </p:nvSpPr>
        <p:spPr>
          <a:xfrm xmlns:a="http://schemas.openxmlformats.org/drawingml/2006/main">
            <a:off x="9258300" y="4371975"/>
            <a:ext cx="53816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62 · Opgaven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 verkennen met de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pagina 58–59</a:t>
            </a:r>
          </a:p>
        </p:txBody>
      </p:sp>
      <p:sp>
        <p:nvSpPr>
          <p:cNvPr id="26" name="">
            <a:extLst xmlns:a="http://schemas.openxmlformats.org/drawingml/2006/main">
              <a:ext uri="{FF2B5EF4-FFF2-40B4-BE49-F238E27FC236}">
                <a16:creationId xmlns:a16="http://schemas.microsoft.com/office/drawing/2014/main" id="{571C4F92-C8D2-43B5-9DAC-6236018E8801}"/>
              </a:ext>
            </a:extLst>
          </p:cNvPr>
          <p:cNvSpPr>
            <a:spLocks xmlns:a="http://schemas.openxmlformats.org/drawingml/2006/main" noGrp="1"/>
          </p:cNvSpPr>
          <p:nvPr/>
        </p:nvSpPr>
        <p:spPr>
          <a:xfrm xmlns:a="http://schemas.openxmlformats.org/drawingml/2006/main">
            <a:off x="9258300" y="55626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91A258F1-E9B9-4C42-9A2B-9B7A3EE90878}"/>
              </a:ext>
            </a:extLst>
          </p:cNvPr>
          <p:cNvSpPr>
            <a:spLocks xmlns:a="http://schemas.openxmlformats.org/drawingml/2006/main" noGrp="1"/>
          </p:cNvSpPr>
          <p:nvPr/>
        </p:nvSpPr>
        <p:spPr>
          <a:xfrm xmlns:a="http://schemas.openxmlformats.org/drawingml/2006/main">
            <a:off x="9258300" y="57721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E1166E43-FA27-4200-BDBF-6C755E3FCF18}"/>
              </a:ext>
            </a:extLst>
          </p:cNvPr>
          <p:cNvSpPr>
            <a:spLocks xmlns:a="http://schemas.openxmlformats.org/drawingml/2006/main" noGrp="1"/>
          </p:cNvSpPr>
          <p:nvPr/>
        </p:nvSpPr>
        <p:spPr>
          <a:xfrm xmlns:a="http://schemas.openxmlformats.org/drawingml/2006/main">
            <a:off x="9258300" y="6296025"/>
            <a:ext cx="5381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§1.2.2 Vraagfactoren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14, 15 en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17 en 18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202114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9 · Filmhuis Lumi">
            <a:extLst xmlns:a="http://schemas.openxmlformats.org/drawingml/2006/main">
              <a:ext uri="{FF2B5EF4-FFF2-40B4-BE49-F238E27FC236}">
                <a16:creationId xmlns:a16="http://schemas.microsoft.com/office/drawing/2014/main" id="{299D87AC-80C2-404D-9B0F-FC641E159DC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 · Filmhuis Lumi</a:t>
            </a:r>
          </a:p>
        </p:txBody>
      </p:sp>
      <p:sp>
        <p:nvSpPr>
          <p:cNvPr id="2" name="">
            <a:extLst xmlns:a="http://schemas.openxmlformats.org/drawingml/2006/main">
              <a:ext uri="{FF2B5EF4-FFF2-40B4-BE49-F238E27FC236}">
                <a16:creationId xmlns:a16="http://schemas.microsoft.com/office/drawing/2014/main" id="{76A393D3-2328-46B8-BF5C-DE9E1E9EBAA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FDD3A4A5-977B-4247-B0C5-DC5947A8F99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14">
            <a:extLst xmlns:a="http://schemas.openxmlformats.org/drawingml/2006/main">
              <a:ext uri="{FF2B5EF4-FFF2-40B4-BE49-F238E27FC236}">
                <a16:creationId xmlns:a16="http://schemas.microsoft.com/office/drawing/2014/main" id="{0887D283-EA58-4AAC-A2A6-7C187A920C8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Q = 100 − 5P, voor 0 ≤ P ≤ 20">
            <a:extLst xmlns:a="http://schemas.openxmlformats.org/drawingml/2006/main">
              <a:ext uri="{FF2B5EF4-FFF2-40B4-BE49-F238E27FC236}">
                <a16:creationId xmlns:a16="http://schemas.microsoft.com/office/drawing/2014/main" id="{EF6DF6A8-136A-4700-8F87-D687B167725D}"/>
              </a:ext>
            </a:extLst>
          </p:cNvPr>
          <p:cNvSpPr>
            <a:spLocks xmlns:a="http://schemas.openxmlformats.org/drawingml/2006/main" noGrp="1"/>
          </p:cNvSpPr>
          <p:nvPr/>
        </p:nvSpPr>
        <p:spPr>
          <a:xfrm xmlns:a="http://schemas.openxmlformats.org/drawingml/2006/main">
            <a:off x="571500" y="18764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A5276"/>
                </a:solidFill>
                <a:latin typeface="Arial"/>
                <a:ea typeface="Arial"/>
                <a:cs typeface="Arial"/>
              </a:defRPr>
            </a:pPr>
            <a:r>
              <a:rPr sz="3600" b="1">
                <a:solidFill>
                  <a:srgbClr val="1A5276"/>
                </a:solidFill>
                <a:latin typeface="Arial"/>
                <a:ea typeface="Arial"/>
                <a:cs typeface="Arial"/>
              </a:rPr>
              <a:t>Q = 100 − 5P, voor 0 ≤ P ≤ 20</a:t>
            </a:r>
          </a:p>
        </p:txBody>
      </p:sp>
      <p:sp>
        <p:nvSpPr>
          <p:cNvPr id="6" name="Q is bezoeken per week. P is euro per bezoek.">
            <a:extLst xmlns:a="http://schemas.openxmlformats.org/drawingml/2006/main">
              <a:ext uri="{FF2B5EF4-FFF2-40B4-BE49-F238E27FC236}">
                <a16:creationId xmlns:a16="http://schemas.microsoft.com/office/drawing/2014/main" id="{EB93CFF5-97A8-4078-9F72-D3306A1428B5}"/>
              </a:ext>
            </a:extLst>
          </p:cNvPr>
          <p:cNvSpPr>
            <a:spLocks xmlns:a="http://schemas.openxmlformats.org/drawingml/2006/main" noGrp="1"/>
          </p:cNvSpPr>
          <p:nvPr/>
        </p:nvSpPr>
        <p:spPr>
          <a:xfrm xmlns:a="http://schemas.openxmlformats.org/drawingml/2006/main">
            <a:off x="571500" y="27527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is bezoeken per week. P is euro per bezoek.</a:t>
            </a:r>
          </a:p>
        </p:txBody>
      </p:sp>
      <p:sp>
        <p:nvSpPr>
          <p:cNvPr id="7" name="Lumi verhoogt de prijs van € 8 naar € 10. Tegelijk worden kaartje">
            <a:extLst xmlns:a="http://schemas.openxmlformats.org/drawingml/2006/main">
              <a:ext uri="{FF2B5EF4-FFF2-40B4-BE49-F238E27FC236}">
                <a16:creationId xmlns:a16="http://schemas.microsoft.com/office/drawing/2014/main" id="{3AD23499-832F-42C3-87A9-CCE7F5E322DF}"/>
              </a:ext>
            </a:extLst>
          </p:cNvPr>
          <p:cNvSpPr>
            <a:spLocks xmlns:a="http://schemas.openxmlformats.org/drawingml/2006/main" noGrp="1"/>
          </p:cNvSpPr>
          <p:nvPr/>
        </p:nvSpPr>
        <p:spPr>
          <a:xfrm xmlns:a="http://schemas.openxmlformats.org/drawingml/2006/main">
            <a:off x="571500" y="3714750"/>
            <a:ext cx="140970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Lumi verhoogt de prijs van € 8 naar € 10. Tegelijk worden kaartjes van een nabijgelegen bioscoop duurder. Volgens de bron zijn die bezoeken substituten.</a:t>
            </a:r>
          </a:p>
        </p:txBody>
      </p:sp>
      <p:sp>
        <p:nvSpPr>
          <p:cNvPr id="8" name="Hierdoor worden bij Lumi bij elke onderzochte prijs 20 bezoeken e">
            <a:extLst xmlns:a="http://schemas.openxmlformats.org/drawingml/2006/main">
              <a:ext uri="{FF2B5EF4-FFF2-40B4-BE49-F238E27FC236}">
                <a16:creationId xmlns:a16="http://schemas.microsoft.com/office/drawing/2014/main" id="{2229E8E9-DD61-4A39-AAD1-0875ED94150B}"/>
              </a:ext>
            </a:extLst>
          </p:cNvPr>
          <p:cNvSpPr>
            <a:spLocks xmlns:a="http://schemas.openxmlformats.org/drawingml/2006/main" noGrp="1"/>
          </p:cNvSpPr>
          <p:nvPr/>
        </p:nvSpPr>
        <p:spPr>
          <a:xfrm xmlns:a="http://schemas.openxmlformats.org/drawingml/2006/main">
            <a:off x="571500" y="5657850"/>
            <a:ext cx="14097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Hierdoor worden bij Lumi bij elke onderzochte prijs 20 bezoeken extra gevraagd.</a:t>
            </a:r>
          </a:p>
        </p:txBody>
      </p:sp>
      <p:sp>
        <p:nvSpPr>
          <p:cNvPr id="9" name="Neem aan dat de nieuwe vraaglijn recht blijft tot de gevraagde ho">
            <a:extLst xmlns:a="http://schemas.openxmlformats.org/drawingml/2006/main">
              <a:ext uri="{FF2B5EF4-FFF2-40B4-BE49-F238E27FC236}">
                <a16:creationId xmlns:a16="http://schemas.microsoft.com/office/drawing/2014/main" id="{BED6A6D1-6541-4348-B26E-AF82AC72BAB0}"/>
              </a:ext>
            </a:extLst>
          </p:cNvPr>
          <p:cNvSpPr>
            <a:spLocks xmlns:a="http://schemas.openxmlformats.org/drawingml/2006/main" noGrp="1"/>
          </p:cNvSpPr>
          <p:nvPr/>
        </p:nvSpPr>
        <p:spPr>
          <a:xfrm xmlns:a="http://schemas.openxmlformats.org/drawingml/2006/main">
            <a:off x="571500" y="708660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Neem aan dat de nieuwe vraaglijn recht blijft tot de gevraagde hoeveelheid nul is. Verder blijven de omstandigheden gelijk.</a:t>
            </a:r>
          </a:p>
        </p:txBody>
      </p:sp>
    </p:spTree>
    <p:extLst>
      <p:ext uri="{BB962C8B-B14F-4D97-AF65-F5344CB8AC3E}">
        <p14:creationId xmlns:p14="http://schemas.microsoft.com/office/powerpoint/2010/main" val="9871568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9 · Beginfiguur, a en b">
            <a:extLst xmlns:a="http://schemas.openxmlformats.org/drawingml/2006/main">
              <a:ext uri="{FF2B5EF4-FFF2-40B4-BE49-F238E27FC236}">
                <a16:creationId xmlns:a16="http://schemas.microsoft.com/office/drawing/2014/main" id="{B075CB43-4821-4AC5-9E31-7767F37721F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 · Beginfiguur, a en b</a:t>
            </a:r>
          </a:p>
        </p:txBody>
      </p:sp>
      <p:sp>
        <p:nvSpPr>
          <p:cNvPr id="2" name="">
            <a:extLst xmlns:a="http://schemas.openxmlformats.org/drawingml/2006/main">
              <a:ext uri="{FF2B5EF4-FFF2-40B4-BE49-F238E27FC236}">
                <a16:creationId xmlns:a16="http://schemas.microsoft.com/office/drawing/2014/main" id="{2FB6DB59-D836-4BF5-8718-CE7E312D10D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245382BA-F5E0-464D-80BB-FC80B09C8C46}"/>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15">
            <a:extLst xmlns:a="http://schemas.openxmlformats.org/drawingml/2006/main">
              <a:ext uri="{FF2B5EF4-FFF2-40B4-BE49-F238E27FC236}">
                <a16:creationId xmlns:a16="http://schemas.microsoft.com/office/drawing/2014/main" id="{1EDC31FA-B519-4CD4-B00A-C63A81AE348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graphicFrame>
        <p:nvGraphicFramePr>
          <p:cNvPr id="14" name="Chart"/>
          <p:cNvGraphicFramePr/>
          <p:nvPr/>
        </p:nvGraphicFramePr>
        <p:xfrm>
          <a:off xmlns:a="http://schemas.openxmlformats.org/drawingml/2006/main" x="571500" y="1962150"/>
          <a:ext xmlns:a="http://schemas.openxmlformats.org/drawingml/2006/main" cx="8763000" cy="5381625"/>
        </p:xfrm>
        <a:graphic xmlns:a="http://schemas.openxmlformats.org/drawingml/2006/main">
          <a:graphicData uri="http://schemas.openxmlformats.org/drawingml/2006/chart">
            <c:chart xmlns:r="http://schemas.openxmlformats.org/officeDocument/2006/relationships" xmlns:c="http://schemas.openxmlformats.org/drawingml/2006/chart" r:id="R89a391e4b9544f15"/>
          </a:graphicData>
        </a:graphic>
      </p:graphicFrame>
      <p:sp>
        <p:nvSpPr>
          <p:cNvPr id="6" name="a">
            <a:extLst xmlns:a="http://schemas.openxmlformats.org/drawingml/2006/main">
              <a:ext uri="{FF2B5EF4-FFF2-40B4-BE49-F238E27FC236}">
                <a16:creationId xmlns:a16="http://schemas.microsoft.com/office/drawing/2014/main" id="{C4071299-2642-42AD-B3D0-10C5AD9A6AD6}"/>
              </a:ext>
            </a:extLst>
          </p:cNvPr>
          <p:cNvSpPr>
            <a:spLocks xmlns:a="http://schemas.openxmlformats.org/drawingml/2006/main" noGrp="1"/>
          </p:cNvSpPr>
          <p:nvPr/>
        </p:nvSpPr>
        <p:spPr>
          <a:xfrm xmlns:a="http://schemas.openxmlformats.org/drawingml/2006/main">
            <a:off x="10048875" y="200025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a</a:t>
            </a:r>
          </a:p>
        </p:txBody>
      </p:sp>
      <p:sp>
        <p:nvSpPr>
          <p:cNvPr id="7" name="Bereken Q vóór de veranderingen en na alleen de eigen prijsstijgi">
            <a:extLst xmlns:a="http://schemas.openxmlformats.org/drawingml/2006/main">
              <a:ext uri="{FF2B5EF4-FFF2-40B4-BE49-F238E27FC236}">
                <a16:creationId xmlns:a16="http://schemas.microsoft.com/office/drawing/2014/main" id="{E21A80E2-8B39-4C22-9BBC-762EFC103740}"/>
              </a:ext>
            </a:extLst>
          </p:cNvPr>
          <p:cNvSpPr>
            <a:spLocks xmlns:a="http://schemas.openxmlformats.org/drawingml/2006/main" noGrp="1"/>
          </p:cNvSpPr>
          <p:nvPr/>
        </p:nvSpPr>
        <p:spPr>
          <a:xfrm xmlns:a="http://schemas.openxmlformats.org/drawingml/2006/main">
            <a:off x="10048875" y="2609850"/>
            <a:ext cx="4619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Bereken Q vóór de veranderingen en na alleen de eigen prijsstijging. Benoem de grafische verandering.</a:t>
            </a:r>
          </a:p>
        </p:txBody>
      </p:sp>
      <p:sp>
        <p:nvSpPr>
          <p:cNvPr id="8" name="b">
            <a:extLst xmlns:a="http://schemas.openxmlformats.org/drawingml/2006/main">
              <a:ext uri="{FF2B5EF4-FFF2-40B4-BE49-F238E27FC236}">
                <a16:creationId xmlns:a16="http://schemas.microsoft.com/office/drawing/2014/main" id="{6ABF60EC-B03E-4ACC-91E6-581999464AB1}"/>
              </a:ext>
            </a:extLst>
          </p:cNvPr>
          <p:cNvSpPr>
            <a:spLocks xmlns:a="http://schemas.openxmlformats.org/drawingml/2006/main" noGrp="1"/>
          </p:cNvSpPr>
          <p:nvPr/>
        </p:nvSpPr>
        <p:spPr>
          <a:xfrm xmlns:a="http://schemas.openxmlformats.org/drawingml/2006/main">
            <a:off x="10048875" y="507682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b</a:t>
            </a:r>
          </a:p>
        </p:txBody>
      </p:sp>
      <p:sp>
        <p:nvSpPr>
          <p:cNvPr id="9" name="Welke specifieke factor veroorzaakt de andere verandering? Benoem">
            <a:extLst xmlns:a="http://schemas.openxmlformats.org/drawingml/2006/main">
              <a:ext uri="{FF2B5EF4-FFF2-40B4-BE49-F238E27FC236}">
                <a16:creationId xmlns:a16="http://schemas.microsoft.com/office/drawing/2014/main" id="{DBB2574C-CF4B-45F7-A263-863F6DB92590}"/>
              </a:ext>
            </a:extLst>
          </p:cNvPr>
          <p:cNvSpPr>
            <a:spLocks xmlns:a="http://schemas.openxmlformats.org/drawingml/2006/main" noGrp="1"/>
          </p:cNvSpPr>
          <p:nvPr/>
        </p:nvSpPr>
        <p:spPr>
          <a:xfrm xmlns:a="http://schemas.openxmlformats.org/drawingml/2006/main">
            <a:off x="10048875" y="5648325"/>
            <a:ext cx="461962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Welke specifieke factor veroorzaakt de andere verandering? Benoem de richting van de verschuiving.</a:t>
            </a:r>
          </a:p>
        </p:txBody>
      </p:sp>
    </p:spTree>
    <p:extLst>
      <p:ext uri="{BB962C8B-B14F-4D97-AF65-F5344CB8AC3E}">
        <p14:creationId xmlns:p14="http://schemas.microsoft.com/office/powerpoint/2010/main" val="2944950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9 · Deelvragen c, d en e">
            <a:extLst xmlns:a="http://schemas.openxmlformats.org/drawingml/2006/main">
              <a:ext uri="{FF2B5EF4-FFF2-40B4-BE49-F238E27FC236}">
                <a16:creationId xmlns:a16="http://schemas.microsoft.com/office/drawing/2014/main" id="{212D6074-926D-4981-ACEE-C4E12B2ED0E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 · Deelvragen c, d en e</a:t>
            </a:r>
          </a:p>
        </p:txBody>
      </p:sp>
      <p:sp>
        <p:nvSpPr>
          <p:cNvPr id="2" name="">
            <a:extLst xmlns:a="http://schemas.openxmlformats.org/drawingml/2006/main">
              <a:ext uri="{FF2B5EF4-FFF2-40B4-BE49-F238E27FC236}">
                <a16:creationId xmlns:a16="http://schemas.microsoft.com/office/drawing/2014/main" id="{EAD1B030-8C7B-4049-8390-1EB2CFCDA02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4214B2DD-94CB-4959-B408-4BAA410D424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16">
            <a:extLst xmlns:a="http://schemas.openxmlformats.org/drawingml/2006/main">
              <a:ext uri="{FF2B5EF4-FFF2-40B4-BE49-F238E27FC236}">
                <a16:creationId xmlns:a16="http://schemas.microsoft.com/office/drawing/2014/main" id="{57221E85-346D-48E9-91A5-B3696514064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c) Teken de nieuwe vraaglijn in de figuur. Markeer A (oud), B (al">
            <a:extLst xmlns:a="http://schemas.openxmlformats.org/drawingml/2006/main">
              <a:ext uri="{FF2B5EF4-FFF2-40B4-BE49-F238E27FC236}">
                <a16:creationId xmlns:a16="http://schemas.microsoft.com/office/drawing/2014/main" id="{333AC1E3-3003-400F-BAD3-1ADF9C7BEB70}"/>
              </a:ext>
            </a:extLst>
          </p:cNvPr>
          <p:cNvSpPr>
            <a:spLocks xmlns:a="http://schemas.openxmlformats.org/drawingml/2006/main" noGrp="1"/>
          </p:cNvSpPr>
          <p:nvPr/>
        </p:nvSpPr>
        <p:spPr>
          <a:xfrm xmlns:a="http://schemas.openxmlformats.org/drawingml/2006/main">
            <a:off x="571500" y="1876425"/>
            <a:ext cx="140970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 Teken de nieuwe vraaglijn in de figuur. Markeer A (oud), B (alleen de eigen prijsstijging) en C (beide veranderingen). Noteer hun coördinaten.</a:t>
            </a:r>
          </a:p>
        </p:txBody>
      </p:sp>
      <p:sp>
        <p:nvSpPr>
          <p:cNvPr id="6" name="">
            <a:extLst xmlns:a="http://schemas.openxmlformats.org/drawingml/2006/main">
              <a:ext uri="{FF2B5EF4-FFF2-40B4-BE49-F238E27FC236}">
                <a16:creationId xmlns:a16="http://schemas.microsoft.com/office/drawing/2014/main" id="{45DE63F6-F366-47C5-9645-6464BBD66C2E}"/>
              </a:ext>
            </a:extLst>
          </p:cNvPr>
          <p:cNvSpPr>
            <a:spLocks xmlns:a="http://schemas.openxmlformats.org/drawingml/2006/main" noGrp="1"/>
          </p:cNvSpPr>
          <p:nvPr/>
        </p:nvSpPr>
        <p:spPr>
          <a:xfrm xmlns:a="http://schemas.openxmlformats.org/drawingml/2006/main">
            <a:off x="571500" y="3695700"/>
            <a:ext cx="14097000" cy="0"/>
          </a:xfrm>
          <a:prstGeom xmlns:a="http://schemas.openxmlformats.org/drawingml/2006/main" prst="line">
            <a:avLst/>
          </a:prstGeom>
          <a:ln xmlns:a="http://schemas.openxmlformats.org/drawingml/2006/main" w="19050">
            <a:solidFill>
              <a:srgbClr val="C6D2DB"/>
            </a:solidFill>
          </a:ln>
        </p:spPr>
      </p:sp>
      <p:sp>
        <p:nvSpPr>
          <p:cNvPr id="7" name="d) Bereken de uiteindelijke hoeveelheid en de verandering ten opz">
            <a:extLst xmlns:a="http://schemas.openxmlformats.org/drawingml/2006/main">
              <a:ext uri="{FF2B5EF4-FFF2-40B4-BE49-F238E27FC236}">
                <a16:creationId xmlns:a16="http://schemas.microsoft.com/office/drawing/2014/main" id="{3527864F-BD1E-440F-881E-4F6D6606AFC6}"/>
              </a:ext>
            </a:extLst>
          </p:cNvPr>
          <p:cNvSpPr>
            <a:spLocks xmlns:a="http://schemas.openxmlformats.org/drawingml/2006/main" noGrp="1"/>
          </p:cNvSpPr>
          <p:nvPr/>
        </p:nvSpPr>
        <p:spPr>
          <a:xfrm xmlns:a="http://schemas.openxmlformats.org/drawingml/2006/main">
            <a:off x="571500" y="4095750"/>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 Bereken de uiteindelijke hoeveelheid en de verandering ten opzichte van het begin. Werken de twee effecten elkaar tegen of versterken ze elkaar?</a:t>
            </a:r>
          </a:p>
        </p:txBody>
      </p:sp>
      <p:sp>
        <p:nvSpPr>
          <p:cNvPr id="8" name="">
            <a:extLst xmlns:a="http://schemas.openxmlformats.org/drawingml/2006/main">
              <a:ext uri="{FF2B5EF4-FFF2-40B4-BE49-F238E27FC236}">
                <a16:creationId xmlns:a16="http://schemas.microsoft.com/office/drawing/2014/main" id="{C59D49A8-2948-41F0-8997-111630FF8840}"/>
              </a:ext>
            </a:extLst>
          </p:cNvPr>
          <p:cNvSpPr>
            <a:spLocks xmlns:a="http://schemas.openxmlformats.org/drawingml/2006/main" noGrp="1"/>
          </p:cNvSpPr>
          <p:nvPr/>
        </p:nvSpPr>
        <p:spPr>
          <a:xfrm xmlns:a="http://schemas.openxmlformats.org/drawingml/2006/main">
            <a:off x="571500" y="5848350"/>
            <a:ext cx="14097000" cy="0"/>
          </a:xfrm>
          <a:prstGeom xmlns:a="http://schemas.openxmlformats.org/drawingml/2006/main" prst="line">
            <a:avLst/>
          </a:prstGeom>
          <a:ln xmlns:a="http://schemas.openxmlformats.org/drawingml/2006/main" w="19050">
            <a:solidFill>
              <a:srgbClr val="C6D2DB"/>
            </a:solidFill>
          </a:ln>
        </p:spPr>
      </p:sp>
      <p:sp>
        <p:nvSpPr>
          <p:cNvPr id="9" name="e) Beoordeel: “De hogere prijs van Lumi verschuift zijn vraaglijn">
            <a:extLst xmlns:a="http://schemas.openxmlformats.org/drawingml/2006/main">
              <a:ext uri="{FF2B5EF4-FFF2-40B4-BE49-F238E27FC236}">
                <a16:creationId xmlns:a16="http://schemas.microsoft.com/office/drawing/2014/main" id="{367F8550-B91C-4124-B1D0-27A8A6EDAB5A}"/>
              </a:ext>
            </a:extLst>
          </p:cNvPr>
          <p:cNvSpPr>
            <a:spLocks xmlns:a="http://schemas.openxmlformats.org/drawingml/2006/main" noGrp="1"/>
          </p:cNvSpPr>
          <p:nvPr/>
        </p:nvSpPr>
        <p:spPr>
          <a:xfrm xmlns:a="http://schemas.openxmlformats.org/drawingml/2006/main">
            <a:off x="571500" y="6276975"/>
            <a:ext cx="141351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e) Beoordeel: “De hogere prijs van Lumi verschuift zijn vraaglijn naar rechts.” Gebruik je uitkomsten.</a:t>
            </a:r>
          </a:p>
        </p:txBody>
      </p:sp>
    </p:spTree>
    <p:extLst>
      <p:ext uri="{BB962C8B-B14F-4D97-AF65-F5344CB8AC3E}">
        <p14:creationId xmlns:p14="http://schemas.microsoft.com/office/powerpoint/2010/main" val="11041341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19a · Eerst de eigen prijs">
            <a:extLst xmlns:a="http://schemas.openxmlformats.org/drawingml/2006/main">
              <a:ext uri="{FF2B5EF4-FFF2-40B4-BE49-F238E27FC236}">
                <a16:creationId xmlns:a16="http://schemas.microsoft.com/office/drawing/2014/main" id="{B044B911-2A51-46EF-8D9D-896E9B23C48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19a · Eerst de eigen prijs</a:t>
            </a:r>
          </a:p>
        </p:txBody>
      </p:sp>
      <p:sp>
        <p:nvSpPr>
          <p:cNvPr id="2" name="">
            <a:extLst xmlns:a="http://schemas.openxmlformats.org/drawingml/2006/main">
              <a:ext uri="{FF2B5EF4-FFF2-40B4-BE49-F238E27FC236}">
                <a16:creationId xmlns:a16="http://schemas.microsoft.com/office/drawing/2014/main" id="{808F4DD4-7E69-48A9-A986-6975D7A7445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E710B15F-C598-4AF9-920E-FFFCEFB7F91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17">
            <a:extLst xmlns:a="http://schemas.openxmlformats.org/drawingml/2006/main">
              <a:ext uri="{FF2B5EF4-FFF2-40B4-BE49-F238E27FC236}">
                <a16:creationId xmlns:a16="http://schemas.microsoft.com/office/drawing/2014/main" id="{3412A21C-AF05-4286-8549-AD1D05E24EA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Oud: P = € 8">
            <a:extLst xmlns:a="http://schemas.openxmlformats.org/drawingml/2006/main">
              <a:ext uri="{FF2B5EF4-FFF2-40B4-BE49-F238E27FC236}">
                <a16:creationId xmlns:a16="http://schemas.microsoft.com/office/drawing/2014/main" id="{1F52B65A-D0CF-4D79-94F5-D166147112E7}"/>
              </a:ext>
            </a:extLst>
          </p:cNvPr>
          <p:cNvSpPr>
            <a:spLocks xmlns:a="http://schemas.openxmlformats.org/drawingml/2006/main" noGrp="1"/>
          </p:cNvSpPr>
          <p:nvPr/>
        </p:nvSpPr>
        <p:spPr>
          <a:xfrm xmlns:a="http://schemas.openxmlformats.org/drawingml/2006/main">
            <a:off x="571500" y="203835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Oud: P = € 8</a:t>
            </a:r>
          </a:p>
        </p:txBody>
      </p:sp>
      <p:sp>
        <p:nvSpPr>
          <p:cNvPr id="6" name="Q = 100 − 5 × 8 = 60 bezoeken per week">
            <a:extLst xmlns:a="http://schemas.openxmlformats.org/drawingml/2006/main">
              <a:ext uri="{FF2B5EF4-FFF2-40B4-BE49-F238E27FC236}">
                <a16:creationId xmlns:a16="http://schemas.microsoft.com/office/drawing/2014/main" id="{EC458F44-B31A-4D72-8DBD-57DB3FA434FA}"/>
              </a:ext>
            </a:extLst>
          </p:cNvPr>
          <p:cNvSpPr>
            <a:spLocks xmlns:a="http://schemas.openxmlformats.org/drawingml/2006/main" noGrp="1"/>
          </p:cNvSpPr>
          <p:nvPr/>
        </p:nvSpPr>
        <p:spPr>
          <a:xfrm xmlns:a="http://schemas.openxmlformats.org/drawingml/2006/main">
            <a:off x="571500" y="29146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Q = 100 − 5 × 8 = 60 bezoeken per week</a:t>
            </a:r>
          </a:p>
        </p:txBody>
      </p:sp>
      <p:sp>
        <p:nvSpPr>
          <p:cNvPr id="7" name="">
            <a:extLst xmlns:a="http://schemas.openxmlformats.org/drawingml/2006/main">
              <a:ext uri="{FF2B5EF4-FFF2-40B4-BE49-F238E27FC236}">
                <a16:creationId xmlns:a16="http://schemas.microsoft.com/office/drawing/2014/main" id="{E8360B15-EB63-4207-9FA6-EC51585BFD39}"/>
              </a:ext>
            </a:extLst>
          </p:cNvPr>
          <p:cNvSpPr>
            <a:spLocks xmlns:a="http://schemas.openxmlformats.org/drawingml/2006/main" noGrp="1"/>
          </p:cNvSpPr>
          <p:nvPr/>
        </p:nvSpPr>
        <p:spPr>
          <a:xfrm xmlns:a="http://schemas.openxmlformats.org/drawingml/2006/main">
            <a:off x="571500" y="4067175"/>
            <a:ext cx="14097000" cy="0"/>
          </a:xfrm>
          <a:prstGeom xmlns:a="http://schemas.openxmlformats.org/drawingml/2006/main" prst="line">
            <a:avLst/>
          </a:prstGeom>
          <a:ln xmlns:a="http://schemas.openxmlformats.org/drawingml/2006/main" w="19050">
            <a:solidFill>
              <a:srgbClr val="C6D2DB"/>
            </a:solidFill>
          </a:ln>
        </p:spPr>
      </p:sp>
      <p:sp>
        <p:nvSpPr>
          <p:cNvPr id="8" name="Alleen de eigen prijs: P = € 10">
            <a:extLst xmlns:a="http://schemas.openxmlformats.org/drawingml/2006/main">
              <a:ext uri="{FF2B5EF4-FFF2-40B4-BE49-F238E27FC236}">
                <a16:creationId xmlns:a16="http://schemas.microsoft.com/office/drawing/2014/main" id="{5E929CC1-0433-43F9-B9D9-F6AB5A79CB99}"/>
              </a:ext>
            </a:extLst>
          </p:cNvPr>
          <p:cNvSpPr>
            <a:spLocks xmlns:a="http://schemas.openxmlformats.org/drawingml/2006/main" noGrp="1"/>
          </p:cNvSpPr>
          <p:nvPr/>
        </p:nvSpPr>
        <p:spPr>
          <a:xfrm xmlns:a="http://schemas.openxmlformats.org/drawingml/2006/main">
            <a:off x="571500" y="45053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Alleen de eigen prijs: P = € 10</a:t>
            </a:r>
          </a:p>
        </p:txBody>
      </p:sp>
      <p:sp>
        <p:nvSpPr>
          <p:cNvPr id="9" name="Q = 100 − 5 × 10 = 50 bezoeken per week">
            <a:extLst xmlns:a="http://schemas.openxmlformats.org/drawingml/2006/main">
              <a:ext uri="{FF2B5EF4-FFF2-40B4-BE49-F238E27FC236}">
                <a16:creationId xmlns:a16="http://schemas.microsoft.com/office/drawing/2014/main" id="{53F1F599-EC16-4710-AB4D-A5883AAD7FF0}"/>
              </a:ext>
            </a:extLst>
          </p:cNvPr>
          <p:cNvSpPr>
            <a:spLocks xmlns:a="http://schemas.openxmlformats.org/drawingml/2006/main" noGrp="1"/>
          </p:cNvSpPr>
          <p:nvPr/>
        </p:nvSpPr>
        <p:spPr>
          <a:xfrm xmlns:a="http://schemas.openxmlformats.org/drawingml/2006/main">
            <a:off x="571500" y="539115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Q = 100 − 5 × 10 = 50 bezoeken per week</a:t>
            </a:r>
          </a:p>
        </p:txBody>
      </p:sp>
      <p:sp>
        <p:nvSpPr>
          <p:cNvPr id="10" name="Beweging langs V₀. Er worden 10 bezoeken minder gevraagd.">
            <a:extLst xmlns:a="http://schemas.openxmlformats.org/drawingml/2006/main">
              <a:ext uri="{FF2B5EF4-FFF2-40B4-BE49-F238E27FC236}">
                <a16:creationId xmlns:a16="http://schemas.microsoft.com/office/drawing/2014/main" id="{4312ABF9-2FB7-47AE-9BCA-3F98EC45E403}"/>
              </a:ext>
            </a:extLst>
          </p:cNvPr>
          <p:cNvSpPr>
            <a:spLocks xmlns:a="http://schemas.openxmlformats.org/drawingml/2006/main" noGrp="1"/>
          </p:cNvSpPr>
          <p:nvPr/>
        </p:nvSpPr>
        <p:spPr>
          <a:xfrm xmlns:a="http://schemas.openxmlformats.org/drawingml/2006/main">
            <a:off x="571500" y="7115175"/>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Beweging langs V₀. Er worden 10 bezoeken minder gevraagd.</a:t>
            </a:r>
          </a:p>
        </p:txBody>
      </p:sp>
    </p:spTree>
    <p:extLst>
      <p:ext uri="{BB962C8B-B14F-4D97-AF65-F5344CB8AC3E}">
        <p14:creationId xmlns:p14="http://schemas.microsoft.com/office/powerpoint/2010/main" val="12309395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9a en c · A en B op V₀">
            <a:extLst xmlns:a="http://schemas.openxmlformats.org/drawingml/2006/main">
              <a:ext uri="{FF2B5EF4-FFF2-40B4-BE49-F238E27FC236}">
                <a16:creationId xmlns:a16="http://schemas.microsoft.com/office/drawing/2014/main" id="{34679F70-57C5-4910-8F8A-DB1D0CBCB73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19a en c · A en B op V₀</a:t>
            </a:r>
          </a:p>
        </p:txBody>
      </p:sp>
      <p:sp>
        <p:nvSpPr>
          <p:cNvPr id="2" name="">
            <a:extLst xmlns:a="http://schemas.openxmlformats.org/drawingml/2006/main">
              <a:ext uri="{FF2B5EF4-FFF2-40B4-BE49-F238E27FC236}">
                <a16:creationId xmlns:a16="http://schemas.microsoft.com/office/drawing/2014/main" id="{BF847189-EBE6-495C-9940-571BFA094E3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F5D058BA-5F0F-485C-971B-FF5183BED76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18">
            <a:extLst xmlns:a="http://schemas.openxmlformats.org/drawingml/2006/main">
              <a:ext uri="{FF2B5EF4-FFF2-40B4-BE49-F238E27FC236}">
                <a16:creationId xmlns:a16="http://schemas.microsoft.com/office/drawing/2014/main" id="{EEFF281B-B669-4A34-9650-D9A4DF27DC9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4" name="Chart"/>
          <p:cNvGraphicFramePr/>
          <p:nvPr/>
        </p:nvGraphicFramePr>
        <p:xfrm>
          <a:off xmlns:a="http://schemas.openxmlformats.org/drawingml/2006/main" x="571500" y="1981200"/>
          <a:ext xmlns:a="http://schemas.openxmlformats.org/drawingml/2006/main" cx="9620250" cy="5276850"/>
        </p:xfrm>
        <a:graphic xmlns:a="http://schemas.openxmlformats.org/drawingml/2006/main">
          <a:graphicData uri="http://schemas.openxmlformats.org/drawingml/2006/chart">
            <c:chart xmlns:r="http://schemas.openxmlformats.org/officeDocument/2006/relationships" xmlns:c="http://schemas.openxmlformats.org/drawingml/2006/chart" r:id="R524eb587889a48c6"/>
          </a:graphicData>
        </a:graphic>
      </p:graphicFrame>
      <p:sp>
        <p:nvSpPr>
          <p:cNvPr id="6" name="A = (60; 8)">
            <a:extLst xmlns:a="http://schemas.openxmlformats.org/drawingml/2006/main">
              <a:ext uri="{FF2B5EF4-FFF2-40B4-BE49-F238E27FC236}">
                <a16:creationId xmlns:a16="http://schemas.microsoft.com/office/drawing/2014/main" id="{57229B5A-586A-4EBF-B3F0-78EBA215B47C}"/>
              </a:ext>
            </a:extLst>
          </p:cNvPr>
          <p:cNvSpPr>
            <a:spLocks xmlns:a="http://schemas.openxmlformats.org/drawingml/2006/main" noGrp="1"/>
          </p:cNvSpPr>
          <p:nvPr/>
        </p:nvSpPr>
        <p:spPr>
          <a:xfrm xmlns:a="http://schemas.openxmlformats.org/drawingml/2006/main">
            <a:off x="10763250" y="2581275"/>
            <a:ext cx="3905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A = (60; 8)</a:t>
            </a:r>
          </a:p>
        </p:txBody>
      </p:sp>
      <p:sp>
        <p:nvSpPr>
          <p:cNvPr id="7" name="B = (50; 10)">
            <a:extLst xmlns:a="http://schemas.openxmlformats.org/drawingml/2006/main">
              <a:ext uri="{FF2B5EF4-FFF2-40B4-BE49-F238E27FC236}">
                <a16:creationId xmlns:a16="http://schemas.microsoft.com/office/drawing/2014/main" id="{DCE771C6-67E0-4839-8346-E57441BEFED7}"/>
              </a:ext>
            </a:extLst>
          </p:cNvPr>
          <p:cNvSpPr>
            <a:spLocks xmlns:a="http://schemas.openxmlformats.org/drawingml/2006/main" noGrp="1"/>
          </p:cNvSpPr>
          <p:nvPr/>
        </p:nvSpPr>
        <p:spPr>
          <a:xfrm xmlns:a="http://schemas.openxmlformats.org/drawingml/2006/main">
            <a:off x="10763250" y="3600450"/>
            <a:ext cx="3905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B = (50; 10)</a:t>
            </a:r>
          </a:p>
        </p:txBody>
      </p:sp>
      <p:sp>
        <p:nvSpPr>
          <p:cNvPr id="8" name="Eerst Q, dan P">
            <a:extLst xmlns:a="http://schemas.openxmlformats.org/drawingml/2006/main">
              <a:ext uri="{FF2B5EF4-FFF2-40B4-BE49-F238E27FC236}">
                <a16:creationId xmlns:a16="http://schemas.microsoft.com/office/drawing/2014/main" id="{1698A752-EBA4-4541-90B9-CE0F330512D2}"/>
              </a:ext>
            </a:extLst>
          </p:cNvPr>
          <p:cNvSpPr>
            <a:spLocks xmlns:a="http://schemas.openxmlformats.org/drawingml/2006/main" noGrp="1"/>
          </p:cNvSpPr>
          <p:nvPr/>
        </p:nvSpPr>
        <p:spPr>
          <a:xfrm xmlns:a="http://schemas.openxmlformats.org/drawingml/2006/main">
            <a:off x="10763250" y="5172075"/>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Eerst Q, dan P</a:t>
            </a:r>
          </a:p>
        </p:txBody>
      </p:sp>
      <p:sp>
        <p:nvSpPr>
          <p:cNvPr id="9" name="B: alleen de eigen&#10;prijsstijging">
            <a:extLst xmlns:a="http://schemas.openxmlformats.org/drawingml/2006/main">
              <a:ext uri="{FF2B5EF4-FFF2-40B4-BE49-F238E27FC236}">
                <a16:creationId xmlns:a16="http://schemas.microsoft.com/office/drawing/2014/main" id="{BB4CF86A-7823-496B-82B2-0DB832C7C2C5}"/>
              </a:ext>
            </a:extLst>
          </p:cNvPr>
          <p:cNvSpPr>
            <a:spLocks xmlns:a="http://schemas.openxmlformats.org/drawingml/2006/main" noGrp="1"/>
          </p:cNvSpPr>
          <p:nvPr/>
        </p:nvSpPr>
        <p:spPr>
          <a:xfrm xmlns:a="http://schemas.openxmlformats.org/drawingml/2006/main">
            <a:off x="10763250" y="6334125"/>
            <a:ext cx="3905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 alleen de eigen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prijsstijging</a:t>
            </a:r>
          </a:p>
        </p:txBody>
      </p:sp>
    </p:spTree>
    <p:extLst>
      <p:ext uri="{BB962C8B-B14F-4D97-AF65-F5344CB8AC3E}">
        <p14:creationId xmlns:p14="http://schemas.microsoft.com/office/powerpoint/2010/main" val="48125700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9b · De andere bioscoop">
            <a:extLst xmlns:a="http://schemas.openxmlformats.org/drawingml/2006/main">
              <a:ext uri="{FF2B5EF4-FFF2-40B4-BE49-F238E27FC236}">
                <a16:creationId xmlns:a16="http://schemas.microsoft.com/office/drawing/2014/main" id="{12652E7D-112B-4B45-AA30-C4997D4FF9E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19b · De andere bioscoop</a:t>
            </a:r>
          </a:p>
        </p:txBody>
      </p:sp>
      <p:sp>
        <p:nvSpPr>
          <p:cNvPr id="2" name="">
            <a:extLst xmlns:a="http://schemas.openxmlformats.org/drawingml/2006/main">
              <a:ext uri="{FF2B5EF4-FFF2-40B4-BE49-F238E27FC236}">
                <a16:creationId xmlns:a16="http://schemas.microsoft.com/office/drawing/2014/main" id="{1239D0EF-75AC-46C3-B60E-D17A40C9302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B70170FD-57DE-41D8-8B85-421956E478B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19">
            <a:extLst xmlns:a="http://schemas.openxmlformats.org/drawingml/2006/main">
              <a:ext uri="{FF2B5EF4-FFF2-40B4-BE49-F238E27FC236}">
                <a16:creationId xmlns:a16="http://schemas.microsoft.com/office/drawing/2014/main" id="{529EE03F-9A18-4624-B3BE-55833B178FE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De prijs van een substituut stijgt">
            <a:extLst xmlns:a="http://schemas.openxmlformats.org/drawingml/2006/main">
              <a:ext uri="{FF2B5EF4-FFF2-40B4-BE49-F238E27FC236}">
                <a16:creationId xmlns:a16="http://schemas.microsoft.com/office/drawing/2014/main" id="{177743AB-C430-4210-A592-82460275301E}"/>
              </a:ext>
            </a:extLst>
          </p:cNvPr>
          <p:cNvSpPr>
            <a:spLocks xmlns:a="http://schemas.openxmlformats.org/drawingml/2006/main" noGrp="1"/>
          </p:cNvSpPr>
          <p:nvPr/>
        </p:nvSpPr>
        <p:spPr>
          <a:xfrm xmlns:a="http://schemas.openxmlformats.org/drawingml/2006/main">
            <a:off x="571500" y="21240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20665B"/>
                </a:solidFill>
                <a:latin typeface="Arial"/>
                <a:ea typeface="Arial"/>
                <a:cs typeface="Arial"/>
              </a:defRPr>
            </a:pPr>
            <a:r>
              <a:rPr sz="3975" b="1">
                <a:solidFill>
                  <a:srgbClr val="20665B"/>
                </a:solidFill>
                <a:latin typeface="Arial"/>
                <a:ea typeface="Arial"/>
                <a:cs typeface="Arial"/>
              </a:rPr>
              <a:t>De prijs van een substituut stijgt</a:t>
            </a:r>
          </a:p>
        </p:txBody>
      </p:sp>
      <p:sp>
        <p:nvSpPr>
          <p:cNvPr id="6" name="Bij dezelfde prijs van Lumi:&#10;20 bezoeken per week extra gevraagd">
            <a:extLst xmlns:a="http://schemas.openxmlformats.org/drawingml/2006/main">
              <a:ext uri="{FF2B5EF4-FFF2-40B4-BE49-F238E27FC236}">
                <a16:creationId xmlns:a16="http://schemas.microsoft.com/office/drawing/2014/main" id="{35120F55-1AF1-4C46-A5E7-6783F07E7E45}"/>
              </a:ext>
            </a:extLst>
          </p:cNvPr>
          <p:cNvSpPr>
            <a:spLocks xmlns:a="http://schemas.openxmlformats.org/drawingml/2006/main" noGrp="1"/>
          </p:cNvSpPr>
          <p:nvPr/>
        </p:nvSpPr>
        <p:spPr>
          <a:xfrm xmlns:a="http://schemas.openxmlformats.org/drawingml/2006/main">
            <a:off x="571500" y="3857625"/>
            <a:ext cx="1409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Bij dezelfde prijs van Lumi:</a:t>
            </a:r>
          </a:p>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20 bezoeken per week extra gevraagd</a:t>
            </a:r>
          </a:p>
        </p:txBody>
      </p:sp>
      <p:sp>
        <p:nvSpPr>
          <p:cNvPr id="7" name="De vraaglijn van Lumi verschuift naar rechts.">
            <a:extLst xmlns:a="http://schemas.openxmlformats.org/drawingml/2006/main">
              <a:ext uri="{FF2B5EF4-FFF2-40B4-BE49-F238E27FC236}">
                <a16:creationId xmlns:a16="http://schemas.microsoft.com/office/drawing/2014/main" id="{D9D0EDA9-2EC7-4745-9FDF-5E0C5499369D}"/>
              </a:ext>
            </a:extLst>
          </p:cNvPr>
          <p:cNvSpPr>
            <a:spLocks xmlns:a="http://schemas.openxmlformats.org/drawingml/2006/main" noGrp="1"/>
          </p:cNvSpPr>
          <p:nvPr/>
        </p:nvSpPr>
        <p:spPr>
          <a:xfrm xmlns:a="http://schemas.openxmlformats.org/drawingml/2006/main">
            <a:off x="571500" y="6515100"/>
            <a:ext cx="14097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De vraaglijn van Lumi verschuift naar rechts.</a:t>
            </a:r>
          </a:p>
        </p:txBody>
      </p:sp>
    </p:spTree>
    <p:extLst>
      <p:ext uri="{BB962C8B-B14F-4D97-AF65-F5344CB8AC3E}">
        <p14:creationId xmlns:p14="http://schemas.microsoft.com/office/powerpoint/2010/main" val="169415024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9c · De nieuwe vraaglijn">
            <a:extLst xmlns:a="http://schemas.openxmlformats.org/drawingml/2006/main">
              <a:ext uri="{FF2B5EF4-FFF2-40B4-BE49-F238E27FC236}">
                <a16:creationId xmlns:a16="http://schemas.microsoft.com/office/drawing/2014/main" id="{A0FCA90E-2910-482F-92FB-05C0B421B5A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19c · De nieuwe vraaglijn</a:t>
            </a:r>
          </a:p>
        </p:txBody>
      </p:sp>
      <p:sp>
        <p:nvSpPr>
          <p:cNvPr id="2" name="">
            <a:extLst xmlns:a="http://schemas.openxmlformats.org/drawingml/2006/main">
              <a:ext uri="{FF2B5EF4-FFF2-40B4-BE49-F238E27FC236}">
                <a16:creationId xmlns:a16="http://schemas.microsoft.com/office/drawing/2014/main" id="{CC75D507-BCC7-4285-8B2F-66929297F1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485D3703-5DFE-4BDD-AA61-14E0FB7C058E}"/>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20">
            <a:extLst xmlns:a="http://schemas.openxmlformats.org/drawingml/2006/main">
              <a:ext uri="{FF2B5EF4-FFF2-40B4-BE49-F238E27FC236}">
                <a16:creationId xmlns:a16="http://schemas.microsoft.com/office/drawing/2014/main" id="{21189B69-741E-4764-AFB0-A9E78131A9A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Q = (100 − 5P) + 20 = 120 − 5P">
            <a:extLst xmlns:a="http://schemas.openxmlformats.org/drawingml/2006/main">
              <a:ext uri="{FF2B5EF4-FFF2-40B4-BE49-F238E27FC236}">
                <a16:creationId xmlns:a16="http://schemas.microsoft.com/office/drawing/2014/main" id="{ACF65AA1-4DC4-4F64-9CC9-12A4DBC30DBA}"/>
              </a:ext>
            </a:extLst>
          </p:cNvPr>
          <p:cNvSpPr>
            <a:spLocks xmlns:a="http://schemas.openxmlformats.org/drawingml/2006/main" noGrp="1"/>
          </p:cNvSpPr>
          <p:nvPr/>
        </p:nvSpPr>
        <p:spPr>
          <a:xfrm xmlns:a="http://schemas.openxmlformats.org/drawingml/2006/main">
            <a:off x="571500" y="217170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20665B"/>
                </a:solidFill>
                <a:latin typeface="Arial"/>
                <a:ea typeface="Arial"/>
                <a:cs typeface="Arial"/>
              </a:defRPr>
            </a:pPr>
            <a:r>
              <a:rPr sz="3825" b="1">
                <a:solidFill>
                  <a:srgbClr val="20665B"/>
                </a:solidFill>
                <a:latin typeface="Arial"/>
                <a:ea typeface="Arial"/>
                <a:cs typeface="Arial"/>
              </a:rPr>
              <a:t>Q = (100 − 5P) + 20 = 120 − 5P</a:t>
            </a:r>
          </a:p>
        </p:txBody>
      </p:sp>
      <p:graphicFrame>
        <p:nvGraphicFramePr>
          <p:cNvPr id="13" name=""/>
          <p:cNvGraphicFramePr/>
          <p:nvPr/>
        </p:nvGraphicFramePr>
        <p:xfrm>
          <a:off xmlns:a="http://schemas.openxmlformats.org/drawingml/2006/main" x="571500" y="3724275"/>
          <a:ext xmlns:a="http://schemas.openxmlformats.org/drawingml/2006/main" cx="14097000" cy="2638425"/>
        </p:xfrm>
        <a:graphic xmlns:a="http://schemas.openxmlformats.org/drawingml/2006/main">
          <a:graphicData uri="http://schemas.openxmlformats.org/drawingml/2006/table">
            <a:tbl>
              <a:tblPr/>
              <a:tblGrid>
                <a:gridCol w="3476625"/>
                <a:gridCol w="7143750"/>
                <a:gridCol w="3476625"/>
              </a:tblGrid>
              <a:tr h="879475">
                <a:tc>
                  <a:txBody>
                    <a:bodyPr lIns="171450" tIns="95250" rIns="152400" bIns="95250"/>
                    <a:lstStyle/>
                    <a:p>
                      <a:r>
                        <a:rPr sz="2475" b="1">
                          <a:solidFill>
                            <a:srgbClr val="FFFFFF"/>
                          </a:solidFill>
                          <a:latin typeface="Arial"/>
                          <a:ea typeface="Arial"/>
                          <a:cs typeface="Arial"/>
                        </a:rPr>
                        <a:t>Snijpunt</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Coördinaat</a:t>
                      </a:r>
                    </a:p>
                  </a:txBody>
                  <a:tcPr marL="91440" marR="91440" marT="45720" marB="45720" anchor="ctr">
                    <a:solidFill>
                      <a:srgbClr val="183247"/>
                    </a:solidFill>
                  </a:tcPr>
                </a:tc>
              </a:tr>
              <a:tr h="879475">
                <a:tc>
                  <a:txBody>
                    <a:bodyPr lIns="171450" tIns="95250" rIns="152400" bIns="95250"/>
                    <a:lstStyle/>
                    <a:p>
                      <a:r>
                        <a:rPr sz="2475" b="0">
                          <a:solidFill>
                            <a:srgbClr val="183247"/>
                          </a:solidFill>
                          <a:latin typeface="Arial"/>
                          <a:ea typeface="Arial"/>
                          <a:cs typeface="Arial"/>
                        </a:rPr>
                        <a:t>P = 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Q = 120 − 5 × 0 = 120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(120; 0)</a:t>
                      </a:r>
                    </a:p>
                  </a:txBody>
                  <a:tcPr marL="91440" marR="91440" marT="45720" marB="45720" anchor="ctr">
                    <a:solidFill>
                      <a:srgbClr val="FFFFFF"/>
                    </a:solidFill>
                  </a:tcPr>
                </a:tc>
              </a:tr>
              <a:tr h="879475">
                <a:tc>
                  <a:txBody>
                    <a:bodyPr lIns="171450" tIns="95250" rIns="152400" bIns="95250"/>
                    <a:lstStyle/>
                    <a:p>
                      <a:r>
                        <a:rPr sz="2475" b="0">
                          <a:solidFill>
                            <a:srgbClr val="183247"/>
                          </a:solidFill>
                          <a:latin typeface="Arial"/>
                          <a:ea typeface="Arial"/>
                          <a:cs typeface="Arial"/>
                        </a:rPr>
                        <a:t>Q = 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0 = 120 − 5P; 5P = 120; P = 24</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(0; 24)</a:t>
                      </a:r>
                    </a:p>
                  </a:txBody>
                  <a:tcPr marL="91440" marR="91440" marT="45720" marB="45720" anchor="ctr">
                    <a:solidFill>
                      <a:srgbClr val="EFF4F7"/>
                    </a:solidFill>
                  </a:tcPr>
                </a:tc>
              </a:tr>
            </a:tbl>
          </a:graphicData>
        </a:graphic>
      </p:graphicFrame>
      <p:sp>
        <p:nvSpPr>
          <p:cNvPr id="7" name="V₁ loopt recht tussen beide punten. 0 ≤ P ≤ 24.">
            <a:extLst xmlns:a="http://schemas.openxmlformats.org/drawingml/2006/main">
              <a:ext uri="{FF2B5EF4-FFF2-40B4-BE49-F238E27FC236}">
                <a16:creationId xmlns:a16="http://schemas.microsoft.com/office/drawing/2014/main" id="{6130EDDB-EB46-463C-9993-69A63FBEE744}"/>
              </a:ext>
            </a:extLst>
          </p:cNvPr>
          <p:cNvSpPr>
            <a:spLocks xmlns:a="http://schemas.openxmlformats.org/drawingml/2006/main" noGrp="1"/>
          </p:cNvSpPr>
          <p:nvPr/>
        </p:nvSpPr>
        <p:spPr>
          <a:xfrm xmlns:a="http://schemas.openxmlformats.org/drawingml/2006/main">
            <a:off x="571500" y="70675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V₁ loopt recht tussen beide punten. 0 ≤ P ≤ 24.</a:t>
            </a:r>
          </a:p>
        </p:txBody>
      </p:sp>
    </p:spTree>
    <p:extLst>
      <p:ext uri="{BB962C8B-B14F-4D97-AF65-F5344CB8AC3E}">
        <p14:creationId xmlns:p14="http://schemas.microsoft.com/office/powerpoint/2010/main" val="7302373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9c · De drie punten">
            <a:extLst xmlns:a="http://schemas.openxmlformats.org/drawingml/2006/main">
              <a:ext uri="{FF2B5EF4-FFF2-40B4-BE49-F238E27FC236}">
                <a16:creationId xmlns:a16="http://schemas.microsoft.com/office/drawing/2014/main" id="{4F8648BE-B7A1-4F00-9F8B-E3AAB16430B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19c · De drie punten</a:t>
            </a:r>
          </a:p>
        </p:txBody>
      </p:sp>
      <p:sp>
        <p:nvSpPr>
          <p:cNvPr id="2" name="">
            <a:extLst xmlns:a="http://schemas.openxmlformats.org/drawingml/2006/main">
              <a:ext uri="{FF2B5EF4-FFF2-40B4-BE49-F238E27FC236}">
                <a16:creationId xmlns:a16="http://schemas.microsoft.com/office/drawing/2014/main" id="{047079F2-C9C4-4FC0-B8F0-6DA626CB9C8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1274C507-1F3F-44CA-839C-BD3FE36A439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21">
            <a:extLst xmlns:a="http://schemas.openxmlformats.org/drawingml/2006/main">
              <a:ext uri="{FF2B5EF4-FFF2-40B4-BE49-F238E27FC236}">
                <a16:creationId xmlns:a16="http://schemas.microsoft.com/office/drawing/2014/main" id="{1FFEDAB6-2060-472C-B5E4-2D09C142580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4" name="Chart"/>
          <p:cNvGraphicFramePr/>
          <p:nvPr/>
        </p:nvGraphicFramePr>
        <p:xfrm>
          <a:off xmlns:a="http://schemas.openxmlformats.org/drawingml/2006/main" x="571500" y="1981200"/>
          <a:ext xmlns:a="http://schemas.openxmlformats.org/drawingml/2006/main" cx="9620250" cy="5276850"/>
        </p:xfrm>
        <a:graphic xmlns:a="http://schemas.openxmlformats.org/drawingml/2006/main">
          <a:graphicData uri="http://schemas.openxmlformats.org/drawingml/2006/chart">
            <c:chart xmlns:r="http://schemas.openxmlformats.org/officeDocument/2006/relationships" xmlns:c="http://schemas.openxmlformats.org/drawingml/2006/chart" r:id="R42123450a1494838"/>
          </a:graphicData>
        </a:graphic>
      </p:graphicFrame>
      <p:sp>
        <p:nvSpPr>
          <p:cNvPr id="6" name="A = (60; 8)">
            <a:extLst xmlns:a="http://schemas.openxmlformats.org/drawingml/2006/main">
              <a:ext uri="{FF2B5EF4-FFF2-40B4-BE49-F238E27FC236}">
                <a16:creationId xmlns:a16="http://schemas.microsoft.com/office/drawing/2014/main" id="{8861F658-EB99-4978-BAA1-3AF921C4E117}"/>
              </a:ext>
            </a:extLst>
          </p:cNvPr>
          <p:cNvSpPr>
            <a:spLocks xmlns:a="http://schemas.openxmlformats.org/drawingml/2006/main" noGrp="1"/>
          </p:cNvSpPr>
          <p:nvPr/>
        </p:nvSpPr>
        <p:spPr>
          <a:xfrm xmlns:a="http://schemas.openxmlformats.org/drawingml/2006/main">
            <a:off x="10763250" y="2428875"/>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A5276"/>
                </a:solidFill>
                <a:latin typeface="Arial"/>
                <a:ea typeface="Arial"/>
                <a:cs typeface="Arial"/>
              </a:defRPr>
            </a:pPr>
            <a:r>
              <a:rPr sz="2925" b="1">
                <a:solidFill>
                  <a:srgbClr val="1A5276"/>
                </a:solidFill>
                <a:latin typeface="Arial"/>
                <a:ea typeface="Arial"/>
                <a:cs typeface="Arial"/>
              </a:rPr>
              <a:t>A = (60; 8)</a:t>
            </a:r>
          </a:p>
        </p:txBody>
      </p:sp>
      <p:sp>
        <p:nvSpPr>
          <p:cNvPr id="7" name="B = (50; 10)">
            <a:extLst xmlns:a="http://schemas.openxmlformats.org/drawingml/2006/main">
              <a:ext uri="{FF2B5EF4-FFF2-40B4-BE49-F238E27FC236}">
                <a16:creationId xmlns:a16="http://schemas.microsoft.com/office/drawing/2014/main" id="{C49DDB9B-5C15-47E8-A60D-ACEC44F7AFCE}"/>
              </a:ext>
            </a:extLst>
          </p:cNvPr>
          <p:cNvSpPr>
            <a:spLocks xmlns:a="http://schemas.openxmlformats.org/drawingml/2006/main" noGrp="1"/>
          </p:cNvSpPr>
          <p:nvPr/>
        </p:nvSpPr>
        <p:spPr>
          <a:xfrm xmlns:a="http://schemas.openxmlformats.org/drawingml/2006/main">
            <a:off x="10763250" y="3333750"/>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B = (50; 10)</a:t>
            </a:r>
          </a:p>
        </p:txBody>
      </p:sp>
      <p:sp>
        <p:nvSpPr>
          <p:cNvPr id="8" name="C = (70; 10)">
            <a:extLst xmlns:a="http://schemas.openxmlformats.org/drawingml/2006/main">
              <a:ext uri="{FF2B5EF4-FFF2-40B4-BE49-F238E27FC236}">
                <a16:creationId xmlns:a16="http://schemas.microsoft.com/office/drawing/2014/main" id="{D378FAB2-DF03-46E7-8E3D-2237BF1D9477}"/>
              </a:ext>
            </a:extLst>
          </p:cNvPr>
          <p:cNvSpPr>
            <a:spLocks xmlns:a="http://schemas.openxmlformats.org/drawingml/2006/main" noGrp="1"/>
          </p:cNvSpPr>
          <p:nvPr/>
        </p:nvSpPr>
        <p:spPr>
          <a:xfrm xmlns:a="http://schemas.openxmlformats.org/drawingml/2006/main">
            <a:off x="10763250" y="4238625"/>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C = (70; 10)</a:t>
            </a:r>
          </a:p>
        </p:txBody>
      </p:sp>
      <p:sp>
        <p:nvSpPr>
          <p:cNvPr id="9" name="C: 120 − 5 × 10&#10;= 70 bezoeken&#10;per week">
            <a:extLst xmlns:a="http://schemas.openxmlformats.org/drawingml/2006/main">
              <a:ext uri="{FF2B5EF4-FFF2-40B4-BE49-F238E27FC236}">
                <a16:creationId xmlns:a16="http://schemas.microsoft.com/office/drawing/2014/main" id="{7ABFD640-A53B-4E99-8B1C-BF13BA4578BA}"/>
              </a:ext>
            </a:extLst>
          </p:cNvPr>
          <p:cNvSpPr>
            <a:spLocks xmlns:a="http://schemas.openxmlformats.org/drawingml/2006/main" noGrp="1"/>
          </p:cNvSpPr>
          <p:nvPr/>
        </p:nvSpPr>
        <p:spPr>
          <a:xfrm xmlns:a="http://schemas.openxmlformats.org/drawingml/2006/main">
            <a:off x="10763250" y="5829300"/>
            <a:ext cx="3905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 120 − 5 × 10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70 bezoeken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week</a:t>
            </a:r>
          </a:p>
        </p:txBody>
      </p:sp>
    </p:spTree>
    <p:extLst>
      <p:ext uri="{BB962C8B-B14F-4D97-AF65-F5344CB8AC3E}">
        <p14:creationId xmlns:p14="http://schemas.microsoft.com/office/powerpoint/2010/main" val="112285062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9d · Het netto-effect">
            <a:extLst xmlns:a="http://schemas.openxmlformats.org/drawingml/2006/main">
              <a:ext uri="{FF2B5EF4-FFF2-40B4-BE49-F238E27FC236}">
                <a16:creationId xmlns:a16="http://schemas.microsoft.com/office/drawing/2014/main" id="{29D79C64-5905-48FC-B373-3E191A21C85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19d · Het netto-effect</a:t>
            </a:r>
          </a:p>
        </p:txBody>
      </p:sp>
      <p:sp>
        <p:nvSpPr>
          <p:cNvPr id="2" name="">
            <a:extLst xmlns:a="http://schemas.openxmlformats.org/drawingml/2006/main">
              <a:ext uri="{FF2B5EF4-FFF2-40B4-BE49-F238E27FC236}">
                <a16:creationId xmlns:a16="http://schemas.microsoft.com/office/drawing/2014/main" id="{11F90F81-B30B-4851-8C0A-CAE58AD7190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9C53EF09-F1EC-4E8F-B741-5E2AC165BE7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22">
            <a:extLst xmlns:a="http://schemas.openxmlformats.org/drawingml/2006/main">
              <a:ext uri="{FF2B5EF4-FFF2-40B4-BE49-F238E27FC236}">
                <a16:creationId xmlns:a16="http://schemas.microsoft.com/office/drawing/2014/main" id="{A39C72DF-7525-4149-8123-80C91683D53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Uiteindelijk: Q = 120 − 5 × 10 = 70">
            <a:extLst xmlns:a="http://schemas.openxmlformats.org/drawingml/2006/main">
              <a:ext uri="{FF2B5EF4-FFF2-40B4-BE49-F238E27FC236}">
                <a16:creationId xmlns:a16="http://schemas.microsoft.com/office/drawing/2014/main" id="{A22630B0-4EB2-4E62-91D6-5D19D72B38BD}"/>
              </a:ext>
            </a:extLst>
          </p:cNvPr>
          <p:cNvSpPr>
            <a:spLocks xmlns:a="http://schemas.openxmlformats.org/drawingml/2006/main" noGrp="1"/>
          </p:cNvSpPr>
          <p:nvPr/>
        </p:nvSpPr>
        <p:spPr>
          <a:xfrm xmlns:a="http://schemas.openxmlformats.org/drawingml/2006/main">
            <a:off x="571500" y="211455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20665B"/>
                </a:solidFill>
                <a:latin typeface="Arial"/>
                <a:ea typeface="Arial"/>
                <a:cs typeface="Arial"/>
              </a:defRPr>
            </a:pPr>
            <a:r>
              <a:rPr sz="3675" b="1">
                <a:solidFill>
                  <a:srgbClr val="20665B"/>
                </a:solidFill>
                <a:latin typeface="Arial"/>
                <a:ea typeface="Arial"/>
                <a:cs typeface="Arial"/>
              </a:rPr>
              <a:t>Uiteindelijk: Q = 120 − 5 × 10 = 70</a:t>
            </a:r>
          </a:p>
        </p:txBody>
      </p:sp>
      <p:graphicFrame>
        <p:nvGraphicFramePr>
          <p:cNvPr id="13" name=""/>
          <p:cNvGraphicFramePr/>
          <p:nvPr/>
        </p:nvGraphicFramePr>
        <p:xfrm>
          <a:off xmlns:a="http://schemas.openxmlformats.org/drawingml/2006/main" x="571500" y="3505200"/>
          <a:ext xmlns:a="http://schemas.openxmlformats.org/drawingml/2006/main" cx="14097000" cy="3200400"/>
        </p:xfrm>
        <a:graphic xmlns:a="http://schemas.openxmlformats.org/drawingml/2006/main">
          <a:graphicData uri="http://schemas.openxmlformats.org/drawingml/2006/table">
            <a:tbl>
              <a:tblPr/>
              <a:tblGrid>
                <a:gridCol w="9525000"/>
                <a:gridCol w="4572000"/>
              </a:tblGrid>
              <a:tr h="800100">
                <a:tc>
                  <a:txBody>
                    <a:bodyPr lIns="171450" tIns="95250" rIns="152400" bIns="95250"/>
                    <a:lstStyle/>
                    <a:p>
                      <a:r>
                        <a:rPr sz="2625" b="1">
                          <a:solidFill>
                            <a:srgbClr val="FFFFFF"/>
                          </a:solidFill>
                          <a:latin typeface="Arial"/>
                          <a:ea typeface="Arial"/>
                          <a:cs typeface="Arial"/>
                        </a:rPr>
                        <a:t>Effect</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Bezoeken per week</a:t>
                      </a:r>
                    </a:p>
                  </a:txBody>
                  <a:tcPr marL="91440" marR="91440" marT="45720" marB="45720" anchor="ctr">
                    <a:solidFill>
                      <a:srgbClr val="183247"/>
                    </a:solidFill>
                  </a:tcPr>
                </a:tc>
              </a:tr>
              <a:tr h="800100">
                <a:tc>
                  <a:txBody>
                    <a:bodyPr lIns="171450" tIns="95250" rIns="152400" bIns="95250"/>
                    <a:lstStyle/>
                    <a:p>
                      <a:r>
                        <a:rPr sz="2625" b="0">
                          <a:solidFill>
                            <a:srgbClr val="183247"/>
                          </a:solidFill>
                          <a:latin typeface="Arial"/>
                          <a:ea typeface="Arial"/>
                          <a:cs typeface="Arial"/>
                        </a:rPr>
                        <a:t>Eigen prijsstijging: 50 − 60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−10</a:t>
                      </a:r>
                    </a:p>
                  </a:txBody>
                  <a:tcPr marL="91440" marR="91440" marT="45720" marB="45720" anchor="ctr">
                    <a:solidFill>
                      <a:srgbClr val="FFFFFF"/>
                    </a:solidFill>
                  </a:tcPr>
                </a:tc>
              </a:tr>
              <a:tr h="800100">
                <a:tc>
                  <a:txBody>
                    <a:bodyPr lIns="171450" tIns="95250" rIns="152400" bIns="95250"/>
                    <a:lstStyle/>
                    <a:p>
                      <a:r>
                        <a:rPr sz="2625" b="0">
                          <a:solidFill>
                            <a:srgbClr val="183247"/>
                          </a:solidFill>
                          <a:latin typeface="Arial"/>
                          <a:ea typeface="Arial"/>
                          <a:cs typeface="Arial"/>
                        </a:rPr>
                        <a:t>Duurdere bioscoop: 70 − 50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+20</a:t>
                      </a:r>
                    </a:p>
                  </a:txBody>
                  <a:tcPr marL="91440" marR="91440" marT="45720" marB="45720" anchor="ctr">
                    <a:solidFill>
                      <a:srgbClr val="EFF4F7"/>
                    </a:solidFill>
                  </a:tcPr>
                </a:tc>
              </a:tr>
              <a:tr h="800100">
                <a:tc>
                  <a:txBody>
                    <a:bodyPr lIns="171450" tIns="95250" rIns="152400" bIns="95250"/>
                    <a:lstStyle/>
                    <a:p>
                      <a:r>
                        <a:rPr sz="2625" b="0">
                          <a:solidFill>
                            <a:srgbClr val="183247"/>
                          </a:solidFill>
                          <a:latin typeface="Arial"/>
                          <a:ea typeface="Arial"/>
                          <a:cs typeface="Arial"/>
                        </a:rPr>
                        <a:t>Netto: 70 − 60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+10</a:t>
                      </a:r>
                    </a:p>
                  </a:txBody>
                  <a:tcPr marL="91440" marR="91440" marT="45720" marB="45720" anchor="ctr">
                    <a:solidFill>
                      <a:srgbClr val="FFFFFF"/>
                    </a:solidFill>
                  </a:tcPr>
                </a:tc>
              </a:tr>
            </a:tbl>
          </a:graphicData>
        </a:graphic>
      </p:graphicFrame>
      <p:sp>
        <p:nvSpPr>
          <p:cNvPr id="7" name="De effecten werken elkaar tegen. Netto 10 bezoeken meer.">
            <a:extLst xmlns:a="http://schemas.openxmlformats.org/drawingml/2006/main">
              <a:ext uri="{FF2B5EF4-FFF2-40B4-BE49-F238E27FC236}">
                <a16:creationId xmlns:a16="http://schemas.microsoft.com/office/drawing/2014/main" id="{2B31DB5B-BB33-4A3E-A950-D0594D5B7E03}"/>
              </a:ext>
            </a:extLst>
          </p:cNvPr>
          <p:cNvSpPr>
            <a:spLocks xmlns:a="http://schemas.openxmlformats.org/drawingml/2006/main" noGrp="1"/>
          </p:cNvSpPr>
          <p:nvPr/>
        </p:nvSpPr>
        <p:spPr>
          <a:xfrm xmlns:a="http://schemas.openxmlformats.org/drawingml/2006/main">
            <a:off x="571500" y="7200900"/>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De effecten werken elkaar tegen. Netto 10 bezoeken meer.</a:t>
            </a:r>
          </a:p>
        </p:txBody>
      </p:sp>
    </p:spTree>
    <p:extLst>
      <p:ext uri="{BB962C8B-B14F-4D97-AF65-F5344CB8AC3E}">
        <p14:creationId xmlns:p14="http://schemas.microsoft.com/office/powerpoint/2010/main" val="9843504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9e · De uitspraak beoordelen">
            <a:extLst xmlns:a="http://schemas.openxmlformats.org/drawingml/2006/main">
              <a:ext uri="{FF2B5EF4-FFF2-40B4-BE49-F238E27FC236}">
                <a16:creationId xmlns:a16="http://schemas.microsoft.com/office/drawing/2014/main" id="{7F92C243-34A8-4657-A939-0E17C6D7707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19e · De uitspraak beoordelen</a:t>
            </a:r>
          </a:p>
        </p:txBody>
      </p:sp>
      <p:sp>
        <p:nvSpPr>
          <p:cNvPr id="2" name="">
            <a:extLst xmlns:a="http://schemas.openxmlformats.org/drawingml/2006/main">
              <a:ext uri="{FF2B5EF4-FFF2-40B4-BE49-F238E27FC236}">
                <a16:creationId xmlns:a16="http://schemas.microsoft.com/office/drawing/2014/main" id="{F0B4175A-F62D-43C5-A428-A41818E7B3E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 Opgave 19 · Boekpagina 66">
            <a:extLst xmlns:a="http://schemas.openxmlformats.org/drawingml/2006/main">
              <a:ext uri="{FF2B5EF4-FFF2-40B4-BE49-F238E27FC236}">
                <a16:creationId xmlns:a16="http://schemas.microsoft.com/office/drawing/2014/main" id="{0A89BDD0-7CA0-4C23-99B3-DD34EEA784A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 · Opgave 19 · Boekpagina 66</a:t>
            </a:r>
          </a:p>
        </p:txBody>
      </p:sp>
      <p:sp>
        <p:nvSpPr>
          <p:cNvPr id="4" name="23">
            <a:extLst xmlns:a="http://schemas.openxmlformats.org/drawingml/2006/main">
              <a:ext uri="{FF2B5EF4-FFF2-40B4-BE49-F238E27FC236}">
                <a16:creationId xmlns:a16="http://schemas.microsoft.com/office/drawing/2014/main" id="{B54D2238-693F-438B-BE53-99941385CE4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De hogere prijs van Lumi verschuift zijn vraaglijn naar rechts.”">
            <a:extLst xmlns:a="http://schemas.openxmlformats.org/drawingml/2006/main">
              <a:ext uri="{FF2B5EF4-FFF2-40B4-BE49-F238E27FC236}">
                <a16:creationId xmlns:a16="http://schemas.microsoft.com/office/drawing/2014/main" id="{6386F062-66B9-4477-8C82-675FAA9D0C66}"/>
              </a:ext>
            </a:extLst>
          </p:cNvPr>
          <p:cNvSpPr>
            <a:spLocks xmlns:a="http://schemas.openxmlformats.org/drawingml/2006/main" noGrp="1"/>
          </p:cNvSpPr>
          <p:nvPr/>
        </p:nvSpPr>
        <p:spPr>
          <a:xfrm xmlns:a="http://schemas.openxmlformats.org/drawingml/2006/main">
            <a:off x="571500" y="1952625"/>
            <a:ext cx="14097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A5276"/>
                </a:solidFill>
                <a:latin typeface="Arial"/>
                <a:ea typeface="Arial"/>
                <a:cs typeface="Arial"/>
              </a:defRPr>
            </a:pPr>
            <a:r>
              <a:rPr sz="3525" b="1">
                <a:solidFill>
                  <a:srgbClr val="1A5276"/>
                </a:solidFill>
                <a:latin typeface="Arial"/>
                <a:ea typeface="Arial"/>
                <a:cs typeface="Arial"/>
              </a:rPr>
              <a:t>“De hogere prijs van Lumi verschuift zijn vraaglijn naar rechts.”</a:t>
            </a:r>
          </a:p>
        </p:txBody>
      </p:sp>
      <p:sp>
        <p:nvSpPr>
          <p:cNvPr id="6" name="Onjuist">
            <a:extLst xmlns:a="http://schemas.openxmlformats.org/drawingml/2006/main">
              <a:ext uri="{FF2B5EF4-FFF2-40B4-BE49-F238E27FC236}">
                <a16:creationId xmlns:a16="http://schemas.microsoft.com/office/drawing/2014/main" id="{5D863193-7836-4F1E-9278-FB7FAB5E9DC0}"/>
              </a:ext>
            </a:extLst>
          </p:cNvPr>
          <p:cNvSpPr>
            <a:spLocks xmlns:a="http://schemas.openxmlformats.org/drawingml/2006/main" noGrp="1"/>
          </p:cNvSpPr>
          <p:nvPr/>
        </p:nvSpPr>
        <p:spPr>
          <a:xfrm xmlns:a="http://schemas.openxmlformats.org/drawingml/2006/main">
            <a:off x="571500" y="38766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A94D16"/>
                </a:solidFill>
                <a:latin typeface="Arial"/>
                <a:ea typeface="Arial"/>
                <a:cs typeface="Arial"/>
              </a:defRPr>
            </a:pPr>
            <a:r>
              <a:rPr sz="4125" b="1">
                <a:solidFill>
                  <a:srgbClr val="A94D16"/>
                </a:solidFill>
                <a:latin typeface="Arial"/>
                <a:ea typeface="Arial"/>
                <a:cs typeface="Arial"/>
              </a:rPr>
              <a:t>Onjuist</a:t>
            </a:r>
          </a:p>
        </p:txBody>
      </p:sp>
      <p:sp>
        <p:nvSpPr>
          <p:cNvPr id="7" name="Eigen prijsstijging: 60 naar 50 langs V₀.&#10;Duurdere bioscoop: 50 n">
            <a:extLst xmlns:a="http://schemas.openxmlformats.org/drawingml/2006/main">
              <a:ext uri="{FF2B5EF4-FFF2-40B4-BE49-F238E27FC236}">
                <a16:creationId xmlns:a16="http://schemas.microsoft.com/office/drawing/2014/main" id="{837C408A-5AD2-48C9-A0CA-101B6051209C}"/>
              </a:ext>
            </a:extLst>
          </p:cNvPr>
          <p:cNvSpPr>
            <a:spLocks xmlns:a="http://schemas.openxmlformats.org/drawingml/2006/main" noGrp="1"/>
          </p:cNvSpPr>
          <p:nvPr/>
        </p:nvSpPr>
        <p:spPr>
          <a:xfrm xmlns:a="http://schemas.openxmlformats.org/drawingml/2006/main">
            <a:off x="571500" y="5172075"/>
            <a:ext cx="14097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Eigen prijsstijging: 60 naar 50 langs V₀.</a:t>
            </a:r>
          </a:p>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Duurdere bioscoop: 50 naar 70 bij dezelfde € 10.</a:t>
            </a:r>
          </a:p>
        </p:txBody>
      </p:sp>
      <p:sp>
        <p:nvSpPr>
          <p:cNvPr id="8" name="De prijs van het substituut veroorzaakt de verschuiving.">
            <a:extLst xmlns:a="http://schemas.openxmlformats.org/drawingml/2006/main">
              <a:ext uri="{FF2B5EF4-FFF2-40B4-BE49-F238E27FC236}">
                <a16:creationId xmlns:a16="http://schemas.microsoft.com/office/drawing/2014/main" id="{DD9E6779-7A3A-442D-ACA1-D7046F2AA155}"/>
              </a:ext>
            </a:extLst>
          </p:cNvPr>
          <p:cNvSpPr>
            <a:spLocks xmlns:a="http://schemas.openxmlformats.org/drawingml/2006/main" noGrp="1"/>
          </p:cNvSpPr>
          <p:nvPr/>
        </p:nvSpPr>
        <p:spPr>
          <a:xfrm xmlns:a="http://schemas.openxmlformats.org/drawingml/2006/main">
            <a:off x="571500" y="717232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De prijs van het substituut veroorzaakt de verschuiving.</a:t>
            </a:r>
          </a:p>
        </p:txBody>
      </p:sp>
    </p:spTree>
    <p:extLst>
      <p:ext uri="{BB962C8B-B14F-4D97-AF65-F5344CB8AC3E}">
        <p14:creationId xmlns:p14="http://schemas.microsoft.com/office/powerpoint/2010/main" val="92338115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ntwoordcontrole bij opgave 19">
            <a:extLst xmlns:a="http://schemas.openxmlformats.org/drawingml/2006/main">
              <a:ext uri="{FF2B5EF4-FFF2-40B4-BE49-F238E27FC236}">
                <a16:creationId xmlns:a16="http://schemas.microsoft.com/office/drawing/2014/main" id="{453F960E-B082-4D89-A26D-1BE0586C7A9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Antwoordcontrole bij opgave 19</a:t>
            </a:r>
          </a:p>
        </p:txBody>
      </p:sp>
      <p:sp>
        <p:nvSpPr>
          <p:cNvPr id="2" name="">
            <a:extLst xmlns:a="http://schemas.openxmlformats.org/drawingml/2006/main">
              <a:ext uri="{FF2B5EF4-FFF2-40B4-BE49-F238E27FC236}">
                <a16:creationId xmlns:a16="http://schemas.microsoft.com/office/drawing/2014/main" id="{3450A999-4C1A-46E1-9928-DC50BCEE70D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1BB765EC-E486-4BE2-920D-1A99FA2BFDE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24">
            <a:extLst xmlns:a="http://schemas.openxmlformats.org/drawingml/2006/main">
              <a:ext uri="{FF2B5EF4-FFF2-40B4-BE49-F238E27FC236}">
                <a16:creationId xmlns:a16="http://schemas.microsoft.com/office/drawing/2014/main" id="{5DD6B46A-7148-40F7-97F2-56600F0A38A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a–b">
            <a:extLst xmlns:a="http://schemas.openxmlformats.org/drawingml/2006/main">
              <a:ext uri="{FF2B5EF4-FFF2-40B4-BE49-F238E27FC236}">
                <a16:creationId xmlns:a16="http://schemas.microsoft.com/office/drawing/2014/main" id="{B2A19F0D-804D-4F25-B1A7-18FB29ACA922}"/>
              </a:ext>
            </a:extLst>
          </p:cNvPr>
          <p:cNvSpPr>
            <a:spLocks xmlns:a="http://schemas.openxmlformats.org/drawingml/2006/main" noGrp="1"/>
          </p:cNvSpPr>
          <p:nvPr/>
        </p:nvSpPr>
        <p:spPr>
          <a:xfrm xmlns:a="http://schemas.openxmlformats.org/drawingml/2006/main">
            <a:off x="571500" y="2105025"/>
            <a:ext cx="190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a–b</a:t>
            </a:r>
          </a:p>
        </p:txBody>
      </p:sp>
      <p:sp>
        <p:nvSpPr>
          <p:cNvPr id="6" name="Twee berekende hoeveelheden en de specifieke oorzaak.">
            <a:extLst xmlns:a="http://schemas.openxmlformats.org/drawingml/2006/main">
              <a:ext uri="{FF2B5EF4-FFF2-40B4-BE49-F238E27FC236}">
                <a16:creationId xmlns:a16="http://schemas.microsoft.com/office/drawing/2014/main" id="{DF2B3C91-B1FF-44EA-BC49-93AE872A2EFF}"/>
              </a:ext>
            </a:extLst>
          </p:cNvPr>
          <p:cNvSpPr>
            <a:spLocks xmlns:a="http://schemas.openxmlformats.org/drawingml/2006/main" noGrp="1"/>
          </p:cNvSpPr>
          <p:nvPr/>
        </p:nvSpPr>
        <p:spPr>
          <a:xfrm xmlns:a="http://schemas.openxmlformats.org/drawingml/2006/main">
            <a:off x="2952750" y="2105025"/>
            <a:ext cx="11715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Twee berekende hoeveelheden en de specifieke oorzaak.</a:t>
            </a:r>
          </a:p>
        </p:txBody>
      </p:sp>
      <p:sp>
        <p:nvSpPr>
          <p:cNvPr id="7" name="c">
            <a:extLst xmlns:a="http://schemas.openxmlformats.org/drawingml/2006/main">
              <a:ext uri="{FF2B5EF4-FFF2-40B4-BE49-F238E27FC236}">
                <a16:creationId xmlns:a16="http://schemas.microsoft.com/office/drawing/2014/main" id="{E684DA2B-D10F-494C-A480-FF7F2EF5CE13}"/>
              </a:ext>
            </a:extLst>
          </p:cNvPr>
          <p:cNvSpPr>
            <a:spLocks xmlns:a="http://schemas.openxmlformats.org/drawingml/2006/main" noGrp="1"/>
          </p:cNvSpPr>
          <p:nvPr/>
        </p:nvSpPr>
        <p:spPr>
          <a:xfrm xmlns:a="http://schemas.openxmlformats.org/drawingml/2006/main">
            <a:off x="571500" y="3429000"/>
            <a:ext cx="190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c</a:t>
            </a:r>
          </a:p>
        </p:txBody>
      </p:sp>
      <p:sp>
        <p:nvSpPr>
          <p:cNvPr id="8" name="V₁ plus A, B en C met coördinaten (Q; P).">
            <a:extLst xmlns:a="http://schemas.openxmlformats.org/drawingml/2006/main">
              <a:ext uri="{FF2B5EF4-FFF2-40B4-BE49-F238E27FC236}">
                <a16:creationId xmlns:a16="http://schemas.microsoft.com/office/drawing/2014/main" id="{B20B9D01-B951-46A0-93A2-6B8D9FEE0F05}"/>
              </a:ext>
            </a:extLst>
          </p:cNvPr>
          <p:cNvSpPr>
            <a:spLocks xmlns:a="http://schemas.openxmlformats.org/drawingml/2006/main" noGrp="1"/>
          </p:cNvSpPr>
          <p:nvPr/>
        </p:nvSpPr>
        <p:spPr>
          <a:xfrm xmlns:a="http://schemas.openxmlformats.org/drawingml/2006/main">
            <a:off x="2952750" y="3429000"/>
            <a:ext cx="11715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V₁ plus A, B en C met coördinaten (Q; P).</a:t>
            </a:r>
          </a:p>
        </p:txBody>
      </p:sp>
      <p:sp>
        <p:nvSpPr>
          <p:cNvPr id="9" name="d">
            <a:extLst xmlns:a="http://schemas.openxmlformats.org/drawingml/2006/main">
              <a:ext uri="{FF2B5EF4-FFF2-40B4-BE49-F238E27FC236}">
                <a16:creationId xmlns:a16="http://schemas.microsoft.com/office/drawing/2014/main" id="{469A5A6C-DDC7-469E-94B6-87AC2AD824DD}"/>
              </a:ext>
            </a:extLst>
          </p:cNvPr>
          <p:cNvSpPr>
            <a:spLocks xmlns:a="http://schemas.openxmlformats.org/drawingml/2006/main" noGrp="1"/>
          </p:cNvSpPr>
          <p:nvPr/>
        </p:nvSpPr>
        <p:spPr>
          <a:xfrm xmlns:a="http://schemas.openxmlformats.org/drawingml/2006/main">
            <a:off x="571500" y="4752975"/>
            <a:ext cx="190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d</a:t>
            </a:r>
          </a:p>
        </p:txBody>
      </p:sp>
      <p:sp>
        <p:nvSpPr>
          <p:cNvPr id="10" name="70 bezoeken per week, netto +10 en tegenwerkende effecten.">
            <a:extLst xmlns:a="http://schemas.openxmlformats.org/drawingml/2006/main">
              <a:ext uri="{FF2B5EF4-FFF2-40B4-BE49-F238E27FC236}">
                <a16:creationId xmlns:a16="http://schemas.microsoft.com/office/drawing/2014/main" id="{0F44EC68-4765-4758-B699-940A86980EAB}"/>
              </a:ext>
            </a:extLst>
          </p:cNvPr>
          <p:cNvSpPr>
            <a:spLocks xmlns:a="http://schemas.openxmlformats.org/drawingml/2006/main" noGrp="1"/>
          </p:cNvSpPr>
          <p:nvPr/>
        </p:nvSpPr>
        <p:spPr>
          <a:xfrm xmlns:a="http://schemas.openxmlformats.org/drawingml/2006/main">
            <a:off x="2952750" y="4752975"/>
            <a:ext cx="11715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70 bezoeken per week, netto +10 en tegenwerkende effecten.</a:t>
            </a:r>
          </a:p>
        </p:txBody>
      </p:sp>
      <p:sp>
        <p:nvSpPr>
          <p:cNvPr id="11" name="e">
            <a:extLst xmlns:a="http://schemas.openxmlformats.org/drawingml/2006/main">
              <a:ext uri="{FF2B5EF4-FFF2-40B4-BE49-F238E27FC236}">
                <a16:creationId xmlns:a16="http://schemas.microsoft.com/office/drawing/2014/main" id="{F9E236E0-044F-4602-8DA9-2B9B4718E3AE}"/>
              </a:ext>
            </a:extLst>
          </p:cNvPr>
          <p:cNvSpPr>
            <a:spLocks xmlns:a="http://schemas.openxmlformats.org/drawingml/2006/main" noGrp="1"/>
          </p:cNvSpPr>
          <p:nvPr/>
        </p:nvSpPr>
        <p:spPr>
          <a:xfrm xmlns:a="http://schemas.openxmlformats.org/drawingml/2006/main">
            <a:off x="571500" y="6076950"/>
            <a:ext cx="190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e</a:t>
            </a:r>
          </a:p>
        </p:txBody>
      </p:sp>
      <p:sp>
        <p:nvSpPr>
          <p:cNvPr id="12" name="De uitspraak weerlegd met beide afzonderlijke oorzaken.">
            <a:extLst xmlns:a="http://schemas.openxmlformats.org/drawingml/2006/main">
              <a:ext uri="{FF2B5EF4-FFF2-40B4-BE49-F238E27FC236}">
                <a16:creationId xmlns:a16="http://schemas.microsoft.com/office/drawing/2014/main" id="{37F5C9A2-554D-4E98-B1B3-BD53034C7DBC}"/>
              </a:ext>
            </a:extLst>
          </p:cNvPr>
          <p:cNvSpPr>
            <a:spLocks xmlns:a="http://schemas.openxmlformats.org/drawingml/2006/main" noGrp="1"/>
          </p:cNvSpPr>
          <p:nvPr/>
        </p:nvSpPr>
        <p:spPr>
          <a:xfrm xmlns:a="http://schemas.openxmlformats.org/drawingml/2006/main">
            <a:off x="2952750" y="6076950"/>
            <a:ext cx="11715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uitspraak weerlegd met beide afzonderlijke oorzaken.</a:t>
            </a:r>
          </a:p>
        </p:txBody>
      </p:sp>
      <p:sp>
        <p:nvSpPr>
          <p:cNvPr id="13" name="Vul één ontbrekende stap of uitleg in je eigen antwoord aan.">
            <a:extLst xmlns:a="http://schemas.openxmlformats.org/drawingml/2006/main">
              <a:ext uri="{FF2B5EF4-FFF2-40B4-BE49-F238E27FC236}">
                <a16:creationId xmlns:a16="http://schemas.microsoft.com/office/drawing/2014/main" id="{59F7E3F9-7EE1-4508-9556-052D387B9AF9}"/>
              </a:ext>
            </a:extLst>
          </p:cNvPr>
          <p:cNvSpPr>
            <a:spLocks xmlns:a="http://schemas.openxmlformats.org/drawingml/2006/main" noGrp="1"/>
          </p:cNvSpPr>
          <p:nvPr/>
        </p:nvSpPr>
        <p:spPr>
          <a:xfrm xmlns:a="http://schemas.openxmlformats.org/drawingml/2006/main">
            <a:off x="571500" y="7496175"/>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Vul één ontbrekende stap of uitleg in je eigen antwoord aan.</a:t>
            </a:r>
          </a:p>
        </p:txBody>
      </p:sp>
    </p:spTree>
    <p:extLst>
      <p:ext uri="{BB962C8B-B14F-4D97-AF65-F5344CB8AC3E}">
        <p14:creationId xmlns:p14="http://schemas.microsoft.com/office/powerpoint/2010/main" val="108464450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2 Vraagfactoren">
            <a:extLst xmlns:a="http://schemas.openxmlformats.org/drawingml/2006/main">
              <a:ext uri="{FF2B5EF4-FFF2-40B4-BE49-F238E27FC236}">
                <a16:creationId xmlns:a16="http://schemas.microsoft.com/office/drawing/2014/main" id="{D0A2AA93-01A3-4250-8468-72DC265A8D7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§1.2.2 Vraagfactoren</a:t>
            </a:r>
          </a:p>
        </p:txBody>
      </p:sp>
      <p:sp>
        <p:nvSpPr>
          <p:cNvPr id="2" name="">
            <a:extLst xmlns:a="http://schemas.openxmlformats.org/drawingml/2006/main">
              <a:ext uri="{FF2B5EF4-FFF2-40B4-BE49-F238E27FC236}">
                <a16:creationId xmlns:a16="http://schemas.microsoft.com/office/drawing/2014/main" id="{0048D533-F417-456C-B361-E232C1F7DA8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2 Vraagfactoren">
            <a:extLst xmlns:a="http://schemas.openxmlformats.org/drawingml/2006/main">
              <a:ext uri="{FF2B5EF4-FFF2-40B4-BE49-F238E27FC236}">
                <a16:creationId xmlns:a16="http://schemas.microsoft.com/office/drawing/2014/main" id="{4377E7D1-888E-4819-AF49-0DDA6A5D9B1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§1.2.2 Vraagfactoren</a:t>
            </a:r>
          </a:p>
        </p:txBody>
      </p:sp>
      <p:sp>
        <p:nvSpPr>
          <p:cNvPr id="4" name="25">
            <a:extLst xmlns:a="http://schemas.openxmlformats.org/drawingml/2006/main">
              <a:ext uri="{FF2B5EF4-FFF2-40B4-BE49-F238E27FC236}">
                <a16:creationId xmlns:a16="http://schemas.microsoft.com/office/drawing/2014/main" id="{21B48561-169D-4460-8F49-E16191B61EB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phase">
            <a:extLst xmlns:a="http://schemas.openxmlformats.org/drawingml/2006/main">
              <a:ext uri="{FF2B5EF4-FFF2-40B4-BE49-F238E27FC236}">
                <a16:creationId xmlns:a16="http://schemas.microsoft.com/office/drawing/2014/main" id="{52AC35FD-0B1A-4EA9-BB79-35FE3008A044}"/>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552350B3-4AD4-4F64-924D-F8A4247EC3B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2E731A14-24E5-4EFD-AC18-55A073AD89E4}"/>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ADC1FD6D-71D8-455F-A0FA-8E728A279E83}"/>
              </a:ext>
            </a:extLst>
          </p:cNvPr>
          <p:cNvSpPr>
            <a:spLocks xmlns:a="http://schemas.openxmlformats.org/drawingml/2006/main" noGrp="1"/>
          </p:cNvSpPr>
          <p:nvPr/>
        </p:nvSpPr>
        <p:spPr>
          <a:xfrm xmlns:a="http://schemas.openxmlformats.org/drawingml/2006/main">
            <a:off x="1104900" y="2324100"/>
            <a:ext cx="747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1BB109D2-E6B5-47C6-B48A-2D2DB93C60F0}"/>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8A5EB046-C48C-4005-A136-A5D30B6A810F}"/>
              </a:ext>
            </a:extLst>
          </p:cNvPr>
          <p:cNvSpPr>
            <a:spLocks xmlns:a="http://schemas.openxmlformats.org/drawingml/2006/main" noGrp="1"/>
          </p:cNvSpPr>
          <p:nvPr/>
        </p:nvSpPr>
        <p:spPr>
          <a:xfrm xmlns:a="http://schemas.openxmlformats.org/drawingml/2006/main">
            <a:off x="1104900" y="3200400"/>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72E7C6B-04B1-44D7-A024-20863D5390C7}"/>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A2C56C02-5833-4713-A458-C1AB20704847}"/>
              </a:ext>
            </a:extLst>
          </p:cNvPr>
          <p:cNvSpPr>
            <a:spLocks xmlns:a="http://schemas.openxmlformats.org/drawingml/2006/main" noGrp="1"/>
          </p:cNvSpPr>
          <p:nvPr/>
        </p:nvSpPr>
        <p:spPr>
          <a:xfrm xmlns:a="http://schemas.openxmlformats.org/drawingml/2006/main">
            <a:off x="1104900" y="3714750"/>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63129477-AA00-493B-B1E6-4D30C8470F0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23C9415A-F8E1-4BC9-80E7-60754E892A4B}"/>
              </a:ext>
            </a:extLst>
          </p:cNvPr>
          <p:cNvSpPr>
            <a:spLocks xmlns:a="http://schemas.openxmlformats.org/drawingml/2006/main" noGrp="1"/>
          </p:cNvSpPr>
          <p:nvPr/>
        </p:nvSpPr>
        <p:spPr>
          <a:xfrm xmlns:a="http://schemas.openxmlformats.org/drawingml/2006/main">
            <a:off x="1104900" y="4248150"/>
            <a:ext cx="74771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D2303C83-5688-4587-9448-6F5AE7F1895C}"/>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9BF6DEDD-C4F1-4637-AD06-0659B4151EEF}"/>
              </a:ext>
            </a:extLst>
          </p:cNvPr>
          <p:cNvSpPr>
            <a:spLocks xmlns:a="http://schemas.openxmlformats.org/drawingml/2006/main" noGrp="1"/>
          </p:cNvSpPr>
          <p:nvPr/>
        </p:nvSpPr>
        <p:spPr>
          <a:xfrm xmlns:a="http://schemas.openxmlformats.org/drawingml/2006/main">
            <a:off x="1104900" y="6057900"/>
            <a:ext cx="7477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6F0CEBB0-6E55-4555-AB7F-9800FA705341}"/>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EE1A6DE3-E014-4EFD-821E-718528A57D9E}"/>
              </a:ext>
            </a:extLst>
          </p:cNvPr>
          <p:cNvSpPr>
            <a:spLocks xmlns:a="http://schemas.openxmlformats.org/drawingml/2006/main" noGrp="1"/>
          </p:cNvSpPr>
          <p:nvPr/>
        </p:nvSpPr>
        <p:spPr>
          <a:xfrm xmlns:a="http://schemas.openxmlformats.org/drawingml/2006/main">
            <a:off x="1104900" y="6819900"/>
            <a:ext cx="7477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19.</a:t>
            </a:r>
          </a:p>
        </p:txBody>
      </p:sp>
      <p:sp>
        <p:nvSpPr>
          <p:cNvPr id="19" name="route-number-7">
            <a:extLst xmlns:a="http://schemas.openxmlformats.org/drawingml/2006/main">
              <a:ext uri="{FF2B5EF4-FFF2-40B4-BE49-F238E27FC236}">
                <a16:creationId xmlns:a16="http://schemas.microsoft.com/office/drawing/2014/main" id="{2321CD1E-46B7-48CA-9382-5240A4FA3CF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A52CED25-DCAD-43EB-A14E-9DA3DA07253E}"/>
              </a:ext>
            </a:extLst>
          </p:cNvPr>
          <p:cNvSpPr>
            <a:spLocks xmlns:a="http://schemas.openxmlformats.org/drawingml/2006/main" noGrp="1"/>
          </p:cNvSpPr>
          <p:nvPr/>
        </p:nvSpPr>
        <p:spPr>
          <a:xfrm xmlns:a="http://schemas.openxmlformats.org/drawingml/2006/main">
            <a:off x="1104900" y="7372350"/>
            <a:ext cx="7477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1882A965-C392-4650-89DC-253911959A3C}"/>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FA737E8D-32BE-4282-81DE-B26703421308}"/>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Oorzaken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bewegen of verschuiven tekenen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en twee effecten combineren.</a:t>
            </a:r>
          </a:p>
        </p:txBody>
      </p:sp>
      <p:sp>
        <p:nvSpPr>
          <p:cNvPr id="23" name="">
            <a:extLst xmlns:a="http://schemas.openxmlformats.org/drawingml/2006/main">
              <a:ext uri="{FF2B5EF4-FFF2-40B4-BE49-F238E27FC236}">
                <a16:creationId xmlns:a16="http://schemas.microsoft.com/office/drawing/2014/main" id="{CBACD920-222E-492E-91C7-7E05469AB9B1}"/>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733CAB20-93BB-4030-B8D5-F70D40433E75}"/>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47290813-504E-42E2-9574-6E6BF9859A3B}"/>
              </a:ext>
            </a:extLst>
          </p:cNvPr>
          <p:cNvSpPr>
            <a:spLocks xmlns:a="http://schemas.openxmlformats.org/drawingml/2006/main" noGrp="1"/>
          </p:cNvSpPr>
          <p:nvPr/>
        </p:nvSpPr>
        <p:spPr>
          <a:xfrm xmlns:a="http://schemas.openxmlformats.org/drawingml/2006/main">
            <a:off x="9258300" y="4371975"/>
            <a:ext cx="53816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62 · Opgaven 12 en 13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 verkennen met de theorie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op pagina 58–59</a:t>
            </a:r>
          </a:p>
        </p:txBody>
      </p:sp>
      <p:sp>
        <p:nvSpPr>
          <p:cNvPr id="26" name="">
            <a:extLst xmlns:a="http://schemas.openxmlformats.org/drawingml/2006/main">
              <a:ext uri="{FF2B5EF4-FFF2-40B4-BE49-F238E27FC236}">
                <a16:creationId xmlns:a16="http://schemas.microsoft.com/office/drawing/2014/main" id="{C5B72FC5-5717-490D-AD94-1E9E1ECAD991}"/>
              </a:ext>
            </a:extLst>
          </p:cNvPr>
          <p:cNvSpPr>
            <a:spLocks xmlns:a="http://schemas.openxmlformats.org/drawingml/2006/main" noGrp="1"/>
          </p:cNvSpPr>
          <p:nvPr/>
        </p:nvSpPr>
        <p:spPr>
          <a:xfrm xmlns:a="http://schemas.openxmlformats.org/drawingml/2006/main">
            <a:off x="9258300" y="55626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82507D09-6652-4ADF-AC0A-B251891A517D}"/>
              </a:ext>
            </a:extLst>
          </p:cNvPr>
          <p:cNvSpPr>
            <a:spLocks xmlns:a="http://schemas.openxmlformats.org/drawingml/2006/main" noGrp="1"/>
          </p:cNvSpPr>
          <p:nvPr/>
        </p:nvSpPr>
        <p:spPr>
          <a:xfrm xmlns:a="http://schemas.openxmlformats.org/drawingml/2006/main">
            <a:off x="9258300" y="57721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3122567A-94EB-4EF9-98F9-C90459AA5F99}"/>
              </a:ext>
            </a:extLst>
          </p:cNvPr>
          <p:cNvSpPr>
            <a:spLocks xmlns:a="http://schemas.openxmlformats.org/drawingml/2006/main" noGrp="1"/>
          </p:cNvSpPr>
          <p:nvPr/>
        </p:nvSpPr>
        <p:spPr>
          <a:xfrm xmlns:a="http://schemas.openxmlformats.org/drawingml/2006/main">
            <a:off x="9258300" y="6296025"/>
            <a:ext cx="5381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§1.2.2 Vraagfactoren</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14, 15 en 16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17 en 18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19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5912168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2026-10-03T13:48:16.5470000Z</dcterms:created>
  <dcterms:modified xsi:type="dcterms:W3CDTF">2026-10-03T13:48:16.5470000Z</dcterms:modified>
</coreProperties>
</file>