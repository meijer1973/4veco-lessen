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4.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700a3d5cbe94c47" /><Relationship Type="http://schemas.openxmlformats.org/officeDocument/2006/relationships/extended-properties" Target="/docProps/app.xml" Id="R8d808e4ee75845c7" /><Relationship Type="http://schemas.openxmlformats.org/officeDocument/2006/relationships/officeDocument" Target="/ppt/presentation.xml" Id="R9fcb7ede96b34609" /></Relationships>
</file>

<file path=ppt/presentation.xml><?xml version="1.0" encoding="utf-8"?>
<p:presentation xmlns:p="http://schemas.openxmlformats.org/presentationml/2006/main">
  <p:sldMasterIdLst>
    <p:sldMasterId xmlns:r="http://schemas.openxmlformats.org/officeDocument/2006/relationships" id="2147483648" r:id="Rac9ca8a6cf0c4206"/>
  </p:sldMasterIdLst>
  <p:notesMasterIdLst>
    <p:notesMasterId xmlns:r="http://schemas.openxmlformats.org/officeDocument/2006/relationships" r:id="R888849aa05234530"/>
  </p:notesMasterIdLst>
  <p:sldIdLst>
    <p:sldId xmlns:r="http://schemas.openxmlformats.org/officeDocument/2006/relationships" id="256" r:id="Rc03a91b949f0434e"/>
    <p:sldId xmlns:r="http://schemas.openxmlformats.org/officeDocument/2006/relationships" id="257" r:id="R573dfbfe360f4a9b"/>
    <p:sldId xmlns:r="http://schemas.openxmlformats.org/officeDocument/2006/relationships" id="258" r:id="Rd73ce6d6a3ee43e8"/>
    <p:sldId xmlns:r="http://schemas.openxmlformats.org/officeDocument/2006/relationships" id="259" r:id="R5c52fa80ac27409d"/>
    <p:sldId xmlns:r="http://schemas.openxmlformats.org/officeDocument/2006/relationships" id="260" r:id="R508d7a632fb842e0"/>
    <p:sldId xmlns:r="http://schemas.openxmlformats.org/officeDocument/2006/relationships" id="261" r:id="Rdec13e928dd4465a"/>
    <p:sldId xmlns:r="http://schemas.openxmlformats.org/officeDocument/2006/relationships" id="262" r:id="R3831fdcb9bd74571"/>
    <p:sldId xmlns:r="http://schemas.openxmlformats.org/officeDocument/2006/relationships" id="263" r:id="R4afc96b6e8994e22"/>
    <p:sldId xmlns:r="http://schemas.openxmlformats.org/officeDocument/2006/relationships" id="264" r:id="R2691d57c0db64e3e"/>
    <p:sldId xmlns:r="http://schemas.openxmlformats.org/officeDocument/2006/relationships" id="265" r:id="R14da1ea080da429b"/>
    <p:sldId xmlns:r="http://schemas.openxmlformats.org/officeDocument/2006/relationships" id="266" r:id="R8a489f5c95fe4be8"/>
    <p:sldId xmlns:r="http://schemas.openxmlformats.org/officeDocument/2006/relationships" id="267" r:id="R10febeeef22f4eaa"/>
    <p:sldId xmlns:r="http://schemas.openxmlformats.org/officeDocument/2006/relationships" id="268" r:id="Rb2ae87ebd40e4b37"/>
    <p:sldId xmlns:r="http://schemas.openxmlformats.org/officeDocument/2006/relationships" id="269" r:id="R64a587185b7c4462"/>
    <p:sldId xmlns:r="http://schemas.openxmlformats.org/officeDocument/2006/relationships" id="270" r:id="Rabd740aa0e684fbe"/>
    <p:sldId xmlns:r="http://schemas.openxmlformats.org/officeDocument/2006/relationships" id="271" r:id="Raf6ae54a612d44dc"/>
    <p:sldId xmlns:r="http://schemas.openxmlformats.org/officeDocument/2006/relationships" id="272" r:id="Rd90e42827d0a46b0"/>
    <p:sldId xmlns:r="http://schemas.openxmlformats.org/officeDocument/2006/relationships" id="273" r:id="Rf315980d272240ff"/>
    <p:sldId xmlns:r="http://schemas.openxmlformats.org/officeDocument/2006/relationships" id="274" r:id="R6a5ce890d33b409d"/>
    <p:sldId xmlns:r="http://schemas.openxmlformats.org/officeDocument/2006/relationships" id="275" r:id="Re3c4e1383776417d"/>
    <p:sldId xmlns:r="http://schemas.openxmlformats.org/officeDocument/2006/relationships" id="276" r:id="Rc706005c53bf4725"/>
    <p:sldId xmlns:r="http://schemas.openxmlformats.org/officeDocument/2006/relationships" id="277" r:id="R177c87824e284bfc"/>
    <p:sldId xmlns:r="http://schemas.openxmlformats.org/officeDocument/2006/relationships" id="278" r:id="Rc188920f06c94a05"/>
    <p:sldId xmlns:r="http://schemas.openxmlformats.org/officeDocument/2006/relationships" id="279" r:id="R8720fe798e214c3c"/>
    <p:sldId xmlns:r="http://schemas.openxmlformats.org/officeDocument/2006/relationships" id="280" r:id="Re7269866828849a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27b30696c3470b" /><Relationship Type="http://schemas.openxmlformats.org/officeDocument/2006/relationships/slideMaster" Target="/ppt/slideMasters/slideMaster1.xml" Id="Rac9ca8a6cf0c4206" /><Relationship Type="http://schemas.openxmlformats.org/officeDocument/2006/relationships/notesMaster" Target="/ppt/notesMasters/notesMaster1.xml" Id="R888849aa05234530" /><Relationship Type="http://schemas.openxmlformats.org/officeDocument/2006/relationships/presProps" Target="/ppt/presProps.xml" Id="R1acbb28c5b684f10" /><Relationship Type="http://schemas.openxmlformats.org/officeDocument/2006/relationships/tableStyles" Target="/ppt/tableStyles.xml" Id="R732beecc7a98422e" /><Relationship Type="http://schemas.openxmlformats.org/officeDocument/2006/relationships/slide" Target="/ppt/slides/slide1.xml" Id="Rc03a91b949f0434e" /><Relationship Type="http://schemas.openxmlformats.org/officeDocument/2006/relationships/slide" Target="/ppt/slides/slide2.xml" Id="R573dfbfe360f4a9b" /><Relationship Type="http://schemas.openxmlformats.org/officeDocument/2006/relationships/slide" Target="/ppt/slides/slide3.xml" Id="Rd73ce6d6a3ee43e8" /><Relationship Type="http://schemas.openxmlformats.org/officeDocument/2006/relationships/slide" Target="/ppt/slides/slide4.xml" Id="R5c52fa80ac27409d" /><Relationship Type="http://schemas.openxmlformats.org/officeDocument/2006/relationships/slide" Target="/ppt/slides/slide5.xml" Id="R508d7a632fb842e0" /><Relationship Type="http://schemas.openxmlformats.org/officeDocument/2006/relationships/slide" Target="/ppt/slides/slide6.xml" Id="Rdec13e928dd4465a" /><Relationship Type="http://schemas.openxmlformats.org/officeDocument/2006/relationships/slide" Target="/ppt/slides/slide7.xml" Id="R3831fdcb9bd74571" /><Relationship Type="http://schemas.openxmlformats.org/officeDocument/2006/relationships/slide" Target="/ppt/slides/slide8.xml" Id="R4afc96b6e8994e22" /><Relationship Type="http://schemas.openxmlformats.org/officeDocument/2006/relationships/slide" Target="/ppt/slides/slide9.xml" Id="R2691d57c0db64e3e" /><Relationship Type="http://schemas.openxmlformats.org/officeDocument/2006/relationships/slide" Target="/ppt/slides/slide10.xml" Id="R14da1ea080da429b" /><Relationship Type="http://schemas.openxmlformats.org/officeDocument/2006/relationships/slide" Target="/ppt/slides/slide11.xml" Id="R8a489f5c95fe4be8" /><Relationship Type="http://schemas.openxmlformats.org/officeDocument/2006/relationships/slide" Target="/ppt/slides/slide12.xml" Id="R10febeeef22f4eaa" /><Relationship Type="http://schemas.openxmlformats.org/officeDocument/2006/relationships/slide" Target="/ppt/slides/slide13.xml" Id="Rb2ae87ebd40e4b37" /><Relationship Type="http://schemas.openxmlformats.org/officeDocument/2006/relationships/slide" Target="/ppt/slides/slide14.xml" Id="R64a587185b7c4462" /><Relationship Type="http://schemas.openxmlformats.org/officeDocument/2006/relationships/slide" Target="/ppt/slides/slide15.xml" Id="Rabd740aa0e684fbe" /><Relationship Type="http://schemas.openxmlformats.org/officeDocument/2006/relationships/slide" Target="/ppt/slides/slide16.xml" Id="Raf6ae54a612d44dc" /><Relationship Type="http://schemas.openxmlformats.org/officeDocument/2006/relationships/slide" Target="/ppt/slides/slide17.xml" Id="Rd90e42827d0a46b0" /><Relationship Type="http://schemas.openxmlformats.org/officeDocument/2006/relationships/slide" Target="/ppt/slides/slide18.xml" Id="Rf315980d272240ff" /><Relationship Type="http://schemas.openxmlformats.org/officeDocument/2006/relationships/slide" Target="/ppt/slides/slide19.xml" Id="R6a5ce890d33b409d" /><Relationship Type="http://schemas.openxmlformats.org/officeDocument/2006/relationships/slide" Target="/ppt/slides/slide20.xml" Id="Re3c4e1383776417d" /><Relationship Type="http://schemas.openxmlformats.org/officeDocument/2006/relationships/slide" Target="/ppt/slides/slide21.xml" Id="Rc706005c53bf4725" /><Relationship Type="http://schemas.openxmlformats.org/officeDocument/2006/relationships/slide" Target="/ppt/slides/slide22.xml" Id="R177c87824e284bfc" /><Relationship Type="http://schemas.openxmlformats.org/officeDocument/2006/relationships/slide" Target="/ppt/slides/slide23.xml" Id="Rc188920f06c94a05" /><Relationship Type="http://schemas.openxmlformats.org/officeDocument/2006/relationships/slide" Target="/ppt/slides/slide24.xml" Id="R8720fe798e214c3c" /><Relationship Type="http://schemas.openxmlformats.org/officeDocument/2006/relationships/slide" Target="/ppt/slides/slide25.xml" Id="Re7269866828849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72693ff09f40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a75f1b490f48c0" /><Relationship Type="http://schemas.openxmlformats.org/officeDocument/2006/relationships/notesMaster" Target="/ppt/notesMasters/notesMaster1.xml" Id="R91d926e6489746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e57b08bf9d4b5f" /><Relationship Type="http://schemas.openxmlformats.org/officeDocument/2006/relationships/notesMaster" Target="/ppt/notesMasters/notesMaster1.xml" Id="R3d0d41f7f5834a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ef4f697f60476d" /><Relationship Type="http://schemas.openxmlformats.org/officeDocument/2006/relationships/notesMaster" Target="/ppt/notesMasters/notesMaster1.xml" Id="R9f9a5007004f44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10b52bbabd47a4" /><Relationship Type="http://schemas.openxmlformats.org/officeDocument/2006/relationships/notesMaster" Target="/ppt/notesMasters/notesMaster1.xml" Id="R2fe505ea000c44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7f4d3d42474ef9" /><Relationship Type="http://schemas.openxmlformats.org/officeDocument/2006/relationships/notesMaster" Target="/ppt/notesMasters/notesMaster1.xml" Id="R65cf651339844d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2a304d14604ab9" /><Relationship Type="http://schemas.openxmlformats.org/officeDocument/2006/relationships/notesMaster" Target="/ppt/notesMasters/notesMaster1.xml" Id="R23f1741c925d4c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5057d8c5c84157" /><Relationship Type="http://schemas.openxmlformats.org/officeDocument/2006/relationships/notesMaster" Target="/ppt/notesMasters/notesMaster1.xml" Id="Rb1e92d1c56e14a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734056950a4f84" /><Relationship Type="http://schemas.openxmlformats.org/officeDocument/2006/relationships/notesMaster" Target="/ppt/notesMasters/notesMaster1.xml" Id="R9b59f14296a541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65fe639b384250" /><Relationship Type="http://schemas.openxmlformats.org/officeDocument/2006/relationships/notesMaster" Target="/ppt/notesMasters/notesMaster1.xml" Id="Raf1630d4606b49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bf42a3261c4d2b" /><Relationship Type="http://schemas.openxmlformats.org/officeDocument/2006/relationships/notesMaster" Target="/ppt/notesMasters/notesMaster1.xml" Id="R79b2a23bc52648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4fd5077f3c4505" /><Relationship Type="http://schemas.openxmlformats.org/officeDocument/2006/relationships/notesMaster" Target="/ppt/notesMasters/notesMaster1.xml" Id="R48b297b7cc7a4a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f4a5b43bde4874" /><Relationship Type="http://schemas.openxmlformats.org/officeDocument/2006/relationships/notesMaster" Target="/ppt/notesMasters/notesMaster1.xml" Id="R989105f459fd47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3e768ee5854beb" /><Relationship Type="http://schemas.openxmlformats.org/officeDocument/2006/relationships/notesMaster" Target="/ppt/notesMasters/notesMaster1.xml" Id="Rbea71e2fd3a943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a1948f7eb94e2e" /><Relationship Type="http://schemas.openxmlformats.org/officeDocument/2006/relationships/notesMaster" Target="/ppt/notesMasters/notesMaster1.xml" Id="R52cf4f65004d40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28943d1a6fe40bc" /><Relationship Type="http://schemas.openxmlformats.org/officeDocument/2006/relationships/notesMaster" Target="/ppt/notesMasters/notesMaster1.xml" Id="Re2957053f2c740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24c70afe5e404f" /><Relationship Type="http://schemas.openxmlformats.org/officeDocument/2006/relationships/notesMaster" Target="/ppt/notesMasters/notesMaster1.xml" Id="R24416c46c9754c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c15b9da8294538" /><Relationship Type="http://schemas.openxmlformats.org/officeDocument/2006/relationships/notesMaster" Target="/ppt/notesMasters/notesMaster1.xml" Id="Rd31ee015dbfa4a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fe66f8390c4a97" /><Relationship Type="http://schemas.openxmlformats.org/officeDocument/2006/relationships/notesMaster" Target="/ppt/notesMasters/notesMaster1.xml" Id="R78e88f1f731d4c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3eecca3602c41d6" /><Relationship Type="http://schemas.openxmlformats.org/officeDocument/2006/relationships/notesMaster" Target="/ppt/notesMasters/notesMaster1.xml" Id="R1e8c6971f11f433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2190391c3b043a8" /><Relationship Type="http://schemas.openxmlformats.org/officeDocument/2006/relationships/notesMaster" Target="/ppt/notesMasters/notesMaster1.xml" Id="Re47e11ad650e4d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a3d239edb642f3" /><Relationship Type="http://schemas.openxmlformats.org/officeDocument/2006/relationships/notesMaster" Target="/ppt/notesMasters/notesMaster1.xml" Id="Rd584ad13af6647e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f8889ae874b4a24" /><Relationship Type="http://schemas.openxmlformats.org/officeDocument/2006/relationships/notesMaster" Target="/ppt/notesMasters/notesMaster1.xml" Id="R2c6c5f757bd5413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a57197d136b4d30" /><Relationship Type="http://schemas.openxmlformats.org/officeDocument/2006/relationships/notesMaster" Target="/ppt/notesMasters/notesMaster1.xml" Id="R9373de87668f4e8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23832154aaa46ec" /><Relationship Type="http://schemas.openxmlformats.org/officeDocument/2006/relationships/notesMaster" Target="/ppt/notesMasters/notesMaster1.xml" Id="R5a692ba89cb94c7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fa60ef0f78481a" /><Relationship Type="http://schemas.openxmlformats.org/officeDocument/2006/relationships/notesMaster" Target="/ppt/notesMasters/notesMaster1.xml" Id="R2f06d65b581c47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regel gebruik je bij 2a? Waar vind je die?</a:t>
            </a:r>
          </a:p>
          <a:p xmlns:a="http://schemas.openxmlformats.org/drawingml/2006/main">
            <a:r>
              <a:rPr sz="1400"/>
              <a:t/>
            </a:r>
          </a:p>
          <a:p xmlns:a="http://schemas.openxmlformats.org/drawingml/2006/main">
            <a:r>
              <a:rPr sz="1400"/>
              <a:t>Uitleg: Laat het overzicht staan tijdens startopdracht. Start: 1–2 op p. 52. Basis: 3 op p. 53, 4–5 op p. 54. Zelfstandig: 6–7 op p. 55. Doel: 8 op p. 56. Huiswerk: 3, 4, 5, 6, 7 en 8 maken en nakijken. Bonus 9 en herhaling 10–11 zijn extra. Opgave 1 herhaalt invullen en terugrekenen uit §1.1.3, p. 27. Opgave 2b herhaalt (hoeveelheid; prijs) uit p. 24–25. Opgave 2a is een eerste verkenning van de koopregel: laat de leerling de definitie en gelijkheidsafspraak op p. 46 lezen, die regel in eigen woorden noemen en twijfel noteren. Verwacht nog geen beheerste nieuwe kennis. Bij de terugkeer naar dit overzicht vóór basiswerk: laat 2a opnieuw proberen, bespreek de redenering en bied zo nodig steun. De complete route mag over meer lessen doorlopen.</a:t>
            </a:r>
          </a:p>
          <a:p xmlns:a="http://schemas.openxmlformats.org/drawingml/2006/main">
            <a:r>
              <a:rPr sz="1400"/>
              <a:t/>
            </a:r>
          </a:p>
          <a:p xmlns:a="http://schemas.openxmlformats.org/drawingml/2006/main">
            <a:r>
              <a:rPr sz="1400"/>
              <a:t>Misvatting: Een startopgave met nieuwe inhoud is geen onbegeleide voorkennistoets.</a:t>
            </a:r>
          </a:p>
          <a:p xmlns:a="http://schemas.openxmlformats.org/drawingml/2006/main">
            <a:r>
              <a:rPr sz="1400"/>
              <a:t/>
            </a:r>
          </a:p>
          <a:p xmlns:a="http://schemas.openxmlformats.org/drawingml/2006/main">
            <a:r>
              <a:rPr sz="1400"/>
              <a:t>Overgang: We bespreken de begrippen en doen een afzonderlijk uitlegvoorbeeld.</a:t>
            </a:r>
          </a:p>
          <a:p xmlns:a="http://schemas.openxmlformats.org/drawingml/2006/main">
            <a:r>
              <a:rPr sz="1400"/>
              <a:t/>
            </a:r>
          </a:p>
          <a:p xmlns:a="http://schemas.openxmlformats.org/drawingml/2006/main">
            <a:r>
              <a:rPr sz="1400"/>
              <a:t>Bron: Boek 1, tweede editie 2026, gedrukte boekpagina 46, 52–56.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heb je bij een grafiek behalve getallen nog nodig?</a:t>
            </a:r>
          </a:p>
          <a:p xmlns:a="http://schemas.openxmlformats.org/drawingml/2006/main">
            <a:r>
              <a:rPr sz="1400"/>
              <a:t/>
            </a:r>
          </a:p>
          <a:p xmlns:a="http://schemas.openxmlformats.org/drawingml/2006/main">
            <a:r>
              <a:rPr sz="1400"/>
              <a:t>Uitleg: De doelopgave vraagt twee verschillende situaties: losse koopbeslissingen en een lineair model. Benoem de koppeling tussen betekenis, formule, grafiek en conclusie. De inhoud van dit voorbeeld loopt mee met alle zes onderdelen van doelopgave 8.</a:t>
            </a:r>
          </a:p>
          <a:p xmlns:a="http://schemas.openxmlformats.org/drawingml/2006/main">
            <a:r>
              <a:rPr sz="1400"/>
              <a:t/>
            </a:r>
          </a:p>
          <a:p xmlns:a="http://schemas.openxmlformats.org/drawingml/2006/main">
            <a:r>
              <a:rPr sz="1400"/>
              <a:t>Misvatting: Een vraagfunctie beschrijft een koopplan onder voorwaarden.</a:t>
            </a:r>
          </a:p>
          <a:p xmlns:a="http://schemas.openxmlformats.org/drawingml/2006/main">
            <a:r>
              <a:rPr sz="1400"/>
              <a:t/>
            </a:r>
          </a:p>
          <a:p xmlns:a="http://schemas.openxmlformats.org/drawingml/2006/main">
            <a:r>
              <a:rPr sz="1400"/>
              <a:t>Overgang: Haal eerst de rekenprocedure kort terug.</a:t>
            </a:r>
          </a:p>
          <a:p xmlns:a="http://schemas.openxmlformats.org/drawingml/2006/main">
            <a:r>
              <a:rPr sz="1400"/>
              <a:t/>
            </a:r>
          </a:p>
          <a:p xmlns:a="http://schemas.openxmlformats.org/drawingml/2006/main">
            <a:r>
              <a:rPr sz="1400"/>
              <a:t>Bron: Boek 1, tweede editie 2026, gedrukte boekpagina 46–51.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doen we aan beide kanten dezelfde bewerking?</a:t>
            </a:r>
          </a:p>
          <a:p xmlns:a="http://schemas.openxmlformats.org/drawingml/2006/main">
            <a:r>
              <a:rPr sz="1400"/>
              <a:t/>
            </a:r>
          </a:p>
          <a:p xmlns:a="http://schemas.openxmlformats.org/drawingml/2006/main">
            <a:r>
              <a:rPr sz="1400"/>
              <a:t>Uitleg: Korte opfrissing, met eigen data: T is totale huur in euro, n het aantal materialen; hele aantallen 0–20. Eerst vermenigvuldigen. Trek bij terugrekenen aan beide kanten 7 af en deel beide kanten door 3. Dit is eerder onderwezen op p. 27; het is geen uitwerking van startopgave 1.</a:t>
            </a:r>
          </a:p>
          <a:p xmlns:a="http://schemas.openxmlformats.org/drawingml/2006/main">
            <a:r>
              <a:rPr sz="1400"/>
              <a:t/>
            </a:r>
          </a:p>
          <a:p xmlns:a="http://schemas.openxmlformats.org/drawingml/2006/main">
            <a:r>
              <a:rPr sz="1400"/>
              <a:t>Misvatting: Een term verplaatsen zonder bewerking te verklaren verbergt de rekenstap.</a:t>
            </a:r>
          </a:p>
          <a:p xmlns:a="http://schemas.openxmlformats.org/drawingml/2006/main">
            <a:r>
              <a:rPr sz="1400"/>
              <a:t/>
            </a:r>
          </a:p>
          <a:p xmlns:a="http://schemas.openxmlformats.org/drawingml/2006/main">
            <a:r>
              <a:rPr sz="1400"/>
              <a:t>Overgang: Gebruik vervolgens de nieuwe economische koopregel.</a:t>
            </a:r>
          </a:p>
          <a:p xmlns:a="http://schemas.openxmlformats.org/drawingml/2006/main">
            <a:r>
              <a:rPr sz="1400"/>
              <a:t/>
            </a:r>
          </a:p>
          <a:p xmlns:a="http://schemas.openxmlformats.org/drawingml/2006/main">
            <a:r>
              <a:rPr sz="1400"/>
              <a:t>Bron: Boek 1, tweede editie 2026, gedrukte boekpagina 27.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context en data; p. 27 ondersteunt alleen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telt het derde zakje mee?</a:t>
            </a:r>
          </a:p>
          <a:p xmlns:a="http://schemas.openxmlformats.org/drawingml/2006/main">
            <a:r>
              <a:rPr sz="1400"/>
              <a:t/>
            </a:r>
          </a:p>
          <a:p xmlns:a="http://schemas.openxmlformats.org/drawingml/2006/main">
            <a:r>
              <a:rPr sz="1400"/>
              <a:t>Uitleg: Betalingsbereidheid is het maximale bedrag voor die bepaalde extra eenheid. Vergelijk elk bedrag afzonderlijk met 6. 11 en 8 zijn hoger; 6 is gelijk en telt volgens de afspraak mee; 3 is lager. Zij koopt drie zakjes. De waarde van het eerste zakje is niet de totale waarde.</a:t>
            </a:r>
          </a:p>
          <a:p xmlns:a="http://schemas.openxmlformats.org/drawingml/2006/main">
            <a:r>
              <a:rPr sz="1400"/>
              <a:t/>
            </a:r>
          </a:p>
          <a:p xmlns:a="http://schemas.openxmlformats.org/drawingml/2006/main">
            <a:r>
              <a:rPr sz="1400"/>
              <a:t>Misvatting: Je telt niet de vier waarden op om het aantal te bepalen.</a:t>
            </a:r>
          </a:p>
          <a:p xmlns:a="http://schemas.openxmlformats.org/drawingml/2006/main">
            <a:r>
              <a:rPr sz="1400"/>
              <a:t/>
            </a:r>
          </a:p>
          <a:p xmlns:a="http://schemas.openxmlformats.org/drawingml/2006/main">
            <a:r>
              <a:rPr sz="1400"/>
              <a:t>Overgang: Bekijk wat een prijsverandering doet met dezelfde waarden.</a:t>
            </a:r>
          </a:p>
          <a:p xmlns:a="http://schemas.openxmlformats.org/drawingml/2006/main">
            <a:r>
              <a:rPr sz="1400"/>
              <a:t/>
            </a:r>
          </a:p>
          <a:p xmlns:a="http://schemas.openxmlformats.org/drawingml/2006/main">
            <a:r>
              <a:rPr sz="1400"/>
              <a:t>Bron: Boek 1, tweede editie 2026, gedrukte boekpagina 46.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context en data, geen boekopgave.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Lotte minder gaan waarderen wanneer de prijs stijgt?</a:t>
            </a:r>
          </a:p>
          <a:p xmlns:a="http://schemas.openxmlformats.org/drawingml/2006/main">
            <a:r>
              <a:rPr sz="1400"/>
              <a:t/>
            </a:r>
          </a:p>
          <a:p xmlns:a="http://schemas.openxmlformats.org/drawingml/2006/main">
            <a:r>
              <a:rPr sz="1400"/>
              <a:t>Uitleg: Dezelfde waarden leiden bij verschillende prijzen tot andere aantallen. Benoem de laatste regel kort als consumentensurplus: het verschil tussen waarde en betaling voor de gekochte eenheden, geen uitbetaling. Dit is slechts een kennismaking, geen te leren oppervlaktemethode. Losse eenheden geven sprongen; een rechte lijn volgt niet automatisch uit vier waarden.</a:t>
            </a:r>
          </a:p>
          <a:p xmlns:a="http://schemas.openxmlformats.org/drawingml/2006/main">
            <a:r>
              <a:rPr sz="1400"/>
              <a:t/>
            </a:r>
          </a:p>
          <a:p xmlns:a="http://schemas.openxmlformats.org/drawingml/2006/main">
            <a:r>
              <a:rPr sz="1400"/>
              <a:t>Misvatting: Een gewijzigde koopkeuze bewijst geen gewijzigde betalingsbereidheid.</a:t>
            </a:r>
          </a:p>
          <a:p xmlns:a="http://schemas.openxmlformats.org/drawingml/2006/main">
            <a:r>
              <a:rPr sz="1400"/>
              <a:t/>
            </a:r>
          </a:p>
          <a:p xmlns:a="http://schemas.openxmlformats.org/drawingml/2006/main">
            <a:r>
              <a:rPr sz="1400"/>
              <a:t>Overgang: We beginnen een aparte situatie met een deelbare hoeveelheid en een lineair model.</a:t>
            </a:r>
          </a:p>
          <a:p xmlns:a="http://schemas.openxmlformats.org/drawingml/2006/main">
            <a:r>
              <a:rPr sz="1400"/>
              <a:t/>
            </a:r>
          </a:p>
          <a:p xmlns:a="http://schemas.openxmlformats.org/drawingml/2006/main">
            <a:r>
              <a:rPr sz="1400"/>
              <a:t>Bron: Boek 1, tweede editie 2026, gedrukte boekpagina 47.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context en data; de uitleg blijft binnen de introductie op p.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houden we gelijk terwijl we de prijs veranderen?</a:t>
            </a:r>
          </a:p>
          <a:p xmlns:a="http://schemas.openxmlformats.org/drawingml/2006/main">
            <a:r>
              <a:rPr sz="1400"/>
              <a:t/>
            </a:r>
          </a:p>
          <a:p xmlns:a="http://schemas.openxmlformats.org/drawingml/2006/main">
            <a:r>
              <a:rPr sz="1400"/>
              <a:t>Uitleg: Individuele vraag verbindt prijs met de hoeveelheid die één koper wil en kan kopen. Voor Samira nemen we een lineair verband aan binnen deze grenzen. Dit is geen omzetting van Lottes vier zakjes. Thee is deelbaar; een lineair model is een extra vereenvoudiging. 3P betekent 3 maal P.</a:t>
            </a:r>
          </a:p>
          <a:p xmlns:a="http://schemas.openxmlformats.org/drawingml/2006/main">
            <a:r>
              <a:rPr sz="1400"/>
              <a:t/>
            </a:r>
          </a:p>
          <a:p xmlns:a="http://schemas.openxmlformats.org/drawingml/2006/main">
            <a:r>
              <a:rPr sz="1400"/>
              <a:t>Misvatting: Veel losse koopbeslissingen worden niet vanzelf precies deze rechte lijn.</a:t>
            </a:r>
          </a:p>
          <a:p xmlns:a="http://schemas.openxmlformats.org/drawingml/2006/main">
            <a:r>
              <a:rPr sz="1400"/>
              <a:t/>
            </a:r>
          </a:p>
          <a:p xmlns:a="http://schemas.openxmlformats.org/drawingml/2006/main">
            <a:r>
              <a:rPr sz="1400"/>
              <a:t>Overgang: Vul twee prijzen in en houd de eenheden vast.</a:t>
            </a:r>
          </a:p>
          <a:p xmlns:a="http://schemas.openxmlformats.org/drawingml/2006/main">
            <a:r>
              <a:rPr sz="1400"/>
              <a:t/>
            </a:r>
          </a:p>
          <a:p xmlns:a="http://schemas.openxmlformats.org/drawingml/2006/main">
            <a:r>
              <a:rPr sz="1400"/>
              <a:t>Bron: Boek 1, tweede editie 2026, gedrukte boekpagina 47–49.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context en data; q is ons thee per maand, P euro per 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is gegeven en welke bereken je?</a:t>
            </a:r>
          </a:p>
          <a:p xmlns:a="http://schemas.openxmlformats.org/drawingml/2006/main">
            <a:r>
              <a:rPr sz="1400"/>
              <a:t/>
            </a:r>
          </a:p>
          <a:p xmlns:a="http://schemas.openxmlformats.org/drawingml/2006/main">
            <a:r>
              <a:rPr sz="1400"/>
              <a:t>Uitleg: Vermenigvuldig eerst en trek daarna af. Bij twee euro kiest zij achttien ons per maand; bij zes euro zes ons. Het minteken geeft de negatieve prijsreactie binnen dit model. Per euro prijsstijging daalt q met drie ons per maand.</a:t>
            </a:r>
          </a:p>
          <a:p xmlns:a="http://schemas.openxmlformats.org/drawingml/2006/main">
            <a:r>
              <a:rPr sz="1400"/>
              <a:t/>
            </a:r>
          </a:p>
          <a:p xmlns:a="http://schemas.openxmlformats.org/drawingml/2006/main">
            <a:r>
              <a:rPr sz="1400"/>
              <a:t>Misvatting: 24 − 3 × 2 is niet 21 × 2.</a:t>
            </a:r>
          </a:p>
          <a:p xmlns:a="http://schemas.openxmlformats.org/drawingml/2006/main">
            <a:r>
              <a:rPr sz="1400"/>
              <a:t/>
            </a:r>
          </a:p>
          <a:p xmlns:a="http://schemas.openxmlformats.org/drawingml/2006/main">
            <a:r>
              <a:rPr sz="1400"/>
              <a:t>Overgang: Reken nu terug van een hoeveelheid naar de prijs.</a:t>
            </a:r>
          </a:p>
          <a:p xmlns:a="http://schemas.openxmlformats.org/drawingml/2006/main">
            <a:r>
              <a:rPr sz="1400"/>
              <a:t/>
            </a:r>
          </a:p>
          <a:p xmlns:a="http://schemas.openxmlformats.org/drawingml/2006/main">
            <a:r>
              <a:rPr sz="1400"/>
              <a:t>Bron: Boek 1, tweede editie 2026, gedrukte boekpagina 48, 50.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context en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voegen we hier 3P aan beide kanten toe?</a:t>
            </a:r>
          </a:p>
          <a:p xmlns:a="http://schemas.openxmlformats.org/drawingml/2006/main">
            <a:r>
              <a:rPr sz="1400"/>
              <a:t/>
            </a:r>
          </a:p>
          <a:p xmlns:a="http://schemas.openxmlformats.org/drawingml/2006/main">
            <a:r>
              <a:rPr sz="1400"/>
              <a:t>Uitleg: De onbekende is P. Houd de vergelijking gelijk met dezelfde bewerking aan beide kanten. De prijs is vijf euro per ons, niet vijf ons. Controleer in de oorspronkelijke functie en controleer de geldigheid.</a:t>
            </a:r>
          </a:p>
          <a:p xmlns:a="http://schemas.openxmlformats.org/drawingml/2006/main">
            <a:r>
              <a:rPr sz="1400"/>
              <a:t/>
            </a:r>
          </a:p>
          <a:p xmlns:a="http://schemas.openxmlformats.org/drawingml/2006/main">
            <a:r>
              <a:rPr sz="1400"/>
              <a:t>Misvatting: De negatieve coëfficiënt vraagt aandacht; schrijf de bewerking expliciet.</a:t>
            </a:r>
          </a:p>
          <a:p xmlns:a="http://schemas.openxmlformats.org/drawingml/2006/main">
            <a:r>
              <a:rPr sz="1400"/>
              <a:t/>
            </a:r>
          </a:p>
          <a:p xmlns:a="http://schemas.openxmlformats.org/drawingml/2006/main">
            <a:r>
              <a:rPr sz="1400"/>
              <a:t>Overgang: De hele functie kan ook met P links geschreven worden.</a:t>
            </a:r>
          </a:p>
          <a:p xmlns:a="http://schemas.openxmlformats.org/drawingml/2006/main">
            <a:r>
              <a:rPr sz="1400"/>
              <a:t/>
            </a:r>
          </a:p>
          <a:p xmlns:a="http://schemas.openxmlformats.org/drawingml/2006/main">
            <a:r>
              <a:rPr sz="1400"/>
              <a:t>Bron: Boek 1, tweede editie 2026, gedrukte boekpagina 49–50.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context en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Verandert Samira’s gedrag door de andere schrijfwijze?</a:t>
            </a:r>
          </a:p>
          <a:p xmlns:a="http://schemas.openxmlformats.org/drawingml/2006/main">
            <a:r>
              <a:rPr sz="1400"/>
              <a:t/>
            </a:r>
          </a:p>
          <a:p xmlns:a="http://schemas.openxmlformats.org/drawingml/2006/main">
            <a:r>
              <a:rPr sz="1400"/>
              <a:t>Uitleg: Dit is dezelfde relatie, geen nieuwe vraag. Gebruik de exacte breuk één derde of delen door drie; rond de coëfficiënt niet af. De geldigheid blijft 0 tot 24 ons per maand. Controleer met de eerder gevonden combinatie.</a:t>
            </a:r>
          </a:p>
          <a:p xmlns:a="http://schemas.openxmlformats.org/drawingml/2006/main">
            <a:r>
              <a:rPr sz="1400"/>
              <a:t/>
            </a:r>
          </a:p>
          <a:p xmlns:a="http://schemas.openxmlformats.org/drawingml/2006/main">
            <a:r>
              <a:rPr sz="1400"/>
              <a:t>Misvatting: Een omgeschreven functie mag de data of geldigheid niet veranderen.</a:t>
            </a:r>
          </a:p>
          <a:p xmlns:a="http://schemas.openxmlformats.org/drawingml/2006/main">
            <a:r>
              <a:rPr sz="1400"/>
              <a:t/>
            </a:r>
          </a:p>
          <a:p xmlns:a="http://schemas.openxmlformats.org/drawingml/2006/main">
            <a:r>
              <a:rPr sz="1400"/>
              <a:t>Overgang: Gebruik nulwaarden om de twee assnijpunten te vinden.</a:t>
            </a:r>
          </a:p>
          <a:p xmlns:a="http://schemas.openxmlformats.org/drawingml/2006/main">
            <a:r>
              <a:rPr sz="1400"/>
              <a:t/>
            </a:r>
          </a:p>
          <a:p xmlns:a="http://schemas.openxmlformats.org/drawingml/2006/main">
            <a:r>
              <a:rPr sz="1400"/>
              <a:t>Bron: Boek 1, tweede editie 2026, gedrukte boekpagina 49.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context en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variabele is nul op de P-as?</a:t>
            </a:r>
          </a:p>
          <a:p xmlns:a="http://schemas.openxmlformats.org/drawingml/2006/main">
            <a:r>
              <a:rPr sz="1400"/>
              <a:t/>
            </a:r>
          </a:p>
          <a:p xmlns:a="http://schemas.openxmlformats.org/drawingml/2006/main">
            <a:r>
              <a:rPr sz="1400"/>
              <a:t>Uitleg: Op de horizontale q-as is de verticale prijs nul. Op de verticale P-as is de hoeveelheid nul. Bereken beide uit de functie. Controleer 24 − 3 maal 8 = 0. Het domein eindigt hier; boven acht euro gebruiken we geen negatieve aankoop.</a:t>
            </a:r>
          </a:p>
          <a:p xmlns:a="http://schemas.openxmlformats.org/drawingml/2006/main">
            <a:r>
              <a:rPr sz="1400"/>
              <a:t/>
            </a:r>
          </a:p>
          <a:p xmlns:a="http://schemas.openxmlformats.org/drawingml/2006/main">
            <a:r>
              <a:rPr sz="1400"/>
              <a:t>Misvatting: Wissel de nul niet om; coördinaten blijven (q; P).</a:t>
            </a:r>
          </a:p>
          <a:p xmlns:a="http://schemas.openxmlformats.org/drawingml/2006/main">
            <a:r>
              <a:rPr sz="1400"/>
              <a:t/>
            </a:r>
          </a:p>
          <a:p xmlns:a="http://schemas.openxmlformats.org/drawingml/2006/main">
            <a:r>
              <a:rPr sz="1400"/>
              <a:t>Overgang: Teken eerst de assen en plaats deze twee punten.</a:t>
            </a:r>
          </a:p>
          <a:p xmlns:a="http://schemas.openxmlformats.org/drawingml/2006/main">
            <a:r>
              <a:rPr sz="1400"/>
              <a:t/>
            </a:r>
          </a:p>
          <a:p xmlns:a="http://schemas.openxmlformats.org/drawingml/2006/main">
            <a:r>
              <a:rPr sz="1400"/>
              <a:t>Bron: Boek 1, tweede editie 2026, gedrukte boekpagina 48–50.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context en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staat q = 0?</a:t>
            </a:r>
          </a:p>
          <a:p xmlns:a="http://schemas.openxmlformats.org/drawingml/2006/main">
            <a:r>
              <a:rPr sz="1400"/>
              <a:t/>
            </a:r>
          </a:p>
          <a:p xmlns:a="http://schemas.openxmlformats.org/drawingml/2006/main">
            <a:r>
              <a:rPr sz="1400"/>
              <a:t>Uitleg: Kies gelijke stappen binnen elke as. De assen mogen onderling verschillende stapgroottes hebben. Zet eerst hoeveelheid en dan prijs neer. Plaats de twee berekende snijpunten.</a:t>
            </a:r>
          </a:p>
          <a:p xmlns:a="http://schemas.openxmlformats.org/drawingml/2006/main">
            <a:r>
              <a:rPr sz="1400"/>
              <a:t/>
            </a:r>
          </a:p>
          <a:p xmlns:a="http://schemas.openxmlformats.org/drawingml/2006/main">
            <a:r>
              <a:rPr sz="1400"/>
              <a:t>Misvatting: Coördinaten zijn (q; P), niet (P; q). Alleen een passende schaal is niet genoeg: de punten moeten kloppen.</a:t>
            </a:r>
          </a:p>
          <a:p xmlns:a="http://schemas.openxmlformats.org/drawingml/2006/main">
            <a:r>
              <a:rPr sz="1400"/>
              <a:t/>
            </a:r>
          </a:p>
          <a:p xmlns:a="http://schemas.openxmlformats.org/drawingml/2006/main">
            <a:r>
              <a:rPr sz="1400"/>
              <a:t>Overgang: Voeg de volgende stap toe.</a:t>
            </a:r>
          </a:p>
          <a:p xmlns:a="http://schemas.openxmlformats.org/drawingml/2006/main">
            <a:r>
              <a:rPr sz="1400"/>
              <a:t/>
            </a:r>
          </a:p>
          <a:p xmlns:a="http://schemas.openxmlformats.org/drawingml/2006/main">
            <a:r>
              <a:rPr sz="1400"/>
              <a:t>Bron: Boek 1, tweede editie 2026, gedrukte boekpagina 24–25, 48–51.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theemodel; de boekpagina’s ondersteunen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mogen we buiten de gegeven grenzen niet doortekenen?</a:t>
            </a:r>
          </a:p>
          <a:p xmlns:a="http://schemas.openxmlformats.org/drawingml/2006/main">
            <a:r>
              <a:rPr sz="1400"/>
              <a:t/>
            </a:r>
          </a:p>
          <a:p xmlns:a="http://schemas.openxmlformats.org/drawingml/2006/main">
            <a:r>
              <a:rPr sz="1400"/>
              <a:t>Uitleg: Een rechte lijn ligt vast door de twee berekende punten. Verbind alleen binnen het geldige interval. Controleer de dalende richting bij q horizontaal en P verticaal.</a:t>
            </a:r>
          </a:p>
          <a:p xmlns:a="http://schemas.openxmlformats.org/drawingml/2006/main">
            <a:r>
              <a:rPr sz="1400"/>
              <a:t/>
            </a:r>
          </a:p>
          <a:p xmlns:a="http://schemas.openxmlformats.org/drawingml/2006/main">
            <a:r>
              <a:rPr sz="1400"/>
              <a:t>Misvatting: Coördinaten zijn (q; P), niet (P; q). Alleen een passende schaal is niet genoeg: de punten moeten kloppen.</a:t>
            </a:r>
          </a:p>
          <a:p xmlns:a="http://schemas.openxmlformats.org/drawingml/2006/main">
            <a:r>
              <a:rPr sz="1400"/>
              <a:t/>
            </a:r>
          </a:p>
          <a:p xmlns:a="http://schemas.openxmlformats.org/drawingml/2006/main">
            <a:r>
              <a:rPr sz="1400"/>
              <a:t>Overgang: Voeg de volgende stap toe.</a:t>
            </a:r>
          </a:p>
          <a:p xmlns:a="http://schemas.openxmlformats.org/drawingml/2006/main">
            <a:r>
              <a:rPr sz="1400"/>
              <a:t/>
            </a:r>
          </a:p>
          <a:p xmlns:a="http://schemas.openxmlformats.org/drawingml/2006/main">
            <a:r>
              <a:rPr sz="1400"/>
              <a:t>Bron: Boek 1, tweede editie 2026, gedrukte boekpagina 24–25, 48–51.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theemodel; de boekpagina’s ondersteunen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hoort bij de hogere prijs?</a:t>
            </a:r>
          </a:p>
          <a:p xmlns:a="http://schemas.openxmlformats.org/drawingml/2006/main">
            <a:r>
              <a:rPr sz="1400"/>
              <a:t/>
            </a:r>
          </a:p>
          <a:p xmlns:a="http://schemas.openxmlformats.org/drawingml/2006/main">
            <a:r>
              <a:rPr sz="1400"/>
              <a:t>Uitleg: De hulplijn begint bij de prijs, loopt horizontaal naar V en dan verticaal naar de hoeveelheid. Controleer beide punten ook met de formule. Bij de hogere prijs ligt het punt linksboven: minder gevraagde hoeveelheid.</a:t>
            </a:r>
          </a:p>
          <a:p xmlns:a="http://schemas.openxmlformats.org/drawingml/2006/main">
            <a:r>
              <a:rPr sz="1400"/>
              <a:t/>
            </a:r>
          </a:p>
          <a:p xmlns:a="http://schemas.openxmlformats.org/drawingml/2006/main">
            <a:r>
              <a:rPr sz="1400"/>
              <a:t>Misvatting: Coördinaten zijn (q; P), niet (P; q). Alleen een passende schaal is niet genoeg: de punten moeten kloppen.</a:t>
            </a:r>
          </a:p>
          <a:p xmlns:a="http://schemas.openxmlformats.org/drawingml/2006/main">
            <a:r>
              <a:rPr sz="1400"/>
              <a:t/>
            </a:r>
          </a:p>
          <a:p xmlns:a="http://schemas.openxmlformats.org/drawingml/2006/main">
            <a:r>
              <a:rPr sz="1400"/>
              <a:t>Overgang: Wat kunnen we wel en niet concluderen?</a:t>
            </a:r>
          </a:p>
          <a:p xmlns:a="http://schemas.openxmlformats.org/drawingml/2006/main">
            <a:r>
              <a:rPr sz="1400"/>
              <a:t/>
            </a:r>
          </a:p>
          <a:p xmlns:a="http://schemas.openxmlformats.org/drawingml/2006/main">
            <a:r>
              <a:rPr sz="1400"/>
              <a:t>Bron: Boek 1, tweede editie 2026, gedrukte boekpagina 24–25, 48–51.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theemodel; de boekpagina’s ondersteunen de methode.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ontbreekt om de feitelijke aankoop te kennen?</a:t>
            </a:r>
          </a:p>
          <a:p xmlns:a="http://schemas.openxmlformats.org/drawingml/2006/main">
            <a:r>
              <a:rPr sz="1400"/>
              <a:t/>
            </a:r>
          </a:p>
          <a:p xmlns:a="http://schemas.openxmlformats.org/drawingml/2006/main">
            <a:r>
              <a:rPr sz="1400"/>
              <a:t>Uitleg: De prijsstijging met vier euro leidt binnen het model tot twaalf ons minder vraag per maand. Het model beschrijft voorwaardelijke keuzes. De verkoop volgt er niet alleen uit. Bij negen euro valt de invulling buiten 0–8; negatieve vraag is geen geldige hoeveelheid. Vraag boven de koopgrens is nul, geen −3.</a:t>
            </a:r>
          </a:p>
          <a:p xmlns:a="http://schemas.openxmlformats.org/drawingml/2006/main">
            <a:r>
              <a:rPr sz="1400"/>
              <a:t/>
            </a:r>
          </a:p>
          <a:p xmlns:a="http://schemas.openxmlformats.org/drawingml/2006/main">
            <a:r>
              <a:rPr sz="1400"/>
              <a:t>Misvatting: Noem geen vraagpunt een evenwicht; er is geen aanbodmodel.</a:t>
            </a:r>
          </a:p>
          <a:p xmlns:a="http://schemas.openxmlformats.org/drawingml/2006/main">
            <a:r>
              <a:rPr sz="1400"/>
              <a:t/>
            </a:r>
          </a:p>
          <a:p xmlns:a="http://schemas.openxmlformats.org/drawingml/2006/main">
            <a:r>
              <a:rPr sz="1400"/>
              <a:t>Overgang: Keer terug naar 2a en begin daarna de basisopgaven.</a:t>
            </a:r>
          </a:p>
          <a:p xmlns:a="http://schemas.openxmlformats.org/drawingml/2006/main">
            <a:r>
              <a:rPr sz="1400"/>
              <a:t/>
            </a:r>
          </a:p>
          <a:p xmlns:a="http://schemas.openxmlformats.org/drawingml/2006/main">
            <a:r>
              <a:rPr sz="1400"/>
              <a:t>Bron: Boek 1, tweede editie 2026, gedrukte boekpagina 49, 51.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Eigen context en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regel gebruik je bij 2a? Waar vind je die?</a:t>
            </a:r>
          </a:p>
          <a:p xmlns:a="http://schemas.openxmlformats.org/drawingml/2006/main">
            <a:r>
              <a:rPr sz="1400"/>
              <a:t/>
            </a:r>
          </a:p>
          <a:p xmlns:a="http://schemas.openxmlformats.org/drawingml/2006/main">
            <a:r>
              <a:rPr sz="1400"/>
              <a:t>Uitleg: Laat het overzicht staan tijdens oefenen. Start: 1–2 op p. 52. Basis: 3 op p. 53, 4–5 op p. 54. Zelfstandig: 6–7 op p. 55. Doel: 8 op p. 56. Huiswerk: 3, 4, 5, 6, 7 en 8 maken en nakijken. Bonus 9 en herhaling 10–11 zijn extra. Opgave 1 herhaalt invullen en terugrekenen uit §1.1.3, p. 27. Opgave 2b herhaalt (hoeveelheid; prijs) uit p. 24–25. Opgave 2a is een eerste verkenning van de koopregel: laat de leerling de definitie en gelijkheidsafspraak op p. 46 lezen, die regel in eigen woorden noemen en twijfel noteren. Verwacht nog geen beheerste nieuwe kennis. Bij de terugkeer naar dit overzicht vóór basiswerk: laat 2a opnieuw proberen, bespreek de redenering en bied zo nodig steun. De complete route mag over meer lessen doorlopen.</a:t>
            </a:r>
          </a:p>
          <a:p xmlns:a="http://schemas.openxmlformats.org/drawingml/2006/main">
            <a:r>
              <a:rPr sz="1400"/>
              <a:t/>
            </a:r>
          </a:p>
          <a:p xmlns:a="http://schemas.openxmlformats.org/drawingml/2006/main">
            <a:r>
              <a:rPr sz="1400"/>
              <a:t>Misvatting: Een startopgave met nieuwe inhoud is geen onbegeleide voorkennistoets.</a:t>
            </a:r>
          </a:p>
          <a:p xmlns:a="http://schemas.openxmlformats.org/drawingml/2006/main">
            <a:r>
              <a:rPr sz="1400"/>
              <a:t/>
            </a:r>
          </a:p>
          <a:p xmlns:a="http://schemas.openxmlformats.org/drawingml/2006/main">
            <a:r>
              <a:rPr sz="1400"/>
              <a:t>Overgang: Na de eigen poging bespreken we doelopgave 8.</a:t>
            </a:r>
          </a:p>
          <a:p xmlns:a="http://schemas.openxmlformats.org/drawingml/2006/main">
            <a:r>
              <a:rPr sz="1400"/>
              <a:t/>
            </a:r>
          </a:p>
          <a:p xmlns:a="http://schemas.openxmlformats.org/drawingml/2006/main">
            <a:r>
              <a:rPr sz="1400"/>
              <a:t>Bron: Boek 1, tweede editie 2026, gedrukte boekpagina 46, 52–56.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hoort bij losse eenheden?</a:t>
            </a:r>
          </a:p>
          <a:p xmlns:a="http://schemas.openxmlformats.org/drawingml/2006/main">
            <a:r>
              <a:rPr sz="1400"/>
              <a:t/>
            </a:r>
          </a:p>
          <a:p xmlns:a="http://schemas.openxmlformats.org/drawingml/2006/main">
            <a:r>
              <a:rPr sz="1400"/>
              <a:t>Uitleg: Lees beide bronnen volledig. Bron A is een rij koopbeslissingen. Bron B is een andere situatie met een lineair model. Eerst worden alle deelvragen getoond, daarna komen de antwoorden.</a:t>
            </a:r>
          </a:p>
          <a:p xmlns:a="http://schemas.openxmlformats.org/drawingml/2006/main">
            <a:r>
              <a:rPr sz="1400"/>
              <a:t/>
            </a:r>
          </a:p>
          <a:p xmlns:a="http://schemas.openxmlformats.org/drawingml/2006/main">
            <a:r>
              <a:rPr sz="1400"/>
              <a:t>Misvatting: Gebruik Amirs functie niet voor Iris.</a:t>
            </a:r>
          </a:p>
          <a:p xmlns:a="http://schemas.openxmlformats.org/drawingml/2006/main">
            <a:r>
              <a:rPr sz="1400"/>
              <a:t/>
            </a:r>
          </a:p>
          <a:p xmlns:a="http://schemas.openxmlformats.org/drawingml/2006/main">
            <a:r>
              <a:rPr sz="1400"/>
              <a:t>Overgang: Bekijk eerst vragen a–c.</a:t>
            </a:r>
          </a:p>
          <a:p xmlns:a="http://schemas.openxmlformats.org/drawingml/2006/main">
            <a:r>
              <a:rPr sz="1400"/>
              <a:t/>
            </a:r>
          </a:p>
          <a:p xmlns:a="http://schemas.openxmlformats.org/drawingml/2006/main">
            <a:r>
              <a:rPr sz="1400"/>
              <a:t>Bron: Boek 1, tweede editie 2026, gedrukte boekpagina 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is bij c gegeven en wat is onbekend?</a:t>
            </a:r>
          </a:p>
          <a:p xmlns:a="http://schemas.openxmlformats.org/drawingml/2006/main">
            <a:r>
              <a:rPr sz="1400"/>
              <a:t/>
            </a:r>
          </a:p>
          <a:p xmlns:a="http://schemas.openxmlformats.org/drawingml/2006/main">
            <a:r>
              <a:rPr sz="1400"/>
              <a:t>Uitleg: Laat leerlingen hun reeds gemaakte antwoorden paraat houden. Laat ze eerst aanwijzen welke bron en welke grootheid bij elke vraag horen. Geef nu nog geen oplossing.</a:t>
            </a:r>
          </a:p>
          <a:p xmlns:a="http://schemas.openxmlformats.org/drawingml/2006/main">
            <a:r>
              <a:rPr sz="1400"/>
              <a:t/>
            </a:r>
          </a:p>
          <a:p xmlns:a="http://schemas.openxmlformats.org/drawingml/2006/main">
            <a:r>
              <a:rPr sz="1400"/>
              <a:t>Misvatting: Een antwoord bij c moet ook een controle bevatten.</a:t>
            </a:r>
          </a:p>
          <a:p xmlns:a="http://schemas.openxmlformats.org/drawingml/2006/main">
            <a:r>
              <a:rPr sz="1400"/>
              <a:t/>
            </a:r>
          </a:p>
          <a:p xmlns:a="http://schemas.openxmlformats.org/drawingml/2006/main">
            <a:r>
              <a:rPr sz="1400"/>
              <a:t>Overgang: Bekijk d–f voordat er antwoorden worden onthuld.</a:t>
            </a:r>
          </a:p>
          <a:p xmlns:a="http://schemas.openxmlformats.org/drawingml/2006/main">
            <a:r>
              <a:rPr sz="1400"/>
              <a:t/>
            </a:r>
          </a:p>
          <a:p xmlns:a="http://schemas.openxmlformats.org/drawingml/2006/main">
            <a:r>
              <a:rPr sz="1400"/>
              <a:t>Bron: Boek 1, tweede editie 2026, gedrukte boekpagina 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controle kun je bij e uitvoeren?</a:t>
            </a:r>
          </a:p>
          <a:p xmlns:a="http://schemas.openxmlformats.org/drawingml/2006/main">
            <a:r>
              <a:rPr sz="1400"/>
              <a:t/>
            </a:r>
          </a:p>
          <a:p xmlns:a="http://schemas.openxmlformats.org/drawingml/2006/main">
            <a:r>
              <a:rPr sz="1400"/>
              <a:t>Uitleg: Nu zijn alle zes vragen beschikbaar zonder antwoorden. Laat leerlingen desgewenst terugbladeren naar de bronnendia; de volledige bron staat op boekpagina 56. Bespreek pas hierna de uitwerkingen.</a:t>
            </a:r>
          </a:p>
          <a:p xmlns:a="http://schemas.openxmlformats.org/drawingml/2006/main">
            <a:r>
              <a:rPr sz="1400"/>
              <a:t/>
            </a:r>
          </a:p>
          <a:p xmlns:a="http://schemas.openxmlformats.org/drawingml/2006/main">
            <a:r>
              <a:rPr sz="1400"/>
              <a:t>Misvatting: Het eindgetal van b beantwoordt f nog niet.</a:t>
            </a:r>
          </a:p>
          <a:p xmlns:a="http://schemas.openxmlformats.org/drawingml/2006/main">
            <a:r>
              <a:rPr sz="1400"/>
              <a:t/>
            </a:r>
          </a:p>
          <a:p xmlns:a="http://schemas.openxmlformats.org/drawingml/2006/main">
            <a:r>
              <a:rPr sz="1400"/>
              <a:t>Overgang: Begin de bespreking met Iris.</a:t>
            </a:r>
          </a:p>
          <a:p xmlns:a="http://schemas.openxmlformats.org/drawingml/2006/main">
            <a:r>
              <a:rPr sz="1400"/>
              <a:t/>
            </a:r>
          </a:p>
          <a:p xmlns:a="http://schemas.openxmlformats.org/drawingml/2006/main">
            <a:r>
              <a:rPr sz="1400"/>
              <a:t>Bron: Boek 1, tweede editie 2026, gedrukte boekpagina 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afspraak maakt de derde print beslisbaar?</a:t>
            </a:r>
          </a:p>
          <a:p xmlns:a="http://schemas.openxmlformats.org/drawingml/2006/main">
            <a:r>
              <a:rPr sz="1400"/>
              <a:t/>
            </a:r>
          </a:p>
          <a:p xmlns:a="http://schemas.openxmlformats.org/drawingml/2006/main">
            <a:r>
              <a:rPr sz="1400"/>
              <a:t>Uitleg: Vergelijk elke extra print met de gegeven prijs. De eerste drie voldoen; de vierde niet. De gelijkheidsafspraak en het voldoende budget staan expliciet in de bron.</a:t>
            </a:r>
          </a:p>
          <a:p xmlns:a="http://schemas.openxmlformats.org/drawingml/2006/main">
            <a:r>
              <a:rPr sz="1400"/>
              <a:t/>
            </a:r>
          </a:p>
          <a:p xmlns:a="http://schemas.openxmlformats.org/drawingml/2006/main">
            <a:r>
              <a:rPr sz="1400"/>
              <a:t>Misvatting: De € 12 hoort bij de eerste print, niet bij alle prints samen.</a:t>
            </a:r>
          </a:p>
          <a:p xmlns:a="http://schemas.openxmlformats.org/drawingml/2006/main">
            <a:r>
              <a:rPr sz="1400"/>
              <a:t/>
            </a:r>
          </a:p>
          <a:p xmlns:a="http://schemas.openxmlformats.org/drawingml/2006/main">
            <a:r>
              <a:rPr sz="1400"/>
              <a:t>Overgang: Wissel expliciet naar bron B: Amir.</a:t>
            </a:r>
          </a:p>
          <a:p xmlns:a="http://schemas.openxmlformats.org/drawingml/2006/main">
            <a:r>
              <a:rPr sz="1400"/>
              <a:t/>
            </a:r>
          </a:p>
          <a:p xmlns:a="http://schemas.openxmlformats.org/drawingml/2006/main">
            <a:r>
              <a:rPr sz="1400"/>
              <a:t>Bron: Boek 1, tweede editie 2026, gedrukte boekpagina 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het getal 4 vóór P hier?</a:t>
            </a:r>
          </a:p>
          <a:p xmlns:a="http://schemas.openxmlformats.org/drawingml/2006/main">
            <a:r>
              <a:rPr sz="1400"/>
              <a:t/>
            </a:r>
          </a:p>
          <a:p xmlns:a="http://schemas.openxmlformats.org/drawingml/2006/main">
            <a:r>
              <a:rPr sz="1400"/>
              <a:t>Uitleg: Vul de prijs op de plaats van P in; vermenigvuldig eerst. De uitkomsten zijn twaalf en acht liter per maand. De periode is niet per week.</a:t>
            </a:r>
          </a:p>
          <a:p xmlns:a="http://schemas.openxmlformats.org/drawingml/2006/main">
            <a:r>
              <a:rPr sz="1400"/>
              <a:t/>
            </a:r>
          </a:p>
          <a:p xmlns:a="http://schemas.openxmlformats.org/drawingml/2006/main">
            <a:r>
              <a:rPr sz="1400"/>
              <a:t>Misvatting: P in euro per liter wordt niet de eenheid van q.</a:t>
            </a:r>
          </a:p>
          <a:p xmlns:a="http://schemas.openxmlformats.org/drawingml/2006/main">
            <a:r>
              <a:rPr sz="1400"/>
              <a:t/>
            </a:r>
          </a:p>
          <a:p xmlns:a="http://schemas.openxmlformats.org/drawingml/2006/main">
            <a:r>
              <a:rPr sz="1400"/>
              <a:t>Overgang: Reken terug naar de prijs bij zes liter.</a:t>
            </a:r>
          </a:p>
          <a:p xmlns:a="http://schemas.openxmlformats.org/drawingml/2006/main">
            <a:r>
              <a:rPr sz="1400"/>
              <a:t/>
            </a:r>
          </a:p>
          <a:p xmlns:a="http://schemas.openxmlformats.org/drawingml/2006/main">
            <a:r>
              <a:rPr sz="1400"/>
              <a:t>Bron: Boek 1, tweede editie 2026, gedrukte boekpagina 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€ 3,50 een prijs en geen hoeveelheid?</a:t>
            </a:r>
          </a:p>
          <a:p xmlns:a="http://schemas.openxmlformats.org/drawingml/2006/main">
            <a:r>
              <a:rPr sz="1400"/>
              <a:t/>
            </a:r>
          </a:p>
          <a:p xmlns:a="http://schemas.openxmlformats.org/drawingml/2006/main">
            <a:r>
              <a:rPr sz="1400"/>
              <a:t>Uitleg: Toon iedere equivalente vergelijking. Veertien gedeeld door vier is drie euro vijftig per liter. Controleer zowel de functie als het gegeven interval.</a:t>
            </a:r>
          </a:p>
          <a:p xmlns:a="http://schemas.openxmlformats.org/drawingml/2006/main">
            <a:r>
              <a:rPr sz="1400"/>
              <a:t/>
            </a:r>
          </a:p>
          <a:p xmlns:a="http://schemas.openxmlformats.org/drawingml/2006/main">
            <a:r>
              <a:rPr sz="1400"/>
              <a:t>Misvatting: Rond hier niet af naar hele euro’s.</a:t>
            </a:r>
          </a:p>
          <a:p xmlns:a="http://schemas.openxmlformats.org/drawingml/2006/main">
            <a:r>
              <a:rPr sz="1400"/>
              <a:t/>
            </a:r>
          </a:p>
          <a:p xmlns:a="http://schemas.openxmlformats.org/drawingml/2006/main">
            <a:r>
              <a:rPr sz="1400"/>
              <a:t>Overgang: Bereken de twee snijpunten.</a:t>
            </a:r>
          </a:p>
          <a:p xmlns:a="http://schemas.openxmlformats.org/drawingml/2006/main">
            <a:r>
              <a:rPr sz="1400"/>
              <a:t/>
            </a:r>
          </a:p>
          <a:p xmlns:a="http://schemas.openxmlformats.org/drawingml/2006/main">
            <a:r>
              <a:rPr sz="1400"/>
              <a:t>Bron: Boek 1, tweede editie 2026, gedrukte boekpagina 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coördinaat is nul op de horizontale as?</a:t>
            </a:r>
          </a:p>
          <a:p xmlns:a="http://schemas.openxmlformats.org/drawingml/2006/main">
            <a:r>
              <a:rPr sz="1400"/>
              <a:t/>
            </a:r>
          </a:p>
          <a:p xmlns:a="http://schemas.openxmlformats.org/drawingml/2006/main">
            <a:r>
              <a:rPr sz="1400"/>
              <a:t>Uitleg: Maak bij elk snijpunt zichtbaar welke variabele nul is. De maximumhoeveelheid bij nulprijs is twintig liter per maand. Bij vijf euro is q nul. Dit zijn geen twee marktprijzen.</a:t>
            </a:r>
          </a:p>
          <a:p xmlns:a="http://schemas.openxmlformats.org/drawingml/2006/main">
            <a:r>
              <a:rPr sz="1400"/>
              <a:t/>
            </a:r>
          </a:p>
          <a:p xmlns:a="http://schemas.openxmlformats.org/drawingml/2006/main">
            <a:r>
              <a:rPr sz="1400"/>
              <a:t>Misvatting: Een negatieve hoeveelheid buiten dit bereik is geen aankoop.</a:t>
            </a:r>
          </a:p>
          <a:p xmlns:a="http://schemas.openxmlformats.org/drawingml/2006/main">
            <a:r>
              <a:rPr sz="1400"/>
              <a:t/>
            </a:r>
          </a:p>
          <a:p xmlns:a="http://schemas.openxmlformats.org/drawingml/2006/main">
            <a:r>
              <a:rPr sz="1400"/>
              <a:t>Overgang: Gebruik de snijpunten voor de tekening en controleer de twee punten uit b.</a:t>
            </a:r>
          </a:p>
          <a:p xmlns:a="http://schemas.openxmlformats.org/drawingml/2006/main">
            <a:r>
              <a:rPr sz="1400"/>
              <a:t/>
            </a:r>
          </a:p>
          <a:p xmlns:a="http://schemas.openxmlformats.org/drawingml/2006/main">
            <a:r>
              <a:rPr sz="1400"/>
              <a:t>Bron: Boek 1, tweede editie 2026, gedrukte boekpagina 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hoort bij de hogere prijs?</a:t>
            </a:r>
          </a:p>
          <a:p xmlns:a="http://schemas.openxmlformats.org/drawingml/2006/main">
            <a:r>
              <a:rPr sz="1400"/>
              <a:t/>
            </a:r>
          </a:p>
          <a:p xmlns:a="http://schemas.openxmlformats.org/drawingml/2006/main">
            <a:r>
              <a:rPr sz="1400"/>
              <a:t>Uitleg: De hulplijn begint bij de prijs, loopt horizontaal naar V en dan verticaal naar de hoeveelheid. Controleer beide punten ook met de formule. Bij de hogere prijs ligt het punt linksboven: minder gevraagde hoeveelheid.</a:t>
            </a:r>
          </a:p>
          <a:p xmlns:a="http://schemas.openxmlformats.org/drawingml/2006/main">
            <a:r>
              <a:rPr sz="1400"/>
              <a:t/>
            </a:r>
          </a:p>
          <a:p xmlns:a="http://schemas.openxmlformats.org/drawingml/2006/main">
            <a:r>
              <a:rPr sz="1400"/>
              <a:t>Misvatting: Coördinaten zijn (q; P), niet (P; q). Alleen een passende schaal is niet genoeg: de punten moeten kloppen.</a:t>
            </a:r>
          </a:p>
          <a:p xmlns:a="http://schemas.openxmlformats.org/drawingml/2006/main">
            <a:r>
              <a:rPr sz="1400"/>
              <a:t/>
            </a:r>
          </a:p>
          <a:p xmlns:a="http://schemas.openxmlformats.org/drawingml/2006/main">
            <a:r>
              <a:rPr sz="1400"/>
              <a:t>Overgang: Leg het verschil tussen gevraagde hoeveelheid en feitelijke aankoop uit.</a:t>
            </a:r>
          </a:p>
          <a:p xmlns:a="http://schemas.openxmlformats.org/drawingml/2006/main">
            <a:r>
              <a:rPr sz="1400"/>
              <a:t/>
            </a:r>
          </a:p>
          <a:p xmlns:a="http://schemas.openxmlformats.org/drawingml/2006/main">
            <a:r>
              <a:rPr sz="1400"/>
              <a:t>Bron: Boek 1, tweede editie 2026, gedrukte boekpagina 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Werkelijke boekopgave 8; antwoordmodel 8d–e.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weet je wel en welke informatie ontbreekt nog?</a:t>
            </a:r>
          </a:p>
          <a:p xmlns:a="http://schemas.openxmlformats.org/drawingml/2006/main">
            <a:r>
              <a:rPr sz="1400"/>
              <a:t/>
            </a:r>
          </a:p>
          <a:p xmlns:a="http://schemas.openxmlformats.org/drawingml/2006/main">
            <a:r>
              <a:rPr sz="1400"/>
              <a:t>Uitleg: De prijs stijgt met één euro per liter; volgens dezelfde vraagfunctie daalt de gevraagde hoeveelheid met vier liter per maand. Benoem alle overige omstandigheden gelijk. De functie geeft voorwaardelijke hoeveelheden bij veronderstelde prijzen. De werkelijke prijs en beschikbaarheid zijn niet vastgesteld. Laat leerlingen ontbrekende eenheden, controles of redeneringen in hun eigen antwoorden aanvullen.</a:t>
            </a:r>
          </a:p>
          <a:p xmlns:a="http://schemas.openxmlformats.org/drawingml/2006/main">
            <a:r>
              <a:rPr sz="1400"/>
              <a:t/>
            </a:r>
          </a:p>
          <a:p xmlns:a="http://schemas.openxmlformats.org/drawingml/2006/main">
            <a:r>
              <a:rPr sz="1400"/>
              <a:t>Misvatting: Schrijf niet automatisch dat Amir vier liter minder heeft gekocht.</a:t>
            </a:r>
          </a:p>
          <a:p xmlns:a="http://schemas.openxmlformats.org/drawingml/2006/main">
            <a:r>
              <a:rPr sz="1400"/>
              <a:t/>
            </a:r>
          </a:p>
          <a:p xmlns:a="http://schemas.openxmlformats.org/drawingml/2006/main">
            <a:r>
              <a:rPr sz="1400"/>
              <a:t>Overgang: Laat de laatste overzichtsdia staan en noteer het huiswerk.</a:t>
            </a:r>
          </a:p>
          <a:p xmlns:a="http://schemas.openxmlformats.org/drawingml/2006/main">
            <a:r>
              <a:rPr sz="1400"/>
              <a:t/>
            </a:r>
          </a:p>
          <a:p xmlns:a="http://schemas.openxmlformats.org/drawingml/2006/main">
            <a:r>
              <a:rPr sz="1400"/>
              <a:t>Bron: Boek 1, tweede editie 2026, gedrukte boekpagina 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regel gebruik je bij 2a? Waar vind je die?</a:t>
            </a:r>
          </a:p>
          <a:p xmlns:a="http://schemas.openxmlformats.org/drawingml/2006/main">
            <a:r>
              <a:rPr sz="1400"/>
              <a:t/>
            </a:r>
          </a:p>
          <a:p xmlns:a="http://schemas.openxmlformats.org/drawingml/2006/main">
            <a:r>
              <a:rPr sz="1400"/>
              <a:t>Uitleg: Laat het overzicht staan tijdens afsluiting / huiswerk. Start: 1–2 op p. 52. Basis: 3 op p. 53, 4–5 op p. 54. Zelfstandig: 6–7 op p. 55. Doel: 8 op p. 56. Huiswerk: 3, 4, 5, 6, 7 en 8 maken en nakijken. Bonus 9 en herhaling 10–11 zijn extra. Opgave 1 herhaalt invullen en terugrekenen uit §1.1.3, p. 27. Opgave 2b herhaalt (hoeveelheid; prijs) uit p. 24–25. Opgave 2a is een eerste verkenning van de koopregel: laat de leerling de definitie en gelijkheidsafspraak op p. 46 lezen, die regel in eigen woorden noemen en twijfel noteren. Verwacht nog geen beheerste nieuwe kennis. Bij de terugkeer naar dit overzicht vóór basiswerk: laat 2a opnieuw proberen, bespreek de redenering en bied zo nodig steun. De complete route mag over meer lessen doorlopen.</a:t>
            </a:r>
          </a:p>
          <a:p xmlns:a="http://schemas.openxmlformats.org/drawingml/2006/main">
            <a:r>
              <a:rPr sz="1400"/>
              <a:t/>
            </a:r>
          </a:p>
          <a:p xmlns:a="http://schemas.openxmlformats.org/drawingml/2006/main">
            <a:r>
              <a:rPr sz="1400"/>
              <a:t>Misvatting: Een startopgave met nieuwe inhoud is geen onbegeleide voorkennistoets.</a:t>
            </a:r>
          </a:p>
          <a:p xmlns:a="http://schemas.openxmlformats.org/drawingml/2006/main">
            <a:r>
              <a:rPr sz="1400"/>
              <a:t/>
            </a:r>
          </a:p>
          <a:p xmlns:a="http://schemas.openxmlformats.org/drawingml/2006/main">
            <a:r>
              <a:rPr sz="1400"/>
              <a:t>Overgang: Noteer het resterende werk in je agenda.</a:t>
            </a:r>
          </a:p>
          <a:p xmlns:a="http://schemas.openxmlformats.org/drawingml/2006/main">
            <a:r>
              <a:rPr sz="1400"/>
              <a:t/>
            </a:r>
          </a:p>
          <a:p xmlns:a="http://schemas.openxmlformats.org/drawingml/2006/main">
            <a:r>
              <a:rPr sz="1400"/>
              <a:t>Bron: Boek 1, tweede editie 2026, gedrukte boekpagina 46, 52–56. https://github.com/meijer1973/4veco-lessen/blob/173aa9a803897965c572df2c4e7f83cdb135eb1c/Boek%201%20-%20Grondslagen%2C%20vraag%20en%20aanbod/edities/tweede-editie-2026/boek/Boek_1_Compleet_Tweede_editie.pdf</a:t>
            </a:r>
          </a:p>
          <a:p xmlns:a="http://schemas.openxmlformats.org/drawingml/2006/main">
            <a:r>
              <a:rPr sz="1400"/>
              <a:t>Antwoordmodel: https://github.com/meijer1973/4veco-lessen/blob/173aa9a803897965c572df2c4e7f83cdb135eb1c/Boek%201%20-%20Grondslagen%2C%20vraag%20en%20aanbod/edities/tweede-editie-2026/bronnen/H2/Antwoorden.md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97bc5db5bf4c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3f6d0fa0da4c59" /><Relationship Type="http://schemas.openxmlformats.org/officeDocument/2006/relationships/slideLayout" Target="/ppt/slideLayouts/slideLayout1.xml" Id="R4baf7054355b48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af7054355b48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bdece03ac643ec" /><Relationship Type="http://schemas.openxmlformats.org/officeDocument/2006/relationships/notesSlide" Target="/ppt/notesSlides/notesSlide1.xml" Id="Rf4e8aa8bb8b94a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14449e1bb84888" /><Relationship Type="http://schemas.openxmlformats.org/officeDocument/2006/relationships/notesSlide" Target="/ppt/notesSlides/notesSlide2.xml" Id="Ra59399aaf2d34c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9baff7a2cc4b59" /><Relationship Type="http://schemas.openxmlformats.org/officeDocument/2006/relationships/notesSlide" Target="/ppt/notesSlides/notesSlide3.xml" Id="R2dc139241d0f40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b5514155fb46b4" /><Relationship Type="http://schemas.openxmlformats.org/officeDocument/2006/relationships/notesSlide" Target="/ppt/notesSlides/notesSlide4.xml" Id="Rd34b986e360f42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87504ed6a84b4f" /><Relationship Type="http://schemas.openxmlformats.org/officeDocument/2006/relationships/notesSlide" Target="/ppt/notesSlides/notesSlide5.xml" Id="R6854f944790644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11b054c2ae45d7" /><Relationship Type="http://schemas.openxmlformats.org/officeDocument/2006/relationships/notesSlide" Target="/ppt/notesSlides/notesSlide6.xml" Id="R1d33bed87fda4b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0a3b2d65f341cb" /><Relationship Type="http://schemas.openxmlformats.org/officeDocument/2006/relationships/notesSlide" Target="/ppt/notesSlides/notesSlide7.xml" Id="R4a2ade17e2334b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99072bd0c74053" /><Relationship Type="http://schemas.openxmlformats.org/officeDocument/2006/relationships/notesSlide" Target="/ppt/notesSlides/notesSlide8.xml" Id="R30eb4ac44d4249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bda7b40a314e65" /><Relationship Type="http://schemas.openxmlformats.org/officeDocument/2006/relationships/notesSlide" Target="/ppt/notesSlides/notesSlide9.xml" Id="R27ce507351474c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f4f32b4f114d9f" /><Relationship Type="http://schemas.openxmlformats.org/officeDocument/2006/relationships/notesSlide" Target="/ppt/notesSlides/notesSlide10.xml" Id="R76621b65c71649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0bd930f986142fc" /><Relationship Type="http://schemas.openxmlformats.org/officeDocument/2006/relationships/chart" Target="/ppt/slides/charts/chart1.xml" Id="R5a3a16d3ada74862" /><Relationship Type="http://schemas.openxmlformats.org/officeDocument/2006/relationships/notesSlide" Target="/ppt/notesSlides/notesSlide11.xml" Id="R55f6f5416f1d41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74a04613d14dcf" /><Relationship Type="http://schemas.openxmlformats.org/officeDocument/2006/relationships/chart" Target="/ppt/slides/charts/chart2.xml" Id="R26aec4448de0474e" /><Relationship Type="http://schemas.openxmlformats.org/officeDocument/2006/relationships/notesSlide" Target="/ppt/notesSlides/notesSlide12.xml" Id="R3c1b4e26e7c14f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f590d96086e4976" /><Relationship Type="http://schemas.openxmlformats.org/officeDocument/2006/relationships/chart" Target="/ppt/slides/charts/chart3.xml" Id="R529a3429ea724017" /><Relationship Type="http://schemas.openxmlformats.org/officeDocument/2006/relationships/notesSlide" Target="/ppt/notesSlides/notesSlide13.xml" Id="R847d6265475f41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a82e8c7688a4541" /><Relationship Type="http://schemas.openxmlformats.org/officeDocument/2006/relationships/notesSlide" Target="/ppt/notesSlides/notesSlide14.xml" Id="R0dad9801e7064a4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a7b74a89af94e80" /><Relationship Type="http://schemas.openxmlformats.org/officeDocument/2006/relationships/notesSlide" Target="/ppt/notesSlides/notesSlide15.xml" Id="R8b477c54ef0443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8ac8ba17da94232" /><Relationship Type="http://schemas.openxmlformats.org/officeDocument/2006/relationships/notesSlide" Target="/ppt/notesSlides/notesSlide16.xml" Id="R01a5d97123c240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15aa37bf294471" /><Relationship Type="http://schemas.openxmlformats.org/officeDocument/2006/relationships/notesSlide" Target="/ppt/notesSlides/notesSlide17.xml" Id="Rd0f2d942364a46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6cee806ed3545a8" /><Relationship Type="http://schemas.openxmlformats.org/officeDocument/2006/relationships/notesSlide" Target="/ppt/notesSlides/notesSlide18.xml" Id="R07ff04f7b3e449b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b892722160e43c5" /><Relationship Type="http://schemas.openxmlformats.org/officeDocument/2006/relationships/notesSlide" Target="/ppt/notesSlides/notesSlide19.xml" Id="R4322ae716f2247f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5164f1bde754f4c" /><Relationship Type="http://schemas.openxmlformats.org/officeDocument/2006/relationships/notesSlide" Target="/ppt/notesSlides/notesSlide20.xml" Id="R80d3d49d5809403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99ae7ddae5d439e" /><Relationship Type="http://schemas.openxmlformats.org/officeDocument/2006/relationships/notesSlide" Target="/ppt/notesSlides/notesSlide21.xml" Id="Rda84c88e2e2742f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bf7f29b7d074a71" /><Relationship Type="http://schemas.openxmlformats.org/officeDocument/2006/relationships/notesSlide" Target="/ppt/notesSlides/notesSlide22.xml" Id="R8a40c6a7294f4a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adf7e10ad5a4fc8" /><Relationship Type="http://schemas.openxmlformats.org/officeDocument/2006/relationships/chart" Target="/ppt/slides/charts/chart4.xml" Id="R2826c5627cd44148" /><Relationship Type="http://schemas.openxmlformats.org/officeDocument/2006/relationships/notesSlide" Target="/ppt/notesSlides/notesSlide23.xml" Id="R4fea23e04b0e431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d584f0af9264cc7" /><Relationship Type="http://schemas.openxmlformats.org/officeDocument/2006/relationships/notesSlide" Target="/ppt/notesSlides/notesSlide24.xml" Id="R38838d1132dd429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509f3ae8f604414" /><Relationship Type="http://schemas.openxmlformats.org/officeDocument/2006/relationships/notesSlide" Target="/ppt/notesSlides/notesSlide25.xml" Id="R326412448e4a4d7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Snijpunt P-as</c:v>
          </c:tx>
          <c:spPr>
            <a:ln xmlns:a="http://schemas.openxmlformats.org/drawingml/2006/main" w="0">
              <a:solidFill>
                <a:srgbClr val="17658A"/>
              </a:solidFill>
            </a:ln>
          </c:spPr>
          <c:marker>
            <c:symbol val="circle"/>
            <c:size val="10"/>
            <c:spPr>
              <a:solidFill xmlns:a="http://schemas.openxmlformats.org/drawingml/2006/main">
                <a:srgbClr val="17658A"/>
              </a:solidFill>
            </c:spPr>
          </c:marker>
          <c:xVal>
            <c:numRef>
              <c:f>'Chart Data'!$A$2:$A$2</c:f>
              <c:numCache>
                <c:formatCode>General</c:formatCode>
                <c:ptCount val="1"/>
                <c:pt idx="0">
                  <c:v>0</c:v>
                </c:pt>
              </c:numCache>
            </c:numRef>
          </c:xVal>
          <c:yVal>
            <c:numRef>
              <c:f>'Chart Data'!$B$2:$B$2</c:f>
              <c:numCache>
                <c:formatCode>0</c:formatCode>
                <c:ptCount val="1"/>
                <c:pt idx="0">
                  <c:v>8</c:v>
                </c:pt>
              </c:numCache>
            </c:numRef>
          </c:yVal>
          <c:smooth val="0"/>
        </c:ser>
        <c:ser>
          <c:idx val="1"/>
          <c:order val="1"/>
          <c:tx>
            <c:v>Snijpunt q-as</c:v>
          </c:tx>
          <c:spPr>
            <a:ln xmlns:a="http://schemas.openxmlformats.org/drawingml/2006/main" w="0">
              <a:solidFill>
                <a:srgbClr val="17658A"/>
              </a:solidFill>
            </a:ln>
          </c:spPr>
          <c:marker>
            <c:symbol val="circle"/>
            <c:size val="10"/>
            <c:spPr>
              <a:solidFill xmlns:a="http://schemas.openxmlformats.org/drawingml/2006/main">
                <a:srgbClr val="17658A"/>
              </a:solidFill>
            </c:spPr>
          </c:marker>
          <c:xVal>
            <c:numRef>
              <c:f>'Chart Data'!$C$2:$C$2</c:f>
              <c:numCache>
                <c:formatCode>General</c:formatCode>
                <c:ptCount val="1"/>
                <c:pt idx="0">
                  <c:v>24</c:v>
                </c:pt>
              </c:numCache>
            </c:numRef>
          </c:xVal>
          <c:yVal>
            <c:numRef>
              <c:f>'Chart Data'!$D$2:$D$2</c:f>
              <c:numCache>
                <c:formatCode>0</c:formatCode>
                <c:ptCount val="1"/>
                <c:pt idx="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ons)</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(ons per maand)</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circle"/>
            <c:size val="8"/>
            <c:spPr>
              <a:solidFill xmlns:a="http://schemas.openxmlformats.org/drawingml/2006/main">
                <a:srgbClr val="17658A"/>
              </a:solidFill>
            </c:spPr>
          </c:marker>
          <c:xVal>
            <c:numRef>
              <c:f>'Chart Data'!$A$2:$A$3</c:f>
              <c:numCache>
                <c:formatCode>General</c:formatCode>
                <c:ptCount val="2"/>
                <c:pt idx="0">
                  <c:v>0</c:v>
                </c:pt>
                <c:pt idx="1">
                  <c:v>24</c:v>
                </c:pt>
              </c:numCache>
            </c:numRef>
          </c:xVal>
          <c:yVal>
            <c:numRef>
              <c:f>'Chart Data'!$B$2:$B$3</c:f>
              <c:numCache>
                <c:formatCode>0</c:formatCode>
                <c:ptCount val="2"/>
                <c:pt idx="0">
                  <c:v>8</c:v>
                </c:pt>
                <c:pt idx="1">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ons)</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(ons per maand)</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circle"/>
            <c:size val="8"/>
            <c:spPr>
              <a:solidFill xmlns:a="http://schemas.openxmlformats.org/drawingml/2006/main">
                <a:srgbClr val="17658A"/>
              </a:solidFill>
            </c:spPr>
          </c:marker>
          <c:xVal>
            <c:numRef>
              <c:f>'Chart Data'!$A$2:$A$3</c:f>
              <c:numCache>
                <c:formatCode>General</c:formatCode>
                <c:ptCount val="2"/>
                <c:pt idx="0">
                  <c:v>0</c:v>
                </c:pt>
                <c:pt idx="1">
                  <c:v>24</c:v>
                </c:pt>
              </c:numCache>
            </c:numRef>
          </c:xVal>
          <c:yVal>
            <c:numRef>
              <c:f>'Chart Data'!$B$2:$B$3</c:f>
              <c:numCache>
                <c:formatCode>0</c:formatCode>
                <c:ptCount val="2"/>
                <c:pt idx="0">
                  <c:v>8</c:v>
                </c:pt>
                <c:pt idx="1">
                  <c:v>0</c:v>
                </c:pt>
              </c:numCache>
            </c:numRef>
          </c:yVal>
          <c:smooth val="0"/>
        </c:ser>
        <c:ser>
          <c:idx val="1"/>
          <c:order val="1"/>
          <c:tx>
            <c:v>Hulplijn 1</c:v>
          </c:tx>
          <c:spPr>
            <a:ln xmlns:a="http://schemas.openxmlformats.org/drawingml/2006/main" w="19050">
              <a:solidFill>
                <a:srgbClr val="20665B"/>
              </a:solidFill>
              <a:prstDash val="dash"/>
            </a:ln>
          </c:spPr>
          <c:marker>
            <c:symbol val="none"/>
          </c:marker>
          <c:xVal>
            <c:numRef>
              <c:f>'Chart Data'!$C$2:$C$4</c:f>
              <c:numCache>
                <c:formatCode>General</c:formatCode>
                <c:ptCount val="3"/>
                <c:pt idx="0">
                  <c:v>0</c:v>
                </c:pt>
                <c:pt idx="1">
                  <c:v>18</c:v>
                </c:pt>
                <c:pt idx="2">
                  <c:v>18</c:v>
                </c:pt>
              </c:numCache>
            </c:numRef>
          </c:xVal>
          <c:yVal>
            <c:numRef>
              <c:f>'Chart Data'!$D$2:$D$4</c:f>
              <c:numCache>
                <c:formatCode>0</c:formatCode>
                <c:ptCount val="3"/>
                <c:pt idx="0">
                  <c:v>2</c:v>
                </c:pt>
                <c:pt idx="1">
                  <c:v>2</c:v>
                </c:pt>
                <c:pt idx="2">
                  <c:v>0</c:v>
                </c:pt>
              </c:numCache>
            </c:numRef>
          </c:yVal>
          <c:smooth val="0"/>
        </c:ser>
        <c:ser>
          <c:idx val="2"/>
          <c:order val="2"/>
          <c:tx>
            <c:v>A</c:v>
          </c:tx>
          <c:spPr>
            <a:ln xmlns:a="http://schemas.openxmlformats.org/drawingml/2006/main" w="0">
              <a:solidFill>
                <a:srgbClr val="17658A"/>
              </a:solidFill>
            </a:ln>
          </c:spPr>
          <c:marker>
            <c:symbol val="circle"/>
            <c:size val="10"/>
            <c:spPr>
              <a:solidFill xmlns:a="http://schemas.openxmlformats.org/drawingml/2006/main">
                <a:srgbClr val="17658A"/>
              </a:solidFill>
            </c:spPr>
          </c:marker>
          <c:xVal>
            <c:numRef>
              <c:f>'Chart Data'!$E$2:$E$2</c:f>
              <c:numCache>
                <c:formatCode>General</c:formatCode>
                <c:ptCount val="1"/>
                <c:pt idx="0">
                  <c:v>18</c:v>
                </c:pt>
              </c:numCache>
            </c:numRef>
          </c:xVal>
          <c:yVal>
            <c:numRef>
              <c:f>'Chart Data'!$F$2:$F$2</c:f>
              <c:numCache>
                <c:formatCode>0</c:formatCode>
                <c:ptCount val="1"/>
                <c:pt idx="0">
                  <c:v>2</c:v>
                </c:pt>
              </c:numCache>
            </c:numRef>
          </c:yVal>
          <c:smooth val="0"/>
        </c:ser>
        <c:ser>
          <c:idx val="3"/>
          <c:order val="3"/>
          <c:tx>
            <c:v>Hulplijn 2</c:v>
          </c:tx>
          <c:spPr>
            <a:ln xmlns:a="http://schemas.openxmlformats.org/drawingml/2006/main" w="19050">
              <a:solidFill>
                <a:srgbClr val="A94D16"/>
              </a:solidFill>
              <a:prstDash val="dash"/>
            </a:ln>
          </c:spPr>
          <c:marker>
            <c:symbol val="none"/>
          </c:marker>
          <c:xVal>
            <c:numRef>
              <c:f>'Chart Data'!$G$2:$G$4</c:f>
              <c:numCache>
                <c:formatCode>General</c:formatCode>
                <c:ptCount val="3"/>
                <c:pt idx="0">
                  <c:v>0</c:v>
                </c:pt>
                <c:pt idx="1">
                  <c:v>6</c:v>
                </c:pt>
                <c:pt idx="2">
                  <c:v>6</c:v>
                </c:pt>
              </c:numCache>
            </c:numRef>
          </c:xVal>
          <c:yVal>
            <c:numRef>
              <c:f>'Chart Data'!$H$2:$H$4</c:f>
              <c:numCache>
                <c:formatCode>0</c:formatCode>
                <c:ptCount val="3"/>
                <c:pt idx="0">
                  <c:v>6</c:v>
                </c:pt>
                <c:pt idx="1">
                  <c:v>6</c:v>
                </c:pt>
                <c:pt idx="2">
                  <c:v>0</c:v>
                </c:pt>
              </c:numCache>
            </c:numRef>
          </c:yVal>
          <c:smooth val="0"/>
        </c:ser>
        <c:ser>
          <c:idx val="4"/>
          <c:order val="4"/>
          <c:tx>
            <c:v>B</c:v>
          </c:tx>
          <c:spPr>
            <a:ln xmlns:a="http://schemas.openxmlformats.org/drawingml/2006/main" w="0">
              <a:solidFill>
                <a:srgbClr val="17658A"/>
              </a:solidFill>
            </a:ln>
          </c:spPr>
          <c:marker>
            <c:symbol val="square"/>
            <c:size val="10"/>
            <c:spPr>
              <a:solidFill xmlns:a="http://schemas.openxmlformats.org/drawingml/2006/main">
                <a:srgbClr val="17658A"/>
              </a:solidFill>
            </c:spPr>
          </c:marker>
          <c:xVal>
            <c:numRef>
              <c:f>'Chart Data'!$I$2:$I$2</c:f>
              <c:numCache>
                <c:formatCode>General</c:formatCode>
                <c:ptCount val="1"/>
                <c:pt idx="0">
                  <c:v>6</c:v>
                </c:pt>
              </c:numCache>
            </c:numRef>
          </c:xVal>
          <c:yVal>
            <c:numRef>
              <c:f>'Chart Data'!$J$2:$J$2</c:f>
              <c:numCache>
                <c:formatCode>0</c:formatCode>
                <c:ptCount val="1"/>
                <c:pt idx="0">
                  <c:v>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ons)</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(ons per maand)</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circle"/>
            <c:size val="8"/>
            <c:spPr>
              <a:solidFill xmlns:a="http://schemas.openxmlformats.org/drawingml/2006/main">
                <a:srgbClr val="17658A"/>
              </a:solidFill>
            </c:spPr>
          </c:marker>
          <c:xVal>
            <c:numRef>
              <c:f>'Chart Data'!$A$2:$A$3</c:f>
              <c:numCache>
                <c:formatCode>General</c:formatCode>
                <c:ptCount val="2"/>
                <c:pt idx="0">
                  <c:v>0</c:v>
                </c:pt>
                <c:pt idx="1">
                  <c:v>20</c:v>
                </c:pt>
              </c:numCache>
            </c:numRef>
          </c:xVal>
          <c:yVal>
            <c:numRef>
              <c:f>'Chart Data'!$B$2:$B$3</c:f>
              <c:numCache>
                <c:formatCode>0</c:formatCode>
                <c:ptCount val="2"/>
                <c:pt idx="0">
                  <c:v>5</c:v>
                </c:pt>
                <c:pt idx="1">
                  <c:v>0</c:v>
                </c:pt>
              </c:numCache>
            </c:numRef>
          </c:yVal>
          <c:smooth val="0"/>
        </c:ser>
        <c:ser>
          <c:idx val="1"/>
          <c:order val="1"/>
          <c:tx>
            <c:v>Hulplijn 1</c:v>
          </c:tx>
          <c:spPr>
            <a:ln xmlns:a="http://schemas.openxmlformats.org/drawingml/2006/main" w="19050">
              <a:solidFill>
                <a:srgbClr val="20665B"/>
              </a:solidFill>
              <a:prstDash val="dash"/>
            </a:ln>
          </c:spPr>
          <c:marker>
            <c:symbol val="none"/>
          </c:marker>
          <c:xVal>
            <c:numRef>
              <c:f>'Chart Data'!$C$2:$C$4</c:f>
              <c:numCache>
                <c:formatCode>General</c:formatCode>
                <c:ptCount val="3"/>
                <c:pt idx="0">
                  <c:v>0</c:v>
                </c:pt>
                <c:pt idx="1">
                  <c:v>12</c:v>
                </c:pt>
                <c:pt idx="2">
                  <c:v>12</c:v>
                </c:pt>
              </c:numCache>
            </c:numRef>
          </c:xVal>
          <c:yVal>
            <c:numRef>
              <c:f>'Chart Data'!$D$2:$D$4</c:f>
              <c:numCache>
                <c:formatCode>0</c:formatCode>
                <c:ptCount val="3"/>
                <c:pt idx="0">
                  <c:v>2</c:v>
                </c:pt>
                <c:pt idx="1">
                  <c:v>2</c:v>
                </c:pt>
                <c:pt idx="2">
                  <c:v>0</c:v>
                </c:pt>
              </c:numCache>
            </c:numRef>
          </c:yVal>
          <c:smooth val="0"/>
        </c:ser>
        <c:ser>
          <c:idx val="2"/>
          <c:order val="2"/>
          <c:tx>
            <c:v>A</c:v>
          </c:tx>
          <c:spPr>
            <a:ln xmlns:a="http://schemas.openxmlformats.org/drawingml/2006/main" w="0">
              <a:solidFill>
                <a:srgbClr val="17658A"/>
              </a:solidFill>
            </a:ln>
          </c:spPr>
          <c:marker>
            <c:symbol val="circle"/>
            <c:size val="10"/>
            <c:spPr>
              <a:solidFill xmlns:a="http://schemas.openxmlformats.org/drawingml/2006/main">
                <a:srgbClr val="17658A"/>
              </a:solidFill>
            </c:spPr>
          </c:marker>
          <c:xVal>
            <c:numRef>
              <c:f>'Chart Data'!$E$2:$E$2</c:f>
              <c:numCache>
                <c:formatCode>General</c:formatCode>
                <c:ptCount val="1"/>
                <c:pt idx="0">
                  <c:v>12</c:v>
                </c:pt>
              </c:numCache>
            </c:numRef>
          </c:xVal>
          <c:yVal>
            <c:numRef>
              <c:f>'Chart Data'!$F$2:$F$2</c:f>
              <c:numCache>
                <c:formatCode>0</c:formatCode>
                <c:ptCount val="1"/>
                <c:pt idx="0">
                  <c:v>2</c:v>
                </c:pt>
              </c:numCache>
            </c:numRef>
          </c:yVal>
          <c:smooth val="0"/>
        </c:ser>
        <c:ser>
          <c:idx val="3"/>
          <c:order val="3"/>
          <c:tx>
            <c:v>Hulplijn 2</c:v>
          </c:tx>
          <c:spPr>
            <a:ln xmlns:a="http://schemas.openxmlformats.org/drawingml/2006/main" w="19050">
              <a:solidFill>
                <a:srgbClr val="A94D16"/>
              </a:solidFill>
              <a:prstDash val="dash"/>
            </a:ln>
          </c:spPr>
          <c:marker>
            <c:symbol val="none"/>
          </c:marker>
          <c:xVal>
            <c:numRef>
              <c:f>'Chart Data'!$G$2:$G$4</c:f>
              <c:numCache>
                <c:formatCode>General</c:formatCode>
                <c:ptCount val="3"/>
                <c:pt idx="0">
                  <c:v>0</c:v>
                </c:pt>
                <c:pt idx="1">
                  <c:v>8</c:v>
                </c:pt>
                <c:pt idx="2">
                  <c:v>8</c:v>
                </c:pt>
              </c:numCache>
            </c:numRef>
          </c:xVal>
          <c:yVal>
            <c:numRef>
              <c:f>'Chart Data'!$H$2:$H$4</c:f>
              <c:numCache>
                <c:formatCode>0</c:formatCode>
                <c:ptCount val="3"/>
                <c:pt idx="0">
                  <c:v>3</c:v>
                </c:pt>
                <c:pt idx="1">
                  <c:v>3</c:v>
                </c:pt>
                <c:pt idx="2">
                  <c:v>0</c:v>
                </c:pt>
              </c:numCache>
            </c:numRef>
          </c:yVal>
          <c:smooth val="0"/>
        </c:ser>
        <c:ser>
          <c:idx val="4"/>
          <c:order val="4"/>
          <c:tx>
            <c:v>B</c:v>
          </c:tx>
          <c:spPr>
            <a:ln xmlns:a="http://schemas.openxmlformats.org/drawingml/2006/main" w="0">
              <a:solidFill>
                <a:srgbClr val="17658A"/>
              </a:solidFill>
            </a:ln>
          </c:spPr>
          <c:marker>
            <c:symbol val="square"/>
            <c:size val="10"/>
            <c:spPr>
              <a:solidFill xmlns:a="http://schemas.openxmlformats.org/drawingml/2006/main">
                <a:srgbClr val="17658A"/>
              </a:solidFill>
            </c:spPr>
          </c:marker>
          <c:xVal>
            <c:numRef>
              <c:f>'Chart Data'!$I$2:$I$2</c:f>
              <c:numCache>
                <c:formatCode>General</c:formatCode>
                <c:ptCount val="1"/>
                <c:pt idx="0">
                  <c:v>8</c:v>
                </c:pt>
              </c:numCache>
            </c:numRef>
          </c:xVal>
          <c:yVal>
            <c:numRef>
              <c:f>'Chart Data'!$J$2:$J$2</c:f>
              <c:numCache>
                <c:formatCode>0</c:formatCode>
                <c:ptCount val="1"/>
                <c:pt idx="0">
                  <c:v>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P (€ per liter)</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1"/>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(liter per maand)</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4"/>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1 Betalingsbereidheid en individuel">
            <a:extLst xmlns:a="http://schemas.openxmlformats.org/drawingml/2006/main">
              <a:ext uri="{FF2B5EF4-FFF2-40B4-BE49-F238E27FC236}">
                <a16:creationId xmlns:a16="http://schemas.microsoft.com/office/drawing/2014/main" id="{A14D176E-B926-4051-B11F-859F532E7918}"/>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§1.2.1 Betalingsbereidheid en individuele vraag</a:t>
            </a:r>
          </a:p>
        </p:txBody>
      </p:sp>
      <p:sp>
        <p:nvSpPr>
          <p:cNvPr id="2" name="">
            <a:extLst xmlns:a="http://schemas.openxmlformats.org/drawingml/2006/main">
              <a:ext uri="{FF2B5EF4-FFF2-40B4-BE49-F238E27FC236}">
                <a16:creationId xmlns:a16="http://schemas.microsoft.com/office/drawing/2014/main" id="{B300C097-584B-4239-8895-27FA6A0D5CC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29C71445-512C-4F35-BA0B-925E15A9C260}"/>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1">
            <a:extLst xmlns:a="http://schemas.openxmlformats.org/drawingml/2006/main">
              <a:ext uri="{FF2B5EF4-FFF2-40B4-BE49-F238E27FC236}">
                <a16:creationId xmlns:a16="http://schemas.microsoft.com/office/drawing/2014/main" id="{A73632B0-6972-490C-B561-47538D6860EE}"/>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7BA316BA-7176-48E3-B471-B734196D4D52}"/>
              </a:ext>
            </a:extLst>
          </p:cNvPr>
          <p:cNvSpPr>
            <a:spLocks xmlns:a="http://schemas.openxmlformats.org/drawingml/2006/main" noGrp="1"/>
          </p:cNvSpPr>
          <p:nvPr/>
        </p:nvSpPr>
        <p:spPr>
          <a:xfrm xmlns:a="http://schemas.openxmlformats.org/drawingml/2006/main">
            <a:off x="571500" y="1038225"/>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3F30835F-5F31-4B09-B795-20D6555907C0}"/>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F858796D-9FD1-455A-A5AE-94AFA7945AD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F05DEAA1-1180-4E38-9440-763EC3DB2F59}"/>
              </a:ext>
            </a:extLst>
          </p:cNvPr>
          <p:cNvSpPr>
            <a:spLocks xmlns:a="http://schemas.openxmlformats.org/drawingml/2006/main" noGrp="1"/>
          </p:cNvSpPr>
          <p:nvPr/>
        </p:nvSpPr>
        <p:spPr>
          <a:xfrm xmlns:a="http://schemas.openxmlformats.org/drawingml/2006/main">
            <a:off x="1104900" y="2324100"/>
            <a:ext cx="7515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254E32DC-37C1-460A-8619-DF8CE4F92462}"/>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E1620331-2E39-4DCF-B680-361AEF096804}"/>
              </a:ext>
            </a:extLst>
          </p:cNvPr>
          <p:cNvSpPr>
            <a:spLocks xmlns:a="http://schemas.openxmlformats.org/drawingml/2006/main" noGrp="1"/>
          </p:cNvSpPr>
          <p:nvPr/>
        </p:nvSpPr>
        <p:spPr>
          <a:xfrm xmlns:a="http://schemas.openxmlformats.org/drawingml/2006/main">
            <a:off x="1104900" y="320040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96AA92CF-0A26-4994-B270-D8D7A8BA2CA4}"/>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9A2AB4A6-557B-46A2-A37E-F1D46E06EB1E}"/>
              </a:ext>
            </a:extLst>
          </p:cNvPr>
          <p:cNvSpPr>
            <a:spLocks xmlns:a="http://schemas.openxmlformats.org/drawingml/2006/main" noGrp="1"/>
          </p:cNvSpPr>
          <p:nvPr/>
        </p:nvSpPr>
        <p:spPr>
          <a:xfrm xmlns:a="http://schemas.openxmlformats.org/drawingml/2006/main">
            <a:off x="1104900" y="371475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D3015459-84C0-4EAF-9099-1E01657EA4B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43102B40-0C98-46A0-93E8-9B03D130E586}"/>
              </a:ext>
            </a:extLst>
          </p:cNvPr>
          <p:cNvSpPr>
            <a:spLocks xmlns:a="http://schemas.openxmlformats.org/drawingml/2006/main" noGrp="1"/>
          </p:cNvSpPr>
          <p:nvPr/>
        </p:nvSpPr>
        <p:spPr>
          <a:xfrm xmlns:a="http://schemas.openxmlformats.org/drawingml/2006/main">
            <a:off x="1104900" y="4248150"/>
            <a:ext cx="75152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21FF87B8-6F59-44CA-A101-81731444EE19}"/>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39F86FE5-92E6-43AA-BE35-C1F2BDAB95D0}"/>
              </a:ext>
            </a:extLst>
          </p:cNvPr>
          <p:cNvSpPr>
            <a:spLocks xmlns:a="http://schemas.openxmlformats.org/drawingml/2006/main" noGrp="1"/>
          </p:cNvSpPr>
          <p:nvPr/>
        </p:nvSpPr>
        <p:spPr>
          <a:xfrm xmlns:a="http://schemas.openxmlformats.org/drawingml/2006/main">
            <a:off x="1104900" y="6057900"/>
            <a:ext cx="75152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7E34749B-7924-4F72-965B-95621D5AF4D0}"/>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199C8D4B-8D56-41A0-A5AC-24E256930B5D}"/>
              </a:ext>
            </a:extLst>
          </p:cNvPr>
          <p:cNvSpPr>
            <a:spLocks xmlns:a="http://schemas.openxmlformats.org/drawingml/2006/main" noGrp="1"/>
          </p:cNvSpPr>
          <p:nvPr/>
        </p:nvSpPr>
        <p:spPr>
          <a:xfrm xmlns:a="http://schemas.openxmlformats.org/drawingml/2006/main">
            <a:off x="1104900" y="6819900"/>
            <a:ext cx="7515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38F80989-53D6-46EE-ACEF-49F8DD0B1A51}"/>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0716714-2D08-4CCF-B548-B6AA01194908}"/>
              </a:ext>
            </a:extLst>
          </p:cNvPr>
          <p:cNvSpPr>
            <a:spLocks xmlns:a="http://schemas.openxmlformats.org/drawingml/2006/main" noGrp="1"/>
          </p:cNvSpPr>
          <p:nvPr/>
        </p:nvSpPr>
        <p:spPr>
          <a:xfrm xmlns:a="http://schemas.openxmlformats.org/drawingml/2006/main">
            <a:off x="1104900" y="7372350"/>
            <a:ext cx="7515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3654934D-026F-497B-8930-3365A07BADC0}"/>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58E99902-4D08-49D9-A647-BD7A1E504AD7}"/>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Koopkeuzes verklaren.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Rekenen en tekenen met vraag.</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Conclusies begrenzen.</a:t>
            </a:r>
          </a:p>
        </p:txBody>
      </p:sp>
      <p:sp>
        <p:nvSpPr>
          <p:cNvPr id="23" name="">
            <a:extLst xmlns:a="http://schemas.openxmlformats.org/drawingml/2006/main">
              <a:ext uri="{FF2B5EF4-FFF2-40B4-BE49-F238E27FC236}">
                <a16:creationId xmlns:a16="http://schemas.microsoft.com/office/drawing/2014/main" id="{A5643575-A528-4462-9025-E0DEDF1F886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DC1EA5E5-2C5F-4337-BB4E-16FF1A9CC0F8}"/>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8B22C06-F69F-4242-A9A8-0B7EE5DD77D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52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 verkennen, theorie p. 46</a:t>
            </a:r>
          </a:p>
        </p:txBody>
      </p:sp>
      <p:sp>
        <p:nvSpPr>
          <p:cNvPr id="26" name="">
            <a:extLst xmlns:a="http://schemas.openxmlformats.org/drawingml/2006/main">
              <a:ext uri="{FF2B5EF4-FFF2-40B4-BE49-F238E27FC236}">
                <a16:creationId xmlns:a16="http://schemas.microsoft.com/office/drawing/2014/main" id="{81F25E5C-5B57-43D2-AE3F-D991180E87FE}"/>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2495D03-6781-4E8D-8E22-3B8F416B017A}"/>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20D0CD7-6A12-45E1-BDF4-25F7FE26F7C8}"/>
              </a:ext>
            </a:extLst>
          </p:cNvPr>
          <p:cNvSpPr>
            <a:spLocks xmlns:a="http://schemas.openxmlformats.org/drawingml/2006/main" noGrp="1"/>
          </p:cNvSpPr>
          <p:nvPr/>
        </p:nvSpPr>
        <p:spPr>
          <a:xfrm xmlns:a="http://schemas.openxmlformats.org/drawingml/2006/main">
            <a:off x="9258300" y="6248400"/>
            <a:ext cx="5381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§1.2.1 · Opgaven 3 t/m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 · Doel: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4620897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e handelingen van deze les">
            <a:extLst xmlns:a="http://schemas.openxmlformats.org/drawingml/2006/main">
              <a:ext uri="{FF2B5EF4-FFF2-40B4-BE49-F238E27FC236}">
                <a16:creationId xmlns:a16="http://schemas.microsoft.com/office/drawing/2014/main" id="{36AF06E6-2EA6-49F8-86A7-10C8A871B732}"/>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handelingen van deze les</a:t>
            </a:r>
          </a:p>
        </p:txBody>
      </p:sp>
      <p:sp>
        <p:nvSpPr>
          <p:cNvPr id="2" name="">
            <a:extLst xmlns:a="http://schemas.openxmlformats.org/drawingml/2006/main">
              <a:ext uri="{FF2B5EF4-FFF2-40B4-BE49-F238E27FC236}">
                <a16:creationId xmlns:a16="http://schemas.microsoft.com/office/drawing/2014/main" id="{D2CA665C-4C90-487A-AC2E-51C004BDA83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C5489A4E-2B90-4EDB-84C8-19A845288F45}"/>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2">
            <a:extLst xmlns:a="http://schemas.openxmlformats.org/drawingml/2006/main">
              <a:ext uri="{FF2B5EF4-FFF2-40B4-BE49-F238E27FC236}">
                <a16:creationId xmlns:a16="http://schemas.microsoft.com/office/drawing/2014/main" id="{B657EF1D-DA4B-426C-A6CE-F1FF3F7F18A1}"/>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Kiezen">
            <a:extLst xmlns:a="http://schemas.openxmlformats.org/drawingml/2006/main">
              <a:ext uri="{FF2B5EF4-FFF2-40B4-BE49-F238E27FC236}">
                <a16:creationId xmlns:a16="http://schemas.microsoft.com/office/drawing/2014/main" id="{95EBA8C9-E93C-47A4-8C0B-93000BE1E27A}"/>
              </a:ext>
            </a:extLst>
          </p:cNvPr>
          <p:cNvSpPr>
            <a:spLocks xmlns:a="http://schemas.openxmlformats.org/drawingml/2006/main" noGrp="1"/>
          </p:cNvSpPr>
          <p:nvPr/>
        </p:nvSpPr>
        <p:spPr>
          <a:xfrm xmlns:a="http://schemas.openxmlformats.org/drawingml/2006/main">
            <a:off x="571500" y="20859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Kiezen</a:t>
            </a:r>
          </a:p>
        </p:txBody>
      </p:sp>
      <p:sp>
        <p:nvSpPr>
          <p:cNvPr id="6" name="Vergelijk de prijs met de waarde van elke extra ee">
            <a:extLst xmlns:a="http://schemas.openxmlformats.org/drawingml/2006/main">
              <a:ext uri="{FF2B5EF4-FFF2-40B4-BE49-F238E27FC236}">
                <a16:creationId xmlns:a16="http://schemas.microsoft.com/office/drawing/2014/main" id="{017817D9-2727-4237-AFC8-39DC054CF748}"/>
              </a:ext>
            </a:extLst>
          </p:cNvPr>
          <p:cNvSpPr>
            <a:spLocks xmlns:a="http://schemas.openxmlformats.org/drawingml/2006/main" noGrp="1"/>
          </p:cNvSpPr>
          <p:nvPr/>
        </p:nvSpPr>
        <p:spPr>
          <a:xfrm xmlns:a="http://schemas.openxmlformats.org/drawingml/2006/main">
            <a:off x="4095750" y="20859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Vergelijk de prijs met de waarde van elke extra eenheid.</a:t>
            </a:r>
          </a:p>
        </p:txBody>
      </p:sp>
      <p:sp>
        <p:nvSpPr>
          <p:cNvPr id="7" name="Rekenen">
            <a:extLst xmlns:a="http://schemas.openxmlformats.org/drawingml/2006/main">
              <a:ext uri="{FF2B5EF4-FFF2-40B4-BE49-F238E27FC236}">
                <a16:creationId xmlns:a16="http://schemas.microsoft.com/office/drawing/2014/main" id="{47C444BA-AC2B-4EC6-8D16-1DD41BB609C9}"/>
              </a:ext>
            </a:extLst>
          </p:cNvPr>
          <p:cNvSpPr>
            <a:spLocks xmlns:a="http://schemas.openxmlformats.org/drawingml/2006/main" noGrp="1"/>
          </p:cNvSpPr>
          <p:nvPr/>
        </p:nvSpPr>
        <p:spPr>
          <a:xfrm xmlns:a="http://schemas.openxmlformats.org/drawingml/2006/main">
            <a:off x="571500" y="34575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Rekenen</a:t>
            </a:r>
          </a:p>
        </p:txBody>
      </p:sp>
      <p:sp>
        <p:nvSpPr>
          <p:cNvPr id="8" name="Bereken q, reken terug naar P en bepaal snijpunten">
            <a:extLst xmlns:a="http://schemas.openxmlformats.org/drawingml/2006/main">
              <a:ext uri="{FF2B5EF4-FFF2-40B4-BE49-F238E27FC236}">
                <a16:creationId xmlns:a16="http://schemas.microsoft.com/office/drawing/2014/main" id="{B3248A8A-A011-4B4B-9B8F-372680291383}"/>
              </a:ext>
            </a:extLst>
          </p:cNvPr>
          <p:cNvSpPr>
            <a:spLocks xmlns:a="http://schemas.openxmlformats.org/drawingml/2006/main" noGrp="1"/>
          </p:cNvSpPr>
          <p:nvPr/>
        </p:nvSpPr>
        <p:spPr>
          <a:xfrm xmlns:a="http://schemas.openxmlformats.org/drawingml/2006/main">
            <a:off x="4095750" y="34575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q, reken terug naar P en bepaal snijpunten.</a:t>
            </a:r>
          </a:p>
        </p:txBody>
      </p:sp>
      <p:sp>
        <p:nvSpPr>
          <p:cNvPr id="9" name="Tekenen">
            <a:extLst xmlns:a="http://schemas.openxmlformats.org/drawingml/2006/main">
              <a:ext uri="{FF2B5EF4-FFF2-40B4-BE49-F238E27FC236}">
                <a16:creationId xmlns:a16="http://schemas.microsoft.com/office/drawing/2014/main" id="{2AB0FEEC-293F-4B57-9DD5-548F21634307}"/>
              </a:ext>
            </a:extLst>
          </p:cNvPr>
          <p:cNvSpPr>
            <a:spLocks xmlns:a="http://schemas.openxmlformats.org/drawingml/2006/main" noGrp="1"/>
          </p:cNvSpPr>
          <p:nvPr/>
        </p:nvSpPr>
        <p:spPr>
          <a:xfrm xmlns:a="http://schemas.openxmlformats.org/drawingml/2006/main">
            <a:off x="571500" y="48291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Tekenen</a:t>
            </a:r>
          </a:p>
        </p:txBody>
      </p:sp>
      <p:sp>
        <p:nvSpPr>
          <p:cNvPr id="10" name="Zet (q; P) op passende assen en controleer de lijn">
            <a:extLst xmlns:a="http://schemas.openxmlformats.org/drawingml/2006/main">
              <a:ext uri="{FF2B5EF4-FFF2-40B4-BE49-F238E27FC236}">
                <a16:creationId xmlns:a16="http://schemas.microsoft.com/office/drawing/2014/main" id="{86459263-FD0E-47B5-A6FF-0C8CAA75203A}"/>
              </a:ext>
            </a:extLst>
          </p:cNvPr>
          <p:cNvSpPr>
            <a:spLocks xmlns:a="http://schemas.openxmlformats.org/drawingml/2006/main" noGrp="1"/>
          </p:cNvSpPr>
          <p:nvPr/>
        </p:nvSpPr>
        <p:spPr>
          <a:xfrm xmlns:a="http://schemas.openxmlformats.org/drawingml/2006/main">
            <a:off x="4095750" y="48291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Zet (q; P) op passende assen en controleer de lijn.</a:t>
            </a:r>
          </a:p>
        </p:txBody>
      </p:sp>
      <p:sp>
        <p:nvSpPr>
          <p:cNvPr id="11" name="Uitleggen">
            <a:extLst xmlns:a="http://schemas.openxmlformats.org/drawingml/2006/main">
              <a:ext uri="{FF2B5EF4-FFF2-40B4-BE49-F238E27FC236}">
                <a16:creationId xmlns:a16="http://schemas.microsoft.com/office/drawing/2014/main" id="{11032243-7026-4999-8347-F24B9E8F28F5}"/>
              </a:ext>
            </a:extLst>
          </p:cNvPr>
          <p:cNvSpPr>
            <a:spLocks xmlns:a="http://schemas.openxmlformats.org/drawingml/2006/main" noGrp="1"/>
          </p:cNvSpPr>
          <p:nvPr/>
        </p:nvSpPr>
        <p:spPr>
          <a:xfrm xmlns:a="http://schemas.openxmlformats.org/drawingml/2006/main">
            <a:off x="571500" y="62007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Uitleggen</a:t>
            </a:r>
          </a:p>
        </p:txBody>
      </p:sp>
      <p:sp>
        <p:nvSpPr>
          <p:cNvPr id="12" name="Verklaar de prijsreactie en begrens je conclusie.">
            <a:extLst xmlns:a="http://schemas.openxmlformats.org/drawingml/2006/main">
              <a:ext uri="{FF2B5EF4-FFF2-40B4-BE49-F238E27FC236}">
                <a16:creationId xmlns:a16="http://schemas.microsoft.com/office/drawing/2014/main" id="{39A06924-4DCF-4DA2-A0C2-82DAEC3AFC4D}"/>
              </a:ext>
            </a:extLst>
          </p:cNvPr>
          <p:cNvSpPr>
            <a:spLocks xmlns:a="http://schemas.openxmlformats.org/drawingml/2006/main" noGrp="1"/>
          </p:cNvSpPr>
          <p:nvPr/>
        </p:nvSpPr>
        <p:spPr>
          <a:xfrm xmlns:a="http://schemas.openxmlformats.org/drawingml/2006/main">
            <a:off x="4095750" y="62007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Verklaar de prijsreactie en begrens je conclusie.</a:t>
            </a:r>
          </a:p>
        </p:txBody>
      </p:sp>
    </p:spTree>
    <p:extLst>
      <p:ext uri="{BB962C8B-B14F-4D97-AF65-F5344CB8AC3E}">
        <p14:creationId xmlns:p14="http://schemas.microsoft.com/office/powerpoint/2010/main" val="2970478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Invullen en terugrekenen">
            <a:extLst xmlns:a="http://schemas.openxmlformats.org/drawingml/2006/main">
              <a:ext uri="{FF2B5EF4-FFF2-40B4-BE49-F238E27FC236}">
                <a16:creationId xmlns:a16="http://schemas.microsoft.com/office/drawing/2014/main" id="{A9C71F59-E8BE-45FD-9DD2-977CE6DA8F60}"/>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Invullen en terugrekenen</a:t>
            </a:r>
          </a:p>
        </p:txBody>
      </p:sp>
      <p:sp>
        <p:nvSpPr>
          <p:cNvPr id="2" name="">
            <a:extLst xmlns:a="http://schemas.openxmlformats.org/drawingml/2006/main">
              <a:ext uri="{FF2B5EF4-FFF2-40B4-BE49-F238E27FC236}">
                <a16:creationId xmlns:a16="http://schemas.microsoft.com/office/drawing/2014/main" id="{8FEA1337-6C08-456A-A2CB-DCD6C28E6BB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433CC715-971A-4612-8AF2-9C066A37F43E}"/>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3">
            <a:extLst xmlns:a="http://schemas.openxmlformats.org/drawingml/2006/main">
              <a:ext uri="{FF2B5EF4-FFF2-40B4-BE49-F238E27FC236}">
                <a16:creationId xmlns:a16="http://schemas.microsoft.com/office/drawing/2014/main" id="{DE55306C-D065-4CFE-9AD4-06424B6E2561}"/>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615DBAFD-9572-4AA5-B4D0-51A52893ED29}"/>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Materiaalhuur: T = 7 + 3n">
            <a:extLst xmlns:a="http://schemas.openxmlformats.org/drawingml/2006/main">
              <a:ext uri="{FF2B5EF4-FFF2-40B4-BE49-F238E27FC236}">
                <a16:creationId xmlns:a16="http://schemas.microsoft.com/office/drawing/2014/main" id="{728E8724-DAFD-47EB-8A0E-CD89F01DBB0A}"/>
              </a:ext>
            </a:extLst>
          </p:cNvPr>
          <p:cNvSpPr>
            <a:spLocks xmlns:a="http://schemas.openxmlformats.org/drawingml/2006/main" noGrp="1"/>
          </p:cNvSpPr>
          <p:nvPr/>
        </p:nvSpPr>
        <p:spPr>
          <a:xfrm xmlns:a="http://schemas.openxmlformats.org/drawingml/2006/main">
            <a:off x="571500" y="240982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Materiaalhuur: T = 7 + 3n</a:t>
            </a:r>
          </a:p>
        </p:txBody>
      </p:sp>
      <p:sp>
        <p:nvSpPr>
          <p:cNvPr id="7" name="n = 5 materialen">
            <a:extLst xmlns:a="http://schemas.openxmlformats.org/drawingml/2006/main">
              <a:ext uri="{FF2B5EF4-FFF2-40B4-BE49-F238E27FC236}">
                <a16:creationId xmlns:a16="http://schemas.microsoft.com/office/drawing/2014/main" id="{6CCC2B68-25D4-406D-A627-B5F37A49BE00}"/>
              </a:ext>
            </a:extLst>
          </p:cNvPr>
          <p:cNvSpPr>
            <a:spLocks xmlns:a="http://schemas.openxmlformats.org/drawingml/2006/main" noGrp="1"/>
          </p:cNvSpPr>
          <p:nvPr/>
        </p:nvSpPr>
        <p:spPr>
          <a:xfrm xmlns:a="http://schemas.openxmlformats.org/drawingml/2006/main">
            <a:off x="571500" y="34956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n = 5 materialen</a:t>
            </a:r>
          </a:p>
        </p:txBody>
      </p:sp>
      <p:sp>
        <p:nvSpPr>
          <p:cNvPr id="8" name="T = 7 + 3 × 5&#10;T = € 22">
            <a:extLst xmlns:a="http://schemas.openxmlformats.org/drawingml/2006/main">
              <a:ext uri="{FF2B5EF4-FFF2-40B4-BE49-F238E27FC236}">
                <a16:creationId xmlns:a16="http://schemas.microsoft.com/office/drawing/2014/main" id="{35124606-6E4B-4AF2-8FBF-048FB9E22554}"/>
              </a:ext>
            </a:extLst>
          </p:cNvPr>
          <p:cNvSpPr>
            <a:spLocks xmlns:a="http://schemas.openxmlformats.org/drawingml/2006/main" noGrp="1"/>
          </p:cNvSpPr>
          <p:nvPr/>
        </p:nvSpPr>
        <p:spPr>
          <a:xfrm xmlns:a="http://schemas.openxmlformats.org/drawingml/2006/main">
            <a:off x="571500" y="4286250"/>
            <a:ext cx="6191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T = 7 + 3 × 5</a:t>
            </a:r>
          </a:p>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T = € 22</a:t>
            </a:r>
          </a:p>
        </p:txBody>
      </p:sp>
      <p:sp>
        <p:nvSpPr>
          <p:cNvPr id="9" name="T = € 31">
            <a:extLst xmlns:a="http://schemas.openxmlformats.org/drawingml/2006/main">
              <a:ext uri="{FF2B5EF4-FFF2-40B4-BE49-F238E27FC236}">
                <a16:creationId xmlns:a16="http://schemas.microsoft.com/office/drawing/2014/main" id="{6AD7030F-67B1-47AF-A927-01E6504B913B}"/>
              </a:ext>
            </a:extLst>
          </p:cNvPr>
          <p:cNvSpPr>
            <a:spLocks xmlns:a="http://schemas.openxmlformats.org/drawingml/2006/main" noGrp="1"/>
          </p:cNvSpPr>
          <p:nvPr/>
        </p:nvSpPr>
        <p:spPr>
          <a:xfrm xmlns:a="http://schemas.openxmlformats.org/drawingml/2006/main">
            <a:off x="7953375" y="3495675"/>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T = € 31</a:t>
            </a:r>
          </a:p>
        </p:txBody>
      </p:sp>
      <p:sp>
        <p:nvSpPr>
          <p:cNvPr id="10" name="31 = 7 + 3n&#10;24 = 3n      (beide kanten −7)&#10;n = 8  ">
            <a:extLst xmlns:a="http://schemas.openxmlformats.org/drawingml/2006/main">
              <a:ext uri="{FF2B5EF4-FFF2-40B4-BE49-F238E27FC236}">
                <a16:creationId xmlns:a16="http://schemas.microsoft.com/office/drawing/2014/main" id="{DCE5DB5A-1663-4932-8F95-5DC30953307C}"/>
              </a:ext>
            </a:extLst>
          </p:cNvPr>
          <p:cNvSpPr>
            <a:spLocks xmlns:a="http://schemas.openxmlformats.org/drawingml/2006/main" noGrp="1"/>
          </p:cNvSpPr>
          <p:nvPr/>
        </p:nvSpPr>
        <p:spPr>
          <a:xfrm xmlns:a="http://schemas.openxmlformats.org/drawingml/2006/main">
            <a:off x="7953375" y="4286250"/>
            <a:ext cx="6572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31 = 7 + 3n</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24 = 3n      (beide kanten −7)</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n = 8          (beide kanten ÷3)</a:t>
            </a:r>
          </a:p>
        </p:txBody>
      </p:sp>
      <p:sp>
        <p:nvSpPr>
          <p:cNvPr id="11" name="Controle: 7 + 3 × 8 = € 31">
            <a:extLst xmlns:a="http://schemas.openxmlformats.org/drawingml/2006/main">
              <a:ext uri="{FF2B5EF4-FFF2-40B4-BE49-F238E27FC236}">
                <a16:creationId xmlns:a16="http://schemas.microsoft.com/office/drawing/2014/main" id="{BECA58E2-5200-4456-8805-708BF7AB68BA}"/>
              </a:ext>
            </a:extLst>
          </p:cNvPr>
          <p:cNvSpPr>
            <a:spLocks xmlns:a="http://schemas.openxmlformats.org/drawingml/2006/main" noGrp="1"/>
          </p:cNvSpPr>
          <p:nvPr/>
        </p:nvSpPr>
        <p:spPr>
          <a:xfrm xmlns:a="http://schemas.openxmlformats.org/drawingml/2006/main">
            <a:off x="571500" y="71247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Controle: 7 + 3 × 8 = € 31</a:t>
            </a:r>
          </a:p>
        </p:txBody>
      </p:sp>
    </p:spTree>
    <p:extLst>
      <p:ext uri="{BB962C8B-B14F-4D97-AF65-F5344CB8AC3E}">
        <p14:creationId xmlns:p14="http://schemas.microsoft.com/office/powerpoint/2010/main" val="17309366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etalingsbereidheid per extra eenheid">
            <a:extLst xmlns:a="http://schemas.openxmlformats.org/drawingml/2006/main">
              <a:ext uri="{FF2B5EF4-FFF2-40B4-BE49-F238E27FC236}">
                <a16:creationId xmlns:a16="http://schemas.microsoft.com/office/drawing/2014/main" id="{23EDC8C3-BDC5-491C-B716-85BA94832911}"/>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Betalingsbereidheid per extra eenheid</a:t>
            </a:r>
          </a:p>
        </p:txBody>
      </p:sp>
      <p:sp>
        <p:nvSpPr>
          <p:cNvPr id="2" name="">
            <a:extLst xmlns:a="http://schemas.openxmlformats.org/drawingml/2006/main">
              <a:ext uri="{FF2B5EF4-FFF2-40B4-BE49-F238E27FC236}">
                <a16:creationId xmlns:a16="http://schemas.microsoft.com/office/drawing/2014/main" id="{4410F01D-A157-48B0-9B0C-4BE9AA6EA48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D0B2BC05-7A28-41EA-B142-A589B618A73F}"/>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4">
            <a:extLst xmlns:a="http://schemas.openxmlformats.org/drawingml/2006/main">
              <a:ext uri="{FF2B5EF4-FFF2-40B4-BE49-F238E27FC236}">
                <a16:creationId xmlns:a16="http://schemas.microsoft.com/office/drawing/2014/main" id="{D7E86CBE-1F75-4DA8-9B71-9E56C854BA62}"/>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A6787103-0F3D-4CB3-8121-8B5487150AE6}"/>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Lotte koopt zakjes bloemenzaad. De prijs is € 6 pe">
            <a:extLst xmlns:a="http://schemas.openxmlformats.org/drawingml/2006/main">
              <a:ext uri="{FF2B5EF4-FFF2-40B4-BE49-F238E27FC236}">
                <a16:creationId xmlns:a16="http://schemas.microsoft.com/office/drawing/2014/main" id="{D66EC03E-AF9C-4E7F-A4E0-E5DE78E8F1C9}"/>
              </a:ext>
            </a:extLst>
          </p:cNvPr>
          <p:cNvSpPr>
            <a:spLocks xmlns:a="http://schemas.openxmlformats.org/drawingml/2006/main" noGrp="1"/>
          </p:cNvSpPr>
          <p:nvPr/>
        </p:nvSpPr>
        <p:spPr>
          <a:xfrm xmlns:a="http://schemas.openxmlformats.org/drawingml/2006/main">
            <a:off x="571500" y="2409825"/>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Lotte koopt zakjes bloemenzaad. De prijs is € 6 per zakje.</a:t>
            </a:r>
          </a:p>
        </p:txBody>
      </p:sp>
      <p:graphicFrame>
        <p:nvGraphicFramePr>
          <p:cNvPr id="16" name=""/>
          <p:cNvGraphicFramePr/>
          <p:nvPr/>
        </p:nvGraphicFramePr>
        <p:xfrm>
          <a:off xmlns:a="http://schemas.openxmlformats.org/drawingml/2006/main" x="571500" y="3695700"/>
          <a:ext xmlns:a="http://schemas.openxmlformats.org/drawingml/2006/main" cx="14097000" cy="2428875"/>
        </p:xfrm>
        <a:graphic xmlns:a="http://schemas.openxmlformats.org/drawingml/2006/main">
          <a:graphicData uri="http://schemas.openxmlformats.org/drawingml/2006/table">
            <a:tbl>
              <a:tblPr/>
              <a:tblGrid>
                <a:gridCol w="4667250"/>
                <a:gridCol w="2352675"/>
                <a:gridCol w="2352675"/>
                <a:gridCol w="2362200"/>
                <a:gridCol w="2362200"/>
              </a:tblGrid>
              <a:tr h="809625">
                <a:tc>
                  <a:txBody>
                    <a:bodyPr lIns="171450" tIns="95250" rIns="152400" bIns="95250"/>
                    <a:lstStyle/>
                    <a:p>
                      <a:r>
                        <a:rPr sz="2550" b="1">
                          <a:solidFill>
                            <a:srgbClr val="FFFFFF"/>
                          </a:solidFill>
                          <a:latin typeface="Arial"/>
                          <a:ea typeface="Arial"/>
                          <a:cs typeface="Arial"/>
                        </a:rPr>
                        <a:t>Extra zakje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1e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2e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3e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4e</a:t>
                      </a:r>
                    </a:p>
                  </a:txBody>
                  <a:tcPr marL="91440" marR="91440" marT="45720" marB="45720" anchor="ctr">
                    <a:solidFill>
                      <a:srgbClr val="183247"/>
                    </a:solidFill>
                  </a:tcPr>
                </a:tc>
              </a:tr>
              <a:tr h="809625">
                <a:tc>
                  <a:txBody>
                    <a:bodyPr lIns="171450" tIns="95250" rIns="152400" bIns="95250"/>
                    <a:lstStyle/>
                    <a:p>
                      <a:r>
                        <a:rPr sz="2550" b="0">
                          <a:solidFill>
                            <a:srgbClr val="183247"/>
                          </a:solidFill>
                          <a:latin typeface="Arial"/>
                          <a:ea typeface="Arial"/>
                          <a:cs typeface="Arial"/>
                        </a:rPr>
                        <a:t>Maximaal over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€ 11</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€ 8</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€ 6</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€ 3</a:t>
                      </a:r>
                    </a:p>
                  </a:txBody>
                  <a:tcPr marL="91440" marR="91440" marT="45720" marB="45720" anchor="ctr">
                    <a:solidFill>
                      <a:srgbClr val="FFFFFF"/>
                    </a:solidFill>
                  </a:tcPr>
                </a:tc>
              </a:tr>
              <a:tr h="809625">
                <a:tc>
                  <a:txBody>
                    <a:bodyPr lIns="171450" tIns="95250" rIns="152400" bIns="95250"/>
                    <a:lstStyle/>
                    <a:p>
                      <a:r>
                        <a:rPr sz="2550" b="0">
                          <a:solidFill>
                            <a:srgbClr val="183247"/>
                          </a:solidFill>
                          <a:latin typeface="Arial"/>
                          <a:ea typeface="Arial"/>
                          <a:cs typeface="Arial"/>
                        </a:rPr>
                        <a:t>Koopt bij € 6?</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Ja</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Ja</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Ja</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Nee</a:t>
                      </a:r>
                    </a:p>
                  </a:txBody>
                  <a:tcPr marL="91440" marR="91440" marT="45720" marB="45720" anchor="ctr">
                    <a:solidFill>
                      <a:srgbClr val="EFF4F7"/>
                    </a:solidFill>
                  </a:tcPr>
                </a:tc>
              </a:tr>
            </a:tbl>
          </a:graphicData>
        </a:graphic>
      </p:graphicFrame>
      <p:sp>
        <p:nvSpPr>
          <p:cNvPr id="8" name="Waarde ≥ prijs → kopen">
            <a:extLst xmlns:a="http://schemas.openxmlformats.org/drawingml/2006/main">
              <a:ext uri="{FF2B5EF4-FFF2-40B4-BE49-F238E27FC236}">
                <a16:creationId xmlns:a16="http://schemas.microsoft.com/office/drawing/2014/main" id="{A0B31E79-C73C-4508-9C35-8B8C78534744}"/>
              </a:ext>
            </a:extLst>
          </p:cNvPr>
          <p:cNvSpPr>
            <a:spLocks xmlns:a="http://schemas.openxmlformats.org/drawingml/2006/main" noGrp="1"/>
          </p:cNvSpPr>
          <p:nvPr/>
        </p:nvSpPr>
        <p:spPr>
          <a:xfrm xmlns:a="http://schemas.openxmlformats.org/drawingml/2006/main">
            <a:off x="571500" y="6629400"/>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0665B"/>
                </a:solidFill>
                <a:latin typeface="Arial"/>
                <a:ea typeface="Arial"/>
                <a:cs typeface="Arial"/>
              </a:defRPr>
            </a:pPr>
            <a:r>
              <a:rPr sz="3450" b="1">
                <a:solidFill>
                  <a:srgbClr val="20665B"/>
                </a:solidFill>
                <a:latin typeface="Arial"/>
                <a:ea typeface="Arial"/>
                <a:cs typeface="Arial"/>
              </a:rPr>
              <a:t>Waarde ≥ prijs → kopen</a:t>
            </a:r>
          </a:p>
        </p:txBody>
      </p:sp>
      <p:sp>
        <p:nvSpPr>
          <p:cNvPr id="9" name="Voldoende budget en verkrijgbaar; bij gelijkheid k">
            <a:extLst xmlns:a="http://schemas.openxmlformats.org/drawingml/2006/main">
              <a:ext uri="{FF2B5EF4-FFF2-40B4-BE49-F238E27FC236}">
                <a16:creationId xmlns:a16="http://schemas.microsoft.com/office/drawing/2014/main" id="{025A9CD7-8DBA-4436-87B2-D79EEEE88701}"/>
              </a:ext>
            </a:extLst>
          </p:cNvPr>
          <p:cNvSpPr>
            <a:spLocks xmlns:a="http://schemas.openxmlformats.org/drawingml/2006/main" noGrp="1"/>
          </p:cNvSpPr>
          <p:nvPr/>
        </p:nvSpPr>
        <p:spPr>
          <a:xfrm xmlns:a="http://schemas.openxmlformats.org/drawingml/2006/main">
            <a:off x="571500" y="7429500"/>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Voldoende budget en verkrijgbaar; bij gelijkheid koopt zij ook.</a:t>
            </a:r>
          </a:p>
        </p:txBody>
      </p:sp>
    </p:spTree>
    <p:extLst>
      <p:ext uri="{BB962C8B-B14F-4D97-AF65-F5344CB8AC3E}">
        <p14:creationId xmlns:p14="http://schemas.microsoft.com/office/powerpoint/2010/main" val="9953911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ndere prijs, dezelfde betalingsbereidheid">
            <a:extLst xmlns:a="http://schemas.openxmlformats.org/drawingml/2006/main">
              <a:ext uri="{FF2B5EF4-FFF2-40B4-BE49-F238E27FC236}">
                <a16:creationId xmlns:a16="http://schemas.microsoft.com/office/drawing/2014/main" id="{F31D19F5-E3EE-4FB8-BC32-987F81E2D3FC}"/>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Andere prijs, dezelfde betalingsbereidheid</a:t>
            </a:r>
          </a:p>
        </p:txBody>
      </p:sp>
      <p:sp>
        <p:nvSpPr>
          <p:cNvPr id="2" name="">
            <a:extLst xmlns:a="http://schemas.openxmlformats.org/drawingml/2006/main">
              <a:ext uri="{FF2B5EF4-FFF2-40B4-BE49-F238E27FC236}">
                <a16:creationId xmlns:a16="http://schemas.microsoft.com/office/drawing/2014/main" id="{24943B92-0246-4210-B9CB-A09DF8CEF3C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6D260DE3-36A3-4EF7-B141-B011E10BD29B}"/>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5">
            <a:extLst xmlns:a="http://schemas.openxmlformats.org/drawingml/2006/main">
              <a:ext uri="{FF2B5EF4-FFF2-40B4-BE49-F238E27FC236}">
                <a16:creationId xmlns:a16="http://schemas.microsoft.com/office/drawing/2014/main" id="{0A7AEA21-B618-4518-94F3-E026DB62FDF3}"/>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C06090F1-EBF3-4320-9E9B-AEB9D8BC6474}"/>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609850"/>
          <a:ext xmlns:a="http://schemas.openxmlformats.org/drawingml/2006/main" cx="14097000" cy="2667000"/>
        </p:xfrm>
        <a:graphic xmlns:a="http://schemas.openxmlformats.org/drawingml/2006/main">
          <a:graphicData uri="http://schemas.openxmlformats.org/drawingml/2006/table">
            <a:tbl>
              <a:tblPr/>
              <a:tblGrid>
                <a:gridCol w="3476625"/>
                <a:gridCol w="3619500"/>
                <a:gridCol w="7000875"/>
              </a:tblGrid>
              <a:tr h="889000">
                <a:tc>
                  <a:txBody>
                    <a:bodyPr lIns="171450" tIns="95250" rIns="152400" bIns="95250"/>
                    <a:lstStyle/>
                    <a:p>
                      <a:r>
                        <a:rPr sz="2550" b="1">
                          <a:solidFill>
                            <a:srgbClr val="FFFFFF"/>
                          </a:solidFill>
                          <a:latin typeface="Arial"/>
                          <a:ea typeface="Arial"/>
                          <a:cs typeface="Arial"/>
                        </a:rPr>
                        <a:t>Prijs per zakje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Gekocht door Lotte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Reden</a:t>
                      </a:r>
                    </a:p>
                  </a:txBody>
                  <a:tcPr marL="91440" marR="91440" marT="45720" marB="45720" anchor="ctr">
                    <a:solidFill>
                      <a:srgbClr val="183247"/>
                    </a:solidFill>
                  </a:tcPr>
                </a:tc>
              </a:tr>
              <a:tr h="889000">
                <a:tc>
                  <a:txBody>
                    <a:bodyPr lIns="171450" tIns="95250" rIns="152400" bIns="95250"/>
                    <a:lstStyle/>
                    <a:p>
                      <a:r>
                        <a:rPr sz="2550" b="0">
                          <a:solidFill>
                            <a:srgbClr val="183247"/>
                          </a:solidFill>
                          <a:latin typeface="Arial"/>
                          <a:ea typeface="Arial"/>
                          <a:cs typeface="Arial"/>
                        </a:rPr>
                        <a:t>€ 9</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 zakje</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Alleen € 11 is minstens € 9.</a:t>
                      </a:r>
                    </a:p>
                  </a:txBody>
                  <a:tcPr marL="91440" marR="91440" marT="45720" marB="45720" anchor="ctr">
                    <a:solidFill>
                      <a:srgbClr val="FFFFFF"/>
                    </a:solidFill>
                  </a:tcPr>
                </a:tc>
              </a:tr>
              <a:tr h="889000">
                <a:tc>
                  <a:txBody>
                    <a:bodyPr lIns="171450" tIns="95250" rIns="152400" bIns="95250"/>
                    <a:lstStyle/>
                    <a:p>
                      <a:r>
                        <a:rPr sz="2550" b="0">
                          <a:solidFill>
                            <a:srgbClr val="183247"/>
                          </a:solidFill>
                          <a:latin typeface="Arial"/>
                          <a:ea typeface="Arial"/>
                          <a:cs typeface="Arial"/>
                        </a:rPr>
                        <a:t>€ 6</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3 zakjes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€ 11, € 8 en € 6 zijn minstens € 6.</a:t>
                      </a:r>
                    </a:p>
                  </a:txBody>
                  <a:tcPr marL="91440" marR="91440" marT="45720" marB="45720" anchor="ctr">
                    <a:solidFill>
                      <a:srgbClr val="EFF4F7"/>
                    </a:solidFill>
                  </a:tcPr>
                </a:tc>
              </a:tr>
            </a:tbl>
          </a:graphicData>
        </a:graphic>
      </p:graphicFrame>
      <p:sp>
        <p:nvSpPr>
          <p:cNvPr id="7" name="De prijs verandert; de vier waarden blijven € 11, ">
            <a:extLst xmlns:a="http://schemas.openxmlformats.org/drawingml/2006/main">
              <a:ext uri="{FF2B5EF4-FFF2-40B4-BE49-F238E27FC236}">
                <a16:creationId xmlns:a16="http://schemas.microsoft.com/office/drawing/2014/main" id="{EABF6539-30F5-402F-8DD6-311D7BDAD7FE}"/>
              </a:ext>
            </a:extLst>
          </p:cNvPr>
          <p:cNvSpPr>
            <a:spLocks xmlns:a="http://schemas.openxmlformats.org/drawingml/2006/main" noGrp="1"/>
          </p:cNvSpPr>
          <p:nvPr/>
        </p:nvSpPr>
        <p:spPr>
          <a:xfrm xmlns:a="http://schemas.openxmlformats.org/drawingml/2006/main">
            <a:off x="571500" y="5876925"/>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De prijs verandert; de vier waarden blijven € 11, € 8, € 6 en € 3.</a:t>
            </a:r>
          </a:p>
        </p:txBody>
      </p:sp>
      <p:sp>
        <p:nvSpPr>
          <p:cNvPr id="8" name="Bij € 6: voordeel = (11 − 6) + (8 − 6) + (6 − 6) =">
            <a:extLst xmlns:a="http://schemas.openxmlformats.org/drawingml/2006/main">
              <a:ext uri="{FF2B5EF4-FFF2-40B4-BE49-F238E27FC236}">
                <a16:creationId xmlns:a16="http://schemas.microsoft.com/office/drawing/2014/main" id="{A3AD2F13-224E-483A-AD4D-05BEF7C016B3}"/>
              </a:ext>
            </a:extLst>
          </p:cNvPr>
          <p:cNvSpPr>
            <a:spLocks xmlns:a="http://schemas.openxmlformats.org/drawingml/2006/main" noGrp="1"/>
          </p:cNvSpPr>
          <p:nvPr/>
        </p:nvSpPr>
        <p:spPr>
          <a:xfrm xmlns:a="http://schemas.openxmlformats.org/drawingml/2006/main">
            <a:off x="571500" y="7191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€ 6: voordeel = (11 − 6) + (8 − 6) + (6 − 6) = € 7</a:t>
            </a:r>
          </a:p>
        </p:txBody>
      </p:sp>
    </p:spTree>
    <p:extLst>
      <p:ext uri="{BB962C8B-B14F-4D97-AF65-F5344CB8AC3E}">
        <p14:creationId xmlns:p14="http://schemas.microsoft.com/office/powerpoint/2010/main" val="7792081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en afzonderlijk lineair vraagmodel">
            <a:extLst xmlns:a="http://schemas.openxmlformats.org/drawingml/2006/main">
              <a:ext uri="{FF2B5EF4-FFF2-40B4-BE49-F238E27FC236}">
                <a16:creationId xmlns:a16="http://schemas.microsoft.com/office/drawing/2014/main" id="{F6C07952-6ECE-4B7C-9CBD-8DF9411A9680}"/>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afzonderlijk lineair vraagmodel</a:t>
            </a:r>
          </a:p>
        </p:txBody>
      </p:sp>
      <p:sp>
        <p:nvSpPr>
          <p:cNvPr id="2" name="">
            <a:extLst xmlns:a="http://schemas.openxmlformats.org/drawingml/2006/main">
              <a:ext uri="{FF2B5EF4-FFF2-40B4-BE49-F238E27FC236}">
                <a16:creationId xmlns:a16="http://schemas.microsoft.com/office/drawing/2014/main" id="{153424BE-E188-46DF-9B54-D96EAB83896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2EE11631-DC56-4641-ABE6-14DEB6CA9315}"/>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6">
            <a:extLst xmlns:a="http://schemas.openxmlformats.org/drawingml/2006/main">
              <a:ext uri="{FF2B5EF4-FFF2-40B4-BE49-F238E27FC236}">
                <a16:creationId xmlns:a16="http://schemas.microsoft.com/office/drawing/2014/main" id="{905CA36E-F356-4035-AFB3-F92D5138935C}"/>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CBD06A9C-4F4D-4244-A374-F7493B92DA33}"/>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Samira koopt losse thee">
            <a:extLst xmlns:a="http://schemas.openxmlformats.org/drawingml/2006/main">
              <a:ext uri="{FF2B5EF4-FFF2-40B4-BE49-F238E27FC236}">
                <a16:creationId xmlns:a16="http://schemas.microsoft.com/office/drawing/2014/main" id="{7C7CDBE4-A6C3-4248-B9AD-F972FEDE98A5}"/>
              </a:ext>
            </a:extLst>
          </p:cNvPr>
          <p:cNvSpPr>
            <a:spLocks xmlns:a="http://schemas.openxmlformats.org/drawingml/2006/main" noGrp="1"/>
          </p:cNvSpPr>
          <p:nvPr/>
        </p:nvSpPr>
        <p:spPr>
          <a:xfrm xmlns:a="http://schemas.openxmlformats.org/drawingml/2006/main">
            <a:off x="571500" y="243840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Samira koopt losse thee</a:t>
            </a:r>
          </a:p>
        </p:txBody>
      </p:sp>
      <p:sp>
        <p:nvSpPr>
          <p:cNvPr id="7" name="q = 24 − 3P">
            <a:extLst xmlns:a="http://schemas.openxmlformats.org/drawingml/2006/main">
              <a:ext uri="{FF2B5EF4-FFF2-40B4-BE49-F238E27FC236}">
                <a16:creationId xmlns:a16="http://schemas.microsoft.com/office/drawing/2014/main" id="{265F60C2-06F2-4176-B5FD-3D2A985EB5BB}"/>
              </a:ext>
            </a:extLst>
          </p:cNvPr>
          <p:cNvSpPr>
            <a:spLocks xmlns:a="http://schemas.openxmlformats.org/drawingml/2006/main" noGrp="1"/>
          </p:cNvSpPr>
          <p:nvPr/>
        </p:nvSpPr>
        <p:spPr>
          <a:xfrm xmlns:a="http://schemas.openxmlformats.org/drawingml/2006/main">
            <a:off x="571500" y="3571875"/>
            <a:ext cx="742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7658A"/>
                </a:solidFill>
                <a:latin typeface="Arial"/>
                <a:ea typeface="Arial"/>
                <a:cs typeface="Arial"/>
              </a:defRPr>
            </a:pPr>
            <a:r>
              <a:rPr sz="4800" b="1">
                <a:solidFill>
                  <a:srgbClr val="17658A"/>
                </a:solidFill>
                <a:latin typeface="Arial"/>
                <a:ea typeface="Arial"/>
                <a:cs typeface="Arial"/>
              </a:rPr>
              <a:t>q = 24 − 3P</a:t>
            </a:r>
          </a:p>
        </p:txBody>
      </p:sp>
      <p:sp>
        <p:nvSpPr>
          <p:cNvPr id="8" name="q: thee in ons per maand&#10;P: euro per ons">
            <a:extLst xmlns:a="http://schemas.openxmlformats.org/drawingml/2006/main">
              <a:ext uri="{FF2B5EF4-FFF2-40B4-BE49-F238E27FC236}">
                <a16:creationId xmlns:a16="http://schemas.microsoft.com/office/drawing/2014/main" id="{68C5ED7F-049C-4E57-8FBF-4775C26B5207}"/>
              </a:ext>
            </a:extLst>
          </p:cNvPr>
          <p:cNvSpPr>
            <a:spLocks xmlns:a="http://schemas.openxmlformats.org/drawingml/2006/main" noGrp="1"/>
          </p:cNvSpPr>
          <p:nvPr/>
        </p:nvSpPr>
        <p:spPr>
          <a:xfrm xmlns:a="http://schemas.openxmlformats.org/drawingml/2006/main">
            <a:off x="8477250" y="3590925"/>
            <a:ext cx="6000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q: thee in ons per maand</a:t>
            </a:r>
          </a:p>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P: euro per ons</a:t>
            </a:r>
          </a:p>
        </p:txBody>
      </p:sp>
      <p:sp>
        <p:nvSpPr>
          <p:cNvPr id="9" name="0 ≤ P ≤ 8    en    0 ≤ q ≤ 24">
            <a:extLst xmlns:a="http://schemas.openxmlformats.org/drawingml/2006/main">
              <a:ext uri="{FF2B5EF4-FFF2-40B4-BE49-F238E27FC236}">
                <a16:creationId xmlns:a16="http://schemas.microsoft.com/office/drawing/2014/main" id="{27F4D5FF-BA41-478B-AACD-33B391DA59C5}"/>
              </a:ext>
            </a:extLst>
          </p:cNvPr>
          <p:cNvSpPr>
            <a:spLocks xmlns:a="http://schemas.openxmlformats.org/drawingml/2006/main" noGrp="1"/>
          </p:cNvSpPr>
          <p:nvPr/>
        </p:nvSpPr>
        <p:spPr>
          <a:xfrm xmlns:a="http://schemas.openxmlformats.org/drawingml/2006/main">
            <a:off x="571500" y="51816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0 ≤ P ≤ 8    en    0 ≤ q ≤ 24</a:t>
            </a:r>
          </a:p>
        </p:txBody>
      </p:sp>
      <p:sp>
        <p:nvSpPr>
          <p:cNvPr id="10" name="Eén koper · overige omstandigheden gelijk (ceteris">
            <a:extLst xmlns:a="http://schemas.openxmlformats.org/drawingml/2006/main">
              <a:ext uri="{FF2B5EF4-FFF2-40B4-BE49-F238E27FC236}">
                <a16:creationId xmlns:a16="http://schemas.microsoft.com/office/drawing/2014/main" id="{5A28A3C1-1BD9-4DE1-B149-910F60425B97}"/>
              </a:ext>
            </a:extLst>
          </p:cNvPr>
          <p:cNvSpPr>
            <a:spLocks xmlns:a="http://schemas.openxmlformats.org/drawingml/2006/main" noGrp="1"/>
          </p:cNvSpPr>
          <p:nvPr/>
        </p:nvSpPr>
        <p:spPr>
          <a:xfrm xmlns:a="http://schemas.openxmlformats.org/drawingml/2006/main">
            <a:off x="571500" y="6400800"/>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Eén koper · overige omstandigheden gelijk (ceteris paribus)</a:t>
            </a:r>
          </a:p>
        </p:txBody>
      </p:sp>
    </p:spTree>
    <p:extLst>
      <p:ext uri="{BB962C8B-B14F-4D97-AF65-F5344CB8AC3E}">
        <p14:creationId xmlns:p14="http://schemas.microsoft.com/office/powerpoint/2010/main" val="10227382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oeveelheid bij een gegeven prijs">
            <a:extLst xmlns:a="http://schemas.openxmlformats.org/drawingml/2006/main">
              <a:ext uri="{FF2B5EF4-FFF2-40B4-BE49-F238E27FC236}">
                <a16:creationId xmlns:a16="http://schemas.microsoft.com/office/drawing/2014/main" id="{FB9477E2-B0F6-4480-A670-E63C77BC11F9}"/>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Hoeveelheid bij een gegeven prijs</a:t>
            </a:r>
          </a:p>
        </p:txBody>
      </p:sp>
      <p:sp>
        <p:nvSpPr>
          <p:cNvPr id="2" name="">
            <a:extLst xmlns:a="http://schemas.openxmlformats.org/drawingml/2006/main">
              <a:ext uri="{FF2B5EF4-FFF2-40B4-BE49-F238E27FC236}">
                <a16:creationId xmlns:a16="http://schemas.microsoft.com/office/drawing/2014/main" id="{11D321D9-81DA-400B-8F8C-2C09124CDFB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1E56D358-F84D-40ED-AB94-7932DEB91017}"/>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7">
            <a:extLst xmlns:a="http://schemas.openxmlformats.org/drawingml/2006/main">
              <a:ext uri="{FF2B5EF4-FFF2-40B4-BE49-F238E27FC236}">
                <a16:creationId xmlns:a16="http://schemas.microsoft.com/office/drawing/2014/main" id="{74D1283C-230E-4B05-9199-D571BB3BEF4D}"/>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F358D61D-5433-4FC7-8CDE-068D7C7DBA9D}"/>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Samira: q = 24 − 3P">
            <a:extLst xmlns:a="http://schemas.openxmlformats.org/drawingml/2006/main">
              <a:ext uri="{FF2B5EF4-FFF2-40B4-BE49-F238E27FC236}">
                <a16:creationId xmlns:a16="http://schemas.microsoft.com/office/drawing/2014/main" id="{7DF8B006-CD46-4D18-9AB3-EB7C84FEAA70}"/>
              </a:ext>
            </a:extLst>
          </p:cNvPr>
          <p:cNvSpPr>
            <a:spLocks xmlns:a="http://schemas.openxmlformats.org/drawingml/2006/main" noGrp="1"/>
          </p:cNvSpPr>
          <p:nvPr/>
        </p:nvSpPr>
        <p:spPr>
          <a:xfrm xmlns:a="http://schemas.openxmlformats.org/drawingml/2006/main">
            <a:off x="571500" y="23431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Samira: q = 24 − 3P</a:t>
            </a:r>
          </a:p>
        </p:txBody>
      </p:sp>
      <p:graphicFrame>
        <p:nvGraphicFramePr>
          <p:cNvPr id="15" name=""/>
          <p:cNvGraphicFramePr/>
          <p:nvPr/>
        </p:nvGraphicFramePr>
        <p:xfrm>
          <a:off xmlns:a="http://schemas.openxmlformats.org/drawingml/2006/main" x="571500" y="3371850"/>
          <a:ext xmlns:a="http://schemas.openxmlformats.org/drawingml/2006/main" cx="14097000" cy="2695575"/>
        </p:xfrm>
        <a:graphic xmlns:a="http://schemas.openxmlformats.org/drawingml/2006/main">
          <a:graphicData uri="http://schemas.openxmlformats.org/drawingml/2006/table">
            <a:tbl>
              <a:tblPr/>
              <a:tblGrid>
                <a:gridCol w="3333750"/>
                <a:gridCol w="6000750"/>
                <a:gridCol w="4762500"/>
              </a:tblGrid>
              <a:tr h="898525">
                <a:tc>
                  <a:txBody>
                    <a:bodyPr lIns="171450" tIns="95250" rIns="152400" bIns="95250"/>
                    <a:lstStyle/>
                    <a:p>
                      <a:r>
                        <a:rPr sz="2775" b="1">
                          <a:solidFill>
                            <a:srgbClr val="FFFFFF"/>
                          </a:solidFill>
                          <a:latin typeface="Arial"/>
                          <a:ea typeface="Arial"/>
                          <a:cs typeface="Arial"/>
                        </a:rPr>
                        <a:t>P (€ per ons)</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Invullen</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q (ons per maand)</a:t>
                      </a:r>
                    </a:p>
                  </a:txBody>
                  <a:tcPr marL="91440" marR="91440" marT="45720" marB="45720" anchor="ctr">
                    <a:solidFill>
                      <a:srgbClr val="183247"/>
                    </a:solidFill>
                  </a:tcPr>
                </a:tc>
              </a:tr>
              <a:tr h="898525">
                <a:tc>
                  <a:txBody>
                    <a:bodyPr lIns="171450" tIns="95250" rIns="152400" bIns="95250"/>
                    <a:lstStyle/>
                    <a:p>
                      <a:r>
                        <a:rPr sz="2775" b="0">
                          <a:solidFill>
                            <a:srgbClr val="183247"/>
                          </a:solidFill>
                          <a:latin typeface="Arial"/>
                          <a:ea typeface="Arial"/>
                          <a:cs typeface="Arial"/>
                        </a:rPr>
                        <a:t>2</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24 − 3 × 2</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18</a:t>
                      </a:r>
                    </a:p>
                  </a:txBody>
                  <a:tcPr marL="91440" marR="91440" marT="45720" marB="45720" anchor="ctr">
                    <a:solidFill>
                      <a:srgbClr val="FFFFFF"/>
                    </a:solidFill>
                  </a:tcPr>
                </a:tc>
              </a:tr>
              <a:tr h="898525">
                <a:tc>
                  <a:txBody>
                    <a:bodyPr lIns="171450" tIns="95250" rIns="152400" bIns="95250"/>
                    <a:lstStyle/>
                    <a:p>
                      <a:r>
                        <a:rPr sz="2775" b="0">
                          <a:solidFill>
                            <a:srgbClr val="183247"/>
                          </a:solidFill>
                          <a:latin typeface="Arial"/>
                          <a:ea typeface="Arial"/>
                          <a:cs typeface="Arial"/>
                        </a:rPr>
                        <a:t>6</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24 − 3 × 6</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6</a:t>
                      </a:r>
                    </a:p>
                  </a:txBody>
                  <a:tcPr marL="91440" marR="91440" marT="45720" marB="45720" anchor="ctr">
                    <a:solidFill>
                      <a:srgbClr val="EFF4F7"/>
                    </a:solidFill>
                  </a:tcPr>
                </a:tc>
              </a:tr>
            </a:tbl>
          </a:graphicData>
        </a:graphic>
      </p:graphicFrame>
      <p:sp>
        <p:nvSpPr>
          <p:cNvPr id="8" name="Een hogere prijs → minder gevraagde thee, ceteris ">
            <a:extLst xmlns:a="http://schemas.openxmlformats.org/drawingml/2006/main">
              <a:ext uri="{FF2B5EF4-FFF2-40B4-BE49-F238E27FC236}">
                <a16:creationId xmlns:a16="http://schemas.microsoft.com/office/drawing/2014/main" id="{5B5BB158-61B5-48E2-9085-76ADDDEA3579}"/>
              </a:ext>
            </a:extLst>
          </p:cNvPr>
          <p:cNvSpPr>
            <a:spLocks xmlns:a="http://schemas.openxmlformats.org/drawingml/2006/main" noGrp="1"/>
          </p:cNvSpPr>
          <p:nvPr/>
        </p:nvSpPr>
        <p:spPr>
          <a:xfrm xmlns:a="http://schemas.openxmlformats.org/drawingml/2006/main">
            <a:off x="571500" y="676275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Een hogere prijs → minder gevraagde thee, ceteris paribus.</a:t>
            </a:r>
          </a:p>
        </p:txBody>
      </p:sp>
    </p:spTree>
    <p:extLst>
      <p:ext uri="{BB962C8B-B14F-4D97-AF65-F5344CB8AC3E}">
        <p14:creationId xmlns:p14="http://schemas.microsoft.com/office/powerpoint/2010/main" val="2957634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Prijs bij een gegeven hoeveelheid">
            <a:extLst xmlns:a="http://schemas.openxmlformats.org/drawingml/2006/main">
              <a:ext uri="{FF2B5EF4-FFF2-40B4-BE49-F238E27FC236}">
                <a16:creationId xmlns:a16="http://schemas.microsoft.com/office/drawing/2014/main" id="{83E863F6-20DB-4151-8236-A23C38CB1F68}"/>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Prijs bij een gegeven hoeveelheid</a:t>
            </a:r>
          </a:p>
        </p:txBody>
      </p:sp>
      <p:sp>
        <p:nvSpPr>
          <p:cNvPr id="2" name="">
            <a:extLst xmlns:a="http://schemas.openxmlformats.org/drawingml/2006/main">
              <a:ext uri="{FF2B5EF4-FFF2-40B4-BE49-F238E27FC236}">
                <a16:creationId xmlns:a16="http://schemas.microsoft.com/office/drawing/2014/main" id="{E1AB8D06-3FA6-42FC-B7C9-10F89422BC8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A266F4B5-0883-494A-B08F-ACB298DC789F}"/>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8">
            <a:extLst xmlns:a="http://schemas.openxmlformats.org/drawingml/2006/main">
              <a:ext uri="{FF2B5EF4-FFF2-40B4-BE49-F238E27FC236}">
                <a16:creationId xmlns:a16="http://schemas.microsoft.com/office/drawing/2014/main" id="{9ED3A52B-3CDC-4709-96BF-F275074CB789}"/>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42A33896-E915-42EA-8E96-AED4E87C543C}"/>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Samira vraagt 9 ons thee per maand">
            <a:extLst xmlns:a="http://schemas.openxmlformats.org/drawingml/2006/main">
              <a:ext uri="{FF2B5EF4-FFF2-40B4-BE49-F238E27FC236}">
                <a16:creationId xmlns:a16="http://schemas.microsoft.com/office/drawing/2014/main" id="{2587F1B0-F909-40C0-B01E-F54229CE0951}"/>
              </a:ext>
            </a:extLst>
          </p:cNvPr>
          <p:cNvSpPr>
            <a:spLocks xmlns:a="http://schemas.openxmlformats.org/drawingml/2006/main" noGrp="1"/>
          </p:cNvSpPr>
          <p:nvPr/>
        </p:nvSpPr>
        <p:spPr>
          <a:xfrm xmlns:a="http://schemas.openxmlformats.org/drawingml/2006/main">
            <a:off x="571500" y="23145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Samira vraagt 9 ons thee per maand</a:t>
            </a:r>
          </a:p>
        </p:txBody>
      </p:sp>
      <p:sp>
        <p:nvSpPr>
          <p:cNvPr id="7" name="9 = 24 − 3P">
            <a:extLst xmlns:a="http://schemas.openxmlformats.org/drawingml/2006/main">
              <a:ext uri="{FF2B5EF4-FFF2-40B4-BE49-F238E27FC236}">
                <a16:creationId xmlns:a16="http://schemas.microsoft.com/office/drawing/2014/main" id="{89B0580F-61EE-42AD-A08A-DB2B94A7652C}"/>
              </a:ext>
            </a:extLst>
          </p:cNvPr>
          <p:cNvSpPr>
            <a:spLocks xmlns:a="http://schemas.openxmlformats.org/drawingml/2006/main" noGrp="1"/>
          </p:cNvSpPr>
          <p:nvPr/>
        </p:nvSpPr>
        <p:spPr>
          <a:xfrm xmlns:a="http://schemas.openxmlformats.org/drawingml/2006/main">
            <a:off x="571500" y="3333750"/>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9 = 24 − 3P</a:t>
            </a:r>
          </a:p>
        </p:txBody>
      </p:sp>
      <p:sp>
        <p:nvSpPr>
          <p:cNvPr id="8" name="Vul q = 9 in.">
            <a:extLst xmlns:a="http://schemas.openxmlformats.org/drawingml/2006/main">
              <a:ext uri="{FF2B5EF4-FFF2-40B4-BE49-F238E27FC236}">
                <a16:creationId xmlns:a16="http://schemas.microsoft.com/office/drawing/2014/main" id="{92C57173-7CB2-45DC-8077-FEB652FECC35}"/>
              </a:ext>
            </a:extLst>
          </p:cNvPr>
          <p:cNvSpPr>
            <a:spLocks xmlns:a="http://schemas.openxmlformats.org/drawingml/2006/main" noGrp="1"/>
          </p:cNvSpPr>
          <p:nvPr/>
        </p:nvSpPr>
        <p:spPr>
          <a:xfrm xmlns:a="http://schemas.openxmlformats.org/drawingml/2006/main">
            <a:off x="7810500" y="33337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Vul q = 9 in.</a:t>
            </a:r>
          </a:p>
        </p:txBody>
      </p:sp>
      <p:sp>
        <p:nvSpPr>
          <p:cNvPr id="9" name="9 + 3P = 24">
            <a:extLst xmlns:a="http://schemas.openxmlformats.org/drawingml/2006/main">
              <a:ext uri="{FF2B5EF4-FFF2-40B4-BE49-F238E27FC236}">
                <a16:creationId xmlns:a16="http://schemas.microsoft.com/office/drawing/2014/main" id="{0FA8D192-E52B-4ECC-A855-7AF53BDD159D}"/>
              </a:ext>
            </a:extLst>
          </p:cNvPr>
          <p:cNvSpPr>
            <a:spLocks xmlns:a="http://schemas.openxmlformats.org/drawingml/2006/main" noGrp="1"/>
          </p:cNvSpPr>
          <p:nvPr/>
        </p:nvSpPr>
        <p:spPr>
          <a:xfrm xmlns:a="http://schemas.openxmlformats.org/drawingml/2006/main">
            <a:off x="571500" y="4248150"/>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9 + 3P = 24</a:t>
            </a:r>
          </a:p>
        </p:txBody>
      </p:sp>
      <p:sp>
        <p:nvSpPr>
          <p:cNvPr id="10" name="Tel aan beide kanten 3P op.">
            <a:extLst xmlns:a="http://schemas.openxmlformats.org/drawingml/2006/main">
              <a:ext uri="{FF2B5EF4-FFF2-40B4-BE49-F238E27FC236}">
                <a16:creationId xmlns:a16="http://schemas.microsoft.com/office/drawing/2014/main" id="{488992FF-6A55-46EA-82A7-66399E1D549B}"/>
              </a:ext>
            </a:extLst>
          </p:cNvPr>
          <p:cNvSpPr>
            <a:spLocks xmlns:a="http://schemas.openxmlformats.org/drawingml/2006/main" noGrp="1"/>
          </p:cNvSpPr>
          <p:nvPr/>
        </p:nvSpPr>
        <p:spPr>
          <a:xfrm xmlns:a="http://schemas.openxmlformats.org/drawingml/2006/main">
            <a:off x="7810500" y="42481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Tel aan beide kanten 3P op.</a:t>
            </a:r>
          </a:p>
        </p:txBody>
      </p:sp>
      <p:sp>
        <p:nvSpPr>
          <p:cNvPr id="11" name="3P = 15">
            <a:extLst xmlns:a="http://schemas.openxmlformats.org/drawingml/2006/main">
              <a:ext uri="{FF2B5EF4-FFF2-40B4-BE49-F238E27FC236}">
                <a16:creationId xmlns:a16="http://schemas.microsoft.com/office/drawing/2014/main" id="{F8C9C2D0-2B44-4241-A83F-2FB15C647601}"/>
              </a:ext>
            </a:extLst>
          </p:cNvPr>
          <p:cNvSpPr>
            <a:spLocks xmlns:a="http://schemas.openxmlformats.org/drawingml/2006/main" noGrp="1"/>
          </p:cNvSpPr>
          <p:nvPr/>
        </p:nvSpPr>
        <p:spPr>
          <a:xfrm xmlns:a="http://schemas.openxmlformats.org/drawingml/2006/main">
            <a:off x="571500" y="5162550"/>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3P = 15</a:t>
            </a:r>
          </a:p>
        </p:txBody>
      </p:sp>
      <p:sp>
        <p:nvSpPr>
          <p:cNvPr id="12" name="Trek aan beide kanten 9 af.">
            <a:extLst xmlns:a="http://schemas.openxmlformats.org/drawingml/2006/main">
              <a:ext uri="{FF2B5EF4-FFF2-40B4-BE49-F238E27FC236}">
                <a16:creationId xmlns:a16="http://schemas.microsoft.com/office/drawing/2014/main" id="{292F4BD4-D600-4E56-8C7F-B542D731FAD3}"/>
              </a:ext>
            </a:extLst>
          </p:cNvPr>
          <p:cNvSpPr>
            <a:spLocks xmlns:a="http://schemas.openxmlformats.org/drawingml/2006/main" noGrp="1"/>
          </p:cNvSpPr>
          <p:nvPr/>
        </p:nvSpPr>
        <p:spPr>
          <a:xfrm xmlns:a="http://schemas.openxmlformats.org/drawingml/2006/main">
            <a:off x="7810500" y="51625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Trek aan beide kanten 9 af.</a:t>
            </a:r>
          </a:p>
        </p:txBody>
      </p:sp>
      <p:sp>
        <p:nvSpPr>
          <p:cNvPr id="13" name="P = € 5 per ons">
            <a:extLst xmlns:a="http://schemas.openxmlformats.org/drawingml/2006/main">
              <a:ext uri="{FF2B5EF4-FFF2-40B4-BE49-F238E27FC236}">
                <a16:creationId xmlns:a16="http://schemas.microsoft.com/office/drawing/2014/main" id="{B746B62E-E83B-44DF-998B-7242CFDFD5C3}"/>
              </a:ext>
            </a:extLst>
          </p:cNvPr>
          <p:cNvSpPr>
            <a:spLocks xmlns:a="http://schemas.openxmlformats.org/drawingml/2006/main" noGrp="1"/>
          </p:cNvSpPr>
          <p:nvPr/>
        </p:nvSpPr>
        <p:spPr>
          <a:xfrm xmlns:a="http://schemas.openxmlformats.org/drawingml/2006/main">
            <a:off x="571500" y="6076950"/>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P = € 5 per ons</a:t>
            </a:r>
          </a:p>
        </p:txBody>
      </p:sp>
      <p:sp>
        <p:nvSpPr>
          <p:cNvPr id="14" name="Deel beide kanten door 3.">
            <a:extLst xmlns:a="http://schemas.openxmlformats.org/drawingml/2006/main">
              <a:ext uri="{FF2B5EF4-FFF2-40B4-BE49-F238E27FC236}">
                <a16:creationId xmlns:a16="http://schemas.microsoft.com/office/drawing/2014/main" id="{DA6DF779-5BDD-4749-AD2A-3A1C1C5EF4D0}"/>
              </a:ext>
            </a:extLst>
          </p:cNvPr>
          <p:cNvSpPr>
            <a:spLocks xmlns:a="http://schemas.openxmlformats.org/drawingml/2006/main" noGrp="1"/>
          </p:cNvSpPr>
          <p:nvPr/>
        </p:nvSpPr>
        <p:spPr>
          <a:xfrm xmlns:a="http://schemas.openxmlformats.org/drawingml/2006/main">
            <a:off x="7810500" y="60769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Deel beide kanten door 3.</a:t>
            </a:r>
          </a:p>
        </p:txBody>
      </p:sp>
      <p:sp>
        <p:nvSpPr>
          <p:cNvPr id="15" name="Controle: 24 − 3 × 5 = 9 ons per maand; € 5 ligt t">
            <a:extLst xmlns:a="http://schemas.openxmlformats.org/drawingml/2006/main">
              <a:ext uri="{FF2B5EF4-FFF2-40B4-BE49-F238E27FC236}">
                <a16:creationId xmlns:a16="http://schemas.microsoft.com/office/drawing/2014/main" id="{7A743441-DD12-4412-A844-CDFE06441F69}"/>
              </a:ext>
            </a:extLst>
          </p:cNvPr>
          <p:cNvSpPr>
            <a:spLocks xmlns:a="http://schemas.openxmlformats.org/drawingml/2006/main" noGrp="1"/>
          </p:cNvSpPr>
          <p:nvPr/>
        </p:nvSpPr>
        <p:spPr>
          <a:xfrm xmlns:a="http://schemas.openxmlformats.org/drawingml/2006/main">
            <a:off x="571500" y="742950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Controle: 24 − 3 × 5 = 9 ons per maand; € 5 ligt tussen € 0 en € 8.</a:t>
            </a:r>
          </a:p>
        </p:txBody>
      </p:sp>
    </p:spTree>
    <p:extLst>
      <p:ext uri="{BB962C8B-B14F-4D97-AF65-F5344CB8AC3E}">
        <p14:creationId xmlns:p14="http://schemas.microsoft.com/office/powerpoint/2010/main" val="18992081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ezelfde relatie met P links">
            <a:extLst xmlns:a="http://schemas.openxmlformats.org/drawingml/2006/main">
              <a:ext uri="{FF2B5EF4-FFF2-40B4-BE49-F238E27FC236}">
                <a16:creationId xmlns:a16="http://schemas.microsoft.com/office/drawing/2014/main" id="{B3002D1B-D996-4E65-9AAA-89079AB98740}"/>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Dezelfde relatie met P links</a:t>
            </a:r>
          </a:p>
        </p:txBody>
      </p:sp>
      <p:sp>
        <p:nvSpPr>
          <p:cNvPr id="2" name="">
            <a:extLst xmlns:a="http://schemas.openxmlformats.org/drawingml/2006/main">
              <a:ext uri="{FF2B5EF4-FFF2-40B4-BE49-F238E27FC236}">
                <a16:creationId xmlns:a16="http://schemas.microsoft.com/office/drawing/2014/main" id="{86D61F35-EFE5-4967-AD7F-299AD496A63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6F5B1749-E239-4F38-BD37-B7377F6957EE}"/>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9">
            <a:extLst xmlns:a="http://schemas.openxmlformats.org/drawingml/2006/main">
              <a:ext uri="{FF2B5EF4-FFF2-40B4-BE49-F238E27FC236}">
                <a16:creationId xmlns:a16="http://schemas.microsoft.com/office/drawing/2014/main" id="{01AAE7E0-081F-4319-ACCF-97B7F0CF8165}"/>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D140410D-F1DC-412F-8A1D-60483D0BC844}"/>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q = 24 − 3P">
            <a:extLst xmlns:a="http://schemas.openxmlformats.org/drawingml/2006/main">
              <a:ext uri="{FF2B5EF4-FFF2-40B4-BE49-F238E27FC236}">
                <a16:creationId xmlns:a16="http://schemas.microsoft.com/office/drawing/2014/main" id="{BEBB2DFF-ADAC-4FCD-840E-5F68E14AE159}"/>
              </a:ext>
            </a:extLst>
          </p:cNvPr>
          <p:cNvSpPr>
            <a:spLocks xmlns:a="http://schemas.openxmlformats.org/drawingml/2006/main" noGrp="1"/>
          </p:cNvSpPr>
          <p:nvPr/>
        </p:nvSpPr>
        <p:spPr>
          <a:xfrm xmlns:a="http://schemas.openxmlformats.org/drawingml/2006/main">
            <a:off x="571500" y="2619375"/>
            <a:ext cx="704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q = 24 − 3P</a:t>
            </a:r>
          </a:p>
        </p:txBody>
      </p:sp>
      <p:sp>
        <p:nvSpPr>
          <p:cNvPr id="7" name="Beginfunctie">
            <a:extLst xmlns:a="http://schemas.openxmlformats.org/drawingml/2006/main">
              <a:ext uri="{FF2B5EF4-FFF2-40B4-BE49-F238E27FC236}">
                <a16:creationId xmlns:a16="http://schemas.microsoft.com/office/drawing/2014/main" id="{AA400ADA-359E-43DD-9672-A97049615150}"/>
              </a:ext>
            </a:extLst>
          </p:cNvPr>
          <p:cNvSpPr>
            <a:spLocks xmlns:a="http://schemas.openxmlformats.org/drawingml/2006/main" noGrp="1"/>
          </p:cNvSpPr>
          <p:nvPr/>
        </p:nvSpPr>
        <p:spPr>
          <a:xfrm xmlns:a="http://schemas.openxmlformats.org/drawingml/2006/main">
            <a:off x="8286750" y="26193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Beginfunctie</a:t>
            </a:r>
          </a:p>
        </p:txBody>
      </p:sp>
      <p:sp>
        <p:nvSpPr>
          <p:cNvPr id="8" name="q + 3P = 24">
            <a:extLst xmlns:a="http://schemas.openxmlformats.org/drawingml/2006/main">
              <a:ext uri="{FF2B5EF4-FFF2-40B4-BE49-F238E27FC236}">
                <a16:creationId xmlns:a16="http://schemas.microsoft.com/office/drawing/2014/main" id="{035299F0-5EC5-41C2-B979-63F5E414CE92}"/>
              </a:ext>
            </a:extLst>
          </p:cNvPr>
          <p:cNvSpPr>
            <a:spLocks xmlns:a="http://schemas.openxmlformats.org/drawingml/2006/main" noGrp="1"/>
          </p:cNvSpPr>
          <p:nvPr/>
        </p:nvSpPr>
        <p:spPr>
          <a:xfrm xmlns:a="http://schemas.openxmlformats.org/drawingml/2006/main">
            <a:off x="571500" y="3724275"/>
            <a:ext cx="704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q + 3P = 24</a:t>
            </a:r>
          </a:p>
        </p:txBody>
      </p:sp>
      <p:sp>
        <p:nvSpPr>
          <p:cNvPr id="9" name="Beide kanten +3P">
            <a:extLst xmlns:a="http://schemas.openxmlformats.org/drawingml/2006/main">
              <a:ext uri="{FF2B5EF4-FFF2-40B4-BE49-F238E27FC236}">
                <a16:creationId xmlns:a16="http://schemas.microsoft.com/office/drawing/2014/main" id="{649D2584-C1B0-4BD7-8556-ECD31455D7C0}"/>
              </a:ext>
            </a:extLst>
          </p:cNvPr>
          <p:cNvSpPr>
            <a:spLocks xmlns:a="http://schemas.openxmlformats.org/drawingml/2006/main" noGrp="1"/>
          </p:cNvSpPr>
          <p:nvPr/>
        </p:nvSpPr>
        <p:spPr>
          <a:xfrm xmlns:a="http://schemas.openxmlformats.org/drawingml/2006/main">
            <a:off x="8286750" y="37242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Beide kanten +3P</a:t>
            </a:r>
          </a:p>
        </p:txBody>
      </p:sp>
      <p:sp>
        <p:nvSpPr>
          <p:cNvPr id="10" name="3P = 24 − q">
            <a:extLst xmlns:a="http://schemas.openxmlformats.org/drawingml/2006/main">
              <a:ext uri="{FF2B5EF4-FFF2-40B4-BE49-F238E27FC236}">
                <a16:creationId xmlns:a16="http://schemas.microsoft.com/office/drawing/2014/main" id="{E4125CAB-A839-41F9-AB0E-626F58EDA432}"/>
              </a:ext>
            </a:extLst>
          </p:cNvPr>
          <p:cNvSpPr>
            <a:spLocks xmlns:a="http://schemas.openxmlformats.org/drawingml/2006/main" noGrp="1"/>
          </p:cNvSpPr>
          <p:nvPr/>
        </p:nvSpPr>
        <p:spPr>
          <a:xfrm xmlns:a="http://schemas.openxmlformats.org/drawingml/2006/main">
            <a:off x="571500" y="4829175"/>
            <a:ext cx="704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0">
                <a:solidFill>
                  <a:srgbClr val="183247"/>
                </a:solidFill>
                <a:latin typeface="Arial"/>
                <a:ea typeface="Arial"/>
                <a:cs typeface="Arial"/>
              </a:defRPr>
            </a:pPr>
            <a:r>
              <a:rPr sz="3675" b="0">
                <a:solidFill>
                  <a:srgbClr val="183247"/>
                </a:solidFill>
                <a:latin typeface="Arial"/>
                <a:ea typeface="Arial"/>
                <a:cs typeface="Arial"/>
              </a:rPr>
              <a:t>3P = 24 − q</a:t>
            </a:r>
          </a:p>
        </p:txBody>
      </p:sp>
      <p:sp>
        <p:nvSpPr>
          <p:cNvPr id="11" name="Beide kanten −q">
            <a:extLst xmlns:a="http://schemas.openxmlformats.org/drawingml/2006/main">
              <a:ext uri="{FF2B5EF4-FFF2-40B4-BE49-F238E27FC236}">
                <a16:creationId xmlns:a16="http://schemas.microsoft.com/office/drawing/2014/main" id="{6D87566E-34B6-4202-96B2-AA1B40BF99E9}"/>
              </a:ext>
            </a:extLst>
          </p:cNvPr>
          <p:cNvSpPr>
            <a:spLocks xmlns:a="http://schemas.openxmlformats.org/drawingml/2006/main" noGrp="1"/>
          </p:cNvSpPr>
          <p:nvPr/>
        </p:nvSpPr>
        <p:spPr>
          <a:xfrm xmlns:a="http://schemas.openxmlformats.org/drawingml/2006/main">
            <a:off x="8286750" y="48291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Beide kanten −q</a:t>
            </a:r>
          </a:p>
        </p:txBody>
      </p:sp>
      <p:sp>
        <p:nvSpPr>
          <p:cNvPr id="12" name="P = 8 − ⅓q">
            <a:extLst xmlns:a="http://schemas.openxmlformats.org/drawingml/2006/main">
              <a:ext uri="{FF2B5EF4-FFF2-40B4-BE49-F238E27FC236}">
                <a16:creationId xmlns:a16="http://schemas.microsoft.com/office/drawing/2014/main" id="{0C6A5B59-68F9-46D5-9B72-225757DB4C99}"/>
              </a:ext>
            </a:extLst>
          </p:cNvPr>
          <p:cNvSpPr>
            <a:spLocks xmlns:a="http://schemas.openxmlformats.org/drawingml/2006/main" noGrp="1"/>
          </p:cNvSpPr>
          <p:nvPr/>
        </p:nvSpPr>
        <p:spPr>
          <a:xfrm xmlns:a="http://schemas.openxmlformats.org/drawingml/2006/main">
            <a:off x="571500" y="5934075"/>
            <a:ext cx="704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P = 8 − ⅓q</a:t>
            </a:r>
          </a:p>
        </p:txBody>
      </p:sp>
      <p:sp>
        <p:nvSpPr>
          <p:cNvPr id="13" name="Beide kanten ÷3">
            <a:extLst xmlns:a="http://schemas.openxmlformats.org/drawingml/2006/main">
              <a:ext uri="{FF2B5EF4-FFF2-40B4-BE49-F238E27FC236}">
                <a16:creationId xmlns:a16="http://schemas.microsoft.com/office/drawing/2014/main" id="{015B83E4-DBEA-4E29-9A90-16EDBAFB867B}"/>
              </a:ext>
            </a:extLst>
          </p:cNvPr>
          <p:cNvSpPr>
            <a:spLocks xmlns:a="http://schemas.openxmlformats.org/drawingml/2006/main" noGrp="1"/>
          </p:cNvSpPr>
          <p:nvPr/>
        </p:nvSpPr>
        <p:spPr>
          <a:xfrm xmlns:a="http://schemas.openxmlformats.org/drawingml/2006/main">
            <a:off x="8286750" y="59340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Beide kanten ÷3</a:t>
            </a:r>
          </a:p>
        </p:txBody>
      </p:sp>
      <p:sp>
        <p:nvSpPr>
          <p:cNvPr id="14" name="Bij q = 9: P = 8 − 9/3 = € 5 per ons">
            <a:extLst xmlns:a="http://schemas.openxmlformats.org/drawingml/2006/main">
              <a:ext uri="{FF2B5EF4-FFF2-40B4-BE49-F238E27FC236}">
                <a16:creationId xmlns:a16="http://schemas.microsoft.com/office/drawing/2014/main" id="{40FC0C5B-E0A9-4C3A-BEA0-57A459218FF4}"/>
              </a:ext>
            </a:extLst>
          </p:cNvPr>
          <p:cNvSpPr>
            <a:spLocks xmlns:a="http://schemas.openxmlformats.org/drawingml/2006/main" noGrp="1"/>
          </p:cNvSpPr>
          <p:nvPr/>
        </p:nvSpPr>
        <p:spPr>
          <a:xfrm xmlns:a="http://schemas.openxmlformats.org/drawingml/2006/main">
            <a:off x="571500" y="73533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Bij q = 9: P = 8 − 9/3 = € 5 per ons</a:t>
            </a:r>
          </a:p>
        </p:txBody>
      </p:sp>
    </p:spTree>
    <p:extLst>
      <p:ext uri="{BB962C8B-B14F-4D97-AF65-F5344CB8AC3E}">
        <p14:creationId xmlns:p14="http://schemas.microsoft.com/office/powerpoint/2010/main" val="20987241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nijpunten met de assen">
            <a:extLst xmlns:a="http://schemas.openxmlformats.org/drawingml/2006/main">
              <a:ext uri="{FF2B5EF4-FFF2-40B4-BE49-F238E27FC236}">
                <a16:creationId xmlns:a16="http://schemas.microsoft.com/office/drawing/2014/main" id="{AD03CB6A-C52E-4749-A34C-5852BB978859}"/>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Snijpunten met de assen</a:t>
            </a:r>
          </a:p>
        </p:txBody>
      </p:sp>
      <p:sp>
        <p:nvSpPr>
          <p:cNvPr id="2" name="">
            <a:extLst xmlns:a="http://schemas.openxmlformats.org/drawingml/2006/main">
              <a:ext uri="{FF2B5EF4-FFF2-40B4-BE49-F238E27FC236}">
                <a16:creationId xmlns:a16="http://schemas.microsoft.com/office/drawing/2014/main" id="{3CF54B6F-6BF2-4C0C-B49F-040BBE3528A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5B2FD9F7-97EF-4C50-B5DE-1C38834E372D}"/>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10">
            <a:extLst xmlns:a="http://schemas.openxmlformats.org/drawingml/2006/main">
              <a:ext uri="{FF2B5EF4-FFF2-40B4-BE49-F238E27FC236}">
                <a16:creationId xmlns:a16="http://schemas.microsoft.com/office/drawing/2014/main" id="{D79576D0-C4E5-4F50-BA7B-1B313B0F5835}"/>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A4F44AFF-3952-4021-A6CF-45E573ADC440}"/>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Samira: q = 24 − 3P">
            <a:extLst xmlns:a="http://schemas.openxmlformats.org/drawingml/2006/main">
              <a:ext uri="{FF2B5EF4-FFF2-40B4-BE49-F238E27FC236}">
                <a16:creationId xmlns:a16="http://schemas.microsoft.com/office/drawing/2014/main" id="{A15E8CC4-B838-4D92-B3BF-3C9F2B3D13BD}"/>
              </a:ext>
            </a:extLst>
          </p:cNvPr>
          <p:cNvSpPr>
            <a:spLocks xmlns:a="http://schemas.openxmlformats.org/drawingml/2006/main" noGrp="1"/>
          </p:cNvSpPr>
          <p:nvPr/>
        </p:nvSpPr>
        <p:spPr>
          <a:xfrm xmlns:a="http://schemas.openxmlformats.org/drawingml/2006/main">
            <a:off x="571500" y="23526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Samira: q = 24 − 3P</a:t>
            </a:r>
          </a:p>
        </p:txBody>
      </p:sp>
      <p:graphicFrame>
        <p:nvGraphicFramePr>
          <p:cNvPr id="15" name=""/>
          <p:cNvGraphicFramePr/>
          <p:nvPr/>
        </p:nvGraphicFramePr>
        <p:xfrm>
          <a:off xmlns:a="http://schemas.openxmlformats.org/drawingml/2006/main" x="571500" y="3371850"/>
          <a:ext xmlns:a="http://schemas.openxmlformats.org/drawingml/2006/main" cx="14097000" cy="2809875"/>
        </p:xfrm>
        <a:graphic xmlns:a="http://schemas.openxmlformats.org/drawingml/2006/main">
          <a:graphicData uri="http://schemas.openxmlformats.org/drawingml/2006/table">
            <a:tbl>
              <a:tblPr/>
              <a:tblGrid>
                <a:gridCol w="3238500"/>
                <a:gridCol w="6572250"/>
                <a:gridCol w="4286250"/>
              </a:tblGrid>
              <a:tr h="936625">
                <a:tc>
                  <a:txBody>
                    <a:bodyPr lIns="171450" tIns="95250" rIns="152400" bIns="95250"/>
                    <a:lstStyle/>
                    <a:p>
                      <a:r>
                        <a:rPr sz="2550" b="1">
                          <a:solidFill>
                            <a:srgbClr val="FFFFFF"/>
                          </a:solidFill>
                          <a:latin typeface="Arial"/>
                          <a:ea typeface="Arial"/>
                          <a:cs typeface="Arial"/>
                        </a:rPr>
                        <a:t>Snijpunt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Zet de andere variabele op nul</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Coördinaat (q; P)</a:t>
                      </a:r>
                    </a:p>
                  </a:txBody>
                  <a:tcPr marL="91440" marR="91440" marT="45720" marB="45720" anchor="ctr">
                    <a:solidFill>
                      <a:srgbClr val="183247"/>
                    </a:solidFill>
                  </a:tcPr>
                </a:tc>
              </a:tr>
              <a:tr h="936625">
                <a:tc>
                  <a:txBody>
                    <a:bodyPr lIns="171450" tIns="95250" rIns="152400" bIns="95250"/>
                    <a:lstStyle/>
                    <a:p>
                      <a:r>
                        <a:rPr sz="2550" b="0">
                          <a:solidFill>
                            <a:srgbClr val="183247"/>
                          </a:solidFill>
                          <a:latin typeface="Arial"/>
                          <a:ea typeface="Arial"/>
                          <a:cs typeface="Arial"/>
                        </a:rPr>
                        <a:t>Met de q-as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 0 → q = 24 − 3 × 0 = 24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(24; 0)</a:t>
                      </a:r>
                    </a:p>
                  </a:txBody>
                  <a:tcPr marL="91440" marR="91440" marT="45720" marB="45720" anchor="ctr">
                    <a:solidFill>
                      <a:srgbClr val="FFFFFF"/>
                    </a:solidFill>
                  </a:tcPr>
                </a:tc>
              </a:tr>
              <a:tr h="936625">
                <a:tc>
                  <a:txBody>
                    <a:bodyPr lIns="171450" tIns="95250" rIns="152400" bIns="95250"/>
                    <a:lstStyle/>
                    <a:p>
                      <a:r>
                        <a:rPr sz="2550" b="0">
                          <a:solidFill>
                            <a:srgbClr val="183247"/>
                          </a:solidFill>
                          <a:latin typeface="Arial"/>
                          <a:ea typeface="Arial"/>
                          <a:cs typeface="Arial"/>
                        </a:rPr>
                        <a:t>Met de P-as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q = 0 → 3P = 24 → P = 8</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(0; 8)</a:t>
                      </a:r>
                    </a:p>
                  </a:txBody>
                  <a:tcPr marL="91440" marR="91440" marT="45720" marB="45720" anchor="ctr">
                    <a:solidFill>
                      <a:srgbClr val="EFF4F7"/>
                    </a:solidFill>
                  </a:tcPr>
                </a:tc>
              </a:tr>
            </a:tbl>
          </a:graphicData>
        </a:graphic>
      </p:graphicFrame>
      <p:sp>
        <p:nvSpPr>
          <p:cNvPr id="8" name="Bij P = € 0 vraagt zij 24 ons; dat is geen voorspe">
            <a:extLst xmlns:a="http://schemas.openxmlformats.org/drawingml/2006/main">
              <a:ext uri="{FF2B5EF4-FFF2-40B4-BE49-F238E27FC236}">
                <a16:creationId xmlns:a16="http://schemas.microsoft.com/office/drawing/2014/main" id="{740CA5F4-2B71-478D-A471-3A35C9940B56}"/>
              </a:ext>
            </a:extLst>
          </p:cNvPr>
          <p:cNvSpPr>
            <a:spLocks xmlns:a="http://schemas.openxmlformats.org/drawingml/2006/main" noGrp="1"/>
          </p:cNvSpPr>
          <p:nvPr/>
        </p:nvSpPr>
        <p:spPr>
          <a:xfrm xmlns:a="http://schemas.openxmlformats.org/drawingml/2006/main">
            <a:off x="571500" y="6905625"/>
            <a:ext cx="1409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Bij P = € 0 vraagt zij 24 ons; dat is geen voorspelde werkelijke aankoop.</a:t>
            </a:r>
          </a:p>
        </p:txBody>
      </p:sp>
    </p:spTree>
    <p:extLst>
      <p:ext uri="{BB962C8B-B14F-4D97-AF65-F5344CB8AC3E}">
        <p14:creationId xmlns:p14="http://schemas.microsoft.com/office/powerpoint/2010/main" val="1219128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vraaglijn tekenen: assen en snijpunten">
            <a:extLst xmlns:a="http://schemas.openxmlformats.org/drawingml/2006/main">
              <a:ext uri="{FF2B5EF4-FFF2-40B4-BE49-F238E27FC236}">
                <a16:creationId xmlns:a16="http://schemas.microsoft.com/office/drawing/2014/main" id="{A5D37079-5B27-4BC2-9F1D-A7CD1A6EEB55}"/>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vraaglijn tekenen: assen en snijpunten</a:t>
            </a:r>
          </a:p>
        </p:txBody>
      </p:sp>
      <p:sp>
        <p:nvSpPr>
          <p:cNvPr id="2" name="">
            <a:extLst xmlns:a="http://schemas.openxmlformats.org/drawingml/2006/main">
              <a:ext uri="{FF2B5EF4-FFF2-40B4-BE49-F238E27FC236}">
                <a16:creationId xmlns:a16="http://schemas.microsoft.com/office/drawing/2014/main" id="{E27458F9-E7CB-4342-B683-EBBE4AB747A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01DB6026-7AF8-4433-8C70-7DA8A74607A3}"/>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11">
            <a:extLst xmlns:a="http://schemas.openxmlformats.org/drawingml/2006/main">
              <a:ext uri="{FF2B5EF4-FFF2-40B4-BE49-F238E27FC236}">
                <a16:creationId xmlns:a16="http://schemas.microsoft.com/office/drawing/2014/main" id="{4AD8A6BC-2168-4A1A-8036-B02963CEDC9B}"/>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FD7E332B-ADD6-4319-A2F1-D7CC983E5007}"/>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4" name="Chart"/>
          <p:cNvGraphicFramePr/>
          <p:nvPr/>
        </p:nvGraphicFramePr>
        <p:xfrm>
          <a:off xmlns:a="http://schemas.openxmlformats.org/drawingml/2006/main" x="571500" y="2333625"/>
          <a:ext xmlns:a="http://schemas.openxmlformats.org/drawingml/2006/main" cx="9906000" cy="5476875"/>
        </p:xfrm>
        <a:graphic xmlns:a="http://schemas.openxmlformats.org/drawingml/2006/main">
          <a:graphicData uri="http://schemas.openxmlformats.org/drawingml/2006/chart">
            <c:chart xmlns:r="http://schemas.openxmlformats.org/officeDocument/2006/relationships" xmlns:c="http://schemas.openxmlformats.org/drawingml/2006/chart" r:id="R5a3a16d3ada74862"/>
          </a:graphicData>
        </a:graphic>
      </p:graphicFrame>
      <p:sp>
        <p:nvSpPr>
          <p:cNvPr id="7" name="1. Assen en schaal">
            <a:extLst xmlns:a="http://schemas.openxmlformats.org/drawingml/2006/main">
              <a:ext uri="{FF2B5EF4-FFF2-40B4-BE49-F238E27FC236}">
                <a16:creationId xmlns:a16="http://schemas.microsoft.com/office/drawing/2014/main" id="{6B5EB5D9-BD26-444C-9877-37D753E67966}"/>
              </a:ext>
            </a:extLst>
          </p:cNvPr>
          <p:cNvSpPr>
            <a:spLocks xmlns:a="http://schemas.openxmlformats.org/drawingml/2006/main" noGrp="1"/>
          </p:cNvSpPr>
          <p:nvPr/>
        </p:nvSpPr>
        <p:spPr>
          <a:xfrm xmlns:a="http://schemas.openxmlformats.org/drawingml/2006/main">
            <a:off x="10858500" y="2533650"/>
            <a:ext cx="3810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1. Assen en schaal</a:t>
            </a:r>
          </a:p>
        </p:txBody>
      </p:sp>
      <p:sp>
        <p:nvSpPr>
          <p:cNvPr id="8" name="q horizontaal&#10;P verticaal&#10;&#10;(0; 8) en (24; 0)">
            <a:extLst xmlns:a="http://schemas.openxmlformats.org/drawingml/2006/main">
              <a:ext uri="{FF2B5EF4-FFF2-40B4-BE49-F238E27FC236}">
                <a16:creationId xmlns:a16="http://schemas.microsoft.com/office/drawing/2014/main" id="{BFD73330-983C-4DF7-AC45-49DCBF944E81}"/>
              </a:ext>
            </a:extLst>
          </p:cNvPr>
          <p:cNvSpPr>
            <a:spLocks xmlns:a="http://schemas.openxmlformats.org/drawingml/2006/main" noGrp="1"/>
          </p:cNvSpPr>
          <p:nvPr/>
        </p:nvSpPr>
        <p:spPr>
          <a:xfrm xmlns:a="http://schemas.openxmlformats.org/drawingml/2006/main">
            <a:off x="10858500" y="3876675"/>
            <a:ext cx="3714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horizontaal</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 verticaal</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(0; 8) en (24; 0)</a:t>
            </a:r>
          </a:p>
        </p:txBody>
      </p:sp>
    </p:spTree>
    <p:extLst>
      <p:ext uri="{BB962C8B-B14F-4D97-AF65-F5344CB8AC3E}">
        <p14:creationId xmlns:p14="http://schemas.microsoft.com/office/powerpoint/2010/main" val="207869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vraaglijn tekenen: de rechte lijn">
            <a:extLst xmlns:a="http://schemas.openxmlformats.org/drawingml/2006/main">
              <a:ext uri="{FF2B5EF4-FFF2-40B4-BE49-F238E27FC236}">
                <a16:creationId xmlns:a16="http://schemas.microsoft.com/office/drawing/2014/main" id="{64E14D0C-7539-43CE-8CEC-987877153D12}"/>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Een vraaglijn tekenen: de rechte lijn</a:t>
            </a:r>
          </a:p>
        </p:txBody>
      </p:sp>
      <p:sp>
        <p:nvSpPr>
          <p:cNvPr id="2" name="">
            <a:extLst xmlns:a="http://schemas.openxmlformats.org/drawingml/2006/main">
              <a:ext uri="{FF2B5EF4-FFF2-40B4-BE49-F238E27FC236}">
                <a16:creationId xmlns:a16="http://schemas.microsoft.com/office/drawing/2014/main" id="{73FB23BE-F9D1-415D-BB32-ABC2655A0C0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52E25C19-1459-4F88-89BB-05BD0E7101DA}"/>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12">
            <a:extLst xmlns:a="http://schemas.openxmlformats.org/drawingml/2006/main">
              <a:ext uri="{FF2B5EF4-FFF2-40B4-BE49-F238E27FC236}">
                <a16:creationId xmlns:a16="http://schemas.microsoft.com/office/drawing/2014/main" id="{2BFD880E-B94A-4C79-B183-ED404CE1788A}"/>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5DC29F17-7FB4-4658-9056-CA0E138F873D}"/>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333625"/>
          <a:ext xmlns:a="http://schemas.openxmlformats.org/drawingml/2006/main" cx="9906000" cy="5476875"/>
        </p:xfrm>
        <a:graphic xmlns:a="http://schemas.openxmlformats.org/drawingml/2006/main">
          <a:graphicData uri="http://schemas.openxmlformats.org/drawingml/2006/chart">
            <c:chart xmlns:r="http://schemas.openxmlformats.org/officeDocument/2006/relationships" xmlns:c="http://schemas.openxmlformats.org/drawingml/2006/chart" r:id="R26aec4448de0474e"/>
          </a:graphicData>
        </a:graphic>
      </p:graphicFrame>
      <p:sp>
        <p:nvSpPr>
          <p:cNvPr id="7" name="V">
            <a:extLst xmlns:a="http://schemas.openxmlformats.org/drawingml/2006/main">
              <a:ext uri="{FF2B5EF4-FFF2-40B4-BE49-F238E27FC236}">
                <a16:creationId xmlns:a16="http://schemas.microsoft.com/office/drawing/2014/main" id="{AE843F75-FDA8-4224-9CB8-CDAB542B8C5F}"/>
              </a:ext>
            </a:extLst>
          </p:cNvPr>
          <p:cNvSpPr>
            <a:spLocks xmlns:a="http://schemas.openxmlformats.org/drawingml/2006/main" noGrp="1"/>
          </p:cNvSpPr>
          <p:nvPr/>
        </p:nvSpPr>
        <p:spPr>
          <a:xfrm xmlns:a="http://schemas.openxmlformats.org/drawingml/2006/main">
            <a:off x="4572000" y="3333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V</a:t>
            </a:r>
          </a:p>
        </p:txBody>
      </p:sp>
      <p:sp>
        <p:nvSpPr>
          <p:cNvPr id="8" name="2. Verbind de punten">
            <a:extLst xmlns:a="http://schemas.openxmlformats.org/drawingml/2006/main">
              <a:ext uri="{FF2B5EF4-FFF2-40B4-BE49-F238E27FC236}">
                <a16:creationId xmlns:a16="http://schemas.microsoft.com/office/drawing/2014/main" id="{2FBE63A5-DABD-4B5B-B502-20360AA81F90}"/>
              </a:ext>
            </a:extLst>
          </p:cNvPr>
          <p:cNvSpPr>
            <a:spLocks xmlns:a="http://schemas.openxmlformats.org/drawingml/2006/main" noGrp="1"/>
          </p:cNvSpPr>
          <p:nvPr/>
        </p:nvSpPr>
        <p:spPr>
          <a:xfrm xmlns:a="http://schemas.openxmlformats.org/drawingml/2006/main">
            <a:off x="10858500" y="2533650"/>
            <a:ext cx="3810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2. Verbind de punten</a:t>
            </a:r>
          </a:p>
        </p:txBody>
      </p:sp>
      <p:sp>
        <p:nvSpPr>
          <p:cNvPr id="9" name="Eén rechte lijn&#10;binnen de grenzen&#10;&#10;q = 24 − 3P">
            <a:extLst xmlns:a="http://schemas.openxmlformats.org/drawingml/2006/main">
              <a:ext uri="{FF2B5EF4-FFF2-40B4-BE49-F238E27FC236}">
                <a16:creationId xmlns:a16="http://schemas.microsoft.com/office/drawing/2014/main" id="{DDDDF91B-6006-4426-A7FA-692E92575C39}"/>
              </a:ext>
            </a:extLst>
          </p:cNvPr>
          <p:cNvSpPr>
            <a:spLocks xmlns:a="http://schemas.openxmlformats.org/drawingml/2006/main" noGrp="1"/>
          </p:cNvSpPr>
          <p:nvPr/>
        </p:nvSpPr>
        <p:spPr>
          <a:xfrm xmlns:a="http://schemas.openxmlformats.org/drawingml/2006/main">
            <a:off x="10858500" y="3876675"/>
            <a:ext cx="3714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Eén rechte lijn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binnen de grenzen</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q = 24 − 3P</a:t>
            </a:r>
          </a:p>
        </p:txBody>
      </p:sp>
    </p:spTree>
    <p:extLst>
      <p:ext uri="{BB962C8B-B14F-4D97-AF65-F5344CB8AC3E}">
        <p14:creationId xmlns:p14="http://schemas.microsoft.com/office/powerpoint/2010/main" val="6991322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 formule en de grafiek controleren">
            <a:extLst xmlns:a="http://schemas.openxmlformats.org/drawingml/2006/main">
              <a:ext uri="{FF2B5EF4-FFF2-40B4-BE49-F238E27FC236}">
                <a16:creationId xmlns:a16="http://schemas.microsoft.com/office/drawing/2014/main" id="{41ECF7F5-3778-4EE7-BBDF-2752BDCD6C62}"/>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formule en de grafiek controleren</a:t>
            </a:r>
          </a:p>
        </p:txBody>
      </p:sp>
      <p:sp>
        <p:nvSpPr>
          <p:cNvPr id="2" name="">
            <a:extLst xmlns:a="http://schemas.openxmlformats.org/drawingml/2006/main">
              <a:ext uri="{FF2B5EF4-FFF2-40B4-BE49-F238E27FC236}">
                <a16:creationId xmlns:a16="http://schemas.microsoft.com/office/drawing/2014/main" id="{AC195D18-C7CD-48E9-A577-0F628AAA1A6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42DD0BBE-12B0-440F-A687-B867DFB90AD4}"/>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13">
            <a:extLst xmlns:a="http://schemas.openxmlformats.org/drawingml/2006/main">
              <a:ext uri="{FF2B5EF4-FFF2-40B4-BE49-F238E27FC236}">
                <a16:creationId xmlns:a16="http://schemas.microsoft.com/office/drawing/2014/main" id="{A50F4E59-6FE2-4C2B-B1DC-A09293FE11E5}"/>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B11CAA75-5850-4A74-A73A-62BFDE872DDF}"/>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7" name="Chart"/>
          <p:cNvGraphicFramePr/>
          <p:nvPr/>
        </p:nvGraphicFramePr>
        <p:xfrm>
          <a:off xmlns:a="http://schemas.openxmlformats.org/drawingml/2006/main" x="571500" y="2333625"/>
          <a:ext xmlns:a="http://schemas.openxmlformats.org/drawingml/2006/main" cx="9906000" cy="5476875"/>
        </p:xfrm>
        <a:graphic xmlns:a="http://schemas.openxmlformats.org/drawingml/2006/main">
          <a:graphicData uri="http://schemas.openxmlformats.org/drawingml/2006/chart">
            <c:chart xmlns:r="http://schemas.openxmlformats.org/officeDocument/2006/relationships" xmlns:c="http://schemas.openxmlformats.org/drawingml/2006/chart" r:id="R529a3429ea724017"/>
          </a:graphicData>
        </a:graphic>
      </p:graphicFrame>
      <p:sp>
        <p:nvSpPr>
          <p:cNvPr id="7" name="V">
            <a:extLst xmlns:a="http://schemas.openxmlformats.org/drawingml/2006/main">
              <a:ext uri="{FF2B5EF4-FFF2-40B4-BE49-F238E27FC236}">
                <a16:creationId xmlns:a16="http://schemas.microsoft.com/office/drawing/2014/main" id="{5A4361BA-F992-43F9-930B-D805F1474F55}"/>
              </a:ext>
            </a:extLst>
          </p:cNvPr>
          <p:cNvSpPr>
            <a:spLocks xmlns:a="http://schemas.openxmlformats.org/drawingml/2006/main" noGrp="1"/>
          </p:cNvSpPr>
          <p:nvPr/>
        </p:nvSpPr>
        <p:spPr>
          <a:xfrm xmlns:a="http://schemas.openxmlformats.org/drawingml/2006/main">
            <a:off x="4572000" y="3333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V</a:t>
            </a:r>
          </a:p>
        </p:txBody>
      </p:sp>
      <p:sp>
        <p:nvSpPr>
          <p:cNvPr id="8" name="A">
            <a:extLst xmlns:a="http://schemas.openxmlformats.org/drawingml/2006/main">
              <a:ext uri="{FF2B5EF4-FFF2-40B4-BE49-F238E27FC236}">
                <a16:creationId xmlns:a16="http://schemas.microsoft.com/office/drawing/2014/main" id="{FFDDC630-4DA2-475E-90B7-F64518B142AF}"/>
              </a:ext>
            </a:extLst>
          </p:cNvPr>
          <p:cNvSpPr>
            <a:spLocks xmlns:a="http://schemas.openxmlformats.org/drawingml/2006/main" noGrp="1"/>
          </p:cNvSpPr>
          <p:nvPr/>
        </p:nvSpPr>
        <p:spPr>
          <a:xfrm xmlns:a="http://schemas.openxmlformats.org/drawingml/2006/main">
            <a:off x="8191500" y="52863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A</a:t>
            </a:r>
          </a:p>
        </p:txBody>
      </p:sp>
      <p:sp>
        <p:nvSpPr>
          <p:cNvPr id="9" name="B">
            <a:extLst xmlns:a="http://schemas.openxmlformats.org/drawingml/2006/main">
              <a:ext uri="{FF2B5EF4-FFF2-40B4-BE49-F238E27FC236}">
                <a16:creationId xmlns:a16="http://schemas.microsoft.com/office/drawing/2014/main" id="{E613DC5C-9E5E-4376-BCAD-BBA8A52A8706}"/>
              </a:ext>
            </a:extLst>
          </p:cNvPr>
          <p:cNvSpPr>
            <a:spLocks xmlns:a="http://schemas.openxmlformats.org/drawingml/2006/main" noGrp="1"/>
          </p:cNvSpPr>
          <p:nvPr/>
        </p:nvSpPr>
        <p:spPr>
          <a:xfrm xmlns:a="http://schemas.openxmlformats.org/drawingml/2006/main">
            <a:off x="3810000" y="30861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B</a:t>
            </a:r>
          </a:p>
        </p:txBody>
      </p:sp>
      <p:sp>
        <p:nvSpPr>
          <p:cNvPr id="10" name="3. Controleer punten">
            <a:extLst xmlns:a="http://schemas.openxmlformats.org/drawingml/2006/main">
              <a:ext uri="{FF2B5EF4-FFF2-40B4-BE49-F238E27FC236}">
                <a16:creationId xmlns:a16="http://schemas.microsoft.com/office/drawing/2014/main" id="{13E2D275-D8CD-40C2-86DB-A695880064A5}"/>
              </a:ext>
            </a:extLst>
          </p:cNvPr>
          <p:cNvSpPr>
            <a:spLocks xmlns:a="http://schemas.openxmlformats.org/drawingml/2006/main" noGrp="1"/>
          </p:cNvSpPr>
          <p:nvPr/>
        </p:nvSpPr>
        <p:spPr>
          <a:xfrm xmlns:a="http://schemas.openxmlformats.org/drawingml/2006/main">
            <a:off x="10858500" y="2533650"/>
            <a:ext cx="3810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3. Controleer punten</a:t>
            </a:r>
          </a:p>
        </p:txBody>
      </p:sp>
      <p:sp>
        <p:nvSpPr>
          <p:cNvPr id="11" name="A = (18; 2)&#10;B = (6; 6)&#10;&#10;Eerst q, daarna P.">
            <a:extLst xmlns:a="http://schemas.openxmlformats.org/drawingml/2006/main">
              <a:ext uri="{FF2B5EF4-FFF2-40B4-BE49-F238E27FC236}">
                <a16:creationId xmlns:a16="http://schemas.microsoft.com/office/drawing/2014/main" id="{B4A58C70-2390-497A-A868-79004A1357A8}"/>
              </a:ext>
            </a:extLst>
          </p:cNvPr>
          <p:cNvSpPr>
            <a:spLocks xmlns:a="http://schemas.openxmlformats.org/drawingml/2006/main" noGrp="1"/>
          </p:cNvSpPr>
          <p:nvPr/>
        </p:nvSpPr>
        <p:spPr>
          <a:xfrm xmlns:a="http://schemas.openxmlformats.org/drawingml/2006/main">
            <a:off x="10858500" y="3876675"/>
            <a:ext cx="3714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 = (18; 2)</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 = (6; 6)</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Eerst q, daarna P.</a:t>
            </a:r>
          </a:p>
        </p:txBody>
      </p:sp>
    </p:spTree>
    <p:extLst>
      <p:ext uri="{BB962C8B-B14F-4D97-AF65-F5344CB8AC3E}">
        <p14:creationId xmlns:p14="http://schemas.microsoft.com/office/powerpoint/2010/main" val="21155345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raag en feitelijke aankoop">
            <a:extLst xmlns:a="http://schemas.openxmlformats.org/drawingml/2006/main">
              <a:ext uri="{FF2B5EF4-FFF2-40B4-BE49-F238E27FC236}">
                <a16:creationId xmlns:a16="http://schemas.microsoft.com/office/drawing/2014/main" id="{73D788BE-82E5-4C79-8431-629889DF050F}"/>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Vraag en feitelijke aankoop</a:t>
            </a:r>
          </a:p>
        </p:txBody>
      </p:sp>
      <p:sp>
        <p:nvSpPr>
          <p:cNvPr id="2" name="">
            <a:extLst xmlns:a="http://schemas.openxmlformats.org/drawingml/2006/main">
              <a:ext uri="{FF2B5EF4-FFF2-40B4-BE49-F238E27FC236}">
                <a16:creationId xmlns:a16="http://schemas.microsoft.com/office/drawing/2014/main" id="{D351600B-71F7-4583-81FC-C227D344434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6FC0016E-95C8-4DD9-ABAA-5BCA08F867A0}"/>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14">
            <a:extLst xmlns:a="http://schemas.openxmlformats.org/drawingml/2006/main">
              <a:ext uri="{FF2B5EF4-FFF2-40B4-BE49-F238E27FC236}">
                <a16:creationId xmlns:a16="http://schemas.microsoft.com/office/drawing/2014/main" id="{C4A9F412-BE24-496E-9C49-D133BA3EEDF3}"/>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a:extLst xmlns:a="http://schemas.openxmlformats.org/drawingml/2006/main">
              <a:ext uri="{FF2B5EF4-FFF2-40B4-BE49-F238E27FC236}">
                <a16:creationId xmlns:a16="http://schemas.microsoft.com/office/drawing/2014/main" id="{0FD36AD3-4C0B-42A0-A3E9-EB1B9FA602CE}"/>
              </a:ext>
            </a:extLst>
          </p:cNvPr>
          <p:cNvSpPr>
            <a:spLocks xmlns:a="http://schemas.openxmlformats.org/drawingml/2006/main" noGrp="1"/>
          </p:cNvSpPr>
          <p:nvPr/>
        </p:nvSpPr>
        <p:spPr>
          <a:xfrm xmlns:a="http://schemas.openxmlformats.org/drawingml/2006/main">
            <a:off x="571500" y="1666875"/>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638425"/>
          <a:ext xmlns:a="http://schemas.openxmlformats.org/drawingml/2006/main" cx="14097000" cy="3333750"/>
        </p:xfrm>
        <a:graphic xmlns:a="http://schemas.openxmlformats.org/drawingml/2006/main">
          <a:graphicData uri="http://schemas.openxmlformats.org/drawingml/2006/table">
            <a:tbl>
              <a:tblPr/>
              <a:tblGrid>
                <a:gridCol w="7048500"/>
                <a:gridCol w="7048500"/>
              </a:tblGrid>
              <a:tr h="833438">
                <a:tc>
                  <a:txBody>
                    <a:bodyPr lIns="171450" tIns="95250" rIns="152400" bIns="95250"/>
                    <a:lstStyle/>
                    <a:p>
                      <a:r>
                        <a:rPr sz="2550" b="1">
                          <a:solidFill>
                            <a:srgbClr val="FFFFFF"/>
                          </a:solidFill>
                          <a:latin typeface="Arial"/>
                          <a:ea typeface="Arial"/>
                          <a:cs typeface="Arial"/>
                        </a:rPr>
                        <a:t>Wel uit het model</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Nog niet vastgesteld</a:t>
                      </a:r>
                    </a:p>
                  </a:txBody>
                  <a:tcPr marL="91440" marR="91440" marT="45720" marB="45720" anchor="ctr">
                    <a:solidFill>
                      <a:srgbClr val="183247"/>
                    </a:solidFill>
                  </a:tcPr>
                </a:tc>
              </a:tr>
              <a:tr h="833438">
                <a:tc>
                  <a:txBody>
                    <a:bodyPr lIns="171450" tIns="95250" rIns="152400" bIns="95250"/>
                    <a:lstStyle/>
                    <a:p>
                      <a:r>
                        <a:rPr sz="2550" b="0">
                          <a:solidFill>
                            <a:srgbClr val="183247"/>
                          </a:solidFill>
                          <a:latin typeface="Arial"/>
                          <a:ea typeface="Arial"/>
                          <a:cs typeface="Arial"/>
                        </a:rPr>
                        <a:t>P: € 2 → € 6 per ons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Welke prijs werkelijk geldt</a:t>
                      </a:r>
                    </a:p>
                  </a:txBody>
                  <a:tcPr marL="91440" marR="91440" marT="45720" marB="45720" anchor="ctr">
                    <a:solidFill>
                      <a:srgbClr val="FFFFFF"/>
                    </a:solidFill>
                  </a:tcPr>
                </a:tc>
              </a:tr>
              <a:tr h="833438">
                <a:tc>
                  <a:txBody>
                    <a:bodyPr lIns="171450" tIns="95250" rIns="152400" bIns="95250"/>
                    <a:lstStyle/>
                    <a:p>
                      <a:r>
                        <a:rPr sz="2550" b="0">
                          <a:solidFill>
                            <a:srgbClr val="183247"/>
                          </a:solidFill>
                          <a:latin typeface="Arial"/>
                          <a:ea typeface="Arial"/>
                          <a:cs typeface="Arial"/>
                        </a:rPr>
                        <a:t>q: 18 → 6 ons per maand</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Of de thee verkrijgbaar is</a:t>
                      </a:r>
                    </a:p>
                  </a:txBody>
                  <a:tcPr marL="91440" marR="91440" marT="45720" marB="45720" anchor="ctr">
                    <a:solidFill>
                      <a:srgbClr val="EFF4F7"/>
                    </a:solidFill>
                  </a:tcPr>
                </a:tc>
              </a:tr>
              <a:tr h="833438">
                <a:tc>
                  <a:txBody>
                    <a:bodyPr lIns="171450" tIns="95250" rIns="152400" bIns="95250"/>
                    <a:lstStyle/>
                    <a:p>
                      <a:r>
                        <a:rPr sz="2550" b="0">
                          <a:solidFill>
                            <a:srgbClr val="183247"/>
                          </a:solidFill>
                          <a:latin typeface="Arial"/>
                          <a:ea typeface="Arial"/>
                          <a:cs typeface="Arial"/>
                        </a:rPr>
                        <a:t>12 ons minder gevraagd, ceteris paribus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Hoeveel Samira feitelijk koopt</a:t>
                      </a:r>
                    </a:p>
                  </a:txBody>
                  <a:tcPr marL="91440" marR="91440" marT="45720" marB="45720" anchor="ctr">
                    <a:solidFill>
                      <a:srgbClr val="FFFFFF"/>
                    </a:solidFill>
                  </a:tcPr>
                </a:tc>
              </a:tr>
            </a:tbl>
          </a:graphicData>
        </a:graphic>
      </p:graphicFrame>
      <p:sp>
        <p:nvSpPr>
          <p:cNvPr id="7" name="Controle: bij P = € 9 geeft de formule −3. Dat is ">
            <a:extLst xmlns:a="http://schemas.openxmlformats.org/drawingml/2006/main">
              <a:ext uri="{FF2B5EF4-FFF2-40B4-BE49-F238E27FC236}">
                <a16:creationId xmlns:a16="http://schemas.microsoft.com/office/drawing/2014/main" id="{020C6E71-F5A5-40A1-B511-C9D4140578CC}"/>
              </a:ext>
            </a:extLst>
          </p:cNvPr>
          <p:cNvSpPr>
            <a:spLocks xmlns:a="http://schemas.openxmlformats.org/drawingml/2006/main" noGrp="1"/>
          </p:cNvSpPr>
          <p:nvPr/>
        </p:nvSpPr>
        <p:spPr>
          <a:xfrm xmlns:a="http://schemas.openxmlformats.org/drawingml/2006/main">
            <a:off x="571500" y="670560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Controle: bij P = € 9 geeft de formule −3. Dat is geen aankoop.</a:t>
            </a:r>
          </a:p>
        </p:txBody>
      </p:sp>
    </p:spTree>
    <p:extLst>
      <p:ext uri="{BB962C8B-B14F-4D97-AF65-F5344CB8AC3E}">
        <p14:creationId xmlns:p14="http://schemas.microsoft.com/office/powerpoint/2010/main" val="147713462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1 Betalingsbereidheid en individuel">
            <a:extLst xmlns:a="http://schemas.openxmlformats.org/drawingml/2006/main">
              <a:ext uri="{FF2B5EF4-FFF2-40B4-BE49-F238E27FC236}">
                <a16:creationId xmlns:a16="http://schemas.microsoft.com/office/drawing/2014/main" id="{EECAABF8-2FD8-45A3-B7C7-A5B9A553C93C}"/>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§1.2.1 Betalingsbereidheid en individuele vraag</a:t>
            </a:r>
          </a:p>
        </p:txBody>
      </p:sp>
      <p:sp>
        <p:nvSpPr>
          <p:cNvPr id="2" name="">
            <a:extLst xmlns:a="http://schemas.openxmlformats.org/drawingml/2006/main">
              <a:ext uri="{FF2B5EF4-FFF2-40B4-BE49-F238E27FC236}">
                <a16:creationId xmlns:a16="http://schemas.microsoft.com/office/drawing/2014/main" id="{0AC8A195-5914-4B87-A6A8-09D28F5D784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24AA8CDF-5EA5-4C2E-BF94-F458882D149C}"/>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15">
            <a:extLst xmlns:a="http://schemas.openxmlformats.org/drawingml/2006/main">
              <a:ext uri="{FF2B5EF4-FFF2-40B4-BE49-F238E27FC236}">
                <a16:creationId xmlns:a16="http://schemas.microsoft.com/office/drawing/2014/main" id="{2723DCB8-4C8E-4643-9B12-58D36420FC69}"/>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6F71DF9A-CEDC-42C7-903F-189209D57306}"/>
              </a:ext>
            </a:extLst>
          </p:cNvPr>
          <p:cNvSpPr>
            <a:spLocks xmlns:a="http://schemas.openxmlformats.org/drawingml/2006/main" noGrp="1"/>
          </p:cNvSpPr>
          <p:nvPr/>
        </p:nvSpPr>
        <p:spPr>
          <a:xfrm xmlns:a="http://schemas.openxmlformats.org/drawingml/2006/main">
            <a:off x="571500" y="1038225"/>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Oefenen</a:t>
            </a:r>
          </a:p>
        </p:txBody>
      </p:sp>
      <p:sp>
        <p:nvSpPr>
          <p:cNvPr id="6" name="Lesroute">
            <a:extLst xmlns:a="http://schemas.openxmlformats.org/drawingml/2006/main">
              <a:ext uri="{FF2B5EF4-FFF2-40B4-BE49-F238E27FC236}">
                <a16:creationId xmlns:a16="http://schemas.microsoft.com/office/drawing/2014/main" id="{82124964-67CF-442B-895F-87AD5C61EB7B}"/>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456343BB-F8AB-4191-9381-A4247B04FD35}"/>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59B34A54-608E-4F2C-8046-83098FE3D2AF}"/>
              </a:ext>
            </a:extLst>
          </p:cNvPr>
          <p:cNvSpPr>
            <a:spLocks xmlns:a="http://schemas.openxmlformats.org/drawingml/2006/main" noGrp="1"/>
          </p:cNvSpPr>
          <p:nvPr/>
        </p:nvSpPr>
        <p:spPr>
          <a:xfrm xmlns:a="http://schemas.openxmlformats.org/drawingml/2006/main">
            <a:off x="1104900" y="2324100"/>
            <a:ext cx="7515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F02213DA-D3D1-4130-A774-0A5EEB8B5B66}"/>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F065C09C-D8FC-4C70-A08F-0290AACB1267}"/>
              </a:ext>
            </a:extLst>
          </p:cNvPr>
          <p:cNvSpPr>
            <a:spLocks xmlns:a="http://schemas.openxmlformats.org/drawingml/2006/main" noGrp="1"/>
          </p:cNvSpPr>
          <p:nvPr/>
        </p:nvSpPr>
        <p:spPr>
          <a:xfrm xmlns:a="http://schemas.openxmlformats.org/drawingml/2006/main">
            <a:off x="1104900" y="320040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012D3C09-F94E-429D-82B1-0D4F7349FF51}"/>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E40217CD-B910-420B-A066-5922AC5DC4F9}"/>
              </a:ext>
            </a:extLst>
          </p:cNvPr>
          <p:cNvSpPr>
            <a:spLocks xmlns:a="http://schemas.openxmlformats.org/drawingml/2006/main" noGrp="1"/>
          </p:cNvSpPr>
          <p:nvPr/>
        </p:nvSpPr>
        <p:spPr>
          <a:xfrm xmlns:a="http://schemas.openxmlformats.org/drawingml/2006/main">
            <a:off x="1104900" y="371475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6F094F12-6ECE-45F0-965F-4B9D782F35C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381E163A-7E1F-41A3-9320-6ABA118B8361}"/>
              </a:ext>
            </a:extLst>
          </p:cNvPr>
          <p:cNvSpPr>
            <a:spLocks xmlns:a="http://schemas.openxmlformats.org/drawingml/2006/main" noGrp="1"/>
          </p:cNvSpPr>
          <p:nvPr/>
        </p:nvSpPr>
        <p:spPr>
          <a:xfrm xmlns:a="http://schemas.openxmlformats.org/drawingml/2006/main">
            <a:off x="1104900" y="4248150"/>
            <a:ext cx="75152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645B3F40-A4FE-474A-96E9-62BA6AF8CD13}"/>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720B256-9576-4FE1-B3A4-FC4AC0FFB601}"/>
              </a:ext>
            </a:extLst>
          </p:cNvPr>
          <p:cNvSpPr>
            <a:spLocks xmlns:a="http://schemas.openxmlformats.org/drawingml/2006/main" noGrp="1"/>
          </p:cNvSpPr>
          <p:nvPr/>
        </p:nvSpPr>
        <p:spPr>
          <a:xfrm xmlns:a="http://schemas.openxmlformats.org/drawingml/2006/main">
            <a:off x="1104900" y="6057900"/>
            <a:ext cx="75152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5F6D2995-271F-42AD-8AF8-508F2E62A230}"/>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A12AD7E6-E374-4AC6-A012-C377BFDBE0AD}"/>
              </a:ext>
            </a:extLst>
          </p:cNvPr>
          <p:cNvSpPr>
            <a:spLocks xmlns:a="http://schemas.openxmlformats.org/drawingml/2006/main" noGrp="1"/>
          </p:cNvSpPr>
          <p:nvPr/>
        </p:nvSpPr>
        <p:spPr>
          <a:xfrm xmlns:a="http://schemas.openxmlformats.org/drawingml/2006/main">
            <a:off x="1104900" y="6819900"/>
            <a:ext cx="7515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31C205D1-907F-4DE9-A5D4-743BA946988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FEA3EF80-76BE-44E6-9828-AD08A825EDA8}"/>
              </a:ext>
            </a:extLst>
          </p:cNvPr>
          <p:cNvSpPr>
            <a:spLocks xmlns:a="http://schemas.openxmlformats.org/drawingml/2006/main" noGrp="1"/>
          </p:cNvSpPr>
          <p:nvPr/>
        </p:nvSpPr>
        <p:spPr>
          <a:xfrm xmlns:a="http://schemas.openxmlformats.org/drawingml/2006/main">
            <a:off x="1104900" y="7372350"/>
            <a:ext cx="7515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C5316EC-E944-45C7-AE17-F6B72A5AA98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37926C88-9162-4169-801F-7400ECFC1531}"/>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Koopkeuzes verklaren.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Rekenen en tekenen met vraag.</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Conclusies begrenzen.</a:t>
            </a:r>
          </a:p>
        </p:txBody>
      </p:sp>
      <p:sp>
        <p:nvSpPr>
          <p:cNvPr id="23" name="">
            <a:extLst xmlns:a="http://schemas.openxmlformats.org/drawingml/2006/main">
              <a:ext uri="{FF2B5EF4-FFF2-40B4-BE49-F238E27FC236}">
                <a16:creationId xmlns:a16="http://schemas.microsoft.com/office/drawing/2014/main" id="{D489F872-1922-4611-B6EE-CFDE760E81B1}"/>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D22F6DA9-BD47-4016-A91B-6250F0FEFFB4}"/>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3BF228B7-F317-455F-8424-6781D910DA21}"/>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52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2a: verkennen, theorie p. 46</a:t>
            </a:r>
          </a:p>
        </p:txBody>
      </p:sp>
      <p:sp>
        <p:nvSpPr>
          <p:cNvPr id="26" name="">
            <a:extLst xmlns:a="http://schemas.openxmlformats.org/drawingml/2006/main">
              <a:ext uri="{FF2B5EF4-FFF2-40B4-BE49-F238E27FC236}">
                <a16:creationId xmlns:a16="http://schemas.microsoft.com/office/drawing/2014/main" id="{D65B0E8A-1C9A-4473-9673-14C57244F208}"/>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190EFB7-D019-41DB-BBBA-FF9946BA5085}"/>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C8D0253-76A2-4FEA-A732-B38938DE9123}"/>
              </a:ext>
            </a:extLst>
          </p:cNvPr>
          <p:cNvSpPr>
            <a:spLocks xmlns:a="http://schemas.openxmlformats.org/drawingml/2006/main" noGrp="1"/>
          </p:cNvSpPr>
          <p:nvPr/>
        </p:nvSpPr>
        <p:spPr>
          <a:xfrm xmlns:a="http://schemas.openxmlformats.org/drawingml/2006/main">
            <a:off x="9258300" y="6248400"/>
            <a:ext cx="5381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§1.2.1 · Opgaven 3 t/m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en 7 · Doel: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7767543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8 · Fotoprints en een sapmodel">
            <a:extLst xmlns:a="http://schemas.openxmlformats.org/drawingml/2006/main">
              <a:ext uri="{FF2B5EF4-FFF2-40B4-BE49-F238E27FC236}">
                <a16:creationId xmlns:a16="http://schemas.microsoft.com/office/drawing/2014/main" id="{0162166A-C94E-43A1-BDAE-E4C7B9C5F4B0}"/>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Fotoprints en een sapmodel</a:t>
            </a:r>
          </a:p>
        </p:txBody>
      </p:sp>
      <p:sp>
        <p:nvSpPr>
          <p:cNvPr id="2" name="">
            <a:extLst xmlns:a="http://schemas.openxmlformats.org/drawingml/2006/main">
              <a:ext uri="{FF2B5EF4-FFF2-40B4-BE49-F238E27FC236}">
                <a16:creationId xmlns:a16="http://schemas.microsoft.com/office/drawing/2014/main" id="{BE493B09-6093-48E0-B579-3135E6F8E5B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 Doelopgave 8 · Boekpagina 56">
            <a:extLst xmlns:a="http://schemas.openxmlformats.org/drawingml/2006/main">
              <a:ext uri="{FF2B5EF4-FFF2-40B4-BE49-F238E27FC236}">
                <a16:creationId xmlns:a16="http://schemas.microsoft.com/office/drawing/2014/main" id="{8E5E01AB-A619-4D02-A911-C3BAA260D8F2}"/>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 Doelopgave 8 · Boekpagina 56</a:t>
            </a:r>
          </a:p>
        </p:txBody>
      </p:sp>
      <p:sp>
        <p:nvSpPr>
          <p:cNvPr id="4" name="16">
            <a:extLst xmlns:a="http://schemas.openxmlformats.org/drawingml/2006/main">
              <a:ext uri="{FF2B5EF4-FFF2-40B4-BE49-F238E27FC236}">
                <a16:creationId xmlns:a16="http://schemas.microsoft.com/office/drawing/2014/main" id="{3EA56ABB-AE9F-4A62-AD2A-CB6825D634DF}"/>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Bron A · Iris">
            <a:extLst xmlns:a="http://schemas.openxmlformats.org/drawingml/2006/main">
              <a:ext uri="{FF2B5EF4-FFF2-40B4-BE49-F238E27FC236}">
                <a16:creationId xmlns:a16="http://schemas.microsoft.com/office/drawing/2014/main" id="{740030E8-1489-43E0-A5D2-7AE4C8E067D8}"/>
              </a:ext>
            </a:extLst>
          </p:cNvPr>
          <p:cNvSpPr>
            <a:spLocks xmlns:a="http://schemas.openxmlformats.org/drawingml/2006/main" noGrp="1"/>
          </p:cNvSpPr>
          <p:nvPr/>
        </p:nvSpPr>
        <p:spPr>
          <a:xfrm xmlns:a="http://schemas.openxmlformats.org/drawingml/2006/main">
            <a:off x="571500" y="19812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Bron A · Iris</a:t>
            </a:r>
          </a:p>
        </p:txBody>
      </p:sp>
      <p:sp>
        <p:nvSpPr>
          <p:cNvPr id="6" name="Iris wil voor vier extra fotoprints maximaal € 12,">
            <a:extLst xmlns:a="http://schemas.openxmlformats.org/drawingml/2006/main">
              <a:ext uri="{FF2B5EF4-FFF2-40B4-BE49-F238E27FC236}">
                <a16:creationId xmlns:a16="http://schemas.microsoft.com/office/drawing/2014/main" id="{22E39831-AD07-4254-9235-E90ABE51F7B8}"/>
              </a:ext>
            </a:extLst>
          </p:cNvPr>
          <p:cNvSpPr>
            <a:spLocks xmlns:a="http://schemas.openxmlformats.org/drawingml/2006/main" noGrp="1"/>
          </p:cNvSpPr>
          <p:nvPr/>
        </p:nvSpPr>
        <p:spPr>
          <a:xfrm xmlns:a="http://schemas.openxmlformats.org/drawingml/2006/main">
            <a:off x="571500" y="2847975"/>
            <a:ext cx="140970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Iris wil voor vier extra fotoprints maximaal € 12, € 9, € 5 en € 2 betalen. Elke print kost € 5. Zij heeft voldoende budget; bij gelijkheid koopt zij ook.</a:t>
            </a:r>
          </a:p>
        </p:txBody>
      </p:sp>
      <p:sp>
        <p:nvSpPr>
          <p:cNvPr id="7" name="Bron B · Een andere situatie">
            <a:extLst xmlns:a="http://schemas.openxmlformats.org/drawingml/2006/main">
              <a:ext uri="{FF2B5EF4-FFF2-40B4-BE49-F238E27FC236}">
                <a16:creationId xmlns:a16="http://schemas.microsoft.com/office/drawing/2014/main" id="{D16584D2-3899-45FE-B4B2-1F852AC824B8}"/>
              </a:ext>
            </a:extLst>
          </p:cNvPr>
          <p:cNvSpPr>
            <a:spLocks xmlns:a="http://schemas.openxmlformats.org/drawingml/2006/main" noGrp="1"/>
          </p:cNvSpPr>
          <p:nvPr/>
        </p:nvSpPr>
        <p:spPr>
          <a:xfrm xmlns:a="http://schemas.openxmlformats.org/drawingml/2006/main">
            <a:off x="571500" y="503872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Bron B · Een andere situatie</a:t>
            </a:r>
          </a:p>
        </p:txBody>
      </p:sp>
      <p:sp>
        <p:nvSpPr>
          <p:cNvPr id="8" name="Voor Amir geldt q = 20 − 4P. q is sap in liter per">
            <a:extLst xmlns:a="http://schemas.openxmlformats.org/drawingml/2006/main">
              <a:ext uri="{FF2B5EF4-FFF2-40B4-BE49-F238E27FC236}">
                <a16:creationId xmlns:a16="http://schemas.microsoft.com/office/drawing/2014/main" id="{8906A43F-799E-4D18-B7CC-B0BA3253FC76}"/>
              </a:ext>
            </a:extLst>
          </p:cNvPr>
          <p:cNvSpPr>
            <a:spLocks xmlns:a="http://schemas.openxmlformats.org/drawingml/2006/main" noGrp="1"/>
          </p:cNvSpPr>
          <p:nvPr/>
        </p:nvSpPr>
        <p:spPr>
          <a:xfrm xmlns:a="http://schemas.openxmlformats.org/drawingml/2006/main">
            <a:off x="571500" y="5924550"/>
            <a:ext cx="1409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Voor Amir geldt q = 20 − 4P. q is sap in liter per maand, P euro per liter. De functie geldt voor 0 ≤ P ≤ 5. Alle overige omstandigheden blijven gelijk.</a:t>
            </a:r>
          </a:p>
        </p:txBody>
      </p:sp>
    </p:spTree>
    <p:extLst>
      <p:ext uri="{BB962C8B-B14F-4D97-AF65-F5344CB8AC3E}">
        <p14:creationId xmlns:p14="http://schemas.microsoft.com/office/powerpoint/2010/main" val="20966614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8 · Vragen a–c">
            <a:extLst xmlns:a="http://schemas.openxmlformats.org/drawingml/2006/main">
              <a:ext uri="{FF2B5EF4-FFF2-40B4-BE49-F238E27FC236}">
                <a16:creationId xmlns:a16="http://schemas.microsoft.com/office/drawing/2014/main" id="{EE24B653-4BB2-4AA9-B9AF-B9C6A850882E}"/>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Vragen a–c</a:t>
            </a:r>
          </a:p>
        </p:txBody>
      </p:sp>
      <p:sp>
        <p:nvSpPr>
          <p:cNvPr id="2" name="">
            <a:extLst xmlns:a="http://schemas.openxmlformats.org/drawingml/2006/main">
              <a:ext uri="{FF2B5EF4-FFF2-40B4-BE49-F238E27FC236}">
                <a16:creationId xmlns:a16="http://schemas.microsoft.com/office/drawing/2014/main" id="{ACCFAB84-82FD-465C-8549-5163009F568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 Doelopgave 8 · Boekpagina 56">
            <a:extLst xmlns:a="http://schemas.openxmlformats.org/drawingml/2006/main">
              <a:ext uri="{FF2B5EF4-FFF2-40B4-BE49-F238E27FC236}">
                <a16:creationId xmlns:a16="http://schemas.microsoft.com/office/drawing/2014/main" id="{A00851DC-870B-4824-9064-8C259198DB16}"/>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 Doelopgave 8 · Boekpagina 56</a:t>
            </a:r>
          </a:p>
        </p:txBody>
      </p:sp>
      <p:sp>
        <p:nvSpPr>
          <p:cNvPr id="4" name="17">
            <a:extLst xmlns:a="http://schemas.openxmlformats.org/drawingml/2006/main">
              <a:ext uri="{FF2B5EF4-FFF2-40B4-BE49-F238E27FC236}">
                <a16:creationId xmlns:a16="http://schemas.microsoft.com/office/drawing/2014/main" id="{E603028E-0528-4F7E-8C5A-19107799555D}"/>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
            <a:extLst xmlns:a="http://schemas.openxmlformats.org/drawingml/2006/main">
              <a:ext uri="{FF2B5EF4-FFF2-40B4-BE49-F238E27FC236}">
                <a16:creationId xmlns:a16="http://schemas.microsoft.com/office/drawing/2014/main" id="{252656D5-3E42-4D29-96FD-128C4A4F4610}"/>
              </a:ext>
            </a:extLst>
          </p:cNvPr>
          <p:cNvSpPr>
            <a:spLocks xmlns:a="http://schemas.openxmlformats.org/drawingml/2006/main" noGrp="1"/>
          </p:cNvSpPr>
          <p:nvPr/>
        </p:nvSpPr>
        <p:spPr>
          <a:xfrm xmlns:a="http://schemas.openxmlformats.org/drawingml/2006/main">
            <a:off x="571500" y="23431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a.</a:t>
            </a:r>
          </a:p>
        </p:txBody>
      </p:sp>
      <p:sp>
        <p:nvSpPr>
          <p:cNvPr id="6" name="Hoeveel fotoprints koopt Iris volgens bron A? Leg ">
            <a:extLst xmlns:a="http://schemas.openxmlformats.org/drawingml/2006/main">
              <a:ext uri="{FF2B5EF4-FFF2-40B4-BE49-F238E27FC236}">
                <a16:creationId xmlns:a16="http://schemas.microsoft.com/office/drawing/2014/main" id="{3C369270-DF5E-4B31-8CAC-43D272F2E9CE}"/>
              </a:ext>
            </a:extLst>
          </p:cNvPr>
          <p:cNvSpPr>
            <a:spLocks xmlns:a="http://schemas.openxmlformats.org/drawingml/2006/main" noGrp="1"/>
          </p:cNvSpPr>
          <p:nvPr/>
        </p:nvSpPr>
        <p:spPr>
          <a:xfrm xmlns:a="http://schemas.openxmlformats.org/drawingml/2006/main">
            <a:off x="1524000" y="2343150"/>
            <a:ext cx="1314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Hoeveel fotoprints koopt Iris volgens bron A? Leg uit.</a:t>
            </a:r>
          </a:p>
        </p:txBody>
      </p:sp>
      <p:sp>
        <p:nvSpPr>
          <p:cNvPr id="7" name="b.">
            <a:extLst xmlns:a="http://schemas.openxmlformats.org/drawingml/2006/main">
              <a:ext uri="{FF2B5EF4-FFF2-40B4-BE49-F238E27FC236}">
                <a16:creationId xmlns:a16="http://schemas.microsoft.com/office/drawing/2014/main" id="{521FF94B-6969-4696-94CE-D4972FA9813B}"/>
              </a:ext>
            </a:extLst>
          </p:cNvPr>
          <p:cNvSpPr>
            <a:spLocks xmlns:a="http://schemas.openxmlformats.org/drawingml/2006/main" noGrp="1"/>
          </p:cNvSpPr>
          <p:nvPr/>
        </p:nvSpPr>
        <p:spPr>
          <a:xfrm xmlns:a="http://schemas.openxmlformats.org/drawingml/2006/main">
            <a:off x="571500" y="41529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b.</a:t>
            </a:r>
          </a:p>
        </p:txBody>
      </p:sp>
      <p:sp>
        <p:nvSpPr>
          <p:cNvPr id="8" name="Bereken met bron B de gevraagde hoeveelheid bij P ">
            <a:extLst xmlns:a="http://schemas.openxmlformats.org/drawingml/2006/main">
              <a:ext uri="{FF2B5EF4-FFF2-40B4-BE49-F238E27FC236}">
                <a16:creationId xmlns:a16="http://schemas.microsoft.com/office/drawing/2014/main" id="{CBEB6087-BF23-44F7-979B-5FF617C38FCC}"/>
              </a:ext>
            </a:extLst>
          </p:cNvPr>
          <p:cNvSpPr>
            <a:spLocks xmlns:a="http://schemas.openxmlformats.org/drawingml/2006/main" noGrp="1"/>
          </p:cNvSpPr>
          <p:nvPr/>
        </p:nvSpPr>
        <p:spPr>
          <a:xfrm xmlns:a="http://schemas.openxmlformats.org/drawingml/2006/main">
            <a:off x="1524000" y="4152900"/>
            <a:ext cx="1314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Bereken met bron B de gevraagde hoeveelheid bij P = € 2 en bij P = € 3.</a:t>
            </a:r>
          </a:p>
        </p:txBody>
      </p:sp>
      <p:sp>
        <p:nvSpPr>
          <p:cNvPr id="9" name="c.">
            <a:extLst xmlns:a="http://schemas.openxmlformats.org/drawingml/2006/main">
              <a:ext uri="{FF2B5EF4-FFF2-40B4-BE49-F238E27FC236}">
                <a16:creationId xmlns:a16="http://schemas.microsoft.com/office/drawing/2014/main" id="{3E000B3F-BD4D-4FCC-9195-285A4321E80A}"/>
              </a:ext>
            </a:extLst>
          </p:cNvPr>
          <p:cNvSpPr>
            <a:spLocks xmlns:a="http://schemas.openxmlformats.org/drawingml/2006/main" noGrp="1"/>
          </p:cNvSpPr>
          <p:nvPr/>
        </p:nvSpPr>
        <p:spPr>
          <a:xfrm xmlns:a="http://schemas.openxmlformats.org/drawingml/2006/main">
            <a:off x="571500" y="59626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c.</a:t>
            </a:r>
          </a:p>
        </p:txBody>
      </p:sp>
      <p:sp>
        <p:nvSpPr>
          <p:cNvPr id="10" name="Bereken de prijs die hoort bij q = 6 liter per maa">
            <a:extLst xmlns:a="http://schemas.openxmlformats.org/drawingml/2006/main">
              <a:ext uri="{FF2B5EF4-FFF2-40B4-BE49-F238E27FC236}">
                <a16:creationId xmlns:a16="http://schemas.microsoft.com/office/drawing/2014/main" id="{149E08AB-A8D8-462D-9222-A5F65C39D0A5}"/>
              </a:ext>
            </a:extLst>
          </p:cNvPr>
          <p:cNvSpPr>
            <a:spLocks xmlns:a="http://schemas.openxmlformats.org/drawingml/2006/main" noGrp="1"/>
          </p:cNvSpPr>
          <p:nvPr/>
        </p:nvSpPr>
        <p:spPr>
          <a:xfrm xmlns:a="http://schemas.openxmlformats.org/drawingml/2006/main">
            <a:off x="1524000" y="5962650"/>
            <a:ext cx="1314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Bereken de prijs die hoort bij q = 6 liter per maand. Controleer je antwoord.</a:t>
            </a:r>
          </a:p>
        </p:txBody>
      </p:sp>
    </p:spTree>
    <p:extLst>
      <p:ext uri="{BB962C8B-B14F-4D97-AF65-F5344CB8AC3E}">
        <p14:creationId xmlns:p14="http://schemas.microsoft.com/office/powerpoint/2010/main" val="140739647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8 · Vragen d–f">
            <a:extLst xmlns:a="http://schemas.openxmlformats.org/drawingml/2006/main">
              <a:ext uri="{FF2B5EF4-FFF2-40B4-BE49-F238E27FC236}">
                <a16:creationId xmlns:a16="http://schemas.microsoft.com/office/drawing/2014/main" id="{5F4F9066-7AEA-4404-A251-8FDC59178558}"/>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 · Vragen d–f</a:t>
            </a:r>
          </a:p>
        </p:txBody>
      </p:sp>
      <p:sp>
        <p:nvSpPr>
          <p:cNvPr id="2" name="">
            <a:extLst xmlns:a="http://schemas.openxmlformats.org/drawingml/2006/main">
              <a:ext uri="{FF2B5EF4-FFF2-40B4-BE49-F238E27FC236}">
                <a16:creationId xmlns:a16="http://schemas.microsoft.com/office/drawing/2014/main" id="{A14D053F-13CD-4231-9B88-55E71215621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 Doelopgave 8 · Boekpagina 56">
            <a:extLst xmlns:a="http://schemas.openxmlformats.org/drawingml/2006/main">
              <a:ext uri="{FF2B5EF4-FFF2-40B4-BE49-F238E27FC236}">
                <a16:creationId xmlns:a16="http://schemas.microsoft.com/office/drawing/2014/main" id="{6682D60A-469B-4383-AF68-9B4B531A918A}"/>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 Doelopgave 8 · Boekpagina 56</a:t>
            </a:r>
          </a:p>
        </p:txBody>
      </p:sp>
      <p:sp>
        <p:nvSpPr>
          <p:cNvPr id="4" name="18">
            <a:extLst xmlns:a="http://schemas.openxmlformats.org/drawingml/2006/main">
              <a:ext uri="{FF2B5EF4-FFF2-40B4-BE49-F238E27FC236}">
                <a16:creationId xmlns:a16="http://schemas.microsoft.com/office/drawing/2014/main" id="{04EF4B4E-F30B-4E81-BF85-78892F9431E0}"/>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d.">
            <a:extLst xmlns:a="http://schemas.openxmlformats.org/drawingml/2006/main">
              <a:ext uri="{FF2B5EF4-FFF2-40B4-BE49-F238E27FC236}">
                <a16:creationId xmlns:a16="http://schemas.microsoft.com/office/drawing/2014/main" id="{14E51B3B-E3CF-44B7-98E5-EAB65348E705}"/>
              </a:ext>
            </a:extLst>
          </p:cNvPr>
          <p:cNvSpPr>
            <a:spLocks xmlns:a="http://schemas.openxmlformats.org/drawingml/2006/main" noGrp="1"/>
          </p:cNvSpPr>
          <p:nvPr/>
        </p:nvSpPr>
        <p:spPr>
          <a:xfrm xmlns:a="http://schemas.openxmlformats.org/drawingml/2006/main">
            <a:off x="571500" y="22288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d.</a:t>
            </a:r>
          </a:p>
        </p:txBody>
      </p:sp>
      <p:sp>
        <p:nvSpPr>
          <p:cNvPr id="6" name="Bereken beide snijpunten van de vraaglijn uit bron">
            <a:extLst xmlns:a="http://schemas.openxmlformats.org/drawingml/2006/main">
              <a:ext uri="{FF2B5EF4-FFF2-40B4-BE49-F238E27FC236}">
                <a16:creationId xmlns:a16="http://schemas.microsoft.com/office/drawing/2014/main" id="{A2399E9A-C00A-4C61-A259-7D1F738445E1}"/>
              </a:ext>
            </a:extLst>
          </p:cNvPr>
          <p:cNvSpPr>
            <a:spLocks xmlns:a="http://schemas.openxmlformats.org/drawingml/2006/main" noGrp="1"/>
          </p:cNvSpPr>
          <p:nvPr/>
        </p:nvSpPr>
        <p:spPr>
          <a:xfrm xmlns:a="http://schemas.openxmlformats.org/drawingml/2006/main">
            <a:off x="1524000" y="2228850"/>
            <a:ext cx="13144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Bereken beide snijpunten van de vraaglijn uit bron B.</a:t>
            </a:r>
          </a:p>
        </p:txBody>
      </p:sp>
      <p:sp>
        <p:nvSpPr>
          <p:cNvPr id="7" name="e.">
            <a:extLst xmlns:a="http://schemas.openxmlformats.org/drawingml/2006/main">
              <a:ext uri="{FF2B5EF4-FFF2-40B4-BE49-F238E27FC236}">
                <a16:creationId xmlns:a16="http://schemas.microsoft.com/office/drawing/2014/main" id="{AC540402-E224-4E73-8E0E-4C2B72E9E20E}"/>
              </a:ext>
            </a:extLst>
          </p:cNvPr>
          <p:cNvSpPr>
            <a:spLocks xmlns:a="http://schemas.openxmlformats.org/drawingml/2006/main" noGrp="1"/>
          </p:cNvSpPr>
          <p:nvPr/>
        </p:nvSpPr>
        <p:spPr>
          <a:xfrm xmlns:a="http://schemas.openxmlformats.org/drawingml/2006/main">
            <a:off x="571500" y="41529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e.</a:t>
            </a:r>
          </a:p>
        </p:txBody>
      </p:sp>
      <p:sp>
        <p:nvSpPr>
          <p:cNvPr id="8" name="Teken die vraaglijn in je schrift en markeer de tw">
            <a:extLst xmlns:a="http://schemas.openxmlformats.org/drawingml/2006/main">
              <a:ext uri="{FF2B5EF4-FFF2-40B4-BE49-F238E27FC236}">
                <a16:creationId xmlns:a16="http://schemas.microsoft.com/office/drawing/2014/main" id="{3B711762-03AA-4FD6-AAB9-1F8B298B0377}"/>
              </a:ext>
            </a:extLst>
          </p:cNvPr>
          <p:cNvSpPr>
            <a:spLocks xmlns:a="http://schemas.openxmlformats.org/drawingml/2006/main" noGrp="1"/>
          </p:cNvSpPr>
          <p:nvPr/>
        </p:nvSpPr>
        <p:spPr>
          <a:xfrm xmlns:a="http://schemas.openxmlformats.org/drawingml/2006/main">
            <a:off x="1524000" y="4152900"/>
            <a:ext cx="13144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Teken die vraaglijn in je schrift en markeer de twee punten uit b. Vermeld variabelen, eenheden en een bruikbare schaal.</a:t>
            </a:r>
          </a:p>
        </p:txBody>
      </p:sp>
      <p:sp>
        <p:nvSpPr>
          <p:cNvPr id="9" name="f.">
            <a:extLst xmlns:a="http://schemas.openxmlformats.org/drawingml/2006/main">
              <a:ext uri="{FF2B5EF4-FFF2-40B4-BE49-F238E27FC236}">
                <a16:creationId xmlns:a16="http://schemas.microsoft.com/office/drawing/2014/main" id="{3DAFBC9E-ECA3-46F3-BEA1-CF54C714EFA2}"/>
              </a:ext>
            </a:extLst>
          </p:cNvPr>
          <p:cNvSpPr>
            <a:spLocks xmlns:a="http://schemas.openxmlformats.org/drawingml/2006/main" noGrp="1"/>
          </p:cNvSpPr>
          <p:nvPr/>
        </p:nvSpPr>
        <p:spPr>
          <a:xfrm xmlns:a="http://schemas.openxmlformats.org/drawingml/2006/main">
            <a:off x="571500" y="60769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f.</a:t>
            </a:r>
          </a:p>
        </p:txBody>
      </p:sp>
      <p:sp>
        <p:nvSpPr>
          <p:cNvPr id="10" name="Leg uit wat de prijsstijging van € 2 naar € 3 voor">
            <a:extLst xmlns:a="http://schemas.openxmlformats.org/drawingml/2006/main">
              <a:ext uri="{FF2B5EF4-FFF2-40B4-BE49-F238E27FC236}">
                <a16:creationId xmlns:a16="http://schemas.microsoft.com/office/drawing/2014/main" id="{785B2823-1C2D-4B81-8697-18B3A70D38F7}"/>
              </a:ext>
            </a:extLst>
          </p:cNvPr>
          <p:cNvSpPr>
            <a:spLocks xmlns:a="http://schemas.openxmlformats.org/drawingml/2006/main" noGrp="1"/>
          </p:cNvSpPr>
          <p:nvPr/>
        </p:nvSpPr>
        <p:spPr>
          <a:xfrm xmlns:a="http://schemas.openxmlformats.org/drawingml/2006/main">
            <a:off x="1524000" y="6076950"/>
            <a:ext cx="13144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Leg uit wat de prijsstijging van € 2 naar € 3 voor Amirs vraag betekent. Kun je daarmee ook zijn feitelijke aankoop vaststellen?</a:t>
            </a:r>
          </a:p>
        </p:txBody>
      </p:sp>
    </p:spTree>
    <p:extLst>
      <p:ext uri="{BB962C8B-B14F-4D97-AF65-F5344CB8AC3E}">
        <p14:creationId xmlns:p14="http://schemas.microsoft.com/office/powerpoint/2010/main" val="11272834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a · De koopbeslissing van Iris">
            <a:extLst xmlns:a="http://schemas.openxmlformats.org/drawingml/2006/main">
              <a:ext uri="{FF2B5EF4-FFF2-40B4-BE49-F238E27FC236}">
                <a16:creationId xmlns:a16="http://schemas.microsoft.com/office/drawing/2014/main" id="{2EF7CE38-6DB2-42B1-9B1B-400BFB2C6445}"/>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8a · De koopbeslissing van Iris</a:t>
            </a:r>
          </a:p>
        </p:txBody>
      </p:sp>
      <p:sp>
        <p:nvSpPr>
          <p:cNvPr id="2" name="">
            <a:extLst xmlns:a="http://schemas.openxmlformats.org/drawingml/2006/main">
              <a:ext uri="{FF2B5EF4-FFF2-40B4-BE49-F238E27FC236}">
                <a16:creationId xmlns:a16="http://schemas.microsoft.com/office/drawing/2014/main" id="{211E047F-691D-4058-BBF9-62DD0465405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 Opgave 8a · Boekpagina 56">
            <a:extLst xmlns:a="http://schemas.openxmlformats.org/drawingml/2006/main">
              <a:ext uri="{FF2B5EF4-FFF2-40B4-BE49-F238E27FC236}">
                <a16:creationId xmlns:a16="http://schemas.microsoft.com/office/drawing/2014/main" id="{DC5BFDE5-8230-4790-8FE9-2F41103122A6}"/>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 Opgave 8a · Boekpagina 56</a:t>
            </a:r>
          </a:p>
        </p:txBody>
      </p:sp>
      <p:sp>
        <p:nvSpPr>
          <p:cNvPr id="4" name="19">
            <a:extLst xmlns:a="http://schemas.openxmlformats.org/drawingml/2006/main">
              <a:ext uri="{FF2B5EF4-FFF2-40B4-BE49-F238E27FC236}">
                <a16:creationId xmlns:a16="http://schemas.microsoft.com/office/drawing/2014/main" id="{45896D56-15C7-4A48-B702-DC626AAFA210}"/>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2" name=""/>
          <p:cNvGraphicFramePr/>
          <p:nvPr/>
        </p:nvGraphicFramePr>
        <p:xfrm>
          <a:off xmlns:a="http://schemas.openxmlformats.org/drawingml/2006/main" x="571500" y="2266950"/>
          <a:ext xmlns:a="http://schemas.openxmlformats.org/drawingml/2006/main" cx="14097000" cy="3333750"/>
        </p:xfrm>
        <a:graphic xmlns:a="http://schemas.openxmlformats.org/drawingml/2006/main">
          <a:graphicData uri="http://schemas.openxmlformats.org/drawingml/2006/table">
            <a:tbl>
              <a:tblPr/>
              <a:tblGrid>
                <a:gridCol w="4381500"/>
                <a:gridCol w="2428875"/>
                <a:gridCol w="2428875"/>
                <a:gridCol w="2428875"/>
                <a:gridCol w="2428875"/>
              </a:tblGrid>
              <a:tr h="833438">
                <a:tc>
                  <a:txBody>
                    <a:bodyPr lIns="171450" tIns="95250" rIns="152400" bIns="95250"/>
                    <a:lstStyle/>
                    <a:p>
                      <a:r>
                        <a:rPr sz="2550" b="1">
                          <a:solidFill>
                            <a:srgbClr val="FFFFFF"/>
                          </a:solidFill>
                          <a:latin typeface="Arial"/>
                          <a:ea typeface="Arial"/>
                          <a:cs typeface="Arial"/>
                        </a:rPr>
                        <a:t>Extra fotoprint</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1e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2e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3e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4e</a:t>
                      </a:r>
                    </a:p>
                  </a:txBody>
                  <a:tcPr marL="91440" marR="91440" marT="45720" marB="45720" anchor="ctr">
                    <a:solidFill>
                      <a:srgbClr val="183247"/>
                    </a:solidFill>
                  </a:tcPr>
                </a:tc>
              </a:tr>
              <a:tr h="833438">
                <a:tc>
                  <a:txBody>
                    <a:bodyPr lIns="171450" tIns="95250" rIns="152400" bIns="95250"/>
                    <a:lstStyle/>
                    <a:p>
                      <a:r>
                        <a:rPr sz="2550" b="0">
                          <a:solidFill>
                            <a:srgbClr val="183247"/>
                          </a:solidFill>
                          <a:latin typeface="Arial"/>
                          <a:ea typeface="Arial"/>
                          <a:cs typeface="Arial"/>
                        </a:rPr>
                        <a:t>Betalingsbereidheid</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€ 12</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€ 9</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€ 2</a:t>
                      </a:r>
                    </a:p>
                  </a:txBody>
                  <a:tcPr marL="91440" marR="91440" marT="45720" marB="45720" anchor="ctr">
                    <a:solidFill>
                      <a:srgbClr val="FFFFFF"/>
                    </a:solidFill>
                  </a:tcPr>
                </a:tc>
              </a:tr>
              <a:tr h="833438">
                <a:tc>
                  <a:txBody>
                    <a:bodyPr lIns="171450" tIns="95250" rIns="152400" bIns="95250"/>
                    <a:lstStyle/>
                    <a:p>
                      <a:r>
                        <a:rPr sz="2550" b="0">
                          <a:solidFill>
                            <a:srgbClr val="183247"/>
                          </a:solidFill>
                          <a:latin typeface="Arial"/>
                          <a:ea typeface="Arial"/>
                          <a:cs typeface="Arial"/>
                        </a:rPr>
                        <a:t>Vergelijk met € 5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12 &gt; 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9 &gt; 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5 = 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2 &lt; 5</a:t>
                      </a:r>
                    </a:p>
                  </a:txBody>
                  <a:tcPr marL="91440" marR="91440" marT="45720" marB="45720" anchor="ctr">
                    <a:solidFill>
                      <a:srgbClr val="EFF4F7"/>
                    </a:solidFill>
                  </a:tcPr>
                </a:tc>
              </a:tr>
              <a:tr h="833438">
                <a:tc>
                  <a:txBody>
                    <a:bodyPr lIns="171450" tIns="95250" rIns="152400" bIns="95250"/>
                    <a:lstStyle/>
                    <a:p>
                      <a:r>
                        <a:rPr sz="2550" b="0">
                          <a:solidFill>
                            <a:srgbClr val="183247"/>
                          </a:solidFill>
                          <a:latin typeface="Arial"/>
                          <a:ea typeface="Arial"/>
                          <a:cs typeface="Arial"/>
                        </a:rPr>
                        <a:t>Koopt zij?</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Ja</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Ja</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Ja</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Nee</a:t>
                      </a:r>
                    </a:p>
                  </a:txBody>
                  <a:tcPr marL="91440" marR="91440" marT="45720" marB="45720" anchor="ctr">
                    <a:solidFill>
                      <a:srgbClr val="FFFFFF"/>
                    </a:solidFill>
                  </a:tcPr>
                </a:tc>
              </a:tr>
            </a:tbl>
          </a:graphicData>
        </a:graphic>
      </p:graphicFrame>
      <p:sp>
        <p:nvSpPr>
          <p:cNvPr id="6" name="Iris koopt 3 fotoprints.">
            <a:extLst xmlns:a="http://schemas.openxmlformats.org/drawingml/2006/main">
              <a:ext uri="{FF2B5EF4-FFF2-40B4-BE49-F238E27FC236}">
                <a16:creationId xmlns:a16="http://schemas.microsoft.com/office/drawing/2014/main" id="{8AC83C26-417F-4429-BC2E-6D887770D366}"/>
              </a:ext>
            </a:extLst>
          </p:cNvPr>
          <p:cNvSpPr>
            <a:spLocks xmlns:a="http://schemas.openxmlformats.org/drawingml/2006/main" noGrp="1"/>
          </p:cNvSpPr>
          <p:nvPr/>
        </p:nvSpPr>
        <p:spPr>
          <a:xfrm xmlns:a="http://schemas.openxmlformats.org/drawingml/2006/main">
            <a:off x="571500" y="632460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Iris koopt 3 fotoprints.</a:t>
            </a:r>
          </a:p>
        </p:txBody>
      </p:sp>
      <p:sp>
        <p:nvSpPr>
          <p:cNvPr id="7" name="Ook bij gelijkheid koopt zij; de vierde print is h">
            <a:extLst xmlns:a="http://schemas.openxmlformats.org/drawingml/2006/main">
              <a:ext uri="{FF2B5EF4-FFF2-40B4-BE49-F238E27FC236}">
                <a16:creationId xmlns:a16="http://schemas.microsoft.com/office/drawing/2014/main" id="{166B96F1-AB79-447D-B318-AA0676AE037C}"/>
              </a:ext>
            </a:extLst>
          </p:cNvPr>
          <p:cNvSpPr>
            <a:spLocks xmlns:a="http://schemas.openxmlformats.org/drawingml/2006/main" noGrp="1"/>
          </p:cNvSpPr>
          <p:nvPr/>
        </p:nvSpPr>
        <p:spPr>
          <a:xfrm xmlns:a="http://schemas.openxmlformats.org/drawingml/2006/main">
            <a:off x="571500" y="720090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Ook bij gelijkheid koopt zij; de vierde print is haar minder dan € 5 waard.</a:t>
            </a:r>
          </a:p>
        </p:txBody>
      </p:sp>
    </p:spTree>
    <p:extLst>
      <p:ext uri="{BB962C8B-B14F-4D97-AF65-F5344CB8AC3E}">
        <p14:creationId xmlns:p14="http://schemas.microsoft.com/office/powerpoint/2010/main" val="178552600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b · Amir: hoeveelheid bij prijs">
            <a:extLst xmlns:a="http://schemas.openxmlformats.org/drawingml/2006/main">
              <a:ext uri="{FF2B5EF4-FFF2-40B4-BE49-F238E27FC236}">
                <a16:creationId xmlns:a16="http://schemas.microsoft.com/office/drawing/2014/main" id="{7336B6CD-AF42-48B8-B833-D4DB88504A3B}"/>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8b · Amir: hoeveelheid bij prijs</a:t>
            </a:r>
          </a:p>
        </p:txBody>
      </p:sp>
      <p:sp>
        <p:nvSpPr>
          <p:cNvPr id="2" name="">
            <a:extLst xmlns:a="http://schemas.openxmlformats.org/drawingml/2006/main">
              <a:ext uri="{FF2B5EF4-FFF2-40B4-BE49-F238E27FC236}">
                <a16:creationId xmlns:a16="http://schemas.microsoft.com/office/drawing/2014/main" id="{CEB3FF43-D7AC-4F15-A407-F6CEBBF465D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 Opgave 8b · Boekpagina 56">
            <a:extLst xmlns:a="http://schemas.openxmlformats.org/drawingml/2006/main">
              <a:ext uri="{FF2B5EF4-FFF2-40B4-BE49-F238E27FC236}">
                <a16:creationId xmlns:a16="http://schemas.microsoft.com/office/drawing/2014/main" id="{97467E2C-481C-431E-8C8D-8A14DFBFD607}"/>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 Opgave 8b · Boekpagina 56</a:t>
            </a:r>
          </a:p>
        </p:txBody>
      </p:sp>
      <p:sp>
        <p:nvSpPr>
          <p:cNvPr id="4" name="20">
            <a:extLst xmlns:a="http://schemas.openxmlformats.org/drawingml/2006/main">
              <a:ext uri="{FF2B5EF4-FFF2-40B4-BE49-F238E27FC236}">
                <a16:creationId xmlns:a16="http://schemas.microsoft.com/office/drawing/2014/main" id="{BB01566C-E0FA-4168-9E82-B2F44591CEB4}"/>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Bron B: q = 20 − 4P">
            <a:extLst xmlns:a="http://schemas.openxmlformats.org/drawingml/2006/main">
              <a:ext uri="{FF2B5EF4-FFF2-40B4-BE49-F238E27FC236}">
                <a16:creationId xmlns:a16="http://schemas.microsoft.com/office/drawing/2014/main" id="{E164B749-1DB2-4633-BD81-23D31E59C4C4}"/>
              </a:ext>
            </a:extLst>
          </p:cNvPr>
          <p:cNvSpPr>
            <a:spLocks xmlns:a="http://schemas.openxmlformats.org/drawingml/2006/main" noGrp="1"/>
          </p:cNvSpPr>
          <p:nvPr/>
        </p:nvSpPr>
        <p:spPr>
          <a:xfrm xmlns:a="http://schemas.openxmlformats.org/drawingml/2006/main">
            <a:off x="571500" y="205740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Bron B: q = 20 − 4P</a:t>
            </a:r>
          </a:p>
        </p:txBody>
      </p:sp>
      <p:graphicFrame>
        <p:nvGraphicFramePr>
          <p:cNvPr id="13" name=""/>
          <p:cNvGraphicFramePr/>
          <p:nvPr/>
        </p:nvGraphicFramePr>
        <p:xfrm>
          <a:off xmlns:a="http://schemas.openxmlformats.org/drawingml/2006/main" x="571500" y="3381375"/>
          <a:ext xmlns:a="http://schemas.openxmlformats.org/drawingml/2006/main" cx="14097000" cy="2790825"/>
        </p:xfrm>
        <a:graphic xmlns:a="http://schemas.openxmlformats.org/drawingml/2006/main">
          <a:graphicData uri="http://schemas.openxmlformats.org/drawingml/2006/table">
            <a:tbl>
              <a:tblPr/>
              <a:tblGrid>
                <a:gridCol w="3333750"/>
                <a:gridCol w="6000750"/>
                <a:gridCol w="4762500"/>
              </a:tblGrid>
              <a:tr h="930275">
                <a:tc>
                  <a:txBody>
                    <a:bodyPr lIns="171450" tIns="95250" rIns="152400" bIns="95250"/>
                    <a:lstStyle/>
                    <a:p>
                      <a:r>
                        <a:rPr sz="2775" b="1">
                          <a:solidFill>
                            <a:srgbClr val="FFFFFF"/>
                          </a:solidFill>
                          <a:latin typeface="Arial"/>
                          <a:ea typeface="Arial"/>
                          <a:cs typeface="Arial"/>
                        </a:rPr>
                        <a:t>P (€ per liter)</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q (liter per maand)</a:t>
                      </a:r>
                    </a:p>
                  </a:txBody>
                  <a:tcPr marL="91440" marR="91440" marT="45720" marB="45720" anchor="ctr">
                    <a:solidFill>
                      <a:srgbClr val="183247"/>
                    </a:solidFill>
                  </a:tcPr>
                </a:tc>
              </a:tr>
              <a:tr h="930275">
                <a:tc>
                  <a:txBody>
                    <a:bodyPr lIns="171450" tIns="95250" rIns="152400" bIns="95250"/>
                    <a:lstStyle/>
                    <a:p>
                      <a:r>
                        <a:rPr sz="2775" b="0">
                          <a:solidFill>
                            <a:srgbClr val="183247"/>
                          </a:solidFill>
                          <a:latin typeface="Arial"/>
                          <a:ea typeface="Arial"/>
                          <a:cs typeface="Arial"/>
                        </a:rPr>
                        <a:t>2</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20 − 4 × 2 = 20 − 8</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12</a:t>
                      </a:r>
                    </a:p>
                  </a:txBody>
                  <a:tcPr marL="91440" marR="91440" marT="45720" marB="45720" anchor="ctr">
                    <a:solidFill>
                      <a:srgbClr val="FFFFFF"/>
                    </a:solidFill>
                  </a:tcPr>
                </a:tc>
              </a:tr>
              <a:tr h="930275">
                <a:tc>
                  <a:txBody>
                    <a:bodyPr lIns="171450" tIns="95250" rIns="152400" bIns="95250"/>
                    <a:lstStyle/>
                    <a:p>
                      <a:r>
                        <a:rPr sz="2775" b="0">
                          <a:solidFill>
                            <a:srgbClr val="183247"/>
                          </a:solidFill>
                          <a:latin typeface="Arial"/>
                          <a:ea typeface="Arial"/>
                          <a:cs typeface="Arial"/>
                        </a:rPr>
                        <a:t>3</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20 − 4 × 3 = 20 − 12</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8</a:t>
                      </a:r>
                    </a:p>
                  </a:txBody>
                  <a:tcPr marL="91440" marR="91440" marT="45720" marB="45720" anchor="ctr">
                    <a:solidFill>
                      <a:srgbClr val="EFF4F7"/>
                    </a:solidFill>
                  </a:tcPr>
                </a:tc>
              </a:tr>
            </a:tbl>
          </a:graphicData>
        </a:graphic>
      </p:graphicFrame>
      <p:sp>
        <p:nvSpPr>
          <p:cNvPr id="7" name="Beide prijzen vallen binnen 0 ≤ P ≤ 5.">
            <a:extLst xmlns:a="http://schemas.openxmlformats.org/drawingml/2006/main">
              <a:ext uri="{FF2B5EF4-FFF2-40B4-BE49-F238E27FC236}">
                <a16:creationId xmlns:a16="http://schemas.microsoft.com/office/drawing/2014/main" id="{A39189C3-B473-4305-A43B-5C41F0DEEC95}"/>
              </a:ext>
            </a:extLst>
          </p:cNvPr>
          <p:cNvSpPr>
            <a:spLocks xmlns:a="http://schemas.openxmlformats.org/drawingml/2006/main" noGrp="1"/>
          </p:cNvSpPr>
          <p:nvPr/>
        </p:nvSpPr>
        <p:spPr>
          <a:xfrm xmlns:a="http://schemas.openxmlformats.org/drawingml/2006/main">
            <a:off x="571500" y="69913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Beide prijzen vallen binnen 0 ≤ P ≤ 5.</a:t>
            </a:r>
          </a:p>
        </p:txBody>
      </p:sp>
    </p:spTree>
    <p:extLst>
      <p:ext uri="{BB962C8B-B14F-4D97-AF65-F5344CB8AC3E}">
        <p14:creationId xmlns:p14="http://schemas.microsoft.com/office/powerpoint/2010/main" val="11194559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pgave 8c · Amir: prijs bij 6 liter">
            <a:extLst xmlns:a="http://schemas.openxmlformats.org/drawingml/2006/main">
              <a:ext uri="{FF2B5EF4-FFF2-40B4-BE49-F238E27FC236}">
                <a16:creationId xmlns:a16="http://schemas.microsoft.com/office/drawing/2014/main" id="{20A454B6-B914-4093-B111-F5EB1FC5DAF3}"/>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8c · Amir: prijs bij 6 liter</a:t>
            </a:r>
          </a:p>
        </p:txBody>
      </p:sp>
      <p:sp>
        <p:nvSpPr>
          <p:cNvPr id="2" name="">
            <a:extLst xmlns:a="http://schemas.openxmlformats.org/drawingml/2006/main">
              <a:ext uri="{FF2B5EF4-FFF2-40B4-BE49-F238E27FC236}">
                <a16:creationId xmlns:a16="http://schemas.microsoft.com/office/drawing/2014/main" id="{6097FE1F-2E52-40F8-947B-6317229C745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 Opgave 8c · Boekpagina 56">
            <a:extLst xmlns:a="http://schemas.openxmlformats.org/drawingml/2006/main">
              <a:ext uri="{FF2B5EF4-FFF2-40B4-BE49-F238E27FC236}">
                <a16:creationId xmlns:a16="http://schemas.microsoft.com/office/drawing/2014/main" id="{E3B1CF9A-0703-435F-9410-39929B75D362}"/>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 Opgave 8c · Boekpagina 56</a:t>
            </a:r>
          </a:p>
        </p:txBody>
      </p:sp>
      <p:sp>
        <p:nvSpPr>
          <p:cNvPr id="4" name="21">
            <a:extLst xmlns:a="http://schemas.openxmlformats.org/drawingml/2006/main">
              <a:ext uri="{FF2B5EF4-FFF2-40B4-BE49-F238E27FC236}">
                <a16:creationId xmlns:a16="http://schemas.microsoft.com/office/drawing/2014/main" id="{C1FBF4C4-6DEE-4621-8644-8AA5E6751948}"/>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6 = 20 − 4P">
            <a:extLst xmlns:a="http://schemas.openxmlformats.org/drawingml/2006/main">
              <a:ext uri="{FF2B5EF4-FFF2-40B4-BE49-F238E27FC236}">
                <a16:creationId xmlns:a16="http://schemas.microsoft.com/office/drawing/2014/main" id="{D05DD421-BB33-4BFD-9D39-023E66CEB66D}"/>
              </a:ext>
            </a:extLst>
          </p:cNvPr>
          <p:cNvSpPr>
            <a:spLocks xmlns:a="http://schemas.openxmlformats.org/drawingml/2006/main" noGrp="1"/>
          </p:cNvSpPr>
          <p:nvPr/>
        </p:nvSpPr>
        <p:spPr>
          <a:xfrm xmlns:a="http://schemas.openxmlformats.org/drawingml/2006/main">
            <a:off x="571500" y="2114550"/>
            <a:ext cx="7620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6 = 20 − 4P</a:t>
            </a:r>
          </a:p>
        </p:txBody>
      </p:sp>
      <p:sp>
        <p:nvSpPr>
          <p:cNvPr id="6" name="Vul q = 6 in.">
            <a:extLst xmlns:a="http://schemas.openxmlformats.org/drawingml/2006/main">
              <a:ext uri="{FF2B5EF4-FFF2-40B4-BE49-F238E27FC236}">
                <a16:creationId xmlns:a16="http://schemas.microsoft.com/office/drawing/2014/main" id="{27077897-84F6-4805-A8D4-1D5319D817C3}"/>
              </a:ext>
            </a:extLst>
          </p:cNvPr>
          <p:cNvSpPr>
            <a:spLocks xmlns:a="http://schemas.openxmlformats.org/drawingml/2006/main" noGrp="1"/>
          </p:cNvSpPr>
          <p:nvPr/>
        </p:nvSpPr>
        <p:spPr>
          <a:xfrm xmlns:a="http://schemas.openxmlformats.org/drawingml/2006/main">
            <a:off x="8953500" y="2114550"/>
            <a:ext cx="5715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Vul q = 6 in.</a:t>
            </a:r>
          </a:p>
        </p:txBody>
      </p:sp>
      <p:sp>
        <p:nvSpPr>
          <p:cNvPr id="7" name="6 + 4P = 20">
            <a:extLst xmlns:a="http://schemas.openxmlformats.org/drawingml/2006/main">
              <a:ext uri="{FF2B5EF4-FFF2-40B4-BE49-F238E27FC236}">
                <a16:creationId xmlns:a16="http://schemas.microsoft.com/office/drawing/2014/main" id="{CCB9298F-C670-438C-B01C-9CE2D0FE2E0D}"/>
              </a:ext>
            </a:extLst>
          </p:cNvPr>
          <p:cNvSpPr>
            <a:spLocks xmlns:a="http://schemas.openxmlformats.org/drawingml/2006/main" noGrp="1"/>
          </p:cNvSpPr>
          <p:nvPr/>
        </p:nvSpPr>
        <p:spPr>
          <a:xfrm xmlns:a="http://schemas.openxmlformats.org/drawingml/2006/main">
            <a:off x="571500" y="3219450"/>
            <a:ext cx="7620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6 + 4P = 20</a:t>
            </a:r>
          </a:p>
        </p:txBody>
      </p:sp>
      <p:sp>
        <p:nvSpPr>
          <p:cNvPr id="8" name="Beide kanten +4P">
            <a:extLst xmlns:a="http://schemas.openxmlformats.org/drawingml/2006/main">
              <a:ext uri="{FF2B5EF4-FFF2-40B4-BE49-F238E27FC236}">
                <a16:creationId xmlns:a16="http://schemas.microsoft.com/office/drawing/2014/main" id="{53337DAE-45D7-4A79-AB80-EBA4CDB65121}"/>
              </a:ext>
            </a:extLst>
          </p:cNvPr>
          <p:cNvSpPr>
            <a:spLocks xmlns:a="http://schemas.openxmlformats.org/drawingml/2006/main" noGrp="1"/>
          </p:cNvSpPr>
          <p:nvPr/>
        </p:nvSpPr>
        <p:spPr>
          <a:xfrm xmlns:a="http://schemas.openxmlformats.org/drawingml/2006/main">
            <a:off x="8953500" y="3219450"/>
            <a:ext cx="5715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Beide kanten +4P</a:t>
            </a:r>
          </a:p>
        </p:txBody>
      </p:sp>
      <p:sp>
        <p:nvSpPr>
          <p:cNvPr id="9" name="4P = 14">
            <a:extLst xmlns:a="http://schemas.openxmlformats.org/drawingml/2006/main">
              <a:ext uri="{FF2B5EF4-FFF2-40B4-BE49-F238E27FC236}">
                <a16:creationId xmlns:a16="http://schemas.microsoft.com/office/drawing/2014/main" id="{A167DBCB-89F7-4AA7-9369-0DCCB5AEB61C}"/>
              </a:ext>
            </a:extLst>
          </p:cNvPr>
          <p:cNvSpPr>
            <a:spLocks xmlns:a="http://schemas.openxmlformats.org/drawingml/2006/main" noGrp="1"/>
          </p:cNvSpPr>
          <p:nvPr/>
        </p:nvSpPr>
        <p:spPr>
          <a:xfrm xmlns:a="http://schemas.openxmlformats.org/drawingml/2006/main">
            <a:off x="571500" y="4324350"/>
            <a:ext cx="7620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83247"/>
                </a:solidFill>
                <a:latin typeface="Arial"/>
                <a:ea typeface="Arial"/>
                <a:cs typeface="Arial"/>
              </a:defRPr>
            </a:pPr>
            <a:r>
              <a:rPr sz="3450" b="0">
                <a:solidFill>
                  <a:srgbClr val="183247"/>
                </a:solidFill>
                <a:latin typeface="Arial"/>
                <a:ea typeface="Arial"/>
                <a:cs typeface="Arial"/>
              </a:rPr>
              <a:t>4P = 14</a:t>
            </a:r>
          </a:p>
        </p:txBody>
      </p:sp>
      <p:sp>
        <p:nvSpPr>
          <p:cNvPr id="10" name="Beide kanten −6">
            <a:extLst xmlns:a="http://schemas.openxmlformats.org/drawingml/2006/main">
              <a:ext uri="{FF2B5EF4-FFF2-40B4-BE49-F238E27FC236}">
                <a16:creationId xmlns:a16="http://schemas.microsoft.com/office/drawing/2014/main" id="{D7CE3882-1A84-4728-BECF-2483112A00F6}"/>
              </a:ext>
            </a:extLst>
          </p:cNvPr>
          <p:cNvSpPr>
            <a:spLocks xmlns:a="http://schemas.openxmlformats.org/drawingml/2006/main" noGrp="1"/>
          </p:cNvSpPr>
          <p:nvPr/>
        </p:nvSpPr>
        <p:spPr>
          <a:xfrm xmlns:a="http://schemas.openxmlformats.org/drawingml/2006/main">
            <a:off x="8953500" y="4324350"/>
            <a:ext cx="5715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Beide kanten −6</a:t>
            </a:r>
          </a:p>
        </p:txBody>
      </p:sp>
      <p:sp>
        <p:nvSpPr>
          <p:cNvPr id="11" name="P = € 3,50 per liter">
            <a:extLst xmlns:a="http://schemas.openxmlformats.org/drawingml/2006/main">
              <a:ext uri="{FF2B5EF4-FFF2-40B4-BE49-F238E27FC236}">
                <a16:creationId xmlns:a16="http://schemas.microsoft.com/office/drawing/2014/main" id="{8CB2A969-39BB-418C-A071-EA2A35C7C262}"/>
              </a:ext>
            </a:extLst>
          </p:cNvPr>
          <p:cNvSpPr>
            <a:spLocks xmlns:a="http://schemas.openxmlformats.org/drawingml/2006/main" noGrp="1"/>
          </p:cNvSpPr>
          <p:nvPr/>
        </p:nvSpPr>
        <p:spPr>
          <a:xfrm xmlns:a="http://schemas.openxmlformats.org/drawingml/2006/main">
            <a:off x="571500" y="5429250"/>
            <a:ext cx="7620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0665B"/>
                </a:solidFill>
                <a:latin typeface="Arial"/>
                <a:ea typeface="Arial"/>
                <a:cs typeface="Arial"/>
              </a:defRPr>
            </a:pPr>
            <a:r>
              <a:rPr sz="3450" b="1">
                <a:solidFill>
                  <a:srgbClr val="20665B"/>
                </a:solidFill>
                <a:latin typeface="Arial"/>
                <a:ea typeface="Arial"/>
                <a:cs typeface="Arial"/>
              </a:rPr>
              <a:t>P = € 3,50 per liter</a:t>
            </a:r>
          </a:p>
        </p:txBody>
      </p:sp>
      <p:sp>
        <p:nvSpPr>
          <p:cNvPr id="12" name="Beide kanten ÷4">
            <a:extLst xmlns:a="http://schemas.openxmlformats.org/drawingml/2006/main">
              <a:ext uri="{FF2B5EF4-FFF2-40B4-BE49-F238E27FC236}">
                <a16:creationId xmlns:a16="http://schemas.microsoft.com/office/drawing/2014/main" id="{2F8205E6-1B29-4A6B-BFA7-65687ADDB44C}"/>
              </a:ext>
            </a:extLst>
          </p:cNvPr>
          <p:cNvSpPr>
            <a:spLocks xmlns:a="http://schemas.openxmlformats.org/drawingml/2006/main" noGrp="1"/>
          </p:cNvSpPr>
          <p:nvPr/>
        </p:nvSpPr>
        <p:spPr>
          <a:xfrm xmlns:a="http://schemas.openxmlformats.org/drawingml/2006/main">
            <a:off x="8953500" y="5429250"/>
            <a:ext cx="5715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Beide kanten ÷4</a:t>
            </a:r>
          </a:p>
        </p:txBody>
      </p:sp>
      <p:sp>
        <p:nvSpPr>
          <p:cNvPr id="13" name="Controle: 20 − 4 × 3,50 = 6 liter per maand.">
            <a:extLst xmlns:a="http://schemas.openxmlformats.org/drawingml/2006/main">
              <a:ext uri="{FF2B5EF4-FFF2-40B4-BE49-F238E27FC236}">
                <a16:creationId xmlns:a16="http://schemas.microsoft.com/office/drawing/2014/main" id="{5EE9209C-00F2-48A7-91C9-FF34F71D2447}"/>
              </a:ext>
            </a:extLst>
          </p:cNvPr>
          <p:cNvSpPr>
            <a:spLocks xmlns:a="http://schemas.openxmlformats.org/drawingml/2006/main" noGrp="1"/>
          </p:cNvSpPr>
          <p:nvPr/>
        </p:nvSpPr>
        <p:spPr>
          <a:xfrm xmlns:a="http://schemas.openxmlformats.org/drawingml/2006/main">
            <a:off x="571500" y="679132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Controle: 20 − 4 × 3,50 = 6 liter per maand.</a:t>
            </a:r>
          </a:p>
        </p:txBody>
      </p:sp>
      <p:sp>
        <p:nvSpPr>
          <p:cNvPr id="14" name="€ 3,50 ligt tussen € 0 en € 5.">
            <a:extLst xmlns:a="http://schemas.openxmlformats.org/drawingml/2006/main">
              <a:ext uri="{FF2B5EF4-FFF2-40B4-BE49-F238E27FC236}">
                <a16:creationId xmlns:a16="http://schemas.microsoft.com/office/drawing/2014/main" id="{98E66168-D0AA-4623-98A1-6483F4B4D51A}"/>
              </a:ext>
            </a:extLst>
          </p:cNvPr>
          <p:cNvSpPr>
            <a:spLocks xmlns:a="http://schemas.openxmlformats.org/drawingml/2006/main" noGrp="1"/>
          </p:cNvSpPr>
          <p:nvPr/>
        </p:nvSpPr>
        <p:spPr>
          <a:xfrm xmlns:a="http://schemas.openxmlformats.org/drawingml/2006/main">
            <a:off x="571500" y="7486650"/>
            <a:ext cx="1409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€ 3,50 ligt tussen € 0 en € 5.</a:t>
            </a:r>
          </a:p>
        </p:txBody>
      </p:sp>
    </p:spTree>
    <p:extLst>
      <p:ext uri="{BB962C8B-B14F-4D97-AF65-F5344CB8AC3E}">
        <p14:creationId xmlns:p14="http://schemas.microsoft.com/office/powerpoint/2010/main" val="22432647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d · Beide snijpunten">
            <a:extLst xmlns:a="http://schemas.openxmlformats.org/drawingml/2006/main">
              <a:ext uri="{FF2B5EF4-FFF2-40B4-BE49-F238E27FC236}">
                <a16:creationId xmlns:a16="http://schemas.microsoft.com/office/drawing/2014/main" id="{5DE68E5A-270A-4C7D-8191-7DD54CF7BB37}"/>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8d · Beide snijpunten</a:t>
            </a:r>
          </a:p>
        </p:txBody>
      </p:sp>
      <p:sp>
        <p:nvSpPr>
          <p:cNvPr id="2" name="">
            <a:extLst xmlns:a="http://schemas.openxmlformats.org/drawingml/2006/main">
              <a:ext uri="{FF2B5EF4-FFF2-40B4-BE49-F238E27FC236}">
                <a16:creationId xmlns:a16="http://schemas.microsoft.com/office/drawing/2014/main" id="{DBE806FA-8073-4498-A28C-49191F6A193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 Opgave 8d · Boekpagina 56">
            <a:extLst xmlns:a="http://schemas.openxmlformats.org/drawingml/2006/main">
              <a:ext uri="{FF2B5EF4-FFF2-40B4-BE49-F238E27FC236}">
                <a16:creationId xmlns:a16="http://schemas.microsoft.com/office/drawing/2014/main" id="{77762973-801F-4246-9DF0-CE897C008B49}"/>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 Opgave 8d · Boekpagina 56</a:t>
            </a:r>
          </a:p>
        </p:txBody>
      </p:sp>
      <p:sp>
        <p:nvSpPr>
          <p:cNvPr id="4" name="22">
            <a:extLst xmlns:a="http://schemas.openxmlformats.org/drawingml/2006/main">
              <a:ext uri="{FF2B5EF4-FFF2-40B4-BE49-F238E27FC236}">
                <a16:creationId xmlns:a16="http://schemas.microsoft.com/office/drawing/2014/main" id="{B7A01A84-9531-4DC6-BADD-26B6B13D123D}"/>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2" name=""/>
          <p:cNvGraphicFramePr/>
          <p:nvPr/>
        </p:nvGraphicFramePr>
        <p:xfrm>
          <a:off xmlns:a="http://schemas.openxmlformats.org/drawingml/2006/main" x="571500" y="2447925"/>
          <a:ext xmlns:a="http://schemas.openxmlformats.org/drawingml/2006/main" cx="14097000" cy="3143250"/>
        </p:xfrm>
        <a:graphic xmlns:a="http://schemas.openxmlformats.org/drawingml/2006/main">
          <a:graphicData uri="http://schemas.openxmlformats.org/drawingml/2006/table">
            <a:tbl>
              <a:tblPr/>
              <a:tblGrid>
                <a:gridCol w="2952750"/>
                <a:gridCol w="7524750"/>
                <a:gridCol w="3619500"/>
              </a:tblGrid>
              <a:tr h="1047750">
                <a:tc>
                  <a:txBody>
                    <a:bodyPr lIns="171450" tIns="95250" rIns="152400" bIns="95250"/>
                    <a:lstStyle/>
                    <a:p>
                      <a:r>
                        <a:rPr sz="2700" b="1">
                          <a:solidFill>
                            <a:srgbClr val="FFFFFF"/>
                          </a:solidFill>
                          <a:latin typeface="Arial"/>
                          <a:ea typeface="Arial"/>
                          <a:cs typeface="Arial"/>
                        </a:rPr>
                        <a:t>As</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Berekening met q = 20 − 4P</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(q; P)</a:t>
                      </a:r>
                    </a:p>
                  </a:txBody>
                  <a:tcPr marL="91440" marR="91440" marT="45720" marB="45720" anchor="ctr">
                    <a:solidFill>
                      <a:srgbClr val="183247"/>
                    </a:solidFill>
                  </a:tcPr>
                </a:tc>
              </a:tr>
              <a:tr h="1047750">
                <a:tc>
                  <a:txBody>
                    <a:bodyPr lIns="171450" tIns="95250" rIns="152400" bIns="95250"/>
                    <a:lstStyle/>
                    <a:p>
                      <a:r>
                        <a:rPr sz="2700" b="0">
                          <a:solidFill>
                            <a:srgbClr val="183247"/>
                          </a:solidFill>
                          <a:latin typeface="Arial"/>
                          <a:ea typeface="Arial"/>
                          <a:cs typeface="Arial"/>
                        </a:rPr>
                        <a:t>q-as</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P = 0 → q = 20 − 4 × 0 = 20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(20; 0)</a:t>
                      </a:r>
                    </a:p>
                  </a:txBody>
                  <a:tcPr marL="91440" marR="91440" marT="45720" marB="45720" anchor="ctr">
                    <a:solidFill>
                      <a:srgbClr val="FFFFFF"/>
                    </a:solidFill>
                  </a:tcPr>
                </a:tc>
              </a:tr>
              <a:tr h="1047750">
                <a:tc>
                  <a:txBody>
                    <a:bodyPr lIns="171450" tIns="95250" rIns="152400" bIns="95250"/>
                    <a:lstStyle/>
                    <a:p>
                      <a:r>
                        <a:rPr sz="2700" b="0">
                          <a:solidFill>
                            <a:srgbClr val="183247"/>
                          </a:solidFill>
                          <a:latin typeface="Arial"/>
                          <a:ea typeface="Arial"/>
                          <a:cs typeface="Arial"/>
                        </a:rPr>
                        <a:t>P-as</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q = 0 → 4P = 20 → P = 5</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(0; 5)</a:t>
                      </a:r>
                    </a:p>
                  </a:txBody>
                  <a:tcPr marL="91440" marR="91440" marT="45720" marB="45720" anchor="ctr">
                    <a:solidFill>
                      <a:srgbClr val="EFF4F7"/>
                    </a:solidFill>
                  </a:tcPr>
                </a:tc>
              </a:tr>
            </a:tbl>
          </a:graphicData>
        </a:graphic>
      </p:graphicFrame>
      <p:sp>
        <p:nvSpPr>
          <p:cNvPr id="6" name="Controle P-as: 20 − 4 × 5 = 0 liter per maand.">
            <a:extLst xmlns:a="http://schemas.openxmlformats.org/drawingml/2006/main">
              <a:ext uri="{FF2B5EF4-FFF2-40B4-BE49-F238E27FC236}">
                <a16:creationId xmlns:a16="http://schemas.microsoft.com/office/drawing/2014/main" id="{5705331C-0208-490B-8AD2-F52FD3BDC626}"/>
              </a:ext>
            </a:extLst>
          </p:cNvPr>
          <p:cNvSpPr>
            <a:spLocks xmlns:a="http://schemas.openxmlformats.org/drawingml/2006/main" noGrp="1"/>
          </p:cNvSpPr>
          <p:nvPr/>
        </p:nvSpPr>
        <p:spPr>
          <a:xfrm xmlns:a="http://schemas.openxmlformats.org/drawingml/2006/main">
            <a:off x="571500" y="631507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Controle P-as: 20 − 4 × 5 = 0 liter per maand.</a:t>
            </a:r>
          </a:p>
        </p:txBody>
      </p:sp>
      <p:sp>
        <p:nvSpPr>
          <p:cNvPr id="7" name="Teken alleen het gegeven bereik: 0 ≤ P ≤ 5 en 0 ≤ ">
            <a:extLst xmlns:a="http://schemas.openxmlformats.org/drawingml/2006/main">
              <a:ext uri="{FF2B5EF4-FFF2-40B4-BE49-F238E27FC236}">
                <a16:creationId xmlns:a16="http://schemas.microsoft.com/office/drawing/2014/main" id="{301E4A4A-AD72-4E79-A0AA-E2F92F6CC09C}"/>
              </a:ext>
            </a:extLst>
          </p:cNvPr>
          <p:cNvSpPr>
            <a:spLocks xmlns:a="http://schemas.openxmlformats.org/drawingml/2006/main" noGrp="1"/>
          </p:cNvSpPr>
          <p:nvPr/>
        </p:nvSpPr>
        <p:spPr>
          <a:xfrm xmlns:a="http://schemas.openxmlformats.org/drawingml/2006/main">
            <a:off x="571500" y="7343775"/>
            <a:ext cx="1409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Teken alleen het gegeven bereik: 0 ≤ P ≤ 5 en 0 ≤ q ≤ 20.</a:t>
            </a:r>
          </a:p>
        </p:txBody>
      </p:sp>
    </p:spTree>
    <p:extLst>
      <p:ext uri="{BB962C8B-B14F-4D97-AF65-F5344CB8AC3E}">
        <p14:creationId xmlns:p14="http://schemas.microsoft.com/office/powerpoint/2010/main" val="17312773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gave 8e · Vraaglijn met controlepunten">
            <a:extLst xmlns:a="http://schemas.openxmlformats.org/drawingml/2006/main">
              <a:ext uri="{FF2B5EF4-FFF2-40B4-BE49-F238E27FC236}">
                <a16:creationId xmlns:a16="http://schemas.microsoft.com/office/drawing/2014/main" id="{81F58DA8-993F-455E-90EC-D3B88852B8E9}"/>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8e · Vraaglijn met controlepunten</a:t>
            </a:r>
          </a:p>
        </p:txBody>
      </p:sp>
      <p:sp>
        <p:nvSpPr>
          <p:cNvPr id="2" name="">
            <a:extLst xmlns:a="http://schemas.openxmlformats.org/drawingml/2006/main">
              <a:ext uri="{FF2B5EF4-FFF2-40B4-BE49-F238E27FC236}">
                <a16:creationId xmlns:a16="http://schemas.microsoft.com/office/drawing/2014/main" id="{5D386367-C52A-43F7-A354-8298D18970B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 Opgave 8d–e · Boekpagina 56">
            <a:extLst xmlns:a="http://schemas.openxmlformats.org/drawingml/2006/main">
              <a:ext uri="{FF2B5EF4-FFF2-40B4-BE49-F238E27FC236}">
                <a16:creationId xmlns:a16="http://schemas.microsoft.com/office/drawing/2014/main" id="{668B57D2-DC20-4454-A161-734125BBF005}"/>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 Opgave 8d–e · Boekpagina 56</a:t>
            </a:r>
          </a:p>
        </p:txBody>
      </p:sp>
      <p:sp>
        <p:nvSpPr>
          <p:cNvPr id="4" name="23">
            <a:extLst xmlns:a="http://schemas.openxmlformats.org/drawingml/2006/main">
              <a:ext uri="{FF2B5EF4-FFF2-40B4-BE49-F238E27FC236}">
                <a16:creationId xmlns:a16="http://schemas.microsoft.com/office/drawing/2014/main" id="{71CC5E19-A288-4CFF-83F4-F04D77A7F0D0}"/>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Amir: q = 20 − 4P">
            <a:extLst xmlns:a="http://schemas.openxmlformats.org/drawingml/2006/main">
              <a:ext uri="{FF2B5EF4-FFF2-40B4-BE49-F238E27FC236}">
                <a16:creationId xmlns:a16="http://schemas.microsoft.com/office/drawing/2014/main" id="{301E5ECA-8E6D-493C-AAFF-91043B67FDCE}"/>
              </a:ext>
            </a:extLst>
          </p:cNvPr>
          <p:cNvSpPr>
            <a:spLocks xmlns:a="http://schemas.openxmlformats.org/drawingml/2006/main" noGrp="1"/>
          </p:cNvSpPr>
          <p:nvPr/>
        </p:nvSpPr>
        <p:spPr>
          <a:xfrm xmlns:a="http://schemas.openxmlformats.org/drawingml/2006/main">
            <a:off x="571500" y="16859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Amir: q = 20 − 4P</a:t>
            </a:r>
          </a:p>
        </p:txBody>
      </p:sp>
      <p:graphicFrame>
        <p:nvGraphicFramePr>
          <p:cNvPr id="17" name="Chart"/>
          <p:cNvGraphicFramePr/>
          <p:nvPr/>
        </p:nvGraphicFramePr>
        <p:xfrm>
          <a:off xmlns:a="http://schemas.openxmlformats.org/drawingml/2006/main" x="571500" y="2333625"/>
          <a:ext xmlns:a="http://schemas.openxmlformats.org/drawingml/2006/main" cx="9906000" cy="5476875"/>
        </p:xfrm>
        <a:graphic xmlns:a="http://schemas.openxmlformats.org/drawingml/2006/main">
          <a:graphicData uri="http://schemas.openxmlformats.org/drawingml/2006/chart">
            <c:chart xmlns:r="http://schemas.openxmlformats.org/officeDocument/2006/relationships" xmlns:c="http://schemas.openxmlformats.org/drawingml/2006/chart" r:id="R2826c5627cd44148"/>
          </a:graphicData>
        </a:graphic>
      </p:graphicFrame>
      <p:sp>
        <p:nvSpPr>
          <p:cNvPr id="7" name="V">
            <a:extLst xmlns:a="http://schemas.openxmlformats.org/drawingml/2006/main">
              <a:ext uri="{FF2B5EF4-FFF2-40B4-BE49-F238E27FC236}">
                <a16:creationId xmlns:a16="http://schemas.microsoft.com/office/drawing/2014/main" id="{BF53599D-609C-4312-92F6-6B284B866112}"/>
              </a:ext>
            </a:extLst>
          </p:cNvPr>
          <p:cNvSpPr>
            <a:spLocks xmlns:a="http://schemas.openxmlformats.org/drawingml/2006/main" noGrp="1"/>
          </p:cNvSpPr>
          <p:nvPr/>
        </p:nvSpPr>
        <p:spPr>
          <a:xfrm xmlns:a="http://schemas.openxmlformats.org/drawingml/2006/main">
            <a:off x="4572000" y="3333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V</a:t>
            </a:r>
          </a:p>
        </p:txBody>
      </p:sp>
      <p:sp>
        <p:nvSpPr>
          <p:cNvPr id="8" name="A">
            <a:extLst xmlns:a="http://schemas.openxmlformats.org/drawingml/2006/main">
              <a:ext uri="{FF2B5EF4-FFF2-40B4-BE49-F238E27FC236}">
                <a16:creationId xmlns:a16="http://schemas.microsoft.com/office/drawing/2014/main" id="{B98BDD8C-32E0-416C-93D4-33A086F62621}"/>
              </a:ext>
            </a:extLst>
          </p:cNvPr>
          <p:cNvSpPr>
            <a:spLocks xmlns:a="http://schemas.openxmlformats.org/drawingml/2006/main" noGrp="1"/>
          </p:cNvSpPr>
          <p:nvPr/>
        </p:nvSpPr>
        <p:spPr>
          <a:xfrm xmlns:a="http://schemas.openxmlformats.org/drawingml/2006/main">
            <a:off x="6905625" y="46482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A</a:t>
            </a:r>
          </a:p>
        </p:txBody>
      </p:sp>
      <p:sp>
        <p:nvSpPr>
          <p:cNvPr id="9" name="B">
            <a:extLst xmlns:a="http://schemas.openxmlformats.org/drawingml/2006/main">
              <a:ext uri="{FF2B5EF4-FFF2-40B4-BE49-F238E27FC236}">
                <a16:creationId xmlns:a16="http://schemas.microsoft.com/office/drawing/2014/main" id="{19922A61-0BF7-4CC4-B1ED-CDDC0B613A6A}"/>
              </a:ext>
            </a:extLst>
          </p:cNvPr>
          <p:cNvSpPr>
            <a:spLocks xmlns:a="http://schemas.openxmlformats.org/drawingml/2006/main" noGrp="1"/>
          </p:cNvSpPr>
          <p:nvPr/>
        </p:nvSpPr>
        <p:spPr>
          <a:xfrm xmlns:a="http://schemas.openxmlformats.org/drawingml/2006/main">
            <a:off x="5143500" y="37623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B</a:t>
            </a:r>
          </a:p>
        </p:txBody>
      </p:sp>
      <p:sp>
        <p:nvSpPr>
          <p:cNvPr id="10" name="3. Controleer punten">
            <a:extLst xmlns:a="http://schemas.openxmlformats.org/drawingml/2006/main">
              <a:ext uri="{FF2B5EF4-FFF2-40B4-BE49-F238E27FC236}">
                <a16:creationId xmlns:a16="http://schemas.microsoft.com/office/drawing/2014/main" id="{F2926695-792E-40F1-ADE7-EBE6B5782555}"/>
              </a:ext>
            </a:extLst>
          </p:cNvPr>
          <p:cNvSpPr>
            <a:spLocks xmlns:a="http://schemas.openxmlformats.org/drawingml/2006/main" noGrp="1"/>
          </p:cNvSpPr>
          <p:nvPr/>
        </p:nvSpPr>
        <p:spPr>
          <a:xfrm xmlns:a="http://schemas.openxmlformats.org/drawingml/2006/main">
            <a:off x="10858500" y="2533650"/>
            <a:ext cx="3810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3. Controleer punten</a:t>
            </a:r>
          </a:p>
        </p:txBody>
      </p:sp>
      <p:sp>
        <p:nvSpPr>
          <p:cNvPr id="11" name="A = (12; 2)&#10;B = (8; 3)&#10;&#10;Eerst q, daarna P.">
            <a:extLst xmlns:a="http://schemas.openxmlformats.org/drawingml/2006/main">
              <a:ext uri="{FF2B5EF4-FFF2-40B4-BE49-F238E27FC236}">
                <a16:creationId xmlns:a16="http://schemas.microsoft.com/office/drawing/2014/main" id="{3068CD59-A39A-4F1D-A876-23E408D3CFFE}"/>
              </a:ext>
            </a:extLst>
          </p:cNvPr>
          <p:cNvSpPr>
            <a:spLocks xmlns:a="http://schemas.openxmlformats.org/drawingml/2006/main" noGrp="1"/>
          </p:cNvSpPr>
          <p:nvPr/>
        </p:nvSpPr>
        <p:spPr>
          <a:xfrm xmlns:a="http://schemas.openxmlformats.org/drawingml/2006/main">
            <a:off x="10858500" y="3876675"/>
            <a:ext cx="3714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A = (12; 2)</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 = (8; 3)</a:t>
            </a:r>
          </a:p>
          <a:p xmlns:a="http://schemas.openxmlformats.org/drawingml/2006/main">
            <a:r>
              <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Eerst q, daarna P.</a:t>
            </a:r>
          </a:p>
        </p:txBody>
      </p:sp>
    </p:spTree>
    <p:extLst>
      <p:ext uri="{BB962C8B-B14F-4D97-AF65-F5344CB8AC3E}">
        <p14:creationId xmlns:p14="http://schemas.microsoft.com/office/powerpoint/2010/main" val="14027838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8f · Vraagreactie en conclusie">
            <a:extLst xmlns:a="http://schemas.openxmlformats.org/drawingml/2006/main">
              <a:ext uri="{FF2B5EF4-FFF2-40B4-BE49-F238E27FC236}">
                <a16:creationId xmlns:a16="http://schemas.microsoft.com/office/drawing/2014/main" id="{5122F055-24F4-4C4F-8D95-CE159E11A677}"/>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8f · Vraagreactie en conclusie</a:t>
            </a:r>
          </a:p>
        </p:txBody>
      </p:sp>
      <p:sp>
        <p:nvSpPr>
          <p:cNvPr id="2" name="">
            <a:extLst xmlns:a="http://schemas.openxmlformats.org/drawingml/2006/main">
              <a:ext uri="{FF2B5EF4-FFF2-40B4-BE49-F238E27FC236}">
                <a16:creationId xmlns:a16="http://schemas.microsoft.com/office/drawing/2014/main" id="{0824CBE9-F26F-41E8-AA14-3C1AC0D7CF6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 Opgave 8f · Boekpagina 56">
            <a:extLst xmlns:a="http://schemas.openxmlformats.org/drawingml/2006/main">
              <a:ext uri="{FF2B5EF4-FFF2-40B4-BE49-F238E27FC236}">
                <a16:creationId xmlns:a16="http://schemas.microsoft.com/office/drawing/2014/main" id="{DF9ACE05-A614-422F-9258-434DDD4CA8B2}"/>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 Opgave 8f · Boekpagina 56</a:t>
            </a:r>
          </a:p>
        </p:txBody>
      </p:sp>
      <p:sp>
        <p:nvSpPr>
          <p:cNvPr id="4" name="24">
            <a:extLst xmlns:a="http://schemas.openxmlformats.org/drawingml/2006/main">
              <a:ext uri="{FF2B5EF4-FFF2-40B4-BE49-F238E27FC236}">
                <a16:creationId xmlns:a16="http://schemas.microsoft.com/office/drawing/2014/main" id="{E42B7EC8-D2D5-4B7E-B2AE-F2EC41055B87}"/>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2" name=""/>
          <p:cNvGraphicFramePr/>
          <p:nvPr/>
        </p:nvGraphicFramePr>
        <p:xfrm>
          <a:off xmlns:a="http://schemas.openxmlformats.org/drawingml/2006/main" x="571500" y="2524125"/>
          <a:ext xmlns:a="http://schemas.openxmlformats.org/drawingml/2006/main" cx="14097000" cy="1952625"/>
        </p:xfrm>
        <a:graphic xmlns:a="http://schemas.openxmlformats.org/drawingml/2006/main">
          <a:graphicData uri="http://schemas.openxmlformats.org/drawingml/2006/table">
            <a:tbl>
              <a:tblPr/>
              <a:tblGrid>
                <a:gridCol w="4476750"/>
                <a:gridCol w="5238750"/>
                <a:gridCol w="4381500"/>
              </a:tblGrid>
              <a:tr h="976313">
                <a:tc>
                  <a:txBody>
                    <a:bodyPr lIns="171450" tIns="95250" rIns="152400" bIns="95250"/>
                    <a:lstStyle/>
                    <a:p>
                      <a:r>
                        <a:rPr sz="2625" b="1">
                          <a:solidFill>
                            <a:srgbClr val="FFFFFF"/>
                          </a:solidFill>
                          <a:latin typeface="Arial"/>
                          <a:ea typeface="Arial"/>
                          <a:cs typeface="Arial"/>
                        </a:rPr>
                        <a:t>Prijsstijging</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Gevraagde hoeveelheid</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Verschil</a:t>
                      </a:r>
                    </a:p>
                  </a:txBody>
                  <a:tcPr marL="91440" marR="91440" marT="45720" marB="45720" anchor="ctr">
                    <a:solidFill>
                      <a:srgbClr val="183247"/>
                    </a:solidFill>
                  </a:tcPr>
                </a:tc>
              </a:tr>
              <a:tr h="976313">
                <a:tc>
                  <a:txBody>
                    <a:bodyPr lIns="171450" tIns="95250" rIns="152400" bIns="95250"/>
                    <a:lstStyle/>
                    <a:p>
                      <a:r>
                        <a:rPr sz="2625" b="0">
                          <a:solidFill>
                            <a:srgbClr val="183247"/>
                          </a:solidFill>
                          <a:latin typeface="Arial"/>
                          <a:ea typeface="Arial"/>
                          <a:cs typeface="Arial"/>
                        </a:rPr>
                        <a:t>€ 2 → € 3 per liter</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12 → 8 liter per maand</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8 − 12 = −4 liter per maand</a:t>
                      </a:r>
                    </a:p>
                  </a:txBody>
                  <a:tcPr marL="91440" marR="91440" marT="45720" marB="45720" anchor="ctr">
                    <a:solidFill>
                      <a:srgbClr val="FFFFFF"/>
                    </a:solidFill>
                  </a:tcPr>
                </a:tc>
              </a:tr>
            </a:tbl>
          </a:graphicData>
        </a:graphic>
      </p:graphicFrame>
      <p:sp>
        <p:nvSpPr>
          <p:cNvPr id="6" name="4 liter per maand minder gevraagd, ceteris paribus">
            <a:extLst xmlns:a="http://schemas.openxmlformats.org/drawingml/2006/main">
              <a:ext uri="{FF2B5EF4-FFF2-40B4-BE49-F238E27FC236}">
                <a16:creationId xmlns:a16="http://schemas.microsoft.com/office/drawing/2014/main" id="{70DF7065-A6DB-4298-A2C2-D5351635E902}"/>
              </a:ext>
            </a:extLst>
          </p:cNvPr>
          <p:cNvSpPr>
            <a:spLocks xmlns:a="http://schemas.openxmlformats.org/drawingml/2006/main" noGrp="1"/>
          </p:cNvSpPr>
          <p:nvPr/>
        </p:nvSpPr>
        <p:spPr>
          <a:xfrm xmlns:a="http://schemas.openxmlformats.org/drawingml/2006/main">
            <a:off x="571500" y="51625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4 liter per maand minder gevraagd, ceteris paribus.</a:t>
            </a:r>
          </a:p>
        </p:txBody>
      </p:sp>
      <p:sp>
        <p:nvSpPr>
          <p:cNvPr id="7" name="Feitelijke aankoop? Niet vast te stellen met allee">
            <a:extLst xmlns:a="http://schemas.openxmlformats.org/drawingml/2006/main">
              <a:ext uri="{FF2B5EF4-FFF2-40B4-BE49-F238E27FC236}">
                <a16:creationId xmlns:a16="http://schemas.microsoft.com/office/drawing/2014/main" id="{7A622C2E-48B6-4DD2-91C1-B9549BE63CB0}"/>
              </a:ext>
            </a:extLst>
          </p:cNvPr>
          <p:cNvSpPr>
            <a:spLocks xmlns:a="http://schemas.openxmlformats.org/drawingml/2006/main" noGrp="1"/>
          </p:cNvSpPr>
          <p:nvPr/>
        </p:nvSpPr>
        <p:spPr>
          <a:xfrm xmlns:a="http://schemas.openxmlformats.org/drawingml/2006/main">
            <a:off x="571500" y="64008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Feitelijke aankoop? Niet vast te stellen met alleen deze vraagfunctie.</a:t>
            </a:r>
          </a:p>
        </p:txBody>
      </p:sp>
    </p:spTree>
    <p:extLst>
      <p:ext uri="{BB962C8B-B14F-4D97-AF65-F5344CB8AC3E}">
        <p14:creationId xmlns:p14="http://schemas.microsoft.com/office/powerpoint/2010/main" val="89711027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2.1 Betalingsbereidheid en individuel">
            <a:extLst xmlns:a="http://schemas.openxmlformats.org/drawingml/2006/main">
              <a:ext uri="{FF2B5EF4-FFF2-40B4-BE49-F238E27FC236}">
                <a16:creationId xmlns:a16="http://schemas.microsoft.com/office/drawing/2014/main" id="{999E784F-6090-44EF-AF2F-84E9951F7A8F}"/>
              </a:ext>
            </a:extLst>
          </p:cNvPr>
          <p:cNvSpPr>
            <a:spLocks xmlns:a="http://schemas.openxmlformats.org/drawingml/2006/main" noGrp="1"/>
          </p:cNvSpPr>
          <p:nvPr/>
        </p:nvSpPr>
        <p:spPr>
          <a:xfrm xmlns:a="http://schemas.openxmlformats.org/drawingml/2006/main">
            <a:off x="571500" y="4000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Deze les: §1.2.1 Betalingsbereidheid en individuele vraag</a:t>
            </a:r>
          </a:p>
        </p:txBody>
      </p:sp>
      <p:sp>
        <p:nvSpPr>
          <p:cNvPr id="2" name="">
            <a:extLst xmlns:a="http://schemas.openxmlformats.org/drawingml/2006/main">
              <a:ext uri="{FF2B5EF4-FFF2-40B4-BE49-F238E27FC236}">
                <a16:creationId xmlns:a16="http://schemas.microsoft.com/office/drawing/2014/main" id="{3EFCF787-2B03-4374-A886-0CCFCD51C10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2.1 Betalingsbereidheid en individuele vraag">
            <a:extLst xmlns:a="http://schemas.openxmlformats.org/drawingml/2006/main">
              <a:ext uri="{FF2B5EF4-FFF2-40B4-BE49-F238E27FC236}">
                <a16:creationId xmlns:a16="http://schemas.microsoft.com/office/drawing/2014/main" id="{ED23D793-9CE8-447D-9E82-3BB64560D9CC}"/>
              </a:ext>
            </a:extLst>
          </p:cNvPr>
          <p:cNvSpPr>
            <a:spLocks xmlns:a="http://schemas.openxmlformats.org/drawingml/2006/main" noGrp="1"/>
          </p:cNvSpPr>
          <p:nvPr/>
        </p:nvSpPr>
        <p:spPr>
          <a:xfrm xmlns:a="http://schemas.openxmlformats.org/drawingml/2006/main">
            <a:off x="571500" y="8086725"/>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§1.2.1 Betalingsbereidheid en individuele vraag</a:t>
            </a:r>
          </a:p>
        </p:txBody>
      </p:sp>
      <p:sp>
        <p:nvSpPr>
          <p:cNvPr id="4" name="25">
            <a:extLst xmlns:a="http://schemas.openxmlformats.org/drawingml/2006/main">
              <a:ext uri="{FF2B5EF4-FFF2-40B4-BE49-F238E27FC236}">
                <a16:creationId xmlns:a16="http://schemas.microsoft.com/office/drawing/2014/main" id="{10231FED-9B23-4232-B3BD-84A6D0792FEE}"/>
              </a:ext>
            </a:extLst>
          </p:cNvPr>
          <p:cNvSpPr>
            <a:spLocks xmlns:a="http://schemas.openxmlformats.org/drawingml/2006/main" noGrp="1"/>
          </p:cNvSpPr>
          <p:nvPr/>
        </p:nvSpPr>
        <p:spPr>
          <a:xfrm xmlns:a="http://schemas.openxmlformats.org/drawingml/2006/main">
            <a:off x="14001750" y="8058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phase">
            <a:extLst xmlns:a="http://schemas.openxmlformats.org/drawingml/2006/main">
              <a:ext uri="{FF2B5EF4-FFF2-40B4-BE49-F238E27FC236}">
                <a16:creationId xmlns:a16="http://schemas.microsoft.com/office/drawing/2014/main" id="{07A89D6E-A2C0-4ADA-A21E-5061F655202B}"/>
              </a:ext>
            </a:extLst>
          </p:cNvPr>
          <p:cNvSpPr>
            <a:spLocks xmlns:a="http://schemas.openxmlformats.org/drawingml/2006/main" noGrp="1"/>
          </p:cNvSpPr>
          <p:nvPr/>
        </p:nvSpPr>
        <p:spPr>
          <a:xfrm xmlns:a="http://schemas.openxmlformats.org/drawingml/2006/main">
            <a:off x="571500" y="1038225"/>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A31724F3-4EA5-40C5-91B5-F620D0B7ED0B}"/>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EAC1538-5219-4871-94B9-9F6DF69552B5}"/>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9D24D348-C9E5-47CB-A726-94AECDD1569D}"/>
              </a:ext>
            </a:extLst>
          </p:cNvPr>
          <p:cNvSpPr>
            <a:spLocks xmlns:a="http://schemas.openxmlformats.org/drawingml/2006/main" noGrp="1"/>
          </p:cNvSpPr>
          <p:nvPr/>
        </p:nvSpPr>
        <p:spPr>
          <a:xfrm xmlns:a="http://schemas.openxmlformats.org/drawingml/2006/main">
            <a:off x="1104900" y="2324100"/>
            <a:ext cx="7515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B9995A95-E01A-4E00-9CB7-7E82D32274F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714C5E7D-CB95-4792-995C-26BB1979944F}"/>
              </a:ext>
            </a:extLst>
          </p:cNvPr>
          <p:cNvSpPr>
            <a:spLocks xmlns:a="http://schemas.openxmlformats.org/drawingml/2006/main" noGrp="1"/>
          </p:cNvSpPr>
          <p:nvPr/>
        </p:nvSpPr>
        <p:spPr>
          <a:xfrm xmlns:a="http://schemas.openxmlformats.org/drawingml/2006/main">
            <a:off x="1104900" y="320040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15239D9F-4FE3-48E0-8AAC-F60E0B29BB9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0193FB35-25EF-4280-9028-41110CDB4729}"/>
              </a:ext>
            </a:extLst>
          </p:cNvPr>
          <p:cNvSpPr>
            <a:spLocks xmlns:a="http://schemas.openxmlformats.org/drawingml/2006/main" noGrp="1"/>
          </p:cNvSpPr>
          <p:nvPr/>
        </p:nvSpPr>
        <p:spPr>
          <a:xfrm xmlns:a="http://schemas.openxmlformats.org/drawingml/2006/main">
            <a:off x="1104900" y="371475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E2B79A28-D77F-4B6E-AEE0-462C9EE9F9FC}"/>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7F17302-6D89-4536-8022-5C737B1B59D4}"/>
              </a:ext>
            </a:extLst>
          </p:cNvPr>
          <p:cNvSpPr>
            <a:spLocks xmlns:a="http://schemas.openxmlformats.org/drawingml/2006/main" noGrp="1"/>
          </p:cNvSpPr>
          <p:nvPr/>
        </p:nvSpPr>
        <p:spPr>
          <a:xfrm xmlns:a="http://schemas.openxmlformats.org/drawingml/2006/main">
            <a:off x="1104900" y="4248150"/>
            <a:ext cx="75152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D3BE60D8-2042-4EC9-9690-B875D10C17B3}"/>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717F38F-68F1-4DEA-AF1B-A43168CD4A86}"/>
              </a:ext>
            </a:extLst>
          </p:cNvPr>
          <p:cNvSpPr>
            <a:spLocks xmlns:a="http://schemas.openxmlformats.org/drawingml/2006/main" noGrp="1"/>
          </p:cNvSpPr>
          <p:nvPr/>
        </p:nvSpPr>
        <p:spPr>
          <a:xfrm xmlns:a="http://schemas.openxmlformats.org/drawingml/2006/main">
            <a:off x="1104900" y="6057900"/>
            <a:ext cx="75152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0428D0F-11D9-43F0-80FD-D9A549AAB540}"/>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22B05F2F-0431-4D07-BA23-890D6E77B435}"/>
              </a:ext>
            </a:extLst>
          </p:cNvPr>
          <p:cNvSpPr>
            <a:spLocks xmlns:a="http://schemas.openxmlformats.org/drawingml/2006/main" noGrp="1"/>
          </p:cNvSpPr>
          <p:nvPr/>
        </p:nvSpPr>
        <p:spPr>
          <a:xfrm xmlns:a="http://schemas.openxmlformats.org/drawingml/2006/main">
            <a:off x="1104900" y="6819900"/>
            <a:ext cx="7515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8.</a:t>
            </a:r>
          </a:p>
        </p:txBody>
      </p:sp>
      <p:sp>
        <p:nvSpPr>
          <p:cNvPr id="19" name="route-number-7">
            <a:extLst xmlns:a="http://schemas.openxmlformats.org/drawingml/2006/main">
              <a:ext uri="{FF2B5EF4-FFF2-40B4-BE49-F238E27FC236}">
                <a16:creationId xmlns:a16="http://schemas.microsoft.com/office/drawing/2014/main" id="{28CCDEE1-D648-428C-B9DA-C2016E5AB7C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021BE383-771C-4ADE-878C-C5E3E9291A6D}"/>
              </a:ext>
            </a:extLst>
          </p:cNvPr>
          <p:cNvSpPr>
            <a:spLocks xmlns:a="http://schemas.openxmlformats.org/drawingml/2006/main" noGrp="1"/>
          </p:cNvSpPr>
          <p:nvPr/>
        </p:nvSpPr>
        <p:spPr>
          <a:xfrm xmlns:a="http://schemas.openxmlformats.org/drawingml/2006/main">
            <a:off x="1104900" y="7372350"/>
            <a:ext cx="7515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93E29360-AAAD-451D-BA68-54F73395E990}"/>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8E2CB8F8-0EEF-46AE-9602-41AD7207A059}"/>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Koopkeuzes verklaren.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Rekenen en tekenen met vraag.</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Conclusies begrenzen.</a:t>
            </a:r>
          </a:p>
        </p:txBody>
      </p:sp>
      <p:sp>
        <p:nvSpPr>
          <p:cNvPr id="23" name="">
            <a:extLst xmlns:a="http://schemas.openxmlformats.org/drawingml/2006/main">
              <a:ext uri="{FF2B5EF4-FFF2-40B4-BE49-F238E27FC236}">
                <a16:creationId xmlns:a16="http://schemas.microsoft.com/office/drawing/2014/main" id="{6AAB0424-DA71-4742-80F5-31A9CCD5769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EF569B3-73F1-4FE2-B3FE-830F63979839}"/>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BEC5ACB-7D5D-4398-AADB-2443812583AC}"/>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52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2a: verkennen, theorie p. 46</a:t>
            </a:r>
          </a:p>
        </p:txBody>
      </p:sp>
      <p:sp>
        <p:nvSpPr>
          <p:cNvPr id="26" name="">
            <a:extLst xmlns:a="http://schemas.openxmlformats.org/drawingml/2006/main">
              <a:ext uri="{FF2B5EF4-FFF2-40B4-BE49-F238E27FC236}">
                <a16:creationId xmlns:a16="http://schemas.microsoft.com/office/drawing/2014/main" id="{55B4AFEB-03B7-41C4-AC15-8466B1682C07}"/>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887A8E02-3D64-4D21-80DA-A2265AF49881}"/>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0D571F2A-20D8-46B2-8164-3D72D850E97C}"/>
              </a:ext>
            </a:extLst>
          </p:cNvPr>
          <p:cNvSpPr>
            <a:spLocks xmlns:a="http://schemas.openxmlformats.org/drawingml/2006/main" noGrp="1"/>
          </p:cNvSpPr>
          <p:nvPr/>
        </p:nvSpPr>
        <p:spPr>
          <a:xfrm xmlns:a="http://schemas.openxmlformats.org/drawingml/2006/main">
            <a:off x="9258300" y="6248400"/>
            <a:ext cx="5381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§1.2.1 · Opgaven 3 t/m 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4 en 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6 en 7 · Doel: 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664695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2026-10-03T13:22:40.3170000Z</dcterms:created>
  <dcterms:modified xsi:type="dcterms:W3CDTF">2026-10-03T13:22:40.3170000Z</dcterms:modified>
</coreProperties>
</file>