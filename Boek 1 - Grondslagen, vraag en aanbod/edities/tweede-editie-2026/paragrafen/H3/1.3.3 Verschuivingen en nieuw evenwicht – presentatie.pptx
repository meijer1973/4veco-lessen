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4.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5.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6.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7.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a324e0c7314465f" /><Relationship Type="http://schemas.openxmlformats.org/officeDocument/2006/relationships/extended-properties" Target="/docProps/app.xml" Id="R8ef66231dbd94194" /><Relationship Type="http://schemas.openxmlformats.org/officeDocument/2006/relationships/officeDocument" Target="/ppt/presentation.xml" Id="R4a13066466b04d90" /></Relationships>
</file>

<file path=ppt/presentation.xml><?xml version="1.0" encoding="utf-8"?>
<p:presentation xmlns:p="http://schemas.openxmlformats.org/presentationml/2006/main">
  <p:sldMasterIdLst>
    <p:sldMasterId xmlns:r="http://schemas.openxmlformats.org/officeDocument/2006/relationships" id="2147483648" r:id="R9ff24190e3694ac9"/>
  </p:sldMasterIdLst>
  <p:notesMasterIdLst>
    <p:notesMasterId xmlns:r="http://schemas.openxmlformats.org/officeDocument/2006/relationships" r:id="Re6f2862a2a5e404c"/>
  </p:notesMasterIdLst>
  <p:sldIdLst>
    <p:sldId xmlns:r="http://schemas.openxmlformats.org/officeDocument/2006/relationships" id="256" r:id="R67b3a150249c4ed3"/>
    <p:sldId xmlns:r="http://schemas.openxmlformats.org/officeDocument/2006/relationships" id="257" r:id="Rb2fe58e7abad4cd9"/>
    <p:sldId xmlns:r="http://schemas.openxmlformats.org/officeDocument/2006/relationships" id="258" r:id="Rd37cd9cdd9ff4da8"/>
    <p:sldId xmlns:r="http://schemas.openxmlformats.org/officeDocument/2006/relationships" id="259" r:id="R3c95a7ac782b4cfa"/>
    <p:sldId xmlns:r="http://schemas.openxmlformats.org/officeDocument/2006/relationships" id="260" r:id="R9eb17b8711d448c0"/>
    <p:sldId xmlns:r="http://schemas.openxmlformats.org/officeDocument/2006/relationships" id="261" r:id="R4c9fbb2e57d54ae6"/>
    <p:sldId xmlns:r="http://schemas.openxmlformats.org/officeDocument/2006/relationships" id="262" r:id="R9b490c9466b54326"/>
    <p:sldId xmlns:r="http://schemas.openxmlformats.org/officeDocument/2006/relationships" id="263" r:id="R371467489ed548fb"/>
    <p:sldId xmlns:r="http://schemas.openxmlformats.org/officeDocument/2006/relationships" id="264" r:id="R5b789f335f9d44b8"/>
    <p:sldId xmlns:r="http://schemas.openxmlformats.org/officeDocument/2006/relationships" id="265" r:id="R9e1a7bfe93614941"/>
    <p:sldId xmlns:r="http://schemas.openxmlformats.org/officeDocument/2006/relationships" id="266" r:id="R897ab8dfac2f42bd"/>
    <p:sldId xmlns:r="http://schemas.openxmlformats.org/officeDocument/2006/relationships" id="267" r:id="Re25459aa73cb4c1b"/>
    <p:sldId xmlns:r="http://schemas.openxmlformats.org/officeDocument/2006/relationships" id="268" r:id="R1f947dc3bec348dc"/>
    <p:sldId xmlns:r="http://schemas.openxmlformats.org/officeDocument/2006/relationships" id="269" r:id="R004269317a614e1f"/>
    <p:sldId xmlns:r="http://schemas.openxmlformats.org/officeDocument/2006/relationships" id="270" r:id="R5cbbc84136944529"/>
    <p:sldId xmlns:r="http://schemas.openxmlformats.org/officeDocument/2006/relationships" id="271" r:id="R3a356958217243b2"/>
    <p:sldId xmlns:r="http://schemas.openxmlformats.org/officeDocument/2006/relationships" id="272" r:id="Rcc7dcfb318174712"/>
    <p:sldId xmlns:r="http://schemas.openxmlformats.org/officeDocument/2006/relationships" id="273" r:id="Rc3d35d24a3624e27"/>
    <p:sldId xmlns:r="http://schemas.openxmlformats.org/officeDocument/2006/relationships" id="274" r:id="Ra0d5e720a2214285"/>
    <p:sldId xmlns:r="http://schemas.openxmlformats.org/officeDocument/2006/relationships" id="275" r:id="Rebc93abfd569414e"/>
    <p:sldId xmlns:r="http://schemas.openxmlformats.org/officeDocument/2006/relationships" id="276" r:id="Rc2d84d696da246ed"/>
    <p:sldId xmlns:r="http://schemas.openxmlformats.org/officeDocument/2006/relationships" id="277" r:id="Rdebbd1da783f4635"/>
    <p:sldId xmlns:r="http://schemas.openxmlformats.org/officeDocument/2006/relationships" id="278" r:id="Re7004890c35745cb"/>
    <p:sldId xmlns:r="http://schemas.openxmlformats.org/officeDocument/2006/relationships" id="279" r:id="R5a0083e246a945c6"/>
    <p:sldId xmlns:r="http://schemas.openxmlformats.org/officeDocument/2006/relationships" id="280" r:id="Rbf8936870333427b"/>
    <p:sldId xmlns:r="http://schemas.openxmlformats.org/officeDocument/2006/relationships" id="281" r:id="R28aee10ee0ed4f6c"/>
    <p:sldId xmlns:r="http://schemas.openxmlformats.org/officeDocument/2006/relationships" id="282" r:id="Rc4510ca441874e15"/>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51072ff89d4409" /><Relationship Type="http://schemas.openxmlformats.org/officeDocument/2006/relationships/slideMaster" Target="/ppt/slideMasters/slideMaster1.xml" Id="R9ff24190e3694ac9" /><Relationship Type="http://schemas.openxmlformats.org/officeDocument/2006/relationships/notesMaster" Target="/ppt/notesMasters/notesMaster1.xml" Id="Re6f2862a2a5e404c" /><Relationship Type="http://schemas.openxmlformats.org/officeDocument/2006/relationships/presProps" Target="/ppt/presProps.xml" Id="Rf5762d899f6c4960" /><Relationship Type="http://schemas.openxmlformats.org/officeDocument/2006/relationships/tableStyles" Target="/ppt/tableStyles.xml" Id="Rc039dc39d05a4b2c" /><Relationship Type="http://schemas.openxmlformats.org/officeDocument/2006/relationships/slide" Target="/ppt/slides/slide1.xml" Id="R67b3a150249c4ed3" /><Relationship Type="http://schemas.openxmlformats.org/officeDocument/2006/relationships/slide" Target="/ppt/slides/slide2.xml" Id="Rb2fe58e7abad4cd9" /><Relationship Type="http://schemas.openxmlformats.org/officeDocument/2006/relationships/slide" Target="/ppt/slides/slide3.xml" Id="Rd37cd9cdd9ff4da8" /><Relationship Type="http://schemas.openxmlformats.org/officeDocument/2006/relationships/slide" Target="/ppt/slides/slide4.xml" Id="R3c95a7ac782b4cfa" /><Relationship Type="http://schemas.openxmlformats.org/officeDocument/2006/relationships/slide" Target="/ppt/slides/slide5.xml" Id="R9eb17b8711d448c0" /><Relationship Type="http://schemas.openxmlformats.org/officeDocument/2006/relationships/slide" Target="/ppt/slides/slide6.xml" Id="R4c9fbb2e57d54ae6" /><Relationship Type="http://schemas.openxmlformats.org/officeDocument/2006/relationships/slide" Target="/ppt/slides/slide7.xml" Id="R9b490c9466b54326" /><Relationship Type="http://schemas.openxmlformats.org/officeDocument/2006/relationships/slide" Target="/ppt/slides/slide8.xml" Id="R371467489ed548fb" /><Relationship Type="http://schemas.openxmlformats.org/officeDocument/2006/relationships/slide" Target="/ppt/slides/slide9.xml" Id="R5b789f335f9d44b8" /><Relationship Type="http://schemas.openxmlformats.org/officeDocument/2006/relationships/slide" Target="/ppt/slides/slide10.xml" Id="R9e1a7bfe93614941" /><Relationship Type="http://schemas.openxmlformats.org/officeDocument/2006/relationships/slide" Target="/ppt/slides/slide11.xml" Id="R897ab8dfac2f42bd" /><Relationship Type="http://schemas.openxmlformats.org/officeDocument/2006/relationships/slide" Target="/ppt/slides/slide12.xml" Id="Re25459aa73cb4c1b" /><Relationship Type="http://schemas.openxmlformats.org/officeDocument/2006/relationships/slide" Target="/ppt/slides/slide13.xml" Id="R1f947dc3bec348dc" /><Relationship Type="http://schemas.openxmlformats.org/officeDocument/2006/relationships/slide" Target="/ppt/slides/slide14.xml" Id="R004269317a614e1f" /><Relationship Type="http://schemas.openxmlformats.org/officeDocument/2006/relationships/slide" Target="/ppt/slides/slide15.xml" Id="R5cbbc84136944529" /><Relationship Type="http://schemas.openxmlformats.org/officeDocument/2006/relationships/slide" Target="/ppt/slides/slide16.xml" Id="R3a356958217243b2" /><Relationship Type="http://schemas.openxmlformats.org/officeDocument/2006/relationships/slide" Target="/ppt/slides/slide17.xml" Id="Rcc7dcfb318174712" /><Relationship Type="http://schemas.openxmlformats.org/officeDocument/2006/relationships/slide" Target="/ppt/slides/slide18.xml" Id="Rc3d35d24a3624e27" /><Relationship Type="http://schemas.openxmlformats.org/officeDocument/2006/relationships/slide" Target="/ppt/slides/slide19.xml" Id="Ra0d5e720a2214285" /><Relationship Type="http://schemas.openxmlformats.org/officeDocument/2006/relationships/slide" Target="/ppt/slides/slide20.xml" Id="Rebc93abfd569414e" /><Relationship Type="http://schemas.openxmlformats.org/officeDocument/2006/relationships/slide" Target="/ppt/slides/slide21.xml" Id="Rc2d84d696da246ed" /><Relationship Type="http://schemas.openxmlformats.org/officeDocument/2006/relationships/slide" Target="/ppt/slides/slide22.xml" Id="Rdebbd1da783f4635" /><Relationship Type="http://schemas.openxmlformats.org/officeDocument/2006/relationships/slide" Target="/ppt/slides/slide23.xml" Id="Re7004890c35745cb" /><Relationship Type="http://schemas.openxmlformats.org/officeDocument/2006/relationships/slide" Target="/ppt/slides/slide24.xml" Id="R5a0083e246a945c6" /><Relationship Type="http://schemas.openxmlformats.org/officeDocument/2006/relationships/slide" Target="/ppt/slides/slide25.xml" Id="Rbf8936870333427b" /><Relationship Type="http://schemas.openxmlformats.org/officeDocument/2006/relationships/slide" Target="/ppt/slides/slide26.xml" Id="R28aee10ee0ed4f6c" /><Relationship Type="http://schemas.openxmlformats.org/officeDocument/2006/relationships/slide" Target="/ppt/slides/slide27.xml" Id="Rc4510ca441874e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3a51d685f948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ba8bdba7444191" /><Relationship Type="http://schemas.openxmlformats.org/officeDocument/2006/relationships/notesMaster" Target="/ppt/notesMasters/notesMaster1.xml" Id="R55af0a9457234e2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c020dbf26e44c3" /><Relationship Type="http://schemas.openxmlformats.org/officeDocument/2006/relationships/notesMaster" Target="/ppt/notesMasters/notesMaster1.xml" Id="Rca1e6c3e9e8f47c0"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79fac7634c4bce" /><Relationship Type="http://schemas.openxmlformats.org/officeDocument/2006/relationships/notesMaster" Target="/ppt/notesMasters/notesMaster1.xml" Id="R7f6fcc1e2ca94eb7" /></Relationships>
</file>

<file path=ppt/notesSlides/_rels/notesSlide4.xml.rels>&#65279;<?xml version="1.0" encoding="utf-8"?><Relationships xmlns="http://schemas.openxmlformats.org/package/2006/relationships"><Relationship Type="http://schemas.openxmlformats.org/officeDocument/2006/relationships/slide" Target="/ppt/slides/slide4.xml" Id="Ref3ca29e42474eaa" /><Relationship Type="http://schemas.openxmlformats.org/officeDocument/2006/relationships/notesMaster" Target="/ppt/notesMasters/notesMaster1.xml" Id="Rbfdb02a9d1e04d27"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a024a8bbb4493b" /><Relationship Type="http://schemas.openxmlformats.org/officeDocument/2006/relationships/notesMaster" Target="/ppt/notesMasters/notesMaster1.xml" Id="Rdbc42075f3964c1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dba0beba92c4a2a" /><Relationship Type="http://schemas.openxmlformats.org/officeDocument/2006/relationships/notesMaster" Target="/ppt/notesMasters/notesMaster1.xml" Id="Re2b1fa0277674ed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c00800a1e824416" /><Relationship Type="http://schemas.openxmlformats.org/officeDocument/2006/relationships/notesMaster" Target="/ppt/notesMasters/notesMaster1.xml" Id="R0b6ab15064c54275" /></Relationships>
</file>

<file path=ppt/notesSlides/_rels/notesSlide8.xml.rels>&#65279;<?xml version="1.0" encoding="utf-8"?><Relationships xmlns="http://schemas.openxmlformats.org/package/2006/relationships"><Relationship Type="http://schemas.openxmlformats.org/officeDocument/2006/relationships/slide" Target="/ppt/slides/slide8.xml" Id="R8f5e24d6d50f4914" /><Relationship Type="http://schemas.openxmlformats.org/officeDocument/2006/relationships/notesMaster" Target="/ppt/notesMasters/notesMaster1.xml" Id="R9b20a02c6ef44b4b" /></Relationships>
</file>

<file path=ppt/notesSlides/_rels/notesSlide9.xml.rels>&#65279;<?xml version="1.0" encoding="utf-8"?><Relationships xmlns="http://schemas.openxmlformats.org/package/2006/relationships"><Relationship Type="http://schemas.openxmlformats.org/officeDocument/2006/relationships/slide" Target="/ppt/slides/slide9.xml" Id="R28ee237b97c94674" /><Relationship Type="http://schemas.openxmlformats.org/officeDocument/2006/relationships/notesMaster" Target="/ppt/notesMasters/notesMaster1.xml" Id="Rc809f97d97cd4bd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e35bbc302d44377" /><Relationship Type="http://schemas.openxmlformats.org/officeDocument/2006/relationships/notesMaster" Target="/ppt/notesMasters/notesMaster1.xml" Id="R4d5d9b771f0840a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0ec678b296c49ba" /><Relationship Type="http://schemas.openxmlformats.org/officeDocument/2006/relationships/notesMaster" Target="/ppt/notesMasters/notesMaster1.xml" Id="R7d238e79b7aa4b5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07b72f7224a4e79" /><Relationship Type="http://schemas.openxmlformats.org/officeDocument/2006/relationships/notesMaster" Target="/ppt/notesMasters/notesMaster1.xml" Id="R0c1350dfaf7b429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c3034fa66254ce6" /><Relationship Type="http://schemas.openxmlformats.org/officeDocument/2006/relationships/notesMaster" Target="/ppt/notesMasters/notesMaster1.xml" Id="R55a3672333dc489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2d9e4abedaa4a57" /><Relationship Type="http://schemas.openxmlformats.org/officeDocument/2006/relationships/notesMaster" Target="/ppt/notesMasters/notesMaster1.xml" Id="R76470a360312457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aa734a70f5a4c2e" /><Relationship Type="http://schemas.openxmlformats.org/officeDocument/2006/relationships/notesMaster" Target="/ppt/notesMasters/notesMaster1.xml" Id="R7f78a2087c9d4d4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ed9175b45134f04" /><Relationship Type="http://schemas.openxmlformats.org/officeDocument/2006/relationships/notesMaster" Target="/ppt/notesMasters/notesMaster1.xml" Id="R81384fce602948b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e215408e9404e1c" /><Relationship Type="http://schemas.openxmlformats.org/officeDocument/2006/relationships/notesMaster" Target="/ppt/notesMasters/notesMaster1.xml" Id="R030baebf930c4a7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921efa512214c00" /><Relationship Type="http://schemas.openxmlformats.org/officeDocument/2006/relationships/notesMaster" Target="/ppt/notesMasters/notesMaster1.xml" Id="R7890abce24dc472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3b991060d274e33" /><Relationship Type="http://schemas.openxmlformats.org/officeDocument/2006/relationships/notesMaster" Target="/ppt/notesMasters/notesMaster1.xml" Id="R039bacaa23c0499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212f0f1d68147e2" /><Relationship Type="http://schemas.openxmlformats.org/officeDocument/2006/relationships/notesMaster" Target="/ppt/notesMasters/notesMaster1.xml" Id="Rfa83a001c24a493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7ca39412f004117" /><Relationship Type="http://schemas.openxmlformats.org/officeDocument/2006/relationships/notesMaster" Target="/ppt/notesMasters/notesMaster1.xml" Id="R2c72587389a64de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6e1617a95e347db" /><Relationship Type="http://schemas.openxmlformats.org/officeDocument/2006/relationships/notesMaster" Target="/ppt/notesMasters/notesMaster1.xml" Id="Rf8cf18fb4c6f4ad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c33a4fa449f4b0f" /><Relationship Type="http://schemas.openxmlformats.org/officeDocument/2006/relationships/notesMaster" Target="/ppt/notesMasters/notesMaster1.xml" Id="R6e33b24a9c204b9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45db5eace8842c1" /><Relationship Type="http://schemas.openxmlformats.org/officeDocument/2006/relationships/notesMaster" Target="/ppt/notesMasters/notesMaster1.xml" Id="R586503124c204fe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a2788277c99429e" /><Relationship Type="http://schemas.openxmlformats.org/officeDocument/2006/relationships/notesMaster" Target="/ppt/notesMasters/notesMaster1.xml" Id="R3c0d885dc57e4a4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f07699b1c0c495f" /><Relationship Type="http://schemas.openxmlformats.org/officeDocument/2006/relationships/notesMaster" Target="/ppt/notesMasters/notesMaster1.xml" Id="Rd8d39141d286466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5ced77e40f44146" /><Relationship Type="http://schemas.openxmlformats.org/officeDocument/2006/relationships/notesMaster" Target="/ppt/notesMasters/notesMaster1.xml" Id="R1cc16829d6d24b7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eerdere methode herken je, en waar heb je theorie nodig?</a:t>
            </a:r>
          </a:p>
          <a:p xmlns:a="http://schemas.openxmlformats.org/drawingml/2006/main">
            <a:r>
              <a:rPr sz="1400"/>
              <a:t/>
            </a:r>
          </a:p>
          <a:p xmlns:a="http://schemas.openxmlformats.org/drawingml/2006/main">
            <a:r>
              <a:rPr sz="1400"/>
              <a:t>Uitleg: Laat deze dia staan tijdens startopdracht. Start 23–24 en basis 25 staan op p.112, basis 26 op p.113, basis 27 en zelfstandig 28 op p.114, zelfstandig 29–30 op p.115, doel 31 op p.116. Huiswerk: 25,26,27,28,29,30,31 maken en nakijken. Bonus 32 en herhaling 33 zijn extra. De normale route mag over meerdere lessen lopen.</a:t>
            </a:r>
          </a:p>
          <a:p xmlns:a="http://schemas.openxmlformats.org/drawingml/2006/main">
            <a:r>
              <a:rPr sz="1400"/>
              <a:t/>
            </a:r>
          </a:p>
          <a:p xmlns:a="http://schemas.openxmlformats.org/drawingml/2006/main">
            <a:r>
              <a:rPr sz="1400"/>
              <a:t>Start 23 haalt de procentuele verandering op, expliciet geleerd op p.14. Bij haperen: nieuw min oud, delen door oud, maal 100%. Start 24 combineert eerdere kennis (aantal kopers p.59–60, aanbodfactor versus eigen prijs p.88, prijsreactie langs bestaande lijnen p.99) in een nieuw evenwichtsscenario. Laat leerlingen p.108–109 gebruiken: eerst oorzaak en vaste-prijsvergelijking, daarna de reactie van verkopers. Hun poging is een ondersteunde verkenning. Onthul de uitwerking niet vooraf. Bij terugkeer vóór het basiswerk laat je 24 opnieuw beantwoorden met oorzaak én reactie en bespreek je twijfel. Vraag leerlingen ook 23 te controleren met de oude hoeveelheid als basis.</a:t>
            </a:r>
          </a:p>
          <a:p xmlns:a="http://schemas.openxmlformats.org/drawingml/2006/main">
            <a:r>
              <a:rPr sz="1400"/>
              <a:t/>
            </a:r>
          </a:p>
          <a:p xmlns:a="http://schemas.openxmlformats.org/drawingml/2006/main">
            <a:r>
              <a:rPr sz="1400"/>
              <a:t>Misvatting: Een vraag in het boek bewijst nog geen beheerste voorkennis. Controleer de redenering in het schrift.</a:t>
            </a:r>
          </a:p>
          <a:p xmlns:a="http://schemas.openxmlformats.org/drawingml/2006/main">
            <a:r>
              <a:rPr sz="1400"/>
              <a:t/>
            </a:r>
          </a:p>
          <a:p xmlns:a="http://schemas.openxmlformats.org/drawingml/2006/main">
            <a:r>
              <a:rPr sz="1400"/>
              <a:t>Overgang: Ga verder wanneer de klas aan de volgende fase toe is.</a:t>
            </a:r>
          </a:p>
          <a:p xmlns:a="http://schemas.openxmlformats.org/drawingml/2006/main">
            <a:r>
              <a:rPr sz="1400"/>
              <a:t/>
            </a:r>
          </a:p>
          <a:p xmlns:a="http://schemas.openxmlformats.org/drawingml/2006/main">
            <a:r>
              <a:rPr sz="1400"/>
              <a:t>Bron: Boek 1, tweede editie 2026, compleet leerlingenboek, gedrukte pagina 112–116. https://github.com/meijer1973/4veco-lessen/blob/173aa9a803897965c572df2c4e7f83cdb135eb1c/Boek%201%20-%20Grondslagen,%20vraag%20en%20aanbod/edities/tweede-editie-2026/boek/Boek_1_Compleet_Tweede_editie.pdf</a:t>
            </a:r>
          </a:p>
          <a:p xmlns:a="http://schemas.openxmlformats.org/drawingml/2006/main">
            <a:r>
              <a:rPr sz="1400"/>
              <a:t>Methode en opgaven: https://github.com/meijer1973/4veco-lessen/blob/173aa9a803897965c572df2c4e7f83cdb135eb1c/Boek%201%20-%20Grondslagen,%20vraag%20en%20aanbod/edities/tweede-editie-2026/bronnen/H3/1.3.3%20Verschuivingen%20en%20nieuw%20evenwicht%20%E2%80%93%20paragraaf.md</a:t>
            </a:r>
          </a:p>
          <a:p xmlns:a="http://schemas.openxmlformats.org/drawingml/2006/main">
            <a:r>
              <a:rPr sz="1400"/>
              <a:t>Antwoordmodel: https://github.com/meijer1973/4veco-lessen/blob/173aa9a803897965c572df2c4e7f83cdb135eb1c/Boek%201%20-%20Grondslagen,%20vraag%20en%20aanbod/edities/tweede-editie-2026/bronnen/H3/Antwoorden.md#answer31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vergelijk je de oude en nieuwe plannen eerst bij dezelfde prijs?</a:t>
            </a:r>
          </a:p>
          <a:p xmlns:a="http://schemas.openxmlformats.org/drawingml/2006/main">
            <a:r>
              <a:rPr sz="1400"/>
              <a:t/>
            </a:r>
          </a:p>
          <a:p xmlns:a="http://schemas.openxmlformats.org/drawingml/2006/main">
            <a:r>
              <a:rPr sz="1400"/>
              <a:t>Uitleg: Deze route combineert vaardigheden uit vorige lessen: gelijkstellen en beide functies controleren op p.98, twee punten per lijn op p.97 en101, procentuele verandering op p.14. Vraag naar de grootheden: Q horizontaal, P verticaal. Controleer steeds of P binnen de opgegeven domeinen ligt.</a:t>
            </a:r>
          </a:p>
          <a:p xmlns:a="http://schemas.openxmlformats.org/drawingml/2006/main">
            <a:r>
              <a:rPr sz="1400"/>
              <a:t/>
            </a:r>
          </a:p>
          <a:p xmlns:a="http://schemas.openxmlformats.org/drawingml/2006/main">
            <a:r>
              <a:rPr sz="1400"/>
              <a:t>Misvatting: Een nieuwe evenwichtsprijs is een gevolg van een factorverandering, geen bewijs dat beide lijnen verschoven.</a:t>
            </a:r>
          </a:p>
          <a:p xmlns:a="http://schemas.openxmlformats.org/drawingml/2006/main">
            <a:r>
              <a:rPr sz="1400"/>
              <a:t/>
            </a:r>
          </a:p>
          <a:p xmlns:a="http://schemas.openxmlformats.org/drawingml/2006/main">
            <a:r>
              <a:rPr sz="1400"/>
              <a:t>Overgang: Pas de route toe op een afzonderlijk uitlegvoorbeeld.</a:t>
            </a:r>
          </a:p>
          <a:p xmlns:a="http://schemas.openxmlformats.org/drawingml/2006/main">
            <a:r>
              <a:rPr sz="1400"/>
              <a:t/>
            </a:r>
          </a:p>
          <a:p xmlns:a="http://schemas.openxmlformats.org/drawingml/2006/main">
            <a:r>
              <a:rPr sz="1400"/>
              <a:t>Bron: Boek 1, tweede editie 2026, compleet leerlingenboek, gedrukte pagina 108–111. https://github.com/meijer1973/4veco-lessen/blob/173aa9a803897965c572df2c4e7f83cdb135eb1c/Boek%201%20-%20Grondslagen,%20vraag%20en%20aanbod/edities/tweede-editie-2026/boek/Boek_1_Compleet_Tweede_editie.pdf</a:t>
            </a:r>
          </a:p>
          <a:p xmlns:a="http://schemas.openxmlformats.org/drawingml/2006/main">
            <a:r>
              <a:rPr sz="1400"/>
              <a:t>Methode en opgaven: https://github.com/meijer1973/4veco-lessen/blob/173aa9a803897965c572df2c4e7f83cdb135eb1c/Boek%201%20-%20Grondslagen,%20vraag%20en%20aanbod/edities/tweede-editie-2026/bronnen/H3/1.3.3%20Verschuivingen%20en%20nieuw%20evenwicht%20%E2%80%93%20paragraaf.md</a:t>
            </a:r>
          </a:p>
          <a:p xmlns:a="http://schemas.openxmlformats.org/drawingml/2006/main">
            <a:r>
              <a:rPr sz="1400"/>
              <a:t>Antwoordmodel: https://github.com/meijer1973/4veco-lessen/blob/173aa9a803897965c572df2c4e7f83cdb135eb1c/Boek%201%20-%20Grondslagen,%20vraag%20en%20aanbod/edities/tweede-editie-2026/bronnen/H3/Antwoorden.md#answer31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plannen moeten in evenwicht gelijk zijn?</a:t>
            </a:r>
          </a:p>
          <a:p xmlns:a="http://schemas.openxmlformats.org/drawingml/2006/main">
            <a:r>
              <a:rPr sz="1400"/>
              <a:t/>
            </a:r>
          </a:p>
          <a:p xmlns:a="http://schemas.openxmlformats.org/drawingml/2006/main">
            <a:r>
              <a:rPr sz="1400"/>
              <a:t>Uitleg: Nieuwe, zelfgeschreven markt. Eerst reconstrueren we de beginmarkt. Pas daarna veranderen we het aantal kopers. Q is de gezamenlijke markt en geen individuele vraag.</a:t>
            </a:r>
          </a:p>
          <a:p xmlns:a="http://schemas.openxmlformats.org/drawingml/2006/main">
            <a:r>
              <a:rPr sz="1400"/>
              <a:t/>
            </a:r>
          </a:p>
          <a:p xmlns:a="http://schemas.openxmlformats.org/drawingml/2006/main">
            <a:r>
              <a:rPr sz="1400"/>
              <a:t>Misvatting: De nieuwe kopers horen nog niet bij de berekening van E₀.</a:t>
            </a:r>
          </a:p>
          <a:p xmlns:a="http://schemas.openxmlformats.org/drawingml/2006/main">
            <a:r>
              <a:rPr sz="1400"/>
              <a:t/>
            </a:r>
          </a:p>
          <a:p xmlns:a="http://schemas.openxmlformats.org/drawingml/2006/main">
            <a:r>
              <a:rPr sz="1400"/>
              <a:t>Overgang: Bereken de oorspronkelijke evenwichtsprijs.</a:t>
            </a:r>
          </a:p>
          <a:p xmlns:a="http://schemas.openxmlformats.org/drawingml/2006/main">
            <a:r>
              <a:rPr sz="1400"/>
              <a:t/>
            </a:r>
          </a:p>
          <a:p xmlns:a="http://schemas.openxmlformats.org/drawingml/2006/main">
            <a:r>
              <a:rPr sz="1400"/>
              <a:t>Bron: Boek 1, tweede editie 2026, compleet leerlingenboek, gedrukte pagina 108. https://github.com/meijer1973/4veco-lessen/blob/173aa9a803897965c572df2c4e7f83cdb135eb1c/Boek%201%20-%20Grondslagen,%20vraag%20en%20aanbod/edities/tweede-editie-2026/boek/Boek_1_Compleet_Tweede_editie.pdf</a:t>
            </a:r>
          </a:p>
          <a:p xmlns:a="http://schemas.openxmlformats.org/drawingml/2006/main">
            <a:r>
              <a:rPr sz="1400"/>
              <a:t>Methode en opgaven: https://github.com/meijer1973/4veco-lessen/blob/173aa9a803897965c572df2c4e7f83cdb135eb1c/Boek%201%20-%20Grondslagen,%20vraag%20en%20aanbod/edities/tweede-editie-2026/bronnen/H3/1.3.3%20Verschuivingen%20en%20nieuw%20evenwicht%20%E2%80%93%20paragraaf.md</a:t>
            </a:r>
          </a:p>
          <a:p xmlns:a="http://schemas.openxmlformats.org/drawingml/2006/main">
            <a:r>
              <a:rPr sz="1400"/>
              <a:t>Antwoordmodel: https://github.com/meijer1973/4veco-lessen/blob/173aa9a803897965c572df2c4e7f83cdb135eb1c/Boek%201%20-%20Grondslagen,%20vraag%20en%20aanbod/edities/tweede-editie-2026/bronnen/H3/Antwoorden.md#answer31</a:t>
            </a:r>
          </a:p>
          <a:p xmlns:a="http://schemas.openxmlformats.org/drawingml/2006/main">
            <a:r>
              <a:rPr sz="1400"/>
              <a:t>Uitlegvoorbeeld — niet uit het boek. Context en gegevens over sleutelhangers zijn afzonderlijk voor deze les gemaakt.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functie gebruik je voor de onafhankelijke controle?</a:t>
            </a:r>
          </a:p>
          <a:p xmlns:a="http://schemas.openxmlformats.org/drawingml/2006/main">
            <a:r>
              <a:rPr sz="1400"/>
              <a:t/>
            </a:r>
          </a:p>
          <a:p xmlns:a="http://schemas.openxmlformats.org/drawingml/2006/main">
            <a:r>
              <a:rPr sz="1400"/>
              <a:t>Uitleg: Voeg 3P aan beide kanten toe, tel aan beide kanten 12 erbij en deel door 6. Vul de gevonden prijs in beide functies in. Beide domeinen bevatten 14. Herhaal dat E altijd (Q; P) noteert.</a:t>
            </a:r>
          </a:p>
          <a:p xmlns:a="http://schemas.openxmlformats.org/drawingml/2006/main">
            <a:r>
              <a:rPr sz="1400"/>
              <a:t/>
            </a:r>
          </a:p>
          <a:p xmlns:a="http://schemas.openxmlformats.org/drawingml/2006/main">
            <a:r>
              <a:rPr sz="1400"/>
              <a:t>Misvatting: E₀ = (14; 30) verwisselt de assen.</a:t>
            </a:r>
          </a:p>
          <a:p xmlns:a="http://schemas.openxmlformats.org/drawingml/2006/main">
            <a:r>
              <a:rPr sz="1400"/>
              <a:t/>
            </a:r>
          </a:p>
          <a:p xmlns:a="http://schemas.openxmlformats.org/drawingml/2006/main">
            <a:r>
              <a:rPr sz="1400"/>
              <a:t>Overgang: Plaats dit evenwicht op de twee oorspronkelijke lijnen.</a:t>
            </a:r>
          </a:p>
          <a:p xmlns:a="http://schemas.openxmlformats.org/drawingml/2006/main">
            <a:r>
              <a:rPr sz="1400"/>
              <a:t/>
            </a:r>
          </a:p>
          <a:p xmlns:a="http://schemas.openxmlformats.org/drawingml/2006/main">
            <a:r>
              <a:rPr sz="1400"/>
              <a:t>Bron: Boek 1, tweede editie 2026, compleet leerlingenboek, gedrukte pagina 98, 108–109. https://github.com/meijer1973/4veco-lessen/blob/173aa9a803897965c572df2c4e7f83cdb135eb1c/Boek%201%20-%20Grondslagen,%20vraag%20en%20aanbod/edities/tweede-editie-2026/boek/Boek_1_Compleet_Tweede_editie.pdf</a:t>
            </a:r>
          </a:p>
          <a:p xmlns:a="http://schemas.openxmlformats.org/drawingml/2006/main">
            <a:r>
              <a:rPr sz="1400"/>
              <a:t>Methode en opgaven: https://github.com/meijer1973/4veco-lessen/blob/173aa9a803897965c572df2c4e7f83cdb135eb1c/Boek%201%20-%20Grondslagen,%20vraag%20en%20aanbod/edities/tweede-editie-2026/bronnen/H3/1.3.3%20Verschuivingen%20en%20nieuw%20evenwicht%20%E2%80%93%20paragraaf.md</a:t>
            </a:r>
          </a:p>
          <a:p xmlns:a="http://schemas.openxmlformats.org/drawingml/2006/main">
            <a:r>
              <a:rPr sz="1400"/>
              <a:t>Antwoordmodel: https://github.com/meijer1973/4veco-lessen/blob/173aa9a803897965c572df2c4e7f83cdb135eb1c/Boek%201%20-%20Grondslagen,%20vraag%20en%20aanbod/edities/tweede-editie-2026/bronnen/H3/Antwoorden.md#answer31</a:t>
            </a:r>
          </a:p>
          <a:p xmlns:a="http://schemas.openxmlformats.org/drawingml/2006/main">
            <a:r>
              <a:rPr sz="1400"/>
              <a:t>Uitlegvoorbeeld — niet uit het boek. Context en gegevens over sleutelhangers zijn afzonderlijk voor deze les gemaakt.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vind je een tweede punt op A zonder een negatieve hoeveelheid te tekenen?</a:t>
            </a:r>
          </a:p>
          <a:p xmlns:a="http://schemas.openxmlformats.org/drawingml/2006/main">
            <a:r>
              <a:rPr sz="1400"/>
              <a:t/>
            </a:r>
          </a:p>
          <a:p xmlns:a="http://schemas.openxmlformats.org/drawingml/2006/main">
            <a:r>
              <a:rPr sz="1400"/>
              <a:t>Uitleg: Voor V: Q = 0 geeft P = 24 en P = 0 geeft Q = 72. Voor A: Q = 0 geeft P = 4 en P = 30 geeft Q = 78. Verbind elk paar met een rechte lijn. Hun snijpunt past bij de berekening. De hulplijnen verbinden E₀ met beide assen.</a:t>
            </a:r>
          </a:p>
          <a:p xmlns:a="http://schemas.openxmlformats.org/drawingml/2006/main">
            <a:r>
              <a:rPr sz="1400"/>
              <a:t/>
            </a:r>
          </a:p>
          <a:p xmlns:a="http://schemas.openxmlformats.org/drawingml/2006/main">
            <a:r>
              <a:rPr sz="1400"/>
              <a:t>Misvatting: Gebruik alleen de opgegeven domeinen. Onder P = 4 kent dit aanbodmodel geen negatieve hoeveelheid.</a:t>
            </a:r>
          </a:p>
          <a:p xmlns:a="http://schemas.openxmlformats.org/drawingml/2006/main">
            <a:r>
              <a:rPr sz="1400"/>
              <a:t/>
            </a:r>
          </a:p>
          <a:p xmlns:a="http://schemas.openxmlformats.org/drawingml/2006/main">
            <a:r>
              <a:rPr sz="1400"/>
              <a:t>Overgang: Vergelijk de vraagplannen nadat er meer kopers zijn.</a:t>
            </a:r>
          </a:p>
          <a:p xmlns:a="http://schemas.openxmlformats.org/drawingml/2006/main">
            <a:r>
              <a:rPr sz="1400"/>
              <a:t/>
            </a:r>
          </a:p>
          <a:p xmlns:a="http://schemas.openxmlformats.org/drawingml/2006/main">
            <a:r>
              <a:rPr sz="1400"/>
              <a:t>Bron: Boek 1, tweede editie 2026, compleet leerlingenboek, gedrukte pagina 97–98, 101, 108. https://github.com/meijer1973/4veco-lessen/blob/173aa9a803897965c572df2c4e7f83cdb135eb1c/Boek%201%20-%20Grondslagen,%20vraag%20en%20aanbod/edities/tweede-editie-2026/boek/Boek_1_Compleet_Tweede_editie.pdf</a:t>
            </a:r>
          </a:p>
          <a:p xmlns:a="http://schemas.openxmlformats.org/drawingml/2006/main">
            <a:r>
              <a:rPr sz="1400"/>
              <a:t>Methode en opgaven: https://github.com/meijer1973/4veco-lessen/blob/173aa9a803897965c572df2c4e7f83cdb135eb1c/Boek%201%20-%20Grondslagen,%20vraag%20en%20aanbod/edities/tweede-editie-2026/bronnen/H3/1.3.3%20Verschuivingen%20en%20nieuw%20evenwicht%20%E2%80%93%20paragraaf.md</a:t>
            </a:r>
          </a:p>
          <a:p xmlns:a="http://schemas.openxmlformats.org/drawingml/2006/main">
            <a:r>
              <a:rPr sz="1400"/>
              <a:t>Antwoordmodel: https://github.com/meijer1973/4veco-lessen/blob/173aa9a803897965c572df2c4e7f83cdb135eb1c/Boek%201%20-%20Grondslagen,%20vraag%20en%20aanbod/edities/tweede-editie-2026/bronnen/H3/Antwoorden.md#answer31</a:t>
            </a:r>
          </a:p>
          <a:p xmlns:a="http://schemas.openxmlformats.org/drawingml/2006/main">
            <a:r>
              <a:rPr sz="1400"/>
              <a:t>Uitlegvoorbeeld — niet uit het boek. Context en gegevens over sleutelhangers zijn afzonderlijk voor deze les gemaakt.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Is 48 al de nieuwe evenwichtshoeveelheid?</a:t>
            </a:r>
          </a:p>
          <a:p xmlns:a="http://schemas.openxmlformats.org/drawingml/2006/main">
            <a:r>
              <a:rPr sz="1400"/>
              <a:t/>
            </a:r>
          </a:p>
          <a:p xmlns:a="http://schemas.openxmlformats.org/drawingml/2006/main">
            <a:r>
              <a:rPr sz="1400"/>
              <a:t>Uitleg: De specifieke factor is het aantal kopers. Bij elke prijs in het gemeenschappelijke domein ligt de vraag 18 hoger. Bij de oude prijs botsen 48 koopplannen met 30 verkoopplannen. De prijs mag zich in dit model aanpassen.</a:t>
            </a:r>
          </a:p>
          <a:p xmlns:a="http://schemas.openxmlformats.org/drawingml/2006/main">
            <a:r>
              <a:rPr sz="1400"/>
              <a:t/>
            </a:r>
          </a:p>
          <a:p xmlns:a="http://schemas.openxmlformats.org/drawingml/2006/main">
            <a:r>
              <a:rPr sz="1400"/>
              <a:t>Misvatting: 48 is de nieuwe gevraagde hoeveelheid bij de oude prijs, niet de uiteindelijke verkoop in evenwicht.</a:t>
            </a:r>
          </a:p>
          <a:p xmlns:a="http://schemas.openxmlformats.org/drawingml/2006/main">
            <a:r>
              <a:rPr sz="1400"/>
              <a:t/>
            </a:r>
          </a:p>
          <a:p xmlns:a="http://schemas.openxmlformats.org/drawingml/2006/main">
            <a:r>
              <a:rPr sz="1400"/>
              <a:t>Overgang: Teken eerst alleen de verschuiving.</a:t>
            </a:r>
          </a:p>
          <a:p xmlns:a="http://schemas.openxmlformats.org/drawingml/2006/main">
            <a:r>
              <a:rPr sz="1400"/>
              <a:t/>
            </a:r>
          </a:p>
          <a:p xmlns:a="http://schemas.openxmlformats.org/drawingml/2006/main">
            <a:r>
              <a:rPr sz="1400"/>
              <a:t>Bron: Boek 1, tweede editie 2026, compleet leerlingenboek, gedrukte pagina 108–109. https://github.com/meijer1973/4veco-lessen/blob/173aa9a803897965c572df2c4e7f83cdb135eb1c/Boek%201%20-%20Grondslagen,%20vraag%20en%20aanbod/edities/tweede-editie-2026/boek/Boek_1_Compleet_Tweede_editie.pdf</a:t>
            </a:r>
          </a:p>
          <a:p xmlns:a="http://schemas.openxmlformats.org/drawingml/2006/main">
            <a:r>
              <a:rPr sz="1400"/>
              <a:t>Methode en opgaven: https://github.com/meijer1973/4veco-lessen/blob/173aa9a803897965c572df2c4e7f83cdb135eb1c/Boek%201%20-%20Grondslagen,%20vraag%20en%20aanbod/edities/tweede-editie-2026/bronnen/H3/1.3.3%20Verschuivingen%20en%20nieuw%20evenwicht%20%E2%80%93%20paragraaf.md</a:t>
            </a:r>
          </a:p>
          <a:p xmlns:a="http://schemas.openxmlformats.org/drawingml/2006/main">
            <a:r>
              <a:rPr sz="1400"/>
              <a:t>Antwoordmodel: https://github.com/meijer1973/4veco-lessen/blob/173aa9a803897965c572df2c4e7f83cdb135eb1c/Boek%201%20-%20Grondslagen,%20vraag%20en%20aanbod/edities/tweede-editie-2026/bronnen/H3/Antwoorden.md#answer31</a:t>
            </a:r>
          </a:p>
          <a:p xmlns:a="http://schemas.openxmlformats.org/drawingml/2006/main">
            <a:r>
              <a:rPr sz="1400"/>
              <a:t>Uitlegvoorbeeld — niet uit het boek. Context en gegevens over sleutelhangers zijn afzonderlijk voor deze les gemaakt.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verandert en wat houd je bij de horizontale pijl gelijk?</a:t>
            </a:r>
          </a:p>
          <a:p xmlns:a="http://schemas.openxmlformats.org/drawingml/2006/main">
            <a:r>
              <a:rPr sz="1400"/>
              <a:t/>
            </a:r>
          </a:p>
          <a:p xmlns:a="http://schemas.openxmlformats.org/drawingml/2006/main">
            <a:r>
              <a:rPr sz="1400"/>
              <a:t>Uitleg: Bereken eerst beide assnijpunten van de nieuwe vraaglijn: bij Q = 0 is P = 30, bij P = 0 is Q = 90. De horizontale pijl loopt van (30; 14) op V₀ naar (48; 14) op V₁. Elke pijl houdt dezelfde prijs vast. Het nieuwe snijpunt rekenen we hierna uit.</a:t>
            </a:r>
          </a:p>
          <a:p xmlns:a="http://schemas.openxmlformats.org/drawingml/2006/main">
            <a:r>
              <a:rPr sz="1400"/>
              <a:t/>
            </a:r>
          </a:p>
          <a:p xmlns:a="http://schemas.openxmlformats.org/drawingml/2006/main">
            <a:r>
              <a:rPr sz="1400"/>
              <a:t>Misvatting: De verschuiving heeft lengte 18 sleutelhangers, geen 18 euro.</a:t>
            </a:r>
          </a:p>
          <a:p xmlns:a="http://schemas.openxmlformats.org/drawingml/2006/main">
            <a:r>
              <a:rPr sz="1400"/>
              <a:t/>
            </a:r>
          </a:p>
          <a:p xmlns:a="http://schemas.openxmlformats.org/drawingml/2006/main">
            <a:r>
              <a:rPr sz="1400"/>
              <a:t>Overgang: Los nu de nieuwe gelijkheid op.</a:t>
            </a:r>
          </a:p>
          <a:p xmlns:a="http://schemas.openxmlformats.org/drawingml/2006/main">
            <a:r>
              <a:rPr sz="1400"/>
              <a:t/>
            </a:r>
          </a:p>
          <a:p xmlns:a="http://schemas.openxmlformats.org/drawingml/2006/main">
            <a:r>
              <a:rPr sz="1400"/>
              <a:t>Bron: Boek 1, tweede editie 2026, compleet leerlingenboek, gedrukte pagina 108–109. https://github.com/meijer1973/4veco-lessen/blob/173aa9a803897965c572df2c4e7f83cdb135eb1c/Boek%201%20-%20Grondslagen,%20vraag%20en%20aanbod/edities/tweede-editie-2026/boek/Boek_1_Compleet_Tweede_editie.pdf</a:t>
            </a:r>
          </a:p>
          <a:p xmlns:a="http://schemas.openxmlformats.org/drawingml/2006/main">
            <a:r>
              <a:rPr sz="1400"/>
              <a:t>Methode en opgaven: https://github.com/meijer1973/4veco-lessen/blob/173aa9a803897965c572df2c4e7f83cdb135eb1c/Boek%201%20-%20Grondslagen,%20vraag%20en%20aanbod/edities/tweede-editie-2026/bronnen/H3/1.3.3%20Verschuivingen%20en%20nieuw%20evenwicht%20%E2%80%93%20paragraaf.md</a:t>
            </a:r>
          </a:p>
          <a:p xmlns:a="http://schemas.openxmlformats.org/drawingml/2006/main">
            <a:r>
              <a:rPr sz="1400"/>
              <a:t>Antwoordmodel: https://github.com/meijer1973/4veco-lessen/blob/173aa9a803897965c572df2c4e7f83cdb135eb1c/Boek%201%20-%20Grondslagen,%20vraag%20en%20aanbod/edities/tweede-editie-2026/bronnen/H3/Antwoorden.md#answer31</a:t>
            </a:r>
          </a:p>
          <a:p xmlns:a="http://schemas.openxmlformats.org/drawingml/2006/main">
            <a:r>
              <a:rPr sz="1400"/>
              <a:t>Uitlegvoorbeeld — niet uit het boek. Context en gegevens over sleutelhangers zijn afzonderlijk voor deze les gemaakt.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hoeveelheid hoort als oude basis onder de breuk?</a:t>
            </a:r>
          </a:p>
          <a:p xmlns:a="http://schemas.openxmlformats.org/drawingml/2006/main">
            <a:r>
              <a:rPr sz="1400"/>
              <a:t/>
            </a:r>
          </a:p>
          <a:p xmlns:a="http://schemas.openxmlformats.org/drawingml/2006/main">
            <a:r>
              <a:rPr sz="1400"/>
              <a:t>Uitleg: Vervang uitsluitend de vraagfunctie. Voeg 3P toe aan beide kanten, tel 12 erbij en deel door 6. Prijs 17 past in beide domeinen. Q stijgt van 30 naar 39: 9 / 30 × 100% = 30%. De 18 extra vraag bij de oude prijs wordt geen 18 extra evenwichtshoeveelheid: de hogere prijs remt de gevraagde hoeveelheid langs V₁.</a:t>
            </a:r>
          </a:p>
          <a:p xmlns:a="http://schemas.openxmlformats.org/drawingml/2006/main">
            <a:r>
              <a:rPr sz="1400"/>
              <a:t/>
            </a:r>
          </a:p>
          <a:p xmlns:a="http://schemas.openxmlformats.org/drawingml/2006/main">
            <a:r>
              <a:rPr sz="1400"/>
              <a:t>Misvatting: Deel niet door 39 en gebruik niet 48 als de nieuwe evenwichtshoeveelheid.</a:t>
            </a:r>
          </a:p>
          <a:p xmlns:a="http://schemas.openxmlformats.org/drawingml/2006/main">
            <a:r>
              <a:rPr sz="1400"/>
              <a:t/>
            </a:r>
          </a:p>
          <a:p xmlns:a="http://schemas.openxmlformats.org/drawingml/2006/main">
            <a:r>
              <a:rPr sz="1400"/>
              <a:t>Overgang: Laat de twee verschillende veranderingen in één grafiek zien.</a:t>
            </a:r>
          </a:p>
          <a:p xmlns:a="http://schemas.openxmlformats.org/drawingml/2006/main">
            <a:r>
              <a:rPr sz="1400"/>
              <a:t/>
            </a:r>
          </a:p>
          <a:p xmlns:a="http://schemas.openxmlformats.org/drawingml/2006/main">
            <a:r>
              <a:rPr sz="1400"/>
              <a:t>Bron: Boek 1, tweede editie 2026, compleet leerlingenboek, gedrukte pagina 14, 109, 111. https://github.com/meijer1973/4veco-lessen/blob/173aa9a803897965c572df2c4e7f83cdb135eb1c/Boek%201%20-%20Grondslagen,%20vraag%20en%20aanbod/edities/tweede-editie-2026/boek/Boek_1_Compleet_Tweede_editie.pdf</a:t>
            </a:r>
          </a:p>
          <a:p xmlns:a="http://schemas.openxmlformats.org/drawingml/2006/main">
            <a:r>
              <a:rPr sz="1400"/>
              <a:t>Methode en opgaven: https://github.com/meijer1973/4veco-lessen/blob/173aa9a803897965c572df2c4e7f83cdb135eb1c/Boek%201%20-%20Grondslagen,%20vraag%20en%20aanbod/edities/tweede-editie-2026/bronnen/H3/1.3.3%20Verschuivingen%20en%20nieuw%20evenwicht%20%E2%80%93%20paragraaf.md</a:t>
            </a:r>
          </a:p>
          <a:p xmlns:a="http://schemas.openxmlformats.org/drawingml/2006/main">
            <a:r>
              <a:rPr sz="1400"/>
              <a:t>Antwoordmodel: https://github.com/meijer1973/4veco-lessen/blob/173aa9a803897965c572df2c4e7f83cdb135eb1c/Boek%201%20-%20Grondslagen,%20vraag%20en%20aanbod/edities/tweede-editie-2026/bronnen/H3/Antwoorden.md#answer31</a:t>
            </a:r>
          </a:p>
          <a:p xmlns:a="http://schemas.openxmlformats.org/drawingml/2006/main">
            <a:r>
              <a:rPr sz="1400"/>
              <a:t>Uitlegvoorbeeld — niet uit het boek. Context en gegevens over sleutelhangers zijn afzonderlijk voor deze les gemaakt.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pijl toont de oorzaak en welke pijl de reactie van de verkopers?</a:t>
            </a:r>
          </a:p>
          <a:p xmlns:a="http://schemas.openxmlformats.org/drawingml/2006/main">
            <a:r>
              <a:rPr sz="1400"/>
              <a:t/>
            </a:r>
          </a:p>
          <a:p xmlns:a="http://schemas.openxmlformats.org/drawingml/2006/main">
            <a:r>
              <a:rPr sz="1400"/>
              <a:t>Uitleg: Van E₀ naar E₁ bewegen verkopers langs A. Alleen het aantal kopers veranderde. De prijsreactie brengt zowel een beweging langs A als langs de nieuwe V₁ mee; de vraaglijn zelf verschuift niet nogmaals. P en Q kunnen samen stijgen doordat E₀ en E₁ op verschillende vraaglijnen liggen.</a:t>
            </a:r>
          </a:p>
          <a:p xmlns:a="http://schemas.openxmlformats.org/drawingml/2006/main">
            <a:r>
              <a:rPr sz="1400"/>
              <a:t/>
            </a:r>
          </a:p>
          <a:p xmlns:a="http://schemas.openxmlformats.org/drawingml/2006/main">
            <a:r>
              <a:rPr sz="1400"/>
              <a:t>Misvatting: Een grotere aangeboden hoeveelheid bewijst geen verschuiving van de aanbodlijn.</a:t>
            </a:r>
          </a:p>
          <a:p xmlns:a="http://schemas.openxmlformats.org/drawingml/2006/main">
            <a:r>
              <a:rPr sz="1400"/>
              <a:t/>
            </a:r>
          </a:p>
          <a:p xmlns:a="http://schemas.openxmlformats.org/drawingml/2006/main">
            <a:r>
              <a:rPr sz="1400"/>
              <a:t>Overgang: Start een afzonderlijk scenario met dezelfde beginmarkt.</a:t>
            </a:r>
          </a:p>
          <a:p xmlns:a="http://schemas.openxmlformats.org/drawingml/2006/main">
            <a:r>
              <a:rPr sz="1400"/>
              <a:t/>
            </a:r>
          </a:p>
          <a:p xmlns:a="http://schemas.openxmlformats.org/drawingml/2006/main">
            <a:r>
              <a:rPr sz="1400"/>
              <a:t>Bron: Boek 1, tweede editie 2026, compleet leerlingenboek, gedrukte pagina 109. https://github.com/meijer1973/4veco-lessen/blob/173aa9a803897965c572df2c4e7f83cdb135eb1c/Boek%201%20-%20Grondslagen,%20vraag%20en%20aanbod/edities/tweede-editie-2026/boek/Boek_1_Compleet_Tweede_editie.pdf</a:t>
            </a:r>
          </a:p>
          <a:p xmlns:a="http://schemas.openxmlformats.org/drawingml/2006/main">
            <a:r>
              <a:rPr sz="1400"/>
              <a:t>Methode en opgaven: https://github.com/meijer1973/4veco-lessen/blob/173aa9a803897965c572df2c4e7f83cdb135eb1c/Boek%201%20-%20Grondslagen,%20vraag%20en%20aanbod/edities/tweede-editie-2026/bronnen/H3/1.3.3%20Verschuivingen%20en%20nieuw%20evenwicht%20%E2%80%93%20paragraaf.md</a:t>
            </a:r>
          </a:p>
          <a:p xmlns:a="http://schemas.openxmlformats.org/drawingml/2006/main">
            <a:r>
              <a:rPr sz="1400"/>
              <a:t>Antwoordmodel: https://github.com/meijer1973/4veco-lessen/blob/173aa9a803897965c572df2c4e7f83cdb135eb1c/Boek%201%20-%20Grondslagen,%20vraag%20en%20aanbod/edities/tweede-editie-2026/bronnen/H3/Antwoorden.md#answer31</a:t>
            </a:r>
          </a:p>
          <a:p xmlns:a="http://schemas.openxmlformats.org/drawingml/2006/main">
            <a:r>
              <a:rPr sz="1400"/>
              <a:t>Uitlegvoorbeeld — niet uit het boek. Context en gegevens over sleutelhangers zijn afzonderlijk voor deze les gemaakt.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gebruik je nu niet 90 − 3P?</a:t>
            </a:r>
          </a:p>
          <a:p xmlns:a="http://schemas.openxmlformats.org/drawingml/2006/main">
            <a:r>
              <a:rPr sz="1400"/>
              <a:t/>
            </a:r>
          </a:p>
          <a:p xmlns:a="http://schemas.openxmlformats.org/drawingml/2006/main">
            <a:r>
              <a:rPr sz="1400"/>
              <a:t>Uitleg: Reset naar de oorspronkelijke functies 72 − 3P en 3P − 12. Alleen metaal, een productiemiddel, wordt duurder. Het aantal kopers is gelijk aan het begin. Bij P = 14 zakt aanbod van 30 naar 12, dus A verschuift links.</a:t>
            </a:r>
          </a:p>
          <a:p xmlns:a="http://schemas.openxmlformats.org/drawingml/2006/main">
            <a:r>
              <a:rPr sz="1400"/>
              <a:t/>
            </a:r>
          </a:p>
          <a:p xmlns:a="http://schemas.openxmlformats.org/drawingml/2006/main">
            <a:r>
              <a:rPr sz="1400"/>
              <a:t>Misvatting: Scenario’s zijn afzonderlijk. De vraagverschuiving uit het vorige scenario wordt niet meegenomen.</a:t>
            </a:r>
          </a:p>
          <a:p xmlns:a="http://schemas.openxmlformats.org/drawingml/2006/main">
            <a:r>
              <a:rPr sz="1400"/>
              <a:t/>
            </a:r>
          </a:p>
          <a:p xmlns:a="http://schemas.openxmlformats.org/drawingml/2006/main">
            <a:r>
              <a:rPr sz="1400"/>
              <a:t>Overgang: Bereken het nieuwe evenwicht en volg de kopers langs V.</a:t>
            </a:r>
          </a:p>
          <a:p xmlns:a="http://schemas.openxmlformats.org/drawingml/2006/main">
            <a:r>
              <a:rPr sz="1400"/>
              <a:t/>
            </a:r>
          </a:p>
          <a:p xmlns:a="http://schemas.openxmlformats.org/drawingml/2006/main">
            <a:r>
              <a:rPr sz="1400"/>
              <a:t>Bron: Boek 1, tweede editie 2026, compleet leerlingenboek, gedrukte pagina 110–111. https://github.com/meijer1973/4veco-lessen/blob/173aa9a803897965c572df2c4e7f83cdb135eb1c/Boek%201%20-%20Grondslagen,%20vraag%20en%20aanbod/edities/tweede-editie-2026/boek/Boek_1_Compleet_Tweede_editie.pdf</a:t>
            </a:r>
          </a:p>
          <a:p xmlns:a="http://schemas.openxmlformats.org/drawingml/2006/main">
            <a:r>
              <a:rPr sz="1400"/>
              <a:t>Methode en opgaven: https://github.com/meijer1973/4veco-lessen/blob/173aa9a803897965c572df2c4e7f83cdb135eb1c/Boek%201%20-%20Grondslagen,%20vraag%20en%20aanbod/edities/tweede-editie-2026/bronnen/H3/1.3.3%20Verschuivingen%20en%20nieuw%20evenwicht%20%E2%80%93%20paragraaf.md</a:t>
            </a:r>
          </a:p>
          <a:p xmlns:a="http://schemas.openxmlformats.org/drawingml/2006/main">
            <a:r>
              <a:rPr sz="1400"/>
              <a:t>Antwoordmodel: https://github.com/meijer1973/4veco-lessen/blob/173aa9a803897965c572df2c4e7f83cdb135eb1c/Boek%201%20-%20Grondslagen,%20vraag%20en%20aanbod/edities/tweede-editie-2026/bronnen/H3/Antwoorden.md#answer31</a:t>
            </a:r>
          </a:p>
          <a:p xmlns:a="http://schemas.openxmlformats.org/drawingml/2006/main">
            <a:r>
              <a:rPr sz="1400"/>
              <a:t>Uitlegvoorbeeld — niet uit het boek. Context en gegevens over sleutelhangers zijn afzonderlijk voor deze les gemaakt.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vragen kopers minder zonder dat hun vraaglijn verschuift?</a:t>
            </a:r>
          </a:p>
          <a:p xmlns:a="http://schemas.openxmlformats.org/drawingml/2006/main">
            <a:r>
              <a:rPr sz="1400"/>
              <a:t/>
            </a:r>
          </a:p>
          <a:p xmlns:a="http://schemas.openxmlformats.org/drawingml/2006/main">
            <a:r>
              <a:rPr sz="1400"/>
              <a:t>Uitleg: De nieuwe aanbodlijn gaat door (0; 10) en (60; 30). Oud E₀ = (30; 14), nieuw E₁ = (21; 17). De horizontale pijl vergelijkt aanbod bij P = 14 van 30 naar 12. De andere pijl ligt langs de ongewijzigde vraaglijn. De hoeveelheid daalt 30%. Prijs 17 ligt in beide domeinen.</a:t>
            </a:r>
          </a:p>
          <a:p xmlns:a="http://schemas.openxmlformats.org/drawingml/2006/main">
            <a:r>
              <a:rPr sz="1400"/>
              <a:t/>
            </a:r>
          </a:p>
          <a:p xmlns:a="http://schemas.openxmlformats.org/drawingml/2006/main">
            <a:r>
              <a:rPr sz="1400"/>
              <a:t>Misvatting: De metaalprijs verschuift A, de prijs van de sleutelhanger laat kopers langs V reageren.</a:t>
            </a:r>
          </a:p>
          <a:p xmlns:a="http://schemas.openxmlformats.org/drawingml/2006/main">
            <a:r>
              <a:rPr sz="1400"/>
              <a:t/>
            </a:r>
          </a:p>
          <a:p xmlns:a="http://schemas.openxmlformats.org/drawingml/2006/main">
            <a:r>
              <a:rPr sz="1400"/>
              <a:t>Overgang: Vergelijk de twee afzonderlijke scenario’s.</a:t>
            </a:r>
          </a:p>
          <a:p xmlns:a="http://schemas.openxmlformats.org/drawingml/2006/main">
            <a:r>
              <a:rPr sz="1400"/>
              <a:t/>
            </a:r>
          </a:p>
          <a:p xmlns:a="http://schemas.openxmlformats.org/drawingml/2006/main">
            <a:r>
              <a:rPr sz="1400"/>
              <a:t>Bron: Boek 1, tweede editie 2026, compleet leerlingenboek, gedrukte pagina 110–111. https://github.com/meijer1973/4veco-lessen/blob/173aa9a803897965c572df2c4e7f83cdb135eb1c/Boek%201%20-%20Grondslagen,%20vraag%20en%20aanbod/edities/tweede-editie-2026/boek/Boek_1_Compleet_Tweede_editie.pdf</a:t>
            </a:r>
          </a:p>
          <a:p xmlns:a="http://schemas.openxmlformats.org/drawingml/2006/main">
            <a:r>
              <a:rPr sz="1400"/>
              <a:t>Methode en opgaven: https://github.com/meijer1973/4veco-lessen/blob/173aa9a803897965c572df2c4e7f83cdb135eb1c/Boek%201%20-%20Grondslagen,%20vraag%20en%20aanbod/edities/tweede-editie-2026/bronnen/H3/1.3.3%20Verschuivingen%20en%20nieuw%20evenwicht%20%E2%80%93%20paragraaf.md</a:t>
            </a:r>
          </a:p>
          <a:p xmlns:a="http://schemas.openxmlformats.org/drawingml/2006/main">
            <a:r>
              <a:rPr sz="1400"/>
              <a:t>Antwoordmodel: https://github.com/meijer1973/4veco-lessen/blob/173aa9a803897965c572df2c4e7f83cdb135eb1c/Boek%201%20-%20Grondslagen,%20vraag%20en%20aanbod/edities/tweede-editie-2026/bronnen/H3/Antwoorden.md#answer31</a:t>
            </a:r>
          </a:p>
          <a:p xmlns:a="http://schemas.openxmlformats.org/drawingml/2006/main">
            <a:r>
              <a:rPr sz="1400"/>
              <a:t>Uitlegvoorbeeld — niet uit het boek. Context en gegevens over sleutelhangers zijn afzonderlijk voor deze les gemaakt.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extra waarneming helpt om de twee verklaringen te onderscheiden?</a:t>
            </a:r>
          </a:p>
          <a:p xmlns:a="http://schemas.openxmlformats.org/drawingml/2006/main">
            <a:r>
              <a:rPr sz="1400"/>
              <a:t/>
            </a:r>
          </a:p>
          <a:p xmlns:a="http://schemas.openxmlformats.org/drawingml/2006/main">
            <a:r>
              <a:rPr sz="1400"/>
              <a:t>Uitleg: Allebei beginnen bij hetzelfde E₀. De vraagverschuiving laat P en Q stijgen. De aanbodverschuiving links laat P stijgen en Q dalen. Alleen binnen de gegeven afzonderlijke-oorzaakmodellen kun je deze richtingen zo afleiden.</a:t>
            </a:r>
          </a:p>
          <a:p xmlns:a="http://schemas.openxmlformats.org/drawingml/2006/main">
            <a:r>
              <a:rPr sz="1400"/>
              <a:t/>
            </a:r>
          </a:p>
          <a:p xmlns:a="http://schemas.openxmlformats.org/drawingml/2006/main">
            <a:r>
              <a:rPr sz="1400"/>
              <a:t>Misvatting: Prijs en hoeveelheid alleen bewijzen zonder modelaannames niet welke specifieke factor veranderde.</a:t>
            </a:r>
          </a:p>
          <a:p xmlns:a="http://schemas.openxmlformats.org/drawingml/2006/main">
            <a:r>
              <a:rPr sz="1400"/>
              <a:t/>
            </a:r>
          </a:p>
          <a:p xmlns:a="http://schemas.openxmlformats.org/drawingml/2006/main">
            <a:r>
              <a:rPr sz="1400"/>
              <a:t>Overgang: Combineer voor de volgende korte verkenning twee oorzaken, zonder getallen te verzinnen.</a:t>
            </a:r>
          </a:p>
          <a:p xmlns:a="http://schemas.openxmlformats.org/drawingml/2006/main">
            <a:r>
              <a:rPr sz="1400"/>
              <a:t/>
            </a:r>
          </a:p>
          <a:p xmlns:a="http://schemas.openxmlformats.org/drawingml/2006/main">
            <a:r>
              <a:rPr sz="1400"/>
              <a:t>Bron: Boek 1, tweede editie 2026, compleet leerlingenboek, gedrukte pagina 110. https://github.com/meijer1973/4veco-lessen/blob/173aa9a803897965c572df2c4e7f83cdb135eb1c/Boek%201%20-%20Grondslagen,%20vraag%20en%20aanbod/edities/tweede-editie-2026/boek/Boek_1_Compleet_Tweede_editie.pdf</a:t>
            </a:r>
          </a:p>
          <a:p xmlns:a="http://schemas.openxmlformats.org/drawingml/2006/main">
            <a:r>
              <a:rPr sz="1400"/>
              <a:t>Methode en opgaven: https://github.com/meijer1973/4veco-lessen/blob/173aa9a803897965c572df2c4e7f83cdb135eb1c/Boek%201%20-%20Grondslagen,%20vraag%20en%20aanbod/edities/tweede-editie-2026/bronnen/H3/1.3.3%20Verschuivingen%20en%20nieuw%20evenwicht%20%E2%80%93%20paragraaf.md</a:t>
            </a:r>
          </a:p>
          <a:p xmlns:a="http://schemas.openxmlformats.org/drawingml/2006/main">
            <a:r>
              <a:rPr sz="1400"/>
              <a:t>Antwoordmodel: https://github.com/meijer1973/4veco-lessen/blob/173aa9a803897965c572df2c4e7f83cdb135eb1c/Boek%201%20-%20Grondslagen,%20vraag%20en%20aanbod/edities/tweede-editie-2026/bronnen/H3/Antwoorden.md#answer31</a:t>
            </a:r>
          </a:p>
          <a:p xmlns:a="http://schemas.openxmlformats.org/drawingml/2006/main">
            <a:r>
              <a:rPr sz="1400"/>
              <a:t>Uitlegvoorbeeld — niet uit het boek. Context en gegevens over sleutelhangers zijn afzonderlijk voor deze les gemaakt.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Is onbekend hetzelfde als onveranderd?</a:t>
            </a:r>
          </a:p>
          <a:p xmlns:a="http://schemas.openxmlformats.org/drawingml/2006/main">
            <a:r>
              <a:rPr sz="1400"/>
              <a:t/>
            </a:r>
          </a:p>
          <a:p xmlns:a="http://schemas.openxmlformats.org/drawingml/2006/main">
            <a:r>
              <a:rPr sz="1400"/>
              <a:t>Uitleg: Een afzonderlijk kwalitatief uitlegvoorbeeld ter voorbereiding op de combinatiebewerking in basis 27. De dalende vraaglijn en stijgende aanbodlijn schuiven nu allebei naar links, met onbekende omvang. Beoordeel eerst elke oorzaak apart. Beide effecten verlagen Q. Voor P werken ze tegengesteld, zodat P kan stijgen, dalen of gelijkblijven afhankelijk van de omvang. Dit is geen uitwerking van campinglampenopgave 27: de richtingen en context verschillen. Het boek behandelt enkelvoudige veranderingen expliciet op 108–111 en introduceert de begrensde dubbele verandering in 27.</a:t>
            </a:r>
          </a:p>
          <a:p xmlns:a="http://schemas.openxmlformats.org/drawingml/2006/main">
            <a:r>
              <a:rPr sz="1400"/>
              <a:t/>
            </a:r>
          </a:p>
          <a:p xmlns:a="http://schemas.openxmlformats.org/drawingml/2006/main">
            <a:r>
              <a:rPr sz="1400"/>
              <a:t>Misvatting: Twee tegengestelde effecten hoeven elkaar niet precies op te heffen. Er is geen gegeven getal waarmee je de nieuwe prijs kunt berekenen.</a:t>
            </a:r>
          </a:p>
          <a:p xmlns:a="http://schemas.openxmlformats.org/drawingml/2006/main">
            <a:r>
              <a:rPr sz="1400"/>
              <a:t/>
            </a:r>
          </a:p>
          <a:p xmlns:a="http://schemas.openxmlformats.org/drawingml/2006/main">
            <a:r>
              <a:rPr sz="1400"/>
              <a:t>Overgang: Keer terug naar start 24 en begin daarna bij 25.</a:t>
            </a:r>
          </a:p>
          <a:p xmlns:a="http://schemas.openxmlformats.org/drawingml/2006/main">
            <a:r>
              <a:rPr sz="1400"/>
              <a:t/>
            </a:r>
          </a:p>
          <a:p xmlns:a="http://schemas.openxmlformats.org/drawingml/2006/main">
            <a:r>
              <a:rPr sz="1400"/>
              <a:t>Bron: Boek 1, tweede editie 2026, compleet leerlingenboek, gedrukte pagina 114. https://github.com/meijer1973/4veco-lessen/blob/173aa9a803897965c572df2c4e7f83cdb135eb1c/Boek%201%20-%20Grondslagen,%20vraag%20en%20aanbod/edities/tweede-editie-2026/boek/Boek_1_Compleet_Tweede_editie.pdf</a:t>
            </a:r>
          </a:p>
          <a:p xmlns:a="http://schemas.openxmlformats.org/drawingml/2006/main">
            <a:r>
              <a:rPr sz="1400"/>
              <a:t>Methode en opgaven: https://github.com/meijer1973/4veco-lessen/blob/173aa9a803897965c572df2c4e7f83cdb135eb1c/Boek%201%20-%20Grondslagen,%20vraag%20en%20aanbod/edities/tweede-editie-2026/bronnen/H3/1.3.3%20Verschuivingen%20en%20nieuw%20evenwicht%20%E2%80%93%20paragraaf.md</a:t>
            </a:r>
          </a:p>
          <a:p xmlns:a="http://schemas.openxmlformats.org/drawingml/2006/main">
            <a:r>
              <a:rPr sz="1400"/>
              <a:t>Antwoordmodel: https://github.com/meijer1973/4veco-lessen/blob/173aa9a803897965c572df2c4e7f83cdb135eb1c/Boek%201%20-%20Grondslagen,%20vraag%20en%20aanbod/edities/tweede-editie-2026/bronnen/H3/Antwoorden.md#answer31</a:t>
            </a:r>
          </a:p>
          <a:p xmlns:a="http://schemas.openxmlformats.org/drawingml/2006/main">
            <a:r>
              <a:rPr sz="1400"/>
              <a:t>Uitlegvoorbeeld — niet uit het boek. Context en gegevens over sleutelhangers zijn afzonderlijk voor deze les gemaakt.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in de oefenroute werk je nu uit?</a:t>
            </a:r>
          </a:p>
          <a:p xmlns:a="http://schemas.openxmlformats.org/drawingml/2006/main">
            <a:r>
              <a:rPr sz="1400"/>
              <a:t/>
            </a:r>
          </a:p>
          <a:p xmlns:a="http://schemas.openxmlformats.org/drawingml/2006/main">
            <a:r>
              <a:rPr sz="1400"/>
              <a:t>Uitleg: Laat deze dia staan tijdens zelfstandig werken. Start 23–24 en basis 25 staan op p.112, basis 26 op p.113, basis 27 en zelfstandig 28 op p.114, zelfstandig 29–30 op p.115, doel 31 op p.116. Huiswerk: 25,26,27,28,29,30,31 maken en nakijken. Bonus 32 en herhaling 33 zijn extra. De normale route mag over meerdere lessen lopen.</a:t>
            </a:r>
          </a:p>
          <a:p xmlns:a="http://schemas.openxmlformats.org/drawingml/2006/main">
            <a:r>
              <a:rPr sz="1400"/>
              <a:t/>
            </a:r>
          </a:p>
          <a:p xmlns:a="http://schemas.openxmlformats.org/drawingml/2006/main">
            <a:r>
              <a:rPr sz="1400"/>
              <a:t>Start 23 haalt de procentuele verandering op, expliciet geleerd op p.14. Bij haperen: nieuw min oud, delen door oud, maal 100%. Start 24 combineert eerdere kennis (aantal kopers p.59–60, aanbodfactor versus eigen prijs p.88, prijsreactie langs bestaande lijnen p.99) in een nieuw evenwichtsscenario. Laat leerlingen p.108–109 gebruiken: eerst oorzaak en vaste-prijsvergelijking, daarna de reactie van verkopers. Hun poging is een ondersteunde verkenning. Onthul de uitwerking niet vooraf. Bij terugkeer vóór het basiswerk laat je 24 opnieuw beantwoorden met oorzaak én reactie en bespreek je twijfel. Vraag leerlingen ook 23 te controleren met de oude hoeveelheid als basis.</a:t>
            </a:r>
          </a:p>
          <a:p xmlns:a="http://schemas.openxmlformats.org/drawingml/2006/main">
            <a:r>
              <a:rPr sz="1400"/>
              <a:t/>
            </a:r>
          </a:p>
          <a:p xmlns:a="http://schemas.openxmlformats.org/drawingml/2006/main">
            <a:r>
              <a:rPr sz="1400"/>
              <a:t>Misvatting: Een vraag in het boek bewijst nog geen beheerste voorkennis. Controleer de redenering in het schrift.</a:t>
            </a:r>
          </a:p>
          <a:p xmlns:a="http://schemas.openxmlformats.org/drawingml/2006/main">
            <a:r>
              <a:rPr sz="1400"/>
              <a:t/>
            </a:r>
          </a:p>
          <a:p xmlns:a="http://schemas.openxmlformats.org/drawingml/2006/main">
            <a:r>
              <a:rPr sz="1400"/>
              <a:t>Overgang: Ga verder wanneer de klas aan de volgende fase toe is.</a:t>
            </a:r>
          </a:p>
          <a:p xmlns:a="http://schemas.openxmlformats.org/drawingml/2006/main">
            <a:r>
              <a:rPr sz="1400"/>
              <a:t/>
            </a:r>
          </a:p>
          <a:p xmlns:a="http://schemas.openxmlformats.org/drawingml/2006/main">
            <a:r>
              <a:rPr sz="1400"/>
              <a:t>Bron: Boek 1, tweede editie 2026, compleet leerlingenboek, gedrukte pagina 112–116. https://github.com/meijer1973/4veco-lessen/blob/173aa9a803897965c572df2c4e7f83cdb135eb1c/Boek%201%20-%20Grondslagen,%20vraag%20en%20aanbod/edities/tweede-editie-2026/boek/Boek_1_Compleet_Tweede_editie.pdf</a:t>
            </a:r>
          </a:p>
          <a:p xmlns:a="http://schemas.openxmlformats.org/drawingml/2006/main">
            <a:r>
              <a:rPr sz="1400"/>
              <a:t>Methode en opgaven: https://github.com/meijer1973/4veco-lessen/blob/173aa9a803897965c572df2c4e7f83cdb135eb1c/Boek%201%20-%20Grondslagen,%20vraag%20en%20aanbod/edities/tweede-editie-2026/bronnen/H3/1.3.3%20Verschuivingen%20en%20nieuw%20evenwicht%20%E2%80%93%20paragraaf.md</a:t>
            </a:r>
          </a:p>
          <a:p xmlns:a="http://schemas.openxmlformats.org/drawingml/2006/main">
            <a:r>
              <a:rPr sz="1400"/>
              <a:t>Antwoordmodel: https://github.com/meijer1973/4veco-lessen/blob/173aa9a803897965c572df2c4e7f83cdb135eb1c/Boek%201%20-%20Grondslagen,%20vraag%20en%20aanbod/edities/tweede-editie-2026/bronnen/H3/Antwoorden.md#answer31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omstandigheden noemt de bron als veranderd?</a:t>
            </a:r>
          </a:p>
          <a:p xmlns:a="http://schemas.openxmlformats.org/drawingml/2006/main">
            <a:r>
              <a:rPr sz="1400"/>
              <a:t/>
            </a:r>
          </a:p>
          <a:p xmlns:a="http://schemas.openxmlformats.org/drawingml/2006/main">
            <a:r>
              <a:rPr sz="1400"/>
              <a:t>Uitleg: Volledige werkelijke context en gegevens van doel 31, uit de tweede editie. De volgende dia’s tonen de gegeven figuur en alle vragen zonder antwoorden. Start de bespreking pas na een zelfstandige poging.</a:t>
            </a:r>
          </a:p>
          <a:p xmlns:a="http://schemas.openxmlformats.org/drawingml/2006/main">
            <a:r>
              <a:rPr sz="1400"/>
              <a:t/>
            </a:r>
          </a:p>
          <a:p xmlns:a="http://schemas.openxmlformats.org/drawingml/2006/main">
            <a:r>
              <a:rPr sz="1400"/>
              <a:t>Misvatting: Gebruik niet de eigen uitleggegevens van sleutelhangers. Dit is de markt voor oplaadkabels.</a:t>
            </a:r>
          </a:p>
          <a:p xmlns:a="http://schemas.openxmlformats.org/drawingml/2006/main">
            <a:r>
              <a:rPr sz="1400"/>
              <a:t/>
            </a:r>
          </a:p>
          <a:p xmlns:a="http://schemas.openxmlformats.org/drawingml/2006/main">
            <a:r>
              <a:rPr sz="1400"/>
              <a:t>Overgang: Toon de oorspronkelijke figuur en daarna alle deelvragen.</a:t>
            </a:r>
          </a:p>
          <a:p xmlns:a="http://schemas.openxmlformats.org/drawingml/2006/main">
            <a:r>
              <a:rPr sz="1400"/>
              <a:t/>
            </a:r>
          </a:p>
          <a:p xmlns:a="http://schemas.openxmlformats.org/drawingml/2006/main">
            <a:r>
              <a:rPr sz="1400"/>
              <a:t>Bron: Boek 1, tweede editie 2026, compleet leerlingenboek, gedrukte pagina 116. https://github.com/meijer1973/4veco-lessen/blob/173aa9a803897965c572df2c4e7f83cdb135eb1c/Boek%201%20-%20Grondslagen,%20vraag%20en%20aanbod/edities/tweede-editie-2026/boek/Boek_1_Compleet_Tweede_editie.pdf</a:t>
            </a:r>
          </a:p>
          <a:p xmlns:a="http://schemas.openxmlformats.org/drawingml/2006/main">
            <a:r>
              <a:rPr sz="1400"/>
              <a:t>Methode en opgaven: https://github.com/meijer1973/4veco-lessen/blob/173aa9a803897965c572df2c4e7f83cdb135eb1c/Boek%201%20-%20Grondslagen,%20vraag%20en%20aanbod/edities/tweede-editie-2026/bronnen/H3/1.3.3%20Verschuivingen%20en%20nieuw%20evenwicht%20%E2%80%93%20paragraaf.md</a:t>
            </a:r>
          </a:p>
          <a:p xmlns:a="http://schemas.openxmlformats.org/drawingml/2006/main">
            <a:r>
              <a:rPr sz="1400"/>
              <a:t>Antwoordmodel: https://github.com/meijer1973/4veco-lessen/blob/173aa9a803897965c572df2c4e7f83cdb135eb1c/Boek%201%20-%20Grondslagen,%20vraag%20en%20aanbod/edities/tweede-editie-2026/bronnen/H3/Antwoorden.md#answer31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staat de hoeveelheid, en waar de prijs?</a:t>
            </a:r>
          </a:p>
          <a:p xmlns:a="http://schemas.openxmlformats.org/drawingml/2006/main">
            <a:r>
              <a:rPr sz="1400"/>
              <a:t/>
            </a:r>
          </a:p>
          <a:p xmlns:a="http://schemas.openxmlformats.org/drawingml/2006/main">
            <a:r>
              <a:rPr sz="1400"/>
              <a:t>Uitleg: Dezelfde beginlijnen, assen, bereiken en eenheden als figuur 24. Geen evenwichtmarkeringen of nieuwe vraaglijn vooraf. De gegeven figuur blijft terug te halen tijdens de bespreking.</a:t>
            </a:r>
          </a:p>
          <a:p xmlns:a="http://schemas.openxmlformats.org/drawingml/2006/main">
            <a:r>
              <a:rPr sz="1400"/>
              <a:t/>
            </a:r>
          </a:p>
          <a:p xmlns:a="http://schemas.openxmlformats.org/drawingml/2006/main">
            <a:r>
              <a:rPr sz="1400"/>
              <a:t>Misvatting: De vraaglijn loopt maar tot P = 20, hoewel de prijsas tot 24 doorloopt.</a:t>
            </a:r>
          </a:p>
          <a:p xmlns:a="http://schemas.openxmlformats.org/drawingml/2006/main">
            <a:r>
              <a:rPr sz="1400"/>
              <a:t/>
            </a:r>
          </a:p>
          <a:p xmlns:a="http://schemas.openxmlformats.org/drawingml/2006/main">
            <a:r>
              <a:rPr sz="1400"/>
              <a:t>Overgang: Toon a tot en met c zonder oplossingen.</a:t>
            </a:r>
          </a:p>
          <a:p xmlns:a="http://schemas.openxmlformats.org/drawingml/2006/main">
            <a:r>
              <a:rPr sz="1400"/>
              <a:t/>
            </a:r>
          </a:p>
          <a:p xmlns:a="http://schemas.openxmlformats.org/drawingml/2006/main">
            <a:r>
              <a:rPr sz="1400"/>
              <a:t>Bron: Boek 1, tweede editie 2026, compleet leerlingenboek, gedrukte pagina 116. https://github.com/meijer1973/4veco-lessen/blob/173aa9a803897965c572df2c4e7f83cdb135eb1c/Boek%201%20-%20Grondslagen,%20vraag%20en%20aanbod/edities/tweede-editie-2026/boek/Boek_1_Compleet_Tweede_editie.pdf</a:t>
            </a:r>
          </a:p>
          <a:p xmlns:a="http://schemas.openxmlformats.org/drawingml/2006/main">
            <a:r>
              <a:rPr sz="1400"/>
              <a:t>Methode en opgaven: https://github.com/meijer1973/4veco-lessen/blob/173aa9a803897965c572df2c4e7f83cdb135eb1c/Boek%201%20-%20Grondslagen,%20vraag%20en%20aanbod/edities/tweede-editie-2026/bronnen/H3/1.3.3%20Verschuivingen%20en%20nieuw%20evenwicht%20%E2%80%93%20paragraaf.md</a:t>
            </a:r>
          </a:p>
          <a:p xmlns:a="http://schemas.openxmlformats.org/drawingml/2006/main">
            <a:r>
              <a:rPr sz="1400"/>
              <a:t>Antwoordmodel: https://github.com/meijer1973/4veco-lessen/blob/173aa9a803897965c572df2c4e7f83cdb135eb1c/Boek%201%20-%20Grondslagen,%20vraag%20en%20aanbod/edities/tweede-editie-2026/bronnen/H3/Antwoorden.md#answer31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stappen vraagt b naast rekenen?</a:t>
            </a:r>
          </a:p>
          <a:p xmlns:a="http://schemas.openxmlformats.org/drawingml/2006/main">
            <a:r>
              <a:rPr sz="1400"/>
              <a:t/>
            </a:r>
          </a:p>
          <a:p xmlns:a="http://schemas.openxmlformats.org/drawingml/2006/main">
            <a:r>
              <a:rPr sz="1400"/>
              <a:t>Uitleg: Dit zijn de volledige reken- en verklaringsvragen a, b, c. Vraag b heeft drie handelingen, vraag c zowel controle als percentage. Nog geen antwoorden totdat d en e ook zijn getoond.</a:t>
            </a:r>
          </a:p>
          <a:p xmlns:a="http://schemas.openxmlformats.org/drawingml/2006/main">
            <a:r>
              <a:rPr sz="1400"/>
              <a:t/>
            </a:r>
          </a:p>
          <a:p xmlns:a="http://schemas.openxmlformats.org/drawingml/2006/main">
            <a:r>
              <a:rPr sz="1400"/>
              <a:t>Misvatting: Een nieuw evenwicht alleen is geen volledig antwoord op c.</a:t>
            </a:r>
          </a:p>
          <a:p xmlns:a="http://schemas.openxmlformats.org/drawingml/2006/main">
            <a:r>
              <a:rPr sz="1400"/>
              <a:t/>
            </a:r>
          </a:p>
          <a:p xmlns:a="http://schemas.openxmlformats.org/drawingml/2006/main">
            <a:r>
              <a:rPr sz="1400"/>
              <a:t>Overgang: Toon de tekenvraag en beoordelingsvraag.</a:t>
            </a:r>
          </a:p>
          <a:p xmlns:a="http://schemas.openxmlformats.org/drawingml/2006/main">
            <a:r>
              <a:rPr sz="1400"/>
              <a:t/>
            </a:r>
          </a:p>
          <a:p xmlns:a="http://schemas.openxmlformats.org/drawingml/2006/main">
            <a:r>
              <a:rPr sz="1400"/>
              <a:t>Bron: Boek 1, tweede editie 2026, compleet leerlingenboek, gedrukte pagina 116. https://github.com/meijer1973/4veco-lessen/blob/173aa9a803897965c572df2c4e7f83cdb135eb1c/Boek%201%20-%20Grondslagen,%20vraag%20en%20aanbod/edities/tweede-editie-2026/boek/Boek_1_Compleet_Tweede_editie.pdf</a:t>
            </a:r>
          </a:p>
          <a:p xmlns:a="http://schemas.openxmlformats.org/drawingml/2006/main">
            <a:r>
              <a:rPr sz="1400"/>
              <a:t>Methode en opgaven: https://github.com/meijer1973/4veco-lessen/blob/173aa9a803897965c572df2c4e7f83cdb135eb1c/Boek%201%20-%20Grondslagen,%20vraag%20en%20aanbod/edities/tweede-editie-2026/bronnen/H3/1.3.3%20Verschuivingen%20en%20nieuw%20evenwicht%20%E2%80%93%20paragraaf.md</a:t>
            </a:r>
          </a:p>
          <a:p xmlns:a="http://schemas.openxmlformats.org/drawingml/2006/main">
            <a:r>
              <a:rPr sz="1400"/>
              <a:t>Antwoordmodel: https://github.com/meijer1973/4veco-lessen/blob/173aa9a803897965c572df2c4e7f83cdb135eb1c/Boek%201%20-%20Grondslagen,%20vraag%20en%20aanbod/edities/tweede-editie-2026/bronnen/H3/Antwoorden.md#answer31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moet de eerste pijl gelijk houden?</a:t>
            </a:r>
          </a:p>
          <a:p xmlns:a="http://schemas.openxmlformats.org/drawingml/2006/main">
            <a:r>
              <a:rPr sz="1400"/>
              <a:t/>
            </a:r>
          </a:p>
          <a:p xmlns:a="http://schemas.openxmlformats.org/drawingml/2006/main">
            <a:r>
              <a:rPr sz="1400"/>
              <a:t>Uitleg: Nu zijn alle subvragen en de complete context beschikbaar zonder oplossingen. Laat leerlingen hun eigen poging erbij leggen. De d-vraag vereist twee verschillende pijlen.</a:t>
            </a:r>
          </a:p>
          <a:p xmlns:a="http://schemas.openxmlformats.org/drawingml/2006/main">
            <a:r>
              <a:rPr sz="1400"/>
              <a:t/>
            </a:r>
          </a:p>
          <a:p xmlns:a="http://schemas.openxmlformats.org/drawingml/2006/main">
            <a:r>
              <a:rPr sz="1400"/>
              <a:t>Misvatting: De figuur moet zowel de verschuiving als de beweging langs A tonen.</a:t>
            </a:r>
          </a:p>
          <a:p xmlns:a="http://schemas.openxmlformats.org/drawingml/2006/main">
            <a:r>
              <a:rPr sz="1400"/>
              <a:t/>
            </a:r>
          </a:p>
          <a:p xmlns:a="http://schemas.openxmlformats.org/drawingml/2006/main">
            <a:r>
              <a:rPr sz="1400"/>
              <a:t>Overgang: Begin bij het oude evenwicht.</a:t>
            </a:r>
          </a:p>
          <a:p xmlns:a="http://schemas.openxmlformats.org/drawingml/2006/main">
            <a:r>
              <a:rPr sz="1400"/>
              <a:t/>
            </a:r>
          </a:p>
          <a:p xmlns:a="http://schemas.openxmlformats.org/drawingml/2006/main">
            <a:r>
              <a:rPr sz="1400"/>
              <a:t>Bron: Boek 1, tweede editie 2026, compleet leerlingenboek, gedrukte pagina 116. https://github.com/meijer1973/4veco-lessen/blob/173aa9a803897965c572df2c4e7f83cdb135eb1c/Boek%201%20-%20Grondslagen,%20vraag%20en%20aanbod/edities/tweede-editie-2026/boek/Boek_1_Compleet_Tweede_editie.pdf</a:t>
            </a:r>
          </a:p>
          <a:p xmlns:a="http://schemas.openxmlformats.org/drawingml/2006/main">
            <a:r>
              <a:rPr sz="1400"/>
              <a:t>Methode en opgaven: https://github.com/meijer1973/4veco-lessen/blob/173aa9a803897965c572df2c4e7f83cdb135eb1c/Boek%201%20-%20Grondslagen,%20vraag%20en%20aanbod/edities/tweede-editie-2026/bronnen/H3/1.3.3%20Verschuivingen%20en%20nieuw%20evenwicht%20%E2%80%93%20paragraaf.md</a:t>
            </a:r>
          </a:p>
          <a:p xmlns:a="http://schemas.openxmlformats.org/drawingml/2006/main">
            <a:r>
              <a:rPr sz="1400"/>
              <a:t>Antwoordmodel: https://github.com/meijer1973/4veco-lessen/blob/173aa9a803897965c572df2c4e7f83cdb135eb1c/Boek%201%20-%20Grondslagen,%20vraag%20en%20aanbod/edities/tweede-editie-2026/bronnen/H3/Antwoorden.md#answer31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gebruik je hier nog 100 − 5P?</a:t>
            </a:r>
          </a:p>
          <a:p xmlns:a="http://schemas.openxmlformats.org/drawingml/2006/main">
            <a:r>
              <a:rPr sz="1400"/>
              <a:t/>
            </a:r>
          </a:p>
          <a:p xmlns:a="http://schemas.openxmlformats.org/drawingml/2006/main">
            <a:r>
              <a:rPr sz="1400"/>
              <a:t>Uitleg: Tel 5P en 20 aan beide kanten erbij, deel door 10. Controleer beide functies afzonderlijk. P = 12 ligt in beide opgegeven prijsgebieden. Qv en Qa zijn dezelfde 40 transacties in evenwicht, niet 80.</a:t>
            </a:r>
          </a:p>
          <a:p xmlns:a="http://schemas.openxmlformats.org/drawingml/2006/main">
            <a:r>
              <a:rPr sz="1400"/>
              <a:t/>
            </a:r>
          </a:p>
          <a:p xmlns:a="http://schemas.openxmlformats.org/drawingml/2006/main">
            <a:r>
              <a:rPr sz="1400"/>
              <a:t>Misvatting: Het oude evenwicht hoort bij de oude functies.</a:t>
            </a:r>
          </a:p>
          <a:p xmlns:a="http://schemas.openxmlformats.org/drawingml/2006/main">
            <a:r>
              <a:rPr sz="1400"/>
              <a:t/>
            </a:r>
          </a:p>
          <a:p xmlns:a="http://schemas.openxmlformats.org/drawingml/2006/main">
            <a:r>
              <a:rPr sz="1400"/>
              <a:t>Overgang: Onderzoek daarna de gewijzigde vraag bij de oude prijs.</a:t>
            </a:r>
          </a:p>
          <a:p xmlns:a="http://schemas.openxmlformats.org/drawingml/2006/main">
            <a:r>
              <a:rPr sz="1400"/>
              <a:t/>
            </a:r>
          </a:p>
          <a:p xmlns:a="http://schemas.openxmlformats.org/drawingml/2006/main">
            <a:r>
              <a:rPr sz="1400"/>
              <a:t>Bron: Boek 1, tweede editie 2026, compleet leerlingenboek, gedrukte pagina 116. https://github.com/meijer1973/4veco-lessen/blob/173aa9a803897965c572df2c4e7f83cdb135eb1c/Boek%201%20-%20Grondslagen,%20vraag%20en%20aanbod/edities/tweede-editie-2026/boek/Boek_1_Compleet_Tweede_editie.pdf</a:t>
            </a:r>
          </a:p>
          <a:p xmlns:a="http://schemas.openxmlformats.org/drawingml/2006/main">
            <a:r>
              <a:rPr sz="1400"/>
              <a:t>Methode en opgaven: https://github.com/meijer1973/4veco-lessen/blob/173aa9a803897965c572df2c4e7f83cdb135eb1c/Boek%201%20-%20Grondslagen,%20vraag%20en%20aanbod/edities/tweede-editie-2026/bronnen/H3/1.3.3%20Verschuivingen%20en%20nieuw%20evenwicht%20%E2%80%93%20paragraaf.md</a:t>
            </a:r>
          </a:p>
          <a:p xmlns:a="http://schemas.openxmlformats.org/drawingml/2006/main">
            <a:r>
              <a:rPr sz="1400"/>
              <a:t>Antwoordmodel: https://github.com/meijer1973/4veco-lessen/blob/173aa9a803897965c572df2c4e7f83cdb135eb1c/Boek%201%20-%20Grondslagen,%20vraag%20en%20aanbod/edities/tweede-editie-2026/bronnen/H3/Antwoorden.md#answer31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vergelijk je 60 met 40 en niet met de nieuwe evenwichtshoeveelheid?</a:t>
            </a:r>
          </a:p>
          <a:p xmlns:a="http://schemas.openxmlformats.org/drawingml/2006/main">
            <a:r>
              <a:rPr sz="1400"/>
              <a:t/>
            </a:r>
          </a:p>
          <a:p xmlns:a="http://schemas.openxmlformats.org/drawingml/2006/main">
            <a:r>
              <a:rPr sz="1400"/>
              <a:t>Uitleg: Meer kopers betekent bij dezelfde prijs meer koopplannen. Aanbieders hebben bij P = 12 nog hun oorspronkelijke plan. Het vraagoverschot van 20 geeft opwaartse druk als de prijs zich kan aanpassen.</a:t>
            </a:r>
          </a:p>
          <a:p xmlns:a="http://schemas.openxmlformats.org/drawingml/2006/main">
            <a:r>
              <a:rPr sz="1400"/>
              <a:t/>
            </a:r>
          </a:p>
          <a:p xmlns:a="http://schemas.openxmlformats.org/drawingml/2006/main">
            <a:r>
              <a:rPr sz="1400"/>
              <a:t>Misvatting: Voor prijsdruk vergelijk je de nieuwe plannen bij dezelfde oude prijs.</a:t>
            </a:r>
          </a:p>
          <a:p xmlns:a="http://schemas.openxmlformats.org/drawingml/2006/main">
            <a:r>
              <a:rPr sz="1400"/>
              <a:t/>
            </a:r>
          </a:p>
          <a:p xmlns:a="http://schemas.openxmlformats.org/drawingml/2006/main">
            <a:r>
              <a:rPr sz="1400"/>
              <a:t>Overgang: Bereken waar die nieuwe plannen weer samenvallen.</a:t>
            </a:r>
          </a:p>
          <a:p xmlns:a="http://schemas.openxmlformats.org/drawingml/2006/main">
            <a:r>
              <a:rPr sz="1400"/>
              <a:t/>
            </a:r>
          </a:p>
          <a:p xmlns:a="http://schemas.openxmlformats.org/drawingml/2006/main">
            <a:r>
              <a:rPr sz="1400"/>
              <a:t>Bron: Boek 1, tweede editie 2026, compleet leerlingenboek, gedrukte pagina 116. https://github.com/meijer1973/4veco-lessen/blob/173aa9a803897965c572df2c4e7f83cdb135eb1c/Boek%201%20-%20Grondslagen,%20vraag%20en%20aanbod/edities/tweede-editie-2026/boek/Boek_1_Compleet_Tweede_editie.pdf</a:t>
            </a:r>
          </a:p>
          <a:p xmlns:a="http://schemas.openxmlformats.org/drawingml/2006/main">
            <a:r>
              <a:rPr sz="1400"/>
              <a:t>Methode en opgaven: https://github.com/meijer1973/4veco-lessen/blob/173aa9a803897965c572df2c4e7f83cdb135eb1c/Boek%201%20-%20Grondslagen,%20vraag%20en%20aanbod/edities/tweede-editie-2026/bronnen/H3/1.3.3%20Verschuivingen%20en%20nieuw%20evenwicht%20%E2%80%93%20paragraaf.md</a:t>
            </a:r>
          </a:p>
          <a:p xmlns:a="http://schemas.openxmlformats.org/drawingml/2006/main">
            <a:r>
              <a:rPr sz="1400"/>
              <a:t>Antwoordmodel: https://github.com/meijer1973/4veco-lessen/blob/173aa9a803897965c572df2c4e7f83cdb135eb1c/Boek%201%20-%20Grondslagen,%20vraag%20en%20aanbod/edities/tweede-editie-2026/bronnen/H3/Antwoorden.md#answer31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functie bleef gelijk tussen a en c?</a:t>
            </a:r>
          </a:p>
          <a:p xmlns:a="http://schemas.openxmlformats.org/drawingml/2006/main">
            <a:r>
              <a:rPr sz="1400"/>
              <a:t/>
            </a:r>
          </a:p>
          <a:p xmlns:a="http://schemas.openxmlformats.org/drawingml/2006/main">
            <a:r>
              <a:rPr sz="1400"/>
              <a:t>Uitleg: Gebruik V₁ en dezelfde A. Tel 5P en 20 op aan beide zijden, deel door 10. P = 14 past bij de domeinen van de nieuwe vraag en aanbod. Controle in beide functies geeft 50.</a:t>
            </a:r>
          </a:p>
          <a:p xmlns:a="http://schemas.openxmlformats.org/drawingml/2006/main">
            <a:r>
              <a:rPr sz="1400"/>
              <a:t/>
            </a:r>
          </a:p>
          <a:p xmlns:a="http://schemas.openxmlformats.org/drawingml/2006/main">
            <a:r>
              <a:rPr sz="1400"/>
              <a:t>Misvatting: De stijgende prijs verschuift A niet.</a:t>
            </a:r>
          </a:p>
          <a:p xmlns:a="http://schemas.openxmlformats.org/drawingml/2006/main">
            <a:r>
              <a:rPr sz="1400"/>
              <a:t/>
            </a:r>
          </a:p>
          <a:p xmlns:a="http://schemas.openxmlformats.org/drawingml/2006/main">
            <a:r>
              <a:rPr sz="1400"/>
              <a:t>Overgang: Vergelijk de oude en nieuwe evenwichtshoeveelheid.</a:t>
            </a:r>
          </a:p>
          <a:p xmlns:a="http://schemas.openxmlformats.org/drawingml/2006/main">
            <a:r>
              <a:rPr sz="1400"/>
              <a:t/>
            </a:r>
          </a:p>
          <a:p xmlns:a="http://schemas.openxmlformats.org/drawingml/2006/main">
            <a:r>
              <a:rPr sz="1400"/>
              <a:t>Bron: Boek 1, tweede editie 2026, compleet leerlingenboek, gedrukte pagina 116. https://github.com/meijer1973/4veco-lessen/blob/173aa9a803897965c572df2c4e7f83cdb135eb1c/Boek%201%20-%20Grondslagen,%20vraag%20en%20aanbod/edities/tweede-editie-2026/boek/Boek_1_Compleet_Tweede_editie.pdf</a:t>
            </a:r>
          </a:p>
          <a:p xmlns:a="http://schemas.openxmlformats.org/drawingml/2006/main">
            <a:r>
              <a:rPr sz="1400"/>
              <a:t>Methode en opgaven: https://github.com/meijer1973/4veco-lessen/blob/173aa9a803897965c572df2c4e7f83cdb135eb1c/Boek%201%20-%20Grondslagen,%20vraag%20en%20aanbod/edities/tweede-editie-2026/bronnen/H3/1.3.3%20Verschuivingen%20en%20nieuw%20evenwicht%20%E2%80%93%20paragraaf.md</a:t>
            </a:r>
          </a:p>
          <a:p xmlns:a="http://schemas.openxmlformats.org/drawingml/2006/main">
            <a:r>
              <a:rPr sz="1400"/>
              <a:t>Antwoordmodel: https://github.com/meijer1973/4veco-lessen/blob/173aa9a803897965c572df2c4e7f83cdb135eb1c/Boek%201%20-%20Grondslagen,%20vraag%20en%20aanbod/edities/tweede-editie-2026/bronnen/H3/Antwoorden.md#answer31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staat 40 onder de breuk?</a:t>
            </a:r>
          </a:p>
          <a:p xmlns:a="http://schemas.openxmlformats.org/drawingml/2006/main">
            <a:r>
              <a:rPr sz="1400"/>
              <a:t/>
            </a:r>
          </a:p>
          <a:p xmlns:a="http://schemas.openxmlformats.org/drawingml/2006/main">
            <a:r>
              <a:rPr sz="1400"/>
              <a:t>Uitleg: De basis is de oude evenwichtshoeveelheid 40. De stijging van 25% is relatief. De absolute stijging is 10 kabels per week. De 60 uit b is een vraagplan bij P = 12 en geen nieuw evenwicht.</a:t>
            </a:r>
          </a:p>
          <a:p xmlns:a="http://schemas.openxmlformats.org/drawingml/2006/main">
            <a:r>
              <a:rPr sz="1400"/>
              <a:t/>
            </a:r>
          </a:p>
          <a:p xmlns:a="http://schemas.openxmlformats.org/drawingml/2006/main">
            <a:r>
              <a:rPr sz="1400"/>
              <a:t>Misvatting: Gebruik niet 60 als nieuwe hoeveelheid of 50 als vergelijkingsbasis.</a:t>
            </a:r>
          </a:p>
          <a:p xmlns:a="http://schemas.openxmlformats.org/drawingml/2006/main">
            <a:r>
              <a:rPr sz="1400"/>
              <a:t/>
            </a:r>
          </a:p>
          <a:p xmlns:a="http://schemas.openxmlformats.org/drawingml/2006/main">
            <a:r>
              <a:rPr sz="1400"/>
              <a:t>Overgang: Teken de nieuwe vraaglijn met twee berekende punten.</a:t>
            </a:r>
          </a:p>
          <a:p xmlns:a="http://schemas.openxmlformats.org/drawingml/2006/main">
            <a:r>
              <a:rPr sz="1400"/>
              <a:t/>
            </a:r>
          </a:p>
          <a:p xmlns:a="http://schemas.openxmlformats.org/drawingml/2006/main">
            <a:r>
              <a:rPr sz="1400"/>
              <a:t>Bron: Boek 1, tweede editie 2026, compleet leerlingenboek, gedrukte pagina 14, 116. https://github.com/meijer1973/4veco-lessen/blob/173aa9a803897965c572df2c4e7f83cdb135eb1c/Boek%201%20-%20Grondslagen,%20vraag%20en%20aanbod/edities/tweede-editie-2026/boek/Boek_1_Compleet_Tweede_editie.pdf</a:t>
            </a:r>
          </a:p>
          <a:p xmlns:a="http://schemas.openxmlformats.org/drawingml/2006/main">
            <a:r>
              <a:rPr sz="1400"/>
              <a:t>Methode en opgaven: https://github.com/meijer1973/4veco-lessen/blob/173aa9a803897965c572df2c4e7f83cdb135eb1c/Boek%201%20-%20Grondslagen,%20vraag%20en%20aanbod/edities/tweede-editie-2026/bronnen/H3/1.3.3%20Verschuivingen%20en%20nieuw%20evenwicht%20%E2%80%93%20paragraaf.md</a:t>
            </a:r>
          </a:p>
          <a:p xmlns:a="http://schemas.openxmlformats.org/drawingml/2006/main">
            <a:r>
              <a:rPr sz="1400"/>
              <a:t>Antwoordmodel: https://github.com/meijer1973/4veco-lessen/blob/173aa9a803897965c572df2c4e7f83cdb135eb1c/Boek%201%20-%20Grondslagen,%20vraag%20en%20aanbod/edities/tweede-editie-2026/bronnen/H3/Antwoorden.md#answer31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(0; 24) het snijpunt met de prijsas?</a:t>
            </a:r>
          </a:p>
          <a:p xmlns:a="http://schemas.openxmlformats.org/drawingml/2006/main">
            <a:r>
              <a:rPr sz="1400"/>
              <a:t/>
            </a:r>
          </a:p>
          <a:p xmlns:a="http://schemas.openxmlformats.org/drawingml/2006/main">
            <a:r>
              <a:rPr sz="1400"/>
              <a:t>Uitleg: De coördinaten hebben Q eerst en P tweede. Beide punten zijn domeingrenzen van V₁. Dit zijn lijnpunten, geen evenwichten. Markeer daarna de twee berekende evenwichten.</a:t>
            </a:r>
          </a:p>
          <a:p xmlns:a="http://schemas.openxmlformats.org/drawingml/2006/main">
            <a:r>
              <a:rPr sz="1400"/>
              <a:t/>
            </a:r>
          </a:p>
          <a:p xmlns:a="http://schemas.openxmlformats.org/drawingml/2006/main">
            <a:r>
              <a:rPr sz="1400"/>
              <a:t>Misvatting: P = 0 invullen levert het horizontale snijpunt, niet de evenwichtsprijs.</a:t>
            </a:r>
          </a:p>
          <a:p xmlns:a="http://schemas.openxmlformats.org/drawingml/2006/main">
            <a:r>
              <a:rPr sz="1400"/>
              <a:t/>
            </a:r>
          </a:p>
          <a:p xmlns:a="http://schemas.openxmlformats.org/drawingml/2006/main">
            <a:r>
              <a:rPr sz="1400"/>
              <a:t>Overgang: Voeg de nieuwe lijn, beide evenwichten en daarna de pijlen toe.</a:t>
            </a:r>
          </a:p>
          <a:p xmlns:a="http://schemas.openxmlformats.org/drawingml/2006/main">
            <a:r>
              <a:rPr sz="1400"/>
              <a:t/>
            </a:r>
          </a:p>
          <a:p xmlns:a="http://schemas.openxmlformats.org/drawingml/2006/main">
            <a:r>
              <a:rPr sz="1400"/>
              <a:t>Bron: Boek 1, tweede editie 2026, compleet leerlingenboek, gedrukte pagina 97–98, 116. https://github.com/meijer1973/4veco-lessen/blob/173aa9a803897965c572df2c4e7f83cdb135eb1c/Boek%201%20-%20Grondslagen,%20vraag%20en%20aanbod/edities/tweede-editie-2026/boek/Boek_1_Compleet_Tweede_editie.pdf</a:t>
            </a:r>
          </a:p>
          <a:p xmlns:a="http://schemas.openxmlformats.org/drawingml/2006/main">
            <a:r>
              <a:rPr sz="1400"/>
              <a:t>Methode en opgaven: https://github.com/meijer1973/4veco-lessen/blob/173aa9a803897965c572df2c4e7f83cdb135eb1c/Boek%201%20-%20Grondslagen,%20vraag%20en%20aanbod/edities/tweede-editie-2026/bronnen/H3/1.3.3%20Verschuivingen%20en%20nieuw%20evenwicht%20%E2%80%93%20paragraaf.md</a:t>
            </a:r>
          </a:p>
          <a:p xmlns:a="http://schemas.openxmlformats.org/drawingml/2006/main">
            <a:r>
              <a:rPr sz="1400"/>
              <a:t>Antwoordmodel: https://github.com/meijer1973/4veco-lessen/blob/173aa9a803897965c572df2c4e7f83cdb135eb1c/Boek%201%20-%20Grondslagen,%20vraag%20en%20aanbod/edities/tweede-editie-2026/bronnen/H3/Antwoorden.md#answer31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liggen E₀ en E₁ niet op dezelfde vraaglijn?</a:t>
            </a:r>
          </a:p>
          <a:p xmlns:a="http://schemas.openxmlformats.org/drawingml/2006/main">
            <a:r>
              <a:rPr sz="1400"/>
              <a:t/>
            </a:r>
          </a:p>
          <a:p xmlns:a="http://schemas.openxmlformats.org/drawingml/2006/main">
            <a:r>
              <a:rPr sz="1400"/>
              <a:t>Uitleg: De oude en nieuwe snijpunten liggen allebei op A. De nieuwe vraaglijn snijdt de prijsas bij 24 en de hoeveelheidas bij 120. De hulplijnen tonen 40/12 en 50/14.</a:t>
            </a:r>
          </a:p>
          <a:p xmlns:a="http://schemas.openxmlformats.org/drawingml/2006/main">
            <a:r>
              <a:rPr sz="1400"/>
              <a:t/>
            </a:r>
          </a:p>
          <a:p xmlns:a="http://schemas.openxmlformats.org/drawingml/2006/main">
            <a:r>
              <a:rPr sz="1400"/>
              <a:t>Misvatting: E₁ hoort bij V₁. V₀ beschrijft de oude kopersgroep.</a:t>
            </a:r>
          </a:p>
          <a:p xmlns:a="http://schemas.openxmlformats.org/drawingml/2006/main">
            <a:r>
              <a:rPr sz="1400"/>
              <a:t/>
            </a:r>
          </a:p>
          <a:p xmlns:a="http://schemas.openxmlformats.org/drawingml/2006/main">
            <a:r>
              <a:rPr sz="1400"/>
              <a:t>Overgang: Voeg afzonderlijk de oorzaakpijl en de reactie op A toe.</a:t>
            </a:r>
          </a:p>
          <a:p xmlns:a="http://schemas.openxmlformats.org/drawingml/2006/main">
            <a:r>
              <a:rPr sz="1400"/>
              <a:t/>
            </a:r>
          </a:p>
          <a:p xmlns:a="http://schemas.openxmlformats.org/drawingml/2006/main">
            <a:r>
              <a:rPr sz="1400"/>
              <a:t>Bron: Boek 1, tweede editie 2026, compleet leerlingenboek, gedrukte pagina 116. https://github.com/meijer1973/4veco-lessen/blob/173aa9a803897965c572df2c4e7f83cdb135eb1c/Boek%201%20-%20Grondslagen,%20vraag%20en%20aanbod/edities/tweede-editie-2026/boek/Boek_1_Compleet_Tweede_editie.pdf</a:t>
            </a:r>
          </a:p>
          <a:p xmlns:a="http://schemas.openxmlformats.org/drawingml/2006/main">
            <a:r>
              <a:rPr sz="1400"/>
              <a:t>Methode en opgaven: https://github.com/meijer1973/4veco-lessen/blob/173aa9a803897965c572df2c4e7f83cdb135eb1c/Boek%201%20-%20Grondslagen,%20vraag%20en%20aanbod/edities/tweede-editie-2026/bronnen/H3/1.3.3%20Verschuivingen%20en%20nieuw%20evenwicht%20%E2%80%93%20paragraaf.md</a:t>
            </a:r>
          </a:p>
          <a:p xmlns:a="http://schemas.openxmlformats.org/drawingml/2006/main">
            <a:r>
              <a:rPr sz="1400"/>
              <a:t>Antwoordmodel: https://github.com/meijer1973/4veco-lessen/blob/173aa9a803897965c572df2c4e7f83cdb135eb1c/Boek%201%20-%20Grondslagen,%20vraag%20en%20aanbod/edities/tweede-editie-2026/bronnen/H3/Antwoorden.md#answer31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pijl eindigt bij 60 en welke bij 50?</a:t>
            </a:r>
          </a:p>
          <a:p xmlns:a="http://schemas.openxmlformats.org/drawingml/2006/main">
            <a:r>
              <a:rPr sz="1400"/>
              <a:t/>
            </a:r>
          </a:p>
          <a:p xmlns:a="http://schemas.openxmlformats.org/drawingml/2006/main">
            <a:r>
              <a:rPr sz="1400"/>
              <a:t>Uitleg: De horizontale pijl begint op V₀ en eindigt op V₁ bij dezelfde P = 12. A is bij de oude prijs nog 40. De oranje pijl volgt A van E₀ naar E₁, doordat de hogere kabelprijs de aangeboden hoeveelheid vergroot.</a:t>
            </a:r>
          </a:p>
          <a:p xmlns:a="http://schemas.openxmlformats.org/drawingml/2006/main">
            <a:r>
              <a:rPr sz="1400"/>
              <a:t/>
            </a:r>
          </a:p>
          <a:p xmlns:a="http://schemas.openxmlformats.org/drawingml/2006/main">
            <a:r>
              <a:rPr sz="1400"/>
              <a:t>Misvatting: De 20 extra vraag bij oude P is niet de 10 extra evenwichtshoeveelheid.</a:t>
            </a:r>
          </a:p>
          <a:p xmlns:a="http://schemas.openxmlformats.org/drawingml/2006/main">
            <a:r>
              <a:rPr sz="1400"/>
              <a:t/>
            </a:r>
          </a:p>
          <a:p xmlns:a="http://schemas.openxmlformats.org/drawingml/2006/main">
            <a:r>
              <a:rPr sz="1400"/>
              <a:t>Overgang: Gebruik de ongewijzigde aanbodfunctie voor de beoordeling van e.</a:t>
            </a:r>
          </a:p>
          <a:p xmlns:a="http://schemas.openxmlformats.org/drawingml/2006/main">
            <a:r>
              <a:rPr sz="1400"/>
              <a:t/>
            </a:r>
          </a:p>
          <a:p xmlns:a="http://schemas.openxmlformats.org/drawingml/2006/main">
            <a:r>
              <a:rPr sz="1400"/>
              <a:t>Bron: Boek 1, tweede editie 2026, compleet leerlingenboek, gedrukte pagina 116. https://github.com/meijer1973/4veco-lessen/blob/173aa9a803897965c572df2c4e7f83cdb135eb1c/Boek%201%20-%20Grondslagen,%20vraag%20en%20aanbod/edities/tweede-editie-2026/boek/Boek_1_Compleet_Tweede_editie.pdf</a:t>
            </a:r>
          </a:p>
          <a:p xmlns:a="http://schemas.openxmlformats.org/drawingml/2006/main">
            <a:r>
              <a:rPr sz="1400"/>
              <a:t>Methode en opgaven: https://github.com/meijer1973/4veco-lessen/blob/173aa9a803897965c572df2c4e7f83cdb135eb1c/Boek%201%20-%20Grondslagen,%20vraag%20en%20aanbod/edities/tweede-editie-2026/bronnen/H3/1.3.3%20Verschuivingen%20en%20nieuw%20evenwicht%20%E2%80%93%20paragraaf.md</a:t>
            </a:r>
          </a:p>
          <a:p xmlns:a="http://schemas.openxmlformats.org/drawingml/2006/main">
            <a:r>
              <a:rPr sz="1400"/>
              <a:t>Antwoordmodel: https://github.com/meijer1973/4veco-lessen/blob/173aa9a803897965c572df2c4e7f83cdb135eb1c/Boek%201%20-%20Grondslagen,%20vraag%20en%20aanbod/edities/tweede-editie-2026/bronnen/H3/Antwoorden.md#answer31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bronzin sluit een aanbodverschuiving uit?</a:t>
            </a:r>
          </a:p>
          <a:p xmlns:a="http://schemas.openxmlformats.org/drawingml/2006/main">
            <a:r>
              <a:rPr sz="1400"/>
              <a:t/>
            </a:r>
          </a:p>
          <a:p xmlns:a="http://schemas.openxmlformats.org/drawingml/2006/main">
            <a:r>
              <a:rPr sz="1400"/>
              <a:t>Uitleg: De specifieke oorzaak ligt aan de vraagzijde: meer kopers. De hogere prijs is het gevolg daarvan. Aanbieders reageren op die eigen prijs langs A. Een grotere aangeboden hoeveelheid en een grotere vraag bij dezelfde prijs zijn verschillende verschijnselen.</a:t>
            </a:r>
          </a:p>
          <a:p xmlns:a="http://schemas.openxmlformats.org/drawingml/2006/main">
            <a:r>
              <a:rPr sz="1400"/>
              <a:t/>
            </a:r>
          </a:p>
          <a:p xmlns:a="http://schemas.openxmlformats.org/drawingml/2006/main">
            <a:r>
              <a:rPr sz="1400"/>
              <a:t>Misvatting: Een stijging van Qₐ alleen is onvoldoende bewijs voor een nieuwe aanbodlijn.</a:t>
            </a:r>
          </a:p>
          <a:p xmlns:a="http://schemas.openxmlformats.org/drawingml/2006/main">
            <a:r>
              <a:rPr sz="1400"/>
              <a:t/>
            </a:r>
          </a:p>
          <a:p xmlns:a="http://schemas.openxmlformats.org/drawingml/2006/main">
            <a:r>
              <a:rPr sz="1400"/>
              <a:t>Overgang: Laat leerlingen hun eigen uitwerking controleren en het huiswerk noteren.</a:t>
            </a:r>
          </a:p>
          <a:p xmlns:a="http://schemas.openxmlformats.org/drawingml/2006/main">
            <a:r>
              <a:rPr sz="1400"/>
              <a:t/>
            </a:r>
          </a:p>
          <a:p xmlns:a="http://schemas.openxmlformats.org/drawingml/2006/main">
            <a:r>
              <a:rPr sz="1400"/>
              <a:t>Bron: Boek 1, tweede editie 2026, compleet leerlingenboek, gedrukte pagina 116. https://github.com/meijer1973/4veco-lessen/blob/173aa9a803897965c572df2c4e7f83cdb135eb1c/Boek%201%20-%20Grondslagen,%20vraag%20en%20aanbod/edities/tweede-editie-2026/boek/Boek_1_Compleet_Tweede_editie.pdf</a:t>
            </a:r>
          </a:p>
          <a:p xmlns:a="http://schemas.openxmlformats.org/drawingml/2006/main">
            <a:r>
              <a:rPr sz="1400"/>
              <a:t>Methode en opgaven: https://github.com/meijer1973/4veco-lessen/blob/173aa9a803897965c572df2c4e7f83cdb135eb1c/Boek%201%20-%20Grondslagen,%20vraag%20en%20aanbod/edities/tweede-editie-2026/bronnen/H3/1.3.3%20Verschuivingen%20en%20nieuw%20evenwicht%20%E2%80%93%20paragraaf.md</a:t>
            </a:r>
          </a:p>
          <a:p xmlns:a="http://schemas.openxmlformats.org/drawingml/2006/main">
            <a:r>
              <a:rPr sz="1400"/>
              <a:t>Antwoordmodel: https://github.com/meijer1973/4veco-lessen/blob/173aa9a803897965c572df2c4e7f83cdb135eb1c/Boek%201%20-%20Grondslagen,%20vraag%20en%20aanbod/edities/tweede-editie-2026/bronnen/H3/Antwoorden.md#answer31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in de oefenroute werk je nu uit?</a:t>
            </a:r>
          </a:p>
          <a:p xmlns:a="http://schemas.openxmlformats.org/drawingml/2006/main">
            <a:r>
              <a:rPr sz="1400"/>
              <a:t/>
            </a:r>
          </a:p>
          <a:p xmlns:a="http://schemas.openxmlformats.org/drawingml/2006/main">
            <a:r>
              <a:rPr sz="1400"/>
              <a:t>Uitleg: Laat deze dia staan tijdens afsluiting / huiswerk. Start 23–24 en basis 25 staan op p.112, basis 26 op p.113, basis 27 en zelfstandig 28 op p.114, zelfstandig 29–30 op p.115, doel 31 op p.116. Huiswerk: 25,26,27,28,29,30,31 maken en nakijken. Bonus 32 en herhaling 33 zijn extra. De normale route mag over meerdere lessen lopen.</a:t>
            </a:r>
          </a:p>
          <a:p xmlns:a="http://schemas.openxmlformats.org/drawingml/2006/main">
            <a:r>
              <a:rPr sz="1400"/>
              <a:t/>
            </a:r>
          </a:p>
          <a:p xmlns:a="http://schemas.openxmlformats.org/drawingml/2006/main">
            <a:r>
              <a:rPr sz="1400"/>
              <a:t>Start 23 haalt de procentuele verandering op, expliciet geleerd op p.14. Bij haperen: nieuw min oud, delen door oud, maal 100%. Start 24 combineert eerdere kennis (aantal kopers p.59–60, aanbodfactor versus eigen prijs p.88, prijsreactie langs bestaande lijnen p.99) in een nieuw evenwichtsscenario. Laat leerlingen p.108–109 gebruiken: eerst oorzaak en vaste-prijsvergelijking, daarna de reactie van verkopers. Hun poging is een ondersteunde verkenning. Onthul de uitwerking niet vooraf. Bij terugkeer vóór het basiswerk laat je 24 opnieuw beantwoorden met oorzaak én reactie en bespreek je twijfel. Vraag leerlingen ook 23 te controleren met de oude hoeveelheid als basis.</a:t>
            </a:r>
          </a:p>
          <a:p xmlns:a="http://schemas.openxmlformats.org/drawingml/2006/main">
            <a:r>
              <a:rPr sz="1400"/>
              <a:t/>
            </a:r>
          </a:p>
          <a:p xmlns:a="http://schemas.openxmlformats.org/drawingml/2006/main">
            <a:r>
              <a:rPr sz="1400"/>
              <a:t>Misvatting: Een vraag in het boek bewijst nog geen beheerste voorkennis. Controleer de redenering in het schrift.</a:t>
            </a:r>
          </a:p>
          <a:p xmlns:a="http://schemas.openxmlformats.org/drawingml/2006/main">
            <a:r>
              <a:rPr sz="1400"/>
              <a:t/>
            </a:r>
          </a:p>
          <a:p xmlns:a="http://schemas.openxmlformats.org/drawingml/2006/main">
            <a:r>
              <a:rPr sz="1400"/>
              <a:t>Overgang: Laat het huiswerk in de agenda noteren.</a:t>
            </a:r>
          </a:p>
          <a:p xmlns:a="http://schemas.openxmlformats.org/drawingml/2006/main">
            <a:r>
              <a:rPr sz="1400"/>
              <a:t/>
            </a:r>
          </a:p>
          <a:p xmlns:a="http://schemas.openxmlformats.org/drawingml/2006/main">
            <a:r>
              <a:rPr sz="1400"/>
              <a:t>Bron: Boek 1, tweede editie 2026, compleet leerlingenboek, gedrukte pagina 112–116. https://github.com/meijer1973/4veco-lessen/blob/173aa9a803897965c572df2c4e7f83cdb135eb1c/Boek%201%20-%20Grondslagen,%20vraag%20en%20aanbod/edities/tweede-editie-2026/boek/Boek_1_Compleet_Tweede_editie.pdf</a:t>
            </a:r>
          </a:p>
          <a:p xmlns:a="http://schemas.openxmlformats.org/drawingml/2006/main">
            <a:r>
              <a:rPr sz="1400"/>
              <a:t>Methode en opgaven: https://github.com/meijer1973/4veco-lessen/blob/173aa9a803897965c572df2c4e7f83cdb135eb1c/Boek%201%20-%20Grondslagen,%20vraag%20en%20aanbod/edities/tweede-editie-2026/bronnen/H3/1.3.3%20Verschuivingen%20en%20nieuw%20evenwicht%20%E2%80%93%20paragraaf.md</a:t>
            </a:r>
          </a:p>
          <a:p xmlns:a="http://schemas.openxmlformats.org/drawingml/2006/main">
            <a:r>
              <a:rPr sz="1400"/>
              <a:t>Antwoordmodel: https://github.com/meijer1973/4veco-lessen/blob/173aa9a803897965c572df2c4e7f83cdb135eb1c/Boek%201%20-%20Grondslagen,%20vraag%20en%20aanbod/edities/tweede-editie-2026/bronnen/H3/Antwoorden.md#answer31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c38d17108346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d52914bb5ca462a" /><Relationship Type="http://schemas.openxmlformats.org/officeDocument/2006/relationships/slideLayout" Target="/ppt/slideLayouts/slideLayout1.xml" Id="Rdc2c5fa948f94b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2c5fa948f94b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7f9450dadc044a6" /><Relationship Type="http://schemas.openxmlformats.org/officeDocument/2006/relationships/notesSlide" Target="/ppt/notesSlides/notesSlide1.xml" Id="Re193c47818364d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4b0424a8efe42d5" /><Relationship Type="http://schemas.openxmlformats.org/officeDocument/2006/relationships/notesSlide" Target="/ppt/notesSlides/notesSlide2.xml" Id="R31c3f03434224f5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1a9157bdd8c4354" /><Relationship Type="http://schemas.openxmlformats.org/officeDocument/2006/relationships/notesSlide" Target="/ppt/notesSlides/notesSlide3.xml" Id="Rc03affba28b846e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dec10fc97ed4aaf" /><Relationship Type="http://schemas.openxmlformats.org/officeDocument/2006/relationships/notesSlide" Target="/ppt/notesSlides/notesSlide4.xml" Id="R0f31b81f7e694ab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706e5fffe54427a" /><Relationship Type="http://schemas.openxmlformats.org/officeDocument/2006/relationships/chart" Target="/ppt/slides/charts/chart1.xml" Id="Rbac1653cf02f45c8" /><Relationship Type="http://schemas.openxmlformats.org/officeDocument/2006/relationships/notesSlide" Target="/ppt/notesSlides/notesSlide5.xml" Id="Reed194ae59664b5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ea8bfa318c14994" /><Relationship Type="http://schemas.openxmlformats.org/officeDocument/2006/relationships/notesSlide" Target="/ppt/notesSlides/notesSlide6.xml" Id="R11628aacdb864ac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ddc3615d5874774" /><Relationship Type="http://schemas.openxmlformats.org/officeDocument/2006/relationships/chart" Target="/ppt/slides/charts/chart2.xml" Id="Rdb2dde5d09664bce" /><Relationship Type="http://schemas.openxmlformats.org/officeDocument/2006/relationships/notesSlide" Target="/ppt/notesSlides/notesSlide7.xml" Id="Rcc6818e71b72401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ae86ff3ee154a16" /><Relationship Type="http://schemas.openxmlformats.org/officeDocument/2006/relationships/notesSlide" Target="/ppt/notesSlides/notesSlide8.xml" Id="R308ee77f0f2d412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979699450794f27" /><Relationship Type="http://schemas.openxmlformats.org/officeDocument/2006/relationships/chart" Target="/ppt/slides/charts/chart3.xml" Id="Ra5e77edd4dff438b" /><Relationship Type="http://schemas.openxmlformats.org/officeDocument/2006/relationships/notesSlide" Target="/ppt/notesSlides/notesSlide9.xml" Id="R88d4ae399ff9444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06fe5d5dd95497e" /><Relationship Type="http://schemas.openxmlformats.org/officeDocument/2006/relationships/notesSlide" Target="/ppt/notesSlides/notesSlide10.xml" Id="R36aba08bf47d48f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cc6502dc67e4f2f" /><Relationship Type="http://schemas.openxmlformats.org/officeDocument/2006/relationships/chart" Target="/ppt/slides/charts/chart4.xml" Id="R6d207e21e1984d6c" /><Relationship Type="http://schemas.openxmlformats.org/officeDocument/2006/relationships/notesSlide" Target="/ppt/notesSlides/notesSlide11.xml" Id="Rb491861518f1410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6b28feb6f49425b" /><Relationship Type="http://schemas.openxmlformats.org/officeDocument/2006/relationships/notesSlide" Target="/ppt/notesSlides/notesSlide12.xml" Id="Rb29191997bc1459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5ec36c4c0f64187" /><Relationship Type="http://schemas.openxmlformats.org/officeDocument/2006/relationships/notesSlide" Target="/ppt/notesSlides/notesSlide13.xml" Id="R140a621afa4847f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b8c6d691c3e4c46" /><Relationship Type="http://schemas.openxmlformats.org/officeDocument/2006/relationships/notesSlide" Target="/ppt/notesSlides/notesSlide14.xml" Id="R2fc388078111448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c4bdb86e11d4563" /><Relationship Type="http://schemas.openxmlformats.org/officeDocument/2006/relationships/notesSlide" Target="/ppt/notesSlides/notesSlide15.xml" Id="Ra7d0084f5536424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08ae29c6d6f4d5b" /><Relationship Type="http://schemas.openxmlformats.org/officeDocument/2006/relationships/chart" Target="/ppt/slides/charts/chart5.xml" Id="Ra71b286ac45f48c6" /><Relationship Type="http://schemas.openxmlformats.org/officeDocument/2006/relationships/notesSlide" Target="/ppt/notesSlides/notesSlide16.xml" Id="Rb602241dd99d43a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ca7724dcb204c81" /><Relationship Type="http://schemas.openxmlformats.org/officeDocument/2006/relationships/notesSlide" Target="/ppt/notesSlides/notesSlide17.xml" Id="R3c8f0a9f7b9942e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874c65b0b97451b" /><Relationship Type="http://schemas.openxmlformats.org/officeDocument/2006/relationships/notesSlide" Target="/ppt/notesSlides/notesSlide18.xml" Id="R036ec701e0634ab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5baffcded11467b" /><Relationship Type="http://schemas.openxmlformats.org/officeDocument/2006/relationships/notesSlide" Target="/ppt/notesSlides/notesSlide19.xml" Id="R9f94989c9aa44b3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23fe62858bd4555" /><Relationship Type="http://schemas.openxmlformats.org/officeDocument/2006/relationships/notesSlide" Target="/ppt/notesSlides/notesSlide20.xml" Id="Rfab6639f6481435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e577030f3184f9f" /><Relationship Type="http://schemas.openxmlformats.org/officeDocument/2006/relationships/notesSlide" Target="/ppt/notesSlides/notesSlide21.xml" Id="Rceb496c025f44d6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811f1ddc9554955" /><Relationship Type="http://schemas.openxmlformats.org/officeDocument/2006/relationships/notesSlide" Target="/ppt/notesSlides/notesSlide22.xml" Id="Rbebb34257f454e7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062a12ee3184331" /><Relationship Type="http://schemas.openxmlformats.org/officeDocument/2006/relationships/notesSlide" Target="/ppt/notesSlides/notesSlide23.xml" Id="R2b3cd3e3f0b6484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734ed3a4e3645c6" /><Relationship Type="http://schemas.openxmlformats.org/officeDocument/2006/relationships/chart" Target="/ppt/slides/charts/chart6.xml" Id="Rf075a3cec5974c90" /><Relationship Type="http://schemas.openxmlformats.org/officeDocument/2006/relationships/notesSlide" Target="/ppt/notesSlides/notesSlide24.xml" Id="R32f2584727504e4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9506eb90e8f4670" /><Relationship Type="http://schemas.openxmlformats.org/officeDocument/2006/relationships/chart" Target="/ppt/slides/charts/chart7.xml" Id="R44399da7357840eb" /><Relationship Type="http://schemas.openxmlformats.org/officeDocument/2006/relationships/notesSlide" Target="/ppt/notesSlides/notesSlide25.xml" Id="Rd16757c147624e4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902298fe528454f" /><Relationship Type="http://schemas.openxmlformats.org/officeDocument/2006/relationships/notesSlide" Target="/ppt/notesSlides/notesSlide26.xml" Id="Rcb41f7574b0a4e7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3f2a6a83bdb4763" /><Relationship Type="http://schemas.openxmlformats.org/officeDocument/2006/relationships/notesSlide" Target="/ppt/notesSlides/notesSlide27.xml" Id="R88c6e7d157ec4ff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V₀</c:v>
          </c:tx>
          <c:spPr>
            <a:ln xmlns:a="http://schemas.openxmlformats.org/drawingml/2006/main" w="28575">
              <a:solidFill>
                <a:srgbClr val="1A5276"/>
              </a:solidFill>
              <a:prstDash val="solid"/>
            </a:ln>
          </c:spPr>
          <c:marker>
            <c:symbol val="none"/>
          </c:marker>
          <c:xVal>
            <c:numRef>
              <c:f>'Chart Data'!$A$2:$A$3</c:f>
              <c:numCache>
                <c:formatCode>General</c:formatCode>
                <c:ptCount val="2"/>
                <c:pt idx="0">
                  <c:v>0</c:v>
                </c:pt>
                <c:pt idx="1">
                  <c:v>72</c:v>
                </c:pt>
              </c:numCache>
            </c:numRef>
          </c:xVal>
          <c:yVal>
            <c:numRef>
              <c:f>'Chart Data'!$B$2:$B$3</c:f>
              <c:numCache>
                <c:formatCode>0</c:formatCode>
                <c:ptCount val="2"/>
                <c:pt idx="0">
                  <c:v>24</c:v>
                </c:pt>
                <c:pt idx="1">
                  <c:v>0</c:v>
                </c:pt>
              </c:numCache>
            </c:numRef>
          </c:yVal>
          <c:smooth val="0"/>
        </c:ser>
        <c:ser>
          <c:idx val="1"/>
          <c:order val="1"/>
          <c:tx>
            <c:v>A₀</c:v>
          </c:tx>
          <c:spPr>
            <a:ln xmlns:a="http://schemas.openxmlformats.org/drawingml/2006/main" w="28575">
              <a:solidFill>
                <a:srgbClr val="20665B"/>
              </a:solidFill>
              <a:prstDash val="solid"/>
            </a:ln>
          </c:spPr>
          <c:marker>
            <c:symbol val="none"/>
          </c:marker>
          <c:xVal>
            <c:numRef>
              <c:f>'Chart Data'!$C$2:$C$3</c:f>
              <c:numCache>
                <c:formatCode>General</c:formatCode>
                <c:ptCount val="2"/>
                <c:pt idx="0">
                  <c:v>0</c:v>
                </c:pt>
                <c:pt idx="1">
                  <c:v>78</c:v>
                </c:pt>
              </c:numCache>
            </c:numRef>
          </c:xVal>
          <c:yVal>
            <c:numRef>
              <c:f>'Chart Data'!$D$2:$D$3</c:f>
              <c:numCache>
                <c:formatCode>0</c:formatCode>
                <c:ptCount val="2"/>
                <c:pt idx="0">
                  <c:v>4</c:v>
                </c:pt>
                <c:pt idx="1">
                  <c:v>30</c:v>
                </c:pt>
              </c:numCache>
            </c:numRef>
          </c:yVal>
          <c:smooth val="0"/>
        </c:ser>
        <c:ser>
          <c:idx val="2"/>
          <c:order val="2"/>
          <c:tx>
            <c:v>V₀</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A5276"/>
                        </a:solidFill>
                        <a:latin typeface="Arial"/>
                        <a:ea typeface="Arial"/>
                        <a:cs typeface="Arial"/>
                      </a:rPr>
                      <a:t>V₀</a:t>
                    </a:r>
                  </a:p>
                </c:rich>
              </c:tx>
              <c:txPr>
                <a:bodyPr xmlns:a="http://schemas.openxmlformats.org/drawingml/2006/main" anchorCtr="1"/>
                <a:lstStyle xmlns:a="http://schemas.openxmlformats.org/drawingml/2006/main"/>
                <a:p xmlns:a="http://schemas.openxmlformats.org/drawingml/2006/main">
                  <a:pPr>
                    <a:defRPr sz="2100" b="1">
                      <a:solidFill>
                        <a:srgbClr val="1A527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Data'!$E$2:$E$2</c:f>
              <c:numCache>
                <c:formatCode>General</c:formatCode>
                <c:ptCount val="1"/>
                <c:pt idx="0">
                  <c:v>63.36</c:v>
                </c:pt>
              </c:numCache>
            </c:numRef>
          </c:xVal>
          <c:yVal>
            <c:numRef>
              <c:f>'Chart Data'!$F$2:$F$2</c:f>
              <c:numCache>
                <c:formatCode>0</c:formatCode>
                <c:ptCount val="1"/>
                <c:pt idx="0">
                  <c:v>3.98</c:v>
                </c:pt>
              </c:numCache>
            </c:numRef>
          </c:yVal>
          <c:smooth val="0"/>
        </c:ser>
        <c:ser>
          <c:idx val="3"/>
          <c:order val="3"/>
          <c:tx>
            <c:v>A</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20665B"/>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00"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65.4</c:v>
                </c:pt>
              </c:numCache>
            </c:numRef>
          </c:xVal>
          <c:yVal>
            <c:numRef>
              <c:f>'Chart Data'!$H$2:$H$2</c:f>
              <c:numCache>
                <c:formatCode>0</c:formatCode>
                <c:ptCount val="1"/>
                <c:pt idx="0">
                  <c:v>24.8</c:v>
                </c:pt>
              </c:numCache>
            </c:numRef>
          </c:yVal>
          <c:smooth val="0"/>
        </c:ser>
        <c:ser>
          <c:idx val="4"/>
          <c:order val="4"/>
          <c:tx>
            <c:v>P hulplijn 30</c:v>
          </c:tx>
          <c:spPr>
            <a:ln xmlns:a="http://schemas.openxmlformats.org/drawingml/2006/main" w="14288">
              <a:solidFill>
                <a:srgbClr val="445B6B"/>
              </a:solidFill>
              <a:prstDash val="dash"/>
            </a:ln>
          </c:spPr>
          <c:marker>
            <c:symbol val="none"/>
          </c:marker>
          <c:xVal>
            <c:numRef>
              <c:f>'Chart Data'!$I$2:$I$3</c:f>
              <c:numCache>
                <c:formatCode>General</c:formatCode>
                <c:ptCount val="2"/>
                <c:pt idx="0">
                  <c:v>0</c:v>
                </c:pt>
                <c:pt idx="1">
                  <c:v>30</c:v>
                </c:pt>
              </c:numCache>
            </c:numRef>
          </c:xVal>
          <c:yVal>
            <c:numRef>
              <c:f>'Chart Data'!$J$2:$J$3</c:f>
              <c:numCache>
                <c:formatCode>0</c:formatCode>
                <c:ptCount val="2"/>
                <c:pt idx="0">
                  <c:v>14</c:v>
                </c:pt>
                <c:pt idx="1">
                  <c:v>14</c:v>
                </c:pt>
              </c:numCache>
            </c:numRef>
          </c:yVal>
          <c:smooth val="0"/>
        </c:ser>
        <c:ser>
          <c:idx val="5"/>
          <c:order val="5"/>
          <c:tx>
            <c:v>Q hulplijn 30</c:v>
          </c:tx>
          <c:spPr>
            <a:ln xmlns:a="http://schemas.openxmlformats.org/drawingml/2006/main" w="14288">
              <a:solidFill>
                <a:srgbClr val="445B6B"/>
              </a:solidFill>
              <a:prstDash val="dash"/>
            </a:ln>
          </c:spPr>
          <c:marker>
            <c:symbol val="none"/>
          </c:marker>
          <c:xVal>
            <c:numRef>
              <c:f>'Chart Data'!$K$2:$K$3</c:f>
              <c:numCache>
                <c:formatCode>General</c:formatCode>
                <c:ptCount val="2"/>
                <c:pt idx="0">
                  <c:v>30</c:v>
                </c:pt>
                <c:pt idx="1">
                  <c:v>30</c:v>
                </c:pt>
              </c:numCache>
            </c:numRef>
          </c:xVal>
          <c:yVal>
            <c:numRef>
              <c:f>'Chart Data'!$L$2:$L$3</c:f>
              <c:numCache>
                <c:formatCode>0</c:formatCode>
                <c:ptCount val="2"/>
                <c:pt idx="0">
                  <c:v>0</c:v>
                </c:pt>
                <c:pt idx="1">
                  <c:v>14</c:v>
                </c:pt>
              </c:numCache>
            </c:numRef>
          </c:yVal>
          <c:smooth val="0"/>
        </c:ser>
        <c:ser>
          <c:idx val="6"/>
          <c:order val="6"/>
          <c:tx>
            <c:v>E₀ punt</c:v>
          </c:tx>
          <c:spPr>
            <a:ln xmlns:a="http://schemas.openxmlformats.org/drawingml/2006/main" w="0">
              <a:noFill/>
            </a:ln>
          </c:spPr>
          <c:marker>
            <c:symbol val="circle"/>
            <c:size val="9"/>
            <c:spPr>
              <a:solidFill xmlns:a="http://schemas.openxmlformats.org/drawingml/2006/main">
                <a:srgbClr val="183247"/>
              </a:solidFill>
            </c:spPr>
          </c:marker>
          <c:xVal>
            <c:numRef>
              <c:f>'Chart Data'!$M$2:$M$2</c:f>
              <c:numCache>
                <c:formatCode>General</c:formatCode>
                <c:ptCount val="1"/>
                <c:pt idx="0">
                  <c:v>30</c:v>
                </c:pt>
              </c:numCache>
            </c:numRef>
          </c:xVal>
          <c:yVal>
            <c:numRef>
              <c:f>'Chart Data'!$N$2:$N$2</c:f>
              <c:numCache>
                <c:formatCode>0</c:formatCode>
                <c:ptCount val="1"/>
                <c:pt idx="0">
                  <c:v>14</c:v>
                </c:pt>
              </c:numCache>
            </c:numRef>
          </c:yVal>
          <c:smooth val="0"/>
        </c:ser>
        <c:ser>
          <c:idx val="7"/>
          <c:order val="7"/>
          <c:tx>
            <c:v>E₀</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E₀</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Data'!$O$2:$O$2</c:f>
              <c:numCache>
                <c:formatCode>General</c:formatCode>
                <c:ptCount val="1"/>
                <c:pt idx="0">
                  <c:v>25.95</c:v>
                </c:pt>
              </c:numCache>
            </c:numRef>
          </c:xVal>
          <c:yVal>
            <c:numRef>
              <c:f>'Chart Data'!$P$2:$P$2</c:f>
              <c:numCache>
                <c:formatCode>0</c:formatCode>
                <c:ptCount val="1"/>
                <c:pt idx="0">
                  <c:v>15.65</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 per sleutelhanger)</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50112"/>
        <c:majorUnit val="5"/>
      </c:valAx>
      <c:valAx>
        <c:axId val="48650112"/>
        <c:scaling>
          <c:orientation val="minMax"/>
          <c:max val="9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(sleutelhangers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72768"/>
        <c:majorUnit val="1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V₀</c:v>
          </c:tx>
          <c:spPr>
            <a:ln xmlns:a="http://schemas.openxmlformats.org/drawingml/2006/main" w="28575">
              <a:solidFill>
                <a:srgbClr val="1A5276"/>
              </a:solidFill>
              <a:prstDash val="solid"/>
            </a:ln>
          </c:spPr>
          <c:marker>
            <c:symbol val="none"/>
          </c:marker>
          <c:xVal>
            <c:numRef>
              <c:f>'Chart Data'!$A$2:$A$3</c:f>
              <c:numCache>
                <c:formatCode>General</c:formatCode>
                <c:ptCount val="2"/>
                <c:pt idx="0">
                  <c:v>0</c:v>
                </c:pt>
                <c:pt idx="1">
                  <c:v>72</c:v>
                </c:pt>
              </c:numCache>
            </c:numRef>
          </c:xVal>
          <c:yVal>
            <c:numRef>
              <c:f>'Chart Data'!$B$2:$B$3</c:f>
              <c:numCache>
                <c:formatCode>0</c:formatCode>
                <c:ptCount val="2"/>
                <c:pt idx="0">
                  <c:v>24</c:v>
                </c:pt>
                <c:pt idx="1">
                  <c:v>0</c:v>
                </c:pt>
              </c:numCache>
            </c:numRef>
          </c:yVal>
          <c:smooth val="0"/>
        </c:ser>
        <c:ser>
          <c:idx val="1"/>
          <c:order val="1"/>
          <c:tx>
            <c:v>A₀</c:v>
          </c:tx>
          <c:spPr>
            <a:ln xmlns:a="http://schemas.openxmlformats.org/drawingml/2006/main" w="28575">
              <a:solidFill>
                <a:srgbClr val="20665B"/>
              </a:solidFill>
              <a:prstDash val="solid"/>
            </a:ln>
          </c:spPr>
          <c:marker>
            <c:symbol val="none"/>
          </c:marker>
          <c:xVal>
            <c:numRef>
              <c:f>'Chart Data'!$C$2:$C$3</c:f>
              <c:numCache>
                <c:formatCode>General</c:formatCode>
                <c:ptCount val="2"/>
                <c:pt idx="0">
                  <c:v>0</c:v>
                </c:pt>
                <c:pt idx="1">
                  <c:v>78</c:v>
                </c:pt>
              </c:numCache>
            </c:numRef>
          </c:xVal>
          <c:yVal>
            <c:numRef>
              <c:f>'Chart Data'!$D$2:$D$3</c:f>
              <c:numCache>
                <c:formatCode>0</c:formatCode>
                <c:ptCount val="2"/>
                <c:pt idx="0">
                  <c:v>4</c:v>
                </c:pt>
                <c:pt idx="1">
                  <c:v>30</c:v>
                </c:pt>
              </c:numCache>
            </c:numRef>
          </c:yVal>
          <c:smooth val="0"/>
        </c:ser>
        <c:ser>
          <c:idx val="2"/>
          <c:order val="2"/>
          <c:tx>
            <c:v>V₀</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A5276"/>
                        </a:solidFill>
                        <a:latin typeface="Arial"/>
                        <a:ea typeface="Arial"/>
                        <a:cs typeface="Arial"/>
                      </a:rPr>
                      <a:t>V₀</a:t>
                    </a:r>
                  </a:p>
                </c:rich>
              </c:tx>
              <c:txPr>
                <a:bodyPr xmlns:a="http://schemas.openxmlformats.org/drawingml/2006/main" anchorCtr="1"/>
                <a:lstStyle xmlns:a="http://schemas.openxmlformats.org/drawingml/2006/main"/>
                <a:p xmlns:a="http://schemas.openxmlformats.org/drawingml/2006/main">
                  <a:pPr>
                    <a:defRPr sz="2100" b="1">
                      <a:solidFill>
                        <a:srgbClr val="1A527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Data'!$E$2:$E$2</c:f>
              <c:numCache>
                <c:formatCode>General</c:formatCode>
                <c:ptCount val="1"/>
                <c:pt idx="0">
                  <c:v>63.36</c:v>
                </c:pt>
              </c:numCache>
            </c:numRef>
          </c:xVal>
          <c:yVal>
            <c:numRef>
              <c:f>'Chart Data'!$F$2:$F$2</c:f>
              <c:numCache>
                <c:formatCode>0</c:formatCode>
                <c:ptCount val="1"/>
                <c:pt idx="0">
                  <c:v>3.98</c:v>
                </c:pt>
              </c:numCache>
            </c:numRef>
          </c:yVal>
          <c:smooth val="0"/>
        </c:ser>
        <c:ser>
          <c:idx val="3"/>
          <c:order val="3"/>
          <c:tx>
            <c:v>A</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20665B"/>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00"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65.4</c:v>
                </c:pt>
              </c:numCache>
            </c:numRef>
          </c:xVal>
          <c:yVal>
            <c:numRef>
              <c:f>'Chart Data'!$H$2:$H$2</c:f>
              <c:numCache>
                <c:formatCode>0</c:formatCode>
                <c:ptCount val="1"/>
                <c:pt idx="0">
                  <c:v>24.8</c:v>
                </c:pt>
              </c:numCache>
            </c:numRef>
          </c:yVal>
          <c:smooth val="0"/>
        </c:ser>
        <c:ser>
          <c:idx val="4"/>
          <c:order val="4"/>
          <c:tx>
            <c:v>V₁</c:v>
          </c:tx>
          <c:spPr>
            <a:ln xmlns:a="http://schemas.openxmlformats.org/drawingml/2006/main" w="38100">
              <a:solidFill>
                <a:srgbClr val="704798"/>
              </a:solidFill>
              <a:prstDash val="dash"/>
            </a:ln>
          </c:spPr>
          <c:marker>
            <c:symbol val="none"/>
          </c:marker>
          <c:xVal>
            <c:numRef>
              <c:f>'Chart Data'!$I$2:$I$3</c:f>
              <c:numCache>
                <c:formatCode>General</c:formatCode>
                <c:ptCount val="2"/>
                <c:pt idx="0">
                  <c:v>0</c:v>
                </c:pt>
                <c:pt idx="1">
                  <c:v>90</c:v>
                </c:pt>
              </c:numCache>
            </c:numRef>
          </c:xVal>
          <c:yVal>
            <c:numRef>
              <c:f>'Chart Data'!$J$2:$J$3</c:f>
              <c:numCache>
                <c:formatCode>0</c:formatCode>
                <c:ptCount val="2"/>
                <c:pt idx="0">
                  <c:v>30</c:v>
                </c:pt>
                <c:pt idx="1">
                  <c:v>0</c:v>
                </c:pt>
              </c:numCache>
            </c:numRef>
          </c:yVal>
          <c:smooth val="0"/>
        </c:ser>
        <c:ser>
          <c:idx val="5"/>
          <c:order val="5"/>
          <c:tx>
            <c:v>V₁</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704798"/>
                        </a:solidFill>
                        <a:latin typeface="Arial"/>
                        <a:ea typeface="Arial"/>
                        <a:cs typeface="Arial"/>
                      </a:rPr>
                      <a:t>V₁</a:t>
                    </a:r>
                  </a:p>
                </c:rich>
              </c:tx>
              <c:txPr>
                <a:bodyPr xmlns:a="http://schemas.openxmlformats.org/drawingml/2006/main" anchorCtr="1"/>
                <a:lstStyle xmlns:a="http://schemas.openxmlformats.org/drawingml/2006/main"/>
                <a:p xmlns:a="http://schemas.openxmlformats.org/drawingml/2006/main">
                  <a:pPr>
                    <a:defRPr sz="2100" b="1">
                      <a:solidFill>
                        <a:srgbClr val="704798"/>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81</c:v>
                </c:pt>
              </c:numCache>
            </c:numRef>
          </c:xVal>
          <c:yVal>
            <c:numRef>
              <c:f>'Chart Data'!$L$2:$L$2</c:f>
              <c:numCache>
                <c:formatCode>0</c:formatCode>
                <c:ptCount val="1"/>
                <c:pt idx="0">
                  <c:v>3.5</c:v>
                </c:pt>
              </c:numCache>
            </c:numRef>
          </c:yVal>
          <c:smooth val="0"/>
        </c:ser>
        <c:ser>
          <c:idx val="6"/>
          <c:order val="6"/>
          <c:tx>
            <c:v>P hulplijn 30</c:v>
          </c:tx>
          <c:spPr>
            <a:ln xmlns:a="http://schemas.openxmlformats.org/drawingml/2006/main" w="14288">
              <a:solidFill>
                <a:srgbClr val="445B6B"/>
              </a:solidFill>
              <a:prstDash val="dash"/>
            </a:ln>
          </c:spPr>
          <c:marker>
            <c:symbol val="none"/>
          </c:marker>
          <c:xVal>
            <c:numRef>
              <c:f>'Chart Data'!$M$2:$M$3</c:f>
              <c:numCache>
                <c:formatCode>General</c:formatCode>
                <c:ptCount val="2"/>
                <c:pt idx="0">
                  <c:v>0</c:v>
                </c:pt>
                <c:pt idx="1">
                  <c:v>30</c:v>
                </c:pt>
              </c:numCache>
            </c:numRef>
          </c:xVal>
          <c:yVal>
            <c:numRef>
              <c:f>'Chart Data'!$N$2:$N$3</c:f>
              <c:numCache>
                <c:formatCode>0</c:formatCode>
                <c:ptCount val="2"/>
                <c:pt idx="0">
                  <c:v>14</c:v>
                </c:pt>
                <c:pt idx="1">
                  <c:v>14</c:v>
                </c:pt>
              </c:numCache>
            </c:numRef>
          </c:yVal>
          <c:smooth val="0"/>
        </c:ser>
        <c:ser>
          <c:idx val="7"/>
          <c:order val="7"/>
          <c:tx>
            <c:v>Q hulplijn 30</c:v>
          </c:tx>
          <c:spPr>
            <a:ln xmlns:a="http://schemas.openxmlformats.org/drawingml/2006/main" w="14288">
              <a:solidFill>
                <a:srgbClr val="445B6B"/>
              </a:solidFill>
              <a:prstDash val="dash"/>
            </a:ln>
          </c:spPr>
          <c:marker>
            <c:symbol val="none"/>
          </c:marker>
          <c:xVal>
            <c:numRef>
              <c:f>'Chart Data'!$O$2:$O$3</c:f>
              <c:numCache>
                <c:formatCode>General</c:formatCode>
                <c:ptCount val="2"/>
                <c:pt idx="0">
                  <c:v>30</c:v>
                </c:pt>
                <c:pt idx="1">
                  <c:v>30</c:v>
                </c:pt>
              </c:numCache>
            </c:numRef>
          </c:xVal>
          <c:yVal>
            <c:numRef>
              <c:f>'Chart Data'!$P$2:$P$3</c:f>
              <c:numCache>
                <c:formatCode>0</c:formatCode>
                <c:ptCount val="2"/>
                <c:pt idx="0">
                  <c:v>0</c:v>
                </c:pt>
                <c:pt idx="1">
                  <c:v>14</c:v>
                </c:pt>
              </c:numCache>
            </c:numRef>
          </c:yVal>
          <c:smooth val="0"/>
        </c:ser>
        <c:ser>
          <c:idx val="8"/>
          <c:order val="8"/>
          <c:tx>
            <c:v>E₀ punt</c:v>
          </c:tx>
          <c:spPr>
            <a:ln xmlns:a="http://schemas.openxmlformats.org/drawingml/2006/main" w="0">
              <a:noFill/>
            </a:ln>
          </c:spPr>
          <c:marker>
            <c:symbol val="circle"/>
            <c:size val="9"/>
            <c:spPr>
              <a:solidFill xmlns:a="http://schemas.openxmlformats.org/drawingml/2006/main">
                <a:srgbClr val="183247"/>
              </a:solidFill>
            </c:spPr>
          </c:marker>
          <c:xVal>
            <c:numRef>
              <c:f>'Chart Data'!$Q$2:$Q$2</c:f>
              <c:numCache>
                <c:formatCode>General</c:formatCode>
                <c:ptCount val="1"/>
                <c:pt idx="0">
                  <c:v>30</c:v>
                </c:pt>
              </c:numCache>
            </c:numRef>
          </c:xVal>
          <c:yVal>
            <c:numRef>
              <c:f>'Chart Data'!$R$2:$R$2</c:f>
              <c:numCache>
                <c:formatCode>0</c:formatCode>
                <c:ptCount val="1"/>
                <c:pt idx="0">
                  <c:v>14</c:v>
                </c:pt>
              </c:numCache>
            </c:numRef>
          </c:yVal>
          <c:smooth val="0"/>
        </c:ser>
        <c:ser>
          <c:idx val="9"/>
          <c:order val="9"/>
          <c:tx>
            <c:v>E₀</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E₀</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Data'!$S$2:$S$2</c:f>
              <c:numCache>
                <c:formatCode>General</c:formatCode>
                <c:ptCount val="1"/>
                <c:pt idx="0">
                  <c:v>25.95</c:v>
                </c:pt>
              </c:numCache>
            </c:numRef>
          </c:xVal>
          <c:yVal>
            <c:numRef>
              <c:f>'Chart Data'!$T$2:$T$2</c:f>
              <c:numCache>
                <c:formatCode>0</c:formatCode>
                <c:ptCount val="1"/>
                <c:pt idx="0">
                  <c:v>15.65</c:v>
                </c:pt>
              </c:numCache>
            </c:numRef>
          </c:yVal>
          <c:smooth val="0"/>
        </c:ser>
        <c:ser>
          <c:idx val="10"/>
          <c:order val="10"/>
          <c:tx>
            <c:v>Verschuiving bij oude prijs</c:v>
          </c:tx>
          <c:spPr>
            <a:ln xmlns:a="http://schemas.openxmlformats.org/drawingml/2006/main" w="38100">
              <a:solidFill>
                <a:srgbClr val="704798"/>
              </a:solidFill>
              <a:prstDash val="solid"/>
            </a:ln>
          </c:spPr>
          <c:marker>
            <c:symbol val="none"/>
          </c:marker>
          <c:xVal>
            <c:numRef>
              <c:f>'Chart Data'!$U$2:$U$3</c:f>
              <c:numCache>
                <c:formatCode>General</c:formatCode>
                <c:ptCount val="2"/>
                <c:pt idx="0">
                  <c:v>30</c:v>
                </c:pt>
                <c:pt idx="1">
                  <c:v>48</c:v>
                </c:pt>
              </c:numCache>
            </c:numRef>
          </c:xVal>
          <c:yVal>
            <c:numRef>
              <c:f>'Chart Data'!$V$2:$V$3</c:f>
              <c:numCache>
                <c:formatCode>0</c:formatCode>
                <c:ptCount val="2"/>
                <c:pt idx="0">
                  <c:v>14</c:v>
                </c:pt>
                <c:pt idx="1">
                  <c:v>14</c:v>
                </c:pt>
              </c:numCache>
            </c:numRef>
          </c:yVal>
          <c:smooth val="0"/>
        </c:ser>
        <c:ser>
          <c:idx val="11"/>
          <c:order val="11"/>
          <c:tx>
            <c:v>Verschuiving bij oude prijs punt</c:v>
          </c:tx>
          <c:spPr>
            <a:ln xmlns:a="http://schemas.openxmlformats.org/drawingml/2006/main" w="38100">
              <a:solidFill>
                <a:srgbClr val="704798"/>
              </a:solidFill>
              <a:prstDash val="solid"/>
            </a:ln>
          </c:spPr>
          <c:marker>
            <c:symbol val="none"/>
          </c:marker>
          <c:xVal>
            <c:numRef>
              <c:f>'Chart Data'!$W$2:$W$4</c:f>
              <c:numCache>
                <c:formatCode>General</c:formatCode>
                <c:ptCount val="3"/>
                <c:pt idx="0">
                  <c:v>46.02</c:v>
                </c:pt>
                <c:pt idx="1">
                  <c:v>48</c:v>
                </c:pt>
                <c:pt idx="2">
                  <c:v>46.02</c:v>
                </c:pt>
              </c:numCache>
            </c:numRef>
          </c:xVal>
          <c:yVal>
            <c:numRef>
              <c:f>'Chart Data'!$X$2:$X$4</c:f>
              <c:numCache>
                <c:formatCode>0</c:formatCode>
                <c:ptCount val="3"/>
                <c:pt idx="0">
                  <c:v>13.64</c:v>
                </c:pt>
                <c:pt idx="1">
                  <c:v>14</c:v>
                </c:pt>
                <c:pt idx="2">
                  <c:v>14.36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 per sleutelhanger)</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50112"/>
        <c:majorUnit val="5"/>
      </c:valAx>
      <c:valAx>
        <c:axId val="48650112"/>
        <c:scaling>
          <c:orientation val="minMax"/>
          <c:max val="9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(sleutelhangers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72768"/>
        <c:majorUnit val="1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V₀</c:v>
          </c:tx>
          <c:spPr>
            <a:ln xmlns:a="http://schemas.openxmlformats.org/drawingml/2006/main" w="28575">
              <a:solidFill>
                <a:srgbClr val="1A5276"/>
              </a:solidFill>
              <a:prstDash val="solid"/>
            </a:ln>
          </c:spPr>
          <c:marker>
            <c:symbol val="none"/>
          </c:marker>
          <c:xVal>
            <c:numRef>
              <c:f>'Chart Data'!$A$2:$A$3</c:f>
              <c:numCache>
                <c:formatCode>General</c:formatCode>
                <c:ptCount val="2"/>
                <c:pt idx="0">
                  <c:v>0</c:v>
                </c:pt>
                <c:pt idx="1">
                  <c:v>72</c:v>
                </c:pt>
              </c:numCache>
            </c:numRef>
          </c:xVal>
          <c:yVal>
            <c:numRef>
              <c:f>'Chart Data'!$B$2:$B$3</c:f>
              <c:numCache>
                <c:formatCode>0</c:formatCode>
                <c:ptCount val="2"/>
                <c:pt idx="0">
                  <c:v>24</c:v>
                </c:pt>
                <c:pt idx="1">
                  <c:v>0</c:v>
                </c:pt>
              </c:numCache>
            </c:numRef>
          </c:yVal>
          <c:smooth val="0"/>
        </c:ser>
        <c:ser>
          <c:idx val="1"/>
          <c:order val="1"/>
          <c:tx>
            <c:v>A₀</c:v>
          </c:tx>
          <c:spPr>
            <a:ln xmlns:a="http://schemas.openxmlformats.org/drawingml/2006/main" w="28575">
              <a:solidFill>
                <a:srgbClr val="20665B"/>
              </a:solidFill>
              <a:prstDash val="solid"/>
            </a:ln>
          </c:spPr>
          <c:marker>
            <c:symbol val="none"/>
          </c:marker>
          <c:xVal>
            <c:numRef>
              <c:f>'Chart Data'!$C$2:$C$3</c:f>
              <c:numCache>
                <c:formatCode>General</c:formatCode>
                <c:ptCount val="2"/>
                <c:pt idx="0">
                  <c:v>0</c:v>
                </c:pt>
                <c:pt idx="1">
                  <c:v>78</c:v>
                </c:pt>
              </c:numCache>
            </c:numRef>
          </c:xVal>
          <c:yVal>
            <c:numRef>
              <c:f>'Chart Data'!$D$2:$D$3</c:f>
              <c:numCache>
                <c:formatCode>0</c:formatCode>
                <c:ptCount val="2"/>
                <c:pt idx="0">
                  <c:v>4</c:v>
                </c:pt>
                <c:pt idx="1">
                  <c:v>30</c:v>
                </c:pt>
              </c:numCache>
            </c:numRef>
          </c:yVal>
          <c:smooth val="0"/>
        </c:ser>
        <c:ser>
          <c:idx val="2"/>
          <c:order val="2"/>
          <c:tx>
            <c:v>V₀</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A5276"/>
                        </a:solidFill>
                        <a:latin typeface="Arial"/>
                        <a:ea typeface="Arial"/>
                        <a:cs typeface="Arial"/>
                      </a:rPr>
                      <a:t>V₀</a:t>
                    </a:r>
                  </a:p>
                </c:rich>
              </c:tx>
              <c:txPr>
                <a:bodyPr xmlns:a="http://schemas.openxmlformats.org/drawingml/2006/main" anchorCtr="1"/>
                <a:lstStyle xmlns:a="http://schemas.openxmlformats.org/drawingml/2006/main"/>
                <a:p xmlns:a="http://schemas.openxmlformats.org/drawingml/2006/main">
                  <a:pPr>
                    <a:defRPr sz="2100" b="1">
                      <a:solidFill>
                        <a:srgbClr val="1A527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Data'!$E$2:$E$2</c:f>
              <c:numCache>
                <c:formatCode>General</c:formatCode>
                <c:ptCount val="1"/>
                <c:pt idx="0">
                  <c:v>63.36</c:v>
                </c:pt>
              </c:numCache>
            </c:numRef>
          </c:xVal>
          <c:yVal>
            <c:numRef>
              <c:f>'Chart Data'!$F$2:$F$2</c:f>
              <c:numCache>
                <c:formatCode>0</c:formatCode>
                <c:ptCount val="1"/>
                <c:pt idx="0">
                  <c:v>3.98</c:v>
                </c:pt>
              </c:numCache>
            </c:numRef>
          </c:yVal>
          <c:smooth val="0"/>
        </c:ser>
        <c:ser>
          <c:idx val="3"/>
          <c:order val="3"/>
          <c:tx>
            <c:v>A</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20665B"/>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00"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65.4</c:v>
                </c:pt>
              </c:numCache>
            </c:numRef>
          </c:xVal>
          <c:yVal>
            <c:numRef>
              <c:f>'Chart Data'!$H$2:$H$2</c:f>
              <c:numCache>
                <c:formatCode>0</c:formatCode>
                <c:ptCount val="1"/>
                <c:pt idx="0">
                  <c:v>24.8</c:v>
                </c:pt>
              </c:numCache>
            </c:numRef>
          </c:yVal>
          <c:smooth val="0"/>
        </c:ser>
        <c:ser>
          <c:idx val="4"/>
          <c:order val="4"/>
          <c:tx>
            <c:v>V₁</c:v>
          </c:tx>
          <c:spPr>
            <a:ln xmlns:a="http://schemas.openxmlformats.org/drawingml/2006/main" w="38100">
              <a:solidFill>
                <a:srgbClr val="704798"/>
              </a:solidFill>
              <a:prstDash val="dash"/>
            </a:ln>
          </c:spPr>
          <c:marker>
            <c:symbol val="none"/>
          </c:marker>
          <c:xVal>
            <c:numRef>
              <c:f>'Chart Data'!$I$2:$I$3</c:f>
              <c:numCache>
                <c:formatCode>General</c:formatCode>
                <c:ptCount val="2"/>
                <c:pt idx="0">
                  <c:v>0</c:v>
                </c:pt>
                <c:pt idx="1">
                  <c:v>90</c:v>
                </c:pt>
              </c:numCache>
            </c:numRef>
          </c:xVal>
          <c:yVal>
            <c:numRef>
              <c:f>'Chart Data'!$J$2:$J$3</c:f>
              <c:numCache>
                <c:formatCode>0</c:formatCode>
                <c:ptCount val="2"/>
                <c:pt idx="0">
                  <c:v>30</c:v>
                </c:pt>
                <c:pt idx="1">
                  <c:v>0</c:v>
                </c:pt>
              </c:numCache>
            </c:numRef>
          </c:yVal>
          <c:smooth val="0"/>
        </c:ser>
        <c:ser>
          <c:idx val="5"/>
          <c:order val="5"/>
          <c:tx>
            <c:v>V₁</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704798"/>
                        </a:solidFill>
                        <a:latin typeface="Arial"/>
                        <a:ea typeface="Arial"/>
                        <a:cs typeface="Arial"/>
                      </a:rPr>
                      <a:t>V₁</a:t>
                    </a:r>
                  </a:p>
                </c:rich>
              </c:tx>
              <c:txPr>
                <a:bodyPr xmlns:a="http://schemas.openxmlformats.org/drawingml/2006/main" anchorCtr="1"/>
                <a:lstStyle xmlns:a="http://schemas.openxmlformats.org/drawingml/2006/main"/>
                <a:p xmlns:a="http://schemas.openxmlformats.org/drawingml/2006/main">
                  <a:pPr>
                    <a:defRPr sz="2100" b="1">
                      <a:solidFill>
                        <a:srgbClr val="704798"/>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81</c:v>
                </c:pt>
              </c:numCache>
            </c:numRef>
          </c:xVal>
          <c:yVal>
            <c:numRef>
              <c:f>'Chart Data'!$L$2:$L$2</c:f>
              <c:numCache>
                <c:formatCode>0</c:formatCode>
                <c:ptCount val="1"/>
                <c:pt idx="0">
                  <c:v>3.5</c:v>
                </c:pt>
              </c:numCache>
            </c:numRef>
          </c:yVal>
          <c:smooth val="0"/>
        </c:ser>
        <c:ser>
          <c:idx val="6"/>
          <c:order val="6"/>
          <c:tx>
            <c:v>P hulplijn 30</c:v>
          </c:tx>
          <c:spPr>
            <a:ln xmlns:a="http://schemas.openxmlformats.org/drawingml/2006/main" w="14288">
              <a:solidFill>
                <a:srgbClr val="445B6B"/>
              </a:solidFill>
              <a:prstDash val="dash"/>
            </a:ln>
          </c:spPr>
          <c:marker>
            <c:symbol val="none"/>
          </c:marker>
          <c:xVal>
            <c:numRef>
              <c:f>'Chart Data'!$M$2:$M$3</c:f>
              <c:numCache>
                <c:formatCode>General</c:formatCode>
                <c:ptCount val="2"/>
                <c:pt idx="0">
                  <c:v>0</c:v>
                </c:pt>
                <c:pt idx="1">
                  <c:v>30</c:v>
                </c:pt>
              </c:numCache>
            </c:numRef>
          </c:xVal>
          <c:yVal>
            <c:numRef>
              <c:f>'Chart Data'!$N$2:$N$3</c:f>
              <c:numCache>
                <c:formatCode>0</c:formatCode>
                <c:ptCount val="2"/>
                <c:pt idx="0">
                  <c:v>14</c:v>
                </c:pt>
                <c:pt idx="1">
                  <c:v>14</c:v>
                </c:pt>
              </c:numCache>
            </c:numRef>
          </c:yVal>
          <c:smooth val="0"/>
        </c:ser>
        <c:ser>
          <c:idx val="7"/>
          <c:order val="7"/>
          <c:tx>
            <c:v>Q hulplijn 30</c:v>
          </c:tx>
          <c:spPr>
            <a:ln xmlns:a="http://schemas.openxmlformats.org/drawingml/2006/main" w="14288">
              <a:solidFill>
                <a:srgbClr val="445B6B"/>
              </a:solidFill>
              <a:prstDash val="dash"/>
            </a:ln>
          </c:spPr>
          <c:marker>
            <c:symbol val="none"/>
          </c:marker>
          <c:xVal>
            <c:numRef>
              <c:f>'Chart Data'!$O$2:$O$3</c:f>
              <c:numCache>
                <c:formatCode>General</c:formatCode>
                <c:ptCount val="2"/>
                <c:pt idx="0">
                  <c:v>30</c:v>
                </c:pt>
                <c:pt idx="1">
                  <c:v>30</c:v>
                </c:pt>
              </c:numCache>
            </c:numRef>
          </c:xVal>
          <c:yVal>
            <c:numRef>
              <c:f>'Chart Data'!$P$2:$P$3</c:f>
              <c:numCache>
                <c:formatCode>0</c:formatCode>
                <c:ptCount val="2"/>
                <c:pt idx="0">
                  <c:v>0</c:v>
                </c:pt>
                <c:pt idx="1">
                  <c:v>14</c:v>
                </c:pt>
              </c:numCache>
            </c:numRef>
          </c:yVal>
          <c:smooth val="0"/>
        </c:ser>
        <c:ser>
          <c:idx val="8"/>
          <c:order val="8"/>
          <c:tx>
            <c:v>E₀ punt</c:v>
          </c:tx>
          <c:spPr>
            <a:ln xmlns:a="http://schemas.openxmlformats.org/drawingml/2006/main" w="0">
              <a:noFill/>
            </a:ln>
          </c:spPr>
          <c:marker>
            <c:symbol val="circle"/>
            <c:size val="9"/>
            <c:spPr>
              <a:solidFill xmlns:a="http://schemas.openxmlformats.org/drawingml/2006/main">
                <a:srgbClr val="183247"/>
              </a:solidFill>
            </c:spPr>
          </c:marker>
          <c:xVal>
            <c:numRef>
              <c:f>'Chart Data'!$Q$2:$Q$2</c:f>
              <c:numCache>
                <c:formatCode>General</c:formatCode>
                <c:ptCount val="1"/>
                <c:pt idx="0">
                  <c:v>30</c:v>
                </c:pt>
              </c:numCache>
            </c:numRef>
          </c:xVal>
          <c:yVal>
            <c:numRef>
              <c:f>'Chart Data'!$R$2:$R$2</c:f>
              <c:numCache>
                <c:formatCode>0</c:formatCode>
                <c:ptCount val="1"/>
                <c:pt idx="0">
                  <c:v>14</c:v>
                </c:pt>
              </c:numCache>
            </c:numRef>
          </c:yVal>
          <c:smooth val="0"/>
        </c:ser>
        <c:ser>
          <c:idx val="9"/>
          <c:order val="9"/>
          <c:tx>
            <c:v>E₀</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E₀</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Data'!$S$2:$S$2</c:f>
              <c:numCache>
                <c:formatCode>General</c:formatCode>
                <c:ptCount val="1"/>
                <c:pt idx="0">
                  <c:v>25.95</c:v>
                </c:pt>
              </c:numCache>
            </c:numRef>
          </c:xVal>
          <c:yVal>
            <c:numRef>
              <c:f>'Chart Data'!$T$2:$T$2</c:f>
              <c:numCache>
                <c:formatCode>0</c:formatCode>
                <c:ptCount val="1"/>
                <c:pt idx="0">
                  <c:v>15.65</c:v>
                </c:pt>
              </c:numCache>
            </c:numRef>
          </c:yVal>
          <c:smooth val="0"/>
        </c:ser>
        <c:ser>
          <c:idx val="10"/>
          <c:order val="10"/>
          <c:tx>
            <c:v>P hulplijn 39</c:v>
          </c:tx>
          <c:spPr>
            <a:ln xmlns:a="http://schemas.openxmlformats.org/drawingml/2006/main" w="14288">
              <a:solidFill>
                <a:srgbClr val="445B6B"/>
              </a:solidFill>
              <a:prstDash val="dash"/>
            </a:ln>
          </c:spPr>
          <c:marker>
            <c:symbol val="none"/>
          </c:marker>
          <c:xVal>
            <c:numRef>
              <c:f>'Chart Data'!$U$2:$U$3</c:f>
              <c:numCache>
                <c:formatCode>General</c:formatCode>
                <c:ptCount val="2"/>
                <c:pt idx="0">
                  <c:v>0</c:v>
                </c:pt>
                <c:pt idx="1">
                  <c:v>39</c:v>
                </c:pt>
              </c:numCache>
            </c:numRef>
          </c:xVal>
          <c:yVal>
            <c:numRef>
              <c:f>'Chart Data'!$V$2:$V$3</c:f>
              <c:numCache>
                <c:formatCode>0</c:formatCode>
                <c:ptCount val="2"/>
                <c:pt idx="0">
                  <c:v>17</c:v>
                </c:pt>
                <c:pt idx="1">
                  <c:v>17</c:v>
                </c:pt>
              </c:numCache>
            </c:numRef>
          </c:yVal>
          <c:smooth val="0"/>
        </c:ser>
        <c:ser>
          <c:idx val="11"/>
          <c:order val="11"/>
          <c:tx>
            <c:v>Q hulplijn 39</c:v>
          </c:tx>
          <c:spPr>
            <a:ln xmlns:a="http://schemas.openxmlformats.org/drawingml/2006/main" w="14288">
              <a:solidFill>
                <a:srgbClr val="445B6B"/>
              </a:solidFill>
              <a:prstDash val="dash"/>
            </a:ln>
          </c:spPr>
          <c:marker>
            <c:symbol val="none"/>
          </c:marker>
          <c:xVal>
            <c:numRef>
              <c:f>'Chart Data'!$W$2:$W$3</c:f>
              <c:numCache>
                <c:formatCode>General</c:formatCode>
                <c:ptCount val="2"/>
                <c:pt idx="0">
                  <c:v>39</c:v>
                </c:pt>
                <c:pt idx="1">
                  <c:v>39</c:v>
                </c:pt>
              </c:numCache>
            </c:numRef>
          </c:xVal>
          <c:yVal>
            <c:numRef>
              <c:f>'Chart Data'!$X$2:$X$3</c:f>
              <c:numCache>
                <c:formatCode>0</c:formatCode>
                <c:ptCount val="2"/>
                <c:pt idx="0">
                  <c:v>0</c:v>
                </c:pt>
                <c:pt idx="1">
                  <c:v>17</c:v>
                </c:pt>
              </c:numCache>
            </c:numRef>
          </c:yVal>
          <c:smooth val="0"/>
        </c:ser>
        <c:ser>
          <c:idx val="12"/>
          <c:order val="12"/>
          <c:tx>
            <c:v>E₁ punt</c:v>
          </c:tx>
          <c:spPr>
            <a:ln xmlns:a="http://schemas.openxmlformats.org/drawingml/2006/main" w="0">
              <a:noFill/>
            </a:ln>
          </c:spPr>
          <c:marker>
            <c:symbol val="circle"/>
            <c:size val="9"/>
            <c:spPr>
              <a:solidFill xmlns:a="http://schemas.openxmlformats.org/drawingml/2006/main">
                <a:srgbClr val="183247"/>
              </a:solidFill>
            </c:spPr>
          </c:marker>
          <c:xVal>
            <c:numRef>
              <c:f>'Chart Data'!$Y$2:$Y$2</c:f>
              <c:numCache>
                <c:formatCode>General</c:formatCode>
                <c:ptCount val="1"/>
                <c:pt idx="0">
                  <c:v>39</c:v>
                </c:pt>
              </c:numCache>
            </c:numRef>
          </c:xVal>
          <c:yVal>
            <c:numRef>
              <c:f>'Chart Data'!$Z$2:$Z$2</c:f>
              <c:numCache>
                <c:formatCode>0</c:formatCode>
                <c:ptCount val="1"/>
                <c:pt idx="0">
                  <c:v>17</c:v>
                </c:pt>
              </c:numCache>
            </c:numRef>
          </c:yVal>
          <c:smooth val="0"/>
        </c:ser>
        <c:ser>
          <c:idx val="13"/>
          <c:order val="13"/>
          <c:tx>
            <c:v>E₁</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E₁</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Data'!$AA$2:$AA$2</c:f>
              <c:numCache>
                <c:formatCode>General</c:formatCode>
                <c:ptCount val="1"/>
                <c:pt idx="0">
                  <c:v>35.85</c:v>
                </c:pt>
              </c:numCache>
            </c:numRef>
          </c:xVal>
          <c:yVal>
            <c:numRef>
              <c:f>'Chart Data'!$AB$2:$AB$2</c:f>
              <c:numCache>
                <c:formatCode>0</c:formatCode>
                <c:ptCount val="1"/>
                <c:pt idx="0">
                  <c:v>19.7</c:v>
                </c:pt>
              </c:numCache>
            </c:numRef>
          </c:yVal>
          <c:smooth val="0"/>
        </c:ser>
        <c:ser>
          <c:idx val="14"/>
          <c:order val="14"/>
          <c:tx>
            <c:v>Verschuiving bij oude prijs</c:v>
          </c:tx>
          <c:spPr>
            <a:ln xmlns:a="http://schemas.openxmlformats.org/drawingml/2006/main" w="38100">
              <a:solidFill>
                <a:srgbClr val="704798"/>
              </a:solidFill>
              <a:prstDash val="solid"/>
            </a:ln>
          </c:spPr>
          <c:marker>
            <c:symbol val="none"/>
          </c:marker>
          <c:xVal>
            <c:numRef>
              <c:f>'Chart Data'!$AC$2:$AC$3</c:f>
              <c:numCache>
                <c:formatCode>General</c:formatCode>
                <c:ptCount val="2"/>
                <c:pt idx="0">
                  <c:v>30</c:v>
                </c:pt>
                <c:pt idx="1">
                  <c:v>48</c:v>
                </c:pt>
              </c:numCache>
            </c:numRef>
          </c:xVal>
          <c:yVal>
            <c:numRef>
              <c:f>'Chart Data'!$AD$2:$AD$3</c:f>
              <c:numCache>
                <c:formatCode>0</c:formatCode>
                <c:ptCount val="2"/>
                <c:pt idx="0">
                  <c:v>14</c:v>
                </c:pt>
                <c:pt idx="1">
                  <c:v>14</c:v>
                </c:pt>
              </c:numCache>
            </c:numRef>
          </c:yVal>
          <c:smooth val="0"/>
        </c:ser>
        <c:ser>
          <c:idx val="15"/>
          <c:order val="15"/>
          <c:tx>
            <c:v>Verschuiving bij oude prijs punt</c:v>
          </c:tx>
          <c:spPr>
            <a:ln xmlns:a="http://schemas.openxmlformats.org/drawingml/2006/main" w="38100">
              <a:solidFill>
                <a:srgbClr val="704798"/>
              </a:solidFill>
              <a:prstDash val="solid"/>
            </a:ln>
          </c:spPr>
          <c:marker>
            <c:symbol val="none"/>
          </c:marker>
          <c:xVal>
            <c:numRef>
              <c:f>'Chart Data'!$AE$2:$AE$4</c:f>
              <c:numCache>
                <c:formatCode>General</c:formatCode>
                <c:ptCount val="3"/>
                <c:pt idx="0">
                  <c:v>46.02</c:v>
                </c:pt>
                <c:pt idx="1">
                  <c:v>48</c:v>
                </c:pt>
                <c:pt idx="2">
                  <c:v>46.02</c:v>
                </c:pt>
              </c:numCache>
            </c:numRef>
          </c:xVal>
          <c:yVal>
            <c:numRef>
              <c:f>'Chart Data'!$AF$2:$AF$4</c:f>
              <c:numCache>
                <c:formatCode>0</c:formatCode>
                <c:ptCount val="3"/>
                <c:pt idx="0">
                  <c:v>13.64</c:v>
                </c:pt>
                <c:pt idx="1">
                  <c:v>14</c:v>
                </c:pt>
                <c:pt idx="2">
                  <c:v>14.36</c:v>
                </c:pt>
              </c:numCache>
            </c:numRef>
          </c:yVal>
          <c:smooth val="0"/>
        </c:ser>
        <c:ser>
          <c:idx val="16"/>
          <c:order val="16"/>
          <c:tx>
            <c:v>Beweging langs A</c:v>
          </c:tx>
          <c:spPr>
            <a:ln xmlns:a="http://schemas.openxmlformats.org/drawingml/2006/main" w="38100">
              <a:solidFill>
                <a:srgbClr val="A94D16"/>
              </a:solidFill>
              <a:prstDash val="solid"/>
            </a:ln>
          </c:spPr>
          <c:marker>
            <c:symbol val="none"/>
          </c:marker>
          <c:xVal>
            <c:numRef>
              <c:f>'Chart Data'!$AG$2:$AG$3</c:f>
              <c:numCache>
                <c:formatCode>General</c:formatCode>
                <c:ptCount val="2"/>
                <c:pt idx="0">
                  <c:v>30</c:v>
                </c:pt>
                <c:pt idx="1">
                  <c:v>39</c:v>
                </c:pt>
              </c:numCache>
            </c:numRef>
          </c:xVal>
          <c:yVal>
            <c:numRef>
              <c:f>'Chart Data'!$AH$2:$AH$3</c:f>
              <c:numCache>
                <c:formatCode>0</c:formatCode>
                <c:ptCount val="2"/>
                <c:pt idx="0">
                  <c:v>14</c:v>
                </c:pt>
                <c:pt idx="1">
                  <c:v>17</c:v>
                </c:pt>
              </c:numCache>
            </c:numRef>
          </c:yVal>
          <c:smooth val="0"/>
        </c:ser>
        <c:ser>
          <c:idx val="17"/>
          <c:order val="17"/>
          <c:tx>
            <c:v>Beweging langs A punt</c:v>
          </c:tx>
          <c:spPr>
            <a:ln xmlns:a="http://schemas.openxmlformats.org/drawingml/2006/main" w="38100">
              <a:solidFill>
                <a:srgbClr val="A94D16"/>
              </a:solidFill>
              <a:prstDash val="solid"/>
            </a:ln>
          </c:spPr>
          <c:marker>
            <c:symbol val="none"/>
          </c:marker>
          <c:xVal>
            <c:numRef>
              <c:f>'Chart Data'!$AI$2:$AI$4</c:f>
              <c:numCache>
                <c:formatCode>General</c:formatCode>
                <c:ptCount val="3"/>
                <c:pt idx="0">
                  <c:v>38.363604</c:v>
                </c:pt>
                <c:pt idx="1">
                  <c:v>39</c:v>
                </c:pt>
                <c:pt idx="2">
                  <c:v>36.836253</c:v>
                </c:pt>
              </c:numCache>
            </c:numRef>
          </c:xVal>
          <c:yVal>
            <c:numRef>
              <c:f>'Chart Data'!$AJ$2:$AJ$4</c:f>
              <c:numCache>
                <c:formatCode>0</c:formatCode>
                <c:ptCount val="3"/>
                <c:pt idx="0">
                  <c:v>16.278751</c:v>
                </c:pt>
                <c:pt idx="1">
                  <c:v>17</c:v>
                </c:pt>
                <c:pt idx="2">
                  <c:v>16.787868</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 per sleutelhanger)</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50112"/>
        <c:majorUnit val="5"/>
      </c:valAx>
      <c:valAx>
        <c:axId val="48650112"/>
        <c:scaling>
          <c:orientation val="minMax"/>
          <c:max val="9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(sleutelhangers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72768"/>
        <c:majorUnit val="1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V₀</c:v>
          </c:tx>
          <c:spPr>
            <a:ln xmlns:a="http://schemas.openxmlformats.org/drawingml/2006/main" w="28575">
              <a:solidFill>
                <a:srgbClr val="1A5276"/>
              </a:solidFill>
              <a:prstDash val="solid"/>
            </a:ln>
          </c:spPr>
          <c:marker>
            <c:symbol val="none"/>
          </c:marker>
          <c:xVal>
            <c:numRef>
              <c:f>'Chart Data'!$A$2:$A$3</c:f>
              <c:numCache>
                <c:formatCode>General</c:formatCode>
                <c:ptCount val="2"/>
                <c:pt idx="0">
                  <c:v>0</c:v>
                </c:pt>
                <c:pt idx="1">
                  <c:v>72</c:v>
                </c:pt>
              </c:numCache>
            </c:numRef>
          </c:xVal>
          <c:yVal>
            <c:numRef>
              <c:f>'Chart Data'!$B$2:$B$3</c:f>
              <c:numCache>
                <c:formatCode>0</c:formatCode>
                <c:ptCount val="2"/>
                <c:pt idx="0">
                  <c:v>24</c:v>
                </c:pt>
                <c:pt idx="1">
                  <c:v>0</c:v>
                </c:pt>
              </c:numCache>
            </c:numRef>
          </c:yVal>
          <c:smooth val="0"/>
        </c:ser>
        <c:ser>
          <c:idx val="1"/>
          <c:order val="1"/>
          <c:tx>
            <c:v>A₀</c:v>
          </c:tx>
          <c:spPr>
            <a:ln xmlns:a="http://schemas.openxmlformats.org/drawingml/2006/main" w="28575">
              <a:solidFill>
                <a:srgbClr val="20665B"/>
              </a:solidFill>
              <a:prstDash val="solid"/>
            </a:ln>
          </c:spPr>
          <c:marker>
            <c:symbol val="none"/>
          </c:marker>
          <c:xVal>
            <c:numRef>
              <c:f>'Chart Data'!$C$2:$C$3</c:f>
              <c:numCache>
                <c:formatCode>General</c:formatCode>
                <c:ptCount val="2"/>
                <c:pt idx="0">
                  <c:v>0</c:v>
                </c:pt>
                <c:pt idx="1">
                  <c:v>78</c:v>
                </c:pt>
              </c:numCache>
            </c:numRef>
          </c:xVal>
          <c:yVal>
            <c:numRef>
              <c:f>'Chart Data'!$D$2:$D$3</c:f>
              <c:numCache>
                <c:formatCode>0</c:formatCode>
                <c:ptCount val="2"/>
                <c:pt idx="0">
                  <c:v>4</c:v>
                </c:pt>
                <c:pt idx="1">
                  <c:v>30</c:v>
                </c:pt>
              </c:numCache>
            </c:numRef>
          </c:yVal>
          <c:smooth val="0"/>
        </c:ser>
        <c:ser>
          <c:idx val="2"/>
          <c:order val="2"/>
          <c:tx>
            <c:v>V₀</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A5276"/>
                        </a:solidFill>
                        <a:latin typeface="Arial"/>
                        <a:ea typeface="Arial"/>
                        <a:cs typeface="Arial"/>
                      </a:rPr>
                      <a:t>V₀</a:t>
                    </a:r>
                  </a:p>
                </c:rich>
              </c:tx>
              <c:txPr>
                <a:bodyPr xmlns:a="http://schemas.openxmlformats.org/drawingml/2006/main" anchorCtr="1"/>
                <a:lstStyle xmlns:a="http://schemas.openxmlformats.org/drawingml/2006/main"/>
                <a:p xmlns:a="http://schemas.openxmlformats.org/drawingml/2006/main">
                  <a:pPr>
                    <a:defRPr sz="2100" b="1">
                      <a:solidFill>
                        <a:srgbClr val="1A527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Data'!$E$2:$E$2</c:f>
              <c:numCache>
                <c:formatCode>General</c:formatCode>
                <c:ptCount val="1"/>
                <c:pt idx="0">
                  <c:v>63.36</c:v>
                </c:pt>
              </c:numCache>
            </c:numRef>
          </c:xVal>
          <c:yVal>
            <c:numRef>
              <c:f>'Chart Data'!$F$2:$F$2</c:f>
              <c:numCache>
                <c:formatCode>0</c:formatCode>
                <c:ptCount val="1"/>
                <c:pt idx="0">
                  <c:v>3.98</c:v>
                </c:pt>
              </c:numCache>
            </c:numRef>
          </c:yVal>
          <c:smooth val="0"/>
        </c:ser>
        <c:ser>
          <c:idx val="3"/>
          <c:order val="3"/>
          <c:tx>
            <c:v>A₀</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20665B"/>
                        </a:solidFill>
                        <a:latin typeface="Arial"/>
                        <a:ea typeface="Arial"/>
                        <a:cs typeface="Arial"/>
                      </a:rPr>
                      <a:t>A₀</a:t>
                    </a:r>
                  </a:p>
                </c:rich>
              </c:tx>
              <c:txPr>
                <a:bodyPr xmlns:a="http://schemas.openxmlformats.org/drawingml/2006/main" anchorCtr="1"/>
                <a:lstStyle xmlns:a="http://schemas.openxmlformats.org/drawingml/2006/main"/>
                <a:p xmlns:a="http://schemas.openxmlformats.org/drawingml/2006/main">
                  <a:pPr>
                    <a:defRPr sz="2100"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65.4</c:v>
                </c:pt>
              </c:numCache>
            </c:numRef>
          </c:xVal>
          <c:yVal>
            <c:numRef>
              <c:f>'Chart Data'!$H$2:$H$2</c:f>
              <c:numCache>
                <c:formatCode>0</c:formatCode>
                <c:ptCount val="1"/>
                <c:pt idx="0">
                  <c:v>24.8</c:v>
                </c:pt>
              </c:numCache>
            </c:numRef>
          </c:yVal>
          <c:smooth val="0"/>
        </c:ser>
        <c:ser>
          <c:idx val="4"/>
          <c:order val="4"/>
          <c:tx>
            <c:v>A₁</c:v>
          </c:tx>
          <c:spPr>
            <a:ln xmlns:a="http://schemas.openxmlformats.org/drawingml/2006/main" w="38100">
              <a:solidFill>
                <a:srgbClr val="A94D16"/>
              </a:solidFill>
              <a:prstDash val="dash"/>
            </a:ln>
          </c:spPr>
          <c:marker>
            <c:symbol val="none"/>
          </c:marker>
          <c:xVal>
            <c:numRef>
              <c:f>'Chart Data'!$I$2:$I$3</c:f>
              <c:numCache>
                <c:formatCode>General</c:formatCode>
                <c:ptCount val="2"/>
                <c:pt idx="0">
                  <c:v>0</c:v>
                </c:pt>
                <c:pt idx="1">
                  <c:v>60</c:v>
                </c:pt>
              </c:numCache>
            </c:numRef>
          </c:xVal>
          <c:yVal>
            <c:numRef>
              <c:f>'Chart Data'!$J$2:$J$3</c:f>
              <c:numCache>
                <c:formatCode>0</c:formatCode>
                <c:ptCount val="2"/>
                <c:pt idx="0">
                  <c:v>10</c:v>
                </c:pt>
                <c:pt idx="1">
                  <c:v>30</c:v>
                </c:pt>
              </c:numCache>
            </c:numRef>
          </c:yVal>
          <c:smooth val="0"/>
        </c:ser>
        <c:ser>
          <c:idx val="5"/>
          <c:order val="5"/>
          <c:tx>
            <c:v>A₁</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A94D16"/>
                        </a:solidFill>
                        <a:latin typeface="Arial"/>
                        <a:ea typeface="Arial"/>
                        <a:cs typeface="Arial"/>
                      </a:rPr>
                      <a:t>A₁</a:t>
                    </a:r>
                  </a:p>
                </c:rich>
              </c:tx>
              <c:txPr>
                <a:bodyPr xmlns:a="http://schemas.openxmlformats.org/drawingml/2006/main" anchorCtr="1"/>
                <a:lstStyle xmlns:a="http://schemas.openxmlformats.org/drawingml/2006/main"/>
                <a:p xmlns:a="http://schemas.openxmlformats.org/drawingml/2006/main">
                  <a:pPr>
                    <a:defRPr sz="2100"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51.9</c:v>
                </c:pt>
              </c:numCache>
            </c:numRef>
          </c:xVal>
          <c:yVal>
            <c:numRef>
              <c:f>'Chart Data'!$L$2:$L$2</c:f>
              <c:numCache>
                <c:formatCode>0</c:formatCode>
                <c:ptCount val="1"/>
                <c:pt idx="0">
                  <c:v>26.3</c:v>
                </c:pt>
              </c:numCache>
            </c:numRef>
          </c:yVal>
          <c:smooth val="0"/>
        </c:ser>
        <c:ser>
          <c:idx val="6"/>
          <c:order val="6"/>
          <c:tx>
            <c:v>P hulplijn 30</c:v>
          </c:tx>
          <c:spPr>
            <a:ln xmlns:a="http://schemas.openxmlformats.org/drawingml/2006/main" w="14288">
              <a:solidFill>
                <a:srgbClr val="445B6B"/>
              </a:solidFill>
              <a:prstDash val="dash"/>
            </a:ln>
          </c:spPr>
          <c:marker>
            <c:symbol val="none"/>
          </c:marker>
          <c:xVal>
            <c:numRef>
              <c:f>'Chart Data'!$M$2:$M$3</c:f>
              <c:numCache>
                <c:formatCode>General</c:formatCode>
                <c:ptCount val="2"/>
                <c:pt idx="0">
                  <c:v>0</c:v>
                </c:pt>
                <c:pt idx="1">
                  <c:v>30</c:v>
                </c:pt>
              </c:numCache>
            </c:numRef>
          </c:xVal>
          <c:yVal>
            <c:numRef>
              <c:f>'Chart Data'!$N$2:$N$3</c:f>
              <c:numCache>
                <c:formatCode>0</c:formatCode>
                <c:ptCount val="2"/>
                <c:pt idx="0">
                  <c:v>14</c:v>
                </c:pt>
                <c:pt idx="1">
                  <c:v>14</c:v>
                </c:pt>
              </c:numCache>
            </c:numRef>
          </c:yVal>
          <c:smooth val="0"/>
        </c:ser>
        <c:ser>
          <c:idx val="7"/>
          <c:order val="7"/>
          <c:tx>
            <c:v>Q hulplijn 30</c:v>
          </c:tx>
          <c:spPr>
            <a:ln xmlns:a="http://schemas.openxmlformats.org/drawingml/2006/main" w="14288">
              <a:solidFill>
                <a:srgbClr val="445B6B"/>
              </a:solidFill>
              <a:prstDash val="dash"/>
            </a:ln>
          </c:spPr>
          <c:marker>
            <c:symbol val="none"/>
          </c:marker>
          <c:xVal>
            <c:numRef>
              <c:f>'Chart Data'!$O$2:$O$3</c:f>
              <c:numCache>
                <c:formatCode>General</c:formatCode>
                <c:ptCount val="2"/>
                <c:pt idx="0">
                  <c:v>30</c:v>
                </c:pt>
                <c:pt idx="1">
                  <c:v>30</c:v>
                </c:pt>
              </c:numCache>
            </c:numRef>
          </c:xVal>
          <c:yVal>
            <c:numRef>
              <c:f>'Chart Data'!$P$2:$P$3</c:f>
              <c:numCache>
                <c:formatCode>0</c:formatCode>
                <c:ptCount val="2"/>
                <c:pt idx="0">
                  <c:v>0</c:v>
                </c:pt>
                <c:pt idx="1">
                  <c:v>14</c:v>
                </c:pt>
              </c:numCache>
            </c:numRef>
          </c:yVal>
          <c:smooth val="0"/>
        </c:ser>
        <c:ser>
          <c:idx val="8"/>
          <c:order val="8"/>
          <c:tx>
            <c:v>E₀ punt</c:v>
          </c:tx>
          <c:spPr>
            <a:ln xmlns:a="http://schemas.openxmlformats.org/drawingml/2006/main" w="0">
              <a:noFill/>
            </a:ln>
          </c:spPr>
          <c:marker>
            <c:symbol val="circle"/>
            <c:size val="9"/>
            <c:spPr>
              <a:solidFill xmlns:a="http://schemas.openxmlformats.org/drawingml/2006/main">
                <a:srgbClr val="183247"/>
              </a:solidFill>
            </c:spPr>
          </c:marker>
          <c:xVal>
            <c:numRef>
              <c:f>'Chart Data'!$Q$2:$Q$2</c:f>
              <c:numCache>
                <c:formatCode>General</c:formatCode>
                <c:ptCount val="1"/>
                <c:pt idx="0">
                  <c:v>30</c:v>
                </c:pt>
              </c:numCache>
            </c:numRef>
          </c:xVal>
          <c:yVal>
            <c:numRef>
              <c:f>'Chart Data'!$R$2:$R$2</c:f>
              <c:numCache>
                <c:formatCode>0</c:formatCode>
                <c:ptCount val="1"/>
                <c:pt idx="0">
                  <c:v>14</c:v>
                </c:pt>
              </c:numCache>
            </c:numRef>
          </c:yVal>
          <c:smooth val="0"/>
        </c:ser>
        <c:ser>
          <c:idx val="9"/>
          <c:order val="9"/>
          <c:tx>
            <c:v>E₀</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E₀</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Data'!$S$2:$S$2</c:f>
              <c:numCache>
                <c:formatCode>General</c:formatCode>
                <c:ptCount val="1"/>
                <c:pt idx="0">
                  <c:v>25.95</c:v>
                </c:pt>
              </c:numCache>
            </c:numRef>
          </c:xVal>
          <c:yVal>
            <c:numRef>
              <c:f>'Chart Data'!$T$2:$T$2</c:f>
              <c:numCache>
                <c:formatCode>0</c:formatCode>
                <c:ptCount val="1"/>
                <c:pt idx="0">
                  <c:v>15.65</c:v>
                </c:pt>
              </c:numCache>
            </c:numRef>
          </c:yVal>
          <c:smooth val="0"/>
        </c:ser>
        <c:ser>
          <c:idx val="10"/>
          <c:order val="10"/>
          <c:tx>
            <c:v>P hulplijn 21</c:v>
          </c:tx>
          <c:spPr>
            <a:ln xmlns:a="http://schemas.openxmlformats.org/drawingml/2006/main" w="14288">
              <a:solidFill>
                <a:srgbClr val="445B6B"/>
              </a:solidFill>
              <a:prstDash val="dash"/>
            </a:ln>
          </c:spPr>
          <c:marker>
            <c:symbol val="none"/>
          </c:marker>
          <c:xVal>
            <c:numRef>
              <c:f>'Chart Data'!$U$2:$U$3</c:f>
              <c:numCache>
                <c:formatCode>General</c:formatCode>
                <c:ptCount val="2"/>
                <c:pt idx="0">
                  <c:v>0</c:v>
                </c:pt>
                <c:pt idx="1">
                  <c:v>21</c:v>
                </c:pt>
              </c:numCache>
            </c:numRef>
          </c:xVal>
          <c:yVal>
            <c:numRef>
              <c:f>'Chart Data'!$V$2:$V$3</c:f>
              <c:numCache>
                <c:formatCode>0</c:formatCode>
                <c:ptCount val="2"/>
                <c:pt idx="0">
                  <c:v>17</c:v>
                </c:pt>
                <c:pt idx="1">
                  <c:v>17</c:v>
                </c:pt>
              </c:numCache>
            </c:numRef>
          </c:yVal>
          <c:smooth val="0"/>
        </c:ser>
        <c:ser>
          <c:idx val="11"/>
          <c:order val="11"/>
          <c:tx>
            <c:v>Q hulplijn 21</c:v>
          </c:tx>
          <c:spPr>
            <a:ln xmlns:a="http://schemas.openxmlformats.org/drawingml/2006/main" w="14288">
              <a:solidFill>
                <a:srgbClr val="445B6B"/>
              </a:solidFill>
              <a:prstDash val="dash"/>
            </a:ln>
          </c:spPr>
          <c:marker>
            <c:symbol val="none"/>
          </c:marker>
          <c:xVal>
            <c:numRef>
              <c:f>'Chart Data'!$W$2:$W$3</c:f>
              <c:numCache>
                <c:formatCode>General</c:formatCode>
                <c:ptCount val="2"/>
                <c:pt idx="0">
                  <c:v>21</c:v>
                </c:pt>
                <c:pt idx="1">
                  <c:v>21</c:v>
                </c:pt>
              </c:numCache>
            </c:numRef>
          </c:xVal>
          <c:yVal>
            <c:numRef>
              <c:f>'Chart Data'!$X$2:$X$3</c:f>
              <c:numCache>
                <c:formatCode>0</c:formatCode>
                <c:ptCount val="2"/>
                <c:pt idx="0">
                  <c:v>0</c:v>
                </c:pt>
                <c:pt idx="1">
                  <c:v>17</c:v>
                </c:pt>
              </c:numCache>
            </c:numRef>
          </c:yVal>
          <c:smooth val="0"/>
        </c:ser>
        <c:ser>
          <c:idx val="12"/>
          <c:order val="12"/>
          <c:tx>
            <c:v>E₁ punt</c:v>
          </c:tx>
          <c:spPr>
            <a:ln xmlns:a="http://schemas.openxmlformats.org/drawingml/2006/main" w="0">
              <a:noFill/>
            </a:ln>
          </c:spPr>
          <c:marker>
            <c:symbol val="circle"/>
            <c:size val="9"/>
            <c:spPr>
              <a:solidFill xmlns:a="http://schemas.openxmlformats.org/drawingml/2006/main">
                <a:srgbClr val="183247"/>
              </a:solidFill>
            </c:spPr>
          </c:marker>
          <c:xVal>
            <c:numRef>
              <c:f>'Chart Data'!$Y$2:$Y$2</c:f>
              <c:numCache>
                <c:formatCode>General</c:formatCode>
                <c:ptCount val="1"/>
                <c:pt idx="0">
                  <c:v>21</c:v>
                </c:pt>
              </c:numCache>
            </c:numRef>
          </c:xVal>
          <c:yVal>
            <c:numRef>
              <c:f>'Chart Data'!$Z$2:$Z$2</c:f>
              <c:numCache>
                <c:formatCode>0</c:formatCode>
                <c:ptCount val="1"/>
                <c:pt idx="0">
                  <c:v>17</c:v>
                </c:pt>
              </c:numCache>
            </c:numRef>
          </c:yVal>
          <c:smooth val="0"/>
        </c:ser>
        <c:ser>
          <c:idx val="13"/>
          <c:order val="13"/>
          <c:tx>
            <c:v>E₁</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E₁</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Data'!$AA$2:$AA$2</c:f>
              <c:numCache>
                <c:formatCode>General</c:formatCode>
                <c:ptCount val="1"/>
                <c:pt idx="0">
                  <c:v>17.85</c:v>
                </c:pt>
              </c:numCache>
            </c:numRef>
          </c:xVal>
          <c:yVal>
            <c:numRef>
              <c:f>'Chart Data'!$AB$2:$AB$2</c:f>
              <c:numCache>
                <c:formatCode>0</c:formatCode>
                <c:ptCount val="1"/>
                <c:pt idx="0">
                  <c:v>19.7</c:v>
                </c:pt>
              </c:numCache>
            </c:numRef>
          </c:yVal>
          <c:smooth val="0"/>
        </c:ser>
        <c:ser>
          <c:idx val="14"/>
          <c:order val="14"/>
          <c:tx>
            <c:v>Aanbodverschuiving bij oude prijs</c:v>
          </c:tx>
          <c:spPr>
            <a:ln xmlns:a="http://schemas.openxmlformats.org/drawingml/2006/main" w="38100">
              <a:solidFill>
                <a:srgbClr val="A94D16"/>
              </a:solidFill>
              <a:prstDash val="solid"/>
            </a:ln>
          </c:spPr>
          <c:marker>
            <c:symbol val="none"/>
          </c:marker>
          <c:xVal>
            <c:numRef>
              <c:f>'Chart Data'!$AC$2:$AC$3</c:f>
              <c:numCache>
                <c:formatCode>General</c:formatCode>
                <c:ptCount val="2"/>
                <c:pt idx="0">
                  <c:v>30</c:v>
                </c:pt>
                <c:pt idx="1">
                  <c:v>12</c:v>
                </c:pt>
              </c:numCache>
            </c:numRef>
          </c:xVal>
          <c:yVal>
            <c:numRef>
              <c:f>'Chart Data'!$AD$2:$AD$3</c:f>
              <c:numCache>
                <c:formatCode>0</c:formatCode>
                <c:ptCount val="2"/>
                <c:pt idx="0">
                  <c:v>14</c:v>
                </c:pt>
                <c:pt idx="1">
                  <c:v>14</c:v>
                </c:pt>
              </c:numCache>
            </c:numRef>
          </c:yVal>
          <c:smooth val="0"/>
        </c:ser>
        <c:ser>
          <c:idx val="15"/>
          <c:order val="15"/>
          <c:tx>
            <c:v>Aanbodverschuiving bij oude prijs punt</c:v>
          </c:tx>
          <c:spPr>
            <a:ln xmlns:a="http://schemas.openxmlformats.org/drawingml/2006/main" w="38100">
              <a:solidFill>
                <a:srgbClr val="A94D16"/>
              </a:solidFill>
              <a:prstDash val="solid"/>
            </a:ln>
          </c:spPr>
          <c:marker>
            <c:symbol val="none"/>
          </c:marker>
          <c:xVal>
            <c:numRef>
              <c:f>'Chart Data'!$AE$2:$AE$4</c:f>
              <c:numCache>
                <c:formatCode>General</c:formatCode>
                <c:ptCount val="3"/>
                <c:pt idx="0">
                  <c:v>13.98</c:v>
                </c:pt>
                <c:pt idx="1">
                  <c:v>12</c:v>
                </c:pt>
                <c:pt idx="2">
                  <c:v>13.98</c:v>
                </c:pt>
              </c:numCache>
            </c:numRef>
          </c:xVal>
          <c:yVal>
            <c:numRef>
              <c:f>'Chart Data'!$AF$2:$AF$4</c:f>
              <c:numCache>
                <c:formatCode>0</c:formatCode>
                <c:ptCount val="3"/>
                <c:pt idx="0">
                  <c:v>14.36</c:v>
                </c:pt>
                <c:pt idx="1">
                  <c:v>14</c:v>
                </c:pt>
                <c:pt idx="2">
                  <c:v>13.64</c:v>
                </c:pt>
              </c:numCache>
            </c:numRef>
          </c:yVal>
          <c:smooth val="0"/>
        </c:ser>
        <c:ser>
          <c:idx val="16"/>
          <c:order val="16"/>
          <c:tx>
            <c:v>Beweging langs V</c:v>
          </c:tx>
          <c:spPr>
            <a:ln xmlns:a="http://schemas.openxmlformats.org/drawingml/2006/main" w="38100">
              <a:solidFill>
                <a:srgbClr val="704798"/>
              </a:solidFill>
              <a:prstDash val="solid"/>
            </a:ln>
          </c:spPr>
          <c:marker>
            <c:symbol val="none"/>
          </c:marker>
          <c:xVal>
            <c:numRef>
              <c:f>'Chart Data'!$AG$2:$AG$3</c:f>
              <c:numCache>
                <c:formatCode>General</c:formatCode>
                <c:ptCount val="2"/>
                <c:pt idx="0">
                  <c:v>30</c:v>
                </c:pt>
                <c:pt idx="1">
                  <c:v>21</c:v>
                </c:pt>
              </c:numCache>
            </c:numRef>
          </c:xVal>
          <c:yVal>
            <c:numRef>
              <c:f>'Chart Data'!$AH$2:$AH$3</c:f>
              <c:numCache>
                <c:formatCode>0</c:formatCode>
                <c:ptCount val="2"/>
                <c:pt idx="0">
                  <c:v>14</c:v>
                </c:pt>
                <c:pt idx="1">
                  <c:v>17</c:v>
                </c:pt>
              </c:numCache>
            </c:numRef>
          </c:yVal>
          <c:smooth val="0"/>
        </c:ser>
        <c:ser>
          <c:idx val="17"/>
          <c:order val="17"/>
          <c:tx>
            <c:v>Beweging langs V punt</c:v>
          </c:tx>
          <c:spPr>
            <a:ln xmlns:a="http://schemas.openxmlformats.org/drawingml/2006/main" w="38100">
              <a:solidFill>
                <a:srgbClr val="704798"/>
              </a:solidFill>
              <a:prstDash val="solid"/>
            </a:ln>
          </c:spPr>
          <c:marker>
            <c:symbol val="none"/>
          </c:marker>
          <c:xVal>
            <c:numRef>
              <c:f>'Chart Data'!$AI$2:$AI$4</c:f>
              <c:numCache>
                <c:formatCode>General</c:formatCode>
                <c:ptCount val="3"/>
                <c:pt idx="0">
                  <c:v>23.163747</c:v>
                </c:pt>
                <c:pt idx="1">
                  <c:v>21</c:v>
                </c:pt>
                <c:pt idx="2">
                  <c:v>21.636396</c:v>
                </c:pt>
              </c:numCache>
            </c:numRef>
          </c:xVal>
          <c:yVal>
            <c:numRef>
              <c:f>'Chart Data'!$AJ$2:$AJ$4</c:f>
              <c:numCache>
                <c:formatCode>0</c:formatCode>
                <c:ptCount val="3"/>
                <c:pt idx="0">
                  <c:v>16.787868</c:v>
                </c:pt>
                <c:pt idx="1">
                  <c:v>17</c:v>
                </c:pt>
                <c:pt idx="2">
                  <c:v>16.278751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 per sleutelhanger)</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50112"/>
        <c:majorUnit val="5"/>
      </c:valAx>
      <c:valAx>
        <c:axId val="48650112"/>
        <c:scaling>
          <c:orientation val="minMax"/>
          <c:max val="9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(sleutelhangers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72768"/>
        <c:majorUnit val="1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V₀</c:v>
          </c:tx>
          <c:spPr>
            <a:ln xmlns:a="http://schemas.openxmlformats.org/drawingml/2006/main" w="28575">
              <a:solidFill>
                <a:srgbClr val="1A5276"/>
              </a:solidFill>
              <a:prstDash val="solid"/>
            </a:ln>
          </c:spPr>
          <c:marker>
            <c:symbol val="none"/>
          </c:marker>
          <c:xVal>
            <c:numRef>
              <c:f>'Chart Data'!$A$2:$A$3</c:f>
              <c:numCache>
                <c:formatCode>General</c:formatCode>
                <c:ptCount val="2"/>
                <c:pt idx="0">
                  <c:v>0</c:v>
                </c:pt>
                <c:pt idx="1">
                  <c:v>100</c:v>
                </c:pt>
              </c:numCache>
            </c:numRef>
          </c:xVal>
          <c:yVal>
            <c:numRef>
              <c:f>'Chart Data'!$B$2:$B$3</c:f>
              <c:numCache>
                <c:formatCode>0</c:formatCode>
                <c:ptCount val="2"/>
                <c:pt idx="0">
                  <c:v>20</c:v>
                </c:pt>
                <c:pt idx="1">
                  <c:v>0</c:v>
                </c:pt>
              </c:numCache>
            </c:numRef>
          </c:yVal>
          <c:smooth val="0"/>
        </c:ser>
        <c:ser>
          <c:idx val="1"/>
          <c:order val="1"/>
          <c:tx>
            <c:v>A₀</c:v>
          </c:tx>
          <c:spPr>
            <a:ln xmlns:a="http://schemas.openxmlformats.org/drawingml/2006/main" w="28575">
              <a:solidFill>
                <a:srgbClr val="20665B"/>
              </a:solidFill>
              <a:prstDash val="solid"/>
            </a:ln>
          </c:spPr>
          <c:marker>
            <c:symbol val="none"/>
          </c:marker>
          <c:xVal>
            <c:numRef>
              <c:f>'Chart Data'!$C$2:$C$3</c:f>
              <c:numCache>
                <c:formatCode>General</c:formatCode>
                <c:ptCount val="2"/>
                <c:pt idx="0">
                  <c:v>0</c:v>
                </c:pt>
                <c:pt idx="1">
                  <c:v>100</c:v>
                </c:pt>
              </c:numCache>
            </c:numRef>
          </c:xVal>
          <c:yVal>
            <c:numRef>
              <c:f>'Chart Data'!$D$2:$D$3</c:f>
              <c:numCache>
                <c:formatCode>0</c:formatCode>
                <c:ptCount val="2"/>
                <c:pt idx="0">
                  <c:v>4</c:v>
                </c:pt>
                <c:pt idx="1">
                  <c:v>24</c:v>
                </c:pt>
              </c:numCache>
            </c:numRef>
          </c:yVal>
          <c:smooth val="0"/>
        </c:ser>
        <c:ser>
          <c:idx val="2"/>
          <c:order val="2"/>
          <c:tx>
            <c:v>V₀</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A5276"/>
                        </a:solidFill>
                        <a:latin typeface="Arial"/>
                        <a:ea typeface="Arial"/>
                        <a:cs typeface="Arial"/>
                      </a:rPr>
                      <a:t>V₀</a:t>
                    </a:r>
                  </a:p>
                </c:rich>
              </c:tx>
              <c:txPr>
                <a:bodyPr xmlns:a="http://schemas.openxmlformats.org/drawingml/2006/main" anchorCtr="1"/>
                <a:lstStyle xmlns:a="http://schemas.openxmlformats.org/drawingml/2006/main"/>
                <a:p xmlns:a="http://schemas.openxmlformats.org/drawingml/2006/main">
                  <a:pPr>
                    <a:defRPr sz="2100" b="1">
                      <a:solidFill>
                        <a:srgbClr val="1A527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Data'!$E$2:$E$2</c:f>
              <c:numCache>
                <c:formatCode>General</c:formatCode>
                <c:ptCount val="1"/>
                <c:pt idx="0">
                  <c:v>88</c:v>
                </c:pt>
              </c:numCache>
            </c:numRef>
          </c:xVal>
          <c:yVal>
            <c:numRef>
              <c:f>'Chart Data'!$F$2:$F$2</c:f>
              <c:numCache>
                <c:formatCode>0</c:formatCode>
                <c:ptCount val="1"/>
                <c:pt idx="0">
                  <c:v>3.5</c:v>
                </c:pt>
              </c:numCache>
            </c:numRef>
          </c:yVal>
          <c:smooth val="0"/>
        </c:ser>
        <c:ser>
          <c:idx val="3"/>
          <c:order val="3"/>
          <c:tx>
            <c:v>A</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20665B"/>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00"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83.2</c:v>
                </c:pt>
              </c:numCache>
            </c:numRef>
          </c:xVal>
          <c:yVal>
            <c:numRef>
              <c:f>'Chart Data'!$H$2:$H$2</c:f>
              <c:numCache>
                <c:formatCode>0</c:formatCode>
                <c:ptCount val="1"/>
                <c:pt idx="0">
                  <c:v>19.64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 per kabel)</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50112"/>
        <c:majorUnit val="4"/>
      </c:valAx>
      <c:valAx>
        <c:axId val="48650112"/>
        <c:scaling>
          <c:orientation val="minMax"/>
          <c:max val="12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(kabels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
        <c:ser>
          <c:idx val="0"/>
          <c:order val="0"/>
          <c:tx>
            <c:v>V₀</c:v>
          </c:tx>
          <c:spPr>
            <a:ln xmlns:a="http://schemas.openxmlformats.org/drawingml/2006/main" w="28575">
              <a:solidFill>
                <a:srgbClr val="1A5276"/>
              </a:solidFill>
              <a:prstDash val="solid"/>
            </a:ln>
          </c:spPr>
          <c:marker>
            <c:symbol val="none"/>
          </c:marker>
          <c:xVal>
            <c:numRef>
              <c:f>'Chart Data'!$A$2:$A$3</c:f>
              <c:numCache>
                <c:formatCode>General</c:formatCode>
                <c:ptCount val="2"/>
                <c:pt idx="0">
                  <c:v>0</c:v>
                </c:pt>
                <c:pt idx="1">
                  <c:v>100</c:v>
                </c:pt>
              </c:numCache>
            </c:numRef>
          </c:xVal>
          <c:yVal>
            <c:numRef>
              <c:f>'Chart Data'!$B$2:$B$3</c:f>
              <c:numCache>
                <c:formatCode>0</c:formatCode>
                <c:ptCount val="2"/>
                <c:pt idx="0">
                  <c:v>20</c:v>
                </c:pt>
                <c:pt idx="1">
                  <c:v>0</c:v>
                </c:pt>
              </c:numCache>
            </c:numRef>
          </c:yVal>
          <c:smooth val="0"/>
        </c:ser>
        <c:ser>
          <c:idx val="1"/>
          <c:order val="1"/>
          <c:tx>
            <c:v>A₀</c:v>
          </c:tx>
          <c:spPr>
            <a:ln xmlns:a="http://schemas.openxmlformats.org/drawingml/2006/main" w="28575">
              <a:solidFill>
                <a:srgbClr val="20665B"/>
              </a:solidFill>
              <a:prstDash val="solid"/>
            </a:ln>
          </c:spPr>
          <c:marker>
            <c:symbol val="none"/>
          </c:marker>
          <c:xVal>
            <c:numRef>
              <c:f>'Chart Data'!$C$2:$C$3</c:f>
              <c:numCache>
                <c:formatCode>General</c:formatCode>
                <c:ptCount val="2"/>
                <c:pt idx="0">
                  <c:v>0</c:v>
                </c:pt>
                <c:pt idx="1">
                  <c:v>100</c:v>
                </c:pt>
              </c:numCache>
            </c:numRef>
          </c:xVal>
          <c:yVal>
            <c:numRef>
              <c:f>'Chart Data'!$D$2:$D$3</c:f>
              <c:numCache>
                <c:formatCode>0</c:formatCode>
                <c:ptCount val="2"/>
                <c:pt idx="0">
                  <c:v>4</c:v>
                </c:pt>
                <c:pt idx="1">
                  <c:v>24</c:v>
                </c:pt>
              </c:numCache>
            </c:numRef>
          </c:yVal>
          <c:smooth val="0"/>
        </c:ser>
        <c:ser>
          <c:idx val="2"/>
          <c:order val="2"/>
          <c:tx>
            <c:v>V₀</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A5276"/>
                        </a:solidFill>
                        <a:latin typeface="Arial"/>
                        <a:ea typeface="Arial"/>
                        <a:cs typeface="Arial"/>
                      </a:rPr>
                      <a:t>V₀</a:t>
                    </a:r>
                  </a:p>
                </c:rich>
              </c:tx>
              <c:txPr>
                <a:bodyPr xmlns:a="http://schemas.openxmlformats.org/drawingml/2006/main" anchorCtr="1"/>
                <a:lstStyle xmlns:a="http://schemas.openxmlformats.org/drawingml/2006/main"/>
                <a:p xmlns:a="http://schemas.openxmlformats.org/drawingml/2006/main">
                  <a:pPr>
                    <a:defRPr sz="2100" b="1">
                      <a:solidFill>
                        <a:srgbClr val="1A527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Data'!$E$2:$E$2</c:f>
              <c:numCache>
                <c:formatCode>General</c:formatCode>
                <c:ptCount val="1"/>
                <c:pt idx="0">
                  <c:v>88</c:v>
                </c:pt>
              </c:numCache>
            </c:numRef>
          </c:xVal>
          <c:yVal>
            <c:numRef>
              <c:f>'Chart Data'!$F$2:$F$2</c:f>
              <c:numCache>
                <c:formatCode>0</c:formatCode>
                <c:ptCount val="1"/>
                <c:pt idx="0">
                  <c:v>3.5</c:v>
                </c:pt>
              </c:numCache>
            </c:numRef>
          </c:yVal>
          <c:smooth val="0"/>
        </c:ser>
        <c:ser>
          <c:idx val="3"/>
          <c:order val="3"/>
          <c:tx>
            <c:v>A</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20665B"/>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00"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83.2</c:v>
                </c:pt>
              </c:numCache>
            </c:numRef>
          </c:xVal>
          <c:yVal>
            <c:numRef>
              <c:f>'Chart Data'!$H$2:$H$2</c:f>
              <c:numCache>
                <c:formatCode>0</c:formatCode>
                <c:ptCount val="1"/>
                <c:pt idx="0">
                  <c:v>19.64</c:v>
                </c:pt>
              </c:numCache>
            </c:numRef>
          </c:yVal>
          <c:smooth val="0"/>
        </c:ser>
        <c:ser>
          <c:idx val="4"/>
          <c:order val="4"/>
          <c:tx>
            <c:v>V₁</c:v>
          </c:tx>
          <c:spPr>
            <a:ln xmlns:a="http://schemas.openxmlformats.org/drawingml/2006/main" w="38100">
              <a:solidFill>
                <a:srgbClr val="704798"/>
              </a:solidFill>
              <a:prstDash val="dash"/>
            </a:ln>
          </c:spPr>
          <c:marker>
            <c:symbol val="none"/>
          </c:marker>
          <c:xVal>
            <c:numRef>
              <c:f>'Chart Data'!$I$2:$I$3</c:f>
              <c:numCache>
                <c:formatCode>General</c:formatCode>
                <c:ptCount val="2"/>
                <c:pt idx="0">
                  <c:v>0</c:v>
                </c:pt>
                <c:pt idx="1">
                  <c:v>120</c:v>
                </c:pt>
              </c:numCache>
            </c:numRef>
          </c:xVal>
          <c:yVal>
            <c:numRef>
              <c:f>'Chart Data'!$J$2:$J$3</c:f>
              <c:numCache>
                <c:formatCode>0</c:formatCode>
                <c:ptCount val="2"/>
                <c:pt idx="0">
                  <c:v>24</c:v>
                </c:pt>
                <c:pt idx="1">
                  <c:v>0</c:v>
                </c:pt>
              </c:numCache>
            </c:numRef>
          </c:yVal>
          <c:smooth val="0"/>
        </c:ser>
        <c:ser>
          <c:idx val="5"/>
          <c:order val="5"/>
          <c:tx>
            <c:v>V₁</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704798"/>
                        </a:solidFill>
                        <a:latin typeface="Arial"/>
                        <a:ea typeface="Arial"/>
                        <a:cs typeface="Arial"/>
                      </a:rPr>
                      <a:t>V₁</a:t>
                    </a:r>
                  </a:p>
                </c:rich>
              </c:tx>
              <c:txPr>
                <a:bodyPr xmlns:a="http://schemas.openxmlformats.org/drawingml/2006/main" anchorCtr="1"/>
                <a:lstStyle xmlns:a="http://schemas.openxmlformats.org/drawingml/2006/main"/>
                <a:p xmlns:a="http://schemas.openxmlformats.org/drawingml/2006/main">
                  <a:pPr>
                    <a:defRPr sz="2100" b="1">
                      <a:solidFill>
                        <a:srgbClr val="704798"/>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108</c:v>
                </c:pt>
              </c:numCache>
            </c:numRef>
          </c:xVal>
          <c:yVal>
            <c:numRef>
              <c:f>'Chart Data'!$L$2:$L$2</c:f>
              <c:numCache>
                <c:formatCode>0</c:formatCode>
                <c:ptCount val="1"/>
                <c:pt idx="0">
                  <c:v>2.9</c:v>
                </c:pt>
              </c:numCache>
            </c:numRef>
          </c:yVal>
          <c:smooth val="0"/>
        </c:ser>
        <c:ser>
          <c:idx val="6"/>
          <c:order val="6"/>
          <c:tx>
            <c:v>P hulplijn 40</c:v>
          </c:tx>
          <c:spPr>
            <a:ln xmlns:a="http://schemas.openxmlformats.org/drawingml/2006/main" w="14288">
              <a:solidFill>
                <a:srgbClr val="445B6B"/>
              </a:solidFill>
              <a:prstDash val="dash"/>
            </a:ln>
          </c:spPr>
          <c:marker>
            <c:symbol val="none"/>
          </c:marker>
          <c:xVal>
            <c:numRef>
              <c:f>'Chart Data'!$M$2:$M$3</c:f>
              <c:numCache>
                <c:formatCode>General</c:formatCode>
                <c:ptCount val="2"/>
                <c:pt idx="0">
                  <c:v>0</c:v>
                </c:pt>
                <c:pt idx="1">
                  <c:v>40</c:v>
                </c:pt>
              </c:numCache>
            </c:numRef>
          </c:xVal>
          <c:yVal>
            <c:numRef>
              <c:f>'Chart Data'!$N$2:$N$3</c:f>
              <c:numCache>
                <c:formatCode>0</c:formatCode>
                <c:ptCount val="2"/>
                <c:pt idx="0">
                  <c:v>12</c:v>
                </c:pt>
                <c:pt idx="1">
                  <c:v>12</c:v>
                </c:pt>
              </c:numCache>
            </c:numRef>
          </c:yVal>
          <c:smooth val="0"/>
        </c:ser>
        <c:ser>
          <c:idx val="7"/>
          <c:order val="7"/>
          <c:tx>
            <c:v>Q hulplijn 40</c:v>
          </c:tx>
          <c:spPr>
            <a:ln xmlns:a="http://schemas.openxmlformats.org/drawingml/2006/main" w="14288">
              <a:solidFill>
                <a:srgbClr val="445B6B"/>
              </a:solidFill>
              <a:prstDash val="dash"/>
            </a:ln>
          </c:spPr>
          <c:marker>
            <c:symbol val="none"/>
          </c:marker>
          <c:xVal>
            <c:numRef>
              <c:f>'Chart Data'!$O$2:$O$3</c:f>
              <c:numCache>
                <c:formatCode>General</c:formatCode>
                <c:ptCount val="2"/>
                <c:pt idx="0">
                  <c:v>40</c:v>
                </c:pt>
                <c:pt idx="1">
                  <c:v>40</c:v>
                </c:pt>
              </c:numCache>
            </c:numRef>
          </c:xVal>
          <c:yVal>
            <c:numRef>
              <c:f>'Chart Data'!$P$2:$P$3</c:f>
              <c:numCache>
                <c:formatCode>0</c:formatCode>
                <c:ptCount val="2"/>
                <c:pt idx="0">
                  <c:v>0</c:v>
                </c:pt>
                <c:pt idx="1">
                  <c:v>12</c:v>
                </c:pt>
              </c:numCache>
            </c:numRef>
          </c:yVal>
          <c:smooth val="0"/>
        </c:ser>
        <c:ser>
          <c:idx val="8"/>
          <c:order val="8"/>
          <c:tx>
            <c:v>E₀ punt</c:v>
          </c:tx>
          <c:spPr>
            <a:ln xmlns:a="http://schemas.openxmlformats.org/drawingml/2006/main" w="0">
              <a:noFill/>
            </a:ln>
          </c:spPr>
          <c:marker>
            <c:symbol val="circle"/>
            <c:size val="9"/>
            <c:spPr>
              <a:solidFill xmlns:a="http://schemas.openxmlformats.org/drawingml/2006/main">
                <a:srgbClr val="183247"/>
              </a:solidFill>
            </c:spPr>
          </c:marker>
          <c:xVal>
            <c:numRef>
              <c:f>'Chart Data'!$Q$2:$Q$2</c:f>
              <c:numCache>
                <c:formatCode>General</c:formatCode>
                <c:ptCount val="1"/>
                <c:pt idx="0">
                  <c:v>40</c:v>
                </c:pt>
              </c:numCache>
            </c:numRef>
          </c:xVal>
          <c:yVal>
            <c:numRef>
              <c:f>'Chart Data'!$R$2:$R$2</c:f>
              <c:numCache>
                <c:formatCode>0</c:formatCode>
                <c:ptCount val="1"/>
                <c:pt idx="0">
                  <c:v>12</c:v>
                </c:pt>
              </c:numCache>
            </c:numRef>
          </c:yVal>
          <c:smooth val="0"/>
        </c:ser>
        <c:ser>
          <c:idx val="9"/>
          <c:order val="9"/>
          <c:tx>
            <c:v>E₀</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E₀</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Data'!$S$2:$S$2</c:f>
              <c:numCache>
                <c:formatCode>General</c:formatCode>
                <c:ptCount val="1"/>
                <c:pt idx="0">
                  <c:v>34.6</c:v>
                </c:pt>
              </c:numCache>
            </c:numRef>
          </c:xVal>
          <c:yVal>
            <c:numRef>
              <c:f>'Chart Data'!$T$2:$T$2</c:f>
              <c:numCache>
                <c:formatCode>0</c:formatCode>
                <c:ptCount val="1"/>
                <c:pt idx="0">
                  <c:v>13.32</c:v>
                </c:pt>
              </c:numCache>
            </c:numRef>
          </c:yVal>
          <c:smooth val="0"/>
        </c:ser>
        <c:ser>
          <c:idx val="10"/>
          <c:order val="10"/>
          <c:tx>
            <c:v>P hulplijn 50</c:v>
          </c:tx>
          <c:spPr>
            <a:ln xmlns:a="http://schemas.openxmlformats.org/drawingml/2006/main" w="14288">
              <a:solidFill>
                <a:srgbClr val="445B6B"/>
              </a:solidFill>
              <a:prstDash val="dash"/>
            </a:ln>
          </c:spPr>
          <c:marker>
            <c:symbol val="none"/>
          </c:marker>
          <c:xVal>
            <c:numRef>
              <c:f>'Chart Data'!$U$2:$U$3</c:f>
              <c:numCache>
                <c:formatCode>General</c:formatCode>
                <c:ptCount val="2"/>
                <c:pt idx="0">
                  <c:v>0</c:v>
                </c:pt>
                <c:pt idx="1">
                  <c:v>50</c:v>
                </c:pt>
              </c:numCache>
            </c:numRef>
          </c:xVal>
          <c:yVal>
            <c:numRef>
              <c:f>'Chart Data'!$V$2:$V$3</c:f>
              <c:numCache>
                <c:formatCode>0</c:formatCode>
                <c:ptCount val="2"/>
                <c:pt idx="0">
                  <c:v>14</c:v>
                </c:pt>
                <c:pt idx="1">
                  <c:v>14</c:v>
                </c:pt>
              </c:numCache>
            </c:numRef>
          </c:yVal>
          <c:smooth val="0"/>
        </c:ser>
        <c:ser>
          <c:idx val="11"/>
          <c:order val="11"/>
          <c:tx>
            <c:v>Q hulplijn 50</c:v>
          </c:tx>
          <c:spPr>
            <a:ln xmlns:a="http://schemas.openxmlformats.org/drawingml/2006/main" w="14288">
              <a:solidFill>
                <a:srgbClr val="445B6B"/>
              </a:solidFill>
              <a:prstDash val="dash"/>
            </a:ln>
          </c:spPr>
          <c:marker>
            <c:symbol val="none"/>
          </c:marker>
          <c:xVal>
            <c:numRef>
              <c:f>'Chart Data'!$W$2:$W$3</c:f>
              <c:numCache>
                <c:formatCode>General</c:formatCode>
                <c:ptCount val="2"/>
                <c:pt idx="0">
                  <c:v>50</c:v>
                </c:pt>
                <c:pt idx="1">
                  <c:v>50</c:v>
                </c:pt>
              </c:numCache>
            </c:numRef>
          </c:xVal>
          <c:yVal>
            <c:numRef>
              <c:f>'Chart Data'!$X$2:$X$3</c:f>
              <c:numCache>
                <c:formatCode>0</c:formatCode>
                <c:ptCount val="2"/>
                <c:pt idx="0">
                  <c:v>0</c:v>
                </c:pt>
                <c:pt idx="1">
                  <c:v>14</c:v>
                </c:pt>
              </c:numCache>
            </c:numRef>
          </c:yVal>
          <c:smooth val="0"/>
        </c:ser>
        <c:ser>
          <c:idx val="12"/>
          <c:order val="12"/>
          <c:tx>
            <c:v>E₁ punt</c:v>
          </c:tx>
          <c:spPr>
            <a:ln xmlns:a="http://schemas.openxmlformats.org/drawingml/2006/main" w="0">
              <a:noFill/>
            </a:ln>
          </c:spPr>
          <c:marker>
            <c:symbol val="circle"/>
            <c:size val="9"/>
            <c:spPr>
              <a:solidFill xmlns:a="http://schemas.openxmlformats.org/drawingml/2006/main">
                <a:srgbClr val="183247"/>
              </a:solidFill>
            </c:spPr>
          </c:marker>
          <c:xVal>
            <c:numRef>
              <c:f>'Chart Data'!$Y$2:$Y$2</c:f>
              <c:numCache>
                <c:formatCode>General</c:formatCode>
                <c:ptCount val="1"/>
                <c:pt idx="0">
                  <c:v>50</c:v>
                </c:pt>
              </c:numCache>
            </c:numRef>
          </c:xVal>
          <c:yVal>
            <c:numRef>
              <c:f>'Chart Data'!$Z$2:$Z$2</c:f>
              <c:numCache>
                <c:formatCode>0</c:formatCode>
                <c:ptCount val="1"/>
                <c:pt idx="0">
                  <c:v>14</c:v>
                </c:pt>
              </c:numCache>
            </c:numRef>
          </c:yVal>
          <c:smooth val="0"/>
        </c:ser>
        <c:ser>
          <c:idx val="13"/>
          <c:order val="13"/>
          <c:tx>
            <c:v>E₁</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E₁</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Data'!$AA$2:$AA$2</c:f>
              <c:numCache>
                <c:formatCode>General</c:formatCode>
                <c:ptCount val="1"/>
                <c:pt idx="0">
                  <c:v>45.8</c:v>
                </c:pt>
              </c:numCache>
            </c:numRef>
          </c:xVal>
          <c:yVal>
            <c:numRef>
              <c:f>'Chart Data'!$AB$2:$AB$2</c:f>
              <c:numCache>
                <c:formatCode>0</c:formatCode>
                <c:ptCount val="1"/>
                <c:pt idx="0">
                  <c:v>16.16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 per kabel)</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50112"/>
        <c:majorUnit val="4"/>
      </c:valAx>
      <c:valAx>
        <c:axId val="48650112"/>
        <c:scaling>
          <c:orientation val="minMax"/>
          <c:max val="12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(kabels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scatterChart>
        <c:scatterStyle val="line"/>
        <c:ser>
          <c:idx val="0"/>
          <c:order val="0"/>
          <c:tx>
            <c:v>V₀</c:v>
          </c:tx>
          <c:spPr>
            <a:ln xmlns:a="http://schemas.openxmlformats.org/drawingml/2006/main" w="28575">
              <a:solidFill>
                <a:srgbClr val="1A5276"/>
              </a:solidFill>
              <a:prstDash val="solid"/>
            </a:ln>
          </c:spPr>
          <c:marker>
            <c:symbol val="none"/>
          </c:marker>
          <c:xVal>
            <c:numRef>
              <c:f>'Chart Data'!$A$2:$A$3</c:f>
              <c:numCache>
                <c:formatCode>General</c:formatCode>
                <c:ptCount val="2"/>
                <c:pt idx="0">
                  <c:v>0</c:v>
                </c:pt>
                <c:pt idx="1">
                  <c:v>100</c:v>
                </c:pt>
              </c:numCache>
            </c:numRef>
          </c:xVal>
          <c:yVal>
            <c:numRef>
              <c:f>'Chart Data'!$B$2:$B$3</c:f>
              <c:numCache>
                <c:formatCode>0</c:formatCode>
                <c:ptCount val="2"/>
                <c:pt idx="0">
                  <c:v>20</c:v>
                </c:pt>
                <c:pt idx="1">
                  <c:v>0</c:v>
                </c:pt>
              </c:numCache>
            </c:numRef>
          </c:yVal>
          <c:smooth val="0"/>
        </c:ser>
        <c:ser>
          <c:idx val="1"/>
          <c:order val="1"/>
          <c:tx>
            <c:v>A₀</c:v>
          </c:tx>
          <c:spPr>
            <a:ln xmlns:a="http://schemas.openxmlformats.org/drawingml/2006/main" w="28575">
              <a:solidFill>
                <a:srgbClr val="20665B"/>
              </a:solidFill>
              <a:prstDash val="solid"/>
            </a:ln>
          </c:spPr>
          <c:marker>
            <c:symbol val="none"/>
          </c:marker>
          <c:xVal>
            <c:numRef>
              <c:f>'Chart Data'!$C$2:$C$3</c:f>
              <c:numCache>
                <c:formatCode>General</c:formatCode>
                <c:ptCount val="2"/>
                <c:pt idx="0">
                  <c:v>0</c:v>
                </c:pt>
                <c:pt idx="1">
                  <c:v>100</c:v>
                </c:pt>
              </c:numCache>
            </c:numRef>
          </c:xVal>
          <c:yVal>
            <c:numRef>
              <c:f>'Chart Data'!$D$2:$D$3</c:f>
              <c:numCache>
                <c:formatCode>0</c:formatCode>
                <c:ptCount val="2"/>
                <c:pt idx="0">
                  <c:v>4</c:v>
                </c:pt>
                <c:pt idx="1">
                  <c:v>24</c:v>
                </c:pt>
              </c:numCache>
            </c:numRef>
          </c:yVal>
          <c:smooth val="0"/>
        </c:ser>
        <c:ser>
          <c:idx val="2"/>
          <c:order val="2"/>
          <c:tx>
            <c:v>V₀</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A5276"/>
                        </a:solidFill>
                        <a:latin typeface="Arial"/>
                        <a:ea typeface="Arial"/>
                        <a:cs typeface="Arial"/>
                      </a:rPr>
                      <a:t>V₀</a:t>
                    </a:r>
                  </a:p>
                </c:rich>
              </c:tx>
              <c:txPr>
                <a:bodyPr xmlns:a="http://schemas.openxmlformats.org/drawingml/2006/main" anchorCtr="1"/>
                <a:lstStyle xmlns:a="http://schemas.openxmlformats.org/drawingml/2006/main"/>
                <a:p xmlns:a="http://schemas.openxmlformats.org/drawingml/2006/main">
                  <a:pPr>
                    <a:defRPr sz="2100" b="1">
                      <a:solidFill>
                        <a:srgbClr val="1A527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Data'!$E$2:$E$2</c:f>
              <c:numCache>
                <c:formatCode>General</c:formatCode>
                <c:ptCount val="1"/>
                <c:pt idx="0">
                  <c:v>88</c:v>
                </c:pt>
              </c:numCache>
            </c:numRef>
          </c:xVal>
          <c:yVal>
            <c:numRef>
              <c:f>'Chart Data'!$F$2:$F$2</c:f>
              <c:numCache>
                <c:formatCode>0</c:formatCode>
                <c:ptCount val="1"/>
                <c:pt idx="0">
                  <c:v>3.5</c:v>
                </c:pt>
              </c:numCache>
            </c:numRef>
          </c:yVal>
          <c:smooth val="0"/>
        </c:ser>
        <c:ser>
          <c:idx val="3"/>
          <c:order val="3"/>
          <c:tx>
            <c:v>A</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20665B"/>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00"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83.2</c:v>
                </c:pt>
              </c:numCache>
            </c:numRef>
          </c:xVal>
          <c:yVal>
            <c:numRef>
              <c:f>'Chart Data'!$H$2:$H$2</c:f>
              <c:numCache>
                <c:formatCode>0</c:formatCode>
                <c:ptCount val="1"/>
                <c:pt idx="0">
                  <c:v>19.64</c:v>
                </c:pt>
              </c:numCache>
            </c:numRef>
          </c:yVal>
          <c:smooth val="0"/>
        </c:ser>
        <c:ser>
          <c:idx val="4"/>
          <c:order val="4"/>
          <c:tx>
            <c:v>V₁</c:v>
          </c:tx>
          <c:spPr>
            <a:ln xmlns:a="http://schemas.openxmlformats.org/drawingml/2006/main" w="38100">
              <a:solidFill>
                <a:srgbClr val="704798"/>
              </a:solidFill>
              <a:prstDash val="dash"/>
            </a:ln>
          </c:spPr>
          <c:marker>
            <c:symbol val="none"/>
          </c:marker>
          <c:xVal>
            <c:numRef>
              <c:f>'Chart Data'!$I$2:$I$3</c:f>
              <c:numCache>
                <c:formatCode>General</c:formatCode>
                <c:ptCount val="2"/>
                <c:pt idx="0">
                  <c:v>0</c:v>
                </c:pt>
                <c:pt idx="1">
                  <c:v>120</c:v>
                </c:pt>
              </c:numCache>
            </c:numRef>
          </c:xVal>
          <c:yVal>
            <c:numRef>
              <c:f>'Chart Data'!$J$2:$J$3</c:f>
              <c:numCache>
                <c:formatCode>0</c:formatCode>
                <c:ptCount val="2"/>
                <c:pt idx="0">
                  <c:v>24</c:v>
                </c:pt>
                <c:pt idx="1">
                  <c:v>0</c:v>
                </c:pt>
              </c:numCache>
            </c:numRef>
          </c:yVal>
          <c:smooth val="0"/>
        </c:ser>
        <c:ser>
          <c:idx val="5"/>
          <c:order val="5"/>
          <c:tx>
            <c:v>V₁</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704798"/>
                        </a:solidFill>
                        <a:latin typeface="Arial"/>
                        <a:ea typeface="Arial"/>
                        <a:cs typeface="Arial"/>
                      </a:rPr>
                      <a:t>V₁</a:t>
                    </a:r>
                  </a:p>
                </c:rich>
              </c:tx>
              <c:txPr>
                <a:bodyPr xmlns:a="http://schemas.openxmlformats.org/drawingml/2006/main" anchorCtr="1"/>
                <a:lstStyle xmlns:a="http://schemas.openxmlformats.org/drawingml/2006/main"/>
                <a:p xmlns:a="http://schemas.openxmlformats.org/drawingml/2006/main">
                  <a:pPr>
                    <a:defRPr sz="2100" b="1">
                      <a:solidFill>
                        <a:srgbClr val="704798"/>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108</c:v>
                </c:pt>
              </c:numCache>
            </c:numRef>
          </c:xVal>
          <c:yVal>
            <c:numRef>
              <c:f>'Chart Data'!$L$2:$L$2</c:f>
              <c:numCache>
                <c:formatCode>0</c:formatCode>
                <c:ptCount val="1"/>
                <c:pt idx="0">
                  <c:v>2.9</c:v>
                </c:pt>
              </c:numCache>
            </c:numRef>
          </c:yVal>
          <c:smooth val="0"/>
        </c:ser>
        <c:ser>
          <c:idx val="6"/>
          <c:order val="6"/>
          <c:tx>
            <c:v>P hulplijn 40</c:v>
          </c:tx>
          <c:spPr>
            <a:ln xmlns:a="http://schemas.openxmlformats.org/drawingml/2006/main" w="14288">
              <a:solidFill>
                <a:srgbClr val="445B6B"/>
              </a:solidFill>
              <a:prstDash val="dash"/>
            </a:ln>
          </c:spPr>
          <c:marker>
            <c:symbol val="none"/>
          </c:marker>
          <c:xVal>
            <c:numRef>
              <c:f>'Chart Data'!$M$2:$M$3</c:f>
              <c:numCache>
                <c:formatCode>General</c:formatCode>
                <c:ptCount val="2"/>
                <c:pt idx="0">
                  <c:v>0</c:v>
                </c:pt>
                <c:pt idx="1">
                  <c:v>40</c:v>
                </c:pt>
              </c:numCache>
            </c:numRef>
          </c:xVal>
          <c:yVal>
            <c:numRef>
              <c:f>'Chart Data'!$N$2:$N$3</c:f>
              <c:numCache>
                <c:formatCode>0</c:formatCode>
                <c:ptCount val="2"/>
                <c:pt idx="0">
                  <c:v>12</c:v>
                </c:pt>
                <c:pt idx="1">
                  <c:v>12</c:v>
                </c:pt>
              </c:numCache>
            </c:numRef>
          </c:yVal>
          <c:smooth val="0"/>
        </c:ser>
        <c:ser>
          <c:idx val="7"/>
          <c:order val="7"/>
          <c:tx>
            <c:v>Q hulplijn 40</c:v>
          </c:tx>
          <c:spPr>
            <a:ln xmlns:a="http://schemas.openxmlformats.org/drawingml/2006/main" w="14288">
              <a:solidFill>
                <a:srgbClr val="445B6B"/>
              </a:solidFill>
              <a:prstDash val="dash"/>
            </a:ln>
          </c:spPr>
          <c:marker>
            <c:symbol val="none"/>
          </c:marker>
          <c:xVal>
            <c:numRef>
              <c:f>'Chart Data'!$O$2:$O$3</c:f>
              <c:numCache>
                <c:formatCode>General</c:formatCode>
                <c:ptCount val="2"/>
                <c:pt idx="0">
                  <c:v>40</c:v>
                </c:pt>
                <c:pt idx="1">
                  <c:v>40</c:v>
                </c:pt>
              </c:numCache>
            </c:numRef>
          </c:xVal>
          <c:yVal>
            <c:numRef>
              <c:f>'Chart Data'!$P$2:$P$3</c:f>
              <c:numCache>
                <c:formatCode>0</c:formatCode>
                <c:ptCount val="2"/>
                <c:pt idx="0">
                  <c:v>0</c:v>
                </c:pt>
                <c:pt idx="1">
                  <c:v>12</c:v>
                </c:pt>
              </c:numCache>
            </c:numRef>
          </c:yVal>
          <c:smooth val="0"/>
        </c:ser>
        <c:ser>
          <c:idx val="8"/>
          <c:order val="8"/>
          <c:tx>
            <c:v>E₀ punt</c:v>
          </c:tx>
          <c:spPr>
            <a:ln xmlns:a="http://schemas.openxmlformats.org/drawingml/2006/main" w="0">
              <a:noFill/>
            </a:ln>
          </c:spPr>
          <c:marker>
            <c:symbol val="circle"/>
            <c:size val="9"/>
            <c:spPr>
              <a:solidFill xmlns:a="http://schemas.openxmlformats.org/drawingml/2006/main">
                <a:srgbClr val="183247"/>
              </a:solidFill>
            </c:spPr>
          </c:marker>
          <c:xVal>
            <c:numRef>
              <c:f>'Chart Data'!$Q$2:$Q$2</c:f>
              <c:numCache>
                <c:formatCode>General</c:formatCode>
                <c:ptCount val="1"/>
                <c:pt idx="0">
                  <c:v>40</c:v>
                </c:pt>
              </c:numCache>
            </c:numRef>
          </c:xVal>
          <c:yVal>
            <c:numRef>
              <c:f>'Chart Data'!$R$2:$R$2</c:f>
              <c:numCache>
                <c:formatCode>0</c:formatCode>
                <c:ptCount val="1"/>
                <c:pt idx="0">
                  <c:v>12</c:v>
                </c:pt>
              </c:numCache>
            </c:numRef>
          </c:yVal>
          <c:smooth val="0"/>
        </c:ser>
        <c:ser>
          <c:idx val="9"/>
          <c:order val="9"/>
          <c:tx>
            <c:v>E₀</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E₀</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Data'!$S$2:$S$2</c:f>
              <c:numCache>
                <c:formatCode>General</c:formatCode>
                <c:ptCount val="1"/>
                <c:pt idx="0">
                  <c:v>34.6</c:v>
                </c:pt>
              </c:numCache>
            </c:numRef>
          </c:xVal>
          <c:yVal>
            <c:numRef>
              <c:f>'Chart Data'!$T$2:$T$2</c:f>
              <c:numCache>
                <c:formatCode>0</c:formatCode>
                <c:ptCount val="1"/>
                <c:pt idx="0">
                  <c:v>13.32</c:v>
                </c:pt>
              </c:numCache>
            </c:numRef>
          </c:yVal>
          <c:smooth val="0"/>
        </c:ser>
        <c:ser>
          <c:idx val="10"/>
          <c:order val="10"/>
          <c:tx>
            <c:v>P hulplijn 50</c:v>
          </c:tx>
          <c:spPr>
            <a:ln xmlns:a="http://schemas.openxmlformats.org/drawingml/2006/main" w="14288">
              <a:solidFill>
                <a:srgbClr val="445B6B"/>
              </a:solidFill>
              <a:prstDash val="dash"/>
            </a:ln>
          </c:spPr>
          <c:marker>
            <c:symbol val="none"/>
          </c:marker>
          <c:xVal>
            <c:numRef>
              <c:f>'Chart Data'!$U$2:$U$3</c:f>
              <c:numCache>
                <c:formatCode>General</c:formatCode>
                <c:ptCount val="2"/>
                <c:pt idx="0">
                  <c:v>0</c:v>
                </c:pt>
                <c:pt idx="1">
                  <c:v>50</c:v>
                </c:pt>
              </c:numCache>
            </c:numRef>
          </c:xVal>
          <c:yVal>
            <c:numRef>
              <c:f>'Chart Data'!$V$2:$V$3</c:f>
              <c:numCache>
                <c:formatCode>0</c:formatCode>
                <c:ptCount val="2"/>
                <c:pt idx="0">
                  <c:v>14</c:v>
                </c:pt>
                <c:pt idx="1">
                  <c:v>14</c:v>
                </c:pt>
              </c:numCache>
            </c:numRef>
          </c:yVal>
          <c:smooth val="0"/>
        </c:ser>
        <c:ser>
          <c:idx val="11"/>
          <c:order val="11"/>
          <c:tx>
            <c:v>Q hulplijn 50</c:v>
          </c:tx>
          <c:spPr>
            <a:ln xmlns:a="http://schemas.openxmlformats.org/drawingml/2006/main" w="14288">
              <a:solidFill>
                <a:srgbClr val="445B6B"/>
              </a:solidFill>
              <a:prstDash val="dash"/>
            </a:ln>
          </c:spPr>
          <c:marker>
            <c:symbol val="none"/>
          </c:marker>
          <c:xVal>
            <c:numRef>
              <c:f>'Chart Data'!$W$2:$W$3</c:f>
              <c:numCache>
                <c:formatCode>General</c:formatCode>
                <c:ptCount val="2"/>
                <c:pt idx="0">
                  <c:v>50</c:v>
                </c:pt>
                <c:pt idx="1">
                  <c:v>50</c:v>
                </c:pt>
              </c:numCache>
            </c:numRef>
          </c:xVal>
          <c:yVal>
            <c:numRef>
              <c:f>'Chart Data'!$X$2:$X$3</c:f>
              <c:numCache>
                <c:formatCode>0</c:formatCode>
                <c:ptCount val="2"/>
                <c:pt idx="0">
                  <c:v>0</c:v>
                </c:pt>
                <c:pt idx="1">
                  <c:v>14</c:v>
                </c:pt>
              </c:numCache>
            </c:numRef>
          </c:yVal>
          <c:smooth val="0"/>
        </c:ser>
        <c:ser>
          <c:idx val="12"/>
          <c:order val="12"/>
          <c:tx>
            <c:v>E₁ punt</c:v>
          </c:tx>
          <c:spPr>
            <a:ln xmlns:a="http://schemas.openxmlformats.org/drawingml/2006/main" w="0">
              <a:noFill/>
            </a:ln>
          </c:spPr>
          <c:marker>
            <c:symbol val="circle"/>
            <c:size val="9"/>
            <c:spPr>
              <a:solidFill xmlns:a="http://schemas.openxmlformats.org/drawingml/2006/main">
                <a:srgbClr val="183247"/>
              </a:solidFill>
            </c:spPr>
          </c:marker>
          <c:xVal>
            <c:numRef>
              <c:f>'Chart Data'!$Y$2:$Y$2</c:f>
              <c:numCache>
                <c:formatCode>General</c:formatCode>
                <c:ptCount val="1"/>
                <c:pt idx="0">
                  <c:v>50</c:v>
                </c:pt>
              </c:numCache>
            </c:numRef>
          </c:xVal>
          <c:yVal>
            <c:numRef>
              <c:f>'Chart Data'!$Z$2:$Z$2</c:f>
              <c:numCache>
                <c:formatCode>0</c:formatCode>
                <c:ptCount val="1"/>
                <c:pt idx="0">
                  <c:v>14</c:v>
                </c:pt>
              </c:numCache>
            </c:numRef>
          </c:yVal>
          <c:smooth val="0"/>
        </c:ser>
        <c:ser>
          <c:idx val="13"/>
          <c:order val="13"/>
          <c:tx>
            <c:v>E₁</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E₁</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Data'!$AA$2:$AA$2</c:f>
              <c:numCache>
                <c:formatCode>General</c:formatCode>
                <c:ptCount val="1"/>
                <c:pt idx="0">
                  <c:v>45.8</c:v>
                </c:pt>
              </c:numCache>
            </c:numRef>
          </c:xVal>
          <c:yVal>
            <c:numRef>
              <c:f>'Chart Data'!$AB$2:$AB$2</c:f>
              <c:numCache>
                <c:formatCode>0</c:formatCode>
                <c:ptCount val="1"/>
                <c:pt idx="0">
                  <c:v>16.16</c:v>
                </c:pt>
              </c:numCache>
            </c:numRef>
          </c:yVal>
          <c:smooth val="0"/>
        </c:ser>
        <c:ser>
          <c:idx val="14"/>
          <c:order val="14"/>
          <c:tx>
            <c:v>Verschuiving bij oude prijs</c:v>
          </c:tx>
          <c:spPr>
            <a:ln xmlns:a="http://schemas.openxmlformats.org/drawingml/2006/main" w="38100">
              <a:solidFill>
                <a:srgbClr val="704798"/>
              </a:solidFill>
              <a:prstDash val="solid"/>
            </a:ln>
          </c:spPr>
          <c:marker>
            <c:symbol val="none"/>
          </c:marker>
          <c:xVal>
            <c:numRef>
              <c:f>'Chart Data'!$AC$2:$AC$3</c:f>
              <c:numCache>
                <c:formatCode>General</c:formatCode>
                <c:ptCount val="2"/>
                <c:pt idx="0">
                  <c:v>40</c:v>
                </c:pt>
                <c:pt idx="1">
                  <c:v>60</c:v>
                </c:pt>
              </c:numCache>
            </c:numRef>
          </c:xVal>
          <c:yVal>
            <c:numRef>
              <c:f>'Chart Data'!$AD$2:$AD$3</c:f>
              <c:numCache>
                <c:formatCode>0</c:formatCode>
                <c:ptCount val="2"/>
                <c:pt idx="0">
                  <c:v>12</c:v>
                </c:pt>
                <c:pt idx="1">
                  <c:v>12</c:v>
                </c:pt>
              </c:numCache>
            </c:numRef>
          </c:yVal>
          <c:smooth val="0"/>
        </c:ser>
        <c:ser>
          <c:idx val="15"/>
          <c:order val="15"/>
          <c:tx>
            <c:v>Verschuiving bij oude prijs punt</c:v>
          </c:tx>
          <c:spPr>
            <a:ln xmlns:a="http://schemas.openxmlformats.org/drawingml/2006/main" w="38100">
              <a:solidFill>
                <a:srgbClr val="704798"/>
              </a:solidFill>
              <a:prstDash val="solid"/>
            </a:ln>
          </c:spPr>
          <c:marker>
            <c:symbol val="none"/>
          </c:marker>
          <c:xVal>
            <c:numRef>
              <c:f>'Chart Data'!$AE$2:$AE$4</c:f>
              <c:numCache>
                <c:formatCode>General</c:formatCode>
                <c:ptCount val="3"/>
                <c:pt idx="0">
                  <c:v>57.36</c:v>
                </c:pt>
                <c:pt idx="1">
                  <c:v>60</c:v>
                </c:pt>
                <c:pt idx="2">
                  <c:v>57.36</c:v>
                </c:pt>
              </c:numCache>
            </c:numRef>
          </c:xVal>
          <c:yVal>
            <c:numRef>
              <c:f>'Chart Data'!$AF$2:$AF$4</c:f>
              <c:numCache>
                <c:formatCode>0</c:formatCode>
                <c:ptCount val="3"/>
                <c:pt idx="0">
                  <c:v>11.712</c:v>
                </c:pt>
                <c:pt idx="1">
                  <c:v>12</c:v>
                </c:pt>
                <c:pt idx="2">
                  <c:v>12.288</c:v>
                </c:pt>
              </c:numCache>
            </c:numRef>
          </c:yVal>
          <c:smooth val="0"/>
        </c:ser>
        <c:ser>
          <c:idx val="16"/>
          <c:order val="16"/>
          <c:tx>
            <c:v>Beweging langs A</c:v>
          </c:tx>
          <c:spPr>
            <a:ln xmlns:a="http://schemas.openxmlformats.org/drawingml/2006/main" w="38100">
              <a:solidFill>
                <a:srgbClr val="A94D16"/>
              </a:solidFill>
              <a:prstDash val="solid"/>
            </a:ln>
          </c:spPr>
          <c:marker>
            <c:symbol val="none"/>
          </c:marker>
          <c:xVal>
            <c:numRef>
              <c:f>'Chart Data'!$AG$2:$AG$3</c:f>
              <c:numCache>
                <c:formatCode>General</c:formatCode>
                <c:ptCount val="2"/>
                <c:pt idx="0">
                  <c:v>40</c:v>
                </c:pt>
                <c:pt idx="1">
                  <c:v>50</c:v>
                </c:pt>
              </c:numCache>
            </c:numRef>
          </c:xVal>
          <c:yVal>
            <c:numRef>
              <c:f>'Chart Data'!$AH$2:$AH$3</c:f>
              <c:numCache>
                <c:formatCode>0</c:formatCode>
                <c:ptCount val="2"/>
                <c:pt idx="0">
                  <c:v>12</c:v>
                </c:pt>
                <c:pt idx="1">
                  <c:v>14</c:v>
                </c:pt>
              </c:numCache>
            </c:numRef>
          </c:yVal>
          <c:smooth val="0"/>
        </c:ser>
        <c:ser>
          <c:idx val="17"/>
          <c:order val="17"/>
          <c:tx>
            <c:v>Beweging langs A punt</c:v>
          </c:tx>
          <c:spPr>
            <a:ln xmlns:a="http://schemas.openxmlformats.org/drawingml/2006/main" w="38100">
              <a:solidFill>
                <a:srgbClr val="A94D16"/>
              </a:solidFill>
              <a:prstDash val="solid"/>
            </a:ln>
          </c:spPr>
          <c:marker>
            <c:symbol val="none"/>
          </c:marker>
          <c:xVal>
            <c:numRef>
              <c:f>'Chart Data'!$AI$2:$AI$4</c:f>
              <c:numCache>
                <c:formatCode>General</c:formatCode>
                <c:ptCount val="3"/>
                <c:pt idx="0">
                  <c:v>49.151472</c:v>
                </c:pt>
                <c:pt idx="1">
                  <c:v>50</c:v>
                </c:pt>
                <c:pt idx="2">
                  <c:v>47.115004</c:v>
                </c:pt>
              </c:numCache>
            </c:numRef>
          </c:xVal>
          <c:yVal>
            <c:numRef>
              <c:f>'Chart Data'!$AJ$2:$AJ$4</c:f>
              <c:numCache>
                <c:formatCode>0</c:formatCode>
                <c:ptCount val="3"/>
                <c:pt idx="0">
                  <c:v>13.423001</c:v>
                </c:pt>
                <c:pt idx="1">
                  <c:v>14</c:v>
                </c:pt>
                <c:pt idx="2">
                  <c:v>13.830294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 per kabel)</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50112"/>
        <c:majorUnit val="4"/>
      </c:valAx>
      <c:valAx>
        <c:axId val="48650112"/>
        <c:scaling>
          <c:orientation val="minMax"/>
          <c:max val="12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(kabels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3.3 Verschuivingen en nieuw evenwicht">
            <a:extLst xmlns:a="http://schemas.openxmlformats.org/drawingml/2006/main">
              <a:ext uri="{FF2B5EF4-FFF2-40B4-BE49-F238E27FC236}">
                <a16:creationId xmlns:a16="http://schemas.microsoft.com/office/drawing/2014/main" id="{9C1A386D-B4CA-4855-942E-03384E2A4912}"/>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Deze les: §1.3.3 Verschuivingen en nieuw evenwicht</a:t>
            </a:r>
          </a:p>
        </p:txBody>
      </p:sp>
      <p:sp>
        <p:nvSpPr>
          <p:cNvPr id="2" name="">
            <a:extLst xmlns:a="http://schemas.openxmlformats.org/drawingml/2006/main">
              <a:ext uri="{FF2B5EF4-FFF2-40B4-BE49-F238E27FC236}">
                <a16:creationId xmlns:a16="http://schemas.microsoft.com/office/drawing/2014/main" id="{5072E28F-8E2C-486B-82F1-4FE94FF3097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3 Verschuivingen en nieuw evenwicht">
            <a:extLst xmlns:a="http://schemas.openxmlformats.org/drawingml/2006/main">
              <a:ext uri="{FF2B5EF4-FFF2-40B4-BE49-F238E27FC236}">
                <a16:creationId xmlns:a16="http://schemas.microsoft.com/office/drawing/2014/main" id="{FB0A2801-38C9-4598-B475-E53665E4D2CD}"/>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§1.3.3 Verschuivingen en nieuw evenwicht</a:t>
            </a:r>
          </a:p>
        </p:txBody>
      </p:sp>
      <p:sp>
        <p:nvSpPr>
          <p:cNvPr id="4" name="1">
            <a:extLst xmlns:a="http://schemas.openxmlformats.org/drawingml/2006/main">
              <a:ext uri="{FF2B5EF4-FFF2-40B4-BE49-F238E27FC236}">
                <a16:creationId xmlns:a16="http://schemas.microsoft.com/office/drawing/2014/main" id="{42A3A765-3FE4-4155-901A-2B6B5007F52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B8D4CDC5-BCB9-4A1A-B9EB-3D27ECD901BD}"/>
              </a:ext>
            </a:extLst>
          </p:cNvPr>
          <p:cNvSpPr>
            <a:spLocks xmlns:a="http://schemas.openxmlformats.org/drawingml/2006/main" noGrp="1"/>
          </p:cNvSpPr>
          <p:nvPr/>
        </p:nvSpPr>
        <p:spPr>
          <a:xfrm xmlns:a="http://schemas.openxmlformats.org/drawingml/2006/main">
            <a:off x="571500" y="1057275"/>
            <a:ext cx="1390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9D8AD547-1054-4D0A-82C7-C9F141C3AFEA}"/>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1284CF09-0301-480C-860F-324C543A627D}"/>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D60AB16B-29C0-47A5-9893-6605D3BAE70F}"/>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1">
            <a:extLst xmlns:a="http://schemas.openxmlformats.org/drawingml/2006/main">
              <a:ext uri="{FF2B5EF4-FFF2-40B4-BE49-F238E27FC236}">
                <a16:creationId xmlns:a16="http://schemas.microsoft.com/office/drawing/2014/main" id="{6237D2D3-4C42-4586-8503-56CF3C9993AF}"/>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B33B69BC-EC67-482E-9F5E-32BCA00354FF}"/>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E166F524-0859-47F1-8DC4-248DD866A549}"/>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82DB45C1-50BD-4F41-A242-51D98A4AA241}"/>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04167A6E-3021-4E18-AF53-C0C9498C56B3}"/>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9FBECCE0-C25A-4D9F-94A5-A05285736E84}"/>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75331490-FBBC-4EDB-A9B9-E5AB68C134E4}"/>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4E99D5A3-3FCA-4992-A885-6E134D37267C}"/>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1B80240D-CD84-4BC4-B488-99DA8D8C0B20}"/>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889B44FE-CA57-47BE-AEAE-5956EF48A14A}"/>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31.</a:t>
            </a:r>
          </a:p>
        </p:txBody>
      </p:sp>
      <p:sp>
        <p:nvSpPr>
          <p:cNvPr id="19" name="route-number-6">
            <a:extLst xmlns:a="http://schemas.openxmlformats.org/drawingml/2006/main">
              <a:ext uri="{FF2B5EF4-FFF2-40B4-BE49-F238E27FC236}">
                <a16:creationId xmlns:a16="http://schemas.microsoft.com/office/drawing/2014/main" id="{6A3F08BB-6E44-4C9E-9983-3B62DE933281}"/>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D56ED44C-BD35-46D5-AC55-BF408A5023FC}"/>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7CE70423-C27D-4F51-8DB0-EBA0E3870CCD}"/>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E8CC2676-2E29-4A98-B2C9-D81D95C05FFD}"/>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Oorzaak en prijsreactie scheiden.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Oud en nieuw evenwicht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Verschuiving en beweging tekenen.</a:t>
            </a:r>
          </a:p>
        </p:txBody>
      </p:sp>
      <p:sp>
        <p:nvSpPr>
          <p:cNvPr id="23" name="">
            <a:extLst xmlns:a="http://schemas.openxmlformats.org/drawingml/2006/main">
              <a:ext uri="{FF2B5EF4-FFF2-40B4-BE49-F238E27FC236}">
                <a16:creationId xmlns:a16="http://schemas.microsoft.com/office/drawing/2014/main" id="{1A089F0F-EEFC-492E-BD26-2513EB39A65B}"/>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20C832F5-B45E-4FB7-8AF2-C1778443887E}"/>
              </a:ext>
            </a:extLst>
          </p:cNvPr>
          <p:cNvSpPr>
            <a:spLocks xmlns:a="http://schemas.openxmlformats.org/drawingml/2006/main" noGrp="1"/>
          </p:cNvSpPr>
          <p:nvPr/>
        </p:nvSpPr>
        <p:spPr>
          <a:xfrm xmlns:a="http://schemas.openxmlformats.org/drawingml/2006/main">
            <a:off x="9258300" y="37814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BAD7A7CA-3512-4DB5-B734-22F1BEAA4B5E}"/>
              </a:ext>
            </a:extLst>
          </p:cNvPr>
          <p:cNvSpPr>
            <a:spLocks xmlns:a="http://schemas.openxmlformats.org/drawingml/2006/main" noGrp="1"/>
          </p:cNvSpPr>
          <p:nvPr/>
        </p:nvSpPr>
        <p:spPr>
          <a:xfrm xmlns:a="http://schemas.openxmlformats.org/drawingml/2006/main">
            <a:off x="9258300" y="4276725"/>
            <a:ext cx="5381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112 · Opgaven 23 en 24</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24: verkennen met theorie</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 108–109</a:t>
            </a:r>
          </a:p>
        </p:txBody>
      </p:sp>
      <p:sp>
        <p:nvSpPr>
          <p:cNvPr id="26" name="">
            <a:extLst xmlns:a="http://schemas.openxmlformats.org/drawingml/2006/main">
              <a:ext uri="{FF2B5EF4-FFF2-40B4-BE49-F238E27FC236}">
                <a16:creationId xmlns:a16="http://schemas.microsoft.com/office/drawing/2014/main" id="{DD7390B2-168A-4054-9555-1E81B52B4F00}"/>
              </a:ext>
            </a:extLst>
          </p:cNvPr>
          <p:cNvSpPr>
            <a:spLocks xmlns:a="http://schemas.openxmlformats.org/drawingml/2006/main" noGrp="1"/>
          </p:cNvSpPr>
          <p:nvPr/>
        </p:nvSpPr>
        <p:spPr>
          <a:xfrm xmlns:a="http://schemas.openxmlformats.org/drawingml/2006/main">
            <a:off x="9258300" y="5495925"/>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EC6F3FFA-974B-445B-A51C-7382D989F0FA}"/>
              </a:ext>
            </a:extLst>
          </p:cNvPr>
          <p:cNvSpPr>
            <a:spLocks xmlns:a="http://schemas.openxmlformats.org/drawingml/2006/main" noGrp="1"/>
          </p:cNvSpPr>
          <p:nvPr/>
        </p:nvSpPr>
        <p:spPr>
          <a:xfrm xmlns:a="http://schemas.openxmlformats.org/drawingml/2006/main">
            <a:off x="9258300" y="56864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AED9F25C-053E-4459-ABFE-CCAA23845A48}"/>
              </a:ext>
            </a:extLst>
          </p:cNvPr>
          <p:cNvSpPr>
            <a:spLocks xmlns:a="http://schemas.openxmlformats.org/drawingml/2006/main" noGrp="1"/>
          </p:cNvSpPr>
          <p:nvPr/>
        </p:nvSpPr>
        <p:spPr>
          <a:xfrm xmlns:a="http://schemas.openxmlformats.org/drawingml/2006/main">
            <a:off x="9258300" y="6200775"/>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§1.3.3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25, 26 en 27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28, 29 en 30</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31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203650215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Oorzaak, plannen en nieuw evenwicht">
            <a:extLst xmlns:a="http://schemas.openxmlformats.org/drawingml/2006/main">
              <a:ext uri="{FF2B5EF4-FFF2-40B4-BE49-F238E27FC236}">
                <a16:creationId xmlns:a16="http://schemas.microsoft.com/office/drawing/2014/main" id="{C82EC52C-DA68-4781-A4C8-D5C492D31F7F}"/>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Oorzaak, plannen en nieuw evenwicht</a:t>
            </a:r>
          </a:p>
        </p:txBody>
      </p:sp>
      <p:sp>
        <p:nvSpPr>
          <p:cNvPr id="2" name="">
            <a:extLst xmlns:a="http://schemas.openxmlformats.org/drawingml/2006/main">
              <a:ext uri="{FF2B5EF4-FFF2-40B4-BE49-F238E27FC236}">
                <a16:creationId xmlns:a16="http://schemas.microsoft.com/office/drawing/2014/main" id="{5EF23099-581E-4704-BA28-BA0087C2096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3 Verschuivingen en nieuw evenwicht">
            <a:extLst xmlns:a="http://schemas.openxmlformats.org/drawingml/2006/main">
              <a:ext uri="{FF2B5EF4-FFF2-40B4-BE49-F238E27FC236}">
                <a16:creationId xmlns:a16="http://schemas.microsoft.com/office/drawing/2014/main" id="{570A4EEB-B55A-4150-BEEA-C89B3CA1FB2B}"/>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§1.3.3 Verschuivingen en nieuw evenwicht</a:t>
            </a:r>
          </a:p>
        </p:txBody>
      </p:sp>
      <p:sp>
        <p:nvSpPr>
          <p:cNvPr id="4" name="2">
            <a:extLst xmlns:a="http://schemas.openxmlformats.org/drawingml/2006/main">
              <a:ext uri="{FF2B5EF4-FFF2-40B4-BE49-F238E27FC236}">
                <a16:creationId xmlns:a16="http://schemas.microsoft.com/office/drawing/2014/main" id="{F6D93F67-7789-447A-91C6-1E0F024C498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Oorzaak">
            <a:extLst xmlns:a="http://schemas.openxmlformats.org/drawingml/2006/main">
              <a:ext uri="{FF2B5EF4-FFF2-40B4-BE49-F238E27FC236}">
                <a16:creationId xmlns:a16="http://schemas.microsoft.com/office/drawing/2014/main" id="{4E89B6D1-8142-4B51-B8E6-C8EBF58CD081}"/>
              </a:ext>
            </a:extLst>
          </p:cNvPr>
          <p:cNvSpPr>
            <a:spLocks xmlns:a="http://schemas.openxmlformats.org/drawingml/2006/main" noGrp="1"/>
          </p:cNvSpPr>
          <p:nvPr/>
        </p:nvSpPr>
        <p:spPr>
          <a:xfrm xmlns:a="http://schemas.openxmlformats.org/drawingml/2006/main">
            <a:off x="571500" y="204787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Oorzaak</a:t>
            </a:r>
          </a:p>
        </p:txBody>
      </p:sp>
      <p:sp>
        <p:nvSpPr>
          <p:cNvPr id="6" name="Welke factor verandert vraag of aanbod?">
            <a:extLst xmlns:a="http://schemas.openxmlformats.org/drawingml/2006/main">
              <a:ext uri="{FF2B5EF4-FFF2-40B4-BE49-F238E27FC236}">
                <a16:creationId xmlns:a16="http://schemas.microsoft.com/office/drawing/2014/main" id="{0105BA5A-1773-423B-A202-8B4C7A745E3A}"/>
              </a:ext>
            </a:extLst>
          </p:cNvPr>
          <p:cNvSpPr>
            <a:spLocks xmlns:a="http://schemas.openxmlformats.org/drawingml/2006/main" noGrp="1"/>
          </p:cNvSpPr>
          <p:nvPr/>
        </p:nvSpPr>
        <p:spPr>
          <a:xfrm xmlns:a="http://schemas.openxmlformats.org/drawingml/2006/main">
            <a:off x="5143500" y="2047875"/>
            <a:ext cx="9382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Welke factor verandert vraag of aanbod?</a:t>
            </a:r>
          </a:p>
        </p:txBody>
      </p:sp>
      <p:sp>
        <p:nvSpPr>
          <p:cNvPr id="7" name="">
            <a:extLst xmlns:a="http://schemas.openxmlformats.org/drawingml/2006/main">
              <a:ext uri="{FF2B5EF4-FFF2-40B4-BE49-F238E27FC236}">
                <a16:creationId xmlns:a16="http://schemas.microsoft.com/office/drawing/2014/main" id="{A79B84A0-9263-41AA-95ED-12E148B16F2B}"/>
              </a:ext>
            </a:extLst>
          </p:cNvPr>
          <p:cNvSpPr>
            <a:spLocks xmlns:a="http://schemas.openxmlformats.org/drawingml/2006/main" noGrp="1"/>
          </p:cNvSpPr>
          <p:nvPr/>
        </p:nvSpPr>
        <p:spPr>
          <a:xfrm xmlns:a="http://schemas.openxmlformats.org/drawingml/2006/main">
            <a:off x="571500" y="3048000"/>
            <a:ext cx="14097000" cy="0"/>
          </a:xfrm>
          <a:prstGeom xmlns:a="http://schemas.openxmlformats.org/drawingml/2006/main" prst="line">
            <a:avLst/>
          </a:prstGeom>
          <a:ln xmlns:a="http://schemas.openxmlformats.org/drawingml/2006/main" w="19050">
            <a:solidFill>
              <a:srgbClr val="C6D2DB"/>
            </a:solidFill>
          </a:ln>
        </p:spPr>
      </p:sp>
      <p:sp>
        <p:nvSpPr>
          <p:cNvPr id="8" name="Oude prijs">
            <a:extLst xmlns:a="http://schemas.openxmlformats.org/drawingml/2006/main">
              <a:ext uri="{FF2B5EF4-FFF2-40B4-BE49-F238E27FC236}">
                <a16:creationId xmlns:a16="http://schemas.microsoft.com/office/drawing/2014/main" id="{55425B8C-F400-469B-8A63-24221D92D604}"/>
              </a:ext>
            </a:extLst>
          </p:cNvPr>
          <p:cNvSpPr>
            <a:spLocks xmlns:a="http://schemas.openxmlformats.org/drawingml/2006/main" noGrp="1"/>
          </p:cNvSpPr>
          <p:nvPr/>
        </p:nvSpPr>
        <p:spPr>
          <a:xfrm xmlns:a="http://schemas.openxmlformats.org/drawingml/2006/main">
            <a:off x="571500" y="340042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Oude prijs</a:t>
            </a:r>
          </a:p>
        </p:txBody>
      </p:sp>
      <p:sp>
        <p:nvSpPr>
          <p:cNvPr id="9" name="Welke plannen botsen bij diezelfde prijs?">
            <a:extLst xmlns:a="http://schemas.openxmlformats.org/drawingml/2006/main">
              <a:ext uri="{FF2B5EF4-FFF2-40B4-BE49-F238E27FC236}">
                <a16:creationId xmlns:a16="http://schemas.microsoft.com/office/drawing/2014/main" id="{D989163F-D79D-4E86-AC75-DD67427597B6}"/>
              </a:ext>
            </a:extLst>
          </p:cNvPr>
          <p:cNvSpPr>
            <a:spLocks xmlns:a="http://schemas.openxmlformats.org/drawingml/2006/main" noGrp="1"/>
          </p:cNvSpPr>
          <p:nvPr/>
        </p:nvSpPr>
        <p:spPr>
          <a:xfrm xmlns:a="http://schemas.openxmlformats.org/drawingml/2006/main">
            <a:off x="5143500" y="3400425"/>
            <a:ext cx="9382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Welke plannen botsen bij diezelfde prijs?</a:t>
            </a:r>
          </a:p>
        </p:txBody>
      </p:sp>
      <p:sp>
        <p:nvSpPr>
          <p:cNvPr id="10" name="">
            <a:extLst xmlns:a="http://schemas.openxmlformats.org/drawingml/2006/main">
              <a:ext uri="{FF2B5EF4-FFF2-40B4-BE49-F238E27FC236}">
                <a16:creationId xmlns:a16="http://schemas.microsoft.com/office/drawing/2014/main" id="{AEEC7100-A9C0-41B6-BAB5-8F0F77E362CA}"/>
              </a:ext>
            </a:extLst>
          </p:cNvPr>
          <p:cNvSpPr>
            <a:spLocks xmlns:a="http://schemas.openxmlformats.org/drawingml/2006/main" noGrp="1"/>
          </p:cNvSpPr>
          <p:nvPr/>
        </p:nvSpPr>
        <p:spPr>
          <a:xfrm xmlns:a="http://schemas.openxmlformats.org/drawingml/2006/main">
            <a:off x="571500" y="4400550"/>
            <a:ext cx="14097000" cy="0"/>
          </a:xfrm>
          <a:prstGeom xmlns:a="http://schemas.openxmlformats.org/drawingml/2006/main" prst="line">
            <a:avLst/>
          </a:prstGeom>
          <a:ln xmlns:a="http://schemas.openxmlformats.org/drawingml/2006/main" w="19050">
            <a:solidFill>
              <a:srgbClr val="C6D2DB"/>
            </a:solidFill>
          </a:ln>
        </p:spPr>
      </p:sp>
      <p:sp>
        <p:nvSpPr>
          <p:cNvPr id="11" name="Nieuw evenwicht">
            <a:extLst xmlns:a="http://schemas.openxmlformats.org/drawingml/2006/main">
              <a:ext uri="{FF2B5EF4-FFF2-40B4-BE49-F238E27FC236}">
                <a16:creationId xmlns:a16="http://schemas.microsoft.com/office/drawing/2014/main" id="{B3B11AB0-671F-43D3-9966-19374693D921}"/>
              </a:ext>
            </a:extLst>
          </p:cNvPr>
          <p:cNvSpPr>
            <a:spLocks xmlns:a="http://schemas.openxmlformats.org/drawingml/2006/main" noGrp="1"/>
          </p:cNvSpPr>
          <p:nvPr/>
        </p:nvSpPr>
        <p:spPr>
          <a:xfrm xmlns:a="http://schemas.openxmlformats.org/drawingml/2006/main">
            <a:off x="571500" y="475297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Nieuw evenwicht</a:t>
            </a:r>
          </a:p>
        </p:txBody>
      </p:sp>
      <p:sp>
        <p:nvSpPr>
          <p:cNvPr id="12" name="Stel de nieuwe functies gelijk en controleer Q.">
            <a:extLst xmlns:a="http://schemas.openxmlformats.org/drawingml/2006/main">
              <a:ext uri="{FF2B5EF4-FFF2-40B4-BE49-F238E27FC236}">
                <a16:creationId xmlns:a16="http://schemas.microsoft.com/office/drawing/2014/main" id="{CDAFA917-6C09-430B-B7BA-F66FE0DBE741}"/>
              </a:ext>
            </a:extLst>
          </p:cNvPr>
          <p:cNvSpPr>
            <a:spLocks xmlns:a="http://schemas.openxmlformats.org/drawingml/2006/main" noGrp="1"/>
          </p:cNvSpPr>
          <p:nvPr/>
        </p:nvSpPr>
        <p:spPr>
          <a:xfrm xmlns:a="http://schemas.openxmlformats.org/drawingml/2006/main">
            <a:off x="5143500" y="4752975"/>
            <a:ext cx="9382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Stel de nieuwe functies gelijk en controleer Q.</a:t>
            </a:r>
          </a:p>
        </p:txBody>
      </p:sp>
      <p:sp>
        <p:nvSpPr>
          <p:cNvPr id="13" name="">
            <a:extLst xmlns:a="http://schemas.openxmlformats.org/drawingml/2006/main">
              <a:ext uri="{FF2B5EF4-FFF2-40B4-BE49-F238E27FC236}">
                <a16:creationId xmlns:a16="http://schemas.microsoft.com/office/drawing/2014/main" id="{45562B68-476B-40E0-90B7-B371725BD27A}"/>
              </a:ext>
            </a:extLst>
          </p:cNvPr>
          <p:cNvSpPr>
            <a:spLocks xmlns:a="http://schemas.openxmlformats.org/drawingml/2006/main" noGrp="1"/>
          </p:cNvSpPr>
          <p:nvPr/>
        </p:nvSpPr>
        <p:spPr>
          <a:xfrm xmlns:a="http://schemas.openxmlformats.org/drawingml/2006/main">
            <a:off x="571500" y="5753100"/>
            <a:ext cx="14097000" cy="0"/>
          </a:xfrm>
          <a:prstGeom xmlns:a="http://schemas.openxmlformats.org/drawingml/2006/main" prst="line">
            <a:avLst/>
          </a:prstGeom>
          <a:ln xmlns:a="http://schemas.openxmlformats.org/drawingml/2006/main" w="19050">
            <a:solidFill>
              <a:srgbClr val="C6D2DB"/>
            </a:solidFill>
          </a:ln>
        </p:spPr>
      </p:sp>
      <p:sp>
        <p:nvSpPr>
          <p:cNvPr id="14" name="Vergelijking">
            <a:extLst xmlns:a="http://schemas.openxmlformats.org/drawingml/2006/main">
              <a:ext uri="{FF2B5EF4-FFF2-40B4-BE49-F238E27FC236}">
                <a16:creationId xmlns:a16="http://schemas.microsoft.com/office/drawing/2014/main" id="{E931763A-4BF3-4996-BFE5-6DB2FC6E0E9A}"/>
              </a:ext>
            </a:extLst>
          </p:cNvPr>
          <p:cNvSpPr>
            <a:spLocks xmlns:a="http://schemas.openxmlformats.org/drawingml/2006/main" noGrp="1"/>
          </p:cNvSpPr>
          <p:nvPr/>
        </p:nvSpPr>
        <p:spPr>
          <a:xfrm xmlns:a="http://schemas.openxmlformats.org/drawingml/2006/main">
            <a:off x="571500" y="610552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Vergelijking</a:t>
            </a:r>
          </a:p>
        </p:txBody>
      </p:sp>
      <p:sp>
        <p:nvSpPr>
          <p:cNvPr id="15" name="Bereken de verandering en teken beide pijlen.">
            <a:extLst xmlns:a="http://schemas.openxmlformats.org/drawingml/2006/main">
              <a:ext uri="{FF2B5EF4-FFF2-40B4-BE49-F238E27FC236}">
                <a16:creationId xmlns:a16="http://schemas.microsoft.com/office/drawing/2014/main" id="{07BB920B-4D75-47A9-9E98-7B048A9DBD97}"/>
              </a:ext>
            </a:extLst>
          </p:cNvPr>
          <p:cNvSpPr>
            <a:spLocks xmlns:a="http://schemas.openxmlformats.org/drawingml/2006/main" noGrp="1"/>
          </p:cNvSpPr>
          <p:nvPr/>
        </p:nvSpPr>
        <p:spPr>
          <a:xfrm xmlns:a="http://schemas.openxmlformats.org/drawingml/2006/main">
            <a:off x="5143500" y="6105525"/>
            <a:ext cx="9382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Bereken de verandering en teken beide pijlen.</a:t>
            </a:r>
          </a:p>
        </p:txBody>
      </p:sp>
    </p:spTree>
    <p:extLst>
      <p:ext uri="{BB962C8B-B14F-4D97-AF65-F5344CB8AC3E}">
        <p14:creationId xmlns:p14="http://schemas.microsoft.com/office/powerpoint/2010/main" val="4388213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e markt voor sleutelhangers">
            <a:extLst xmlns:a="http://schemas.openxmlformats.org/drawingml/2006/main">
              <a:ext uri="{FF2B5EF4-FFF2-40B4-BE49-F238E27FC236}">
                <a16:creationId xmlns:a16="http://schemas.microsoft.com/office/drawing/2014/main" id="{1EEA5094-CC54-4B99-9811-C8B75E0413D1}"/>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markt voor sleutelhangers</a:t>
            </a:r>
          </a:p>
        </p:txBody>
      </p:sp>
      <p:sp>
        <p:nvSpPr>
          <p:cNvPr id="2" name="">
            <a:extLst xmlns:a="http://schemas.openxmlformats.org/drawingml/2006/main">
              <a:ext uri="{FF2B5EF4-FFF2-40B4-BE49-F238E27FC236}">
                <a16:creationId xmlns:a16="http://schemas.microsoft.com/office/drawing/2014/main" id="{E73B3532-9A68-4B76-9F36-625398485EF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3 Verschuivingen en nieuw evenwicht">
            <a:extLst xmlns:a="http://schemas.openxmlformats.org/drawingml/2006/main">
              <a:ext uri="{FF2B5EF4-FFF2-40B4-BE49-F238E27FC236}">
                <a16:creationId xmlns:a16="http://schemas.microsoft.com/office/drawing/2014/main" id="{21752A73-B125-4D2B-8FD0-5E250CD793CA}"/>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§1.3.3 Verschuivingen en nieuw evenwicht</a:t>
            </a:r>
          </a:p>
        </p:txBody>
      </p:sp>
      <p:sp>
        <p:nvSpPr>
          <p:cNvPr id="4" name="3">
            <a:extLst xmlns:a="http://schemas.openxmlformats.org/drawingml/2006/main">
              <a:ext uri="{FF2B5EF4-FFF2-40B4-BE49-F238E27FC236}">
                <a16:creationId xmlns:a16="http://schemas.microsoft.com/office/drawing/2014/main" id="{84F87B44-D2F7-4433-AA30-2318A9410C9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Uitlegvoorbeeld — niet uit het boek">
            <a:extLst xmlns:a="http://schemas.openxmlformats.org/drawingml/2006/main">
              <a:ext uri="{FF2B5EF4-FFF2-40B4-BE49-F238E27FC236}">
                <a16:creationId xmlns:a16="http://schemas.microsoft.com/office/drawing/2014/main" id="{07AFC2BE-B60C-48A4-A10D-3DBCC6AC7CAB}"/>
              </a:ext>
            </a:extLst>
          </p:cNvPr>
          <p:cNvSpPr>
            <a:spLocks xmlns:a="http://schemas.openxmlformats.org/drawingml/2006/main" noGrp="1"/>
          </p:cNvSpPr>
          <p:nvPr/>
        </p:nvSpPr>
        <p:spPr>
          <a:xfrm xmlns:a="http://schemas.openxmlformats.org/drawingml/2006/main">
            <a:off x="571500" y="1695450"/>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6" name="Q: sleutelhangers per week. P: euro per sleutelhanger.">
            <a:extLst xmlns:a="http://schemas.openxmlformats.org/drawingml/2006/main">
              <a:ext uri="{FF2B5EF4-FFF2-40B4-BE49-F238E27FC236}">
                <a16:creationId xmlns:a16="http://schemas.microsoft.com/office/drawing/2014/main" id="{36049423-49CF-405F-B37F-515DB3158D67}"/>
              </a:ext>
            </a:extLst>
          </p:cNvPr>
          <p:cNvSpPr>
            <a:spLocks xmlns:a="http://schemas.openxmlformats.org/drawingml/2006/main" noGrp="1"/>
          </p:cNvSpPr>
          <p:nvPr/>
        </p:nvSpPr>
        <p:spPr>
          <a:xfrm xmlns:a="http://schemas.openxmlformats.org/drawingml/2006/main">
            <a:off x="571500" y="23812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Q: sleutelhangers per week. P: euro per sleutelhanger.</a:t>
            </a:r>
          </a:p>
        </p:txBody>
      </p:sp>
      <p:graphicFrame>
        <p:nvGraphicFramePr>
          <p:cNvPr id="15" name=""/>
          <p:cNvGraphicFramePr/>
          <p:nvPr/>
        </p:nvGraphicFramePr>
        <p:xfrm>
          <a:off xmlns:a="http://schemas.openxmlformats.org/drawingml/2006/main" x="571500" y="3381375"/>
          <a:ext xmlns:a="http://schemas.openxmlformats.org/drawingml/2006/main" cx="14097000" cy="2714625"/>
        </p:xfrm>
        <a:graphic xmlns:a="http://schemas.openxmlformats.org/drawingml/2006/main">
          <a:graphicData uri="http://schemas.openxmlformats.org/drawingml/2006/table">
            <a:tbl>
              <a:tblPr/>
              <a:tblGrid>
                <a:gridCol w="4286250"/>
                <a:gridCol w="5810250"/>
                <a:gridCol w="4000500"/>
              </a:tblGrid>
              <a:tr h="904875">
                <a:tc>
                  <a:txBody>
                    <a:bodyPr lIns="171450" tIns="95250" rIns="133350" bIns="95250"/>
                    <a:lstStyle/>
                    <a:p>
                      <a:r>
                        <a:rPr sz="2625" b="1">
                          <a:solidFill>
                            <a:srgbClr val="FFFFFF"/>
                          </a:solidFill>
                          <a:latin typeface="Arial"/>
                          <a:ea typeface="Arial"/>
                          <a:cs typeface="Arial"/>
                        </a:rPr>
                        <a:t>Beginsituatie</a:t>
                      </a:r>
                    </a:p>
                  </a:txBody>
                  <a:tcPr marL="91440" marR="91440" marT="45720" marB="45720" anchor="ctr">
                    <a:solidFill>
                      <a:srgbClr val="183247"/>
                    </a:solidFill>
                  </a:tcPr>
                </a:tc>
                <a:tc>
                  <a:txBody>
                    <a:bodyPr lIns="171450" tIns="95250" rIns="133350" bIns="95250"/>
                    <a:lstStyle/>
                    <a:p>
                      <a:r>
                        <a:rPr sz="2625" b="1">
                          <a:solidFill>
                            <a:srgbClr val="FFFFFF"/>
                          </a:solidFill>
                          <a:latin typeface="Arial"/>
                          <a:ea typeface="Arial"/>
                          <a:cs typeface="Arial"/>
                        </a:rPr>
                        <a:t>Functie</a:t>
                      </a:r>
                    </a:p>
                  </a:txBody>
                  <a:tcPr marL="91440" marR="91440" marT="45720" marB="45720" anchor="ctr">
                    <a:solidFill>
                      <a:srgbClr val="183247"/>
                    </a:solidFill>
                  </a:tcPr>
                </a:tc>
                <a:tc>
                  <a:txBody>
                    <a:bodyPr lIns="171450" tIns="95250" rIns="133350" bIns="95250"/>
                    <a:lstStyle/>
                    <a:p>
                      <a:r>
                        <a:rPr sz="2625" b="1">
                          <a:solidFill>
                            <a:srgbClr val="FFFFFF"/>
                          </a:solidFill>
                          <a:latin typeface="Arial"/>
                          <a:ea typeface="Arial"/>
                          <a:cs typeface="Arial"/>
                        </a:rPr>
                        <a:t>Geldige prijzen</a:t>
                      </a:r>
                    </a:p>
                  </a:txBody>
                  <a:tcPr marL="91440" marR="91440" marT="45720" marB="45720" anchor="ctr">
                    <a:solidFill>
                      <a:srgbClr val="183247"/>
                    </a:solidFill>
                  </a:tcPr>
                </a:tc>
              </a:tr>
              <a:tr h="904875">
                <a:tc>
                  <a:txBody>
                    <a:bodyPr lIns="171450" tIns="95250" rIns="133350" bIns="95250"/>
                    <a:lstStyle/>
                    <a:p>
                      <a:r>
                        <a:rPr sz="2625" b="0">
                          <a:solidFill>
                            <a:srgbClr val="183247"/>
                          </a:solidFill>
                          <a:latin typeface="Arial"/>
                          <a:ea typeface="Arial"/>
                          <a:cs typeface="Arial"/>
                        </a:rPr>
                        <a:t>Vraag</a:t>
                      </a:r>
                    </a:p>
                  </a:txBody>
                  <a:tcPr marL="91440" marR="91440" marT="45720" marB="45720" anchor="ctr">
                    <a:solidFill>
                      <a:srgbClr val="FFFFFF"/>
                    </a:solidFill>
                  </a:tcPr>
                </a:tc>
                <a:tc>
                  <a:txBody>
                    <a:bodyPr lIns="171450" tIns="95250" rIns="133350" bIns="95250"/>
                    <a:lstStyle/>
                    <a:p>
                      <a:r>
                        <a:rPr sz="2625" b="0">
                          <a:solidFill>
                            <a:srgbClr val="183247"/>
                          </a:solidFill>
                          <a:latin typeface="Arial"/>
                          <a:ea typeface="Arial"/>
                          <a:cs typeface="Arial"/>
                        </a:rPr>
                        <a:t>Qᵥ,₀ = 72 − 3P</a:t>
                      </a:r>
                    </a:p>
                  </a:txBody>
                  <a:tcPr marL="91440" marR="91440" marT="45720" marB="45720" anchor="ctr">
                    <a:solidFill>
                      <a:srgbClr val="FFFFFF"/>
                    </a:solidFill>
                  </a:tcPr>
                </a:tc>
                <a:tc>
                  <a:txBody>
                    <a:bodyPr lIns="171450" tIns="95250" rIns="133350" bIns="95250"/>
                    <a:lstStyle/>
                    <a:p>
                      <a:r>
                        <a:rPr sz="2625" b="0">
                          <a:solidFill>
                            <a:srgbClr val="183247"/>
                          </a:solidFill>
                          <a:latin typeface="Arial"/>
                          <a:ea typeface="Arial"/>
                          <a:cs typeface="Arial"/>
                        </a:rPr>
                        <a:t>0 ≤ P ≤ 24</a:t>
                      </a:r>
                    </a:p>
                  </a:txBody>
                  <a:tcPr marL="91440" marR="91440" marT="45720" marB="45720" anchor="ctr">
                    <a:solidFill>
                      <a:srgbClr val="FFFFFF"/>
                    </a:solidFill>
                  </a:tcPr>
                </a:tc>
              </a:tr>
              <a:tr h="904875">
                <a:tc>
                  <a:txBody>
                    <a:bodyPr lIns="171450" tIns="95250" rIns="133350" bIns="95250"/>
                    <a:lstStyle/>
                    <a:p>
                      <a:r>
                        <a:rPr sz="2625" b="0">
                          <a:solidFill>
                            <a:srgbClr val="183247"/>
                          </a:solidFill>
                          <a:latin typeface="Arial"/>
                          <a:ea typeface="Arial"/>
                          <a:cs typeface="Arial"/>
                        </a:rPr>
                        <a:t>Aanbod</a:t>
                      </a:r>
                    </a:p>
                  </a:txBody>
                  <a:tcPr marL="91440" marR="91440" marT="45720" marB="45720" anchor="ctr">
                    <a:solidFill>
                      <a:srgbClr val="EFF4F7"/>
                    </a:solidFill>
                  </a:tcPr>
                </a:tc>
                <a:tc>
                  <a:txBody>
                    <a:bodyPr lIns="171450" tIns="95250" rIns="133350" bIns="95250"/>
                    <a:lstStyle/>
                    <a:p>
                      <a:r>
                        <a:rPr sz="2625" b="0">
                          <a:solidFill>
                            <a:srgbClr val="183247"/>
                          </a:solidFill>
                          <a:latin typeface="Arial"/>
                          <a:ea typeface="Arial"/>
                          <a:cs typeface="Arial"/>
                        </a:rPr>
                        <a:t>Qₐ = 3P − 12</a:t>
                      </a:r>
                    </a:p>
                  </a:txBody>
                  <a:tcPr marL="91440" marR="91440" marT="45720" marB="45720" anchor="ctr">
                    <a:solidFill>
                      <a:srgbClr val="EFF4F7"/>
                    </a:solidFill>
                  </a:tcPr>
                </a:tc>
                <a:tc>
                  <a:txBody>
                    <a:bodyPr lIns="171450" tIns="95250" rIns="133350" bIns="95250"/>
                    <a:lstStyle/>
                    <a:p>
                      <a:r>
                        <a:rPr sz="2625" b="0">
                          <a:solidFill>
                            <a:srgbClr val="183247"/>
                          </a:solidFill>
                          <a:latin typeface="Arial"/>
                          <a:ea typeface="Arial"/>
                          <a:cs typeface="Arial"/>
                        </a:rPr>
                        <a:t>4 ≤ P ≤ 30</a:t>
                      </a:r>
                    </a:p>
                  </a:txBody>
                  <a:tcPr marL="91440" marR="91440" marT="45720" marB="45720" anchor="ctr">
                    <a:solidFill>
                      <a:srgbClr val="EFF4F7"/>
                    </a:solidFill>
                  </a:tcPr>
                </a:tc>
              </a:tr>
            </a:tbl>
          </a:graphicData>
        </a:graphic>
      </p:graphicFrame>
      <p:sp>
        <p:nvSpPr>
          <p:cNvPr id="8" name="Daarna komen meer kopers. De aanbodfactoren blijven gelijk.">
            <a:extLst xmlns:a="http://schemas.openxmlformats.org/drawingml/2006/main">
              <a:ext uri="{FF2B5EF4-FFF2-40B4-BE49-F238E27FC236}">
                <a16:creationId xmlns:a16="http://schemas.microsoft.com/office/drawing/2014/main" id="{A4CDCFDB-F89F-4E1D-B126-E1B72B37378E}"/>
              </a:ext>
            </a:extLst>
          </p:cNvPr>
          <p:cNvSpPr>
            <a:spLocks xmlns:a="http://schemas.openxmlformats.org/drawingml/2006/main" noGrp="1"/>
          </p:cNvSpPr>
          <p:nvPr/>
        </p:nvSpPr>
        <p:spPr>
          <a:xfrm xmlns:a="http://schemas.openxmlformats.org/drawingml/2006/main">
            <a:off x="571500" y="6696075"/>
            <a:ext cx="1409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Daarna komen meer kopers. De aanbodfactoren blijven gelijk.</a:t>
            </a:r>
          </a:p>
        </p:txBody>
      </p:sp>
    </p:spTree>
    <p:extLst>
      <p:ext uri="{BB962C8B-B14F-4D97-AF65-F5344CB8AC3E}">
        <p14:creationId xmlns:p14="http://schemas.microsoft.com/office/powerpoint/2010/main" val="5222868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Het oorspronkelijke evenwicht">
            <a:extLst xmlns:a="http://schemas.openxmlformats.org/drawingml/2006/main">
              <a:ext uri="{FF2B5EF4-FFF2-40B4-BE49-F238E27FC236}">
                <a16:creationId xmlns:a16="http://schemas.microsoft.com/office/drawing/2014/main" id="{AFBD8EFB-F707-4608-B5BC-8414130C5BDC}"/>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Het oorspronkelijke evenwicht</a:t>
            </a:r>
          </a:p>
        </p:txBody>
      </p:sp>
      <p:sp>
        <p:nvSpPr>
          <p:cNvPr id="2" name="">
            <a:extLst xmlns:a="http://schemas.openxmlformats.org/drawingml/2006/main">
              <a:ext uri="{FF2B5EF4-FFF2-40B4-BE49-F238E27FC236}">
                <a16:creationId xmlns:a16="http://schemas.microsoft.com/office/drawing/2014/main" id="{C3A94CC9-CFAB-47B5-A82F-3F696416E0E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3 Verschuivingen en nieuw evenwicht">
            <a:extLst xmlns:a="http://schemas.openxmlformats.org/drawingml/2006/main">
              <a:ext uri="{FF2B5EF4-FFF2-40B4-BE49-F238E27FC236}">
                <a16:creationId xmlns:a16="http://schemas.microsoft.com/office/drawing/2014/main" id="{3790F75A-3287-4F49-8434-89C441691B12}"/>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§1.3.3 Verschuivingen en nieuw evenwicht</a:t>
            </a:r>
          </a:p>
        </p:txBody>
      </p:sp>
      <p:sp>
        <p:nvSpPr>
          <p:cNvPr id="4" name="4">
            <a:extLst xmlns:a="http://schemas.openxmlformats.org/drawingml/2006/main">
              <a:ext uri="{FF2B5EF4-FFF2-40B4-BE49-F238E27FC236}">
                <a16:creationId xmlns:a16="http://schemas.microsoft.com/office/drawing/2014/main" id="{52212411-FD1D-4C5A-B9D5-7AA1BFC742E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Uitlegvoorbeeld — niet uit het boek">
            <a:extLst xmlns:a="http://schemas.openxmlformats.org/drawingml/2006/main">
              <a:ext uri="{FF2B5EF4-FFF2-40B4-BE49-F238E27FC236}">
                <a16:creationId xmlns:a16="http://schemas.microsoft.com/office/drawing/2014/main" id="{19D234B9-5441-4392-890E-7437BAEA195E}"/>
              </a:ext>
            </a:extLst>
          </p:cNvPr>
          <p:cNvSpPr>
            <a:spLocks xmlns:a="http://schemas.openxmlformats.org/drawingml/2006/main" noGrp="1"/>
          </p:cNvSpPr>
          <p:nvPr/>
        </p:nvSpPr>
        <p:spPr>
          <a:xfrm xmlns:a="http://schemas.openxmlformats.org/drawingml/2006/main">
            <a:off x="571500" y="1695450"/>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6" name="72 − 3P = 3P − 12">
            <a:extLst xmlns:a="http://schemas.openxmlformats.org/drawingml/2006/main">
              <a:ext uri="{FF2B5EF4-FFF2-40B4-BE49-F238E27FC236}">
                <a16:creationId xmlns:a16="http://schemas.microsoft.com/office/drawing/2014/main" id="{AB6A451F-CD87-45E8-BA28-183D449CEE95}"/>
              </a:ext>
            </a:extLst>
          </p:cNvPr>
          <p:cNvSpPr>
            <a:spLocks xmlns:a="http://schemas.openxmlformats.org/drawingml/2006/main" noGrp="1"/>
          </p:cNvSpPr>
          <p:nvPr/>
        </p:nvSpPr>
        <p:spPr>
          <a:xfrm xmlns:a="http://schemas.openxmlformats.org/drawingml/2006/main">
            <a:off x="571500" y="251460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72 − 3P = 3P − 12</a:t>
            </a:r>
          </a:p>
        </p:txBody>
      </p:sp>
      <p:sp>
        <p:nvSpPr>
          <p:cNvPr id="7" name="84 = 6P">
            <a:extLst xmlns:a="http://schemas.openxmlformats.org/drawingml/2006/main">
              <a:ext uri="{FF2B5EF4-FFF2-40B4-BE49-F238E27FC236}">
                <a16:creationId xmlns:a16="http://schemas.microsoft.com/office/drawing/2014/main" id="{DE8430A8-0455-4EF9-95AA-1E6EBB403459}"/>
              </a:ext>
            </a:extLst>
          </p:cNvPr>
          <p:cNvSpPr>
            <a:spLocks xmlns:a="http://schemas.openxmlformats.org/drawingml/2006/main" noGrp="1"/>
          </p:cNvSpPr>
          <p:nvPr/>
        </p:nvSpPr>
        <p:spPr>
          <a:xfrm xmlns:a="http://schemas.openxmlformats.org/drawingml/2006/main">
            <a:off x="571500" y="3495675"/>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84 = 6P</a:t>
            </a:r>
          </a:p>
        </p:txBody>
      </p:sp>
      <p:sp>
        <p:nvSpPr>
          <p:cNvPr id="8" name="P₀ = € 14 per sleutelhanger">
            <a:extLst xmlns:a="http://schemas.openxmlformats.org/drawingml/2006/main">
              <a:ext uri="{FF2B5EF4-FFF2-40B4-BE49-F238E27FC236}">
                <a16:creationId xmlns:a16="http://schemas.microsoft.com/office/drawing/2014/main" id="{952F3863-5CDA-4748-9472-DB81E9EE3E8A}"/>
              </a:ext>
            </a:extLst>
          </p:cNvPr>
          <p:cNvSpPr>
            <a:spLocks xmlns:a="http://schemas.openxmlformats.org/drawingml/2006/main" noGrp="1"/>
          </p:cNvSpPr>
          <p:nvPr/>
        </p:nvSpPr>
        <p:spPr>
          <a:xfrm xmlns:a="http://schemas.openxmlformats.org/drawingml/2006/main">
            <a:off x="571500" y="447675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A5276"/>
                </a:solidFill>
                <a:latin typeface="Arial"/>
                <a:ea typeface="Arial"/>
                <a:cs typeface="Arial"/>
              </a:defRPr>
            </a:pPr>
            <a:r>
              <a:rPr sz="3150" b="1">
                <a:solidFill>
                  <a:srgbClr val="1A5276"/>
                </a:solidFill>
                <a:latin typeface="Arial"/>
                <a:ea typeface="Arial"/>
                <a:cs typeface="Arial"/>
              </a:rPr>
              <a:t>P₀ = € 14 per sleutelhanger</a:t>
            </a:r>
          </a:p>
        </p:txBody>
      </p:sp>
      <p:sp>
        <p:nvSpPr>
          <p:cNvPr id="9" name="">
            <a:extLst xmlns:a="http://schemas.openxmlformats.org/drawingml/2006/main">
              <a:ext uri="{FF2B5EF4-FFF2-40B4-BE49-F238E27FC236}">
                <a16:creationId xmlns:a16="http://schemas.microsoft.com/office/drawing/2014/main" id="{394CEB02-AC49-4809-B29F-BD19C482AC17}"/>
              </a:ext>
            </a:extLst>
          </p:cNvPr>
          <p:cNvSpPr>
            <a:spLocks xmlns:a="http://schemas.openxmlformats.org/drawingml/2006/main" noGrp="1"/>
          </p:cNvSpPr>
          <p:nvPr/>
        </p:nvSpPr>
        <p:spPr>
          <a:xfrm xmlns:a="http://schemas.openxmlformats.org/drawingml/2006/main">
            <a:off x="571500" y="5514975"/>
            <a:ext cx="14097000" cy="0"/>
          </a:xfrm>
          <a:prstGeom xmlns:a="http://schemas.openxmlformats.org/drawingml/2006/main" prst="line">
            <a:avLst/>
          </a:prstGeom>
          <a:ln xmlns:a="http://schemas.openxmlformats.org/drawingml/2006/main" w="19050">
            <a:solidFill>
              <a:srgbClr val="C6D2DB"/>
            </a:solidFill>
          </a:ln>
        </p:spPr>
      </p:sp>
      <p:sp>
        <p:nvSpPr>
          <p:cNvPr id="10" name="Qᵥ,₀ = 72 − 3 × 14 = 30&#10;Controle: Qₐ = 3 × 14 − 12 = 30 per ">
            <a:extLst xmlns:a="http://schemas.openxmlformats.org/drawingml/2006/main">
              <a:ext uri="{FF2B5EF4-FFF2-40B4-BE49-F238E27FC236}">
                <a16:creationId xmlns:a16="http://schemas.microsoft.com/office/drawing/2014/main" id="{332D4480-B422-40E4-9357-CE45AC6C7037}"/>
              </a:ext>
            </a:extLst>
          </p:cNvPr>
          <p:cNvSpPr>
            <a:spLocks xmlns:a="http://schemas.openxmlformats.org/drawingml/2006/main" noGrp="1"/>
          </p:cNvSpPr>
          <p:nvPr/>
        </p:nvSpPr>
        <p:spPr>
          <a:xfrm xmlns:a="http://schemas.openxmlformats.org/drawingml/2006/main">
            <a:off x="571500" y="5943600"/>
            <a:ext cx="140970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Qᵥ,₀ = 72 − 3 × 14 = 30</a:t>
            </a:r>
          </a:p>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Controle: Qₐ = 3 × 14 − 12 = 30 per week</a:t>
            </a:r>
          </a:p>
        </p:txBody>
      </p:sp>
      <p:sp>
        <p:nvSpPr>
          <p:cNvPr id="11" name="E₀ = (30; 14)">
            <a:extLst xmlns:a="http://schemas.openxmlformats.org/drawingml/2006/main">
              <a:ext uri="{FF2B5EF4-FFF2-40B4-BE49-F238E27FC236}">
                <a16:creationId xmlns:a16="http://schemas.microsoft.com/office/drawing/2014/main" id="{E8FED8A1-81E4-49E5-BEF3-6180693F29FC}"/>
              </a:ext>
            </a:extLst>
          </p:cNvPr>
          <p:cNvSpPr>
            <a:spLocks xmlns:a="http://schemas.openxmlformats.org/drawingml/2006/main" noGrp="1"/>
          </p:cNvSpPr>
          <p:nvPr/>
        </p:nvSpPr>
        <p:spPr>
          <a:xfrm xmlns:a="http://schemas.openxmlformats.org/drawingml/2006/main">
            <a:off x="571500" y="7496175"/>
            <a:ext cx="14097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E₀ = (30; 14)</a:t>
            </a:r>
          </a:p>
        </p:txBody>
      </p:sp>
    </p:spTree>
    <p:extLst>
      <p:ext uri="{BB962C8B-B14F-4D97-AF65-F5344CB8AC3E}">
        <p14:creationId xmlns:p14="http://schemas.microsoft.com/office/powerpoint/2010/main" val="58408276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e beginmarkt tekenen">
            <a:extLst xmlns:a="http://schemas.openxmlformats.org/drawingml/2006/main">
              <a:ext uri="{FF2B5EF4-FFF2-40B4-BE49-F238E27FC236}">
                <a16:creationId xmlns:a16="http://schemas.microsoft.com/office/drawing/2014/main" id="{03114CF9-D6BE-4CA0-8BA6-E5F93121C4BA}"/>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beginmarkt tekenen</a:t>
            </a:r>
          </a:p>
        </p:txBody>
      </p:sp>
      <p:sp>
        <p:nvSpPr>
          <p:cNvPr id="2" name="">
            <a:extLst xmlns:a="http://schemas.openxmlformats.org/drawingml/2006/main">
              <a:ext uri="{FF2B5EF4-FFF2-40B4-BE49-F238E27FC236}">
                <a16:creationId xmlns:a16="http://schemas.microsoft.com/office/drawing/2014/main" id="{BCE1A234-D61A-423B-8D44-1E37139E0AD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3 Verschuivingen en nieuw evenwicht">
            <a:extLst xmlns:a="http://schemas.openxmlformats.org/drawingml/2006/main">
              <a:ext uri="{FF2B5EF4-FFF2-40B4-BE49-F238E27FC236}">
                <a16:creationId xmlns:a16="http://schemas.microsoft.com/office/drawing/2014/main" id="{19E33AA6-7E77-42A6-BFA9-1123CA8F02A3}"/>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§1.3.3 Verschuivingen en nieuw evenwicht</a:t>
            </a:r>
          </a:p>
        </p:txBody>
      </p:sp>
      <p:sp>
        <p:nvSpPr>
          <p:cNvPr id="4" name="5">
            <a:extLst xmlns:a="http://schemas.openxmlformats.org/drawingml/2006/main">
              <a:ext uri="{FF2B5EF4-FFF2-40B4-BE49-F238E27FC236}">
                <a16:creationId xmlns:a16="http://schemas.microsoft.com/office/drawing/2014/main" id="{C39CD8B7-75F0-4515-BD16-DBACD200A08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Uitlegvoorbeeld — niet uit het boek">
            <a:extLst xmlns:a="http://schemas.openxmlformats.org/drawingml/2006/main">
              <a:ext uri="{FF2B5EF4-FFF2-40B4-BE49-F238E27FC236}">
                <a16:creationId xmlns:a16="http://schemas.microsoft.com/office/drawing/2014/main" id="{F9431B5E-417E-415E-8369-B061018B6A4F}"/>
              </a:ext>
            </a:extLst>
          </p:cNvPr>
          <p:cNvSpPr>
            <a:spLocks xmlns:a="http://schemas.openxmlformats.org/drawingml/2006/main" noGrp="1"/>
          </p:cNvSpPr>
          <p:nvPr/>
        </p:nvSpPr>
        <p:spPr>
          <a:xfrm xmlns:a="http://schemas.openxmlformats.org/drawingml/2006/main">
            <a:off x="571500" y="1695450"/>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graphicFrame>
        <p:nvGraphicFramePr>
          <p:cNvPr id="15" name="Chart"/>
          <p:cNvGraphicFramePr/>
          <p:nvPr/>
        </p:nvGraphicFramePr>
        <p:xfrm>
          <a:off xmlns:a="http://schemas.openxmlformats.org/drawingml/2006/main" x="571500" y="2305050"/>
          <a:ext xmlns:a="http://schemas.openxmlformats.org/drawingml/2006/main" cx="9477375" cy="5553075"/>
        </p:xfrm>
        <a:graphic xmlns:a="http://schemas.openxmlformats.org/drawingml/2006/main">
          <a:graphicData uri="http://schemas.openxmlformats.org/drawingml/2006/chart">
            <c:chart xmlns:r="http://schemas.openxmlformats.org/officeDocument/2006/relationships" xmlns:c="http://schemas.openxmlformats.org/drawingml/2006/chart" r:id="Rbac1653cf02f45c8"/>
          </a:graphicData>
        </a:graphic>
      </p:graphicFrame>
      <p:sp>
        <p:nvSpPr>
          <p:cNvPr id="7" name="Twee punten per lijn">
            <a:extLst xmlns:a="http://schemas.openxmlformats.org/drawingml/2006/main">
              <a:ext uri="{FF2B5EF4-FFF2-40B4-BE49-F238E27FC236}">
                <a16:creationId xmlns:a16="http://schemas.microsoft.com/office/drawing/2014/main" id="{179979E6-FD5A-4786-B583-608F2A7A5F19}"/>
              </a:ext>
            </a:extLst>
          </p:cNvPr>
          <p:cNvSpPr>
            <a:spLocks xmlns:a="http://schemas.openxmlformats.org/drawingml/2006/main" noGrp="1"/>
          </p:cNvSpPr>
          <p:nvPr/>
        </p:nvSpPr>
        <p:spPr>
          <a:xfrm xmlns:a="http://schemas.openxmlformats.org/drawingml/2006/main">
            <a:off x="10572750" y="2628900"/>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Twee punten per lijn</a:t>
            </a:r>
          </a:p>
        </p:txBody>
      </p:sp>
      <p:sp>
        <p:nvSpPr>
          <p:cNvPr id="8" name="V₀: (0; 24)&#10;en (72; 0)&#10;&#10;A: (0; 4)&#10;en (78; 30)">
            <a:extLst xmlns:a="http://schemas.openxmlformats.org/drawingml/2006/main">
              <a:ext uri="{FF2B5EF4-FFF2-40B4-BE49-F238E27FC236}">
                <a16:creationId xmlns:a16="http://schemas.microsoft.com/office/drawing/2014/main" id="{4B99E05A-B20A-4762-A0D6-D79577FBDBB2}"/>
              </a:ext>
            </a:extLst>
          </p:cNvPr>
          <p:cNvSpPr>
            <a:spLocks xmlns:a="http://schemas.openxmlformats.org/drawingml/2006/main" noGrp="1"/>
          </p:cNvSpPr>
          <p:nvPr/>
        </p:nvSpPr>
        <p:spPr>
          <a:xfrm xmlns:a="http://schemas.openxmlformats.org/drawingml/2006/main">
            <a:off x="10572750" y="3590925"/>
            <a:ext cx="40005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V₀: (0; 24)</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en (72; 0)</a:t>
            </a:r>
          </a:p>
          <a:p xmlns:a="http://schemas.openxmlformats.org/drawingml/2006/main">
            <a:r>
              <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A: (0; 4)</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en (78; 30)</a:t>
            </a:r>
          </a:p>
        </p:txBody>
      </p:sp>
      <p:sp>
        <p:nvSpPr>
          <p:cNvPr id="9" name="E₀ = (30; 14)">
            <a:extLst xmlns:a="http://schemas.openxmlformats.org/drawingml/2006/main">
              <a:ext uri="{FF2B5EF4-FFF2-40B4-BE49-F238E27FC236}">
                <a16:creationId xmlns:a16="http://schemas.microsoft.com/office/drawing/2014/main" id="{EEFAE1CA-A08B-4A15-8A7C-465F33DDF478}"/>
              </a:ext>
            </a:extLst>
          </p:cNvPr>
          <p:cNvSpPr>
            <a:spLocks xmlns:a="http://schemas.openxmlformats.org/drawingml/2006/main" noGrp="1"/>
          </p:cNvSpPr>
          <p:nvPr/>
        </p:nvSpPr>
        <p:spPr>
          <a:xfrm xmlns:a="http://schemas.openxmlformats.org/drawingml/2006/main">
            <a:off x="10572750" y="7058025"/>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E₀ = (30; 14)</a:t>
            </a:r>
          </a:p>
        </p:txBody>
      </p:sp>
    </p:spTree>
    <p:extLst>
      <p:ext uri="{BB962C8B-B14F-4D97-AF65-F5344CB8AC3E}">
        <p14:creationId xmlns:p14="http://schemas.microsoft.com/office/powerpoint/2010/main" val="134993737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Meer kopers bij de oude prijs">
            <a:extLst xmlns:a="http://schemas.openxmlformats.org/drawingml/2006/main">
              <a:ext uri="{FF2B5EF4-FFF2-40B4-BE49-F238E27FC236}">
                <a16:creationId xmlns:a16="http://schemas.microsoft.com/office/drawing/2014/main" id="{1478407E-28C7-482F-A51E-3CF234BCB73F}"/>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Meer kopers bij de oude prijs</a:t>
            </a:r>
          </a:p>
        </p:txBody>
      </p:sp>
      <p:sp>
        <p:nvSpPr>
          <p:cNvPr id="2" name="">
            <a:extLst xmlns:a="http://schemas.openxmlformats.org/drawingml/2006/main">
              <a:ext uri="{FF2B5EF4-FFF2-40B4-BE49-F238E27FC236}">
                <a16:creationId xmlns:a16="http://schemas.microsoft.com/office/drawing/2014/main" id="{CD24F15A-37DA-49F4-969B-36E8E3DB4D3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3 Verschuivingen en nieuw evenwicht">
            <a:extLst xmlns:a="http://schemas.openxmlformats.org/drawingml/2006/main">
              <a:ext uri="{FF2B5EF4-FFF2-40B4-BE49-F238E27FC236}">
                <a16:creationId xmlns:a16="http://schemas.microsoft.com/office/drawing/2014/main" id="{37B5A4BE-34AA-479A-86FC-777342E8CB08}"/>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§1.3.3 Verschuivingen en nieuw evenwicht</a:t>
            </a:r>
          </a:p>
        </p:txBody>
      </p:sp>
      <p:sp>
        <p:nvSpPr>
          <p:cNvPr id="4" name="6">
            <a:extLst xmlns:a="http://schemas.openxmlformats.org/drawingml/2006/main">
              <a:ext uri="{FF2B5EF4-FFF2-40B4-BE49-F238E27FC236}">
                <a16:creationId xmlns:a16="http://schemas.microsoft.com/office/drawing/2014/main" id="{C8C90C6D-7B06-4156-B80A-D908E67CCEA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Uitlegvoorbeeld — niet uit het boek">
            <a:extLst xmlns:a="http://schemas.openxmlformats.org/drawingml/2006/main">
              <a:ext uri="{FF2B5EF4-FFF2-40B4-BE49-F238E27FC236}">
                <a16:creationId xmlns:a16="http://schemas.microsoft.com/office/drawing/2014/main" id="{3DA506B6-A01D-4D7B-B2A2-ACCFF0F8B89D}"/>
              </a:ext>
            </a:extLst>
          </p:cNvPr>
          <p:cNvSpPr>
            <a:spLocks xmlns:a="http://schemas.openxmlformats.org/drawingml/2006/main" noGrp="1"/>
          </p:cNvSpPr>
          <p:nvPr/>
        </p:nvSpPr>
        <p:spPr>
          <a:xfrm xmlns:a="http://schemas.openxmlformats.org/drawingml/2006/main">
            <a:off x="571500" y="1695450"/>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6" name="Nieuwe vraag: Qᵥ,₁ = 90 − 3P   (0 ≤ P ≤ 30)">
            <a:extLst xmlns:a="http://schemas.openxmlformats.org/drawingml/2006/main">
              <a:ext uri="{FF2B5EF4-FFF2-40B4-BE49-F238E27FC236}">
                <a16:creationId xmlns:a16="http://schemas.microsoft.com/office/drawing/2014/main" id="{0B247964-A741-48E6-B54A-70BF0ADBBA86}"/>
              </a:ext>
            </a:extLst>
          </p:cNvPr>
          <p:cNvSpPr>
            <a:spLocks xmlns:a="http://schemas.openxmlformats.org/drawingml/2006/main" noGrp="1"/>
          </p:cNvSpPr>
          <p:nvPr/>
        </p:nvSpPr>
        <p:spPr>
          <a:xfrm xmlns:a="http://schemas.openxmlformats.org/drawingml/2006/main">
            <a:off x="571500" y="24574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704798"/>
                </a:solidFill>
                <a:latin typeface="Arial"/>
                <a:ea typeface="Arial"/>
                <a:cs typeface="Arial"/>
              </a:defRPr>
            </a:pPr>
            <a:r>
              <a:rPr sz="3150" b="1">
                <a:solidFill>
                  <a:srgbClr val="704798"/>
                </a:solidFill>
                <a:latin typeface="Arial"/>
                <a:ea typeface="Arial"/>
                <a:cs typeface="Arial"/>
              </a:rPr>
              <a:t>Nieuwe vraag: Qᵥ,₁ = 90 − 3P   (0 ≤ P ≤ 30)</a:t>
            </a:r>
          </a:p>
        </p:txBody>
      </p:sp>
      <p:graphicFrame>
        <p:nvGraphicFramePr>
          <p:cNvPr id="16" name=""/>
          <p:cNvGraphicFramePr/>
          <p:nvPr/>
        </p:nvGraphicFramePr>
        <p:xfrm>
          <a:off xmlns:a="http://schemas.openxmlformats.org/drawingml/2006/main" x="571500" y="3600450"/>
          <a:ext xmlns:a="http://schemas.openxmlformats.org/drawingml/2006/main" cx="14097000" cy="2676525"/>
        </p:xfrm>
        <a:graphic xmlns:a="http://schemas.openxmlformats.org/drawingml/2006/main">
          <a:graphicData uri="http://schemas.openxmlformats.org/drawingml/2006/table">
            <a:tbl>
              <a:tblPr/>
              <a:tblGrid>
                <a:gridCol w="5143500"/>
                <a:gridCol w="4191000"/>
                <a:gridCol w="4762500"/>
              </a:tblGrid>
              <a:tr h="892175">
                <a:tc>
                  <a:txBody>
                    <a:bodyPr lIns="171450" tIns="95250" rIns="133350" bIns="95250"/>
                    <a:lstStyle/>
                    <a:p>
                      <a:r>
                        <a:rPr sz="2550" b="1">
                          <a:solidFill>
                            <a:srgbClr val="FFFFFF"/>
                          </a:solidFill>
                          <a:latin typeface="Arial"/>
                          <a:ea typeface="Arial"/>
                          <a:cs typeface="Arial"/>
                        </a:rPr>
                        <a:t>Bij P₀ = € 14</a:t>
                      </a:r>
                    </a:p>
                  </a:txBody>
                  <a:tcPr marL="91440" marR="91440" marT="45720" marB="45720" anchor="ctr">
                    <a:solidFill>
                      <a:srgbClr val="183247"/>
                    </a:solidFill>
                  </a:tcPr>
                </a:tc>
                <a:tc>
                  <a:txBody>
                    <a:bodyPr lIns="171450" tIns="95250" rIns="133350" bIns="95250"/>
                    <a:lstStyle/>
                    <a:p>
                      <a:r>
                        <a:rPr sz="255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33350" bIns="95250"/>
                    <a:lstStyle/>
                    <a:p>
                      <a:r>
                        <a:rPr sz="2550" b="1">
                          <a:solidFill>
                            <a:srgbClr val="FFFFFF"/>
                          </a:solidFill>
                          <a:latin typeface="Arial"/>
                          <a:ea typeface="Arial"/>
                          <a:cs typeface="Arial"/>
                        </a:rPr>
                        <a:t>Sleutelhangers per week</a:t>
                      </a:r>
                    </a:p>
                  </a:txBody>
                  <a:tcPr marL="91440" marR="91440" marT="45720" marB="45720" anchor="ctr">
                    <a:solidFill>
                      <a:srgbClr val="183247"/>
                    </a:solidFill>
                  </a:tcPr>
                </a:tc>
              </a:tr>
              <a:tr h="892175">
                <a:tc>
                  <a:txBody>
                    <a:bodyPr lIns="171450" tIns="95250" rIns="133350" bIns="95250"/>
                    <a:lstStyle/>
                    <a:p>
                      <a:r>
                        <a:rPr sz="2550" b="0">
                          <a:solidFill>
                            <a:srgbClr val="183247"/>
                          </a:solidFill>
                          <a:latin typeface="Arial"/>
                          <a:ea typeface="Arial"/>
                          <a:cs typeface="Arial"/>
                        </a:rPr>
                        <a:t>Nieuwe vraag</a:t>
                      </a:r>
                    </a:p>
                  </a:txBody>
                  <a:tcPr marL="91440" marR="91440" marT="45720" marB="45720" anchor="ctr">
                    <a:solidFill>
                      <a:srgbClr val="FFFFFF"/>
                    </a:solidFill>
                  </a:tcPr>
                </a:tc>
                <a:tc>
                  <a:txBody>
                    <a:bodyPr lIns="171450" tIns="95250" rIns="133350" bIns="95250"/>
                    <a:lstStyle/>
                    <a:p>
                      <a:r>
                        <a:rPr sz="2550" b="0">
                          <a:solidFill>
                            <a:srgbClr val="183247"/>
                          </a:solidFill>
                          <a:latin typeface="Arial"/>
                          <a:ea typeface="Arial"/>
                          <a:cs typeface="Arial"/>
                        </a:rPr>
                        <a:t>90 − 3 × 14</a:t>
                      </a:r>
                    </a:p>
                  </a:txBody>
                  <a:tcPr marL="91440" marR="91440" marT="45720" marB="45720" anchor="ctr">
                    <a:solidFill>
                      <a:srgbClr val="FFFFFF"/>
                    </a:solidFill>
                  </a:tcPr>
                </a:tc>
                <a:tc>
                  <a:txBody>
                    <a:bodyPr lIns="171450" tIns="95250" rIns="133350" bIns="95250"/>
                    <a:lstStyle/>
                    <a:p>
                      <a:r>
                        <a:rPr sz="2550" b="0">
                          <a:solidFill>
                            <a:srgbClr val="183247"/>
                          </a:solidFill>
                          <a:latin typeface="Arial"/>
                          <a:ea typeface="Arial"/>
                          <a:cs typeface="Arial"/>
                        </a:rPr>
                        <a:t>48</a:t>
                      </a:r>
                    </a:p>
                  </a:txBody>
                  <a:tcPr marL="91440" marR="91440" marT="45720" marB="45720" anchor="ctr">
                    <a:solidFill>
                      <a:srgbClr val="FFFFFF"/>
                    </a:solidFill>
                  </a:tcPr>
                </a:tc>
              </a:tr>
              <a:tr h="892175">
                <a:tc>
                  <a:txBody>
                    <a:bodyPr lIns="171450" tIns="95250" rIns="133350" bIns="95250"/>
                    <a:lstStyle/>
                    <a:p>
                      <a:r>
                        <a:rPr sz="2550" b="0">
                          <a:solidFill>
                            <a:srgbClr val="183247"/>
                          </a:solidFill>
                          <a:latin typeface="Arial"/>
                          <a:ea typeface="Arial"/>
                          <a:cs typeface="Arial"/>
                        </a:rPr>
                        <a:t>Ongewijzigd aanbod</a:t>
                      </a:r>
                    </a:p>
                  </a:txBody>
                  <a:tcPr marL="91440" marR="91440" marT="45720" marB="45720" anchor="ctr">
                    <a:solidFill>
                      <a:srgbClr val="EFF4F7"/>
                    </a:solidFill>
                  </a:tcPr>
                </a:tc>
                <a:tc>
                  <a:txBody>
                    <a:bodyPr lIns="171450" tIns="95250" rIns="133350" bIns="95250"/>
                    <a:lstStyle/>
                    <a:p>
                      <a:r>
                        <a:rPr sz="2550" b="0">
                          <a:solidFill>
                            <a:srgbClr val="183247"/>
                          </a:solidFill>
                          <a:latin typeface="Arial"/>
                          <a:ea typeface="Arial"/>
                          <a:cs typeface="Arial"/>
                        </a:rPr>
                        <a:t>3 × 14 − 12</a:t>
                      </a:r>
                    </a:p>
                  </a:txBody>
                  <a:tcPr marL="91440" marR="91440" marT="45720" marB="45720" anchor="ctr">
                    <a:solidFill>
                      <a:srgbClr val="EFF4F7"/>
                    </a:solidFill>
                  </a:tcPr>
                </a:tc>
                <a:tc>
                  <a:txBody>
                    <a:bodyPr lIns="171450" tIns="95250" rIns="133350" bIns="95250"/>
                    <a:lstStyle/>
                    <a:p>
                      <a:r>
                        <a:rPr sz="2550" b="0">
                          <a:solidFill>
                            <a:srgbClr val="183247"/>
                          </a:solidFill>
                          <a:latin typeface="Arial"/>
                          <a:ea typeface="Arial"/>
                          <a:cs typeface="Arial"/>
                        </a:rPr>
                        <a:t>30</a:t>
                      </a:r>
                    </a:p>
                  </a:txBody>
                  <a:tcPr marL="91440" marR="91440" marT="45720" marB="45720" anchor="ctr">
                    <a:solidFill>
                      <a:srgbClr val="EFF4F7"/>
                    </a:solidFill>
                  </a:tcPr>
                </a:tc>
              </a:tr>
            </a:tbl>
          </a:graphicData>
        </a:graphic>
      </p:graphicFrame>
      <p:sp>
        <p:nvSpPr>
          <p:cNvPr id="8" name="Vraagoverschot: 48 − 30 = 18 per week">
            <a:extLst xmlns:a="http://schemas.openxmlformats.org/drawingml/2006/main">
              <a:ext uri="{FF2B5EF4-FFF2-40B4-BE49-F238E27FC236}">
                <a16:creationId xmlns:a16="http://schemas.microsoft.com/office/drawing/2014/main" id="{D4E5DB90-6FF7-40C2-B544-120E05CC7CE9}"/>
              </a:ext>
            </a:extLst>
          </p:cNvPr>
          <p:cNvSpPr>
            <a:spLocks xmlns:a="http://schemas.openxmlformats.org/drawingml/2006/main" noGrp="1"/>
          </p:cNvSpPr>
          <p:nvPr/>
        </p:nvSpPr>
        <p:spPr>
          <a:xfrm xmlns:a="http://schemas.openxmlformats.org/drawingml/2006/main">
            <a:off x="571500" y="674370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Vraagoverschot: 48 − 30 = 18 per week</a:t>
            </a:r>
          </a:p>
        </p:txBody>
      </p:sp>
      <p:sp>
        <p:nvSpPr>
          <p:cNvPr id="9" name="Kopers concurreren om het aanbod: opwaartse prijsdruk.">
            <a:extLst xmlns:a="http://schemas.openxmlformats.org/drawingml/2006/main">
              <a:ext uri="{FF2B5EF4-FFF2-40B4-BE49-F238E27FC236}">
                <a16:creationId xmlns:a16="http://schemas.microsoft.com/office/drawing/2014/main" id="{A3CD9675-ED34-4368-AF4F-4EEB08EDAAA5}"/>
              </a:ext>
            </a:extLst>
          </p:cNvPr>
          <p:cNvSpPr>
            <a:spLocks xmlns:a="http://schemas.openxmlformats.org/drawingml/2006/main" noGrp="1"/>
          </p:cNvSpPr>
          <p:nvPr/>
        </p:nvSpPr>
        <p:spPr>
          <a:xfrm xmlns:a="http://schemas.openxmlformats.org/drawingml/2006/main">
            <a:off x="571500" y="7515225"/>
            <a:ext cx="1409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A5276"/>
                </a:solidFill>
                <a:latin typeface="Arial"/>
                <a:ea typeface="Arial"/>
                <a:cs typeface="Arial"/>
              </a:defRPr>
            </a:pPr>
            <a:r>
              <a:rPr sz="2550" b="0">
                <a:solidFill>
                  <a:srgbClr val="1A5276"/>
                </a:solidFill>
                <a:latin typeface="Arial"/>
                <a:ea typeface="Arial"/>
                <a:cs typeface="Arial"/>
              </a:rPr>
              <a:t>Kopers concurreren om het aanbod: opwaartse prijsdruk.</a:t>
            </a:r>
          </a:p>
        </p:txBody>
      </p:sp>
    </p:spTree>
    <p:extLst>
      <p:ext uri="{BB962C8B-B14F-4D97-AF65-F5344CB8AC3E}">
        <p14:creationId xmlns:p14="http://schemas.microsoft.com/office/powerpoint/2010/main" val="148303675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e verschuiving bij dezelfde prijs">
            <a:extLst xmlns:a="http://schemas.openxmlformats.org/drawingml/2006/main">
              <a:ext uri="{FF2B5EF4-FFF2-40B4-BE49-F238E27FC236}">
                <a16:creationId xmlns:a16="http://schemas.microsoft.com/office/drawing/2014/main" id="{97672B58-A051-4B0D-A954-3219ADE4B7D7}"/>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verschuiving bij dezelfde prijs</a:t>
            </a:r>
          </a:p>
        </p:txBody>
      </p:sp>
      <p:sp>
        <p:nvSpPr>
          <p:cNvPr id="2" name="">
            <a:extLst xmlns:a="http://schemas.openxmlformats.org/drawingml/2006/main">
              <a:ext uri="{FF2B5EF4-FFF2-40B4-BE49-F238E27FC236}">
                <a16:creationId xmlns:a16="http://schemas.microsoft.com/office/drawing/2014/main" id="{0A8D6450-4F30-4FB6-AA6D-CECF31D8B24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3 Verschuivingen en nieuw evenwicht">
            <a:extLst xmlns:a="http://schemas.openxmlformats.org/drawingml/2006/main">
              <a:ext uri="{FF2B5EF4-FFF2-40B4-BE49-F238E27FC236}">
                <a16:creationId xmlns:a16="http://schemas.microsoft.com/office/drawing/2014/main" id="{9C46A951-1F41-4CCD-9FF4-9F20070669E9}"/>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§1.3.3 Verschuivingen en nieuw evenwicht</a:t>
            </a:r>
          </a:p>
        </p:txBody>
      </p:sp>
      <p:sp>
        <p:nvSpPr>
          <p:cNvPr id="4" name="7">
            <a:extLst xmlns:a="http://schemas.openxmlformats.org/drawingml/2006/main">
              <a:ext uri="{FF2B5EF4-FFF2-40B4-BE49-F238E27FC236}">
                <a16:creationId xmlns:a16="http://schemas.microsoft.com/office/drawing/2014/main" id="{0CC7EDBE-543B-486C-8460-05B4845D834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Uitlegvoorbeeld — niet uit het boek">
            <a:extLst xmlns:a="http://schemas.openxmlformats.org/drawingml/2006/main">
              <a:ext uri="{FF2B5EF4-FFF2-40B4-BE49-F238E27FC236}">
                <a16:creationId xmlns:a16="http://schemas.microsoft.com/office/drawing/2014/main" id="{C0C88EAB-29CE-4547-8983-DF79D93C91C6}"/>
              </a:ext>
            </a:extLst>
          </p:cNvPr>
          <p:cNvSpPr>
            <a:spLocks xmlns:a="http://schemas.openxmlformats.org/drawingml/2006/main" noGrp="1"/>
          </p:cNvSpPr>
          <p:nvPr/>
        </p:nvSpPr>
        <p:spPr>
          <a:xfrm xmlns:a="http://schemas.openxmlformats.org/drawingml/2006/main">
            <a:off x="571500" y="1695450"/>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graphicFrame>
        <p:nvGraphicFramePr>
          <p:cNvPr id="15" name="Chart"/>
          <p:cNvGraphicFramePr/>
          <p:nvPr/>
        </p:nvGraphicFramePr>
        <p:xfrm>
          <a:off xmlns:a="http://schemas.openxmlformats.org/drawingml/2006/main" x="571500" y="2305050"/>
          <a:ext xmlns:a="http://schemas.openxmlformats.org/drawingml/2006/main" cx="9477375" cy="5553075"/>
        </p:xfrm>
        <a:graphic xmlns:a="http://schemas.openxmlformats.org/drawingml/2006/main">
          <a:graphicData uri="http://schemas.openxmlformats.org/drawingml/2006/chart">
            <c:chart xmlns:r="http://schemas.openxmlformats.org/officeDocument/2006/relationships" xmlns:c="http://schemas.openxmlformats.org/drawingml/2006/chart" r:id="Rdb2dde5d09664bce"/>
          </a:graphicData>
        </a:graphic>
      </p:graphicFrame>
      <p:sp>
        <p:nvSpPr>
          <p:cNvPr id="7" name="V₁ door&#10;(0; 30) en (90; 0)">
            <a:extLst xmlns:a="http://schemas.openxmlformats.org/drawingml/2006/main">
              <a:ext uri="{FF2B5EF4-FFF2-40B4-BE49-F238E27FC236}">
                <a16:creationId xmlns:a16="http://schemas.microsoft.com/office/drawing/2014/main" id="{623D259C-9721-4B5F-87AB-51801F25B8CC}"/>
              </a:ext>
            </a:extLst>
          </p:cNvPr>
          <p:cNvSpPr>
            <a:spLocks xmlns:a="http://schemas.openxmlformats.org/drawingml/2006/main" noGrp="1"/>
          </p:cNvSpPr>
          <p:nvPr/>
        </p:nvSpPr>
        <p:spPr>
          <a:xfrm xmlns:a="http://schemas.openxmlformats.org/drawingml/2006/main">
            <a:off x="10572750" y="2524125"/>
            <a:ext cx="4000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704798"/>
                </a:solidFill>
                <a:latin typeface="Arial"/>
                <a:ea typeface="Arial"/>
                <a:cs typeface="Arial"/>
              </a:defRPr>
            </a:pPr>
            <a:r>
              <a:rPr sz="2700" b="1">
                <a:solidFill>
                  <a:srgbClr val="704798"/>
                </a:solidFill>
                <a:latin typeface="Arial"/>
                <a:ea typeface="Arial"/>
                <a:cs typeface="Arial"/>
              </a:rPr>
              <a:t>V₁ door</a:t>
            </a:r>
          </a:p>
          <a:p xmlns:a="http://schemas.openxmlformats.org/drawingml/2006/main">
            <a:pPr algn="l">
              <a:defRPr sz="2700" b="1">
                <a:solidFill>
                  <a:srgbClr val="704798"/>
                </a:solidFill>
                <a:latin typeface="Arial"/>
                <a:ea typeface="Arial"/>
                <a:cs typeface="Arial"/>
              </a:defRPr>
            </a:pPr>
            <a:r>
              <a:rPr sz="2700" b="1">
                <a:solidFill>
                  <a:srgbClr val="704798"/>
                </a:solidFill>
                <a:latin typeface="Arial"/>
                <a:ea typeface="Arial"/>
                <a:cs typeface="Arial"/>
              </a:rPr>
              <a:t>(0; 30) en (90; 0)</a:t>
            </a:r>
          </a:p>
        </p:txBody>
      </p:sp>
      <p:sp>
        <p:nvSpPr>
          <p:cNvPr id="8" name="Bij € 14:&#10;30 wordt 48&#10;&#10;Horizontale pijl:&#10;18 extra gevraagd">
            <a:extLst xmlns:a="http://schemas.openxmlformats.org/drawingml/2006/main">
              <a:ext uri="{FF2B5EF4-FFF2-40B4-BE49-F238E27FC236}">
                <a16:creationId xmlns:a16="http://schemas.microsoft.com/office/drawing/2014/main" id="{2B63F8EC-E461-4A1B-BA2F-9022E4EDA99E}"/>
              </a:ext>
            </a:extLst>
          </p:cNvPr>
          <p:cNvSpPr>
            <a:spLocks xmlns:a="http://schemas.openxmlformats.org/drawingml/2006/main" noGrp="1"/>
          </p:cNvSpPr>
          <p:nvPr/>
        </p:nvSpPr>
        <p:spPr>
          <a:xfrm xmlns:a="http://schemas.openxmlformats.org/drawingml/2006/main">
            <a:off x="10572750" y="4057650"/>
            <a:ext cx="4000500" cy="225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Bij € 14:</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30 wordt 48</a:t>
            </a:r>
          </a:p>
          <a:p xmlns:a="http://schemas.openxmlformats.org/drawingml/2006/main">
            <a:r>
              <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Horizontale pijl:</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18 extra gevraagd</a:t>
            </a:r>
          </a:p>
        </p:txBody>
      </p:sp>
      <p:sp>
        <p:nvSpPr>
          <p:cNvPr id="9" name="A blijft dezelfde lijn.">
            <a:extLst xmlns:a="http://schemas.openxmlformats.org/drawingml/2006/main">
              <a:ext uri="{FF2B5EF4-FFF2-40B4-BE49-F238E27FC236}">
                <a16:creationId xmlns:a16="http://schemas.microsoft.com/office/drawing/2014/main" id="{37C5C595-E80B-4FB9-ABA6-2FDADC353793}"/>
              </a:ext>
            </a:extLst>
          </p:cNvPr>
          <p:cNvSpPr>
            <a:spLocks xmlns:a="http://schemas.openxmlformats.org/drawingml/2006/main" noGrp="1"/>
          </p:cNvSpPr>
          <p:nvPr/>
        </p:nvSpPr>
        <p:spPr>
          <a:xfrm xmlns:a="http://schemas.openxmlformats.org/drawingml/2006/main">
            <a:off x="10572750" y="6981825"/>
            <a:ext cx="40005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A blijft dezelfde lijn.</a:t>
            </a:r>
          </a:p>
        </p:txBody>
      </p:sp>
    </p:spTree>
    <p:extLst>
      <p:ext uri="{BB962C8B-B14F-4D97-AF65-F5344CB8AC3E}">
        <p14:creationId xmlns:p14="http://schemas.microsoft.com/office/powerpoint/2010/main" val="177122169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Het nieuwe evenwicht berekenen">
            <a:extLst xmlns:a="http://schemas.openxmlformats.org/drawingml/2006/main">
              <a:ext uri="{FF2B5EF4-FFF2-40B4-BE49-F238E27FC236}">
                <a16:creationId xmlns:a16="http://schemas.microsoft.com/office/drawing/2014/main" id="{7D94173A-D0DC-453F-B814-A96A4163ABFA}"/>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Het nieuwe evenwicht berekenen</a:t>
            </a:r>
          </a:p>
        </p:txBody>
      </p:sp>
      <p:sp>
        <p:nvSpPr>
          <p:cNvPr id="2" name="">
            <a:extLst xmlns:a="http://schemas.openxmlformats.org/drawingml/2006/main">
              <a:ext uri="{FF2B5EF4-FFF2-40B4-BE49-F238E27FC236}">
                <a16:creationId xmlns:a16="http://schemas.microsoft.com/office/drawing/2014/main" id="{762DB1EA-7515-4139-AD4D-24460983D1B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3 Verschuivingen en nieuw evenwicht">
            <a:extLst xmlns:a="http://schemas.openxmlformats.org/drawingml/2006/main">
              <a:ext uri="{FF2B5EF4-FFF2-40B4-BE49-F238E27FC236}">
                <a16:creationId xmlns:a16="http://schemas.microsoft.com/office/drawing/2014/main" id="{3A8F3F51-11A8-4562-B515-66CADB8D9FA4}"/>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§1.3.3 Verschuivingen en nieuw evenwicht</a:t>
            </a:r>
          </a:p>
        </p:txBody>
      </p:sp>
      <p:sp>
        <p:nvSpPr>
          <p:cNvPr id="4" name="8">
            <a:extLst xmlns:a="http://schemas.openxmlformats.org/drawingml/2006/main">
              <a:ext uri="{FF2B5EF4-FFF2-40B4-BE49-F238E27FC236}">
                <a16:creationId xmlns:a16="http://schemas.microsoft.com/office/drawing/2014/main" id="{29774EB7-6723-476F-A680-C6B6F8E2E04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Uitlegvoorbeeld — niet uit het boek">
            <a:extLst xmlns:a="http://schemas.openxmlformats.org/drawingml/2006/main">
              <a:ext uri="{FF2B5EF4-FFF2-40B4-BE49-F238E27FC236}">
                <a16:creationId xmlns:a16="http://schemas.microsoft.com/office/drawing/2014/main" id="{F7CDF7E6-721C-4584-97F7-C6ADD9C50545}"/>
              </a:ext>
            </a:extLst>
          </p:cNvPr>
          <p:cNvSpPr>
            <a:spLocks xmlns:a="http://schemas.openxmlformats.org/drawingml/2006/main" noGrp="1"/>
          </p:cNvSpPr>
          <p:nvPr/>
        </p:nvSpPr>
        <p:spPr>
          <a:xfrm xmlns:a="http://schemas.openxmlformats.org/drawingml/2006/main">
            <a:off x="571500" y="1695450"/>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6" name="90 − 3P = 3P − 12">
            <a:extLst xmlns:a="http://schemas.openxmlformats.org/drawingml/2006/main">
              <a:ext uri="{FF2B5EF4-FFF2-40B4-BE49-F238E27FC236}">
                <a16:creationId xmlns:a16="http://schemas.microsoft.com/office/drawing/2014/main" id="{40D3557E-2D1E-4A34-81F2-2445E9924C00}"/>
              </a:ext>
            </a:extLst>
          </p:cNvPr>
          <p:cNvSpPr>
            <a:spLocks xmlns:a="http://schemas.openxmlformats.org/drawingml/2006/main" noGrp="1"/>
          </p:cNvSpPr>
          <p:nvPr/>
        </p:nvSpPr>
        <p:spPr>
          <a:xfrm xmlns:a="http://schemas.openxmlformats.org/drawingml/2006/main">
            <a:off x="571500" y="245745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90 − 3P = 3P − 12</a:t>
            </a:r>
          </a:p>
        </p:txBody>
      </p:sp>
      <p:sp>
        <p:nvSpPr>
          <p:cNvPr id="7" name="102 = 6P">
            <a:extLst xmlns:a="http://schemas.openxmlformats.org/drawingml/2006/main">
              <a:ext uri="{FF2B5EF4-FFF2-40B4-BE49-F238E27FC236}">
                <a16:creationId xmlns:a16="http://schemas.microsoft.com/office/drawing/2014/main" id="{6AB47B86-4D39-4E65-9761-BFE7102ABC6F}"/>
              </a:ext>
            </a:extLst>
          </p:cNvPr>
          <p:cNvSpPr>
            <a:spLocks xmlns:a="http://schemas.openxmlformats.org/drawingml/2006/main" noGrp="1"/>
          </p:cNvSpPr>
          <p:nvPr/>
        </p:nvSpPr>
        <p:spPr>
          <a:xfrm xmlns:a="http://schemas.openxmlformats.org/drawingml/2006/main">
            <a:off x="571500" y="3362325"/>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102 = 6P</a:t>
            </a:r>
          </a:p>
        </p:txBody>
      </p:sp>
      <p:sp>
        <p:nvSpPr>
          <p:cNvPr id="8" name="P₁ = € 17 per sleutelhanger">
            <a:extLst xmlns:a="http://schemas.openxmlformats.org/drawingml/2006/main">
              <a:ext uri="{FF2B5EF4-FFF2-40B4-BE49-F238E27FC236}">
                <a16:creationId xmlns:a16="http://schemas.microsoft.com/office/drawing/2014/main" id="{3F9F6C08-ECD9-4427-841E-EB2B8CA7C680}"/>
              </a:ext>
            </a:extLst>
          </p:cNvPr>
          <p:cNvSpPr>
            <a:spLocks xmlns:a="http://schemas.openxmlformats.org/drawingml/2006/main" noGrp="1"/>
          </p:cNvSpPr>
          <p:nvPr/>
        </p:nvSpPr>
        <p:spPr>
          <a:xfrm xmlns:a="http://schemas.openxmlformats.org/drawingml/2006/main">
            <a:off x="571500" y="426720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A5276"/>
                </a:solidFill>
                <a:latin typeface="Arial"/>
                <a:ea typeface="Arial"/>
                <a:cs typeface="Arial"/>
              </a:defRPr>
            </a:pPr>
            <a:r>
              <a:rPr sz="3150" b="1">
                <a:solidFill>
                  <a:srgbClr val="1A5276"/>
                </a:solidFill>
                <a:latin typeface="Arial"/>
                <a:ea typeface="Arial"/>
                <a:cs typeface="Arial"/>
              </a:rPr>
              <a:t>P₁ = € 17 per sleutelhanger</a:t>
            </a:r>
          </a:p>
        </p:txBody>
      </p:sp>
      <p:sp>
        <p:nvSpPr>
          <p:cNvPr id="9" name="Qᵥ,₁ = 90 − 3 × 17 = 39&#10;Controle: Qₐ = 3 × 17 − 12 = 39 per ">
            <a:extLst xmlns:a="http://schemas.openxmlformats.org/drawingml/2006/main">
              <a:ext uri="{FF2B5EF4-FFF2-40B4-BE49-F238E27FC236}">
                <a16:creationId xmlns:a16="http://schemas.microsoft.com/office/drawing/2014/main" id="{E91659D2-2B23-49A7-996C-4B6BB296B92F}"/>
              </a:ext>
            </a:extLst>
          </p:cNvPr>
          <p:cNvSpPr>
            <a:spLocks xmlns:a="http://schemas.openxmlformats.org/drawingml/2006/main" noGrp="1"/>
          </p:cNvSpPr>
          <p:nvPr/>
        </p:nvSpPr>
        <p:spPr>
          <a:xfrm xmlns:a="http://schemas.openxmlformats.org/drawingml/2006/main">
            <a:off x="571500" y="5505450"/>
            <a:ext cx="140970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Qᵥ,₁ = 90 − 3 × 17 = 39</a:t>
            </a:r>
          </a:p>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Controle: Qₐ = 3 × 17 − 12 = 39 per week</a:t>
            </a:r>
          </a:p>
        </p:txBody>
      </p:sp>
      <p:sp>
        <p:nvSpPr>
          <p:cNvPr id="10" name="Verandering Q: (39 − 30) / 30 × 100% = +30%">
            <a:extLst xmlns:a="http://schemas.openxmlformats.org/drawingml/2006/main">
              <a:ext uri="{FF2B5EF4-FFF2-40B4-BE49-F238E27FC236}">
                <a16:creationId xmlns:a16="http://schemas.microsoft.com/office/drawing/2014/main" id="{77756C4B-1C53-4C62-9564-0CA7AE4F6AC6}"/>
              </a:ext>
            </a:extLst>
          </p:cNvPr>
          <p:cNvSpPr>
            <a:spLocks xmlns:a="http://schemas.openxmlformats.org/drawingml/2006/main" noGrp="1"/>
          </p:cNvSpPr>
          <p:nvPr/>
        </p:nvSpPr>
        <p:spPr>
          <a:xfrm xmlns:a="http://schemas.openxmlformats.org/drawingml/2006/main">
            <a:off x="571500" y="7248525"/>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A94D16"/>
                </a:solidFill>
                <a:latin typeface="Arial"/>
                <a:ea typeface="Arial"/>
                <a:cs typeface="Arial"/>
              </a:defRPr>
            </a:pPr>
            <a:r>
              <a:rPr sz="2925" b="1">
                <a:solidFill>
                  <a:srgbClr val="A94D16"/>
                </a:solidFill>
                <a:latin typeface="Arial"/>
                <a:ea typeface="Arial"/>
                <a:cs typeface="Arial"/>
              </a:rPr>
              <a:t>Verandering Q: (39 − 30) / 30 × 100% = +30%</a:t>
            </a:r>
          </a:p>
        </p:txBody>
      </p:sp>
    </p:spTree>
    <p:extLst>
      <p:ext uri="{BB962C8B-B14F-4D97-AF65-F5344CB8AC3E}">
        <p14:creationId xmlns:p14="http://schemas.microsoft.com/office/powerpoint/2010/main" val="79421113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Verschuiving en beweging zijn verschillende stappen">
            <a:extLst xmlns:a="http://schemas.openxmlformats.org/drawingml/2006/main">
              <a:ext uri="{FF2B5EF4-FFF2-40B4-BE49-F238E27FC236}">
                <a16:creationId xmlns:a16="http://schemas.microsoft.com/office/drawing/2014/main" id="{12018BA8-B8FD-4F44-8871-F2301D74CE07}"/>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Verschuiving en beweging zijn verschillende stappen</a:t>
            </a:r>
          </a:p>
        </p:txBody>
      </p:sp>
      <p:sp>
        <p:nvSpPr>
          <p:cNvPr id="2" name="">
            <a:extLst xmlns:a="http://schemas.openxmlformats.org/drawingml/2006/main">
              <a:ext uri="{FF2B5EF4-FFF2-40B4-BE49-F238E27FC236}">
                <a16:creationId xmlns:a16="http://schemas.microsoft.com/office/drawing/2014/main" id="{40FF5410-A78A-4431-B3C2-93656CA5D7D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3 Verschuivingen en nieuw evenwicht">
            <a:extLst xmlns:a="http://schemas.openxmlformats.org/drawingml/2006/main">
              <a:ext uri="{FF2B5EF4-FFF2-40B4-BE49-F238E27FC236}">
                <a16:creationId xmlns:a16="http://schemas.microsoft.com/office/drawing/2014/main" id="{A04762B2-138E-4EB9-BC12-87667339616B}"/>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§1.3.3 Verschuivingen en nieuw evenwicht</a:t>
            </a:r>
          </a:p>
        </p:txBody>
      </p:sp>
      <p:sp>
        <p:nvSpPr>
          <p:cNvPr id="4" name="9">
            <a:extLst xmlns:a="http://schemas.openxmlformats.org/drawingml/2006/main">
              <a:ext uri="{FF2B5EF4-FFF2-40B4-BE49-F238E27FC236}">
                <a16:creationId xmlns:a16="http://schemas.microsoft.com/office/drawing/2014/main" id="{CA730C29-2994-481B-95B7-E9A7011360A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Uitlegvoorbeeld — niet uit het boek">
            <a:extLst xmlns:a="http://schemas.openxmlformats.org/drawingml/2006/main">
              <a:ext uri="{FF2B5EF4-FFF2-40B4-BE49-F238E27FC236}">
                <a16:creationId xmlns:a16="http://schemas.microsoft.com/office/drawing/2014/main" id="{293E8D36-0C14-4E24-8A2C-FF00ED07F4BF}"/>
              </a:ext>
            </a:extLst>
          </p:cNvPr>
          <p:cNvSpPr>
            <a:spLocks xmlns:a="http://schemas.openxmlformats.org/drawingml/2006/main" noGrp="1"/>
          </p:cNvSpPr>
          <p:nvPr/>
        </p:nvSpPr>
        <p:spPr>
          <a:xfrm xmlns:a="http://schemas.openxmlformats.org/drawingml/2006/main">
            <a:off x="571500" y="1695450"/>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graphicFrame>
        <p:nvGraphicFramePr>
          <p:cNvPr id="15" name="Chart"/>
          <p:cNvGraphicFramePr/>
          <p:nvPr/>
        </p:nvGraphicFramePr>
        <p:xfrm>
          <a:off xmlns:a="http://schemas.openxmlformats.org/drawingml/2006/main" x="571500" y="2305050"/>
          <a:ext xmlns:a="http://schemas.openxmlformats.org/drawingml/2006/main" cx="9477375" cy="5553075"/>
        </p:xfrm>
        <a:graphic xmlns:a="http://schemas.openxmlformats.org/drawingml/2006/main">
          <a:graphicData uri="http://schemas.openxmlformats.org/drawingml/2006/chart">
            <c:chart xmlns:r="http://schemas.openxmlformats.org/officeDocument/2006/relationships" xmlns:c="http://schemas.openxmlformats.org/drawingml/2006/chart" r:id="Ra5e77edd4dff438b"/>
          </a:graphicData>
        </a:graphic>
      </p:graphicFrame>
      <p:sp>
        <p:nvSpPr>
          <p:cNvPr id="7" name="E₀ = (30; 14)&#10;E₁ = (39; 17)">
            <a:extLst xmlns:a="http://schemas.openxmlformats.org/drawingml/2006/main">
              <a:ext uri="{FF2B5EF4-FFF2-40B4-BE49-F238E27FC236}">
                <a16:creationId xmlns:a16="http://schemas.microsoft.com/office/drawing/2014/main" id="{1554E0C6-A1C8-4449-96FC-6612E028A956}"/>
              </a:ext>
            </a:extLst>
          </p:cNvPr>
          <p:cNvSpPr>
            <a:spLocks xmlns:a="http://schemas.openxmlformats.org/drawingml/2006/main" noGrp="1"/>
          </p:cNvSpPr>
          <p:nvPr/>
        </p:nvSpPr>
        <p:spPr>
          <a:xfrm xmlns:a="http://schemas.openxmlformats.org/drawingml/2006/main">
            <a:off x="10572750" y="2543175"/>
            <a:ext cx="40005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E₀ = (30; 14)</a:t>
            </a:r>
          </a:p>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E₁ = (39; 17)</a:t>
            </a:r>
          </a:p>
        </p:txBody>
      </p:sp>
      <p:sp>
        <p:nvSpPr>
          <p:cNvPr id="8" name="Paars: meer kopers&#10;bij dezelfde prijs.">
            <a:extLst xmlns:a="http://schemas.openxmlformats.org/drawingml/2006/main">
              <a:ext uri="{FF2B5EF4-FFF2-40B4-BE49-F238E27FC236}">
                <a16:creationId xmlns:a16="http://schemas.microsoft.com/office/drawing/2014/main" id="{381B38E0-C943-41DF-9D58-8DEF50D3A8C9}"/>
              </a:ext>
            </a:extLst>
          </p:cNvPr>
          <p:cNvSpPr>
            <a:spLocks xmlns:a="http://schemas.openxmlformats.org/drawingml/2006/main" noGrp="1"/>
          </p:cNvSpPr>
          <p:nvPr/>
        </p:nvSpPr>
        <p:spPr>
          <a:xfrm xmlns:a="http://schemas.openxmlformats.org/drawingml/2006/main">
            <a:off x="10572750" y="4295775"/>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704798"/>
                </a:solidFill>
                <a:latin typeface="Arial"/>
                <a:ea typeface="Arial"/>
                <a:cs typeface="Arial"/>
              </a:defRPr>
            </a:pPr>
            <a:r>
              <a:rPr sz="2625" b="0">
                <a:solidFill>
                  <a:srgbClr val="704798"/>
                </a:solidFill>
                <a:latin typeface="Arial"/>
                <a:ea typeface="Arial"/>
                <a:cs typeface="Arial"/>
              </a:rPr>
              <a:t>Paars: meer kopers</a:t>
            </a:r>
          </a:p>
          <a:p xmlns:a="http://schemas.openxmlformats.org/drawingml/2006/main">
            <a:pPr algn="l">
              <a:defRPr sz="2625" b="0">
                <a:solidFill>
                  <a:srgbClr val="704798"/>
                </a:solidFill>
                <a:latin typeface="Arial"/>
                <a:ea typeface="Arial"/>
                <a:cs typeface="Arial"/>
              </a:defRPr>
            </a:pPr>
            <a:r>
              <a:rPr sz="2625" b="0">
                <a:solidFill>
                  <a:srgbClr val="704798"/>
                </a:solidFill>
                <a:latin typeface="Arial"/>
                <a:ea typeface="Arial"/>
                <a:cs typeface="Arial"/>
              </a:rPr>
              <a:t>bij dezelfde prijs.</a:t>
            </a:r>
          </a:p>
        </p:txBody>
      </p:sp>
      <p:sp>
        <p:nvSpPr>
          <p:cNvPr id="9" name="Oranje: hogere prijs,&#10;meer aangeboden&#10;langs dezelfde A.">
            <a:extLst xmlns:a="http://schemas.openxmlformats.org/drawingml/2006/main">
              <a:ext uri="{FF2B5EF4-FFF2-40B4-BE49-F238E27FC236}">
                <a16:creationId xmlns:a16="http://schemas.microsoft.com/office/drawing/2014/main" id="{99093E02-E83B-43F3-B011-312131A64B5A}"/>
              </a:ext>
            </a:extLst>
          </p:cNvPr>
          <p:cNvSpPr>
            <a:spLocks xmlns:a="http://schemas.openxmlformats.org/drawingml/2006/main" noGrp="1"/>
          </p:cNvSpPr>
          <p:nvPr/>
        </p:nvSpPr>
        <p:spPr>
          <a:xfrm xmlns:a="http://schemas.openxmlformats.org/drawingml/2006/main">
            <a:off x="10572750" y="6076950"/>
            <a:ext cx="4000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Oranje: hogere prijs,</a:t>
            </a:r>
          </a:p>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meer aangeboden</a:t>
            </a:r>
          </a:p>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langs dezelfde A.</a:t>
            </a:r>
          </a:p>
        </p:txBody>
      </p:sp>
    </p:spTree>
    <p:extLst>
      <p:ext uri="{BB962C8B-B14F-4D97-AF65-F5344CB8AC3E}">
        <p14:creationId xmlns:p14="http://schemas.microsoft.com/office/powerpoint/2010/main" val="111299533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fzonderlijk scenario: duurder metaal">
            <a:extLst xmlns:a="http://schemas.openxmlformats.org/drawingml/2006/main">
              <a:ext uri="{FF2B5EF4-FFF2-40B4-BE49-F238E27FC236}">
                <a16:creationId xmlns:a16="http://schemas.microsoft.com/office/drawing/2014/main" id="{C1A7D279-A93E-47B4-BE47-9D8ADCD9C483}"/>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Afzonderlijk scenario: duurder metaal</a:t>
            </a:r>
          </a:p>
        </p:txBody>
      </p:sp>
      <p:sp>
        <p:nvSpPr>
          <p:cNvPr id="2" name="">
            <a:extLst xmlns:a="http://schemas.openxmlformats.org/drawingml/2006/main">
              <a:ext uri="{FF2B5EF4-FFF2-40B4-BE49-F238E27FC236}">
                <a16:creationId xmlns:a16="http://schemas.microsoft.com/office/drawing/2014/main" id="{95752C17-CCA6-4E19-8041-7D14553E9C2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3 Verschuivingen en nieuw evenwicht">
            <a:extLst xmlns:a="http://schemas.openxmlformats.org/drawingml/2006/main">
              <a:ext uri="{FF2B5EF4-FFF2-40B4-BE49-F238E27FC236}">
                <a16:creationId xmlns:a16="http://schemas.microsoft.com/office/drawing/2014/main" id="{0B5BABB9-249B-49F2-88BA-B927ABA89160}"/>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§1.3.3 Verschuivingen en nieuw evenwicht</a:t>
            </a:r>
          </a:p>
        </p:txBody>
      </p:sp>
      <p:sp>
        <p:nvSpPr>
          <p:cNvPr id="4" name="10">
            <a:extLst xmlns:a="http://schemas.openxmlformats.org/drawingml/2006/main">
              <a:ext uri="{FF2B5EF4-FFF2-40B4-BE49-F238E27FC236}">
                <a16:creationId xmlns:a16="http://schemas.microsoft.com/office/drawing/2014/main" id="{EF13F265-7163-49E8-BB94-A6C75513C13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Uitlegvoorbeeld — niet uit het boek">
            <a:extLst xmlns:a="http://schemas.openxmlformats.org/drawingml/2006/main">
              <a:ext uri="{FF2B5EF4-FFF2-40B4-BE49-F238E27FC236}">
                <a16:creationId xmlns:a16="http://schemas.microsoft.com/office/drawing/2014/main" id="{610365AB-85DD-40C3-A541-BD5A8879CD62}"/>
              </a:ext>
            </a:extLst>
          </p:cNvPr>
          <p:cNvSpPr>
            <a:spLocks xmlns:a="http://schemas.openxmlformats.org/drawingml/2006/main" noGrp="1"/>
          </p:cNvSpPr>
          <p:nvPr/>
        </p:nvSpPr>
        <p:spPr>
          <a:xfrm xmlns:a="http://schemas.openxmlformats.org/drawingml/2006/main">
            <a:off x="571500" y="1695450"/>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6" name="Opnieuw de beginmarkt. De extra kopers zijn er nu niet.">
            <a:extLst xmlns:a="http://schemas.openxmlformats.org/drawingml/2006/main">
              <a:ext uri="{FF2B5EF4-FFF2-40B4-BE49-F238E27FC236}">
                <a16:creationId xmlns:a16="http://schemas.microsoft.com/office/drawing/2014/main" id="{C3FD7120-751D-4900-9507-C4CBAEFD1FC3}"/>
              </a:ext>
            </a:extLst>
          </p:cNvPr>
          <p:cNvSpPr>
            <a:spLocks xmlns:a="http://schemas.openxmlformats.org/drawingml/2006/main" noGrp="1"/>
          </p:cNvSpPr>
          <p:nvPr/>
        </p:nvSpPr>
        <p:spPr>
          <a:xfrm xmlns:a="http://schemas.openxmlformats.org/drawingml/2006/main">
            <a:off x="571500" y="242887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Opnieuw de beginmarkt. De extra kopers zijn er nu niet.</a:t>
            </a:r>
          </a:p>
        </p:txBody>
      </p:sp>
      <p:sp>
        <p:nvSpPr>
          <p:cNvPr id="7" name="Qᵥ = 72 − 3P blijft. Nieuw: Qₐ,₁ = 3P − 30 (10 ≤ P ≤ 30).">
            <a:extLst xmlns:a="http://schemas.openxmlformats.org/drawingml/2006/main">
              <a:ext uri="{FF2B5EF4-FFF2-40B4-BE49-F238E27FC236}">
                <a16:creationId xmlns:a16="http://schemas.microsoft.com/office/drawing/2014/main" id="{260FA7A6-94CD-46EA-B734-089035064928}"/>
              </a:ext>
            </a:extLst>
          </p:cNvPr>
          <p:cNvSpPr>
            <a:spLocks xmlns:a="http://schemas.openxmlformats.org/drawingml/2006/main" noGrp="1"/>
          </p:cNvSpPr>
          <p:nvPr/>
        </p:nvSpPr>
        <p:spPr>
          <a:xfrm xmlns:a="http://schemas.openxmlformats.org/drawingml/2006/main">
            <a:off x="571500" y="3371850"/>
            <a:ext cx="14097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A94D16"/>
                </a:solidFill>
                <a:latin typeface="Arial"/>
                <a:ea typeface="Arial"/>
                <a:cs typeface="Arial"/>
              </a:defRPr>
            </a:pPr>
            <a:r>
              <a:rPr sz="2775" b="1">
                <a:solidFill>
                  <a:srgbClr val="A94D16"/>
                </a:solidFill>
                <a:latin typeface="Arial"/>
                <a:ea typeface="Arial"/>
                <a:cs typeface="Arial"/>
              </a:rPr>
              <a:t>Qᵥ = 72 − 3P blijft. Nieuw: Qₐ,₁ = 3P − 30 (10 ≤ P ≤ 30).</a:t>
            </a:r>
          </a:p>
        </p:txBody>
      </p:sp>
      <p:graphicFrame>
        <p:nvGraphicFramePr>
          <p:cNvPr id="17" name=""/>
          <p:cNvGraphicFramePr/>
          <p:nvPr/>
        </p:nvGraphicFramePr>
        <p:xfrm>
          <a:off xmlns:a="http://schemas.openxmlformats.org/drawingml/2006/main" x="571500" y="4791075"/>
          <a:ext xmlns:a="http://schemas.openxmlformats.org/drawingml/2006/main" cx="14097000" cy="1847850"/>
        </p:xfrm>
        <a:graphic xmlns:a="http://schemas.openxmlformats.org/drawingml/2006/main">
          <a:graphicData uri="http://schemas.openxmlformats.org/drawingml/2006/table">
            <a:tbl>
              <a:tblPr/>
              <a:tblGrid>
                <a:gridCol w="5048250"/>
                <a:gridCol w="4524375"/>
                <a:gridCol w="4524375"/>
              </a:tblGrid>
              <a:tr h="923925">
                <a:tc>
                  <a:txBody>
                    <a:bodyPr lIns="171450" tIns="95250" rIns="133350" bIns="95250"/>
                    <a:lstStyle/>
                    <a:p>
                      <a:r>
                        <a:rPr sz="2550" b="1">
                          <a:solidFill>
                            <a:srgbClr val="FFFFFF"/>
                          </a:solidFill>
                          <a:latin typeface="Arial"/>
                          <a:ea typeface="Arial"/>
                          <a:cs typeface="Arial"/>
                        </a:rPr>
                        <a:t>Bij de oude prijs € 14</a:t>
                      </a:r>
                    </a:p>
                  </a:txBody>
                  <a:tcPr marL="91440" marR="91440" marT="45720" marB="45720" anchor="ctr">
                    <a:solidFill>
                      <a:srgbClr val="183247"/>
                    </a:solidFill>
                  </a:tcPr>
                </a:tc>
                <a:tc>
                  <a:txBody>
                    <a:bodyPr lIns="171450" tIns="95250" rIns="133350" bIns="95250"/>
                    <a:lstStyle/>
                    <a:p>
                      <a:r>
                        <a:rPr sz="2550" b="1">
                          <a:solidFill>
                            <a:srgbClr val="FFFFFF"/>
                          </a:solidFill>
                          <a:latin typeface="Arial"/>
                          <a:ea typeface="Arial"/>
                          <a:cs typeface="Arial"/>
                        </a:rPr>
                        <a:t>Vraag</a:t>
                      </a:r>
                    </a:p>
                  </a:txBody>
                  <a:tcPr marL="91440" marR="91440" marT="45720" marB="45720" anchor="ctr">
                    <a:solidFill>
                      <a:srgbClr val="183247"/>
                    </a:solidFill>
                  </a:tcPr>
                </a:tc>
                <a:tc>
                  <a:txBody>
                    <a:bodyPr lIns="171450" tIns="95250" rIns="133350" bIns="95250"/>
                    <a:lstStyle/>
                    <a:p>
                      <a:r>
                        <a:rPr sz="2550" b="1">
                          <a:solidFill>
                            <a:srgbClr val="FFFFFF"/>
                          </a:solidFill>
                          <a:latin typeface="Arial"/>
                          <a:ea typeface="Arial"/>
                          <a:cs typeface="Arial"/>
                        </a:rPr>
                        <a:t>Nieuw aanbod</a:t>
                      </a:r>
                    </a:p>
                  </a:txBody>
                  <a:tcPr marL="91440" marR="91440" marT="45720" marB="45720" anchor="ctr">
                    <a:solidFill>
                      <a:srgbClr val="183247"/>
                    </a:solidFill>
                  </a:tcPr>
                </a:tc>
              </a:tr>
              <a:tr h="923925">
                <a:tc>
                  <a:txBody>
                    <a:bodyPr lIns="171450" tIns="95250" rIns="133350" bIns="95250"/>
                    <a:lstStyle/>
                    <a:p>
                      <a:r>
                        <a:rPr sz="2550" b="0">
                          <a:solidFill>
                            <a:srgbClr val="183247"/>
                          </a:solidFill>
                          <a:latin typeface="Arial"/>
                          <a:ea typeface="Arial"/>
                          <a:cs typeface="Arial"/>
                        </a:rPr>
                        <a:t>Berekening</a:t>
                      </a:r>
                    </a:p>
                  </a:txBody>
                  <a:tcPr marL="91440" marR="91440" marT="45720" marB="45720" anchor="ctr">
                    <a:solidFill>
                      <a:srgbClr val="FFFFFF"/>
                    </a:solidFill>
                  </a:tcPr>
                </a:tc>
                <a:tc>
                  <a:txBody>
                    <a:bodyPr lIns="171450" tIns="95250" rIns="133350" bIns="95250"/>
                    <a:lstStyle/>
                    <a:p>
                      <a:r>
                        <a:rPr sz="2550" b="0">
                          <a:solidFill>
                            <a:srgbClr val="183247"/>
                          </a:solidFill>
                          <a:latin typeface="Arial"/>
                          <a:ea typeface="Arial"/>
                          <a:cs typeface="Arial"/>
                        </a:rPr>
                        <a:t>72 − 3 × 14 = 30</a:t>
                      </a:r>
                    </a:p>
                  </a:txBody>
                  <a:tcPr marL="91440" marR="91440" marT="45720" marB="45720" anchor="ctr">
                    <a:solidFill>
                      <a:srgbClr val="FFFFFF"/>
                    </a:solidFill>
                  </a:tcPr>
                </a:tc>
                <a:tc>
                  <a:txBody>
                    <a:bodyPr lIns="171450" tIns="95250" rIns="133350" bIns="95250"/>
                    <a:lstStyle/>
                    <a:p>
                      <a:r>
                        <a:rPr sz="2550" b="0">
                          <a:solidFill>
                            <a:srgbClr val="183247"/>
                          </a:solidFill>
                          <a:latin typeface="Arial"/>
                          <a:ea typeface="Arial"/>
                          <a:cs typeface="Arial"/>
                        </a:rPr>
                        <a:t>3 × 14 − 30 = 12</a:t>
                      </a:r>
                    </a:p>
                  </a:txBody>
                  <a:tcPr marL="91440" marR="91440" marT="45720" marB="45720" anchor="ctr">
                    <a:solidFill>
                      <a:srgbClr val="FFFFFF"/>
                    </a:solidFill>
                  </a:tcPr>
                </a:tc>
              </a:tr>
            </a:tbl>
          </a:graphicData>
        </a:graphic>
      </p:graphicFrame>
      <p:sp>
        <p:nvSpPr>
          <p:cNvPr id="9" name="Vraagoverschot: 30 − 12 = 18 per week. De prijs stijgt.">
            <a:extLst xmlns:a="http://schemas.openxmlformats.org/drawingml/2006/main">
              <a:ext uri="{FF2B5EF4-FFF2-40B4-BE49-F238E27FC236}">
                <a16:creationId xmlns:a16="http://schemas.microsoft.com/office/drawing/2014/main" id="{BE514064-76E1-41A0-B6CD-50A8D4682F80}"/>
              </a:ext>
            </a:extLst>
          </p:cNvPr>
          <p:cNvSpPr>
            <a:spLocks xmlns:a="http://schemas.openxmlformats.org/drawingml/2006/main" noGrp="1"/>
          </p:cNvSpPr>
          <p:nvPr/>
        </p:nvSpPr>
        <p:spPr>
          <a:xfrm xmlns:a="http://schemas.openxmlformats.org/drawingml/2006/main">
            <a:off x="571500" y="7134225"/>
            <a:ext cx="14097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Vraagoverschot: 30 − 12 = 18 per week. De prijs stijgt.</a:t>
            </a:r>
          </a:p>
        </p:txBody>
      </p:sp>
    </p:spTree>
    <p:extLst>
      <p:ext uri="{BB962C8B-B14F-4D97-AF65-F5344CB8AC3E}">
        <p14:creationId xmlns:p14="http://schemas.microsoft.com/office/powerpoint/2010/main" val="75301312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Een aanbodverschuiving en de reactie van kopers">
            <a:extLst xmlns:a="http://schemas.openxmlformats.org/drawingml/2006/main">
              <a:ext uri="{FF2B5EF4-FFF2-40B4-BE49-F238E27FC236}">
                <a16:creationId xmlns:a16="http://schemas.microsoft.com/office/drawing/2014/main" id="{04D3A53D-FF5F-4333-917D-0A6A69F73213}"/>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Een aanbodverschuiving en de reactie van kopers</a:t>
            </a:r>
          </a:p>
        </p:txBody>
      </p:sp>
      <p:sp>
        <p:nvSpPr>
          <p:cNvPr id="2" name="">
            <a:extLst xmlns:a="http://schemas.openxmlformats.org/drawingml/2006/main">
              <a:ext uri="{FF2B5EF4-FFF2-40B4-BE49-F238E27FC236}">
                <a16:creationId xmlns:a16="http://schemas.microsoft.com/office/drawing/2014/main" id="{86DB2E6F-5B97-4754-85F2-5CAC4E54F3C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3 Verschuivingen en nieuw evenwicht">
            <a:extLst xmlns:a="http://schemas.openxmlformats.org/drawingml/2006/main">
              <a:ext uri="{FF2B5EF4-FFF2-40B4-BE49-F238E27FC236}">
                <a16:creationId xmlns:a16="http://schemas.microsoft.com/office/drawing/2014/main" id="{CA63D1C4-0F01-4AEC-9E8E-3DCB8E85186B}"/>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§1.3.3 Verschuivingen en nieuw evenwicht</a:t>
            </a:r>
          </a:p>
        </p:txBody>
      </p:sp>
      <p:sp>
        <p:nvSpPr>
          <p:cNvPr id="4" name="11">
            <a:extLst xmlns:a="http://schemas.openxmlformats.org/drawingml/2006/main">
              <a:ext uri="{FF2B5EF4-FFF2-40B4-BE49-F238E27FC236}">
                <a16:creationId xmlns:a16="http://schemas.microsoft.com/office/drawing/2014/main" id="{25F8E8A8-171F-49F6-B44C-51E57E3A931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Uitlegvoorbeeld — niet uit het boek">
            <a:extLst xmlns:a="http://schemas.openxmlformats.org/drawingml/2006/main">
              <a:ext uri="{FF2B5EF4-FFF2-40B4-BE49-F238E27FC236}">
                <a16:creationId xmlns:a16="http://schemas.microsoft.com/office/drawing/2014/main" id="{B8E65590-3910-4975-88F6-AC4935A90E6B}"/>
              </a:ext>
            </a:extLst>
          </p:cNvPr>
          <p:cNvSpPr>
            <a:spLocks xmlns:a="http://schemas.openxmlformats.org/drawingml/2006/main" noGrp="1"/>
          </p:cNvSpPr>
          <p:nvPr/>
        </p:nvSpPr>
        <p:spPr>
          <a:xfrm xmlns:a="http://schemas.openxmlformats.org/drawingml/2006/main">
            <a:off x="571500" y="1695450"/>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graphicFrame>
        <p:nvGraphicFramePr>
          <p:cNvPr id="15" name="Chart"/>
          <p:cNvGraphicFramePr/>
          <p:nvPr/>
        </p:nvGraphicFramePr>
        <p:xfrm>
          <a:off xmlns:a="http://schemas.openxmlformats.org/drawingml/2006/main" x="571500" y="2305050"/>
          <a:ext xmlns:a="http://schemas.openxmlformats.org/drawingml/2006/main" cx="9477375" cy="5553075"/>
        </p:xfrm>
        <a:graphic xmlns:a="http://schemas.openxmlformats.org/drawingml/2006/main">
          <a:graphicData uri="http://schemas.openxmlformats.org/drawingml/2006/chart">
            <c:chart xmlns:r="http://schemas.openxmlformats.org/officeDocument/2006/relationships" xmlns:c="http://schemas.openxmlformats.org/drawingml/2006/chart" r:id="R6d207e21e1984d6c"/>
          </a:graphicData>
        </a:graphic>
      </p:graphicFrame>
      <p:sp>
        <p:nvSpPr>
          <p:cNvPr id="7" name="72 − 3P = 3P − 30&#10;102 = 6P&#10;P₁ = € 17">
            <a:extLst xmlns:a="http://schemas.openxmlformats.org/drawingml/2006/main">
              <a:ext uri="{FF2B5EF4-FFF2-40B4-BE49-F238E27FC236}">
                <a16:creationId xmlns:a16="http://schemas.microsoft.com/office/drawing/2014/main" id="{1C7CED42-2444-4FA1-9C6B-FF5B87F42AFF}"/>
              </a:ext>
            </a:extLst>
          </p:cNvPr>
          <p:cNvSpPr>
            <a:spLocks xmlns:a="http://schemas.openxmlformats.org/drawingml/2006/main" noGrp="1"/>
          </p:cNvSpPr>
          <p:nvPr/>
        </p:nvSpPr>
        <p:spPr>
          <a:xfrm xmlns:a="http://schemas.openxmlformats.org/drawingml/2006/main">
            <a:off x="10572750" y="2409825"/>
            <a:ext cx="4000500" cy="1971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72 − 3P = 3P − 30</a:t>
            </a:r>
          </a:p>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102 = 6P</a:t>
            </a:r>
          </a:p>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P₁ = € 17</a:t>
            </a:r>
          </a:p>
        </p:txBody>
      </p:sp>
      <p:sp>
        <p:nvSpPr>
          <p:cNvPr id="8" name="Qᵥ = 72 − 51 = 21&#10;Qₐ,₁ = 51 − 30 = 21">
            <a:extLst xmlns:a="http://schemas.openxmlformats.org/drawingml/2006/main">
              <a:ext uri="{FF2B5EF4-FFF2-40B4-BE49-F238E27FC236}">
                <a16:creationId xmlns:a16="http://schemas.microsoft.com/office/drawing/2014/main" id="{817176C1-6E9C-42BE-A682-0B9A3EE91F0A}"/>
              </a:ext>
            </a:extLst>
          </p:cNvPr>
          <p:cNvSpPr>
            <a:spLocks xmlns:a="http://schemas.openxmlformats.org/drawingml/2006/main" noGrp="1"/>
          </p:cNvSpPr>
          <p:nvPr/>
        </p:nvSpPr>
        <p:spPr>
          <a:xfrm xmlns:a="http://schemas.openxmlformats.org/drawingml/2006/main">
            <a:off x="10572750" y="4724400"/>
            <a:ext cx="40005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Qᵥ = 72 − 51 = 21</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Qₐ,₁ = 51 − 30 = 21</a:t>
            </a:r>
          </a:p>
        </p:txBody>
      </p:sp>
      <p:sp>
        <p:nvSpPr>
          <p:cNvPr id="9" name="A naar links.&#10;E₀ naar E₁ langs V₀.&#10;Q daalt: 30 naar 21.">
            <a:extLst xmlns:a="http://schemas.openxmlformats.org/drawingml/2006/main">
              <a:ext uri="{FF2B5EF4-FFF2-40B4-BE49-F238E27FC236}">
                <a16:creationId xmlns:a16="http://schemas.microsoft.com/office/drawing/2014/main" id="{E48E2DB4-285A-4D81-9E37-923E6FCA532F}"/>
              </a:ext>
            </a:extLst>
          </p:cNvPr>
          <p:cNvSpPr>
            <a:spLocks xmlns:a="http://schemas.openxmlformats.org/drawingml/2006/main" noGrp="1"/>
          </p:cNvSpPr>
          <p:nvPr/>
        </p:nvSpPr>
        <p:spPr>
          <a:xfrm xmlns:a="http://schemas.openxmlformats.org/drawingml/2006/main">
            <a:off x="10572750" y="6505575"/>
            <a:ext cx="40005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A94D16"/>
                </a:solidFill>
                <a:latin typeface="Arial"/>
                <a:ea typeface="Arial"/>
                <a:cs typeface="Arial"/>
              </a:defRPr>
            </a:pPr>
            <a:r>
              <a:rPr sz="2475" b="1">
                <a:solidFill>
                  <a:srgbClr val="A94D16"/>
                </a:solidFill>
                <a:latin typeface="Arial"/>
                <a:ea typeface="Arial"/>
                <a:cs typeface="Arial"/>
              </a:rPr>
              <a:t>A naar links.</a:t>
            </a:r>
          </a:p>
          <a:p xmlns:a="http://schemas.openxmlformats.org/drawingml/2006/main">
            <a:pPr algn="l">
              <a:defRPr sz="2475" b="1">
                <a:solidFill>
                  <a:srgbClr val="A94D16"/>
                </a:solidFill>
                <a:latin typeface="Arial"/>
                <a:ea typeface="Arial"/>
                <a:cs typeface="Arial"/>
              </a:defRPr>
            </a:pPr>
            <a:r>
              <a:rPr sz="2475" b="1">
                <a:solidFill>
                  <a:srgbClr val="A94D16"/>
                </a:solidFill>
                <a:latin typeface="Arial"/>
                <a:ea typeface="Arial"/>
                <a:cs typeface="Arial"/>
              </a:rPr>
              <a:t>E₀ naar E₁ langs V₀.</a:t>
            </a:r>
          </a:p>
          <a:p xmlns:a="http://schemas.openxmlformats.org/drawingml/2006/main">
            <a:pPr algn="l">
              <a:defRPr sz="2475" b="1">
                <a:solidFill>
                  <a:srgbClr val="A94D16"/>
                </a:solidFill>
                <a:latin typeface="Arial"/>
                <a:ea typeface="Arial"/>
                <a:cs typeface="Arial"/>
              </a:defRPr>
            </a:pPr>
            <a:r>
              <a:rPr sz="2475" b="1">
                <a:solidFill>
                  <a:srgbClr val="A94D16"/>
                </a:solidFill>
                <a:latin typeface="Arial"/>
                <a:ea typeface="Arial"/>
                <a:cs typeface="Arial"/>
              </a:rPr>
              <a:t>Q daalt: 30 naar 21.</a:t>
            </a:r>
          </a:p>
        </p:txBody>
      </p:sp>
    </p:spTree>
    <p:extLst>
      <p:ext uri="{BB962C8B-B14F-4D97-AF65-F5344CB8AC3E}">
        <p14:creationId xmlns:p14="http://schemas.microsoft.com/office/powerpoint/2010/main" val="83410604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Dezelfde prijsstijging, een andere hoeveelheid">
            <a:extLst xmlns:a="http://schemas.openxmlformats.org/drawingml/2006/main">
              <a:ext uri="{FF2B5EF4-FFF2-40B4-BE49-F238E27FC236}">
                <a16:creationId xmlns:a16="http://schemas.microsoft.com/office/drawing/2014/main" id="{E9B22EB2-090F-4AE8-AF2B-2311DE749BCA}"/>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Dezelfde prijsstijging, een andere hoeveelheid</a:t>
            </a:r>
          </a:p>
        </p:txBody>
      </p:sp>
      <p:sp>
        <p:nvSpPr>
          <p:cNvPr id="2" name="">
            <a:extLst xmlns:a="http://schemas.openxmlformats.org/drawingml/2006/main">
              <a:ext uri="{FF2B5EF4-FFF2-40B4-BE49-F238E27FC236}">
                <a16:creationId xmlns:a16="http://schemas.microsoft.com/office/drawing/2014/main" id="{43183D3A-011B-464D-B252-E53086A9960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3 Verschuivingen en nieuw evenwicht">
            <a:extLst xmlns:a="http://schemas.openxmlformats.org/drawingml/2006/main">
              <a:ext uri="{FF2B5EF4-FFF2-40B4-BE49-F238E27FC236}">
                <a16:creationId xmlns:a16="http://schemas.microsoft.com/office/drawing/2014/main" id="{CBDD0E05-6E95-4A47-9CF1-542DF42C1CC0}"/>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§1.3.3 Verschuivingen en nieuw evenwicht</a:t>
            </a:r>
          </a:p>
        </p:txBody>
      </p:sp>
      <p:sp>
        <p:nvSpPr>
          <p:cNvPr id="4" name="12">
            <a:extLst xmlns:a="http://schemas.openxmlformats.org/drawingml/2006/main">
              <a:ext uri="{FF2B5EF4-FFF2-40B4-BE49-F238E27FC236}">
                <a16:creationId xmlns:a16="http://schemas.microsoft.com/office/drawing/2014/main" id="{9D225003-D664-447B-BEAE-2CF3C19EBDD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Uitlegvoorbeeld — niet uit het boek">
            <a:extLst xmlns:a="http://schemas.openxmlformats.org/drawingml/2006/main">
              <a:ext uri="{FF2B5EF4-FFF2-40B4-BE49-F238E27FC236}">
                <a16:creationId xmlns:a16="http://schemas.microsoft.com/office/drawing/2014/main" id="{2FAA6807-D9E7-4550-AE66-17CD18CF6FE2}"/>
              </a:ext>
            </a:extLst>
          </p:cNvPr>
          <p:cNvSpPr>
            <a:spLocks xmlns:a="http://schemas.openxmlformats.org/drawingml/2006/main" noGrp="1"/>
          </p:cNvSpPr>
          <p:nvPr/>
        </p:nvSpPr>
        <p:spPr>
          <a:xfrm xmlns:a="http://schemas.openxmlformats.org/drawingml/2006/main">
            <a:off x="571500" y="1695450"/>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graphicFrame>
        <p:nvGraphicFramePr>
          <p:cNvPr id="13" name=""/>
          <p:cNvGraphicFramePr/>
          <p:nvPr/>
        </p:nvGraphicFramePr>
        <p:xfrm>
          <a:off xmlns:a="http://schemas.openxmlformats.org/drawingml/2006/main" x="571500" y="2676525"/>
          <a:ext xmlns:a="http://schemas.openxmlformats.org/drawingml/2006/main" cx="14097000" cy="2981325"/>
        </p:xfrm>
        <a:graphic xmlns:a="http://schemas.openxmlformats.org/drawingml/2006/main">
          <a:graphicData uri="http://schemas.openxmlformats.org/drawingml/2006/table">
            <a:tbl>
              <a:tblPr/>
              <a:tblGrid>
                <a:gridCol w="5810250"/>
                <a:gridCol w="3619500"/>
                <a:gridCol w="4667250"/>
              </a:tblGrid>
              <a:tr h="993775">
                <a:tc>
                  <a:txBody>
                    <a:bodyPr lIns="171450" tIns="95250" rIns="133350" bIns="95250"/>
                    <a:lstStyle/>
                    <a:p>
                      <a:r>
                        <a:rPr sz="2625" b="1">
                          <a:solidFill>
                            <a:srgbClr val="FFFFFF"/>
                          </a:solidFill>
                          <a:latin typeface="Arial"/>
                          <a:ea typeface="Arial"/>
                          <a:cs typeface="Arial"/>
                        </a:rPr>
                        <a:t>Alleen deze oorzaak</a:t>
                      </a:r>
                    </a:p>
                  </a:txBody>
                  <a:tcPr marL="91440" marR="91440" marT="45720" marB="45720" anchor="ctr">
                    <a:solidFill>
                      <a:srgbClr val="183247"/>
                    </a:solidFill>
                  </a:tcPr>
                </a:tc>
                <a:tc>
                  <a:txBody>
                    <a:bodyPr lIns="171450" tIns="95250" rIns="133350" bIns="95250"/>
                    <a:lstStyle/>
                    <a:p>
                      <a:r>
                        <a:rPr sz="2625" b="1">
                          <a:solidFill>
                            <a:srgbClr val="FFFFFF"/>
                          </a:solidFill>
                          <a:latin typeface="Arial"/>
                          <a:ea typeface="Arial"/>
                          <a:cs typeface="Arial"/>
                        </a:rPr>
                        <a:t>Prijs</a:t>
                      </a:r>
                    </a:p>
                  </a:txBody>
                  <a:tcPr marL="91440" marR="91440" marT="45720" marB="45720" anchor="ctr">
                    <a:solidFill>
                      <a:srgbClr val="183247"/>
                    </a:solidFill>
                  </a:tcPr>
                </a:tc>
                <a:tc>
                  <a:txBody>
                    <a:bodyPr lIns="171450" tIns="95250" rIns="133350" bIns="95250"/>
                    <a:lstStyle/>
                    <a:p>
                      <a:r>
                        <a:rPr sz="2625" b="1">
                          <a:solidFill>
                            <a:srgbClr val="FFFFFF"/>
                          </a:solidFill>
                          <a:latin typeface="Arial"/>
                          <a:ea typeface="Arial"/>
                          <a:cs typeface="Arial"/>
                        </a:rPr>
                        <a:t>Hoeveelheid per week</a:t>
                      </a:r>
                    </a:p>
                  </a:txBody>
                  <a:tcPr marL="91440" marR="91440" marT="45720" marB="45720" anchor="ctr">
                    <a:solidFill>
                      <a:srgbClr val="183247"/>
                    </a:solidFill>
                  </a:tcPr>
                </a:tc>
              </a:tr>
              <a:tr h="993775">
                <a:tc>
                  <a:txBody>
                    <a:bodyPr lIns="171450" tIns="95250" rIns="133350" bIns="95250"/>
                    <a:lstStyle/>
                    <a:p>
                      <a:r>
                        <a:rPr sz="2625" b="0">
                          <a:solidFill>
                            <a:srgbClr val="183247"/>
                          </a:solidFill>
                          <a:latin typeface="Arial"/>
                          <a:ea typeface="Arial"/>
                          <a:cs typeface="Arial"/>
                        </a:rPr>
                        <a:t>Meer kopers</a:t>
                      </a:r>
                    </a:p>
                  </a:txBody>
                  <a:tcPr marL="91440" marR="91440" marT="45720" marB="45720" anchor="ctr">
                    <a:solidFill>
                      <a:srgbClr val="FFFFFF"/>
                    </a:solidFill>
                  </a:tcPr>
                </a:tc>
                <a:tc>
                  <a:txBody>
                    <a:bodyPr lIns="171450" tIns="95250" rIns="133350" bIns="95250"/>
                    <a:lstStyle/>
                    <a:p>
                      <a:r>
                        <a:rPr sz="2625" b="0">
                          <a:solidFill>
                            <a:srgbClr val="183247"/>
                          </a:solidFill>
                          <a:latin typeface="Arial"/>
                          <a:ea typeface="Arial"/>
                          <a:cs typeface="Arial"/>
                        </a:rPr>
                        <a:t>€ 14 naar € 17</a:t>
                      </a:r>
                    </a:p>
                  </a:txBody>
                  <a:tcPr marL="91440" marR="91440" marT="45720" marB="45720" anchor="ctr">
                    <a:solidFill>
                      <a:srgbClr val="FFFFFF"/>
                    </a:solidFill>
                  </a:tcPr>
                </a:tc>
                <a:tc>
                  <a:txBody>
                    <a:bodyPr lIns="171450" tIns="95250" rIns="133350" bIns="95250"/>
                    <a:lstStyle/>
                    <a:p>
                      <a:r>
                        <a:rPr sz="2625" b="0">
                          <a:solidFill>
                            <a:srgbClr val="183247"/>
                          </a:solidFill>
                          <a:latin typeface="Arial"/>
                          <a:ea typeface="Arial"/>
                          <a:cs typeface="Arial"/>
                        </a:rPr>
                        <a:t>30 naar 39</a:t>
                      </a:r>
                    </a:p>
                  </a:txBody>
                  <a:tcPr marL="91440" marR="91440" marT="45720" marB="45720" anchor="ctr">
                    <a:solidFill>
                      <a:srgbClr val="FFFFFF"/>
                    </a:solidFill>
                  </a:tcPr>
                </a:tc>
              </a:tr>
              <a:tr h="993775">
                <a:tc>
                  <a:txBody>
                    <a:bodyPr lIns="171450" tIns="95250" rIns="133350" bIns="95250"/>
                    <a:lstStyle/>
                    <a:p>
                      <a:r>
                        <a:rPr sz="2625" b="0">
                          <a:solidFill>
                            <a:srgbClr val="183247"/>
                          </a:solidFill>
                          <a:latin typeface="Arial"/>
                          <a:ea typeface="Arial"/>
                          <a:cs typeface="Arial"/>
                        </a:rPr>
                        <a:t>Duurder metaal</a:t>
                      </a:r>
                    </a:p>
                  </a:txBody>
                  <a:tcPr marL="91440" marR="91440" marT="45720" marB="45720" anchor="ctr">
                    <a:solidFill>
                      <a:srgbClr val="EFF4F7"/>
                    </a:solidFill>
                  </a:tcPr>
                </a:tc>
                <a:tc>
                  <a:txBody>
                    <a:bodyPr lIns="171450" tIns="95250" rIns="133350" bIns="95250"/>
                    <a:lstStyle/>
                    <a:p>
                      <a:r>
                        <a:rPr sz="2625" b="0">
                          <a:solidFill>
                            <a:srgbClr val="183247"/>
                          </a:solidFill>
                          <a:latin typeface="Arial"/>
                          <a:ea typeface="Arial"/>
                          <a:cs typeface="Arial"/>
                        </a:rPr>
                        <a:t>€ 14 naar € 17</a:t>
                      </a:r>
                    </a:p>
                  </a:txBody>
                  <a:tcPr marL="91440" marR="91440" marT="45720" marB="45720" anchor="ctr">
                    <a:solidFill>
                      <a:srgbClr val="EFF4F7"/>
                    </a:solidFill>
                  </a:tcPr>
                </a:tc>
                <a:tc>
                  <a:txBody>
                    <a:bodyPr lIns="171450" tIns="95250" rIns="133350" bIns="95250"/>
                    <a:lstStyle/>
                    <a:p>
                      <a:r>
                        <a:rPr sz="2625" b="0">
                          <a:solidFill>
                            <a:srgbClr val="183247"/>
                          </a:solidFill>
                          <a:latin typeface="Arial"/>
                          <a:ea typeface="Arial"/>
                          <a:cs typeface="Arial"/>
                        </a:rPr>
                        <a:t>30 naar 21</a:t>
                      </a:r>
                    </a:p>
                  </a:txBody>
                  <a:tcPr marL="91440" marR="91440" marT="45720" marB="45720" anchor="ctr">
                    <a:solidFill>
                      <a:srgbClr val="EFF4F7"/>
                    </a:solidFill>
                  </a:tcPr>
                </a:tc>
              </a:tr>
            </a:tbl>
          </a:graphicData>
        </a:graphic>
      </p:graphicFrame>
      <p:sp>
        <p:nvSpPr>
          <p:cNvPr id="7" name="Een prijswaarneming alleen bepaalt de oorzaak niet.">
            <a:extLst xmlns:a="http://schemas.openxmlformats.org/drawingml/2006/main">
              <a:ext uri="{FF2B5EF4-FFF2-40B4-BE49-F238E27FC236}">
                <a16:creationId xmlns:a16="http://schemas.microsoft.com/office/drawing/2014/main" id="{D12A2867-7B92-4A00-BA7E-9E4473EA86C3}"/>
              </a:ext>
            </a:extLst>
          </p:cNvPr>
          <p:cNvSpPr>
            <a:spLocks xmlns:a="http://schemas.openxmlformats.org/drawingml/2006/main" noGrp="1"/>
          </p:cNvSpPr>
          <p:nvPr/>
        </p:nvSpPr>
        <p:spPr>
          <a:xfrm xmlns:a="http://schemas.openxmlformats.org/drawingml/2006/main">
            <a:off x="571500" y="6429375"/>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A5276"/>
                </a:solidFill>
                <a:latin typeface="Arial"/>
                <a:ea typeface="Arial"/>
                <a:cs typeface="Arial"/>
              </a:defRPr>
            </a:pPr>
            <a:r>
              <a:rPr sz="3375" b="1">
                <a:solidFill>
                  <a:srgbClr val="1A5276"/>
                </a:solidFill>
                <a:latin typeface="Arial"/>
                <a:ea typeface="Arial"/>
                <a:cs typeface="Arial"/>
              </a:rPr>
              <a:t>Een prijswaarneming alleen bepaalt de oorzaak niet.</a:t>
            </a:r>
          </a:p>
        </p:txBody>
      </p:sp>
    </p:spTree>
    <p:extLst>
      <p:ext uri="{BB962C8B-B14F-4D97-AF65-F5344CB8AC3E}">
        <p14:creationId xmlns:p14="http://schemas.microsoft.com/office/powerpoint/2010/main" val="96415059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wee oorzaken zonder bekende omvang">
            <a:extLst xmlns:a="http://schemas.openxmlformats.org/drawingml/2006/main">
              <a:ext uri="{FF2B5EF4-FFF2-40B4-BE49-F238E27FC236}">
                <a16:creationId xmlns:a16="http://schemas.microsoft.com/office/drawing/2014/main" id="{286872BA-3018-49E2-ADF4-D5B5719F5D26}"/>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Twee oorzaken zonder bekende omvang</a:t>
            </a:r>
          </a:p>
        </p:txBody>
      </p:sp>
      <p:sp>
        <p:nvSpPr>
          <p:cNvPr id="2" name="">
            <a:extLst xmlns:a="http://schemas.openxmlformats.org/drawingml/2006/main">
              <a:ext uri="{FF2B5EF4-FFF2-40B4-BE49-F238E27FC236}">
                <a16:creationId xmlns:a16="http://schemas.microsoft.com/office/drawing/2014/main" id="{33015F3F-1BA4-4BB4-8CDB-6988AF95F36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3 Verschuivingen en nieuw evenwicht">
            <a:extLst xmlns:a="http://schemas.openxmlformats.org/drawingml/2006/main">
              <a:ext uri="{FF2B5EF4-FFF2-40B4-BE49-F238E27FC236}">
                <a16:creationId xmlns:a16="http://schemas.microsoft.com/office/drawing/2014/main" id="{C0AD3D61-3F6A-4B3E-83CC-D8A9F143ABC4}"/>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§1.3.3 Verschuivingen en nieuw evenwicht</a:t>
            </a:r>
          </a:p>
        </p:txBody>
      </p:sp>
      <p:sp>
        <p:nvSpPr>
          <p:cNvPr id="4" name="13">
            <a:extLst xmlns:a="http://schemas.openxmlformats.org/drawingml/2006/main">
              <a:ext uri="{FF2B5EF4-FFF2-40B4-BE49-F238E27FC236}">
                <a16:creationId xmlns:a16="http://schemas.microsoft.com/office/drawing/2014/main" id="{4C13E08F-5EA6-4B38-9417-A1CD48D1F60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Uitlegvoorbeeld — niet uit het boek">
            <a:extLst xmlns:a="http://schemas.openxmlformats.org/drawingml/2006/main">
              <a:ext uri="{FF2B5EF4-FFF2-40B4-BE49-F238E27FC236}">
                <a16:creationId xmlns:a16="http://schemas.microsoft.com/office/drawing/2014/main" id="{E0C86FF6-07F6-4233-9C42-1751AFDB9A60}"/>
              </a:ext>
            </a:extLst>
          </p:cNvPr>
          <p:cNvSpPr>
            <a:spLocks xmlns:a="http://schemas.openxmlformats.org/drawingml/2006/main" noGrp="1"/>
          </p:cNvSpPr>
          <p:nvPr/>
        </p:nvSpPr>
        <p:spPr>
          <a:xfrm xmlns:a="http://schemas.openxmlformats.org/drawingml/2006/main">
            <a:off x="571500" y="1695450"/>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6" name="Nieuw scenario: minder kopers én duurder metaal.">
            <a:extLst xmlns:a="http://schemas.openxmlformats.org/drawingml/2006/main">
              <a:ext uri="{FF2B5EF4-FFF2-40B4-BE49-F238E27FC236}">
                <a16:creationId xmlns:a16="http://schemas.microsoft.com/office/drawing/2014/main" id="{AB05CC5E-6670-4859-9FA2-2340DFA7CE75}"/>
              </a:ext>
            </a:extLst>
          </p:cNvPr>
          <p:cNvSpPr>
            <a:spLocks xmlns:a="http://schemas.openxmlformats.org/drawingml/2006/main" noGrp="1"/>
          </p:cNvSpPr>
          <p:nvPr/>
        </p:nvSpPr>
        <p:spPr>
          <a:xfrm xmlns:a="http://schemas.openxmlformats.org/drawingml/2006/main">
            <a:off x="571500" y="2495550"/>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Nieuw scenario: minder kopers én duurder metaal.</a:t>
            </a:r>
          </a:p>
        </p:txBody>
      </p:sp>
      <p:graphicFrame>
        <p:nvGraphicFramePr>
          <p:cNvPr id="16" name=""/>
          <p:cNvGraphicFramePr/>
          <p:nvPr/>
        </p:nvGraphicFramePr>
        <p:xfrm>
          <a:off xmlns:a="http://schemas.openxmlformats.org/drawingml/2006/main" x="571500" y="3629025"/>
          <a:ext xmlns:a="http://schemas.openxmlformats.org/drawingml/2006/main" cx="14097000" cy="2495550"/>
        </p:xfrm>
        <a:graphic xmlns:a="http://schemas.openxmlformats.org/drawingml/2006/main">
          <a:graphicData uri="http://schemas.openxmlformats.org/drawingml/2006/table">
            <a:tbl>
              <a:tblPr/>
              <a:tblGrid>
                <a:gridCol w="7429500"/>
                <a:gridCol w="3333750"/>
                <a:gridCol w="3333750"/>
              </a:tblGrid>
              <a:tr h="831850">
                <a:tc>
                  <a:txBody>
                    <a:bodyPr lIns="171450" tIns="95250" rIns="133350" bIns="95250"/>
                    <a:lstStyle/>
                    <a:p>
                      <a:r>
                        <a:rPr sz="2625" b="1">
                          <a:solidFill>
                            <a:srgbClr val="FFFFFF"/>
                          </a:solidFill>
                          <a:latin typeface="Arial"/>
                          <a:ea typeface="Arial"/>
                          <a:cs typeface="Arial"/>
                        </a:rPr>
                        <a:t>Bekijk eerst afzonderlijk</a:t>
                      </a:r>
                    </a:p>
                  </a:txBody>
                  <a:tcPr marL="91440" marR="91440" marT="45720" marB="45720" anchor="ctr">
                    <a:solidFill>
                      <a:srgbClr val="183247"/>
                    </a:solidFill>
                  </a:tcPr>
                </a:tc>
                <a:tc>
                  <a:txBody>
                    <a:bodyPr lIns="171450" tIns="95250" rIns="133350" bIns="95250"/>
                    <a:lstStyle/>
                    <a:p>
                      <a:r>
                        <a:rPr sz="2625" b="1">
                          <a:solidFill>
                            <a:srgbClr val="FFFFFF"/>
                          </a:solidFill>
                          <a:latin typeface="Arial"/>
                          <a:ea typeface="Arial"/>
                          <a:cs typeface="Arial"/>
                        </a:rPr>
                        <a:t>Prijs</a:t>
                      </a:r>
                    </a:p>
                  </a:txBody>
                  <a:tcPr marL="91440" marR="91440" marT="45720" marB="45720" anchor="ctr">
                    <a:solidFill>
                      <a:srgbClr val="183247"/>
                    </a:solidFill>
                  </a:tcPr>
                </a:tc>
                <a:tc>
                  <a:txBody>
                    <a:bodyPr lIns="171450" tIns="95250" rIns="133350" bIns="95250"/>
                    <a:lstStyle/>
                    <a:p>
                      <a:r>
                        <a:rPr sz="2625" b="1">
                          <a:solidFill>
                            <a:srgbClr val="FFFFFF"/>
                          </a:solidFill>
                          <a:latin typeface="Arial"/>
                          <a:ea typeface="Arial"/>
                          <a:cs typeface="Arial"/>
                        </a:rPr>
                        <a:t>Hoeveelheid</a:t>
                      </a:r>
                    </a:p>
                  </a:txBody>
                  <a:tcPr marL="91440" marR="91440" marT="45720" marB="45720" anchor="ctr">
                    <a:solidFill>
                      <a:srgbClr val="183247"/>
                    </a:solidFill>
                  </a:tcPr>
                </a:tc>
              </a:tr>
              <a:tr h="831850">
                <a:tc>
                  <a:txBody>
                    <a:bodyPr lIns="171450" tIns="95250" rIns="133350" bIns="95250"/>
                    <a:lstStyle/>
                    <a:p>
                      <a:r>
                        <a:rPr sz="2625" b="0">
                          <a:solidFill>
                            <a:srgbClr val="183247"/>
                          </a:solidFill>
                          <a:latin typeface="Arial"/>
                          <a:ea typeface="Arial"/>
                          <a:cs typeface="Arial"/>
                        </a:rPr>
                        <a:t>Alleen minder kopers</a:t>
                      </a:r>
                    </a:p>
                  </a:txBody>
                  <a:tcPr marL="91440" marR="91440" marT="45720" marB="45720" anchor="ctr">
                    <a:solidFill>
                      <a:srgbClr val="FFFFFF"/>
                    </a:solidFill>
                  </a:tcPr>
                </a:tc>
                <a:tc>
                  <a:txBody>
                    <a:bodyPr lIns="171450" tIns="95250" rIns="133350" bIns="95250"/>
                    <a:lstStyle/>
                    <a:p>
                      <a:r>
                        <a:rPr sz="2625" b="0">
                          <a:solidFill>
                            <a:srgbClr val="183247"/>
                          </a:solidFill>
                          <a:latin typeface="Arial"/>
                          <a:ea typeface="Arial"/>
                          <a:cs typeface="Arial"/>
                        </a:rPr>
                        <a:t>Daalt</a:t>
                      </a:r>
                    </a:p>
                  </a:txBody>
                  <a:tcPr marL="91440" marR="91440" marT="45720" marB="45720" anchor="ctr">
                    <a:solidFill>
                      <a:srgbClr val="FFFFFF"/>
                    </a:solidFill>
                  </a:tcPr>
                </a:tc>
                <a:tc>
                  <a:txBody>
                    <a:bodyPr lIns="171450" tIns="95250" rIns="133350" bIns="95250"/>
                    <a:lstStyle/>
                    <a:p>
                      <a:r>
                        <a:rPr sz="2625" b="0">
                          <a:solidFill>
                            <a:srgbClr val="183247"/>
                          </a:solidFill>
                          <a:latin typeface="Arial"/>
                          <a:ea typeface="Arial"/>
                          <a:cs typeface="Arial"/>
                        </a:rPr>
                        <a:t>Daalt</a:t>
                      </a:r>
                    </a:p>
                  </a:txBody>
                  <a:tcPr marL="91440" marR="91440" marT="45720" marB="45720" anchor="ctr">
                    <a:solidFill>
                      <a:srgbClr val="FFFFFF"/>
                    </a:solidFill>
                  </a:tcPr>
                </a:tc>
              </a:tr>
              <a:tr h="831850">
                <a:tc>
                  <a:txBody>
                    <a:bodyPr lIns="171450" tIns="95250" rIns="133350" bIns="95250"/>
                    <a:lstStyle/>
                    <a:p>
                      <a:r>
                        <a:rPr sz="2625" b="0">
                          <a:solidFill>
                            <a:srgbClr val="183247"/>
                          </a:solidFill>
                          <a:latin typeface="Arial"/>
                          <a:ea typeface="Arial"/>
                          <a:cs typeface="Arial"/>
                        </a:rPr>
                        <a:t>Alleen duurder metaal</a:t>
                      </a:r>
                    </a:p>
                  </a:txBody>
                  <a:tcPr marL="91440" marR="91440" marT="45720" marB="45720" anchor="ctr">
                    <a:solidFill>
                      <a:srgbClr val="EFF4F7"/>
                    </a:solidFill>
                  </a:tcPr>
                </a:tc>
                <a:tc>
                  <a:txBody>
                    <a:bodyPr lIns="171450" tIns="95250" rIns="133350" bIns="95250"/>
                    <a:lstStyle/>
                    <a:p>
                      <a:r>
                        <a:rPr sz="2625" b="0">
                          <a:solidFill>
                            <a:srgbClr val="183247"/>
                          </a:solidFill>
                          <a:latin typeface="Arial"/>
                          <a:ea typeface="Arial"/>
                          <a:cs typeface="Arial"/>
                        </a:rPr>
                        <a:t>Stijgt</a:t>
                      </a:r>
                    </a:p>
                  </a:txBody>
                  <a:tcPr marL="91440" marR="91440" marT="45720" marB="45720" anchor="ctr">
                    <a:solidFill>
                      <a:srgbClr val="EFF4F7"/>
                    </a:solidFill>
                  </a:tcPr>
                </a:tc>
                <a:tc>
                  <a:txBody>
                    <a:bodyPr lIns="171450" tIns="95250" rIns="133350" bIns="95250"/>
                    <a:lstStyle/>
                    <a:p>
                      <a:r>
                        <a:rPr sz="2625" b="0">
                          <a:solidFill>
                            <a:srgbClr val="183247"/>
                          </a:solidFill>
                          <a:latin typeface="Arial"/>
                          <a:ea typeface="Arial"/>
                          <a:cs typeface="Arial"/>
                        </a:rPr>
                        <a:t>Daalt</a:t>
                      </a:r>
                    </a:p>
                  </a:txBody>
                  <a:tcPr marL="91440" marR="91440" marT="45720" marB="45720" anchor="ctr">
                    <a:solidFill>
                      <a:srgbClr val="EFF4F7"/>
                    </a:solidFill>
                  </a:tcPr>
                </a:tc>
              </a:tr>
            </a:tbl>
          </a:graphicData>
        </a:graphic>
      </p:graphicFrame>
      <p:sp>
        <p:nvSpPr>
          <p:cNvPr id="8" name="Samen: Q daalt. De richting van P is nog onbepaald.">
            <a:extLst xmlns:a="http://schemas.openxmlformats.org/drawingml/2006/main">
              <a:ext uri="{FF2B5EF4-FFF2-40B4-BE49-F238E27FC236}">
                <a16:creationId xmlns:a16="http://schemas.microsoft.com/office/drawing/2014/main" id="{C100DF3B-EF23-4D5E-9B87-C822D818CA75}"/>
              </a:ext>
            </a:extLst>
          </p:cNvPr>
          <p:cNvSpPr>
            <a:spLocks xmlns:a="http://schemas.openxmlformats.org/drawingml/2006/main" noGrp="1"/>
          </p:cNvSpPr>
          <p:nvPr/>
        </p:nvSpPr>
        <p:spPr>
          <a:xfrm xmlns:a="http://schemas.openxmlformats.org/drawingml/2006/main">
            <a:off x="571500" y="6648450"/>
            <a:ext cx="1409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A5276"/>
                </a:solidFill>
                <a:latin typeface="Arial"/>
                <a:ea typeface="Arial"/>
                <a:cs typeface="Arial"/>
              </a:defRPr>
            </a:pPr>
            <a:r>
              <a:rPr sz="3075" b="1">
                <a:solidFill>
                  <a:srgbClr val="1A5276"/>
                </a:solidFill>
                <a:latin typeface="Arial"/>
                <a:ea typeface="Arial"/>
                <a:cs typeface="Arial"/>
              </a:rPr>
              <a:t>Samen: Q daalt. De richting van P is nog onbepaald.</a:t>
            </a:r>
          </a:p>
        </p:txBody>
      </p:sp>
      <p:sp>
        <p:nvSpPr>
          <p:cNvPr id="9" name="Tegengestelde druk betekent niet automatisch gelijke effecte">
            <a:extLst xmlns:a="http://schemas.openxmlformats.org/drawingml/2006/main">
              <a:ext uri="{FF2B5EF4-FFF2-40B4-BE49-F238E27FC236}">
                <a16:creationId xmlns:a16="http://schemas.microsoft.com/office/drawing/2014/main" id="{AEA9D949-A4DE-448F-A7A2-6F08127344F9}"/>
              </a:ext>
            </a:extLst>
          </p:cNvPr>
          <p:cNvSpPr>
            <a:spLocks xmlns:a="http://schemas.openxmlformats.org/drawingml/2006/main" noGrp="1"/>
          </p:cNvSpPr>
          <p:nvPr/>
        </p:nvSpPr>
        <p:spPr>
          <a:xfrm xmlns:a="http://schemas.openxmlformats.org/drawingml/2006/main">
            <a:off x="571500" y="7524750"/>
            <a:ext cx="1409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Tegengestelde druk betekent niet automatisch gelijke effecten.</a:t>
            </a:r>
          </a:p>
        </p:txBody>
      </p:sp>
    </p:spTree>
    <p:extLst>
      <p:ext uri="{BB962C8B-B14F-4D97-AF65-F5344CB8AC3E}">
        <p14:creationId xmlns:p14="http://schemas.microsoft.com/office/powerpoint/2010/main" val="113819022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3.3 Verschuivingen en nieuw evenwicht">
            <a:extLst xmlns:a="http://schemas.openxmlformats.org/drawingml/2006/main">
              <a:ext uri="{FF2B5EF4-FFF2-40B4-BE49-F238E27FC236}">
                <a16:creationId xmlns:a16="http://schemas.microsoft.com/office/drawing/2014/main" id="{2D4932A2-7A96-41BF-87EF-8D9586F158C9}"/>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Deze les: §1.3.3 Verschuivingen en nieuw evenwicht</a:t>
            </a:r>
          </a:p>
        </p:txBody>
      </p:sp>
      <p:sp>
        <p:nvSpPr>
          <p:cNvPr id="2" name="">
            <a:extLst xmlns:a="http://schemas.openxmlformats.org/drawingml/2006/main">
              <a:ext uri="{FF2B5EF4-FFF2-40B4-BE49-F238E27FC236}">
                <a16:creationId xmlns:a16="http://schemas.microsoft.com/office/drawing/2014/main" id="{39D5617B-F0FF-4A5E-A4DB-590B8FE15B6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3 Verschuivingen en nieuw evenwicht">
            <a:extLst xmlns:a="http://schemas.openxmlformats.org/drawingml/2006/main">
              <a:ext uri="{FF2B5EF4-FFF2-40B4-BE49-F238E27FC236}">
                <a16:creationId xmlns:a16="http://schemas.microsoft.com/office/drawing/2014/main" id="{0BA8C86E-B49A-4015-94F5-6E57A22E0A2F}"/>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§1.3.3 Verschuivingen en nieuw evenwicht</a:t>
            </a:r>
          </a:p>
        </p:txBody>
      </p:sp>
      <p:sp>
        <p:nvSpPr>
          <p:cNvPr id="4" name="14">
            <a:extLst xmlns:a="http://schemas.openxmlformats.org/drawingml/2006/main">
              <a:ext uri="{FF2B5EF4-FFF2-40B4-BE49-F238E27FC236}">
                <a16:creationId xmlns:a16="http://schemas.microsoft.com/office/drawing/2014/main" id="{D46AA3C2-9707-4E18-8ADC-A2A0FB0255A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phase">
            <a:extLst xmlns:a="http://schemas.openxmlformats.org/drawingml/2006/main">
              <a:ext uri="{FF2B5EF4-FFF2-40B4-BE49-F238E27FC236}">
                <a16:creationId xmlns:a16="http://schemas.microsoft.com/office/drawing/2014/main" id="{1D3B1344-52A7-4163-895F-0ACB5E0929ED}"/>
              </a:ext>
            </a:extLst>
          </p:cNvPr>
          <p:cNvSpPr>
            <a:spLocks xmlns:a="http://schemas.openxmlformats.org/drawingml/2006/main" noGrp="1"/>
          </p:cNvSpPr>
          <p:nvPr/>
        </p:nvSpPr>
        <p:spPr>
          <a:xfrm xmlns:a="http://schemas.openxmlformats.org/drawingml/2006/main">
            <a:off x="571500" y="1057275"/>
            <a:ext cx="1390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7E6F30E7-6C8A-4409-8407-394824683965}"/>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CD846ED7-8E13-433D-A891-C381C7F692B5}"/>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68AEFA8B-70FC-444A-A8A0-CEB512B7F1CF}"/>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1">
            <a:extLst xmlns:a="http://schemas.openxmlformats.org/drawingml/2006/main">
              <a:ext uri="{FF2B5EF4-FFF2-40B4-BE49-F238E27FC236}">
                <a16:creationId xmlns:a16="http://schemas.microsoft.com/office/drawing/2014/main" id="{E4884DF2-59AA-4028-AF38-A0D44B8BA29F}"/>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E582852B-0FA0-4E9A-9015-71680CFDBA3D}"/>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EF24BF97-3B84-4E35-9371-15431AD45E52}"/>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92EE50EB-DACB-44E5-B6CF-E00F5A2F9979}"/>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4B5B8D01-7CF9-44D9-B1A1-2F90204D2C2D}"/>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4174E543-9B7F-4C54-8F42-4F0C8BAD4F1C}"/>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3E95E3DD-8FBB-4A0F-B69E-1C520D8FE352}"/>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954714F5-8EB8-4FC2-BDEE-EB7D0A8F4D91}"/>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5B94C41A-5CE2-41A5-A4FF-E87CE1D8D3C1}"/>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778061B4-BE56-4B66-9C86-FA6ED8BABAEF}"/>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31.</a:t>
            </a:r>
          </a:p>
        </p:txBody>
      </p:sp>
      <p:sp>
        <p:nvSpPr>
          <p:cNvPr id="19" name="route-number-6">
            <a:extLst xmlns:a="http://schemas.openxmlformats.org/drawingml/2006/main">
              <a:ext uri="{FF2B5EF4-FFF2-40B4-BE49-F238E27FC236}">
                <a16:creationId xmlns:a16="http://schemas.microsoft.com/office/drawing/2014/main" id="{1D4E7C25-53BA-4726-9166-427C0FDCA383}"/>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58783AFE-436F-44C4-B0BF-4F64575325B3}"/>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188B0619-5DAC-4A5B-8071-9C07A21313ED}"/>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777D06DD-F0CB-4B65-92C2-4A97FE15B44E}"/>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Oorzaak en prijsreactie scheiden.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Oud en nieuw evenwicht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Verschuiving en beweging tekenen.</a:t>
            </a:r>
          </a:p>
        </p:txBody>
      </p:sp>
      <p:sp>
        <p:nvSpPr>
          <p:cNvPr id="23" name="">
            <a:extLst xmlns:a="http://schemas.openxmlformats.org/drawingml/2006/main">
              <a:ext uri="{FF2B5EF4-FFF2-40B4-BE49-F238E27FC236}">
                <a16:creationId xmlns:a16="http://schemas.microsoft.com/office/drawing/2014/main" id="{AD4DA880-73DD-40EA-92D0-D0342AB8F46F}"/>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C443D132-8973-444B-AF4C-1C14C9A07D21}"/>
              </a:ext>
            </a:extLst>
          </p:cNvPr>
          <p:cNvSpPr>
            <a:spLocks xmlns:a="http://schemas.openxmlformats.org/drawingml/2006/main" noGrp="1"/>
          </p:cNvSpPr>
          <p:nvPr/>
        </p:nvSpPr>
        <p:spPr>
          <a:xfrm xmlns:a="http://schemas.openxmlformats.org/drawingml/2006/main">
            <a:off x="9258300" y="37814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C5F51CCF-F17E-49BD-9040-E8DCDAA75CAE}"/>
              </a:ext>
            </a:extLst>
          </p:cNvPr>
          <p:cNvSpPr>
            <a:spLocks xmlns:a="http://schemas.openxmlformats.org/drawingml/2006/main" noGrp="1"/>
          </p:cNvSpPr>
          <p:nvPr/>
        </p:nvSpPr>
        <p:spPr>
          <a:xfrm xmlns:a="http://schemas.openxmlformats.org/drawingml/2006/main">
            <a:off x="9258300" y="4276725"/>
            <a:ext cx="5381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112 · Opgaven 23 en 24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24: verkennen met theorie</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 108–109</a:t>
            </a:r>
          </a:p>
        </p:txBody>
      </p:sp>
      <p:sp>
        <p:nvSpPr>
          <p:cNvPr id="26" name="">
            <a:extLst xmlns:a="http://schemas.openxmlformats.org/drawingml/2006/main">
              <a:ext uri="{FF2B5EF4-FFF2-40B4-BE49-F238E27FC236}">
                <a16:creationId xmlns:a16="http://schemas.microsoft.com/office/drawing/2014/main" id="{86076740-8659-48A3-8514-F48B39248181}"/>
              </a:ext>
            </a:extLst>
          </p:cNvPr>
          <p:cNvSpPr>
            <a:spLocks xmlns:a="http://schemas.openxmlformats.org/drawingml/2006/main" noGrp="1"/>
          </p:cNvSpPr>
          <p:nvPr/>
        </p:nvSpPr>
        <p:spPr>
          <a:xfrm xmlns:a="http://schemas.openxmlformats.org/drawingml/2006/main">
            <a:off x="9258300" y="5495925"/>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2053086C-2888-4001-9390-4FBFEE5031EE}"/>
              </a:ext>
            </a:extLst>
          </p:cNvPr>
          <p:cNvSpPr>
            <a:spLocks xmlns:a="http://schemas.openxmlformats.org/drawingml/2006/main" noGrp="1"/>
          </p:cNvSpPr>
          <p:nvPr/>
        </p:nvSpPr>
        <p:spPr>
          <a:xfrm xmlns:a="http://schemas.openxmlformats.org/drawingml/2006/main">
            <a:off x="9258300" y="56864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A652D688-546E-4C1F-A762-57D0F8AD1B61}"/>
              </a:ext>
            </a:extLst>
          </p:cNvPr>
          <p:cNvSpPr>
            <a:spLocks xmlns:a="http://schemas.openxmlformats.org/drawingml/2006/main" noGrp="1"/>
          </p:cNvSpPr>
          <p:nvPr/>
        </p:nvSpPr>
        <p:spPr>
          <a:xfrm xmlns:a="http://schemas.openxmlformats.org/drawingml/2006/main">
            <a:off x="9258300" y="6200775"/>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§1.3.3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25, 26 en 27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28, 29 en 30</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31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201626624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31 · Meer kopers van oplaadkabels">
            <a:extLst xmlns:a="http://schemas.openxmlformats.org/drawingml/2006/main">
              <a:ext uri="{FF2B5EF4-FFF2-40B4-BE49-F238E27FC236}">
                <a16:creationId xmlns:a16="http://schemas.microsoft.com/office/drawing/2014/main" id="{5AE5A3BD-264C-4C4F-B7AC-923444F5D5EC}"/>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31 · Meer kopers van oplaadkabels</a:t>
            </a:r>
          </a:p>
        </p:txBody>
      </p:sp>
      <p:sp>
        <p:nvSpPr>
          <p:cNvPr id="2" name="">
            <a:extLst xmlns:a="http://schemas.openxmlformats.org/drawingml/2006/main">
              <a:ext uri="{FF2B5EF4-FFF2-40B4-BE49-F238E27FC236}">
                <a16:creationId xmlns:a16="http://schemas.microsoft.com/office/drawing/2014/main" id="{D1257354-145A-4688-8E98-56FF7DE2D50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3 Verschuivingen en nieuw evenwicht · Opgave 31 · p. 11">
            <a:extLst xmlns:a="http://schemas.openxmlformats.org/drawingml/2006/main">
              <a:ext uri="{FF2B5EF4-FFF2-40B4-BE49-F238E27FC236}">
                <a16:creationId xmlns:a16="http://schemas.microsoft.com/office/drawing/2014/main" id="{DDA022CD-C298-416B-9822-920E5F8BDE45}"/>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§1.3.3 Verschuivingen en nieuw evenwicht · Opgave 31 · p. 116</a:t>
            </a:r>
          </a:p>
        </p:txBody>
      </p:sp>
      <p:sp>
        <p:nvSpPr>
          <p:cNvPr id="4" name="15">
            <a:extLst xmlns:a="http://schemas.openxmlformats.org/drawingml/2006/main">
              <a:ext uri="{FF2B5EF4-FFF2-40B4-BE49-F238E27FC236}">
                <a16:creationId xmlns:a16="http://schemas.microsoft.com/office/drawing/2014/main" id="{01494409-5976-4C6E-8922-FC299F040FC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Een regionale markt. Q is kabels per week. P is euro per kab">
            <a:extLst xmlns:a="http://schemas.openxmlformats.org/drawingml/2006/main">
              <a:ext uri="{FF2B5EF4-FFF2-40B4-BE49-F238E27FC236}">
                <a16:creationId xmlns:a16="http://schemas.microsoft.com/office/drawing/2014/main" id="{33E50426-4F68-49C9-A69E-92710692D606}"/>
              </a:ext>
            </a:extLst>
          </p:cNvPr>
          <p:cNvSpPr>
            <a:spLocks xmlns:a="http://schemas.openxmlformats.org/drawingml/2006/main" noGrp="1"/>
          </p:cNvSpPr>
          <p:nvPr/>
        </p:nvSpPr>
        <p:spPr>
          <a:xfrm xmlns:a="http://schemas.openxmlformats.org/drawingml/2006/main">
            <a:off x="571500" y="198120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Een regionale markt. Q is kabels per week. P is euro per kabel.</a:t>
            </a:r>
          </a:p>
        </p:txBody>
      </p:sp>
      <p:graphicFrame>
        <p:nvGraphicFramePr>
          <p:cNvPr id="13" name=""/>
          <p:cNvGraphicFramePr/>
          <p:nvPr/>
        </p:nvGraphicFramePr>
        <p:xfrm>
          <a:off xmlns:a="http://schemas.openxmlformats.org/drawingml/2006/main" x="571500" y="3352800"/>
          <a:ext xmlns:a="http://schemas.openxmlformats.org/drawingml/2006/main" cx="14097000" cy="3295650"/>
        </p:xfrm>
        <a:graphic xmlns:a="http://schemas.openxmlformats.org/drawingml/2006/main">
          <a:graphicData uri="http://schemas.openxmlformats.org/drawingml/2006/table">
            <a:tbl>
              <a:tblPr/>
              <a:tblGrid>
                <a:gridCol w="4095750"/>
                <a:gridCol w="5810250"/>
                <a:gridCol w="4191000"/>
              </a:tblGrid>
              <a:tr h="823913">
                <a:tc>
                  <a:txBody>
                    <a:bodyPr lIns="171450" tIns="95250" rIns="133350" bIns="95250"/>
                    <a:lstStyle/>
                    <a:p>
                      <a:r>
                        <a:rPr sz="2625" b="1">
                          <a:solidFill>
                            <a:srgbClr val="FFFFFF"/>
                          </a:solidFill>
                          <a:latin typeface="Arial"/>
                          <a:ea typeface="Arial"/>
                          <a:cs typeface="Arial"/>
                        </a:rPr>
                        <a:t>Beginsituatie</a:t>
                      </a:r>
                    </a:p>
                  </a:txBody>
                  <a:tcPr marL="91440" marR="91440" marT="45720" marB="45720" anchor="ctr">
                    <a:solidFill>
                      <a:srgbClr val="183247"/>
                    </a:solidFill>
                  </a:tcPr>
                </a:tc>
                <a:tc>
                  <a:txBody>
                    <a:bodyPr lIns="171450" tIns="95250" rIns="133350" bIns="95250"/>
                    <a:lstStyle/>
                    <a:p>
                      <a:r>
                        <a:rPr sz="2625" b="1">
                          <a:solidFill>
                            <a:srgbClr val="FFFFFF"/>
                          </a:solidFill>
                          <a:latin typeface="Arial"/>
                          <a:ea typeface="Arial"/>
                          <a:cs typeface="Arial"/>
                        </a:rPr>
                        <a:t>Functie</a:t>
                      </a:r>
                    </a:p>
                  </a:txBody>
                  <a:tcPr marL="91440" marR="91440" marT="45720" marB="45720" anchor="ctr">
                    <a:solidFill>
                      <a:srgbClr val="183247"/>
                    </a:solidFill>
                  </a:tcPr>
                </a:tc>
                <a:tc>
                  <a:txBody>
                    <a:bodyPr lIns="171450" tIns="95250" rIns="133350" bIns="95250"/>
                    <a:lstStyle/>
                    <a:p>
                      <a:r>
                        <a:rPr sz="2625" b="1">
                          <a:solidFill>
                            <a:srgbClr val="FFFFFF"/>
                          </a:solidFill>
                          <a:latin typeface="Arial"/>
                          <a:ea typeface="Arial"/>
                          <a:cs typeface="Arial"/>
                        </a:rPr>
                        <a:t>Domein</a:t>
                      </a:r>
                    </a:p>
                  </a:txBody>
                  <a:tcPr marL="91440" marR="91440" marT="45720" marB="45720" anchor="ctr">
                    <a:solidFill>
                      <a:srgbClr val="183247"/>
                    </a:solidFill>
                  </a:tcPr>
                </a:tc>
              </a:tr>
              <a:tr h="823913">
                <a:tc>
                  <a:txBody>
                    <a:bodyPr lIns="171450" tIns="95250" rIns="133350" bIns="95250"/>
                    <a:lstStyle/>
                    <a:p>
                      <a:r>
                        <a:rPr sz="2625" b="0">
                          <a:solidFill>
                            <a:srgbClr val="183247"/>
                          </a:solidFill>
                          <a:latin typeface="Arial"/>
                          <a:ea typeface="Arial"/>
                          <a:cs typeface="Arial"/>
                        </a:rPr>
                        <a:t>Vraag</a:t>
                      </a:r>
                    </a:p>
                  </a:txBody>
                  <a:tcPr marL="91440" marR="91440" marT="45720" marB="45720" anchor="ctr">
                    <a:solidFill>
                      <a:srgbClr val="FFFFFF"/>
                    </a:solidFill>
                  </a:tcPr>
                </a:tc>
                <a:tc>
                  <a:txBody>
                    <a:bodyPr lIns="171450" tIns="95250" rIns="133350" bIns="95250"/>
                    <a:lstStyle/>
                    <a:p>
                      <a:r>
                        <a:rPr sz="2625" b="0">
                          <a:solidFill>
                            <a:srgbClr val="183247"/>
                          </a:solidFill>
                          <a:latin typeface="Arial"/>
                          <a:ea typeface="Arial"/>
                          <a:cs typeface="Arial"/>
                        </a:rPr>
                        <a:t>Qᵥ,₀ = 100 − 5P</a:t>
                      </a:r>
                    </a:p>
                  </a:txBody>
                  <a:tcPr marL="91440" marR="91440" marT="45720" marB="45720" anchor="ctr">
                    <a:solidFill>
                      <a:srgbClr val="FFFFFF"/>
                    </a:solidFill>
                  </a:tcPr>
                </a:tc>
                <a:tc>
                  <a:txBody>
                    <a:bodyPr lIns="171450" tIns="95250" rIns="133350" bIns="95250"/>
                    <a:lstStyle/>
                    <a:p>
                      <a:r>
                        <a:rPr sz="2625" b="0">
                          <a:solidFill>
                            <a:srgbClr val="183247"/>
                          </a:solidFill>
                          <a:latin typeface="Arial"/>
                          <a:ea typeface="Arial"/>
                          <a:cs typeface="Arial"/>
                        </a:rPr>
                        <a:t>0 ≤ P ≤ 20</a:t>
                      </a:r>
                    </a:p>
                  </a:txBody>
                  <a:tcPr marL="91440" marR="91440" marT="45720" marB="45720" anchor="ctr">
                    <a:solidFill>
                      <a:srgbClr val="FFFFFF"/>
                    </a:solidFill>
                  </a:tcPr>
                </a:tc>
              </a:tr>
              <a:tr h="823913">
                <a:tc>
                  <a:txBody>
                    <a:bodyPr lIns="171450" tIns="95250" rIns="133350" bIns="95250"/>
                    <a:lstStyle/>
                    <a:p>
                      <a:r>
                        <a:rPr sz="2625" b="0">
                          <a:solidFill>
                            <a:srgbClr val="183247"/>
                          </a:solidFill>
                          <a:latin typeface="Arial"/>
                          <a:ea typeface="Arial"/>
                          <a:cs typeface="Arial"/>
                        </a:rPr>
                        <a:t>Aanbod</a:t>
                      </a:r>
                    </a:p>
                  </a:txBody>
                  <a:tcPr marL="91440" marR="91440" marT="45720" marB="45720" anchor="ctr">
                    <a:solidFill>
                      <a:srgbClr val="EFF4F7"/>
                    </a:solidFill>
                  </a:tcPr>
                </a:tc>
                <a:tc>
                  <a:txBody>
                    <a:bodyPr lIns="171450" tIns="95250" rIns="133350" bIns="95250"/>
                    <a:lstStyle/>
                    <a:p>
                      <a:r>
                        <a:rPr sz="2625" b="0">
                          <a:solidFill>
                            <a:srgbClr val="183247"/>
                          </a:solidFill>
                          <a:latin typeface="Arial"/>
                          <a:ea typeface="Arial"/>
                          <a:cs typeface="Arial"/>
                        </a:rPr>
                        <a:t>Qₐ = 5P − 20</a:t>
                      </a:r>
                    </a:p>
                  </a:txBody>
                  <a:tcPr marL="91440" marR="91440" marT="45720" marB="45720" anchor="ctr">
                    <a:solidFill>
                      <a:srgbClr val="EFF4F7"/>
                    </a:solidFill>
                  </a:tcPr>
                </a:tc>
                <a:tc>
                  <a:txBody>
                    <a:bodyPr lIns="171450" tIns="95250" rIns="133350" bIns="95250"/>
                    <a:lstStyle/>
                    <a:p>
                      <a:r>
                        <a:rPr sz="2625" b="0">
                          <a:solidFill>
                            <a:srgbClr val="183247"/>
                          </a:solidFill>
                          <a:latin typeface="Arial"/>
                          <a:ea typeface="Arial"/>
                          <a:cs typeface="Arial"/>
                        </a:rPr>
                        <a:t>4 ≤ P ≤ 24</a:t>
                      </a:r>
                    </a:p>
                  </a:txBody>
                  <a:tcPr marL="91440" marR="91440" marT="45720" marB="45720" anchor="ctr">
                    <a:solidFill>
                      <a:srgbClr val="EFF4F7"/>
                    </a:solidFill>
                  </a:tcPr>
                </a:tc>
              </a:tr>
              <a:tr h="823913">
                <a:tc>
                  <a:txBody>
                    <a:bodyPr lIns="171450" tIns="95250" rIns="133350" bIns="95250"/>
                    <a:lstStyle/>
                    <a:p>
                      <a:r>
                        <a:rPr sz="2625" b="0">
                          <a:solidFill>
                            <a:srgbClr val="183247"/>
                          </a:solidFill>
                          <a:latin typeface="Arial"/>
                          <a:ea typeface="Arial"/>
                          <a:cs typeface="Arial"/>
                        </a:rPr>
                        <a:t>Nieuwe vraag</a:t>
                      </a:r>
                    </a:p>
                  </a:txBody>
                  <a:tcPr marL="91440" marR="91440" marT="45720" marB="45720" anchor="ctr">
                    <a:solidFill>
                      <a:srgbClr val="FFFFFF"/>
                    </a:solidFill>
                  </a:tcPr>
                </a:tc>
                <a:tc>
                  <a:txBody>
                    <a:bodyPr lIns="171450" tIns="95250" rIns="133350" bIns="95250"/>
                    <a:lstStyle/>
                    <a:p>
                      <a:r>
                        <a:rPr sz="2625" b="0">
                          <a:solidFill>
                            <a:srgbClr val="183247"/>
                          </a:solidFill>
                          <a:latin typeface="Arial"/>
                          <a:ea typeface="Arial"/>
                          <a:cs typeface="Arial"/>
                        </a:rPr>
                        <a:t>Qᵥ,₁ = 120 − 5P</a:t>
                      </a:r>
                    </a:p>
                  </a:txBody>
                  <a:tcPr marL="91440" marR="91440" marT="45720" marB="45720" anchor="ctr">
                    <a:solidFill>
                      <a:srgbClr val="FFFFFF"/>
                    </a:solidFill>
                  </a:tcPr>
                </a:tc>
                <a:tc>
                  <a:txBody>
                    <a:bodyPr lIns="171450" tIns="95250" rIns="133350" bIns="95250"/>
                    <a:lstStyle/>
                    <a:p>
                      <a:r>
                        <a:rPr sz="2625" b="0">
                          <a:solidFill>
                            <a:srgbClr val="183247"/>
                          </a:solidFill>
                          <a:latin typeface="Arial"/>
                          <a:ea typeface="Arial"/>
                          <a:cs typeface="Arial"/>
                        </a:rPr>
                        <a:t>0 ≤ P ≤ 24</a:t>
                      </a:r>
                    </a:p>
                  </a:txBody>
                  <a:tcPr marL="91440" marR="91440" marT="45720" marB="45720" anchor="ctr">
                    <a:solidFill>
                      <a:srgbClr val="FFFFFF"/>
                    </a:solidFill>
                  </a:tcPr>
                </a:tc>
              </a:tr>
            </a:tbl>
          </a:graphicData>
        </a:graphic>
      </p:graphicFrame>
      <p:sp>
        <p:nvSpPr>
          <p:cNvPr id="7" name="Er komen meer kopers. Alleen daardoor verandert de vraag.&#10;De">
            <a:extLst xmlns:a="http://schemas.openxmlformats.org/drawingml/2006/main">
              <a:ext uri="{FF2B5EF4-FFF2-40B4-BE49-F238E27FC236}">
                <a16:creationId xmlns:a16="http://schemas.microsoft.com/office/drawing/2014/main" id="{4D34F33F-6D35-4FA6-AD2B-5AC8CC1D0AB0}"/>
              </a:ext>
            </a:extLst>
          </p:cNvPr>
          <p:cNvSpPr>
            <a:spLocks xmlns:a="http://schemas.openxmlformats.org/drawingml/2006/main" noGrp="1"/>
          </p:cNvSpPr>
          <p:nvPr/>
        </p:nvSpPr>
        <p:spPr>
          <a:xfrm xmlns:a="http://schemas.openxmlformats.org/drawingml/2006/main">
            <a:off x="571500" y="708660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Er komen meer kopers. Alleen daardoor verandert de vraag.</a:t>
            </a:r>
          </a:p>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De omstandigheden van de aanbieders blijven gelijk.</a:t>
            </a:r>
          </a:p>
        </p:txBody>
      </p:sp>
    </p:spTree>
    <p:extLst>
      <p:ext uri="{BB962C8B-B14F-4D97-AF65-F5344CB8AC3E}">
        <p14:creationId xmlns:p14="http://schemas.microsoft.com/office/powerpoint/2010/main" val="116817638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31 · De gegeven beginlijnen">
            <a:extLst xmlns:a="http://schemas.openxmlformats.org/drawingml/2006/main">
              <a:ext uri="{FF2B5EF4-FFF2-40B4-BE49-F238E27FC236}">
                <a16:creationId xmlns:a16="http://schemas.microsoft.com/office/drawing/2014/main" id="{8A3E95C0-F231-4361-9F87-0DF2CBA94341}"/>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31 · De gegeven beginlijnen</a:t>
            </a:r>
          </a:p>
        </p:txBody>
      </p:sp>
      <p:sp>
        <p:nvSpPr>
          <p:cNvPr id="2" name="">
            <a:extLst xmlns:a="http://schemas.openxmlformats.org/drawingml/2006/main">
              <a:ext uri="{FF2B5EF4-FFF2-40B4-BE49-F238E27FC236}">
                <a16:creationId xmlns:a16="http://schemas.microsoft.com/office/drawing/2014/main" id="{F312B9EF-ACC9-4BDB-AB12-5910E998066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3 Verschuivingen en nieuw evenwicht · Opgave 31 · p. 11">
            <a:extLst xmlns:a="http://schemas.openxmlformats.org/drawingml/2006/main">
              <a:ext uri="{FF2B5EF4-FFF2-40B4-BE49-F238E27FC236}">
                <a16:creationId xmlns:a16="http://schemas.microsoft.com/office/drawing/2014/main" id="{FEC64A5E-6CD6-4A08-A9B3-2145336CFAA8}"/>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§1.3.3 Verschuivingen en nieuw evenwicht · Opgave 31 · p. 116</a:t>
            </a:r>
          </a:p>
        </p:txBody>
      </p:sp>
      <p:sp>
        <p:nvSpPr>
          <p:cNvPr id="4" name="16">
            <a:extLst xmlns:a="http://schemas.openxmlformats.org/drawingml/2006/main">
              <a:ext uri="{FF2B5EF4-FFF2-40B4-BE49-F238E27FC236}">
                <a16:creationId xmlns:a16="http://schemas.microsoft.com/office/drawing/2014/main" id="{4B1DE135-1E53-4291-8176-3E6ED8FC322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graphicFrame>
        <p:nvGraphicFramePr>
          <p:cNvPr id="12" name="Chart"/>
          <p:cNvGraphicFramePr/>
          <p:nvPr/>
        </p:nvGraphicFramePr>
        <p:xfrm>
          <a:off xmlns:a="http://schemas.openxmlformats.org/drawingml/2006/main" x="571500" y="2305050"/>
          <a:ext xmlns:a="http://schemas.openxmlformats.org/drawingml/2006/main" cx="9477375" cy="5553075"/>
        </p:xfrm>
        <a:graphic xmlns:a="http://schemas.openxmlformats.org/drawingml/2006/main">
          <a:graphicData uri="http://schemas.openxmlformats.org/drawingml/2006/chart">
            <c:chart xmlns:r="http://schemas.openxmlformats.org/officeDocument/2006/relationships" xmlns:c="http://schemas.openxmlformats.org/drawingml/2006/chart" r:id="Ra71b286ac45f48c6"/>
          </a:graphicData>
        </a:graphic>
      </p:graphicFrame>
      <p:sp>
        <p:nvSpPr>
          <p:cNvPr id="6" name="V₀: Qᵥ,₀ = 100 − 5P&#10;A: Qₐ = 5P − 20">
            <a:extLst xmlns:a="http://schemas.openxmlformats.org/drawingml/2006/main">
              <a:ext uri="{FF2B5EF4-FFF2-40B4-BE49-F238E27FC236}">
                <a16:creationId xmlns:a16="http://schemas.microsoft.com/office/drawing/2014/main" id="{698A12F8-030C-4A1A-A4FD-B13DDEBB5754}"/>
              </a:ext>
            </a:extLst>
          </p:cNvPr>
          <p:cNvSpPr>
            <a:spLocks xmlns:a="http://schemas.openxmlformats.org/drawingml/2006/main" noGrp="1"/>
          </p:cNvSpPr>
          <p:nvPr/>
        </p:nvSpPr>
        <p:spPr>
          <a:xfrm xmlns:a="http://schemas.openxmlformats.org/drawingml/2006/main">
            <a:off x="10572750" y="2724150"/>
            <a:ext cx="4000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V₀: Qᵥ,₀ = 100 − 5P</a:t>
            </a:r>
          </a:p>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A: Qₐ = 5P − 20</a:t>
            </a:r>
          </a:p>
        </p:txBody>
      </p:sp>
      <p:sp>
        <p:nvSpPr>
          <p:cNvPr id="7" name="De oorspronkelijke&#10;lijnen zijn gegeven.&#10;&#10;De nieuwe lijn en&#10;u">
            <a:extLst xmlns:a="http://schemas.openxmlformats.org/drawingml/2006/main">
              <a:ext uri="{FF2B5EF4-FFF2-40B4-BE49-F238E27FC236}">
                <a16:creationId xmlns:a16="http://schemas.microsoft.com/office/drawing/2014/main" id="{882A1FC1-6586-4F71-B0A0-3594CCE0ECE7}"/>
              </a:ext>
            </a:extLst>
          </p:cNvPr>
          <p:cNvSpPr>
            <a:spLocks xmlns:a="http://schemas.openxmlformats.org/drawingml/2006/main" noGrp="1"/>
          </p:cNvSpPr>
          <p:nvPr/>
        </p:nvSpPr>
        <p:spPr>
          <a:xfrm xmlns:a="http://schemas.openxmlformats.org/drawingml/2006/main">
            <a:off x="10572750" y="4724400"/>
            <a:ext cx="400050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De oorspronkelijke</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lijnen zijn gegeven.</a:t>
            </a:r>
          </a:p>
          <a:p xmlns:a="http://schemas.openxmlformats.org/drawingml/2006/main">
            <a:r>
              <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De nieuwe lijn en</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uitkomsten ontbreken.</a:t>
            </a:r>
          </a:p>
        </p:txBody>
      </p:sp>
    </p:spTree>
    <p:extLst>
      <p:ext uri="{BB962C8B-B14F-4D97-AF65-F5344CB8AC3E}">
        <p14:creationId xmlns:p14="http://schemas.microsoft.com/office/powerpoint/2010/main" val="170082710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31 · Deelvragen a, b en c">
            <a:extLst xmlns:a="http://schemas.openxmlformats.org/drawingml/2006/main">
              <a:ext uri="{FF2B5EF4-FFF2-40B4-BE49-F238E27FC236}">
                <a16:creationId xmlns:a16="http://schemas.microsoft.com/office/drawing/2014/main" id="{465F2399-EBEC-4EB7-9450-AA15A2D2FF8D}"/>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31 · Deelvragen a, b en c</a:t>
            </a:r>
          </a:p>
        </p:txBody>
      </p:sp>
      <p:sp>
        <p:nvSpPr>
          <p:cNvPr id="2" name="">
            <a:extLst xmlns:a="http://schemas.openxmlformats.org/drawingml/2006/main">
              <a:ext uri="{FF2B5EF4-FFF2-40B4-BE49-F238E27FC236}">
                <a16:creationId xmlns:a16="http://schemas.microsoft.com/office/drawing/2014/main" id="{595DA085-BF5D-4D48-BEB7-27E26A00BBC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3 Verschuivingen en nieuw evenwicht · Opgave 31 · p. 11">
            <a:extLst xmlns:a="http://schemas.openxmlformats.org/drawingml/2006/main">
              <a:ext uri="{FF2B5EF4-FFF2-40B4-BE49-F238E27FC236}">
                <a16:creationId xmlns:a16="http://schemas.microsoft.com/office/drawing/2014/main" id="{0A89CBEA-7F91-4F10-8CB3-25CA5E5A08BE}"/>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§1.3.3 Verschuivingen en nieuw evenwicht · Opgave 31 · p. 116</a:t>
            </a:r>
          </a:p>
        </p:txBody>
      </p:sp>
      <p:sp>
        <p:nvSpPr>
          <p:cNvPr id="4" name="17">
            <a:extLst xmlns:a="http://schemas.openxmlformats.org/drawingml/2006/main">
              <a:ext uri="{FF2B5EF4-FFF2-40B4-BE49-F238E27FC236}">
                <a16:creationId xmlns:a16="http://schemas.microsoft.com/office/drawing/2014/main" id="{1347CE16-55DA-4B6A-97EB-4E9AC7B8C05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a) Bereken het oude evenwicht en controleer met beide functi">
            <a:extLst xmlns:a="http://schemas.openxmlformats.org/drawingml/2006/main">
              <a:ext uri="{FF2B5EF4-FFF2-40B4-BE49-F238E27FC236}">
                <a16:creationId xmlns:a16="http://schemas.microsoft.com/office/drawing/2014/main" id="{75FBFB21-8276-4A8C-9F1B-A1D89343615F}"/>
              </a:ext>
            </a:extLst>
          </p:cNvPr>
          <p:cNvSpPr>
            <a:spLocks xmlns:a="http://schemas.openxmlformats.org/drawingml/2006/main" noGrp="1"/>
          </p:cNvSpPr>
          <p:nvPr/>
        </p:nvSpPr>
        <p:spPr>
          <a:xfrm xmlns:a="http://schemas.openxmlformats.org/drawingml/2006/main">
            <a:off x="571500" y="2066925"/>
            <a:ext cx="1409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a) Bereken het oude evenwicht en controleer met beide functies.</a:t>
            </a:r>
          </a:p>
        </p:txBody>
      </p:sp>
      <p:sp>
        <p:nvSpPr>
          <p:cNvPr id="6" name="">
            <a:extLst xmlns:a="http://schemas.openxmlformats.org/drawingml/2006/main">
              <a:ext uri="{FF2B5EF4-FFF2-40B4-BE49-F238E27FC236}">
                <a16:creationId xmlns:a16="http://schemas.microsoft.com/office/drawing/2014/main" id="{6C10EC13-7656-43A6-8975-5AE033F12890}"/>
              </a:ext>
            </a:extLst>
          </p:cNvPr>
          <p:cNvSpPr>
            <a:spLocks xmlns:a="http://schemas.openxmlformats.org/drawingml/2006/main" noGrp="1"/>
          </p:cNvSpPr>
          <p:nvPr/>
        </p:nvSpPr>
        <p:spPr>
          <a:xfrm xmlns:a="http://schemas.openxmlformats.org/drawingml/2006/main">
            <a:off x="571500" y="3343275"/>
            <a:ext cx="14097000" cy="0"/>
          </a:xfrm>
          <a:prstGeom xmlns:a="http://schemas.openxmlformats.org/drawingml/2006/main" prst="line">
            <a:avLst/>
          </a:prstGeom>
          <a:ln xmlns:a="http://schemas.openxmlformats.org/drawingml/2006/main" w="19050">
            <a:solidFill>
              <a:srgbClr val="C6D2DB"/>
            </a:solidFill>
          </a:ln>
        </p:spPr>
      </p:sp>
      <p:sp>
        <p:nvSpPr>
          <p:cNvPr id="7" name="b) Benoem de specifieke factor. Bereken na de verandering be">
            <a:extLst xmlns:a="http://schemas.openxmlformats.org/drawingml/2006/main">
              <a:ext uri="{FF2B5EF4-FFF2-40B4-BE49-F238E27FC236}">
                <a16:creationId xmlns:a16="http://schemas.microsoft.com/office/drawing/2014/main" id="{C544FF1C-5653-476C-8B5A-9CF6532EC7E2}"/>
              </a:ext>
            </a:extLst>
          </p:cNvPr>
          <p:cNvSpPr>
            <a:spLocks xmlns:a="http://schemas.openxmlformats.org/drawingml/2006/main" noGrp="1"/>
          </p:cNvSpPr>
          <p:nvPr/>
        </p:nvSpPr>
        <p:spPr>
          <a:xfrm xmlns:a="http://schemas.openxmlformats.org/drawingml/2006/main">
            <a:off x="571500" y="3752850"/>
            <a:ext cx="1409700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b) Benoem de specifieke factor. Bereken na de verandering beide plannen bij de oude prijs en verklaar de prijsdruk.</a:t>
            </a:r>
          </a:p>
        </p:txBody>
      </p:sp>
      <p:sp>
        <p:nvSpPr>
          <p:cNvPr id="8" name="">
            <a:extLst xmlns:a="http://schemas.openxmlformats.org/drawingml/2006/main">
              <a:ext uri="{FF2B5EF4-FFF2-40B4-BE49-F238E27FC236}">
                <a16:creationId xmlns:a16="http://schemas.microsoft.com/office/drawing/2014/main" id="{D5D8AB25-193F-4905-8167-171F9B9CBE33}"/>
              </a:ext>
            </a:extLst>
          </p:cNvPr>
          <p:cNvSpPr>
            <a:spLocks xmlns:a="http://schemas.openxmlformats.org/drawingml/2006/main" noGrp="1"/>
          </p:cNvSpPr>
          <p:nvPr/>
        </p:nvSpPr>
        <p:spPr>
          <a:xfrm xmlns:a="http://schemas.openxmlformats.org/drawingml/2006/main">
            <a:off x="571500" y="5600700"/>
            <a:ext cx="14097000" cy="0"/>
          </a:xfrm>
          <a:prstGeom xmlns:a="http://schemas.openxmlformats.org/drawingml/2006/main" prst="line">
            <a:avLst/>
          </a:prstGeom>
          <a:ln xmlns:a="http://schemas.openxmlformats.org/drawingml/2006/main" w="19050">
            <a:solidFill>
              <a:srgbClr val="C6D2DB"/>
            </a:solidFill>
          </a:ln>
        </p:spPr>
      </p:sp>
      <p:sp>
        <p:nvSpPr>
          <p:cNvPr id="9" name="c) Bereken het nieuwe evenwicht en controleer. Bereken de pr">
            <a:extLst xmlns:a="http://schemas.openxmlformats.org/drawingml/2006/main">
              <a:ext uri="{FF2B5EF4-FFF2-40B4-BE49-F238E27FC236}">
                <a16:creationId xmlns:a16="http://schemas.microsoft.com/office/drawing/2014/main" id="{6D9EF7B8-84EB-422E-B440-69319BDE08FD}"/>
              </a:ext>
            </a:extLst>
          </p:cNvPr>
          <p:cNvSpPr>
            <a:spLocks xmlns:a="http://schemas.openxmlformats.org/drawingml/2006/main" noGrp="1"/>
          </p:cNvSpPr>
          <p:nvPr/>
        </p:nvSpPr>
        <p:spPr>
          <a:xfrm xmlns:a="http://schemas.openxmlformats.org/drawingml/2006/main">
            <a:off x="571500" y="6115050"/>
            <a:ext cx="1409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c) Bereken het nieuwe evenwicht en controleer. Bereken de procentuele verandering van Q.</a:t>
            </a:r>
          </a:p>
        </p:txBody>
      </p:sp>
    </p:spTree>
    <p:extLst>
      <p:ext uri="{BB962C8B-B14F-4D97-AF65-F5344CB8AC3E}">
        <p14:creationId xmlns:p14="http://schemas.microsoft.com/office/powerpoint/2010/main" val="13856773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31 · Deelvragen d en e">
            <a:extLst xmlns:a="http://schemas.openxmlformats.org/drawingml/2006/main">
              <a:ext uri="{FF2B5EF4-FFF2-40B4-BE49-F238E27FC236}">
                <a16:creationId xmlns:a16="http://schemas.microsoft.com/office/drawing/2014/main" id="{BCD49DD4-1EB3-42E4-99F6-479226A97E59}"/>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31 · Deelvragen d en e</a:t>
            </a:r>
          </a:p>
        </p:txBody>
      </p:sp>
      <p:sp>
        <p:nvSpPr>
          <p:cNvPr id="2" name="">
            <a:extLst xmlns:a="http://schemas.openxmlformats.org/drawingml/2006/main">
              <a:ext uri="{FF2B5EF4-FFF2-40B4-BE49-F238E27FC236}">
                <a16:creationId xmlns:a16="http://schemas.microsoft.com/office/drawing/2014/main" id="{2A42E3B2-0244-4588-8353-683F2A3FE6A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3 Verschuivingen en nieuw evenwicht · Opgave 31 · p. 11">
            <a:extLst xmlns:a="http://schemas.openxmlformats.org/drawingml/2006/main">
              <a:ext uri="{FF2B5EF4-FFF2-40B4-BE49-F238E27FC236}">
                <a16:creationId xmlns:a16="http://schemas.microsoft.com/office/drawing/2014/main" id="{B9A2EEC2-35AF-4F0D-9949-E484ECC4212D}"/>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§1.3.3 Verschuivingen en nieuw evenwicht · Opgave 31 · p. 116</a:t>
            </a:r>
          </a:p>
        </p:txBody>
      </p:sp>
      <p:sp>
        <p:nvSpPr>
          <p:cNvPr id="4" name="18">
            <a:extLst xmlns:a="http://schemas.openxmlformats.org/drawingml/2006/main">
              <a:ext uri="{FF2B5EF4-FFF2-40B4-BE49-F238E27FC236}">
                <a16:creationId xmlns:a16="http://schemas.microsoft.com/office/drawing/2014/main" id="{DB8D35CD-FD9D-4354-8C54-AD246F718C8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d) Voeg V₁ toe. Markeer E₀ en E₁ met coördinaten. Laat met p">
            <a:extLst xmlns:a="http://schemas.openxmlformats.org/drawingml/2006/main">
              <a:ext uri="{FF2B5EF4-FFF2-40B4-BE49-F238E27FC236}">
                <a16:creationId xmlns:a16="http://schemas.microsoft.com/office/drawing/2014/main" id="{5C7321C5-2585-439E-B847-C7634DA26C9C}"/>
              </a:ext>
            </a:extLst>
          </p:cNvPr>
          <p:cNvSpPr>
            <a:spLocks xmlns:a="http://schemas.openxmlformats.org/drawingml/2006/main" noGrp="1"/>
          </p:cNvSpPr>
          <p:nvPr/>
        </p:nvSpPr>
        <p:spPr>
          <a:xfrm xmlns:a="http://schemas.openxmlformats.org/drawingml/2006/main">
            <a:off x="571500" y="2286000"/>
            <a:ext cx="1409700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d) Voeg V₁ toe. Markeer E₀ en E₁ met coördinaten. Laat met pijlen de verschuiving bij de oude prijs en de beweging langs A zien.</a:t>
            </a:r>
          </a:p>
        </p:txBody>
      </p:sp>
      <p:sp>
        <p:nvSpPr>
          <p:cNvPr id="6" name="">
            <a:extLst xmlns:a="http://schemas.openxmlformats.org/drawingml/2006/main">
              <a:ext uri="{FF2B5EF4-FFF2-40B4-BE49-F238E27FC236}">
                <a16:creationId xmlns:a16="http://schemas.microsoft.com/office/drawing/2014/main" id="{55C0CC9D-2FF8-4829-BC02-A06C32D780DA}"/>
              </a:ext>
            </a:extLst>
          </p:cNvPr>
          <p:cNvSpPr>
            <a:spLocks xmlns:a="http://schemas.openxmlformats.org/drawingml/2006/main" noGrp="1"/>
          </p:cNvSpPr>
          <p:nvPr/>
        </p:nvSpPr>
        <p:spPr>
          <a:xfrm xmlns:a="http://schemas.openxmlformats.org/drawingml/2006/main">
            <a:off x="571500" y="4438650"/>
            <a:ext cx="14097000" cy="0"/>
          </a:xfrm>
          <a:prstGeom xmlns:a="http://schemas.openxmlformats.org/drawingml/2006/main" prst="line">
            <a:avLst/>
          </a:prstGeom>
          <a:ln xmlns:a="http://schemas.openxmlformats.org/drawingml/2006/main" w="19050">
            <a:solidFill>
              <a:srgbClr val="C6D2DB"/>
            </a:solidFill>
          </a:ln>
        </p:spPr>
      </p:sp>
      <p:sp>
        <p:nvSpPr>
          <p:cNvPr id="7" name="e) Beoordeel: “De grotere aangeboden hoeveelheid komt door e">
            <a:extLst xmlns:a="http://schemas.openxmlformats.org/drawingml/2006/main">
              <a:ext uri="{FF2B5EF4-FFF2-40B4-BE49-F238E27FC236}">
                <a16:creationId xmlns:a16="http://schemas.microsoft.com/office/drawing/2014/main" id="{F5551AC7-1474-4288-8D92-2CFF76E9808F}"/>
              </a:ext>
            </a:extLst>
          </p:cNvPr>
          <p:cNvSpPr>
            <a:spLocks xmlns:a="http://schemas.openxmlformats.org/drawingml/2006/main" noGrp="1"/>
          </p:cNvSpPr>
          <p:nvPr/>
        </p:nvSpPr>
        <p:spPr>
          <a:xfrm xmlns:a="http://schemas.openxmlformats.org/drawingml/2006/main">
            <a:off x="571500" y="5153025"/>
            <a:ext cx="140970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e) Beoordeel: “De grotere aangeboden hoeveelheid komt door een verschuiving van de aanbodlijn.”</a:t>
            </a:r>
          </a:p>
        </p:txBody>
      </p:sp>
    </p:spTree>
    <p:extLst>
      <p:ext uri="{BB962C8B-B14F-4D97-AF65-F5344CB8AC3E}">
        <p14:creationId xmlns:p14="http://schemas.microsoft.com/office/powerpoint/2010/main" val="38355967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31a · Het oude evenwicht">
            <a:extLst xmlns:a="http://schemas.openxmlformats.org/drawingml/2006/main">
              <a:ext uri="{FF2B5EF4-FFF2-40B4-BE49-F238E27FC236}">
                <a16:creationId xmlns:a16="http://schemas.microsoft.com/office/drawing/2014/main" id="{BD6AA9EB-99F7-48AB-86C5-212316BF9F5D}"/>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31a · Het oude evenwicht</a:t>
            </a:r>
          </a:p>
        </p:txBody>
      </p:sp>
      <p:sp>
        <p:nvSpPr>
          <p:cNvPr id="2" name="">
            <a:extLst xmlns:a="http://schemas.openxmlformats.org/drawingml/2006/main">
              <a:ext uri="{FF2B5EF4-FFF2-40B4-BE49-F238E27FC236}">
                <a16:creationId xmlns:a16="http://schemas.microsoft.com/office/drawing/2014/main" id="{8C9FE935-F3AE-4487-9D9C-40F9083C5E6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3 Verschuivingen en nieuw evenwicht · Opgave 31 · p. 11">
            <a:extLst xmlns:a="http://schemas.openxmlformats.org/drawingml/2006/main">
              <a:ext uri="{FF2B5EF4-FFF2-40B4-BE49-F238E27FC236}">
                <a16:creationId xmlns:a16="http://schemas.microsoft.com/office/drawing/2014/main" id="{8D51F3C0-AFE1-4CDA-87E7-56EBF2F32B75}"/>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§1.3.3 Verschuivingen en nieuw evenwicht · Opgave 31 · p. 116</a:t>
            </a:r>
          </a:p>
        </p:txBody>
      </p:sp>
      <p:sp>
        <p:nvSpPr>
          <p:cNvPr id="4" name="19">
            <a:extLst xmlns:a="http://schemas.openxmlformats.org/drawingml/2006/main">
              <a:ext uri="{FF2B5EF4-FFF2-40B4-BE49-F238E27FC236}">
                <a16:creationId xmlns:a16="http://schemas.microsoft.com/office/drawing/2014/main" id="{29F0ADD3-511A-4952-A885-0DA96014CE0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100 − 5P = 5P − 20">
            <a:extLst xmlns:a="http://schemas.openxmlformats.org/drawingml/2006/main">
              <a:ext uri="{FF2B5EF4-FFF2-40B4-BE49-F238E27FC236}">
                <a16:creationId xmlns:a16="http://schemas.microsoft.com/office/drawing/2014/main" id="{219D71AB-A629-49D5-A88D-F76F405438B8}"/>
              </a:ext>
            </a:extLst>
          </p:cNvPr>
          <p:cNvSpPr>
            <a:spLocks xmlns:a="http://schemas.openxmlformats.org/drawingml/2006/main" noGrp="1"/>
          </p:cNvSpPr>
          <p:nvPr/>
        </p:nvSpPr>
        <p:spPr>
          <a:xfrm xmlns:a="http://schemas.openxmlformats.org/drawingml/2006/main">
            <a:off x="571500" y="2066925"/>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100 − 5P = 5P − 20</a:t>
            </a:r>
          </a:p>
        </p:txBody>
      </p:sp>
      <p:sp>
        <p:nvSpPr>
          <p:cNvPr id="6" name="120 = 10P">
            <a:extLst xmlns:a="http://schemas.openxmlformats.org/drawingml/2006/main">
              <a:ext uri="{FF2B5EF4-FFF2-40B4-BE49-F238E27FC236}">
                <a16:creationId xmlns:a16="http://schemas.microsoft.com/office/drawing/2014/main" id="{FD70FB45-09E6-4E0E-9652-EE4BAE7736EE}"/>
              </a:ext>
            </a:extLst>
          </p:cNvPr>
          <p:cNvSpPr>
            <a:spLocks xmlns:a="http://schemas.openxmlformats.org/drawingml/2006/main" noGrp="1"/>
          </p:cNvSpPr>
          <p:nvPr/>
        </p:nvSpPr>
        <p:spPr>
          <a:xfrm xmlns:a="http://schemas.openxmlformats.org/drawingml/2006/main">
            <a:off x="571500" y="3114675"/>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120 = 10P</a:t>
            </a:r>
          </a:p>
        </p:txBody>
      </p:sp>
      <p:sp>
        <p:nvSpPr>
          <p:cNvPr id="7" name="P₀ = € 12 per kabel">
            <a:extLst xmlns:a="http://schemas.openxmlformats.org/drawingml/2006/main">
              <a:ext uri="{FF2B5EF4-FFF2-40B4-BE49-F238E27FC236}">
                <a16:creationId xmlns:a16="http://schemas.microsoft.com/office/drawing/2014/main" id="{A6B18734-2584-48F9-B496-51D22EAA829B}"/>
              </a:ext>
            </a:extLst>
          </p:cNvPr>
          <p:cNvSpPr>
            <a:spLocks xmlns:a="http://schemas.openxmlformats.org/drawingml/2006/main" noGrp="1"/>
          </p:cNvSpPr>
          <p:nvPr/>
        </p:nvSpPr>
        <p:spPr>
          <a:xfrm xmlns:a="http://schemas.openxmlformats.org/drawingml/2006/main">
            <a:off x="571500" y="4162425"/>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A5276"/>
                </a:solidFill>
                <a:latin typeface="Arial"/>
                <a:ea typeface="Arial"/>
                <a:cs typeface="Arial"/>
              </a:defRPr>
            </a:pPr>
            <a:r>
              <a:rPr sz="3450" b="1">
                <a:solidFill>
                  <a:srgbClr val="1A5276"/>
                </a:solidFill>
                <a:latin typeface="Arial"/>
                <a:ea typeface="Arial"/>
                <a:cs typeface="Arial"/>
              </a:rPr>
              <a:t>P₀ = € 12 per kabel</a:t>
            </a:r>
          </a:p>
        </p:txBody>
      </p:sp>
      <p:sp>
        <p:nvSpPr>
          <p:cNvPr id="8" name="">
            <a:extLst xmlns:a="http://schemas.openxmlformats.org/drawingml/2006/main">
              <a:ext uri="{FF2B5EF4-FFF2-40B4-BE49-F238E27FC236}">
                <a16:creationId xmlns:a16="http://schemas.microsoft.com/office/drawing/2014/main" id="{9D6A2AFE-C947-4557-B43F-545DB842B16A}"/>
              </a:ext>
            </a:extLst>
          </p:cNvPr>
          <p:cNvSpPr>
            <a:spLocks xmlns:a="http://schemas.openxmlformats.org/drawingml/2006/main" noGrp="1"/>
          </p:cNvSpPr>
          <p:nvPr/>
        </p:nvSpPr>
        <p:spPr>
          <a:xfrm xmlns:a="http://schemas.openxmlformats.org/drawingml/2006/main">
            <a:off x="571500" y="5286375"/>
            <a:ext cx="14097000" cy="0"/>
          </a:xfrm>
          <a:prstGeom xmlns:a="http://schemas.openxmlformats.org/drawingml/2006/main" prst="line">
            <a:avLst/>
          </a:prstGeom>
          <a:ln xmlns:a="http://schemas.openxmlformats.org/drawingml/2006/main" w="19050">
            <a:solidFill>
              <a:srgbClr val="C6D2DB"/>
            </a:solidFill>
          </a:ln>
        </p:spPr>
      </p:sp>
      <p:sp>
        <p:nvSpPr>
          <p:cNvPr id="9" name="Qᵥ,₀ = 100 − 5 × 12 = 40&#10;Controle: Qₐ = 5 × 12 − 20 = 40 kab">
            <a:extLst xmlns:a="http://schemas.openxmlformats.org/drawingml/2006/main">
              <a:ext uri="{FF2B5EF4-FFF2-40B4-BE49-F238E27FC236}">
                <a16:creationId xmlns:a16="http://schemas.microsoft.com/office/drawing/2014/main" id="{2CB8496D-E275-427B-AC19-DA40B2A5D201}"/>
              </a:ext>
            </a:extLst>
          </p:cNvPr>
          <p:cNvSpPr>
            <a:spLocks xmlns:a="http://schemas.openxmlformats.org/drawingml/2006/main" noGrp="1"/>
          </p:cNvSpPr>
          <p:nvPr/>
        </p:nvSpPr>
        <p:spPr>
          <a:xfrm xmlns:a="http://schemas.openxmlformats.org/drawingml/2006/main">
            <a:off x="571500" y="5791200"/>
            <a:ext cx="140970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Qᵥ,₀ = 100 − 5 × 12 = 40</a:t>
            </a:r>
          </a:p>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Controle: Qₐ = 5 × 12 − 20 = 40 kabels per week</a:t>
            </a:r>
          </a:p>
        </p:txBody>
      </p:sp>
      <p:sp>
        <p:nvSpPr>
          <p:cNvPr id="10" name="E₀ = (40; 12)">
            <a:extLst xmlns:a="http://schemas.openxmlformats.org/drawingml/2006/main">
              <a:ext uri="{FF2B5EF4-FFF2-40B4-BE49-F238E27FC236}">
                <a16:creationId xmlns:a16="http://schemas.microsoft.com/office/drawing/2014/main" id="{07ADDB9A-2C83-42E5-BE71-F64E622B211C}"/>
              </a:ext>
            </a:extLst>
          </p:cNvPr>
          <p:cNvSpPr>
            <a:spLocks xmlns:a="http://schemas.openxmlformats.org/drawingml/2006/main" noGrp="1"/>
          </p:cNvSpPr>
          <p:nvPr/>
        </p:nvSpPr>
        <p:spPr>
          <a:xfrm xmlns:a="http://schemas.openxmlformats.org/drawingml/2006/main">
            <a:off x="571500" y="7477125"/>
            <a:ext cx="14097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A5276"/>
                </a:solidFill>
                <a:latin typeface="Arial"/>
                <a:ea typeface="Arial"/>
                <a:cs typeface="Arial"/>
              </a:defRPr>
            </a:pPr>
            <a:r>
              <a:rPr sz="2775" b="1">
                <a:solidFill>
                  <a:srgbClr val="1A5276"/>
                </a:solidFill>
                <a:latin typeface="Arial"/>
                <a:ea typeface="Arial"/>
                <a:cs typeface="Arial"/>
              </a:rPr>
              <a:t>E₀ = (40; 12)</a:t>
            </a:r>
          </a:p>
        </p:txBody>
      </p:sp>
    </p:spTree>
    <p:extLst>
      <p:ext uri="{BB962C8B-B14F-4D97-AF65-F5344CB8AC3E}">
        <p14:creationId xmlns:p14="http://schemas.microsoft.com/office/powerpoint/2010/main" val="6258489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1b · Aantal kopers en prijsdruk">
            <a:extLst xmlns:a="http://schemas.openxmlformats.org/drawingml/2006/main">
              <a:ext uri="{FF2B5EF4-FFF2-40B4-BE49-F238E27FC236}">
                <a16:creationId xmlns:a16="http://schemas.microsoft.com/office/drawing/2014/main" id="{5D50CD80-4ADE-49B6-A2DF-2F66414FCF30}"/>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31b · Aantal kopers en prijsdruk</a:t>
            </a:r>
          </a:p>
        </p:txBody>
      </p:sp>
      <p:sp>
        <p:nvSpPr>
          <p:cNvPr id="2" name="">
            <a:extLst xmlns:a="http://schemas.openxmlformats.org/drawingml/2006/main">
              <a:ext uri="{FF2B5EF4-FFF2-40B4-BE49-F238E27FC236}">
                <a16:creationId xmlns:a16="http://schemas.microsoft.com/office/drawing/2014/main" id="{0BB96552-1B58-4AC2-9A70-37A9787A763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3 Verschuivingen en nieuw evenwicht · Opgave 31 · p. 11">
            <a:extLst xmlns:a="http://schemas.openxmlformats.org/drawingml/2006/main">
              <a:ext uri="{FF2B5EF4-FFF2-40B4-BE49-F238E27FC236}">
                <a16:creationId xmlns:a16="http://schemas.microsoft.com/office/drawing/2014/main" id="{906788AE-7649-4390-8F02-3B1611385A59}"/>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§1.3.3 Verschuivingen en nieuw evenwicht · Opgave 31 · p. 116</a:t>
            </a:r>
          </a:p>
        </p:txBody>
      </p:sp>
      <p:sp>
        <p:nvSpPr>
          <p:cNvPr id="4" name="20">
            <a:extLst xmlns:a="http://schemas.openxmlformats.org/drawingml/2006/main">
              <a:ext uri="{FF2B5EF4-FFF2-40B4-BE49-F238E27FC236}">
                <a16:creationId xmlns:a16="http://schemas.microsoft.com/office/drawing/2014/main" id="{5AB14240-9567-4E83-B451-EF6398DBBC0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Specifieke factor: het aantal vragers neemt toe.">
            <a:extLst xmlns:a="http://schemas.openxmlformats.org/drawingml/2006/main">
              <a:ext uri="{FF2B5EF4-FFF2-40B4-BE49-F238E27FC236}">
                <a16:creationId xmlns:a16="http://schemas.microsoft.com/office/drawing/2014/main" id="{A55F1F84-900E-4F35-B1C4-085F59E349EF}"/>
              </a:ext>
            </a:extLst>
          </p:cNvPr>
          <p:cNvSpPr>
            <a:spLocks xmlns:a="http://schemas.openxmlformats.org/drawingml/2006/main" noGrp="1"/>
          </p:cNvSpPr>
          <p:nvPr/>
        </p:nvSpPr>
        <p:spPr>
          <a:xfrm xmlns:a="http://schemas.openxmlformats.org/drawingml/2006/main">
            <a:off x="571500" y="2038350"/>
            <a:ext cx="1409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704798"/>
                </a:solidFill>
                <a:latin typeface="Arial"/>
                <a:ea typeface="Arial"/>
                <a:cs typeface="Arial"/>
              </a:defRPr>
            </a:pPr>
            <a:r>
              <a:rPr sz="3150" b="1">
                <a:solidFill>
                  <a:srgbClr val="704798"/>
                </a:solidFill>
                <a:latin typeface="Arial"/>
                <a:ea typeface="Arial"/>
                <a:cs typeface="Arial"/>
              </a:rPr>
              <a:t>Specifieke factor: het aantal vragers neemt toe.</a:t>
            </a:r>
          </a:p>
        </p:txBody>
      </p:sp>
      <p:graphicFrame>
        <p:nvGraphicFramePr>
          <p:cNvPr id="14" name=""/>
          <p:cNvGraphicFramePr/>
          <p:nvPr/>
        </p:nvGraphicFramePr>
        <p:xfrm>
          <a:off xmlns:a="http://schemas.openxmlformats.org/drawingml/2006/main" x="571500" y="3409950"/>
          <a:ext xmlns:a="http://schemas.openxmlformats.org/drawingml/2006/main" cx="14097000" cy="2695575"/>
        </p:xfrm>
        <a:graphic xmlns:a="http://schemas.openxmlformats.org/drawingml/2006/main">
          <a:graphicData uri="http://schemas.openxmlformats.org/drawingml/2006/table">
            <a:tbl>
              <a:tblPr/>
              <a:tblGrid>
                <a:gridCol w="4953000"/>
                <a:gridCol w="4381500"/>
                <a:gridCol w="4762500"/>
              </a:tblGrid>
              <a:tr h="898525">
                <a:tc>
                  <a:txBody>
                    <a:bodyPr lIns="171450" tIns="95250" rIns="133350" bIns="95250"/>
                    <a:lstStyle/>
                    <a:p>
                      <a:r>
                        <a:rPr sz="2625" b="1">
                          <a:solidFill>
                            <a:srgbClr val="FFFFFF"/>
                          </a:solidFill>
                          <a:latin typeface="Arial"/>
                          <a:ea typeface="Arial"/>
                          <a:cs typeface="Arial"/>
                        </a:rPr>
                        <a:t>Bij P₀ = € 12</a:t>
                      </a:r>
                    </a:p>
                  </a:txBody>
                  <a:tcPr marL="91440" marR="91440" marT="45720" marB="45720" anchor="ctr">
                    <a:solidFill>
                      <a:srgbClr val="183247"/>
                    </a:solidFill>
                  </a:tcPr>
                </a:tc>
                <a:tc>
                  <a:txBody>
                    <a:bodyPr lIns="171450" tIns="95250" rIns="133350" bIns="95250"/>
                    <a:lstStyle/>
                    <a:p>
                      <a:r>
                        <a:rPr sz="2625" b="1">
                          <a:solidFill>
                            <a:srgbClr val="FFFFFF"/>
                          </a:solidFill>
                          <a:latin typeface="Arial"/>
                          <a:ea typeface="Arial"/>
                          <a:cs typeface="Arial"/>
                        </a:rPr>
                        <a:t>Invullen</a:t>
                      </a:r>
                    </a:p>
                  </a:txBody>
                  <a:tcPr marL="91440" marR="91440" marT="45720" marB="45720" anchor="ctr">
                    <a:solidFill>
                      <a:srgbClr val="183247"/>
                    </a:solidFill>
                  </a:tcPr>
                </a:tc>
                <a:tc>
                  <a:txBody>
                    <a:bodyPr lIns="171450" tIns="95250" rIns="133350" bIns="95250"/>
                    <a:lstStyle/>
                    <a:p>
                      <a:r>
                        <a:rPr sz="2625" b="1">
                          <a:solidFill>
                            <a:srgbClr val="FFFFFF"/>
                          </a:solidFill>
                          <a:latin typeface="Arial"/>
                          <a:ea typeface="Arial"/>
                          <a:cs typeface="Arial"/>
                        </a:rPr>
                        <a:t>Uitkomst per week</a:t>
                      </a:r>
                    </a:p>
                  </a:txBody>
                  <a:tcPr marL="91440" marR="91440" marT="45720" marB="45720" anchor="ctr">
                    <a:solidFill>
                      <a:srgbClr val="183247"/>
                    </a:solidFill>
                  </a:tcPr>
                </a:tc>
              </a:tr>
              <a:tr h="898525">
                <a:tc>
                  <a:txBody>
                    <a:bodyPr lIns="171450" tIns="95250" rIns="133350" bIns="95250"/>
                    <a:lstStyle/>
                    <a:p>
                      <a:r>
                        <a:rPr sz="2625" b="0">
                          <a:solidFill>
                            <a:srgbClr val="183247"/>
                          </a:solidFill>
                          <a:latin typeface="Arial"/>
                          <a:ea typeface="Arial"/>
                          <a:cs typeface="Arial"/>
                        </a:rPr>
                        <a:t>Nieuwe vraag</a:t>
                      </a:r>
                    </a:p>
                  </a:txBody>
                  <a:tcPr marL="91440" marR="91440" marT="45720" marB="45720" anchor="ctr">
                    <a:solidFill>
                      <a:srgbClr val="FFFFFF"/>
                    </a:solidFill>
                  </a:tcPr>
                </a:tc>
                <a:tc>
                  <a:txBody>
                    <a:bodyPr lIns="171450" tIns="95250" rIns="133350" bIns="95250"/>
                    <a:lstStyle/>
                    <a:p>
                      <a:r>
                        <a:rPr sz="2625" b="0">
                          <a:solidFill>
                            <a:srgbClr val="183247"/>
                          </a:solidFill>
                          <a:latin typeface="Arial"/>
                          <a:ea typeface="Arial"/>
                          <a:cs typeface="Arial"/>
                        </a:rPr>
                        <a:t>120 − 5 × 12</a:t>
                      </a:r>
                    </a:p>
                  </a:txBody>
                  <a:tcPr marL="91440" marR="91440" marT="45720" marB="45720" anchor="ctr">
                    <a:solidFill>
                      <a:srgbClr val="FFFFFF"/>
                    </a:solidFill>
                  </a:tcPr>
                </a:tc>
                <a:tc>
                  <a:txBody>
                    <a:bodyPr lIns="171450" tIns="95250" rIns="133350" bIns="95250"/>
                    <a:lstStyle/>
                    <a:p>
                      <a:r>
                        <a:rPr sz="2625" b="0">
                          <a:solidFill>
                            <a:srgbClr val="183247"/>
                          </a:solidFill>
                          <a:latin typeface="Arial"/>
                          <a:ea typeface="Arial"/>
                          <a:cs typeface="Arial"/>
                        </a:rPr>
                        <a:t>60 kabels</a:t>
                      </a:r>
                    </a:p>
                  </a:txBody>
                  <a:tcPr marL="91440" marR="91440" marT="45720" marB="45720" anchor="ctr">
                    <a:solidFill>
                      <a:srgbClr val="FFFFFF"/>
                    </a:solidFill>
                  </a:tcPr>
                </a:tc>
              </a:tr>
              <a:tr h="898525">
                <a:tc>
                  <a:txBody>
                    <a:bodyPr lIns="171450" tIns="95250" rIns="133350" bIns="95250"/>
                    <a:lstStyle/>
                    <a:p>
                      <a:r>
                        <a:rPr sz="2625" b="0">
                          <a:solidFill>
                            <a:srgbClr val="183247"/>
                          </a:solidFill>
                          <a:latin typeface="Arial"/>
                          <a:ea typeface="Arial"/>
                          <a:cs typeface="Arial"/>
                        </a:rPr>
                        <a:t>Ongewijzigd aanbod</a:t>
                      </a:r>
                    </a:p>
                  </a:txBody>
                  <a:tcPr marL="91440" marR="91440" marT="45720" marB="45720" anchor="ctr">
                    <a:solidFill>
                      <a:srgbClr val="EFF4F7"/>
                    </a:solidFill>
                  </a:tcPr>
                </a:tc>
                <a:tc>
                  <a:txBody>
                    <a:bodyPr lIns="171450" tIns="95250" rIns="133350" bIns="95250"/>
                    <a:lstStyle/>
                    <a:p>
                      <a:r>
                        <a:rPr sz="2625" b="0">
                          <a:solidFill>
                            <a:srgbClr val="183247"/>
                          </a:solidFill>
                          <a:latin typeface="Arial"/>
                          <a:ea typeface="Arial"/>
                          <a:cs typeface="Arial"/>
                        </a:rPr>
                        <a:t>5 × 12 − 20</a:t>
                      </a:r>
                    </a:p>
                  </a:txBody>
                  <a:tcPr marL="91440" marR="91440" marT="45720" marB="45720" anchor="ctr">
                    <a:solidFill>
                      <a:srgbClr val="EFF4F7"/>
                    </a:solidFill>
                  </a:tcPr>
                </a:tc>
                <a:tc>
                  <a:txBody>
                    <a:bodyPr lIns="171450" tIns="95250" rIns="133350" bIns="95250"/>
                    <a:lstStyle/>
                    <a:p>
                      <a:r>
                        <a:rPr sz="2625" b="0">
                          <a:solidFill>
                            <a:srgbClr val="183247"/>
                          </a:solidFill>
                          <a:latin typeface="Arial"/>
                          <a:ea typeface="Arial"/>
                          <a:cs typeface="Arial"/>
                        </a:rPr>
                        <a:t>40 kabels</a:t>
                      </a:r>
                    </a:p>
                  </a:txBody>
                  <a:tcPr marL="91440" marR="91440" marT="45720" marB="45720" anchor="ctr">
                    <a:solidFill>
                      <a:srgbClr val="EFF4F7"/>
                    </a:solidFill>
                  </a:tcPr>
                </a:tc>
              </a:tr>
            </a:tbl>
          </a:graphicData>
        </a:graphic>
      </p:graphicFrame>
      <p:sp>
        <p:nvSpPr>
          <p:cNvPr id="7" name="Vraagoverschot: 60 − 40 = 20 kabels per week">
            <a:extLst xmlns:a="http://schemas.openxmlformats.org/drawingml/2006/main">
              <a:ext uri="{FF2B5EF4-FFF2-40B4-BE49-F238E27FC236}">
                <a16:creationId xmlns:a16="http://schemas.microsoft.com/office/drawing/2014/main" id="{39F7AE4A-49F6-47DB-8BE6-6992B2B8E24D}"/>
              </a:ext>
            </a:extLst>
          </p:cNvPr>
          <p:cNvSpPr>
            <a:spLocks xmlns:a="http://schemas.openxmlformats.org/drawingml/2006/main" noGrp="1"/>
          </p:cNvSpPr>
          <p:nvPr/>
        </p:nvSpPr>
        <p:spPr>
          <a:xfrm xmlns:a="http://schemas.openxmlformats.org/drawingml/2006/main">
            <a:off x="571500" y="6610350"/>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Vraagoverschot: 60 − 40 = 20 kabels per week</a:t>
            </a:r>
          </a:p>
        </p:txBody>
      </p:sp>
      <p:sp>
        <p:nvSpPr>
          <p:cNvPr id="8" name="Kopers concurreren om het aanbod: opwaartse prijsdruk.">
            <a:extLst xmlns:a="http://schemas.openxmlformats.org/drawingml/2006/main">
              <a:ext uri="{FF2B5EF4-FFF2-40B4-BE49-F238E27FC236}">
                <a16:creationId xmlns:a16="http://schemas.microsoft.com/office/drawing/2014/main" id="{51569BCD-8891-4932-A0B5-7D770E7850D2}"/>
              </a:ext>
            </a:extLst>
          </p:cNvPr>
          <p:cNvSpPr>
            <a:spLocks xmlns:a="http://schemas.openxmlformats.org/drawingml/2006/main" noGrp="1"/>
          </p:cNvSpPr>
          <p:nvPr/>
        </p:nvSpPr>
        <p:spPr>
          <a:xfrm xmlns:a="http://schemas.openxmlformats.org/drawingml/2006/main">
            <a:off x="571500" y="7477125"/>
            <a:ext cx="14097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A5276"/>
                </a:solidFill>
                <a:latin typeface="Arial"/>
                <a:ea typeface="Arial"/>
                <a:cs typeface="Arial"/>
              </a:defRPr>
            </a:pPr>
            <a:r>
              <a:rPr sz="2550" b="0">
                <a:solidFill>
                  <a:srgbClr val="1A5276"/>
                </a:solidFill>
                <a:latin typeface="Arial"/>
                <a:ea typeface="Arial"/>
                <a:cs typeface="Arial"/>
              </a:rPr>
              <a:t>Kopers concurreren om het aanbod: opwaartse prijsdruk.</a:t>
            </a:r>
          </a:p>
        </p:txBody>
      </p:sp>
    </p:spTree>
    <p:extLst>
      <p:ext uri="{BB962C8B-B14F-4D97-AF65-F5344CB8AC3E}">
        <p14:creationId xmlns:p14="http://schemas.microsoft.com/office/powerpoint/2010/main" val="172976432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31c · Het nieuwe evenwicht">
            <a:extLst xmlns:a="http://schemas.openxmlformats.org/drawingml/2006/main">
              <a:ext uri="{FF2B5EF4-FFF2-40B4-BE49-F238E27FC236}">
                <a16:creationId xmlns:a16="http://schemas.microsoft.com/office/drawing/2014/main" id="{01FB2A0A-8B2C-439F-8B3C-2DBE5A9133FE}"/>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31c · Het nieuwe evenwicht</a:t>
            </a:r>
          </a:p>
        </p:txBody>
      </p:sp>
      <p:sp>
        <p:nvSpPr>
          <p:cNvPr id="2" name="">
            <a:extLst xmlns:a="http://schemas.openxmlformats.org/drawingml/2006/main">
              <a:ext uri="{FF2B5EF4-FFF2-40B4-BE49-F238E27FC236}">
                <a16:creationId xmlns:a16="http://schemas.microsoft.com/office/drawing/2014/main" id="{21B8F81E-E8D0-416D-9126-46625AC6265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3 Verschuivingen en nieuw evenwicht · Opgave 31 · p. 11">
            <a:extLst xmlns:a="http://schemas.openxmlformats.org/drawingml/2006/main">
              <a:ext uri="{FF2B5EF4-FFF2-40B4-BE49-F238E27FC236}">
                <a16:creationId xmlns:a16="http://schemas.microsoft.com/office/drawing/2014/main" id="{80EE7EE0-6597-41F4-B5AB-2B9CA42435DD}"/>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§1.3.3 Verschuivingen en nieuw evenwicht · Opgave 31 · p. 116</a:t>
            </a:r>
          </a:p>
        </p:txBody>
      </p:sp>
      <p:sp>
        <p:nvSpPr>
          <p:cNvPr id="4" name="21">
            <a:extLst xmlns:a="http://schemas.openxmlformats.org/drawingml/2006/main">
              <a:ext uri="{FF2B5EF4-FFF2-40B4-BE49-F238E27FC236}">
                <a16:creationId xmlns:a16="http://schemas.microsoft.com/office/drawing/2014/main" id="{7D7C9DF3-18E5-4CC9-AE6E-09CB6815401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sp>
        <p:nvSpPr>
          <p:cNvPr id="5" name="120 − 5P = 5P − 20">
            <a:extLst xmlns:a="http://schemas.openxmlformats.org/drawingml/2006/main">
              <a:ext uri="{FF2B5EF4-FFF2-40B4-BE49-F238E27FC236}">
                <a16:creationId xmlns:a16="http://schemas.microsoft.com/office/drawing/2014/main" id="{1D41BA4B-59D2-40BB-B798-F7C6D1ED9EAA}"/>
              </a:ext>
            </a:extLst>
          </p:cNvPr>
          <p:cNvSpPr>
            <a:spLocks xmlns:a="http://schemas.openxmlformats.org/drawingml/2006/main" noGrp="1"/>
          </p:cNvSpPr>
          <p:nvPr/>
        </p:nvSpPr>
        <p:spPr>
          <a:xfrm xmlns:a="http://schemas.openxmlformats.org/drawingml/2006/main">
            <a:off x="571500" y="2085975"/>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120 − 5P = 5P − 20</a:t>
            </a:r>
          </a:p>
        </p:txBody>
      </p:sp>
      <p:sp>
        <p:nvSpPr>
          <p:cNvPr id="6" name="140 = 10P">
            <a:extLst xmlns:a="http://schemas.openxmlformats.org/drawingml/2006/main">
              <a:ext uri="{FF2B5EF4-FFF2-40B4-BE49-F238E27FC236}">
                <a16:creationId xmlns:a16="http://schemas.microsoft.com/office/drawing/2014/main" id="{18AEDDA4-004B-4308-9227-0ADA0B560EEF}"/>
              </a:ext>
            </a:extLst>
          </p:cNvPr>
          <p:cNvSpPr>
            <a:spLocks xmlns:a="http://schemas.openxmlformats.org/drawingml/2006/main" noGrp="1"/>
          </p:cNvSpPr>
          <p:nvPr/>
        </p:nvSpPr>
        <p:spPr>
          <a:xfrm xmlns:a="http://schemas.openxmlformats.org/drawingml/2006/main">
            <a:off x="571500" y="3114675"/>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140 = 10P</a:t>
            </a:r>
          </a:p>
        </p:txBody>
      </p:sp>
      <p:sp>
        <p:nvSpPr>
          <p:cNvPr id="7" name="P₁ = € 14 per kabel">
            <a:extLst xmlns:a="http://schemas.openxmlformats.org/drawingml/2006/main">
              <a:ext uri="{FF2B5EF4-FFF2-40B4-BE49-F238E27FC236}">
                <a16:creationId xmlns:a16="http://schemas.microsoft.com/office/drawing/2014/main" id="{4EC2BD7B-0D2B-4C14-9469-9955116F5544}"/>
              </a:ext>
            </a:extLst>
          </p:cNvPr>
          <p:cNvSpPr>
            <a:spLocks xmlns:a="http://schemas.openxmlformats.org/drawingml/2006/main" noGrp="1"/>
          </p:cNvSpPr>
          <p:nvPr/>
        </p:nvSpPr>
        <p:spPr>
          <a:xfrm xmlns:a="http://schemas.openxmlformats.org/drawingml/2006/main">
            <a:off x="571500" y="4143375"/>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A5276"/>
                </a:solidFill>
                <a:latin typeface="Arial"/>
                <a:ea typeface="Arial"/>
                <a:cs typeface="Arial"/>
              </a:defRPr>
            </a:pPr>
            <a:r>
              <a:rPr sz="3450" b="1">
                <a:solidFill>
                  <a:srgbClr val="1A5276"/>
                </a:solidFill>
                <a:latin typeface="Arial"/>
                <a:ea typeface="Arial"/>
                <a:cs typeface="Arial"/>
              </a:rPr>
              <a:t>P₁ = € 14 per kabel</a:t>
            </a:r>
          </a:p>
        </p:txBody>
      </p:sp>
      <p:sp>
        <p:nvSpPr>
          <p:cNvPr id="8" name="">
            <a:extLst xmlns:a="http://schemas.openxmlformats.org/drawingml/2006/main">
              <a:ext uri="{FF2B5EF4-FFF2-40B4-BE49-F238E27FC236}">
                <a16:creationId xmlns:a16="http://schemas.microsoft.com/office/drawing/2014/main" id="{0C9A3A28-FF2F-4B7E-8D93-4DFDFE953BF1}"/>
              </a:ext>
            </a:extLst>
          </p:cNvPr>
          <p:cNvSpPr>
            <a:spLocks xmlns:a="http://schemas.openxmlformats.org/drawingml/2006/main" noGrp="1"/>
          </p:cNvSpPr>
          <p:nvPr/>
        </p:nvSpPr>
        <p:spPr>
          <a:xfrm xmlns:a="http://schemas.openxmlformats.org/drawingml/2006/main">
            <a:off x="571500" y="5248275"/>
            <a:ext cx="14097000" cy="0"/>
          </a:xfrm>
          <a:prstGeom xmlns:a="http://schemas.openxmlformats.org/drawingml/2006/main" prst="line">
            <a:avLst/>
          </a:prstGeom>
          <a:ln xmlns:a="http://schemas.openxmlformats.org/drawingml/2006/main" w="19050">
            <a:solidFill>
              <a:srgbClr val="C6D2DB"/>
            </a:solidFill>
          </a:ln>
        </p:spPr>
      </p:sp>
      <p:sp>
        <p:nvSpPr>
          <p:cNvPr id="9" name="Qᵥ,₁ = 120 − 5 × 14 = 50&#10;Controle: Qₐ = 5 × 14 − 20 = 50 kab">
            <a:extLst xmlns:a="http://schemas.openxmlformats.org/drawingml/2006/main">
              <a:ext uri="{FF2B5EF4-FFF2-40B4-BE49-F238E27FC236}">
                <a16:creationId xmlns:a16="http://schemas.microsoft.com/office/drawing/2014/main" id="{D283EF9A-93A5-4B52-AA93-B41E67D7D800}"/>
              </a:ext>
            </a:extLst>
          </p:cNvPr>
          <p:cNvSpPr>
            <a:spLocks xmlns:a="http://schemas.openxmlformats.org/drawingml/2006/main" noGrp="1"/>
          </p:cNvSpPr>
          <p:nvPr/>
        </p:nvSpPr>
        <p:spPr>
          <a:xfrm xmlns:a="http://schemas.openxmlformats.org/drawingml/2006/main">
            <a:off x="571500" y="5772150"/>
            <a:ext cx="14097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Qᵥ,₁ = 120 − 5 × 14 = 50</a:t>
            </a:r>
          </a:p>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Controle: Qₐ = 5 × 14 − 20 = 50 kabels per week</a:t>
            </a:r>
          </a:p>
        </p:txBody>
      </p:sp>
      <p:sp>
        <p:nvSpPr>
          <p:cNvPr id="10" name="E₁ = (50; 14)">
            <a:extLst xmlns:a="http://schemas.openxmlformats.org/drawingml/2006/main">
              <a:ext uri="{FF2B5EF4-FFF2-40B4-BE49-F238E27FC236}">
                <a16:creationId xmlns:a16="http://schemas.microsoft.com/office/drawing/2014/main" id="{CD50701D-7988-4658-8494-ADB0DF56A3D5}"/>
              </a:ext>
            </a:extLst>
          </p:cNvPr>
          <p:cNvSpPr>
            <a:spLocks xmlns:a="http://schemas.openxmlformats.org/drawingml/2006/main" noGrp="1"/>
          </p:cNvSpPr>
          <p:nvPr/>
        </p:nvSpPr>
        <p:spPr>
          <a:xfrm xmlns:a="http://schemas.openxmlformats.org/drawingml/2006/main">
            <a:off x="571500" y="7467600"/>
            <a:ext cx="1409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E₁ = (50; 14)</a:t>
            </a:r>
          </a:p>
        </p:txBody>
      </p:sp>
    </p:spTree>
    <p:extLst>
      <p:ext uri="{BB962C8B-B14F-4D97-AF65-F5344CB8AC3E}">
        <p14:creationId xmlns:p14="http://schemas.microsoft.com/office/powerpoint/2010/main" val="170150528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1c · De procentuele verandering">
            <a:extLst xmlns:a="http://schemas.openxmlformats.org/drawingml/2006/main">
              <a:ext uri="{FF2B5EF4-FFF2-40B4-BE49-F238E27FC236}">
                <a16:creationId xmlns:a16="http://schemas.microsoft.com/office/drawing/2014/main" id="{67ADF63E-AE1B-4366-956D-3949AB263548}"/>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31c · De procentuele verandering</a:t>
            </a:r>
          </a:p>
        </p:txBody>
      </p:sp>
      <p:sp>
        <p:nvSpPr>
          <p:cNvPr id="2" name="">
            <a:extLst xmlns:a="http://schemas.openxmlformats.org/drawingml/2006/main">
              <a:ext uri="{FF2B5EF4-FFF2-40B4-BE49-F238E27FC236}">
                <a16:creationId xmlns:a16="http://schemas.microsoft.com/office/drawing/2014/main" id="{0FAC0163-71BA-4CE5-A97F-97692E28BFD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3 Verschuivingen en nieuw evenwicht · Opgave 31 · p. 11">
            <a:extLst xmlns:a="http://schemas.openxmlformats.org/drawingml/2006/main">
              <a:ext uri="{FF2B5EF4-FFF2-40B4-BE49-F238E27FC236}">
                <a16:creationId xmlns:a16="http://schemas.microsoft.com/office/drawing/2014/main" id="{22FCD681-BE00-4200-9B2E-EDD6457EFF55}"/>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§1.3.3 Verschuivingen en nieuw evenwicht · Opgave 31 · p. 116</a:t>
            </a:r>
          </a:p>
        </p:txBody>
      </p:sp>
      <p:sp>
        <p:nvSpPr>
          <p:cNvPr id="4" name="22">
            <a:extLst xmlns:a="http://schemas.openxmlformats.org/drawingml/2006/main">
              <a:ext uri="{FF2B5EF4-FFF2-40B4-BE49-F238E27FC236}">
                <a16:creationId xmlns:a16="http://schemas.microsoft.com/office/drawing/2014/main" id="{E5F779C8-F0AB-40BC-BAD6-71BE07E42C0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graphicFrame>
        <p:nvGraphicFramePr>
          <p:cNvPr id="13" name=""/>
          <p:cNvGraphicFramePr/>
          <p:nvPr/>
        </p:nvGraphicFramePr>
        <p:xfrm>
          <a:off xmlns:a="http://schemas.openxmlformats.org/drawingml/2006/main" x="571500" y="2085975"/>
          <a:ext xmlns:a="http://schemas.openxmlformats.org/drawingml/2006/main" cx="14097000" cy="2038350"/>
        </p:xfrm>
        <a:graphic xmlns:a="http://schemas.openxmlformats.org/drawingml/2006/main">
          <a:graphicData uri="http://schemas.openxmlformats.org/drawingml/2006/table">
            <a:tbl>
              <a:tblPr/>
              <a:tblGrid>
                <a:gridCol w="4762500"/>
                <a:gridCol w="4762500"/>
                <a:gridCol w="4572000"/>
              </a:tblGrid>
              <a:tr h="1019175">
                <a:tc>
                  <a:txBody>
                    <a:bodyPr lIns="171450" tIns="95250" rIns="133350" bIns="95250"/>
                    <a:lstStyle/>
                    <a:p>
                      <a:r>
                        <a:rPr sz="2775" b="1">
                          <a:solidFill>
                            <a:srgbClr val="FFFFFF"/>
                          </a:solidFill>
                          <a:latin typeface="Arial"/>
                          <a:ea typeface="Arial"/>
                          <a:cs typeface="Arial"/>
                        </a:rPr>
                        <a:t>Oude hoeveelheid</a:t>
                      </a:r>
                    </a:p>
                  </a:txBody>
                  <a:tcPr marL="91440" marR="91440" marT="45720" marB="45720" anchor="ctr">
                    <a:solidFill>
                      <a:srgbClr val="183247"/>
                    </a:solidFill>
                  </a:tcPr>
                </a:tc>
                <a:tc>
                  <a:txBody>
                    <a:bodyPr lIns="171450" tIns="95250" rIns="133350" bIns="95250"/>
                    <a:lstStyle/>
                    <a:p>
                      <a:r>
                        <a:rPr sz="2775" b="1">
                          <a:solidFill>
                            <a:srgbClr val="FFFFFF"/>
                          </a:solidFill>
                          <a:latin typeface="Arial"/>
                          <a:ea typeface="Arial"/>
                          <a:cs typeface="Arial"/>
                        </a:rPr>
                        <a:t>Nieuwe hoeveelheid</a:t>
                      </a:r>
                    </a:p>
                  </a:txBody>
                  <a:tcPr marL="91440" marR="91440" marT="45720" marB="45720" anchor="ctr">
                    <a:solidFill>
                      <a:srgbClr val="183247"/>
                    </a:solidFill>
                  </a:tcPr>
                </a:tc>
                <a:tc>
                  <a:txBody>
                    <a:bodyPr lIns="171450" tIns="95250" rIns="133350" bIns="95250"/>
                    <a:lstStyle/>
                    <a:p>
                      <a:r>
                        <a:rPr sz="2775" b="1">
                          <a:solidFill>
                            <a:srgbClr val="FFFFFF"/>
                          </a:solidFill>
                          <a:latin typeface="Arial"/>
                          <a:ea typeface="Arial"/>
                          <a:cs typeface="Arial"/>
                        </a:rPr>
                        <a:t>Toename</a:t>
                      </a:r>
                    </a:p>
                  </a:txBody>
                  <a:tcPr marL="91440" marR="91440" marT="45720" marB="45720" anchor="ctr">
                    <a:solidFill>
                      <a:srgbClr val="183247"/>
                    </a:solidFill>
                  </a:tcPr>
                </a:tc>
              </a:tr>
              <a:tr h="1019175">
                <a:tc>
                  <a:txBody>
                    <a:bodyPr lIns="171450" tIns="95250" rIns="133350" bIns="95250"/>
                    <a:lstStyle/>
                    <a:p>
                      <a:r>
                        <a:rPr sz="2775" b="0">
                          <a:solidFill>
                            <a:srgbClr val="183247"/>
                          </a:solidFill>
                          <a:latin typeface="Arial"/>
                          <a:ea typeface="Arial"/>
                          <a:cs typeface="Arial"/>
                        </a:rPr>
                        <a:t>40 per week</a:t>
                      </a:r>
                    </a:p>
                  </a:txBody>
                  <a:tcPr marL="91440" marR="91440" marT="45720" marB="45720" anchor="ctr">
                    <a:solidFill>
                      <a:srgbClr val="FFFFFF"/>
                    </a:solidFill>
                  </a:tcPr>
                </a:tc>
                <a:tc>
                  <a:txBody>
                    <a:bodyPr lIns="171450" tIns="95250" rIns="133350" bIns="95250"/>
                    <a:lstStyle/>
                    <a:p>
                      <a:r>
                        <a:rPr sz="2775" b="0">
                          <a:solidFill>
                            <a:srgbClr val="183247"/>
                          </a:solidFill>
                          <a:latin typeface="Arial"/>
                          <a:ea typeface="Arial"/>
                          <a:cs typeface="Arial"/>
                        </a:rPr>
                        <a:t>50 per week</a:t>
                      </a:r>
                    </a:p>
                  </a:txBody>
                  <a:tcPr marL="91440" marR="91440" marT="45720" marB="45720" anchor="ctr">
                    <a:solidFill>
                      <a:srgbClr val="FFFFFF"/>
                    </a:solidFill>
                  </a:tcPr>
                </a:tc>
                <a:tc>
                  <a:txBody>
                    <a:bodyPr lIns="171450" tIns="95250" rIns="133350" bIns="95250"/>
                    <a:lstStyle/>
                    <a:p>
                      <a:r>
                        <a:rPr sz="2775" b="0">
                          <a:solidFill>
                            <a:srgbClr val="183247"/>
                          </a:solidFill>
                          <a:latin typeface="Arial"/>
                          <a:ea typeface="Arial"/>
                          <a:cs typeface="Arial"/>
                        </a:rPr>
                        <a:t>10 per week</a:t>
                      </a:r>
                    </a:p>
                  </a:txBody>
                  <a:tcPr marL="91440" marR="91440" marT="45720" marB="45720" anchor="ctr">
                    <a:solidFill>
                      <a:srgbClr val="FFFFFF"/>
                    </a:solidFill>
                  </a:tcPr>
                </a:tc>
              </a:tr>
            </a:tbl>
          </a:graphicData>
        </a:graphic>
      </p:graphicFrame>
      <p:sp>
        <p:nvSpPr>
          <p:cNvPr id="6" name="(nieuw − oud) / oud × 100%">
            <a:extLst xmlns:a="http://schemas.openxmlformats.org/drawingml/2006/main">
              <a:ext uri="{FF2B5EF4-FFF2-40B4-BE49-F238E27FC236}">
                <a16:creationId xmlns:a16="http://schemas.microsoft.com/office/drawing/2014/main" id="{5ACFA2EB-882A-4E70-9954-65AB4B0701FD}"/>
              </a:ext>
            </a:extLst>
          </p:cNvPr>
          <p:cNvSpPr>
            <a:spLocks xmlns:a="http://schemas.openxmlformats.org/drawingml/2006/main" noGrp="1"/>
          </p:cNvSpPr>
          <p:nvPr/>
        </p:nvSpPr>
        <p:spPr>
          <a:xfrm xmlns:a="http://schemas.openxmlformats.org/drawingml/2006/main">
            <a:off x="571500" y="47053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83247"/>
                </a:solidFill>
                <a:latin typeface="Arial"/>
                <a:ea typeface="Arial"/>
                <a:cs typeface="Arial"/>
              </a:defRPr>
            </a:pPr>
            <a:r>
              <a:rPr sz="3525" b="1">
                <a:solidFill>
                  <a:srgbClr val="183247"/>
                </a:solidFill>
                <a:latin typeface="Arial"/>
                <a:ea typeface="Arial"/>
                <a:cs typeface="Arial"/>
              </a:rPr>
              <a:t>(nieuw − oud) / oud × 100%</a:t>
            </a:r>
          </a:p>
        </p:txBody>
      </p:sp>
      <p:sp>
        <p:nvSpPr>
          <p:cNvPr id="7" name="(50 − 40) / 40 × 100% = +25%">
            <a:extLst xmlns:a="http://schemas.openxmlformats.org/drawingml/2006/main">
              <a:ext uri="{FF2B5EF4-FFF2-40B4-BE49-F238E27FC236}">
                <a16:creationId xmlns:a16="http://schemas.microsoft.com/office/drawing/2014/main" id="{213F9569-F00A-494E-8EB7-604203323D26}"/>
              </a:ext>
            </a:extLst>
          </p:cNvPr>
          <p:cNvSpPr>
            <a:spLocks xmlns:a="http://schemas.openxmlformats.org/drawingml/2006/main" noGrp="1"/>
          </p:cNvSpPr>
          <p:nvPr/>
        </p:nvSpPr>
        <p:spPr>
          <a:xfrm xmlns:a="http://schemas.openxmlformats.org/drawingml/2006/main">
            <a:off x="571500" y="582930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A94D16"/>
                </a:solidFill>
                <a:latin typeface="Arial"/>
                <a:ea typeface="Arial"/>
                <a:cs typeface="Arial"/>
              </a:defRPr>
            </a:pPr>
            <a:r>
              <a:rPr sz="3825" b="1">
                <a:solidFill>
                  <a:srgbClr val="A94D16"/>
                </a:solidFill>
                <a:latin typeface="Arial"/>
                <a:ea typeface="Arial"/>
                <a:cs typeface="Arial"/>
              </a:rPr>
              <a:t>(50 − 40) / 40 × 100% = +25%</a:t>
            </a:r>
          </a:p>
        </p:txBody>
      </p:sp>
      <p:sp>
        <p:nvSpPr>
          <p:cNvPr id="8" name="Controle: 25% van 40 is 10. 40 + 10 = 50.">
            <a:extLst xmlns:a="http://schemas.openxmlformats.org/drawingml/2006/main">
              <a:ext uri="{FF2B5EF4-FFF2-40B4-BE49-F238E27FC236}">
                <a16:creationId xmlns:a16="http://schemas.microsoft.com/office/drawing/2014/main" id="{AED0B548-F0A2-403B-8130-AC1D182861E5}"/>
              </a:ext>
            </a:extLst>
          </p:cNvPr>
          <p:cNvSpPr>
            <a:spLocks xmlns:a="http://schemas.openxmlformats.org/drawingml/2006/main" noGrp="1"/>
          </p:cNvSpPr>
          <p:nvPr/>
        </p:nvSpPr>
        <p:spPr>
          <a:xfrm xmlns:a="http://schemas.openxmlformats.org/drawingml/2006/main">
            <a:off x="571500" y="7258050"/>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Controle: 25% van 40 is 10. 40 + 10 = 50.</a:t>
            </a:r>
          </a:p>
        </p:txBody>
      </p:sp>
    </p:spTree>
    <p:extLst>
      <p:ext uri="{BB962C8B-B14F-4D97-AF65-F5344CB8AC3E}">
        <p14:creationId xmlns:p14="http://schemas.microsoft.com/office/powerpoint/2010/main" val="106703500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31d · Twee punten voor V₁">
            <a:extLst xmlns:a="http://schemas.openxmlformats.org/drawingml/2006/main">
              <a:ext uri="{FF2B5EF4-FFF2-40B4-BE49-F238E27FC236}">
                <a16:creationId xmlns:a16="http://schemas.microsoft.com/office/drawing/2014/main" id="{B8422C46-3F14-4319-8395-38DAFE419D17}"/>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31d · Twee punten voor V₁</a:t>
            </a:r>
          </a:p>
        </p:txBody>
      </p:sp>
      <p:sp>
        <p:nvSpPr>
          <p:cNvPr id="2" name="">
            <a:extLst xmlns:a="http://schemas.openxmlformats.org/drawingml/2006/main">
              <a:ext uri="{FF2B5EF4-FFF2-40B4-BE49-F238E27FC236}">
                <a16:creationId xmlns:a16="http://schemas.microsoft.com/office/drawing/2014/main" id="{ECE7F915-F713-4005-94EC-658567CCFEB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3 Verschuivingen en nieuw evenwicht · Opgave 31 · p. 11">
            <a:extLst xmlns:a="http://schemas.openxmlformats.org/drawingml/2006/main">
              <a:ext uri="{FF2B5EF4-FFF2-40B4-BE49-F238E27FC236}">
                <a16:creationId xmlns:a16="http://schemas.microsoft.com/office/drawing/2014/main" id="{5C05573C-AE4A-481E-9E2D-B0336C077AFF}"/>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§1.3.3 Verschuivingen en nieuw evenwicht · Opgave 31 · p. 116</a:t>
            </a:r>
          </a:p>
        </p:txBody>
      </p:sp>
      <p:sp>
        <p:nvSpPr>
          <p:cNvPr id="4" name="23">
            <a:extLst xmlns:a="http://schemas.openxmlformats.org/drawingml/2006/main">
              <a:ext uri="{FF2B5EF4-FFF2-40B4-BE49-F238E27FC236}">
                <a16:creationId xmlns:a16="http://schemas.microsoft.com/office/drawing/2014/main" id="{9C3FFB41-2579-4670-B8CA-3BE0946CC4E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graphicFrame>
        <p:nvGraphicFramePr>
          <p:cNvPr id="12" name=""/>
          <p:cNvGraphicFramePr/>
          <p:nvPr/>
        </p:nvGraphicFramePr>
        <p:xfrm>
          <a:off xmlns:a="http://schemas.openxmlformats.org/drawingml/2006/main" x="571500" y="2143125"/>
          <a:ext xmlns:a="http://schemas.openxmlformats.org/drawingml/2006/main" cx="14097000" cy="2952750"/>
        </p:xfrm>
        <a:graphic xmlns:a="http://schemas.openxmlformats.org/drawingml/2006/main">
          <a:graphicData uri="http://schemas.openxmlformats.org/drawingml/2006/table">
            <a:tbl>
              <a:tblPr/>
              <a:tblGrid>
                <a:gridCol w="3905250"/>
                <a:gridCol w="6286500"/>
                <a:gridCol w="3905250"/>
              </a:tblGrid>
              <a:tr h="984250">
                <a:tc>
                  <a:txBody>
                    <a:bodyPr lIns="171450" tIns="95250" rIns="133350" bIns="95250"/>
                    <a:lstStyle/>
                    <a:p>
                      <a:r>
                        <a:rPr sz="2550" b="1">
                          <a:solidFill>
                            <a:srgbClr val="FFFFFF"/>
                          </a:solidFill>
                          <a:latin typeface="Arial"/>
                          <a:ea typeface="Arial"/>
                          <a:cs typeface="Arial"/>
                        </a:rPr>
                        <a:t>Gekozen waarde</a:t>
                      </a:r>
                    </a:p>
                  </a:txBody>
                  <a:tcPr marL="91440" marR="91440" marT="45720" marB="45720" anchor="ctr">
                    <a:solidFill>
                      <a:srgbClr val="183247"/>
                    </a:solidFill>
                  </a:tcPr>
                </a:tc>
                <a:tc>
                  <a:txBody>
                    <a:bodyPr lIns="171450" tIns="95250" rIns="133350" bIns="95250"/>
                    <a:lstStyle/>
                    <a:p>
                      <a:r>
                        <a:rPr sz="255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33350" bIns="95250"/>
                    <a:lstStyle/>
                    <a:p>
                      <a:r>
                        <a:rPr sz="2550" b="1">
                          <a:solidFill>
                            <a:srgbClr val="FFFFFF"/>
                          </a:solidFill>
                          <a:latin typeface="Arial"/>
                          <a:ea typeface="Arial"/>
                          <a:cs typeface="Arial"/>
                        </a:rPr>
                        <a:t>Coördinaat (Q; P)</a:t>
                      </a:r>
                    </a:p>
                  </a:txBody>
                  <a:tcPr marL="91440" marR="91440" marT="45720" marB="45720" anchor="ctr">
                    <a:solidFill>
                      <a:srgbClr val="183247"/>
                    </a:solidFill>
                  </a:tcPr>
                </a:tc>
              </a:tr>
              <a:tr h="984250">
                <a:tc>
                  <a:txBody>
                    <a:bodyPr lIns="171450" tIns="95250" rIns="133350" bIns="95250"/>
                    <a:lstStyle/>
                    <a:p>
                      <a:r>
                        <a:rPr sz="2550" b="0">
                          <a:solidFill>
                            <a:srgbClr val="183247"/>
                          </a:solidFill>
                          <a:latin typeface="Arial"/>
                          <a:ea typeface="Arial"/>
                          <a:cs typeface="Arial"/>
                        </a:rPr>
                        <a:t>Qᵥ,₁ = 0</a:t>
                      </a:r>
                    </a:p>
                  </a:txBody>
                  <a:tcPr marL="91440" marR="91440" marT="45720" marB="45720" anchor="ctr">
                    <a:solidFill>
                      <a:srgbClr val="FFFFFF"/>
                    </a:solidFill>
                  </a:tcPr>
                </a:tc>
                <a:tc>
                  <a:txBody>
                    <a:bodyPr lIns="171450" tIns="95250" rIns="133350" bIns="95250"/>
                    <a:lstStyle/>
                    <a:p>
                      <a:r>
                        <a:rPr sz="2550" b="0">
                          <a:solidFill>
                            <a:srgbClr val="183247"/>
                          </a:solidFill>
                          <a:latin typeface="Arial"/>
                          <a:ea typeface="Arial"/>
                          <a:cs typeface="Arial"/>
                        </a:rPr>
                        <a:t>0 = 120 − 5P, dus P = 24</a:t>
                      </a:r>
                    </a:p>
                  </a:txBody>
                  <a:tcPr marL="91440" marR="91440" marT="45720" marB="45720" anchor="ctr">
                    <a:solidFill>
                      <a:srgbClr val="FFFFFF"/>
                    </a:solidFill>
                  </a:tcPr>
                </a:tc>
                <a:tc>
                  <a:txBody>
                    <a:bodyPr lIns="171450" tIns="95250" rIns="133350" bIns="95250"/>
                    <a:lstStyle/>
                    <a:p>
                      <a:r>
                        <a:rPr sz="2550" b="0">
                          <a:solidFill>
                            <a:srgbClr val="183247"/>
                          </a:solidFill>
                          <a:latin typeface="Arial"/>
                          <a:ea typeface="Arial"/>
                          <a:cs typeface="Arial"/>
                        </a:rPr>
                        <a:t>(0; 24)</a:t>
                      </a:r>
                    </a:p>
                  </a:txBody>
                  <a:tcPr marL="91440" marR="91440" marT="45720" marB="45720" anchor="ctr">
                    <a:solidFill>
                      <a:srgbClr val="FFFFFF"/>
                    </a:solidFill>
                  </a:tcPr>
                </a:tc>
              </a:tr>
              <a:tr h="984250">
                <a:tc>
                  <a:txBody>
                    <a:bodyPr lIns="171450" tIns="95250" rIns="133350" bIns="95250"/>
                    <a:lstStyle/>
                    <a:p>
                      <a:r>
                        <a:rPr sz="2550" b="0">
                          <a:solidFill>
                            <a:srgbClr val="183247"/>
                          </a:solidFill>
                          <a:latin typeface="Arial"/>
                          <a:ea typeface="Arial"/>
                          <a:cs typeface="Arial"/>
                        </a:rPr>
                        <a:t>P = 0</a:t>
                      </a:r>
                    </a:p>
                  </a:txBody>
                  <a:tcPr marL="91440" marR="91440" marT="45720" marB="45720" anchor="ctr">
                    <a:solidFill>
                      <a:srgbClr val="EFF4F7"/>
                    </a:solidFill>
                  </a:tcPr>
                </a:tc>
                <a:tc>
                  <a:txBody>
                    <a:bodyPr lIns="171450" tIns="95250" rIns="133350" bIns="95250"/>
                    <a:lstStyle/>
                    <a:p>
                      <a:r>
                        <a:rPr sz="2550" b="0">
                          <a:solidFill>
                            <a:srgbClr val="183247"/>
                          </a:solidFill>
                          <a:latin typeface="Arial"/>
                          <a:ea typeface="Arial"/>
                          <a:cs typeface="Arial"/>
                        </a:rPr>
                        <a:t>Qᵥ,₁ = 120 − 5 × 0 = 120</a:t>
                      </a:r>
                    </a:p>
                  </a:txBody>
                  <a:tcPr marL="91440" marR="91440" marT="45720" marB="45720" anchor="ctr">
                    <a:solidFill>
                      <a:srgbClr val="EFF4F7"/>
                    </a:solidFill>
                  </a:tcPr>
                </a:tc>
                <a:tc>
                  <a:txBody>
                    <a:bodyPr lIns="171450" tIns="95250" rIns="133350" bIns="95250"/>
                    <a:lstStyle/>
                    <a:p>
                      <a:r>
                        <a:rPr sz="2550" b="0">
                          <a:solidFill>
                            <a:srgbClr val="183247"/>
                          </a:solidFill>
                          <a:latin typeface="Arial"/>
                          <a:ea typeface="Arial"/>
                          <a:cs typeface="Arial"/>
                        </a:rPr>
                        <a:t>(120; 0)</a:t>
                      </a:r>
                    </a:p>
                  </a:txBody>
                  <a:tcPr marL="91440" marR="91440" marT="45720" marB="45720" anchor="ctr">
                    <a:solidFill>
                      <a:srgbClr val="EFF4F7"/>
                    </a:solidFill>
                  </a:tcPr>
                </a:tc>
              </a:tr>
            </a:tbl>
          </a:graphicData>
        </a:graphic>
      </p:graphicFrame>
      <p:sp>
        <p:nvSpPr>
          <p:cNvPr id="6" name="Verbind de punten met een rechte lijn en label V₁.">
            <a:extLst xmlns:a="http://schemas.openxmlformats.org/drawingml/2006/main">
              <a:ext uri="{FF2B5EF4-FFF2-40B4-BE49-F238E27FC236}">
                <a16:creationId xmlns:a16="http://schemas.microsoft.com/office/drawing/2014/main" id="{3680B509-A01F-448F-A5F6-7F4E73AE96BF}"/>
              </a:ext>
            </a:extLst>
          </p:cNvPr>
          <p:cNvSpPr>
            <a:spLocks xmlns:a="http://schemas.openxmlformats.org/drawingml/2006/main" noGrp="1"/>
          </p:cNvSpPr>
          <p:nvPr/>
        </p:nvSpPr>
        <p:spPr>
          <a:xfrm xmlns:a="http://schemas.openxmlformats.org/drawingml/2006/main">
            <a:off x="571500" y="5762625"/>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704798"/>
                </a:solidFill>
                <a:latin typeface="Arial"/>
                <a:ea typeface="Arial"/>
                <a:cs typeface="Arial"/>
              </a:defRPr>
            </a:pPr>
            <a:r>
              <a:rPr sz="3225" b="1">
                <a:solidFill>
                  <a:srgbClr val="704798"/>
                </a:solidFill>
                <a:latin typeface="Arial"/>
                <a:ea typeface="Arial"/>
                <a:cs typeface="Arial"/>
              </a:rPr>
              <a:t>Verbind de punten met een rechte lijn en label V₁.</a:t>
            </a:r>
          </a:p>
        </p:txBody>
      </p:sp>
      <p:sp>
        <p:nvSpPr>
          <p:cNvPr id="7" name="Markeer E₀ = (40; 12) en E₁ = (50; 14).">
            <a:extLst xmlns:a="http://schemas.openxmlformats.org/drawingml/2006/main">
              <a:ext uri="{FF2B5EF4-FFF2-40B4-BE49-F238E27FC236}">
                <a16:creationId xmlns:a16="http://schemas.microsoft.com/office/drawing/2014/main" id="{97188DF9-C56D-48E8-9885-1D665399390A}"/>
              </a:ext>
            </a:extLst>
          </p:cNvPr>
          <p:cNvSpPr>
            <a:spLocks xmlns:a="http://schemas.openxmlformats.org/drawingml/2006/main" noGrp="1"/>
          </p:cNvSpPr>
          <p:nvPr/>
        </p:nvSpPr>
        <p:spPr>
          <a:xfrm xmlns:a="http://schemas.openxmlformats.org/drawingml/2006/main">
            <a:off x="571500" y="71056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Markeer E₀ = (40; 12) en E₁ = (50; 14).</a:t>
            </a:r>
          </a:p>
        </p:txBody>
      </p:sp>
    </p:spTree>
    <p:extLst>
      <p:ext uri="{BB962C8B-B14F-4D97-AF65-F5344CB8AC3E}">
        <p14:creationId xmlns:p14="http://schemas.microsoft.com/office/powerpoint/2010/main" val="47052225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1d · Beide evenwichten">
            <a:extLst xmlns:a="http://schemas.openxmlformats.org/drawingml/2006/main">
              <a:ext uri="{FF2B5EF4-FFF2-40B4-BE49-F238E27FC236}">
                <a16:creationId xmlns:a16="http://schemas.microsoft.com/office/drawing/2014/main" id="{C2B9A2C4-6EA2-4844-B440-511C820C5669}"/>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31d · Beide evenwichten</a:t>
            </a:r>
          </a:p>
        </p:txBody>
      </p:sp>
      <p:sp>
        <p:nvSpPr>
          <p:cNvPr id="2" name="">
            <a:extLst xmlns:a="http://schemas.openxmlformats.org/drawingml/2006/main">
              <a:ext uri="{FF2B5EF4-FFF2-40B4-BE49-F238E27FC236}">
                <a16:creationId xmlns:a16="http://schemas.microsoft.com/office/drawing/2014/main" id="{A74C84C9-0E1E-4EE8-BB40-F53AEE70C3D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3 Verschuivingen en nieuw evenwicht · Opgave 31 · p. 11">
            <a:extLst xmlns:a="http://schemas.openxmlformats.org/drawingml/2006/main">
              <a:ext uri="{FF2B5EF4-FFF2-40B4-BE49-F238E27FC236}">
                <a16:creationId xmlns:a16="http://schemas.microsoft.com/office/drawing/2014/main" id="{718D1CE1-3072-43F3-B3BF-7F1A78F3830C}"/>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§1.3.3 Verschuivingen en nieuw evenwicht · Opgave 31 · p. 116</a:t>
            </a:r>
          </a:p>
        </p:txBody>
      </p:sp>
      <p:sp>
        <p:nvSpPr>
          <p:cNvPr id="4" name="24">
            <a:extLst xmlns:a="http://schemas.openxmlformats.org/drawingml/2006/main">
              <a:ext uri="{FF2B5EF4-FFF2-40B4-BE49-F238E27FC236}">
                <a16:creationId xmlns:a16="http://schemas.microsoft.com/office/drawing/2014/main" id="{A2AD38FB-DF34-4542-A3E8-D28D7F13223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graphicFrame>
        <p:nvGraphicFramePr>
          <p:cNvPr id="13" name="Chart"/>
          <p:cNvGraphicFramePr/>
          <p:nvPr/>
        </p:nvGraphicFramePr>
        <p:xfrm>
          <a:off xmlns:a="http://schemas.openxmlformats.org/drawingml/2006/main" x="571500" y="2305050"/>
          <a:ext xmlns:a="http://schemas.openxmlformats.org/drawingml/2006/main" cx="9477375" cy="5553075"/>
        </p:xfrm>
        <a:graphic xmlns:a="http://schemas.openxmlformats.org/drawingml/2006/main">
          <a:graphicData uri="http://schemas.openxmlformats.org/drawingml/2006/chart">
            <c:chart xmlns:r="http://schemas.openxmlformats.org/officeDocument/2006/relationships" xmlns:c="http://schemas.openxmlformats.org/drawingml/2006/chart" r:id="Rf075a3cec5974c90"/>
          </a:graphicData>
        </a:graphic>
      </p:graphicFrame>
      <p:sp>
        <p:nvSpPr>
          <p:cNvPr id="6" name="E₀ = (40; 12)&#10;E₁ = (50; 14)">
            <a:extLst xmlns:a="http://schemas.openxmlformats.org/drawingml/2006/main">
              <a:ext uri="{FF2B5EF4-FFF2-40B4-BE49-F238E27FC236}">
                <a16:creationId xmlns:a16="http://schemas.microsoft.com/office/drawing/2014/main" id="{22DB4E2C-4137-4C2D-9CE5-0B3BD0F11663}"/>
              </a:ext>
            </a:extLst>
          </p:cNvPr>
          <p:cNvSpPr>
            <a:spLocks xmlns:a="http://schemas.openxmlformats.org/drawingml/2006/main" noGrp="1"/>
          </p:cNvSpPr>
          <p:nvPr/>
        </p:nvSpPr>
        <p:spPr>
          <a:xfrm xmlns:a="http://schemas.openxmlformats.org/drawingml/2006/main">
            <a:off x="10572750" y="2686050"/>
            <a:ext cx="4000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E₀ = (40; 12)</a:t>
            </a:r>
          </a:p>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E₁ = (50; 14)</a:t>
            </a:r>
          </a:p>
        </p:txBody>
      </p:sp>
      <p:sp>
        <p:nvSpPr>
          <p:cNvPr id="7" name="V₁ door&#10;(0; 24) en (120; 0)">
            <a:extLst xmlns:a="http://schemas.openxmlformats.org/drawingml/2006/main">
              <a:ext uri="{FF2B5EF4-FFF2-40B4-BE49-F238E27FC236}">
                <a16:creationId xmlns:a16="http://schemas.microsoft.com/office/drawing/2014/main" id="{33D09182-0EED-40D9-9609-954EC2CC3358}"/>
              </a:ext>
            </a:extLst>
          </p:cNvPr>
          <p:cNvSpPr>
            <a:spLocks xmlns:a="http://schemas.openxmlformats.org/drawingml/2006/main" noGrp="1"/>
          </p:cNvSpPr>
          <p:nvPr/>
        </p:nvSpPr>
        <p:spPr>
          <a:xfrm xmlns:a="http://schemas.openxmlformats.org/drawingml/2006/main">
            <a:off x="10572750" y="4667250"/>
            <a:ext cx="4000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704798"/>
                </a:solidFill>
                <a:latin typeface="Arial"/>
                <a:ea typeface="Arial"/>
                <a:cs typeface="Arial"/>
              </a:defRPr>
            </a:pPr>
            <a:r>
              <a:rPr sz="2700" b="0">
                <a:solidFill>
                  <a:srgbClr val="704798"/>
                </a:solidFill>
                <a:latin typeface="Arial"/>
                <a:ea typeface="Arial"/>
                <a:cs typeface="Arial"/>
              </a:rPr>
              <a:t>V₁ door</a:t>
            </a:r>
          </a:p>
          <a:p xmlns:a="http://schemas.openxmlformats.org/drawingml/2006/main">
            <a:pPr algn="l">
              <a:defRPr sz="2700" b="0">
                <a:solidFill>
                  <a:srgbClr val="704798"/>
                </a:solidFill>
                <a:latin typeface="Arial"/>
                <a:ea typeface="Arial"/>
                <a:cs typeface="Arial"/>
              </a:defRPr>
            </a:pPr>
            <a:r>
              <a:rPr sz="2700" b="0">
                <a:solidFill>
                  <a:srgbClr val="704798"/>
                </a:solidFill>
                <a:latin typeface="Arial"/>
                <a:ea typeface="Arial"/>
                <a:cs typeface="Arial"/>
              </a:rPr>
              <a:t>(0; 24) en (120; 0)</a:t>
            </a:r>
          </a:p>
        </p:txBody>
      </p:sp>
      <p:sp>
        <p:nvSpPr>
          <p:cNvPr id="8" name="De schalen en A&#10;blijven gelijk.">
            <a:extLst xmlns:a="http://schemas.openxmlformats.org/drawingml/2006/main">
              <a:ext uri="{FF2B5EF4-FFF2-40B4-BE49-F238E27FC236}">
                <a16:creationId xmlns:a16="http://schemas.microsoft.com/office/drawing/2014/main" id="{C6DE7BA7-8819-4349-B287-3A3691458518}"/>
              </a:ext>
            </a:extLst>
          </p:cNvPr>
          <p:cNvSpPr>
            <a:spLocks xmlns:a="http://schemas.openxmlformats.org/drawingml/2006/main" noGrp="1"/>
          </p:cNvSpPr>
          <p:nvPr/>
        </p:nvSpPr>
        <p:spPr>
          <a:xfrm xmlns:a="http://schemas.openxmlformats.org/drawingml/2006/main">
            <a:off x="10572750" y="6753225"/>
            <a:ext cx="4000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De schalen en A</a:t>
            </a:r>
          </a:p>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blijven gelijk.</a:t>
            </a:r>
          </a:p>
        </p:txBody>
      </p:sp>
    </p:spTree>
    <p:extLst>
      <p:ext uri="{BB962C8B-B14F-4D97-AF65-F5344CB8AC3E}">
        <p14:creationId xmlns:p14="http://schemas.microsoft.com/office/powerpoint/2010/main" val="104517279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1d · Twee pijlen, twee betekenissen">
            <a:extLst xmlns:a="http://schemas.openxmlformats.org/drawingml/2006/main">
              <a:ext uri="{FF2B5EF4-FFF2-40B4-BE49-F238E27FC236}">
                <a16:creationId xmlns:a16="http://schemas.microsoft.com/office/drawing/2014/main" id="{3573AA96-8E66-49CE-A9D0-BCBC4C2F50EB}"/>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31d · Twee pijlen, twee betekenissen</a:t>
            </a:r>
          </a:p>
        </p:txBody>
      </p:sp>
      <p:sp>
        <p:nvSpPr>
          <p:cNvPr id="2" name="">
            <a:extLst xmlns:a="http://schemas.openxmlformats.org/drawingml/2006/main">
              <a:ext uri="{FF2B5EF4-FFF2-40B4-BE49-F238E27FC236}">
                <a16:creationId xmlns:a16="http://schemas.microsoft.com/office/drawing/2014/main" id="{E957B264-11E0-42A3-A6E0-A8C63E7F41C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3 Verschuivingen en nieuw evenwicht · Opgave 31 · p. 11">
            <a:extLst xmlns:a="http://schemas.openxmlformats.org/drawingml/2006/main">
              <a:ext uri="{FF2B5EF4-FFF2-40B4-BE49-F238E27FC236}">
                <a16:creationId xmlns:a16="http://schemas.microsoft.com/office/drawing/2014/main" id="{227250D7-4F42-49DF-85B4-B4BECDEC6446}"/>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§1.3.3 Verschuivingen en nieuw evenwicht · Opgave 31 · p. 116</a:t>
            </a:r>
          </a:p>
        </p:txBody>
      </p:sp>
      <p:sp>
        <p:nvSpPr>
          <p:cNvPr id="4" name="25">
            <a:extLst xmlns:a="http://schemas.openxmlformats.org/drawingml/2006/main">
              <a:ext uri="{FF2B5EF4-FFF2-40B4-BE49-F238E27FC236}">
                <a16:creationId xmlns:a16="http://schemas.microsoft.com/office/drawing/2014/main" id="{F5BA8A86-241E-47A7-944D-7014C1CCF48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graphicFrame>
        <p:nvGraphicFramePr>
          <p:cNvPr id="13" name="Chart"/>
          <p:cNvGraphicFramePr/>
          <p:nvPr/>
        </p:nvGraphicFramePr>
        <p:xfrm>
          <a:off xmlns:a="http://schemas.openxmlformats.org/drawingml/2006/main" x="571500" y="2305050"/>
          <a:ext xmlns:a="http://schemas.openxmlformats.org/drawingml/2006/main" cx="9477375" cy="5553075"/>
        </p:xfrm>
        <a:graphic xmlns:a="http://schemas.openxmlformats.org/drawingml/2006/main">
          <a:graphicData uri="http://schemas.openxmlformats.org/drawingml/2006/chart">
            <c:chart xmlns:r="http://schemas.openxmlformats.org/officeDocument/2006/relationships" xmlns:c="http://schemas.openxmlformats.org/drawingml/2006/chart" r:id="R44399da7357840eb"/>
          </a:graphicData>
        </a:graphic>
      </p:graphicFrame>
      <p:sp>
        <p:nvSpPr>
          <p:cNvPr id="6" name="Verschuiving bij € 12:&#10;(40; 12) naar (60; 12)">
            <a:extLst xmlns:a="http://schemas.openxmlformats.org/drawingml/2006/main">
              <a:ext uri="{FF2B5EF4-FFF2-40B4-BE49-F238E27FC236}">
                <a16:creationId xmlns:a16="http://schemas.microsoft.com/office/drawing/2014/main" id="{FD5B8F3A-09F8-4015-B1D8-9799A0E1CC4F}"/>
              </a:ext>
            </a:extLst>
          </p:cNvPr>
          <p:cNvSpPr>
            <a:spLocks xmlns:a="http://schemas.openxmlformats.org/drawingml/2006/main" noGrp="1"/>
          </p:cNvSpPr>
          <p:nvPr/>
        </p:nvSpPr>
        <p:spPr>
          <a:xfrm xmlns:a="http://schemas.openxmlformats.org/drawingml/2006/main">
            <a:off x="10572750" y="2581275"/>
            <a:ext cx="40005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704798"/>
                </a:solidFill>
                <a:latin typeface="Arial"/>
                <a:ea typeface="Arial"/>
                <a:cs typeface="Arial"/>
              </a:defRPr>
            </a:pPr>
            <a:r>
              <a:rPr sz="2625" b="1">
                <a:solidFill>
                  <a:srgbClr val="704798"/>
                </a:solidFill>
                <a:latin typeface="Arial"/>
                <a:ea typeface="Arial"/>
                <a:cs typeface="Arial"/>
              </a:rPr>
              <a:t>Verschuiving bij € 12:</a:t>
            </a:r>
          </a:p>
          <a:p xmlns:a="http://schemas.openxmlformats.org/drawingml/2006/main">
            <a:pPr algn="l">
              <a:defRPr sz="2625" b="1">
                <a:solidFill>
                  <a:srgbClr val="704798"/>
                </a:solidFill>
                <a:latin typeface="Arial"/>
                <a:ea typeface="Arial"/>
                <a:cs typeface="Arial"/>
              </a:defRPr>
            </a:pPr>
            <a:r>
              <a:rPr sz="2625" b="1">
                <a:solidFill>
                  <a:srgbClr val="704798"/>
                </a:solidFill>
                <a:latin typeface="Arial"/>
                <a:ea typeface="Arial"/>
                <a:cs typeface="Arial"/>
              </a:rPr>
              <a:t>(40; 12) naar (60; 12)</a:t>
            </a:r>
          </a:p>
        </p:txBody>
      </p:sp>
      <p:sp>
        <p:nvSpPr>
          <p:cNvPr id="7" name="Beweging langs A:&#10;(40; 12) naar (50; 14)">
            <a:extLst xmlns:a="http://schemas.openxmlformats.org/drawingml/2006/main">
              <a:ext uri="{FF2B5EF4-FFF2-40B4-BE49-F238E27FC236}">
                <a16:creationId xmlns:a16="http://schemas.microsoft.com/office/drawing/2014/main" id="{1785849D-8287-4B61-835E-D0E9A7FB352F}"/>
              </a:ext>
            </a:extLst>
          </p:cNvPr>
          <p:cNvSpPr>
            <a:spLocks xmlns:a="http://schemas.openxmlformats.org/drawingml/2006/main" noGrp="1"/>
          </p:cNvSpPr>
          <p:nvPr/>
        </p:nvSpPr>
        <p:spPr>
          <a:xfrm xmlns:a="http://schemas.openxmlformats.org/drawingml/2006/main">
            <a:off x="10572750" y="4895850"/>
            <a:ext cx="4000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Beweging langs A:</a:t>
            </a:r>
          </a:p>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(40; 12) naar (50; 14)</a:t>
            </a:r>
          </a:p>
        </p:txBody>
      </p:sp>
      <p:sp>
        <p:nvSpPr>
          <p:cNvPr id="8" name="Oorzaak en prijsreactie&#10;blijven gescheiden.">
            <a:extLst xmlns:a="http://schemas.openxmlformats.org/drawingml/2006/main">
              <a:ext uri="{FF2B5EF4-FFF2-40B4-BE49-F238E27FC236}">
                <a16:creationId xmlns:a16="http://schemas.microsoft.com/office/drawing/2014/main" id="{E882BE98-6CCE-4298-9FB2-CFAE134BD3FC}"/>
              </a:ext>
            </a:extLst>
          </p:cNvPr>
          <p:cNvSpPr>
            <a:spLocks xmlns:a="http://schemas.openxmlformats.org/drawingml/2006/main" noGrp="1"/>
          </p:cNvSpPr>
          <p:nvPr/>
        </p:nvSpPr>
        <p:spPr>
          <a:xfrm xmlns:a="http://schemas.openxmlformats.org/drawingml/2006/main">
            <a:off x="10572750" y="7134225"/>
            <a:ext cx="4000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Oorzaak en prijsreactie</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blijven gescheiden.</a:t>
            </a:r>
          </a:p>
        </p:txBody>
      </p:sp>
    </p:spTree>
    <p:extLst>
      <p:ext uri="{BB962C8B-B14F-4D97-AF65-F5344CB8AC3E}">
        <p14:creationId xmlns:p14="http://schemas.microsoft.com/office/powerpoint/2010/main" val="132069628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1e · Groter aanbod langs dezelfde lijn">
            <a:extLst xmlns:a="http://schemas.openxmlformats.org/drawingml/2006/main">
              <a:ext uri="{FF2B5EF4-FFF2-40B4-BE49-F238E27FC236}">
                <a16:creationId xmlns:a16="http://schemas.microsoft.com/office/drawing/2014/main" id="{C6EEEA87-28F4-4DC0-8BB0-34178728F24F}"/>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31e · Groter aanbod langs dezelfde lijn</a:t>
            </a:r>
          </a:p>
        </p:txBody>
      </p:sp>
      <p:sp>
        <p:nvSpPr>
          <p:cNvPr id="2" name="">
            <a:extLst xmlns:a="http://schemas.openxmlformats.org/drawingml/2006/main">
              <a:ext uri="{FF2B5EF4-FFF2-40B4-BE49-F238E27FC236}">
                <a16:creationId xmlns:a16="http://schemas.microsoft.com/office/drawing/2014/main" id="{A51EA7CC-D184-450A-8957-94339002831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3 Verschuivingen en nieuw evenwicht · Opgave 31 · p. 11">
            <a:extLst xmlns:a="http://schemas.openxmlformats.org/drawingml/2006/main">
              <a:ext uri="{FF2B5EF4-FFF2-40B4-BE49-F238E27FC236}">
                <a16:creationId xmlns:a16="http://schemas.microsoft.com/office/drawing/2014/main" id="{578E0EBA-C14C-42BF-8395-B3E6766454CB}"/>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§1.3.3 Verschuivingen en nieuw evenwicht · Opgave 31 · p. 116</a:t>
            </a:r>
          </a:p>
        </p:txBody>
      </p:sp>
      <p:sp>
        <p:nvSpPr>
          <p:cNvPr id="4" name="26">
            <a:extLst xmlns:a="http://schemas.openxmlformats.org/drawingml/2006/main">
              <a:ext uri="{FF2B5EF4-FFF2-40B4-BE49-F238E27FC236}">
                <a16:creationId xmlns:a16="http://schemas.microsoft.com/office/drawing/2014/main" id="{AA984E29-985F-4BC1-8271-845AF695B80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26</a:t>
            </a:r>
          </a:p>
        </p:txBody>
      </p:sp>
      <p:sp>
        <p:nvSpPr>
          <p:cNvPr id="5" name="De uitspraak is onjuist.">
            <a:extLst xmlns:a="http://schemas.openxmlformats.org/drawingml/2006/main">
              <a:ext uri="{FF2B5EF4-FFF2-40B4-BE49-F238E27FC236}">
                <a16:creationId xmlns:a16="http://schemas.microsoft.com/office/drawing/2014/main" id="{E05715A1-8E0A-4E54-9F71-D5C268524020}"/>
              </a:ext>
            </a:extLst>
          </p:cNvPr>
          <p:cNvSpPr>
            <a:spLocks xmlns:a="http://schemas.openxmlformats.org/drawingml/2006/main" noGrp="1"/>
          </p:cNvSpPr>
          <p:nvPr/>
        </p:nvSpPr>
        <p:spPr>
          <a:xfrm xmlns:a="http://schemas.openxmlformats.org/drawingml/2006/main">
            <a:off x="571500" y="2124075"/>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A94D16"/>
                </a:solidFill>
                <a:latin typeface="Arial"/>
                <a:ea typeface="Arial"/>
                <a:cs typeface="Arial"/>
              </a:defRPr>
            </a:pPr>
            <a:r>
              <a:rPr sz="3825" b="1">
                <a:solidFill>
                  <a:srgbClr val="A94D16"/>
                </a:solidFill>
                <a:latin typeface="Arial"/>
                <a:ea typeface="Arial"/>
                <a:cs typeface="Arial"/>
              </a:rPr>
              <a:t>De uitspraak is onjuist.</a:t>
            </a:r>
          </a:p>
        </p:txBody>
      </p:sp>
      <p:sp>
        <p:nvSpPr>
          <p:cNvPr id="6" name="A blijft Qₐ = 5P − 20.">
            <a:extLst xmlns:a="http://schemas.openxmlformats.org/drawingml/2006/main">
              <a:ext uri="{FF2B5EF4-FFF2-40B4-BE49-F238E27FC236}">
                <a16:creationId xmlns:a16="http://schemas.microsoft.com/office/drawing/2014/main" id="{05B6F191-0C94-4D6F-8AA5-A8C0AAB3D009}"/>
              </a:ext>
            </a:extLst>
          </p:cNvPr>
          <p:cNvSpPr>
            <a:spLocks xmlns:a="http://schemas.openxmlformats.org/drawingml/2006/main" noGrp="1"/>
          </p:cNvSpPr>
          <p:nvPr/>
        </p:nvSpPr>
        <p:spPr>
          <a:xfrm xmlns:a="http://schemas.openxmlformats.org/drawingml/2006/main">
            <a:off x="571500" y="3448050"/>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20665B"/>
                </a:solidFill>
                <a:latin typeface="Arial"/>
                <a:ea typeface="Arial"/>
                <a:cs typeface="Arial"/>
              </a:defRPr>
            </a:pPr>
            <a:r>
              <a:rPr sz="3525" b="1">
                <a:solidFill>
                  <a:srgbClr val="20665B"/>
                </a:solidFill>
                <a:latin typeface="Arial"/>
                <a:ea typeface="Arial"/>
                <a:cs typeface="Arial"/>
              </a:rPr>
              <a:t>A blijft Qₐ = 5P − 20.</a:t>
            </a:r>
          </a:p>
        </p:txBody>
      </p:sp>
      <p:graphicFrame>
        <p:nvGraphicFramePr>
          <p:cNvPr id="15" name=""/>
          <p:cNvGraphicFramePr/>
          <p:nvPr/>
        </p:nvGraphicFramePr>
        <p:xfrm>
          <a:off xmlns:a="http://schemas.openxmlformats.org/drawingml/2006/main" x="571500" y="4514850"/>
          <a:ext xmlns:a="http://schemas.openxmlformats.org/drawingml/2006/main" cx="14097000" cy="2247900"/>
        </p:xfrm>
        <a:graphic xmlns:a="http://schemas.openxmlformats.org/drawingml/2006/main">
          <a:graphicData uri="http://schemas.openxmlformats.org/drawingml/2006/table">
            <a:tbl>
              <a:tblPr/>
              <a:tblGrid>
                <a:gridCol w="4762500"/>
                <a:gridCol w="9334500"/>
              </a:tblGrid>
              <a:tr h="749300">
                <a:tc>
                  <a:txBody>
                    <a:bodyPr lIns="171450" tIns="95250" rIns="133350" bIns="95250"/>
                    <a:lstStyle/>
                    <a:p>
                      <a:r>
                        <a:rPr sz="2775" b="1">
                          <a:solidFill>
                            <a:srgbClr val="FFFFFF"/>
                          </a:solidFill>
                          <a:latin typeface="Arial"/>
                          <a:ea typeface="Arial"/>
                          <a:cs typeface="Arial"/>
                        </a:rPr>
                        <a:t>Prijs per kabel</a:t>
                      </a:r>
                    </a:p>
                  </a:txBody>
                  <a:tcPr marL="91440" marR="91440" marT="45720" marB="45720" anchor="ctr">
                    <a:solidFill>
                      <a:srgbClr val="183247"/>
                    </a:solidFill>
                  </a:tcPr>
                </a:tc>
                <a:tc>
                  <a:txBody>
                    <a:bodyPr lIns="171450" tIns="95250" rIns="133350" bIns="95250"/>
                    <a:lstStyle/>
                    <a:p>
                      <a:r>
                        <a:rPr sz="2775" b="1">
                          <a:solidFill>
                            <a:srgbClr val="FFFFFF"/>
                          </a:solidFill>
                          <a:latin typeface="Arial"/>
                          <a:ea typeface="Arial"/>
                          <a:cs typeface="Arial"/>
                        </a:rPr>
                        <a:t>Aangeboden hoeveelheid</a:t>
                      </a:r>
                    </a:p>
                  </a:txBody>
                  <a:tcPr marL="91440" marR="91440" marT="45720" marB="45720" anchor="ctr">
                    <a:solidFill>
                      <a:srgbClr val="183247"/>
                    </a:solidFill>
                  </a:tcPr>
                </a:tc>
              </a:tr>
              <a:tr h="749300">
                <a:tc>
                  <a:txBody>
                    <a:bodyPr lIns="171450" tIns="95250" rIns="133350" bIns="95250"/>
                    <a:lstStyle/>
                    <a:p>
                      <a:r>
                        <a:rPr sz="2775" b="0">
                          <a:solidFill>
                            <a:srgbClr val="183247"/>
                          </a:solidFill>
                          <a:latin typeface="Arial"/>
                          <a:ea typeface="Arial"/>
                          <a:cs typeface="Arial"/>
                        </a:rPr>
                        <a:t>€ 12</a:t>
                      </a:r>
                    </a:p>
                  </a:txBody>
                  <a:tcPr marL="91440" marR="91440" marT="45720" marB="45720" anchor="ctr">
                    <a:solidFill>
                      <a:srgbClr val="FFFFFF"/>
                    </a:solidFill>
                  </a:tcPr>
                </a:tc>
                <a:tc>
                  <a:txBody>
                    <a:bodyPr lIns="171450" tIns="95250" rIns="133350" bIns="95250"/>
                    <a:lstStyle/>
                    <a:p>
                      <a:r>
                        <a:rPr sz="2775" b="0">
                          <a:solidFill>
                            <a:srgbClr val="183247"/>
                          </a:solidFill>
                          <a:latin typeface="Arial"/>
                          <a:ea typeface="Arial"/>
                          <a:cs typeface="Arial"/>
                        </a:rPr>
                        <a:t>5 × 12 − 20 = 40 per week</a:t>
                      </a:r>
                    </a:p>
                  </a:txBody>
                  <a:tcPr marL="91440" marR="91440" marT="45720" marB="45720" anchor="ctr">
                    <a:solidFill>
                      <a:srgbClr val="FFFFFF"/>
                    </a:solidFill>
                  </a:tcPr>
                </a:tc>
              </a:tr>
              <a:tr h="749300">
                <a:tc>
                  <a:txBody>
                    <a:bodyPr lIns="171450" tIns="95250" rIns="133350" bIns="95250"/>
                    <a:lstStyle/>
                    <a:p>
                      <a:r>
                        <a:rPr sz="2775" b="0">
                          <a:solidFill>
                            <a:srgbClr val="183247"/>
                          </a:solidFill>
                          <a:latin typeface="Arial"/>
                          <a:ea typeface="Arial"/>
                          <a:cs typeface="Arial"/>
                        </a:rPr>
                        <a:t>€ 14</a:t>
                      </a:r>
                    </a:p>
                  </a:txBody>
                  <a:tcPr marL="91440" marR="91440" marT="45720" marB="45720" anchor="ctr">
                    <a:solidFill>
                      <a:srgbClr val="EFF4F7"/>
                    </a:solidFill>
                  </a:tcPr>
                </a:tc>
                <a:tc>
                  <a:txBody>
                    <a:bodyPr lIns="171450" tIns="95250" rIns="133350" bIns="95250"/>
                    <a:lstStyle/>
                    <a:p>
                      <a:r>
                        <a:rPr sz="2775" b="0">
                          <a:solidFill>
                            <a:srgbClr val="183247"/>
                          </a:solidFill>
                          <a:latin typeface="Arial"/>
                          <a:ea typeface="Arial"/>
                          <a:cs typeface="Arial"/>
                        </a:rPr>
                        <a:t>5 × 14 − 20 = 50 per week</a:t>
                      </a:r>
                    </a:p>
                  </a:txBody>
                  <a:tcPr marL="91440" marR="91440" marT="45720" marB="45720" anchor="ctr">
                    <a:solidFill>
                      <a:srgbClr val="EFF4F7"/>
                    </a:solidFill>
                  </a:tcPr>
                </a:tc>
              </a:tr>
            </a:tbl>
          </a:graphicData>
        </a:graphic>
      </p:graphicFrame>
      <p:sp>
        <p:nvSpPr>
          <p:cNvPr id="8" name="De aanbodfactoren blijven gelijk. De prijsreactie ligt langs">
            <a:extLst xmlns:a="http://schemas.openxmlformats.org/drawingml/2006/main">
              <a:ext uri="{FF2B5EF4-FFF2-40B4-BE49-F238E27FC236}">
                <a16:creationId xmlns:a16="http://schemas.microsoft.com/office/drawing/2014/main" id="{56E608B3-BBE0-4B19-A698-EF232F025A71}"/>
              </a:ext>
            </a:extLst>
          </p:cNvPr>
          <p:cNvSpPr>
            <a:spLocks xmlns:a="http://schemas.openxmlformats.org/drawingml/2006/main" noGrp="1"/>
          </p:cNvSpPr>
          <p:nvPr/>
        </p:nvSpPr>
        <p:spPr>
          <a:xfrm xmlns:a="http://schemas.openxmlformats.org/drawingml/2006/main">
            <a:off x="571500" y="725805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De aanbodfactoren blijven gelijk. De prijsreactie ligt langs A.</a:t>
            </a:r>
          </a:p>
        </p:txBody>
      </p:sp>
    </p:spTree>
    <p:extLst>
      <p:ext uri="{BB962C8B-B14F-4D97-AF65-F5344CB8AC3E}">
        <p14:creationId xmlns:p14="http://schemas.microsoft.com/office/powerpoint/2010/main" val="194956647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3.3 Verschuivingen en nieuw evenwicht">
            <a:extLst xmlns:a="http://schemas.openxmlformats.org/drawingml/2006/main">
              <a:ext uri="{FF2B5EF4-FFF2-40B4-BE49-F238E27FC236}">
                <a16:creationId xmlns:a16="http://schemas.microsoft.com/office/drawing/2014/main" id="{B75202EB-4813-41FF-AE0C-68BAE594F7BA}"/>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Deze les: §1.3.3 Verschuivingen en nieuw evenwicht</a:t>
            </a:r>
          </a:p>
        </p:txBody>
      </p:sp>
      <p:sp>
        <p:nvSpPr>
          <p:cNvPr id="2" name="">
            <a:extLst xmlns:a="http://schemas.openxmlformats.org/drawingml/2006/main">
              <a:ext uri="{FF2B5EF4-FFF2-40B4-BE49-F238E27FC236}">
                <a16:creationId xmlns:a16="http://schemas.microsoft.com/office/drawing/2014/main" id="{0215CCA8-74AC-41F3-B862-258AA5F6920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3 Verschuivingen en nieuw evenwicht">
            <a:extLst xmlns:a="http://schemas.openxmlformats.org/drawingml/2006/main">
              <a:ext uri="{FF2B5EF4-FFF2-40B4-BE49-F238E27FC236}">
                <a16:creationId xmlns:a16="http://schemas.microsoft.com/office/drawing/2014/main" id="{45286714-7428-4ECF-92A2-5E14B3670229}"/>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§1.3.3 Verschuivingen en nieuw evenwicht</a:t>
            </a:r>
          </a:p>
        </p:txBody>
      </p:sp>
      <p:sp>
        <p:nvSpPr>
          <p:cNvPr id="4" name="27">
            <a:extLst xmlns:a="http://schemas.openxmlformats.org/drawingml/2006/main">
              <a:ext uri="{FF2B5EF4-FFF2-40B4-BE49-F238E27FC236}">
                <a16:creationId xmlns:a16="http://schemas.microsoft.com/office/drawing/2014/main" id="{FC9F65AE-C67D-41EA-AF57-29EACD4A1A8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27</a:t>
            </a:r>
          </a:p>
        </p:txBody>
      </p:sp>
      <p:sp>
        <p:nvSpPr>
          <p:cNvPr id="5" name="phase">
            <a:extLst xmlns:a="http://schemas.openxmlformats.org/drawingml/2006/main">
              <a:ext uri="{FF2B5EF4-FFF2-40B4-BE49-F238E27FC236}">
                <a16:creationId xmlns:a16="http://schemas.microsoft.com/office/drawing/2014/main" id="{0E274891-7F35-4C7E-AD10-7FE32AEEB914}"/>
              </a:ext>
            </a:extLst>
          </p:cNvPr>
          <p:cNvSpPr>
            <a:spLocks xmlns:a="http://schemas.openxmlformats.org/drawingml/2006/main" noGrp="1"/>
          </p:cNvSpPr>
          <p:nvPr/>
        </p:nvSpPr>
        <p:spPr>
          <a:xfrm xmlns:a="http://schemas.openxmlformats.org/drawingml/2006/main">
            <a:off x="571500" y="1057275"/>
            <a:ext cx="1390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72D6093E-C0F8-476A-8BF0-DD256E618354}"/>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47E9B239-713D-44D9-B4C8-34D19309BECA}"/>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66213FD8-B36A-4F1B-B684-D1E1FE955848}"/>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1">
            <a:extLst xmlns:a="http://schemas.openxmlformats.org/drawingml/2006/main">
              <a:ext uri="{FF2B5EF4-FFF2-40B4-BE49-F238E27FC236}">
                <a16:creationId xmlns:a16="http://schemas.microsoft.com/office/drawing/2014/main" id="{659409C5-18B0-44E6-9551-A1A16C578D30}"/>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F8036201-1F16-4F4E-B80C-124963F04BEB}"/>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D985467C-F2FE-47CB-8866-245ABBEC73FA}"/>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1B32BECE-D8C3-47B2-9975-923C81E34755}"/>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71323A50-25F9-4A00-961B-F2E3B2CF4D4A}"/>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BE6E4FA0-D04D-4FFE-8F60-82BDE27EB064}"/>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2DA05980-C98D-450E-AF6C-2D8472B683FA}"/>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FD0265F0-29BE-42F2-8B09-3AA970B965B3}"/>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1146BAAB-DC39-4912-BC88-0F55A1E4760C}"/>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994657EB-A159-4D7D-B088-DDA2876BA339}"/>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31.</a:t>
            </a:r>
          </a:p>
        </p:txBody>
      </p:sp>
      <p:sp>
        <p:nvSpPr>
          <p:cNvPr id="19" name="route-number-6">
            <a:extLst xmlns:a="http://schemas.openxmlformats.org/drawingml/2006/main">
              <a:ext uri="{FF2B5EF4-FFF2-40B4-BE49-F238E27FC236}">
                <a16:creationId xmlns:a16="http://schemas.microsoft.com/office/drawing/2014/main" id="{5311B394-52C1-42F6-AA6E-4D6263B68BBC}"/>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6FD31FC6-1573-4F45-B4DB-FCD6114AFCB6}"/>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E99851E7-C8DB-412C-A233-F8A55853A8DC}"/>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56ADA7DE-792A-4732-B9C8-511A3D80B95D}"/>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Oorzaak en prijsreactie scheiden.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Oud en nieuw evenwicht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Verschuiving en beweging tekenen.</a:t>
            </a:r>
          </a:p>
        </p:txBody>
      </p:sp>
      <p:sp>
        <p:nvSpPr>
          <p:cNvPr id="23" name="">
            <a:extLst xmlns:a="http://schemas.openxmlformats.org/drawingml/2006/main">
              <a:ext uri="{FF2B5EF4-FFF2-40B4-BE49-F238E27FC236}">
                <a16:creationId xmlns:a16="http://schemas.microsoft.com/office/drawing/2014/main" id="{953305BA-0221-4862-9CE5-B3C6DDE0DF4F}"/>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44067C48-0E99-47D3-AAD1-69C80B22B871}"/>
              </a:ext>
            </a:extLst>
          </p:cNvPr>
          <p:cNvSpPr>
            <a:spLocks xmlns:a="http://schemas.openxmlformats.org/drawingml/2006/main" noGrp="1"/>
          </p:cNvSpPr>
          <p:nvPr/>
        </p:nvSpPr>
        <p:spPr>
          <a:xfrm xmlns:a="http://schemas.openxmlformats.org/drawingml/2006/main">
            <a:off x="9258300" y="37814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49E3A0F0-8211-45F3-A78C-5F032F9A5E3D}"/>
              </a:ext>
            </a:extLst>
          </p:cNvPr>
          <p:cNvSpPr>
            <a:spLocks xmlns:a="http://schemas.openxmlformats.org/drawingml/2006/main" noGrp="1"/>
          </p:cNvSpPr>
          <p:nvPr/>
        </p:nvSpPr>
        <p:spPr>
          <a:xfrm xmlns:a="http://schemas.openxmlformats.org/drawingml/2006/main">
            <a:off x="9258300" y="4276725"/>
            <a:ext cx="5381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112 · Opgaven 23 en 24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24: verkennen met theorie</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 108–109</a:t>
            </a:r>
          </a:p>
        </p:txBody>
      </p:sp>
      <p:sp>
        <p:nvSpPr>
          <p:cNvPr id="26" name="">
            <a:extLst xmlns:a="http://schemas.openxmlformats.org/drawingml/2006/main">
              <a:ext uri="{FF2B5EF4-FFF2-40B4-BE49-F238E27FC236}">
                <a16:creationId xmlns:a16="http://schemas.microsoft.com/office/drawing/2014/main" id="{590E80EA-7109-49CC-81B5-97CE2B2AAF27}"/>
              </a:ext>
            </a:extLst>
          </p:cNvPr>
          <p:cNvSpPr>
            <a:spLocks xmlns:a="http://schemas.openxmlformats.org/drawingml/2006/main" noGrp="1"/>
          </p:cNvSpPr>
          <p:nvPr/>
        </p:nvSpPr>
        <p:spPr>
          <a:xfrm xmlns:a="http://schemas.openxmlformats.org/drawingml/2006/main">
            <a:off x="9258300" y="5495925"/>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DD78470E-4F9D-4A79-A8F7-3920719B268F}"/>
              </a:ext>
            </a:extLst>
          </p:cNvPr>
          <p:cNvSpPr>
            <a:spLocks xmlns:a="http://schemas.openxmlformats.org/drawingml/2006/main" noGrp="1"/>
          </p:cNvSpPr>
          <p:nvPr/>
        </p:nvSpPr>
        <p:spPr>
          <a:xfrm xmlns:a="http://schemas.openxmlformats.org/drawingml/2006/main">
            <a:off x="9258300" y="56864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2127D56E-3A32-42A2-A147-560311D11568}"/>
              </a:ext>
            </a:extLst>
          </p:cNvPr>
          <p:cNvSpPr>
            <a:spLocks xmlns:a="http://schemas.openxmlformats.org/drawingml/2006/main" noGrp="1"/>
          </p:cNvSpPr>
          <p:nvPr/>
        </p:nvSpPr>
        <p:spPr>
          <a:xfrm xmlns:a="http://schemas.openxmlformats.org/drawingml/2006/main">
            <a:off x="9258300" y="6200775"/>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§1.3.3</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Basis: 25, 26 en 27</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Zelfstandig: 28, 29 en 30</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Doelopgave: 31</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3190759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2026-10-03T14:17:14.2700000Z</dcterms:created>
  <dcterms:modified xsi:type="dcterms:W3CDTF">2026-10-03T14:17:14.2700000Z</dcterms:modified>
</coreProperties>
</file>