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4df1400b72436c" /><Relationship Type="http://schemas.openxmlformats.org/officeDocument/2006/relationships/extended-properties" Target="/docProps/app.xml" Id="Rdc6b943ea9004b77" /><Relationship Type="http://schemas.openxmlformats.org/officeDocument/2006/relationships/officeDocument" Target="/ppt/presentation.xml" Id="R2580da6a735b40af" /></Relationships>
</file>

<file path=ppt/presentation.xml><?xml version="1.0" encoding="utf-8"?>
<p:presentation xmlns:p="http://schemas.openxmlformats.org/presentationml/2006/main">
  <p:sldMasterIdLst>
    <p:sldMasterId xmlns:r="http://schemas.openxmlformats.org/officeDocument/2006/relationships" id="2147483648" r:id="R5953d0cd10374b61"/>
  </p:sldMasterIdLst>
  <p:notesMasterIdLst>
    <p:notesMasterId xmlns:r="http://schemas.openxmlformats.org/officeDocument/2006/relationships" r:id="Rbd8a449d35964944"/>
  </p:notesMasterIdLst>
  <p:sldIdLst>
    <p:sldId xmlns:r="http://schemas.openxmlformats.org/officeDocument/2006/relationships" id="256" r:id="R0efe7f6fdec54121"/>
    <p:sldId xmlns:r="http://schemas.openxmlformats.org/officeDocument/2006/relationships" id="257" r:id="Rdb441ba2931e4558"/>
    <p:sldId xmlns:r="http://schemas.openxmlformats.org/officeDocument/2006/relationships" id="258" r:id="R00a04a8e75ef4df6"/>
    <p:sldId xmlns:r="http://schemas.openxmlformats.org/officeDocument/2006/relationships" id="259" r:id="Rcf6d52d81a8a4038"/>
    <p:sldId xmlns:r="http://schemas.openxmlformats.org/officeDocument/2006/relationships" id="260" r:id="Rf636c29a07d4436c"/>
    <p:sldId xmlns:r="http://schemas.openxmlformats.org/officeDocument/2006/relationships" id="261" r:id="R48dddcac5bee4f26"/>
    <p:sldId xmlns:r="http://schemas.openxmlformats.org/officeDocument/2006/relationships" id="262" r:id="R8aea1b8afe0644a2"/>
    <p:sldId xmlns:r="http://schemas.openxmlformats.org/officeDocument/2006/relationships" id="263" r:id="R270744e92d204c17"/>
    <p:sldId xmlns:r="http://schemas.openxmlformats.org/officeDocument/2006/relationships" id="264" r:id="Rab1b18290ed6464b"/>
    <p:sldId xmlns:r="http://schemas.openxmlformats.org/officeDocument/2006/relationships" id="265" r:id="Rb36a66ea739b48eb"/>
    <p:sldId xmlns:r="http://schemas.openxmlformats.org/officeDocument/2006/relationships" id="266" r:id="R77afeb461a0441d3"/>
    <p:sldId xmlns:r="http://schemas.openxmlformats.org/officeDocument/2006/relationships" id="267" r:id="R038f4c89a11e455c"/>
    <p:sldId xmlns:r="http://schemas.openxmlformats.org/officeDocument/2006/relationships" id="268" r:id="R2802a2b2b40f4eb7"/>
    <p:sldId xmlns:r="http://schemas.openxmlformats.org/officeDocument/2006/relationships" id="269" r:id="Rf5709f790f154e0b"/>
    <p:sldId xmlns:r="http://schemas.openxmlformats.org/officeDocument/2006/relationships" id="270" r:id="R626e9c38e27541b3"/>
    <p:sldId xmlns:r="http://schemas.openxmlformats.org/officeDocument/2006/relationships" id="271" r:id="R61c5b13dabdb4b76"/>
    <p:sldId xmlns:r="http://schemas.openxmlformats.org/officeDocument/2006/relationships" id="272" r:id="R220f37e28b524e12"/>
    <p:sldId xmlns:r="http://schemas.openxmlformats.org/officeDocument/2006/relationships" id="273" r:id="Ra78354a4eb4b45cb"/>
    <p:sldId xmlns:r="http://schemas.openxmlformats.org/officeDocument/2006/relationships" id="274" r:id="Rb2d24d680d2f40c1"/>
    <p:sldId xmlns:r="http://schemas.openxmlformats.org/officeDocument/2006/relationships" id="275" r:id="R110f6541f9fa4dff"/>
    <p:sldId xmlns:r="http://schemas.openxmlformats.org/officeDocument/2006/relationships" id="276" r:id="Rf6397d27ea0240f8"/>
    <p:sldId xmlns:r="http://schemas.openxmlformats.org/officeDocument/2006/relationships" id="277" r:id="R89d388dee5b545d7"/>
    <p:sldId xmlns:r="http://schemas.openxmlformats.org/officeDocument/2006/relationships" id="278" r:id="R78d9eaa9d05a489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45d6079f764306" /><Relationship Type="http://schemas.openxmlformats.org/officeDocument/2006/relationships/slideMaster" Target="/ppt/slideMasters/slideMaster1.xml" Id="R5953d0cd10374b61" /><Relationship Type="http://schemas.openxmlformats.org/officeDocument/2006/relationships/notesMaster" Target="/ppt/notesMasters/notesMaster1.xml" Id="Rbd8a449d35964944" /><Relationship Type="http://schemas.openxmlformats.org/officeDocument/2006/relationships/presProps" Target="/ppt/presProps.xml" Id="R92d95075f6a44e33" /><Relationship Type="http://schemas.openxmlformats.org/officeDocument/2006/relationships/tableStyles" Target="/ppt/tableStyles.xml" Id="R81b59160581649c5" /><Relationship Type="http://schemas.openxmlformats.org/officeDocument/2006/relationships/slide" Target="/ppt/slides/slide1.xml" Id="R0efe7f6fdec54121" /><Relationship Type="http://schemas.openxmlformats.org/officeDocument/2006/relationships/slide" Target="/ppt/slides/slide2.xml" Id="Rdb441ba2931e4558" /><Relationship Type="http://schemas.openxmlformats.org/officeDocument/2006/relationships/slide" Target="/ppt/slides/slide3.xml" Id="R00a04a8e75ef4df6" /><Relationship Type="http://schemas.openxmlformats.org/officeDocument/2006/relationships/slide" Target="/ppt/slides/slide4.xml" Id="Rcf6d52d81a8a4038" /><Relationship Type="http://schemas.openxmlformats.org/officeDocument/2006/relationships/slide" Target="/ppt/slides/slide5.xml" Id="Rf636c29a07d4436c" /><Relationship Type="http://schemas.openxmlformats.org/officeDocument/2006/relationships/slide" Target="/ppt/slides/slide6.xml" Id="R48dddcac5bee4f26" /><Relationship Type="http://schemas.openxmlformats.org/officeDocument/2006/relationships/slide" Target="/ppt/slides/slide7.xml" Id="R8aea1b8afe0644a2" /><Relationship Type="http://schemas.openxmlformats.org/officeDocument/2006/relationships/slide" Target="/ppt/slides/slide8.xml" Id="R270744e92d204c17" /><Relationship Type="http://schemas.openxmlformats.org/officeDocument/2006/relationships/slide" Target="/ppt/slides/slide9.xml" Id="Rab1b18290ed6464b" /><Relationship Type="http://schemas.openxmlformats.org/officeDocument/2006/relationships/slide" Target="/ppt/slides/slide10.xml" Id="Rb36a66ea739b48eb" /><Relationship Type="http://schemas.openxmlformats.org/officeDocument/2006/relationships/slide" Target="/ppt/slides/slide11.xml" Id="R77afeb461a0441d3" /><Relationship Type="http://schemas.openxmlformats.org/officeDocument/2006/relationships/slide" Target="/ppt/slides/slide12.xml" Id="R038f4c89a11e455c" /><Relationship Type="http://schemas.openxmlformats.org/officeDocument/2006/relationships/slide" Target="/ppt/slides/slide13.xml" Id="R2802a2b2b40f4eb7" /><Relationship Type="http://schemas.openxmlformats.org/officeDocument/2006/relationships/slide" Target="/ppt/slides/slide14.xml" Id="Rf5709f790f154e0b" /><Relationship Type="http://schemas.openxmlformats.org/officeDocument/2006/relationships/slide" Target="/ppt/slides/slide15.xml" Id="R626e9c38e27541b3" /><Relationship Type="http://schemas.openxmlformats.org/officeDocument/2006/relationships/slide" Target="/ppt/slides/slide16.xml" Id="R61c5b13dabdb4b76" /><Relationship Type="http://schemas.openxmlformats.org/officeDocument/2006/relationships/slide" Target="/ppt/slides/slide17.xml" Id="R220f37e28b524e12" /><Relationship Type="http://schemas.openxmlformats.org/officeDocument/2006/relationships/slide" Target="/ppt/slides/slide18.xml" Id="Ra78354a4eb4b45cb" /><Relationship Type="http://schemas.openxmlformats.org/officeDocument/2006/relationships/slide" Target="/ppt/slides/slide19.xml" Id="Rb2d24d680d2f40c1" /><Relationship Type="http://schemas.openxmlformats.org/officeDocument/2006/relationships/slide" Target="/ppt/slides/slide20.xml" Id="R110f6541f9fa4dff" /><Relationship Type="http://schemas.openxmlformats.org/officeDocument/2006/relationships/slide" Target="/ppt/slides/slide21.xml" Id="Rf6397d27ea0240f8" /><Relationship Type="http://schemas.openxmlformats.org/officeDocument/2006/relationships/slide" Target="/ppt/slides/slide22.xml" Id="R89d388dee5b545d7" /><Relationship Type="http://schemas.openxmlformats.org/officeDocument/2006/relationships/slide" Target="/ppt/slides/slide23.xml" Id="R78d9eaa9d05a48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d9fa1f7c6343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1f99f386c14ffe" /><Relationship Type="http://schemas.openxmlformats.org/officeDocument/2006/relationships/notesMaster" Target="/ppt/notesMasters/notesMaster1.xml" Id="R36dafd1062a844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30ec1e7f844588" /><Relationship Type="http://schemas.openxmlformats.org/officeDocument/2006/relationships/notesMaster" Target="/ppt/notesMasters/notesMaster1.xml" Id="R7932638239fb42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c3b6b05c0f45ef" /><Relationship Type="http://schemas.openxmlformats.org/officeDocument/2006/relationships/notesMaster" Target="/ppt/notesMasters/notesMaster1.xml" Id="R7321a23767fd44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b5ecd275474637" /><Relationship Type="http://schemas.openxmlformats.org/officeDocument/2006/relationships/notesMaster" Target="/ppt/notesMasters/notesMaster1.xml" Id="R5c1753b466df46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e3ab52804e466e" /><Relationship Type="http://schemas.openxmlformats.org/officeDocument/2006/relationships/notesMaster" Target="/ppt/notesMasters/notesMaster1.xml" Id="Rd6b43ee0c0fd40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f85b65b5be4108" /><Relationship Type="http://schemas.openxmlformats.org/officeDocument/2006/relationships/notesMaster" Target="/ppt/notesMasters/notesMaster1.xml" Id="Rca68b89a74a24f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972c8862244065" /><Relationship Type="http://schemas.openxmlformats.org/officeDocument/2006/relationships/notesMaster" Target="/ppt/notesMasters/notesMaster1.xml" Id="Ref627e1dabb449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4f3a55c86642f8" /><Relationship Type="http://schemas.openxmlformats.org/officeDocument/2006/relationships/notesMaster" Target="/ppt/notesMasters/notesMaster1.xml" Id="Rf6106ebd34c54c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93355384f347ba" /><Relationship Type="http://schemas.openxmlformats.org/officeDocument/2006/relationships/notesMaster" Target="/ppt/notesMasters/notesMaster1.xml" Id="R31aca49400f04a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57a2633b364120" /><Relationship Type="http://schemas.openxmlformats.org/officeDocument/2006/relationships/notesMaster" Target="/ppt/notesMasters/notesMaster1.xml" Id="R35cc88152ad947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c399488fb848e8" /><Relationship Type="http://schemas.openxmlformats.org/officeDocument/2006/relationships/notesMaster" Target="/ppt/notesMasters/notesMaster1.xml" Id="Re59c0f4d36ea4b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a9d798ac7f453b" /><Relationship Type="http://schemas.openxmlformats.org/officeDocument/2006/relationships/notesMaster" Target="/ppt/notesMasters/notesMaster1.xml" Id="R2cef2ec4bed240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c9755c28e847b9" /><Relationship Type="http://schemas.openxmlformats.org/officeDocument/2006/relationships/notesMaster" Target="/ppt/notesMasters/notesMaster1.xml" Id="R6b06c3c455a548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53f21b72134f54" /><Relationship Type="http://schemas.openxmlformats.org/officeDocument/2006/relationships/notesMaster" Target="/ppt/notesMasters/notesMaster1.xml" Id="Rbadd657ef47143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2f71c46fd34275" /><Relationship Type="http://schemas.openxmlformats.org/officeDocument/2006/relationships/notesMaster" Target="/ppt/notesMasters/notesMaster1.xml" Id="R0d3ffe4c5eae484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2b38a4b869d4c13" /><Relationship Type="http://schemas.openxmlformats.org/officeDocument/2006/relationships/notesMaster" Target="/ppt/notesMasters/notesMaster1.xml" Id="R2a1a3159959b48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780f97ec064e57" /><Relationship Type="http://schemas.openxmlformats.org/officeDocument/2006/relationships/notesMaster" Target="/ppt/notesMasters/notesMaster1.xml" Id="R7f2caada08fb42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be7623b63a4d9f" /><Relationship Type="http://schemas.openxmlformats.org/officeDocument/2006/relationships/notesMaster" Target="/ppt/notesMasters/notesMaster1.xml" Id="Rc55c8164c2f548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9e70653fc3e43b8" /><Relationship Type="http://schemas.openxmlformats.org/officeDocument/2006/relationships/notesMaster" Target="/ppt/notesMasters/notesMaster1.xml" Id="R490b193308c349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a09d22536a4bb9" /><Relationship Type="http://schemas.openxmlformats.org/officeDocument/2006/relationships/notesMaster" Target="/ppt/notesMasters/notesMaster1.xml" Id="Ra819feaba03e42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2c76a51ff242e1" /><Relationship Type="http://schemas.openxmlformats.org/officeDocument/2006/relationships/notesMaster" Target="/ppt/notesMasters/notesMaster1.xml" Id="R1c9521ab6db641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c78d04f3665448d" /><Relationship Type="http://schemas.openxmlformats.org/officeDocument/2006/relationships/notesMaster" Target="/ppt/notesMasters/notesMaster1.xml" Id="R70b9077b185d4d2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f292a6f72e44dcb" /><Relationship Type="http://schemas.openxmlformats.org/officeDocument/2006/relationships/notesMaster" Target="/ppt/notesMasters/notesMaster1.xml" Id="Rb90bfab7091146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Beschrijft opgave 34 één maker of de hele markt?</a:t>
            </a:r>
          </a:p>
          <a:p xmlns:a="http://schemas.openxmlformats.org/drawingml/2006/main">
            <a:r>
              <a:rPr sz="1400"/>
              <a:t/>
            </a:r>
          </a:p>
          <a:p xmlns:a="http://schemas.openxmlformats.org/drawingml/2006/main">
            <a:r>
              <a:rPr sz="1400"/>
              <a:t>Uitleg: Laat deze dia staan tijdens startopdracht. Start is de eerste echte opgave, 34 op p.118. Gemengd 34–36 op p.118–119, doeloefening 37 met bronnen op p.120 en vragen op p.121, terugblik 38 op p.122. Er is geen afzonderlijk basisblok en geen bonus. Huiswerk is alle opgaven 34, 35, 36, 37 en 38 maken en nakijken. Opgave 37 is representatief omdat zij vier bronnen combineert en alle centrale marktvaardigheden vraagt. Plan deze volledige route over voldoende werkmomenten; afronden als huiswerk mag, een bewezen lesduur is er niet. Start 34 haalt eerder onderwezen q-invulling, techniekfactor en één-aanbiederbegrenzing op (p.86–89). Geef bij twijfel p.87–88 als steun, niet het antwoord. Bij terugkeer vóór het zelfstandig werk laat je leerlingen hun bronkeuze bij 34 kort controleren. Bij 38: per eenheid p.13 en 17, percentage/index p.14 en 16, oppervlakte p.28. Het extra bedrag moet bij het extra aantal horen; de hoogte van een vorm is een afstand. Geen nieuwe kosten- of surplusbegrippen.</a:t>
            </a:r>
          </a:p>
          <a:p xmlns:a="http://schemas.openxmlformats.org/drawingml/2006/main">
            <a:r>
              <a:rPr sz="1400"/>
              <a:t/>
            </a:r>
          </a:p>
          <a:p xmlns:a="http://schemas.openxmlformats.org/drawingml/2006/main">
            <a:r>
              <a:rPr sz="1400"/>
              <a:t>Misvatting: Een juiste rekenuitkomst bewijst nog niet dat de bron of de betekenis klopt.</a:t>
            </a:r>
          </a:p>
          <a:p xmlns:a="http://schemas.openxmlformats.org/drawingml/2006/main">
            <a:r>
              <a:rPr sz="1400"/>
              <a:t/>
            </a:r>
          </a:p>
          <a:p xmlns:a="http://schemas.openxmlformats.org/drawingml/2006/main">
            <a:r>
              <a:rPr sz="1400"/>
              <a:t>Overgang: Ga door zodra leerlingen klaar zijn voor de volgende fase.</a:t>
            </a:r>
          </a:p>
          <a:p xmlns:a="http://schemas.openxmlformats.org/drawingml/2006/main">
            <a:r>
              <a:rPr sz="1400"/>
              <a:t/>
            </a:r>
          </a:p>
          <a:p xmlns:a="http://schemas.openxmlformats.org/drawingml/2006/main">
            <a:r>
              <a:rPr sz="1400"/>
              <a:t>Bron: Boek 1, tweede editie 2026, gedrukte boekpagina 118–122.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heb je extra nodig voor een evenwicht?</a:t>
            </a:r>
          </a:p>
          <a:p xmlns:a="http://schemas.openxmlformats.org/drawingml/2006/main">
            <a:r>
              <a:rPr sz="1400"/>
              <a:t/>
            </a:r>
          </a:p>
          <a:p xmlns:a="http://schemas.openxmlformats.org/drawingml/2006/main">
            <a:r>
              <a:rPr sz="1400"/>
              <a:t>Uitleg: Koppel de tabel aan de lesdoelen. Leerlingen kiezen de bron en situatie, voeren de berekening uit en onderbouwen de betekenis. Een individuele aanbodfunctie geeft geen marktevenwicht zonder de andere marktkant. Voor een tekening haal je twee geldige punten uit elke formule en kies je assen met gelijke afstanden. Evenwicht betekent gelijke plannen bij één prijs. De eerder onderwezen algebra en grafiekmethode worden hier kort opgehaald.</a:t>
            </a:r>
          </a:p>
          <a:p xmlns:a="http://schemas.openxmlformats.org/drawingml/2006/main">
            <a:r>
              <a:rPr sz="1400"/>
              <a:t/>
            </a:r>
          </a:p>
          <a:p xmlns:a="http://schemas.openxmlformats.org/drawingml/2006/main">
            <a:r>
              <a:rPr sz="1400"/>
              <a:t>Misvatting: Alleen een prijswaarneming vertelt niet welke lijn verschoof. Een aanbodplan is geen automatische verkoop.</a:t>
            </a:r>
          </a:p>
          <a:p xmlns:a="http://schemas.openxmlformats.org/drawingml/2006/main">
            <a:r>
              <a:rPr sz="1400"/>
              <a:t/>
            </a:r>
          </a:p>
          <a:p xmlns:a="http://schemas.openxmlformats.org/drawingml/2006/main">
            <a:r>
              <a:rPr sz="1400"/>
              <a:t>Overgang: Pas de aanpak toe op een afzonderlijk uitlegvoorbeeld.</a:t>
            </a:r>
          </a:p>
          <a:p xmlns:a="http://schemas.openxmlformats.org/drawingml/2006/main">
            <a:r>
              <a:rPr sz="1400"/>
              <a:t/>
            </a:r>
          </a:p>
          <a:p xmlns:a="http://schemas.openxmlformats.org/drawingml/2006/main">
            <a:r>
              <a:rPr sz="1400"/>
              <a:t>Bron: Boek 1, tweede editie 2026, gedrukte boekpagina 87–88, 98–102, 110–111, 118–119.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moet je bij evenwicht beide plannen gebruiken?</a:t>
            </a:r>
          </a:p>
          <a:p xmlns:a="http://schemas.openxmlformats.org/drawingml/2006/main">
            <a:r>
              <a:rPr sz="1400"/>
              <a:t/>
            </a:r>
          </a:p>
          <a:p xmlns:a="http://schemas.openxmlformats.org/drawingml/2006/main">
            <a:r>
              <a:rPr sz="1400"/>
              <a:t>Uitleg: Uitlegvoorbeeld — niet uit het boek. Veel kleine kopers en verkopers, één soort krukje, aanpasbare prijs en geen andere veranderingen. We vergelijken plannen op de hele markt. Tel aan beide kanten 4P op, vervolgens 24, en deel beide kanten door 12. Controleer Q in beide functies. P=8 past binnen beide domeinen.</a:t>
            </a:r>
          </a:p>
          <a:p xmlns:a="http://schemas.openxmlformats.org/drawingml/2006/main">
            <a:r>
              <a:rPr sz="1400"/>
              <a:t/>
            </a:r>
          </a:p>
          <a:p xmlns:a="http://schemas.openxmlformats.org/drawingml/2006/main">
            <a:r>
              <a:rPr sz="1400"/>
              <a:t>Misvatting: De individuele q uit opgave 34 is een andere actoromvang dan dit markttotaal Q.</a:t>
            </a:r>
          </a:p>
          <a:p xmlns:a="http://schemas.openxmlformats.org/drawingml/2006/main">
            <a:r>
              <a:rPr sz="1400"/>
              <a:t/>
            </a:r>
          </a:p>
          <a:p xmlns:a="http://schemas.openxmlformats.org/drawingml/2006/main">
            <a:r>
              <a:rPr sz="1400"/>
              <a:t>Overgang: Verander nu alleen de techniek.</a:t>
            </a:r>
          </a:p>
          <a:p xmlns:a="http://schemas.openxmlformats.org/drawingml/2006/main">
            <a:r>
              <a:rPr sz="1400"/>
              <a:t/>
            </a:r>
          </a:p>
          <a:p xmlns:a="http://schemas.openxmlformats.org/drawingml/2006/main">
            <a:r>
              <a:rPr sz="1400"/>
              <a:t>Bron: Boek 1, tweede editie 2026, gedrukte boekpagina 98 en 101. https://github.com/meijer1973/4veco-lessen/blob/173aa9a803897965c572df2c4e7f83cdb135eb1c/Boek%201%20-%20Grondslagen%2C%20vraag%20en%20aanbod/edities/tweede-editie-2026/boek/Boek_1_Compleet_Tweede_editie.pdf</a:t>
            </a:r>
          </a:p>
          <a:p xmlns:a="http://schemas.openxmlformats.org/drawingml/2006/main">
            <a:r>
              <a:rPr sz="1400"/>
              <a:t>Uitlegvoorbeeld — niet uit het boek. Context en getallen vouwkrukjes zijn voor deze presentatie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 je eerst bij € 8?</a:t>
            </a:r>
          </a:p>
          <a:p xmlns:a="http://schemas.openxmlformats.org/drawingml/2006/main">
            <a:r>
              <a:rPr sz="1400"/>
              <a:t/>
            </a:r>
          </a:p>
          <a:p xmlns:a="http://schemas.openxmlformats.org/drawingml/2006/main">
            <a:r>
              <a:rPr sz="1400"/>
              <a:t>Uitleg: De techniek maakt bij dezelfde prijs 12 extra krukjes aanbieden mogelijk. Verkopers concurreren om kopers: bij een aanpasbare prijs ontstaat neerwaartse druk. De gegeven vraagfunctie blijft geldig. We hebben de nieuwe evenwichtsprijs nog niet uitgerekend. Deze eigen gegevens behoren niet bij tentenopgave 36.</a:t>
            </a:r>
          </a:p>
          <a:p xmlns:a="http://schemas.openxmlformats.org/drawingml/2006/main">
            <a:r>
              <a:rPr sz="1400"/>
              <a:t/>
            </a:r>
          </a:p>
          <a:p xmlns:a="http://schemas.openxmlformats.org/drawingml/2006/main">
            <a:r>
              <a:rPr sz="1400"/>
              <a:t>Misvatting: Een verschuiving van A en een latere beweging langs V zijn verschillende stappen.</a:t>
            </a:r>
          </a:p>
          <a:p xmlns:a="http://schemas.openxmlformats.org/drawingml/2006/main">
            <a:r>
              <a:rPr sz="1400"/>
              <a:t/>
            </a:r>
          </a:p>
          <a:p xmlns:a="http://schemas.openxmlformats.org/drawingml/2006/main">
            <a:r>
              <a:rPr sz="1400"/>
              <a:t>Overgang: Los de gelijkheid met het nieuwe aanbod op.</a:t>
            </a:r>
          </a:p>
          <a:p xmlns:a="http://schemas.openxmlformats.org/drawingml/2006/main">
            <a:r>
              <a:rPr sz="1400"/>
              <a:t/>
            </a:r>
          </a:p>
          <a:p xmlns:a="http://schemas.openxmlformats.org/drawingml/2006/main">
            <a:r>
              <a:rPr sz="1400"/>
              <a:t>Bron: Boek 1, tweede editie 2026, gedrukte boekpagina 88, 100 en 110–111. https://github.com/meijer1973/4veco-lessen/blob/173aa9a803897965c572df2c4e7f83cdb135eb1c/Boek%201%20-%20Grondslagen%2C%20vraag%20en%20aanbod/edities/tweede-editie-2026/boek/Boek_1_Compleet_Tweede_editie.pdf</a:t>
            </a:r>
          </a:p>
          <a:p xmlns:a="http://schemas.openxmlformats.org/drawingml/2006/main">
            <a:r>
              <a:rPr sz="1400"/>
              <a:t>Uitlegvoorbeeld — niet uit het boek. Context en getallen vouwkrukjes zijn voor deze presentatie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oude waarde hoort onder de deelstreep als je Q vergelijkt?</a:t>
            </a:r>
          </a:p>
          <a:p xmlns:a="http://schemas.openxmlformats.org/drawingml/2006/main">
            <a:r>
              <a:rPr sz="1400"/>
              <a:t/>
            </a:r>
          </a:p>
          <a:p xmlns:a="http://schemas.openxmlformats.org/drawingml/2006/main">
            <a:r>
              <a:rPr sz="1400"/>
              <a:t>Uitleg: Tel 4P en 12 op aan beide kanten, deel door 12. Beide functies geven 44. Prijs daalt en verhandelde hoeveelheid stijgt. Vraagfunctie en voorkeuren bleven gelijk, dus de reactie van kopers is een beweging langs V. Korte mondelinge check: prijsverandering is (7−8)/8 × 100% = −12,5%, hoeveelheid (44−40)/40 × 100% = +10%. Dit herhaalt de bekende procentenregel; gebruik voor elke grootheid haar eigen oude waarde. Dit zijn eigen uitleggegevens, geen antwoord op een toegewezen boekopgave.</a:t>
            </a:r>
          </a:p>
          <a:p xmlns:a="http://schemas.openxmlformats.org/drawingml/2006/main">
            <a:r>
              <a:rPr sz="1400"/>
              <a:t/>
            </a:r>
          </a:p>
          <a:p xmlns:a="http://schemas.openxmlformats.org/drawingml/2006/main">
            <a:r>
              <a:rPr sz="1400"/>
              <a:t>Misvatting: Gebruik het oude aanbod niet opnieuw om het nieuwe evenwicht te vinden.</a:t>
            </a:r>
          </a:p>
          <a:p xmlns:a="http://schemas.openxmlformats.org/drawingml/2006/main">
            <a:r>
              <a:rPr sz="1400"/>
              <a:t/>
            </a:r>
          </a:p>
          <a:p xmlns:a="http://schemas.openxmlformats.org/drawingml/2006/main">
            <a:r>
              <a:rPr sz="1400"/>
              <a:t>Overgang: Keer terug naar het overzicht en laat het gemengde werk zelfstandig maken.</a:t>
            </a:r>
          </a:p>
          <a:p xmlns:a="http://schemas.openxmlformats.org/drawingml/2006/main">
            <a:r>
              <a:rPr sz="1400"/>
              <a:t/>
            </a:r>
          </a:p>
          <a:p xmlns:a="http://schemas.openxmlformats.org/drawingml/2006/main">
            <a:r>
              <a:rPr sz="1400"/>
              <a:t>Bron: Boek 1, tweede editie 2026, gedrukte boekpagina 98, 110–111; herhaling procenten p.14. https://github.com/meijer1973/4veco-lessen/blob/173aa9a803897965c572df2c4e7f83cdb135eb1c/Boek%201%20-%20Grondslagen%2C%20vraag%20en%20aanbod/edities/tweede-editie-2026/boek/Boek_1_Compleet_Tweede_editie.pdf</a:t>
            </a:r>
          </a:p>
          <a:p xmlns:a="http://schemas.openxmlformats.org/drawingml/2006/main">
            <a:r>
              <a:rPr sz="1400"/>
              <a:t>Uitlegvoorbeeld — niet uit het boek. Context en getallen vouwkrukjes zijn voor deze presentatie gemaakt. De boekpagina’s onderbouwen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en functie horen bij jouw volgende vraag?</a:t>
            </a:r>
          </a:p>
          <a:p xmlns:a="http://schemas.openxmlformats.org/drawingml/2006/main">
            <a:r>
              <a:rPr sz="1400"/>
              <a:t/>
            </a:r>
          </a:p>
          <a:p xmlns:a="http://schemas.openxmlformats.org/drawingml/2006/main">
            <a:r>
              <a:rPr sz="1400"/>
              <a:t>Uitleg: Laat deze dia staan tijdens zelfstandig werken. Start is de eerste echte opgave, 34 op p.118. Gemengd 34–36 op p.118–119, doeloefening 37 met bronnen op p.120 en vragen op p.121, terugblik 38 op p.122. Er is geen afzonderlijk basisblok en geen bonus. Huiswerk is alle opgaven 34, 35, 36, 37 en 38 maken en nakijken. Opgave 37 is representatief omdat zij vier bronnen combineert en alle centrale marktvaardigheden vraagt. Plan deze volledige route over voldoende werkmomenten; afronden als huiswerk mag, een bewezen lesduur is er niet. Start 34 haalt eerder onderwezen q-invulling, techniekfactor en één-aanbiederbegrenzing op (p.86–89). Geef bij twijfel p.87–88 als steun, niet het antwoord. Bij terugkeer vóór het zelfstandig werk laat je leerlingen hun bronkeuze bij 34 kort controleren. Bij 38: per eenheid p.13 en 17, percentage/index p.14 en 16, oppervlakte p.28. Het extra bedrag moet bij het extra aantal horen; de hoogte van een vorm is een afstand. Geen nieuwe kosten- of surplusbegrippen.</a:t>
            </a:r>
          </a:p>
          <a:p xmlns:a="http://schemas.openxmlformats.org/drawingml/2006/main">
            <a:r>
              <a:rPr sz="1400"/>
              <a:t/>
            </a:r>
          </a:p>
          <a:p xmlns:a="http://schemas.openxmlformats.org/drawingml/2006/main">
            <a:r>
              <a:rPr sz="1400"/>
              <a:t>Misvatting: Een juiste rekenuitkomst bewijst nog niet dat de bron of de betekenis klopt.</a:t>
            </a:r>
          </a:p>
          <a:p xmlns:a="http://schemas.openxmlformats.org/drawingml/2006/main">
            <a:r>
              <a:rPr sz="1400"/>
              <a:t/>
            </a:r>
          </a:p>
          <a:p xmlns:a="http://schemas.openxmlformats.org/drawingml/2006/main">
            <a:r>
              <a:rPr sz="1400"/>
              <a:t>Overgang: Ga door zodra leerlingen klaar zijn voor de volgende fase.</a:t>
            </a:r>
          </a:p>
          <a:p xmlns:a="http://schemas.openxmlformats.org/drawingml/2006/main">
            <a:r>
              <a:rPr sz="1400"/>
              <a:t/>
            </a:r>
          </a:p>
          <a:p xmlns:a="http://schemas.openxmlformats.org/drawingml/2006/main">
            <a:r>
              <a:rPr sz="1400"/>
              <a:t>Bron: Boek 1, tweede editie 2026, gedrukte boekpagina 118–122.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beschrijft de beginsituatie?</a:t>
            </a:r>
          </a:p>
          <a:p xmlns:a="http://schemas.openxmlformats.org/drawingml/2006/main">
            <a:r>
              <a:rPr sz="1400"/>
              <a:t/>
            </a:r>
          </a:p>
          <a:p xmlns:a="http://schemas.openxmlformats.org/drawingml/2006/main">
            <a:r>
              <a:rPr sz="1400"/>
              <a:t>Uitleg: Dit is de werkelijke doeloefening. Laat eigen werk erbij houden. Toon eerst alle vier bronnen en daarna alle zes deelvragen. Hier staan dezelfde marktafbakening, functies, domeinen en eenheden als in bron A. Alle gegevens zijn voor het lesmodel gemaakt; geen gemeten echte markt.</a:t>
            </a:r>
          </a:p>
          <a:p xmlns:a="http://schemas.openxmlformats.org/drawingml/2006/main">
            <a:r>
              <a:rPr sz="1400"/>
              <a:t/>
            </a:r>
          </a:p>
          <a:p xmlns:a="http://schemas.openxmlformats.org/drawingml/2006/main">
            <a:r>
              <a:rPr sz="1400"/>
              <a:t>Misvatting: Breng niet de vouwkrukjesfuncties uit het uitlegvoorbeeld mee.</a:t>
            </a:r>
          </a:p>
          <a:p xmlns:a="http://schemas.openxmlformats.org/drawingml/2006/main">
            <a:r>
              <a:rPr sz="1400"/>
              <a:t/>
            </a:r>
          </a:p>
          <a:p xmlns:a="http://schemas.openxmlformats.org/drawingml/2006/main">
            <a:r>
              <a:rPr sz="1400"/>
              <a:t>Overgang: Lees bron B zonder al uit te rekenen.</a:t>
            </a:r>
          </a:p>
          <a:p xmlns:a="http://schemas.openxmlformats.org/drawingml/2006/main">
            <a:r>
              <a:rPr sz="1400"/>
              <a:t/>
            </a:r>
          </a:p>
          <a:p xmlns:a="http://schemas.openxmlformats.org/drawingml/2006/main">
            <a:r>
              <a:rPr sz="1400"/>
              <a:t>Bron: Boek 1, tweede editie 2026, gedrukte boekpagina 120.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omstandigheid verandert volgens deze bron?</a:t>
            </a:r>
          </a:p>
          <a:p xmlns:a="http://schemas.openxmlformats.org/drawingml/2006/main">
            <a:r>
              <a:rPr sz="1400"/>
              <a:t/>
            </a:r>
          </a:p>
          <a:p xmlns:a="http://schemas.openxmlformats.org/drawingml/2006/main">
            <a:r>
              <a:rPr sz="1400"/>
              <a:t>Uitleg: Behoud het scenario uit de bron. Linnen is een productiemiddel. De prijsverandering van linnen en die van een tas zijn verschillende prijzen. Geef de richting en de berekening nog niet prijs.</a:t>
            </a:r>
          </a:p>
          <a:p xmlns:a="http://schemas.openxmlformats.org/drawingml/2006/main">
            <a:r>
              <a:rPr sz="1400"/>
              <a:t/>
            </a:r>
          </a:p>
          <a:p xmlns:a="http://schemas.openxmlformats.org/drawingml/2006/main">
            <a:r>
              <a:rPr sz="1400"/>
              <a:t>Misvatting: De vraagfunctie verandert niet omdat de marktprijs later reageert.</a:t>
            </a:r>
          </a:p>
          <a:p xmlns:a="http://schemas.openxmlformats.org/drawingml/2006/main">
            <a:r>
              <a:rPr sz="1400"/>
              <a:t/>
            </a:r>
          </a:p>
          <a:p xmlns:a="http://schemas.openxmlformats.org/drawingml/2006/main">
            <a:r>
              <a:rPr sz="1400"/>
              <a:t>Overgang: Lees vervolgens de afzonderlijke prijsvergelijking.</a:t>
            </a:r>
          </a:p>
          <a:p xmlns:a="http://schemas.openxmlformats.org/drawingml/2006/main">
            <a:r>
              <a:rPr sz="1400"/>
              <a:t/>
            </a:r>
          </a:p>
          <a:p xmlns:a="http://schemas.openxmlformats.org/drawingml/2006/main">
            <a:r>
              <a:rPr sz="1400"/>
              <a:t>Bron: Boek 1, tweede editie 2026, gedrukte boekpagina 120.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afspraak maakt de bron over kopers en verkopers?</a:t>
            </a:r>
          </a:p>
          <a:p xmlns:a="http://schemas.openxmlformats.org/drawingml/2006/main">
            <a:r>
              <a:rPr sz="1400"/>
              <a:t/>
            </a:r>
          </a:p>
          <a:p xmlns:a="http://schemas.openxmlformats.org/drawingml/2006/main">
            <a:r>
              <a:rPr sz="1400"/>
              <a:t>Uitleg: Deze bron vraagt een afzonderlijke berekening bij 14 euro met de nieuwe aanbodfunctie. Ze beschrijft geen maximum- of minimumprijsbeleid. De transactieregel is essentieel voor de werkelijke verkoop. Geef nog geen getallen voor hoeveelheden.</a:t>
            </a:r>
          </a:p>
          <a:p xmlns:a="http://schemas.openxmlformats.org/drawingml/2006/main">
            <a:r>
              <a:rPr sz="1400"/>
              <a:t/>
            </a:r>
          </a:p>
          <a:p xmlns:a="http://schemas.openxmlformats.org/drawingml/2006/main">
            <a:r>
              <a:rPr sz="1400"/>
              <a:t>Misvatting: Een gegeven prijs is niet automatisch de evenwichtsprijs.</a:t>
            </a:r>
          </a:p>
          <a:p xmlns:a="http://schemas.openxmlformats.org/drawingml/2006/main">
            <a:r>
              <a:rPr sz="1400"/>
              <a:t/>
            </a:r>
          </a:p>
          <a:p xmlns:a="http://schemas.openxmlformats.org/drawingml/2006/main">
            <a:r>
              <a:rPr sz="1400"/>
              <a:t>Overgang: Lees de uitspraak in bron D.</a:t>
            </a:r>
          </a:p>
          <a:p xmlns:a="http://schemas.openxmlformats.org/drawingml/2006/main">
            <a:r>
              <a:rPr sz="1400"/>
              <a:t/>
            </a:r>
          </a:p>
          <a:p xmlns:a="http://schemas.openxmlformats.org/drawingml/2006/main">
            <a:r>
              <a:rPr sz="1400"/>
              <a:t>Bron: Boek 1, tweede editie 2026, gedrukte boekpagina 120.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Hoeveel verschillende claims doet de verkoper?</a:t>
            </a:r>
          </a:p>
          <a:p xmlns:a="http://schemas.openxmlformats.org/drawingml/2006/main">
            <a:r>
              <a:rPr sz="1400"/>
              <a:t/>
            </a:r>
          </a:p>
          <a:p xmlns:a="http://schemas.openxmlformats.org/drawingml/2006/main">
            <a:r>
              <a:rPr sz="1400"/>
              <a:t>Uitleg: Toon de volledige uitspraak, inclusief beide afzonderlijk te beoordelen claims en de enquêtewaardering. De laatste zin herhaalt de werkinstructie van de bronpagina. Opgave 37 gebruikt de vier bronnen samen.</a:t>
            </a:r>
          </a:p>
          <a:p xmlns:a="http://schemas.openxmlformats.org/drawingml/2006/main">
            <a:r>
              <a:rPr sz="1400"/>
              <a:t/>
            </a:r>
          </a:p>
          <a:p xmlns:a="http://schemas.openxmlformats.org/drawingml/2006/main">
            <a:r>
              <a:rPr sz="1400"/>
              <a:t>Misvatting: De enquêtewaardering is nog geen bewijs over de marktuitkomst.</a:t>
            </a:r>
          </a:p>
          <a:p xmlns:a="http://schemas.openxmlformats.org/drawingml/2006/main">
            <a:r>
              <a:rPr sz="1400"/>
              <a:t/>
            </a:r>
          </a:p>
          <a:p xmlns:a="http://schemas.openxmlformats.org/drawingml/2006/main">
            <a:r>
              <a:rPr sz="1400"/>
              <a:t>Overgang: Toon nu alle deelvragen zonder oplossingen.</a:t>
            </a:r>
          </a:p>
          <a:p xmlns:a="http://schemas.openxmlformats.org/drawingml/2006/main">
            <a:r>
              <a:rPr sz="1400"/>
              <a:t/>
            </a:r>
          </a:p>
          <a:p xmlns:a="http://schemas.openxmlformats.org/drawingml/2006/main">
            <a:r>
              <a:rPr sz="1400"/>
              <a:t>Bron: Boek 1, tweede editie 2026, gedrukte boekpagina 120.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afspraak heb je bij deze deelvraag nodig?</a:t>
            </a:r>
          </a:p>
          <a:p xmlns:a="http://schemas.openxmlformats.org/drawingml/2006/main">
            <a:r>
              <a:rPr sz="1400"/>
              <a:t/>
            </a:r>
          </a:p>
          <a:p xmlns:a="http://schemas.openxmlformats.org/drawingml/2006/main">
            <a:r>
              <a:rPr sz="1400"/>
              <a:t>Uitleg: De volledige deelvragen zijn overgenomen. Laat leerlingen bij hun eigen werk aanwijzen welke bron en situatie ze voor elke deelvraag gebruikten. Alle zes vragen staan vóór de eerste uitwerking.</a:t>
            </a:r>
          </a:p>
          <a:p xmlns:a="http://schemas.openxmlformats.org/drawingml/2006/main">
            <a:r>
              <a:rPr sz="1400"/>
              <a:t/>
            </a:r>
          </a:p>
          <a:p xmlns:a="http://schemas.openxmlformats.org/drawingml/2006/main">
            <a:r>
              <a:rPr sz="1400"/>
              <a:t>Misvatting: Een resultaat zonder de gevraagde controle, grafiek of redenering dekt de vraag niet.</a:t>
            </a:r>
          </a:p>
          <a:p xmlns:a="http://schemas.openxmlformats.org/drawingml/2006/main">
            <a:r>
              <a:rPr sz="1400"/>
              <a:t/>
            </a:r>
          </a:p>
          <a:p xmlns:a="http://schemas.openxmlformats.org/drawingml/2006/main">
            <a:r>
              <a:rPr sz="1400"/>
              <a:t>Overgang: Bekijk ook de volgende twee deelvragen.</a:t>
            </a:r>
          </a:p>
          <a:p xmlns:a="http://schemas.openxmlformats.org/drawingml/2006/main">
            <a:r>
              <a:rPr sz="1400"/>
              <a:t/>
            </a:r>
          </a:p>
          <a:p xmlns:a="http://schemas.openxmlformats.org/drawingml/2006/main">
            <a:r>
              <a:rPr sz="1400"/>
              <a:t>Bron: Boek 1, tweede editie 2026, gedrukte boekpagina 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afspraak heb je bij deze deelvraag nodig?</a:t>
            </a:r>
          </a:p>
          <a:p xmlns:a="http://schemas.openxmlformats.org/drawingml/2006/main">
            <a:r>
              <a:rPr sz="1400"/>
              <a:t/>
            </a:r>
          </a:p>
          <a:p xmlns:a="http://schemas.openxmlformats.org/drawingml/2006/main">
            <a:r>
              <a:rPr sz="1400"/>
              <a:t>Uitleg: De volledige deelvragen zijn overgenomen. Laat leerlingen bij hun eigen werk aanwijzen welke bron en situatie ze voor elke deelvraag gebruikten. Alle zes vragen staan vóór de eerste uitwerking.</a:t>
            </a:r>
          </a:p>
          <a:p xmlns:a="http://schemas.openxmlformats.org/drawingml/2006/main">
            <a:r>
              <a:rPr sz="1400"/>
              <a:t/>
            </a:r>
          </a:p>
          <a:p xmlns:a="http://schemas.openxmlformats.org/drawingml/2006/main">
            <a:r>
              <a:rPr sz="1400"/>
              <a:t>Misvatting: Een resultaat zonder de gevraagde controle, grafiek of redenering dekt de vraag niet.</a:t>
            </a:r>
          </a:p>
          <a:p xmlns:a="http://schemas.openxmlformats.org/drawingml/2006/main">
            <a:r>
              <a:rPr sz="1400"/>
              <a:t/>
            </a:r>
          </a:p>
          <a:p xmlns:a="http://schemas.openxmlformats.org/drawingml/2006/main">
            <a:r>
              <a:rPr sz="1400"/>
              <a:t>Overgang: Bekijk ook de volgende twee deelvragen.</a:t>
            </a:r>
          </a:p>
          <a:p xmlns:a="http://schemas.openxmlformats.org/drawingml/2006/main">
            <a:r>
              <a:rPr sz="1400"/>
              <a:t/>
            </a:r>
          </a:p>
          <a:p xmlns:a="http://schemas.openxmlformats.org/drawingml/2006/main">
            <a:r>
              <a:rPr sz="1400"/>
              <a:t>Bron: Boek 1, tweede editie 2026, gedrukte boekpagina 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of afspraak heb je bij deze deelvraag nodig?</a:t>
            </a:r>
          </a:p>
          <a:p xmlns:a="http://schemas.openxmlformats.org/drawingml/2006/main">
            <a:r>
              <a:rPr sz="1400"/>
              <a:t/>
            </a:r>
          </a:p>
          <a:p xmlns:a="http://schemas.openxmlformats.org/drawingml/2006/main">
            <a:r>
              <a:rPr sz="1400"/>
              <a:t>Uitleg: De volledige deelvragen zijn overgenomen. Laat leerlingen bij hun eigen werk aanwijzen welke bron en situatie ze voor elke deelvraag gebruikten. Alle zes vragen staan vóór de eerste uitwerking.</a:t>
            </a:r>
          </a:p>
          <a:p xmlns:a="http://schemas.openxmlformats.org/drawingml/2006/main">
            <a:r>
              <a:rPr sz="1400"/>
              <a:t/>
            </a:r>
          </a:p>
          <a:p xmlns:a="http://schemas.openxmlformats.org/drawingml/2006/main">
            <a:r>
              <a:rPr sz="1400"/>
              <a:t>Misvatting: Een resultaat zonder de gevraagde controle, grafiek of redenering dekt de vraag niet.</a:t>
            </a:r>
          </a:p>
          <a:p xmlns:a="http://schemas.openxmlformats.org/drawingml/2006/main">
            <a:r>
              <a:rPr sz="1400"/>
              <a:t/>
            </a:r>
          </a:p>
          <a:p xmlns:a="http://schemas.openxmlformats.org/drawingml/2006/main">
            <a:r>
              <a:rPr sz="1400"/>
              <a:t>Overgang: Begin nu pas met de gezamenlijke uitwerking van a.</a:t>
            </a:r>
          </a:p>
          <a:p xmlns:a="http://schemas.openxmlformats.org/drawingml/2006/main">
            <a:r>
              <a:rPr sz="1400"/>
              <a:t/>
            </a:r>
          </a:p>
          <a:p xmlns:a="http://schemas.openxmlformats.org/drawingml/2006/main">
            <a:r>
              <a:rPr sz="1400"/>
              <a:t>Bron: Boek 1, tweede editie 2026, gedrukte boekpagina 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is de controle?</a:t>
            </a:r>
          </a:p>
          <a:p xmlns:a="http://schemas.openxmlformats.org/drawingml/2006/main">
            <a:r>
              <a:rPr sz="1400"/>
              <a:t/>
            </a:r>
          </a:p>
          <a:p xmlns:a="http://schemas.openxmlformats.org/drawingml/2006/main">
            <a:r>
              <a:rPr sz="1400"/>
              <a:t>Uitleg: Bron A geeft de oude functies. Beide substituties zijn nodig, niet alleen eenmaal Q berekenen. P=10 valt binnen beide domeinen. Een evenwicht is één marktprijs en één transactiehoeveelheid.</a:t>
            </a:r>
          </a:p>
          <a:p xmlns:a="http://schemas.openxmlformats.org/drawingml/2006/main">
            <a:r>
              <a:rPr sz="1400"/>
              <a:t/>
            </a:r>
          </a:p>
          <a:p xmlns:a="http://schemas.openxmlformats.org/drawingml/2006/main">
            <a:r>
              <a:rPr sz="1400"/>
              <a:t>Misvatting: 80 gevraagd en 80 aangeboden zijn dezelfde 80 tassen, geen 160 transacties.</a:t>
            </a:r>
          </a:p>
          <a:p xmlns:a="http://schemas.openxmlformats.org/drawingml/2006/main">
            <a:r>
              <a:rPr sz="1400"/>
              <a:t/>
            </a:r>
          </a:p>
          <a:p xmlns:a="http://schemas.openxmlformats.org/drawingml/2006/main">
            <a:r>
              <a:rPr sz="1400"/>
              <a:t>Overgang: Houd de oude prijs vast en bekijk het nieuwe aanbod.</a:t>
            </a:r>
          </a:p>
          <a:p xmlns:a="http://schemas.openxmlformats.org/drawingml/2006/main">
            <a:r>
              <a:rPr sz="1400"/>
              <a:t/>
            </a:r>
          </a:p>
          <a:p xmlns:a="http://schemas.openxmlformats.org/drawingml/2006/main">
            <a:r>
              <a:rPr sz="1400"/>
              <a:t>Bron: Boek 1, tweede editie 2026, gedrukte boekpagina 120–121.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plannen vergelijk je bij € 10?</a:t>
            </a:r>
          </a:p>
          <a:p xmlns:a="http://schemas.openxmlformats.org/drawingml/2006/main">
            <a:r>
              <a:rPr sz="1400"/>
              <a:t/>
            </a:r>
          </a:p>
          <a:p xmlns:a="http://schemas.openxmlformats.org/drawingml/2006/main">
            <a:r>
              <a:rPr sz="1400"/>
              <a:t>Uitleg: Linnen is een productiemiddel. De hogere linnenprijs verlaagt de verkoopplannen bij eenzelfde tasprijs. Aanbod is links verschoven. Vraagfunctie blijft gelijk. Bij 10 euro is nieuw aanbod 40 tegenover 80 gevraagde tassen; opwaartse prijsdruk. Onderscheid de factor, het aanvankelijke tekort en de daaropvolgende prijsreactie.</a:t>
            </a:r>
          </a:p>
          <a:p xmlns:a="http://schemas.openxmlformats.org/drawingml/2006/main">
            <a:r>
              <a:rPr sz="1400"/>
              <a:t/>
            </a:r>
          </a:p>
          <a:p xmlns:a="http://schemas.openxmlformats.org/drawingml/2006/main">
            <a:r>
              <a:rPr sz="1400"/>
              <a:t>Misvatting: De tasprijsstijging is de reactie; zij is niet de factor die A naar links verschuift.</a:t>
            </a:r>
          </a:p>
          <a:p xmlns:a="http://schemas.openxmlformats.org/drawingml/2006/main">
            <a:r>
              <a:rPr sz="1400"/>
              <a:t/>
            </a:r>
          </a:p>
          <a:p xmlns:a="http://schemas.openxmlformats.org/drawingml/2006/main">
            <a:r>
              <a:rPr sz="1400"/>
              <a:t>Overgang: Bereken het nieuwe snijpunt met Qₐ,₁.</a:t>
            </a:r>
          </a:p>
          <a:p xmlns:a="http://schemas.openxmlformats.org/drawingml/2006/main">
            <a:r>
              <a:rPr sz="1400"/>
              <a:t/>
            </a:r>
          </a:p>
          <a:p xmlns:a="http://schemas.openxmlformats.org/drawingml/2006/main">
            <a:r>
              <a:rPr sz="1400"/>
              <a:t>Bron: Boek 1, tweede editie 2026, gedrukte boekpagina 120–121.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past het oude aanbod niet meer bij deze situatie?</a:t>
            </a:r>
          </a:p>
          <a:p xmlns:a="http://schemas.openxmlformats.org/drawingml/2006/main">
            <a:r>
              <a:rPr sz="1400"/>
              <a:t/>
            </a:r>
          </a:p>
          <a:p xmlns:a="http://schemas.openxmlformats.org/drawingml/2006/main">
            <a:r>
              <a:rPr sz="1400"/>
              <a:t>Uitleg: Gebruik uitsluitend de nieuwe aanbodfunctie samen met de ongewijzigde vraagfunctie. Beide substituties geven 60. P=12 is geldig voor de beide gebruikte functies. De prijsstijging past bij het vraagoverschot uit b.</a:t>
            </a:r>
          </a:p>
          <a:p xmlns:a="http://schemas.openxmlformats.org/drawingml/2006/main">
            <a:r>
              <a:rPr sz="1400"/>
              <a:t/>
            </a:r>
          </a:p>
          <a:p xmlns:a="http://schemas.openxmlformats.org/drawingml/2006/main">
            <a:r>
              <a:rPr sz="1400"/>
              <a:t>Misvatting: Een gelijkheid met een verouderde functie vindt het oude snijpunt terug.</a:t>
            </a:r>
          </a:p>
          <a:p xmlns:a="http://schemas.openxmlformats.org/drawingml/2006/main">
            <a:r>
              <a:rPr sz="1400"/>
              <a:t/>
            </a:r>
          </a:p>
          <a:p xmlns:a="http://schemas.openxmlformats.org/drawingml/2006/main">
            <a:r>
              <a:rPr sz="1400"/>
              <a:t>Overgang: Vergelijk prijs en hoeveelheid met hun eigen oorspronkelijke waarde.</a:t>
            </a:r>
          </a:p>
          <a:p xmlns:a="http://schemas.openxmlformats.org/drawingml/2006/main">
            <a:r>
              <a:rPr sz="1400"/>
              <a:t/>
            </a:r>
          </a:p>
          <a:p xmlns:a="http://schemas.openxmlformats.org/drawingml/2006/main">
            <a:r>
              <a:rPr sz="1400"/>
              <a:t>Bron: Boek 1, tweede editie 2026, gedrukte boekpagina 120–121.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noemer bij Q niet 60?</a:t>
            </a:r>
          </a:p>
          <a:p xmlns:a="http://schemas.openxmlformats.org/drawingml/2006/main">
            <a:r>
              <a:rPr sz="1400"/>
              <a:t/>
            </a:r>
          </a:p>
          <a:p xmlns:a="http://schemas.openxmlformats.org/drawingml/2006/main">
            <a:r>
              <a:rPr sz="1400"/>
              <a:t>Uitleg: Prijs stijgt 20% ten opzichte van de oude 10 euro. De verhandelde hoeveelheid daalt 25% ten opzichte van de oude 80 tassen. Dezelfde rekenvorm, een andere noemer voor elke grootheid. Controleer de tekens: prijs omhoog, hoeveelheid omlaag.</a:t>
            </a:r>
          </a:p>
          <a:p xmlns:a="http://schemas.openxmlformats.org/drawingml/2006/main">
            <a:r>
              <a:rPr sz="1400"/>
              <a:t/>
            </a:r>
          </a:p>
          <a:p xmlns:a="http://schemas.openxmlformats.org/drawingml/2006/main">
            <a:r>
              <a:rPr sz="1400"/>
              <a:t>Misvatting: De twee procentuele veranderingen hoeven niet even groot te zijn.</a:t>
            </a:r>
          </a:p>
          <a:p xmlns:a="http://schemas.openxmlformats.org/drawingml/2006/main">
            <a:r>
              <a:rPr sz="1400"/>
              <a:t/>
            </a:r>
          </a:p>
          <a:p xmlns:a="http://schemas.openxmlformats.org/drawingml/2006/main">
            <a:r>
              <a:rPr sz="1400"/>
              <a:t>Overgang: Vertaal de drie functies naar tekenpunten.</a:t>
            </a:r>
          </a:p>
          <a:p xmlns:a="http://schemas.openxmlformats.org/drawingml/2006/main">
            <a:r>
              <a:rPr sz="1400"/>
              <a:t/>
            </a:r>
          </a:p>
          <a:p xmlns:a="http://schemas.openxmlformats.org/drawingml/2006/main">
            <a:r>
              <a:rPr sz="1400"/>
              <a:t>Bron: Boek 1, tweede editie 2026, gedrukte boekpagina 120–121; methode p.14.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(0; 6) bij A₁ en niet (6; 0)?</a:t>
            </a:r>
          </a:p>
          <a:p xmlns:a="http://schemas.openxmlformats.org/drawingml/2006/main">
            <a:r>
              <a:rPr sz="1400"/>
              <a:t/>
            </a:r>
          </a:p>
          <a:p xmlns:a="http://schemas.openxmlformats.org/drawingml/2006/main">
            <a:r>
              <a:rPr sz="1400"/>
              <a:t>Uitleg: Werk één punt hardop uit: voor V geeft Q=0 de vergelijking 0=180−10P en P=18. Voor A₀ geeft Q=0: 10P−20=0 en P=2. Voor A₁ wordt P=6. Vul P=18 in A₀ en A₁ voor de andere punten. Voor V geeft P=0 de hoeveelheid 180. Gebruik Q 0–180 en P 0–18, stapgrootten 20 tassen en 2 euro.</a:t>
            </a:r>
          </a:p>
          <a:p xmlns:a="http://schemas.openxmlformats.org/drawingml/2006/main">
            <a:r>
              <a:rPr sz="1400"/>
              <a:t/>
            </a:r>
          </a:p>
          <a:p xmlns:a="http://schemas.openxmlformats.org/drawingml/2006/main">
            <a:r>
              <a:rPr sz="1400"/>
              <a:t>Misvatting: Negatief aanbod buiten het opgegeven domein teken je niet.</a:t>
            </a:r>
          </a:p>
          <a:p xmlns:a="http://schemas.openxmlformats.org/drawingml/2006/main">
            <a:r>
              <a:rPr sz="1400"/>
              <a:t/>
            </a:r>
          </a:p>
          <a:p xmlns:a="http://schemas.openxmlformats.org/drawingml/2006/main">
            <a:r>
              <a:rPr sz="1400"/>
              <a:t>Overgang: Teken eerst de oorspronkelijke markt.</a:t>
            </a:r>
          </a:p>
          <a:p xmlns:a="http://schemas.openxmlformats.org/drawingml/2006/main">
            <a:r>
              <a:rPr sz="1400"/>
              <a:t/>
            </a:r>
          </a:p>
          <a:p xmlns:a="http://schemas.openxmlformats.org/drawingml/2006/main">
            <a:r>
              <a:rPr sz="1400"/>
              <a:t>Bron: Boek 1, tweede editie 2026, gedrukte boekpagina 120–121; tekenmethode p.101.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hulplijn lees je af voor de prijs?</a:t>
            </a:r>
          </a:p>
          <a:p xmlns:a="http://schemas.openxmlformats.org/drawingml/2006/main">
            <a:r>
              <a:rPr sz="1400"/>
              <a:t/>
            </a:r>
          </a:p>
          <a:p xmlns:a="http://schemas.openxmlformats.org/drawingml/2006/main">
            <a:r>
              <a:rPr sz="1400"/>
              <a:t>Uitleg: Deze eerste grafiek toont alleen V, A₀ en E₀. Controleer de prijsasintercepten 18 en 2 en de nulhoeveelheid. Twee punten bepalen elk rechte lijnstuk. E₀=(80;10) ligt op beide functies, en de hulplijnen komen uit op 80 en 10.</a:t>
            </a:r>
          </a:p>
          <a:p xmlns:a="http://schemas.openxmlformats.org/drawingml/2006/main">
            <a:r>
              <a:rPr sz="1400"/>
              <a:t/>
            </a:r>
          </a:p>
          <a:p xmlns:a="http://schemas.openxmlformats.org/drawingml/2006/main">
            <a:r>
              <a:rPr sz="1400"/>
              <a:t>Misvatting: Coördinaten staan in de volgorde hoeveelheid, prijs.</a:t>
            </a:r>
          </a:p>
          <a:p xmlns:a="http://schemas.openxmlformats.org/drawingml/2006/main">
            <a:r>
              <a:rPr sz="1400"/>
              <a:t/>
            </a:r>
          </a:p>
          <a:p xmlns:a="http://schemas.openxmlformats.org/drawingml/2006/main">
            <a:r>
              <a:rPr sz="1400"/>
              <a:t>Overgang: Voeg A₁ en het nieuwe evenwicht op dezelfde assen toe.</a:t>
            </a:r>
          </a:p>
          <a:p xmlns:a="http://schemas.openxmlformats.org/drawingml/2006/main">
            <a:r>
              <a:rPr sz="1400"/>
              <a:t/>
            </a:r>
          </a:p>
          <a:p xmlns:a="http://schemas.openxmlformats.org/drawingml/2006/main">
            <a:r>
              <a:rPr sz="1400"/>
              <a:t>Bron: Boek 1, tweede editie 2026, gedrukte boekpagina 120–121.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pijl toont de oorzaak en welke de reactie?</a:t>
            </a:r>
          </a:p>
          <a:p xmlns:a="http://schemas.openxmlformats.org/drawingml/2006/main">
            <a:r>
              <a:rPr sz="1400"/>
              <a:t/>
            </a:r>
          </a:p>
          <a:p xmlns:a="http://schemas.openxmlformats.org/drawingml/2006/main">
            <a:r>
              <a:rPr sz="1400"/>
              <a:t>Uitleg: De assen hebben exact dezelfde schaal als op de vorige dia. A₁ begint bij (0;6), snijdt V bij (60;12) en loopt tot (120;18). De horizontale oranje pijl bij 10 euro van 80 naar 40 is de verandering van aanbodplannen bij gelijke prijs. De blauwe pijl van E₀ naar E₁ ligt op de ongewijzigde V en toont de reactie van kopers op de hogere tasprijs. Hulplijnen van beide evenwichten eindigen op hun berekende waarden.</a:t>
            </a:r>
          </a:p>
          <a:p xmlns:a="http://schemas.openxmlformats.org/drawingml/2006/main">
            <a:r>
              <a:rPr sz="1400"/>
              <a:t/>
            </a:r>
          </a:p>
          <a:p xmlns:a="http://schemas.openxmlformats.org/drawingml/2006/main">
            <a:r>
              <a:rPr sz="1400"/>
              <a:t>Misvatting: De beweging tussen E₀ en E₁ is geen verschuiving van de vraaglijn.</a:t>
            </a:r>
          </a:p>
          <a:p xmlns:a="http://schemas.openxmlformats.org/drawingml/2006/main">
            <a:r>
              <a:rPr sz="1400"/>
              <a:t/>
            </a:r>
          </a:p>
          <a:p xmlns:a="http://schemas.openxmlformats.org/drawingml/2006/main">
            <a:r>
              <a:rPr sz="1400"/>
              <a:t>Overgang: Begin voor deelvraag e afzonderlijk bij de prijs uit bron C.</a:t>
            </a:r>
          </a:p>
          <a:p xmlns:a="http://schemas.openxmlformats.org/drawingml/2006/main">
            <a:r>
              <a:rPr sz="1400"/>
              <a:t/>
            </a:r>
          </a:p>
          <a:p xmlns:a="http://schemas.openxmlformats.org/drawingml/2006/main">
            <a:r>
              <a:rPr sz="1400"/>
              <a:t>Bron: Boek 1, tweede editie 2026, gedrukte boekpagina 120–121.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verkoop hier 40 en niet 80?</a:t>
            </a:r>
          </a:p>
          <a:p xmlns:a="http://schemas.openxmlformats.org/drawingml/2006/main">
            <a:r>
              <a:rPr sz="1400"/>
              <a:t/>
            </a:r>
          </a:p>
          <a:p xmlns:a="http://schemas.openxmlformats.org/drawingml/2006/main">
            <a:r>
              <a:rPr sz="1400"/>
              <a:t>Uitleg: Dit is geen derde evenwicht. Bij de afzonderlijke prijs 14 gebruiken we de ongewijzigde vraag en het nieuwe aanbod. De 40 is zowel het overschot als de verkoop, maar om verschillende redenen. Het verschil van 80 en 40 bepaalt het overschot. De afspraak dat iedere koper een verkoper vindt bepaalt verkoop 40. De overige 40 verkoopplannen worden niet uitgevoerd; ze zijn niet per definitie al geproduceerde voorraad.</a:t>
            </a:r>
          </a:p>
          <a:p xmlns:a="http://schemas.openxmlformats.org/drawingml/2006/main">
            <a:r>
              <a:rPr sz="1400"/>
              <a:t/>
            </a:r>
          </a:p>
          <a:p xmlns:a="http://schemas.openxmlformats.org/drawingml/2006/main">
            <a:r>
              <a:rPr sz="1400"/>
              <a:t>Misvatting: Aanbod, overschot en verkoop kunnen toevallig gelijke getallen hebben zonder hetzelfde te betekenen.</a:t>
            </a:r>
          </a:p>
          <a:p xmlns:a="http://schemas.openxmlformats.org/drawingml/2006/main">
            <a:r>
              <a:rPr sz="1400"/>
              <a:t/>
            </a:r>
          </a:p>
          <a:p xmlns:a="http://schemas.openxmlformats.org/drawingml/2006/main">
            <a:r>
              <a:rPr sz="1400"/>
              <a:t>Overgang: Beoordeel nu de beide claims met functies en berekeningen.</a:t>
            </a:r>
          </a:p>
          <a:p xmlns:a="http://schemas.openxmlformats.org/drawingml/2006/main">
            <a:r>
              <a:rPr sz="1400"/>
              <a:t/>
            </a:r>
          </a:p>
          <a:p xmlns:a="http://schemas.openxmlformats.org/drawingml/2006/main">
            <a:r>
              <a:rPr sz="1400"/>
              <a:t>Bron: Boek 1, tweede editie 2026, gedrukte boekpagina 120–121.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berekening ondersteunt je oordeel over de eerste claim?</a:t>
            </a:r>
          </a:p>
          <a:p xmlns:a="http://schemas.openxmlformats.org/drawingml/2006/main">
            <a:r>
              <a:rPr sz="1400"/>
              <a:t/>
            </a:r>
          </a:p>
          <a:p xmlns:a="http://schemas.openxmlformats.org/drawingml/2006/main">
            <a:r>
              <a:rPr sz="1400"/>
              <a:t>Uitleg: Beide claims moeten apart worden beoordeeld. De onveranderde vraagfunctie is het bewijs voor beweging langs V. De twee berekende evenwichten bevestigen de reactie van 80 naar 60 tassen. Marktevenwicht betekent dat koop- en verkoopplannen bij die prijs op elkaar passen; het bewijst niet dat behoeften vervuld zijn of dat iedereen de prijs kan betalen. De waardering van de vormgeving 4,6/5 is voor de berekening niet nodig. Laat leerlingen een ontbrekend bewijs in hun eigen antwoord aanvullen.</a:t>
            </a:r>
          </a:p>
          <a:p xmlns:a="http://schemas.openxmlformats.org/drawingml/2006/main">
            <a:r>
              <a:rPr sz="1400"/>
              <a:t/>
            </a:r>
          </a:p>
          <a:p xmlns:a="http://schemas.openxmlformats.org/drawingml/2006/main">
            <a:r>
              <a:rPr sz="1400"/>
              <a:t>Misvatting: Een positief enquêtecijfer voor vormgeving meet iets anders dan tevredenheid met het marktevenwicht.</a:t>
            </a:r>
          </a:p>
          <a:p xmlns:a="http://schemas.openxmlformats.org/drawingml/2006/main">
            <a:r>
              <a:rPr sz="1400"/>
              <a:t/>
            </a:r>
          </a:p>
          <a:p xmlns:a="http://schemas.openxmlformats.org/drawingml/2006/main">
            <a:r>
              <a:rPr sz="1400"/>
              <a:t>Overgang: Ga terug naar het overzicht en laat het huiswerk vastleggen.</a:t>
            </a:r>
          </a:p>
          <a:p xmlns:a="http://schemas.openxmlformats.org/drawingml/2006/main">
            <a:r>
              <a:rPr sz="1400"/>
              <a:t/>
            </a:r>
          </a:p>
          <a:p xmlns:a="http://schemas.openxmlformats.org/drawingml/2006/main">
            <a:r>
              <a:rPr sz="1400"/>
              <a:t>Bron: Boek 1, tweede editie 2026, gedrukte boekpagina 120–121.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 en functie horen bij jouw volgende vraag?</a:t>
            </a:r>
          </a:p>
          <a:p xmlns:a="http://schemas.openxmlformats.org/drawingml/2006/main">
            <a:r>
              <a:rPr sz="1400"/>
              <a:t/>
            </a:r>
          </a:p>
          <a:p xmlns:a="http://schemas.openxmlformats.org/drawingml/2006/main">
            <a:r>
              <a:rPr sz="1400"/>
              <a:t>Uitleg: Laat deze dia staan tijdens afsluiting / huiswerk. Start is de eerste echte opgave, 34 op p.118. Gemengd 34–36 op p.118–119, doeloefening 37 met bronnen op p.120 en vragen op p.121, terugblik 38 op p.122. Er is geen afzonderlijk basisblok en geen bonus. Huiswerk is alle opgaven 34, 35, 36, 37 en 38 maken en nakijken. Opgave 37 is representatief omdat zij vier bronnen combineert en alle centrale marktvaardigheden vraagt. Plan deze volledige route over voldoende werkmomenten; afronden als huiswerk mag, een bewezen lesduur is er niet. Start 34 haalt eerder onderwezen q-invulling, techniekfactor en één-aanbiederbegrenzing op (p.86–89). Geef bij twijfel p.87–88 als steun, niet het antwoord. Bij terugkeer vóór het zelfstandig werk laat je leerlingen hun bronkeuze bij 34 kort controleren. Bij 38: per eenheid p.13 en 17, percentage/index p.14 en 16, oppervlakte p.28. Het extra bedrag moet bij het extra aantal horen; de hoogte van een vorm is een afstand. Geen nieuwe kosten- of surplusbegrippen.</a:t>
            </a:r>
          </a:p>
          <a:p xmlns:a="http://schemas.openxmlformats.org/drawingml/2006/main">
            <a:r>
              <a:rPr sz="1400"/>
              <a:t/>
            </a:r>
          </a:p>
          <a:p xmlns:a="http://schemas.openxmlformats.org/drawingml/2006/main">
            <a:r>
              <a:rPr sz="1400"/>
              <a:t>Misvatting: Een juiste rekenuitkomst bewijst nog niet dat de bron of de betekenis klopt.</a:t>
            </a:r>
          </a:p>
          <a:p xmlns:a="http://schemas.openxmlformats.org/drawingml/2006/main">
            <a:r>
              <a:rPr sz="1400"/>
              <a:t/>
            </a:r>
          </a:p>
          <a:p xmlns:a="http://schemas.openxmlformats.org/drawingml/2006/main">
            <a:r>
              <a:rPr sz="1400"/>
              <a:t>Overgang: Laat alle vijf opgaven in de agenda noteren.</a:t>
            </a:r>
          </a:p>
          <a:p xmlns:a="http://schemas.openxmlformats.org/drawingml/2006/main">
            <a:r>
              <a:rPr sz="1400"/>
              <a:t/>
            </a:r>
          </a:p>
          <a:p xmlns:a="http://schemas.openxmlformats.org/drawingml/2006/main">
            <a:r>
              <a:rPr sz="1400"/>
              <a:t>Bron: Boek 1, tweede editie 2026, gedrukte boekpagina 118–122. https://github.com/meijer1973/4veco-lessen/blob/173aa9a803897965c572df2c4e7f83cdb135eb1c/Boek%201%20-%20Grondslagen%2C%20vraag%20en%20aanbod/edities/tweede-editie-2026/boek/Boek_1_Compleet_Tweede_editie.pdf</a:t>
            </a:r>
          </a:p>
          <a:p xmlns:a="http://schemas.openxmlformats.org/drawingml/2006/main">
            <a:r>
              <a:rPr sz="1400"/>
              <a:t>Manuscript en antwoordmodel: https://github.com/meijer1973/4veco-lessen/blob/173aa9a803897965c572df2c4e7f83cdb135eb1c/Boek%201%20-%20Grondslagen%2C%20vraag%20en%20aanbod/edities/tweede-editie-2026/bronnen/H3/Antwoorden.md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e8c82896034b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895052dc1a4a73" /><Relationship Type="http://schemas.openxmlformats.org/officeDocument/2006/relationships/slideLayout" Target="/ppt/slideLayouts/slideLayout1.xml" Id="R2215ab8acd9347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15ab8acd9347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d4d3c506fa4cf6" /><Relationship Type="http://schemas.openxmlformats.org/officeDocument/2006/relationships/notesSlide" Target="/ppt/notesSlides/notesSlide1.xml" Id="R550dc397d96241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f6cf7ad2cd4289" /><Relationship Type="http://schemas.openxmlformats.org/officeDocument/2006/relationships/notesSlide" Target="/ppt/notesSlides/notesSlide2.xml" Id="Rfa3b07a8be9c49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c12220a2804d11" /><Relationship Type="http://schemas.openxmlformats.org/officeDocument/2006/relationships/notesSlide" Target="/ppt/notesSlides/notesSlide3.xml" Id="Rc1c25b87a33c45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2e586fa37a4eb0" /><Relationship Type="http://schemas.openxmlformats.org/officeDocument/2006/relationships/notesSlide" Target="/ppt/notesSlides/notesSlide4.xml" Id="R7e8db0f0e85e484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a6c2090e964572" /><Relationship Type="http://schemas.openxmlformats.org/officeDocument/2006/relationships/notesSlide" Target="/ppt/notesSlides/notesSlide5.xml" Id="R2c83fb5e0f5e40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e82f6bf5374224" /><Relationship Type="http://schemas.openxmlformats.org/officeDocument/2006/relationships/notesSlide" Target="/ppt/notesSlides/notesSlide6.xml" Id="Rf63d6c3d9fa14c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c0e20c5e5b4a9f" /><Relationship Type="http://schemas.openxmlformats.org/officeDocument/2006/relationships/notesSlide" Target="/ppt/notesSlides/notesSlide7.xml" Id="R8cc1152552c14d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a6929eba3f8465e" /><Relationship Type="http://schemas.openxmlformats.org/officeDocument/2006/relationships/notesSlide" Target="/ppt/notesSlides/notesSlide8.xml" Id="R1562badf6d09411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538d25a4de4549" /><Relationship Type="http://schemas.openxmlformats.org/officeDocument/2006/relationships/notesSlide" Target="/ppt/notesSlides/notesSlide9.xml" Id="Rf42bfd3f719546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4180d46b034d10" /><Relationship Type="http://schemas.openxmlformats.org/officeDocument/2006/relationships/notesSlide" Target="/ppt/notesSlides/notesSlide10.xml" Id="Rf33ee13ad83146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5dd4540c0b4afe" /><Relationship Type="http://schemas.openxmlformats.org/officeDocument/2006/relationships/notesSlide" Target="/ppt/notesSlides/notesSlide11.xml" Id="Raa2d470af8b742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2b01b5251c4c84" /><Relationship Type="http://schemas.openxmlformats.org/officeDocument/2006/relationships/notesSlide" Target="/ppt/notesSlides/notesSlide12.xml" Id="Rb9dc77aebc5446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778b9f111d48c5" /><Relationship Type="http://schemas.openxmlformats.org/officeDocument/2006/relationships/notesSlide" Target="/ppt/notesSlides/notesSlide13.xml" Id="R5e264350a2604c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ef954c9ad9448d" /><Relationship Type="http://schemas.openxmlformats.org/officeDocument/2006/relationships/notesSlide" Target="/ppt/notesSlides/notesSlide14.xml" Id="Rce5039f797e949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1c46ab96204f58" /><Relationship Type="http://schemas.openxmlformats.org/officeDocument/2006/relationships/notesSlide" Target="/ppt/notesSlides/notesSlide15.xml" Id="R5e685c205e1f42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60960bfdad44a8" /><Relationship Type="http://schemas.openxmlformats.org/officeDocument/2006/relationships/notesSlide" Target="/ppt/notesSlides/notesSlide16.xml" Id="R9b4be5b63d2c4f2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897949a510f4e05" /><Relationship Type="http://schemas.openxmlformats.org/officeDocument/2006/relationships/notesSlide" Target="/ppt/notesSlides/notesSlide17.xml" Id="R0661badc174a4a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aac4e069d494963" /><Relationship Type="http://schemas.openxmlformats.org/officeDocument/2006/relationships/notesSlide" Target="/ppt/notesSlides/notesSlide18.xml" Id="R3821106b552f49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348a61f5ab4b6c" /><Relationship Type="http://schemas.openxmlformats.org/officeDocument/2006/relationships/chart" Target="/ppt/slides/charts/chart1.xml" Id="Ra20ac57a1f724c9b" /><Relationship Type="http://schemas.openxmlformats.org/officeDocument/2006/relationships/notesSlide" Target="/ppt/notesSlides/notesSlide19.xml" Id="R7aa2c07f343842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4a1b3af7f4e4376" /><Relationship Type="http://schemas.openxmlformats.org/officeDocument/2006/relationships/chart" Target="/ppt/slides/charts/chart2.xml" Id="Rc1f6c5298a074da7" /><Relationship Type="http://schemas.openxmlformats.org/officeDocument/2006/relationships/notesSlide" Target="/ppt/notesSlides/notesSlide20.xml" Id="Rc55246ad001742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315eaf974c04123" /><Relationship Type="http://schemas.openxmlformats.org/officeDocument/2006/relationships/notesSlide" Target="/ppt/notesSlides/notesSlide21.xml" Id="R2919c2a631c14c3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c682dcc76b84e79" /><Relationship Type="http://schemas.openxmlformats.org/officeDocument/2006/relationships/notesSlide" Target="/ppt/notesSlides/notesSlide22.xml" Id="Rb66d91660e15471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b7ad74f6d9547ae" /><Relationship Type="http://schemas.openxmlformats.org/officeDocument/2006/relationships/notesSlide" Target="/ppt/notesSlides/notesSlide23.xml" Id="R6062cfb7f44e49e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none"/>
          </c:marker>
          <c:xVal>
            <c:numRef>
              <c:f>'Chart Data'!$A$2:$A$3</c:f>
              <c:numCache>
                <c:formatCode>General</c:formatCode>
                <c:ptCount val="2"/>
                <c:pt idx="0">
                  <c:v>0</c:v>
                </c:pt>
                <c:pt idx="1">
                  <c:v>180</c:v>
                </c:pt>
              </c:numCache>
            </c:numRef>
          </c:xVal>
          <c:yVal>
            <c:numRef>
              <c:f>'Chart Data'!$B$2:$B$3</c:f>
              <c:numCache>
                <c:formatCode>0</c:formatCode>
                <c:ptCount val="2"/>
                <c:pt idx="0">
                  <c:v>18</c:v>
                </c:pt>
                <c:pt idx="1">
                  <c:v>0</c:v>
                </c:pt>
              </c:numCache>
            </c:numRef>
          </c:yVal>
          <c:smooth val="0"/>
        </c:ser>
        <c:ser>
          <c:idx val="1"/>
          <c:order val="1"/>
          <c:tx>
            <c:v>A₀</c:v>
          </c:tx>
          <c:spPr>
            <a:ln xmlns:a="http://schemas.openxmlformats.org/drawingml/2006/main" w="38100">
              <a:solidFill>
                <a:srgbClr val="20665B"/>
              </a:solidFill>
            </a:ln>
          </c:spPr>
          <c:marker>
            <c:symbol val="none"/>
          </c:marker>
          <c:xVal>
            <c:numRef>
              <c:f>'Chart Data'!$C$2:$C$3</c:f>
              <c:numCache>
                <c:formatCode>General</c:formatCode>
                <c:ptCount val="2"/>
                <c:pt idx="0">
                  <c:v>0</c:v>
                </c:pt>
                <c:pt idx="1">
                  <c:v>160</c:v>
                </c:pt>
              </c:numCache>
            </c:numRef>
          </c:xVal>
          <c:yVal>
            <c:numRef>
              <c:f>'Chart Data'!$D$2:$D$3</c:f>
              <c:numCache>
                <c:formatCode>0</c:formatCode>
                <c:ptCount val="2"/>
                <c:pt idx="0">
                  <c:v>2</c:v>
                </c:pt>
                <c:pt idx="1">
                  <c:v>18</c:v>
                </c:pt>
              </c:numCache>
            </c:numRef>
          </c:yVal>
          <c:smooth val="0"/>
        </c:ser>
        <c:ser>
          <c:idx val="2"/>
          <c:order val="2"/>
          <c:tx>
            <c:v>V</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Data'!$E$2:$E$2</c:f>
              <c:numCache>
                <c:formatCode>General</c:formatCode>
                <c:ptCount val="1"/>
                <c:pt idx="0">
                  <c:v>154</c:v>
                </c:pt>
              </c:numCache>
            </c:numRef>
          </c:xVal>
          <c:yVal>
            <c:numRef>
              <c:f>'Chart Data'!$F$2:$F$2</c:f>
              <c:numCache>
                <c:formatCode>0</c:formatCode>
                <c:ptCount val="1"/>
                <c:pt idx="0">
                  <c:v>3.6</c:v>
                </c:pt>
              </c:numCache>
            </c:numRef>
          </c:yVal>
          <c:smooth val="0"/>
        </c:ser>
        <c:ser>
          <c:idx val="3"/>
          <c:order val="3"/>
          <c:tx>
            <c:v>A₀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20665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75" b="1">
                      <a:solidFill>
                        <a:srgbClr val="20665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137</c:v>
                </c:pt>
              </c:numCache>
            </c:numRef>
          </c:xVal>
          <c:yVal>
            <c:numRef>
              <c:f>'Chart Data'!$H$2:$H$2</c:f>
              <c:numCache>
                <c:formatCode>0</c:formatCode>
                <c:ptCount val="1"/>
                <c:pt idx="0">
                  <c:v>14.5</c:v>
                </c:pt>
              </c:numCache>
            </c:numRef>
          </c:yVal>
          <c:smooth val="0"/>
        </c:ser>
        <c:ser>
          <c:idx val="4"/>
          <c:order val="4"/>
          <c:tx>
            <c:v>Hulplijnen E₀</c:v>
          </c:tx>
          <c:spPr>
            <a:ln xmlns:a="http://schemas.openxmlformats.org/drawingml/2006/main" w="17145">
              <a:solidFill>
                <a:srgbClr val="445B6B"/>
              </a:solidFill>
              <a:prstDash val="dash"/>
            </a:ln>
          </c:spPr>
          <c:marker>
            <c:symbol val="none"/>
          </c:marker>
          <c:xVal>
            <c:numRef>
              <c:f>'Chart Data'!$I$2:$I$4</c:f>
              <c:numCache>
                <c:formatCode>General</c:formatCode>
                <c:ptCount val="3"/>
                <c:pt idx="0">
                  <c:v>0</c:v>
                </c:pt>
                <c:pt idx="1">
                  <c:v>80</c:v>
                </c:pt>
                <c:pt idx="2">
                  <c:v>80</c:v>
                </c:pt>
              </c:numCache>
            </c:numRef>
          </c:xVal>
          <c:yVal>
            <c:numRef>
              <c:f>'Chart Data'!$J$2:$J$4</c:f>
              <c:numCache>
                <c:formatCode>0</c:formatCode>
                <c:ptCount val="3"/>
                <c:pt idx="0">
                  <c:v>10</c:v>
                </c:pt>
                <c:pt idx="1">
                  <c:v>10</c:v>
                </c:pt>
                <c:pt idx="2">
                  <c:v>0</c:v>
                </c:pt>
              </c:numCache>
            </c:numRef>
          </c:yVal>
          <c:smooth val="0"/>
        </c:ser>
        <c:ser>
          <c:idx val="5"/>
          <c:order val="5"/>
          <c:tx>
            <c:v>E₀</c:v>
          </c:tx>
          <c:spPr>
            <a:ln xmlns:a="http://schemas.openxmlformats.org/drawingml/2006/main" w="0">
              <a:solidFill>
                <a:srgbClr val="183247"/>
              </a:solidFill>
            </a:ln>
          </c:spPr>
          <c:marker>
            <c:symbol val="circle"/>
            <c:size val="10"/>
            <c:spPr>
              <a:solidFill xmlns:a="http://schemas.openxmlformats.org/drawingml/2006/main">
                <a:srgbClr val="183247"/>
              </a:solidFill>
            </c:spPr>
          </c:marker>
          <c:xVal>
            <c:numRef>
              <c:f>'Chart Data'!$K$2:$K$2</c:f>
              <c:numCache>
                <c:formatCode>General</c:formatCode>
                <c:ptCount val="1"/>
                <c:pt idx="0">
                  <c:v>80</c:v>
                </c:pt>
              </c:numCache>
            </c:numRef>
          </c:xVal>
          <c:yVal>
            <c:numRef>
              <c:f>'Chart Data'!$L$2:$L$2</c:f>
              <c:numCache>
                <c:formatCode>0</c:formatCode>
                <c:ptCount val="1"/>
                <c:pt idx="0">
                  <c:v>10</c:v>
                </c:pt>
              </c:numCache>
            </c:numRef>
          </c:yVal>
          <c:smooth val="0"/>
        </c:ser>
        <c:ser>
          <c:idx val="6"/>
          <c:order val="6"/>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84</c:v>
                </c:pt>
              </c:numCache>
            </c:numRef>
          </c:xVal>
          <c:yVal>
            <c:numRef>
              <c:f>'Chart Data'!$N$2:$N$2</c:f>
              <c:numCache>
                <c:formatCode>0</c:formatCode>
                <c:ptCount val="1"/>
                <c:pt idx="0">
                  <c:v>8</c:v>
                </c:pt>
              </c:numCache>
            </c:numRef>
          </c:yVal>
          <c:smooth val="0"/>
        </c:ser>
        <c:dLbls>
          <c:txPr>
            <a:bodyPr xmlns:a="http://schemas.openxmlformats.org/drawingml/2006/main" anchorCtr="1"/>
            <a:lstStyle xmlns:a="http://schemas.openxmlformats.org/drawingml/2006/main"/>
            <a:p xmlns:a="http://schemas.openxmlformats.org/drawingml/2006/main">
              <a:pPr>
                <a:defRPr sz="21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(tassen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V</c:v>
          </c:tx>
          <c:spPr>
            <a:ln xmlns:a="http://schemas.openxmlformats.org/drawingml/2006/main" w="38100">
              <a:solidFill>
                <a:srgbClr val="17658A"/>
              </a:solidFill>
            </a:ln>
          </c:spPr>
          <c:marker>
            <c:symbol val="none"/>
          </c:marker>
          <c:xVal>
            <c:numRef>
              <c:f>'Chart Data'!$A$2:$A$3</c:f>
              <c:numCache>
                <c:formatCode>General</c:formatCode>
                <c:ptCount val="2"/>
                <c:pt idx="0">
                  <c:v>0</c:v>
                </c:pt>
                <c:pt idx="1">
                  <c:v>180</c:v>
                </c:pt>
              </c:numCache>
            </c:numRef>
          </c:xVal>
          <c:yVal>
            <c:numRef>
              <c:f>'Chart Data'!$B$2:$B$3</c:f>
              <c:numCache>
                <c:formatCode>0</c:formatCode>
                <c:ptCount val="2"/>
                <c:pt idx="0">
                  <c:v>18</c:v>
                </c:pt>
                <c:pt idx="1">
                  <c:v>0</c:v>
                </c:pt>
              </c:numCache>
            </c:numRef>
          </c:yVal>
          <c:smooth val="0"/>
        </c:ser>
        <c:ser>
          <c:idx val="1"/>
          <c:order val="1"/>
          <c:tx>
            <c:v>A₀</c:v>
          </c:tx>
          <c:spPr>
            <a:ln xmlns:a="http://schemas.openxmlformats.org/drawingml/2006/main" w="38100">
              <a:solidFill>
                <a:srgbClr val="748590"/>
              </a:solidFill>
            </a:ln>
          </c:spPr>
          <c:marker>
            <c:symbol val="none"/>
          </c:marker>
          <c:xVal>
            <c:numRef>
              <c:f>'Chart Data'!$C$2:$C$3</c:f>
              <c:numCache>
                <c:formatCode>General</c:formatCode>
                <c:ptCount val="2"/>
                <c:pt idx="0">
                  <c:v>0</c:v>
                </c:pt>
                <c:pt idx="1">
                  <c:v>160</c:v>
                </c:pt>
              </c:numCache>
            </c:numRef>
          </c:xVal>
          <c:yVal>
            <c:numRef>
              <c:f>'Chart Data'!$D$2:$D$3</c:f>
              <c:numCache>
                <c:formatCode>0</c:formatCode>
                <c:ptCount val="2"/>
                <c:pt idx="0">
                  <c:v>2</c:v>
                </c:pt>
                <c:pt idx="1">
                  <c:v>18</c:v>
                </c:pt>
              </c:numCache>
            </c:numRef>
          </c:yVal>
          <c:smooth val="0"/>
        </c:ser>
        <c:ser>
          <c:idx val="2"/>
          <c:order val="2"/>
          <c:tx>
            <c:v>A₁</c:v>
          </c:tx>
          <c:spPr>
            <a:ln xmlns:a="http://schemas.openxmlformats.org/drawingml/2006/main" w="38100">
              <a:solidFill>
                <a:srgbClr val="A94D16"/>
              </a:solidFill>
            </a:ln>
          </c:spPr>
          <c:marker>
            <c:symbol val="none"/>
          </c:marker>
          <c:xVal>
            <c:numRef>
              <c:f>'Chart Data'!$E$2:$E$3</c:f>
              <c:numCache>
                <c:formatCode>General</c:formatCode>
                <c:ptCount val="2"/>
                <c:pt idx="0">
                  <c:v>0</c:v>
                </c:pt>
                <c:pt idx="1">
                  <c:v>120</c:v>
                </c:pt>
              </c:numCache>
            </c:numRef>
          </c:xVal>
          <c:yVal>
            <c:numRef>
              <c:f>'Chart Data'!$F$2:$F$3</c:f>
              <c:numCache>
                <c:formatCode>0</c:formatCode>
                <c:ptCount val="2"/>
                <c:pt idx="0">
                  <c:v>6</c:v>
                </c:pt>
                <c:pt idx="1">
                  <c:v>18</c:v>
                </c:pt>
              </c:numCache>
            </c:numRef>
          </c:yVal>
          <c:smooth val="0"/>
        </c:ser>
        <c:ser>
          <c:idx val="3"/>
          <c:order val="3"/>
          <c:tx>
            <c:v>V</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7658A"/>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2175"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Data'!$G$2:$G$2</c:f>
              <c:numCache>
                <c:formatCode>General</c:formatCode>
                <c:ptCount val="1"/>
                <c:pt idx="0">
                  <c:v>154</c:v>
                </c:pt>
              </c:numCache>
            </c:numRef>
          </c:xVal>
          <c:yVal>
            <c:numRef>
              <c:f>'Chart Data'!$H$2:$H$2</c:f>
              <c:numCache>
                <c:formatCode>0</c:formatCode>
                <c:ptCount val="1"/>
                <c:pt idx="0">
                  <c:v>3.6</c:v>
                </c:pt>
              </c:numCache>
            </c:numRef>
          </c:yVal>
          <c:smooth val="0"/>
        </c:ser>
        <c:ser>
          <c:idx val="4"/>
          <c:order val="4"/>
          <c:tx>
            <c:v>A₀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445B6B"/>
                        </a:solidFill>
                        <a:latin typeface="Arial"/>
                        <a:ea typeface="Arial"/>
                        <a:cs typeface="Arial"/>
                      </a:rPr>
                      <a:t>A₀</a:t>
                    </a:r>
                  </a:p>
                </c:rich>
              </c:tx>
              <c:txPr>
                <a:bodyPr xmlns:a="http://schemas.openxmlformats.org/drawingml/2006/main" anchorCtr="1"/>
                <a:lstStyle xmlns:a="http://schemas.openxmlformats.org/drawingml/2006/main"/>
                <a:p xmlns:a="http://schemas.openxmlformats.org/drawingml/2006/main">
                  <a:pPr>
                    <a:defRPr sz="2175" b="1">
                      <a:solidFill>
                        <a:srgbClr val="445B6B"/>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137</c:v>
                </c:pt>
              </c:numCache>
            </c:numRef>
          </c:xVal>
          <c:yVal>
            <c:numRef>
              <c:f>'Chart Data'!$J$2:$J$2</c:f>
              <c:numCache>
                <c:formatCode>0</c:formatCode>
                <c:ptCount val="1"/>
                <c:pt idx="0">
                  <c:v>14.5</c:v>
                </c:pt>
              </c:numCache>
            </c:numRef>
          </c:yVal>
          <c:smooth val="0"/>
        </c:ser>
        <c:ser>
          <c:idx val="5"/>
          <c:order val="5"/>
          <c:tx>
            <c:v>A₁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A94D16"/>
                        </a:solidFill>
                        <a:latin typeface="Arial"/>
                        <a:ea typeface="Arial"/>
                        <a:cs typeface="Arial"/>
                      </a:rPr>
                      <a:t>A₁</a:t>
                    </a:r>
                  </a:p>
                </c:rich>
              </c:tx>
              <c:txPr>
                <a:bodyPr xmlns:a="http://schemas.openxmlformats.org/drawingml/2006/main" anchorCtr="1"/>
                <a:lstStyle xmlns:a="http://schemas.openxmlformats.org/drawingml/2006/main"/>
                <a:p xmlns:a="http://schemas.openxmlformats.org/drawingml/2006/main">
                  <a:pPr>
                    <a:defRPr sz="21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Data'!$K$2:$K$2</c:f>
              <c:numCache>
                <c:formatCode>General</c:formatCode>
                <c:ptCount val="1"/>
                <c:pt idx="0">
                  <c:v>108</c:v>
                </c:pt>
              </c:numCache>
            </c:numRef>
          </c:xVal>
          <c:yVal>
            <c:numRef>
              <c:f>'Chart Data'!$L$2:$L$2</c:f>
              <c:numCache>
                <c:formatCode>0</c:formatCode>
                <c:ptCount val="1"/>
                <c:pt idx="0">
                  <c:v>15.2</c:v>
                </c:pt>
              </c:numCache>
            </c:numRef>
          </c:yVal>
          <c:smooth val="0"/>
        </c:ser>
        <c:ser>
          <c:idx val="6"/>
          <c:order val="6"/>
          <c:tx>
            <c:v>Hulplijnen E₀</c:v>
          </c:tx>
          <c:spPr>
            <a:ln xmlns:a="http://schemas.openxmlformats.org/drawingml/2006/main" w="17145">
              <a:solidFill>
                <a:srgbClr val="445B6B"/>
              </a:solidFill>
              <a:prstDash val="dash"/>
            </a:ln>
          </c:spPr>
          <c:marker>
            <c:symbol val="none"/>
          </c:marker>
          <c:xVal>
            <c:numRef>
              <c:f>'Chart Data'!$M$2:$M$4</c:f>
              <c:numCache>
                <c:formatCode>General</c:formatCode>
                <c:ptCount val="3"/>
                <c:pt idx="0">
                  <c:v>0</c:v>
                </c:pt>
                <c:pt idx="1">
                  <c:v>80</c:v>
                </c:pt>
                <c:pt idx="2">
                  <c:v>80</c:v>
                </c:pt>
              </c:numCache>
            </c:numRef>
          </c:xVal>
          <c:yVal>
            <c:numRef>
              <c:f>'Chart Data'!$N$2:$N$4</c:f>
              <c:numCache>
                <c:formatCode>0</c:formatCode>
                <c:ptCount val="3"/>
                <c:pt idx="0">
                  <c:v>10</c:v>
                </c:pt>
                <c:pt idx="1">
                  <c:v>10</c:v>
                </c:pt>
                <c:pt idx="2">
                  <c:v>0</c:v>
                </c:pt>
              </c:numCache>
            </c:numRef>
          </c:yVal>
          <c:smooth val="0"/>
        </c:ser>
        <c:ser>
          <c:idx val="7"/>
          <c:order val="7"/>
          <c:tx>
            <c:v>E₀</c:v>
          </c:tx>
          <c:spPr>
            <a:ln xmlns:a="http://schemas.openxmlformats.org/drawingml/2006/main" w="0">
              <a:solidFill>
                <a:srgbClr val="183247"/>
              </a:solidFill>
            </a:ln>
          </c:spPr>
          <c:marker>
            <c:symbol val="circle"/>
            <c:size val="10"/>
            <c:spPr>
              <a:solidFill xmlns:a="http://schemas.openxmlformats.org/drawingml/2006/main">
                <a:srgbClr val="183247"/>
              </a:solidFill>
            </c:spPr>
          </c:marker>
          <c:xVal>
            <c:numRef>
              <c:f>'Chart Data'!$O$2:$O$2</c:f>
              <c:numCache>
                <c:formatCode>General</c:formatCode>
                <c:ptCount val="1"/>
                <c:pt idx="0">
                  <c:v>80</c:v>
                </c:pt>
              </c:numCache>
            </c:numRef>
          </c:xVal>
          <c:yVal>
            <c:numRef>
              <c:f>'Chart Data'!$P$2:$P$2</c:f>
              <c:numCache>
                <c:formatCode>0</c:formatCode>
                <c:ptCount val="1"/>
                <c:pt idx="0">
                  <c:v>10</c:v>
                </c:pt>
              </c:numCache>
            </c:numRef>
          </c:yVal>
          <c:smooth val="0"/>
        </c:ser>
        <c:ser>
          <c:idx val="8"/>
          <c:order val="8"/>
          <c:tx>
            <c:v>E₀</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183247"/>
                        </a:solidFill>
                        <a:latin typeface="Arial"/>
                        <a:ea typeface="Arial"/>
                        <a:cs typeface="Arial"/>
                      </a:rPr>
                      <a:t>E₀</a:t>
                    </a:r>
                  </a:p>
                </c:rich>
              </c:tx>
              <c:txPr>
                <a:bodyPr xmlns:a="http://schemas.openxmlformats.org/drawingml/2006/main" anchorCtr="1"/>
                <a:lstStyle xmlns:a="http://schemas.openxmlformats.org/drawingml/2006/main"/>
                <a:p xmlns:a="http://schemas.openxmlformats.org/drawingml/2006/main">
                  <a:pPr>
                    <a:defRPr sz="2175"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Data'!$Q$2:$Q$2</c:f>
              <c:numCache>
                <c:formatCode>General</c:formatCode>
                <c:ptCount val="1"/>
                <c:pt idx="0">
                  <c:v>84</c:v>
                </c:pt>
              </c:numCache>
            </c:numRef>
          </c:xVal>
          <c:yVal>
            <c:numRef>
              <c:f>'Chart Data'!$R$2:$R$2</c:f>
              <c:numCache>
                <c:formatCode>0</c:formatCode>
                <c:ptCount val="1"/>
                <c:pt idx="0">
                  <c:v>8</c:v>
                </c:pt>
              </c:numCache>
            </c:numRef>
          </c:yVal>
          <c:smooth val="0"/>
        </c:ser>
        <c:ser>
          <c:idx val="9"/>
          <c:order val="9"/>
          <c:tx>
            <c:v>Hulplijnen E₁</c:v>
          </c:tx>
          <c:spPr>
            <a:ln xmlns:a="http://schemas.openxmlformats.org/drawingml/2006/main" w="17145">
              <a:solidFill>
                <a:srgbClr val="445B6B"/>
              </a:solidFill>
              <a:prstDash val="dash"/>
            </a:ln>
          </c:spPr>
          <c:marker>
            <c:symbol val="none"/>
          </c:marker>
          <c:xVal>
            <c:numRef>
              <c:f>'Chart Data'!$S$2:$S$4</c:f>
              <c:numCache>
                <c:formatCode>General</c:formatCode>
                <c:ptCount val="3"/>
                <c:pt idx="0">
                  <c:v>0</c:v>
                </c:pt>
                <c:pt idx="1">
                  <c:v>60</c:v>
                </c:pt>
                <c:pt idx="2">
                  <c:v>60</c:v>
                </c:pt>
              </c:numCache>
            </c:numRef>
          </c:xVal>
          <c:yVal>
            <c:numRef>
              <c:f>'Chart Data'!$T$2:$T$4</c:f>
              <c:numCache>
                <c:formatCode>0</c:formatCode>
                <c:ptCount val="3"/>
                <c:pt idx="0">
                  <c:v>12</c:v>
                </c:pt>
                <c:pt idx="1">
                  <c:v>12</c:v>
                </c:pt>
                <c:pt idx="2">
                  <c:v>0</c:v>
                </c:pt>
              </c:numCache>
            </c:numRef>
          </c:yVal>
          <c:smooth val="0"/>
        </c:ser>
        <c:ser>
          <c:idx val="10"/>
          <c:order val="10"/>
          <c:tx>
            <c:v>E₁</c:v>
          </c:tx>
          <c:spPr>
            <a:ln xmlns:a="http://schemas.openxmlformats.org/drawingml/2006/main" w="0">
              <a:solidFill>
                <a:srgbClr val="A94D16"/>
              </a:solidFill>
            </a:ln>
          </c:spPr>
          <c:marker>
            <c:symbol val="circle"/>
            <c:size val="10"/>
            <c:spPr>
              <a:solidFill xmlns:a="http://schemas.openxmlformats.org/drawingml/2006/main">
                <a:srgbClr val="A94D16"/>
              </a:solidFill>
            </c:spPr>
          </c:marker>
          <c:xVal>
            <c:numRef>
              <c:f>'Chart Data'!$U$2:$U$2</c:f>
              <c:numCache>
                <c:formatCode>General</c:formatCode>
                <c:ptCount val="1"/>
                <c:pt idx="0">
                  <c:v>60</c:v>
                </c:pt>
              </c:numCache>
            </c:numRef>
          </c:xVal>
          <c:yVal>
            <c:numRef>
              <c:f>'Chart Data'!$V$2:$V$2</c:f>
              <c:numCache>
                <c:formatCode>0</c:formatCode>
                <c:ptCount val="1"/>
                <c:pt idx="0">
                  <c:v>12</c:v>
                </c:pt>
              </c:numCache>
            </c:numRef>
          </c:yVal>
          <c:smooth val="0"/>
        </c:ser>
        <c:ser>
          <c:idx val="11"/>
          <c:order val="11"/>
          <c:tx>
            <c:v>E₁</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75" b="1">
                        <a:solidFill>
                          <a:srgbClr val="A94D16"/>
                        </a:solidFill>
                        <a:latin typeface="Arial"/>
                        <a:ea typeface="Arial"/>
                        <a:cs typeface="Arial"/>
                      </a:rPr>
                      <a:t>E₁</a:t>
                    </a:r>
                  </a:p>
                </c:rich>
              </c:tx>
              <c:txPr>
                <a:bodyPr xmlns:a="http://schemas.openxmlformats.org/drawingml/2006/main" anchorCtr="1"/>
                <a:lstStyle xmlns:a="http://schemas.openxmlformats.org/drawingml/2006/main"/>
                <a:p xmlns:a="http://schemas.openxmlformats.org/drawingml/2006/main">
                  <a:pPr>
                    <a:defRPr sz="2175"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Data'!$W$2:$W$2</c:f>
              <c:numCache>
                <c:formatCode>General</c:formatCode>
                <c:ptCount val="1"/>
                <c:pt idx="0">
                  <c:v>57</c:v>
                </c:pt>
              </c:numCache>
            </c:numRef>
          </c:xVal>
          <c:yVal>
            <c:numRef>
              <c:f>'Chart Data'!$X$2:$X$2</c:f>
              <c:numCache>
                <c:formatCode>0</c:formatCode>
                <c:ptCount val="1"/>
                <c:pt idx="0">
                  <c:v>14.2</c:v>
                </c:pt>
              </c:numCache>
            </c:numRef>
          </c:yVal>
          <c:smooth val="0"/>
        </c:ser>
        <c:ser>
          <c:idx val="12"/>
          <c:order val="12"/>
          <c:tx>
            <c:v>Verschuiving bij P = 10</c:v>
          </c:tx>
          <c:spPr>
            <a:ln xmlns:a="http://schemas.openxmlformats.org/drawingml/2006/main" w="38100">
              <a:solidFill>
                <a:srgbClr val="A94D16"/>
              </a:solidFill>
            </a:ln>
          </c:spPr>
          <c:marker>
            <c:symbol val="none"/>
          </c:marker>
          <c:xVal>
            <c:numRef>
              <c:f>'Chart Data'!$Y$2:$Y$3</c:f>
              <c:numCache>
                <c:formatCode>General</c:formatCode>
                <c:ptCount val="2"/>
                <c:pt idx="0">
                  <c:v>80</c:v>
                </c:pt>
                <c:pt idx="1">
                  <c:v>40</c:v>
                </c:pt>
              </c:numCache>
            </c:numRef>
          </c:xVal>
          <c:yVal>
            <c:numRef>
              <c:f>'Chart Data'!$Z$2:$Z$3</c:f>
              <c:numCache>
                <c:formatCode>0</c:formatCode>
                <c:ptCount val="2"/>
                <c:pt idx="0">
                  <c:v>10</c:v>
                </c:pt>
                <c:pt idx="1">
                  <c:v>10</c:v>
                </c:pt>
              </c:numCache>
            </c:numRef>
          </c:yVal>
          <c:smooth val="0"/>
        </c:ser>
        <c:ser>
          <c:idx val="13"/>
          <c:order val="13"/>
          <c:tx>
            <c:v>Pijlpunt verschuiving</c:v>
          </c:tx>
          <c:spPr>
            <a:ln xmlns:a="http://schemas.openxmlformats.org/drawingml/2006/main" w="28575">
              <a:solidFill>
                <a:srgbClr val="A94D16"/>
              </a:solidFill>
            </a:ln>
          </c:spPr>
          <c:marker>
            <c:symbol val="none"/>
          </c:marker>
          <c:xVal>
            <c:numRef>
              <c:f>'Chart Data'!$AA$2:$AA$4</c:f>
              <c:numCache>
                <c:formatCode>General</c:formatCode>
                <c:ptCount val="3"/>
                <c:pt idx="0">
                  <c:v>44</c:v>
                </c:pt>
                <c:pt idx="1">
                  <c:v>40</c:v>
                </c:pt>
                <c:pt idx="2">
                  <c:v>44</c:v>
                </c:pt>
              </c:numCache>
            </c:numRef>
          </c:xVal>
          <c:yVal>
            <c:numRef>
              <c:f>'Chart Data'!$AB$2:$AB$4</c:f>
              <c:numCache>
                <c:formatCode>0</c:formatCode>
                <c:ptCount val="3"/>
                <c:pt idx="0">
                  <c:v>10.3</c:v>
                </c:pt>
                <c:pt idx="1">
                  <c:v>10</c:v>
                </c:pt>
                <c:pt idx="2">
                  <c:v>9.7</c:v>
                </c:pt>
              </c:numCache>
            </c:numRef>
          </c:yVal>
          <c:smooth val="0"/>
        </c:ser>
        <c:ser>
          <c:idx val="14"/>
          <c:order val="14"/>
          <c:tx>
            <c:v>Beweging langs V</c:v>
          </c:tx>
          <c:spPr>
            <a:ln xmlns:a="http://schemas.openxmlformats.org/drawingml/2006/main" w="47625">
              <a:solidFill>
                <a:srgbClr val="17658A"/>
              </a:solidFill>
            </a:ln>
          </c:spPr>
          <c:marker>
            <c:symbol val="none"/>
          </c:marker>
          <c:xVal>
            <c:numRef>
              <c:f>'Chart Data'!$AC$2:$AC$3</c:f>
              <c:numCache>
                <c:formatCode>General</c:formatCode>
                <c:ptCount val="2"/>
                <c:pt idx="0">
                  <c:v>80</c:v>
                </c:pt>
                <c:pt idx="1">
                  <c:v>60</c:v>
                </c:pt>
              </c:numCache>
            </c:numRef>
          </c:xVal>
          <c:yVal>
            <c:numRef>
              <c:f>'Chart Data'!$AD$2:$AD$3</c:f>
              <c:numCache>
                <c:formatCode>0</c:formatCode>
                <c:ptCount val="2"/>
                <c:pt idx="0">
                  <c:v>10</c:v>
                </c:pt>
                <c:pt idx="1">
                  <c:v>12</c:v>
                </c:pt>
              </c:numCache>
            </c:numRef>
          </c:yVal>
          <c:smooth val="0"/>
        </c:ser>
        <c:ser>
          <c:idx val="15"/>
          <c:order val="15"/>
          <c:tx>
            <c:v>Pijlpunt beweging</c:v>
          </c:tx>
          <c:spPr>
            <a:ln xmlns:a="http://schemas.openxmlformats.org/drawingml/2006/main" w="28575">
              <a:solidFill>
                <a:srgbClr val="17658A"/>
              </a:solidFill>
            </a:ln>
          </c:spPr>
          <c:marker>
            <c:symbol val="none"/>
          </c:marker>
          <c:xVal>
            <c:numRef>
              <c:f>'Chart Data'!$AE$2:$AE$4</c:f>
              <c:numCache>
                <c:formatCode>General</c:formatCode>
                <c:ptCount val="3"/>
                <c:pt idx="0">
                  <c:v>67</c:v>
                </c:pt>
                <c:pt idx="1">
                  <c:v>60</c:v>
                </c:pt>
                <c:pt idx="2">
                  <c:v>62</c:v>
                </c:pt>
              </c:numCache>
            </c:numRef>
          </c:xVal>
          <c:yVal>
            <c:numRef>
              <c:f>'Chart Data'!$AF$2:$AF$4</c:f>
              <c:numCache>
                <c:formatCode>0</c:formatCode>
                <c:ptCount val="3"/>
                <c:pt idx="0">
                  <c:v>11.8</c:v>
                </c:pt>
                <c:pt idx="1">
                  <c:v>12</c:v>
                </c:pt>
                <c:pt idx="2">
                  <c:v>11.2</c:v>
                </c:pt>
              </c:numCache>
            </c:numRef>
          </c:yVal>
          <c:smooth val="0"/>
        </c:ser>
        <c:dLbls>
          <c:txPr>
            <a:bodyPr xmlns:a="http://schemas.openxmlformats.org/drawingml/2006/main" anchorCtr="1"/>
            <a:lstStyle xmlns:a="http://schemas.openxmlformats.org/drawingml/2006/main"/>
            <a:p xmlns:a="http://schemas.openxmlformats.org/drawingml/2006/main">
              <a:pPr>
                <a:defRPr sz="2175">
                  <a:solidFill>
                    <a:srgbClr val="18324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8"/>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P (€ per tas)</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2"/>
      </c:valAx>
      <c:valAx>
        <c:axId val="48650112"/>
        <c:scaling>
          <c:orientation val="minMax"/>
          <c:max val="18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Q (tassen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4 Gemengde opgaven">
            <a:extLst xmlns:a="http://schemas.openxmlformats.org/drawingml/2006/main">
              <a:ext uri="{FF2B5EF4-FFF2-40B4-BE49-F238E27FC236}">
                <a16:creationId xmlns:a16="http://schemas.microsoft.com/office/drawing/2014/main" id="{66288145-72DE-4FDA-921B-2EAF8FC587ED}"/>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Deze les: §1.3.4 Gemengde opgaven</a:t>
            </a:r>
          </a:p>
        </p:txBody>
      </p:sp>
      <p:sp>
        <p:nvSpPr>
          <p:cNvPr id="2" name="">
            <a:extLst xmlns:a="http://schemas.openxmlformats.org/drawingml/2006/main">
              <a:ext uri="{FF2B5EF4-FFF2-40B4-BE49-F238E27FC236}">
                <a16:creationId xmlns:a16="http://schemas.microsoft.com/office/drawing/2014/main" id="{80D16A01-7AF7-4090-BDED-E93A622B0C2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0EBD5FF-EEEE-450E-9803-F272DE9DE46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Boek 1, tweede editie 2026</a:t>
            </a:r>
          </a:p>
        </p:txBody>
      </p:sp>
      <p:sp>
        <p:nvSpPr>
          <p:cNvPr id="4" name="slide-number">
            <a:extLst xmlns:a="http://schemas.openxmlformats.org/drawingml/2006/main">
              <a:ext uri="{FF2B5EF4-FFF2-40B4-BE49-F238E27FC236}">
                <a16:creationId xmlns:a16="http://schemas.microsoft.com/office/drawing/2014/main" id="{745E8FE9-2C55-4EE9-9C39-D3E4989109E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1A548AF7-7576-42E3-869C-E93858B9FA0E}"/>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4B845FB2-F173-486C-ABB3-B44D26CF9C08}"/>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D8CC8AD6-9C6B-407C-8102-FCFE1EA8BD94}"/>
              </a:ext>
            </a:extLst>
          </p:cNvPr>
          <p:cNvSpPr>
            <a:spLocks xmlns:a="http://schemas.openxmlformats.org/drawingml/2006/main" noGrp="1"/>
          </p:cNvSpPr>
          <p:nvPr/>
        </p:nvSpPr>
        <p:spPr>
          <a:xfrm xmlns:a="http://schemas.openxmlformats.org/drawingml/2006/main">
            <a:off x="571500" y="2324100"/>
            <a:ext cx="457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BF0C2D30-D18B-4345-8ED1-2DBF49841E0D}"/>
              </a:ext>
            </a:extLst>
          </p:cNvPr>
          <p:cNvSpPr>
            <a:spLocks xmlns:a="http://schemas.openxmlformats.org/drawingml/2006/main" noGrp="1"/>
          </p:cNvSpPr>
          <p:nvPr/>
        </p:nvSpPr>
        <p:spPr>
          <a:xfrm xmlns:a="http://schemas.openxmlformats.org/drawingml/2006/main">
            <a:off x="1104900" y="2324100"/>
            <a:ext cx="7534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schrift, pen en rekenmachine.</a:t>
            </a:r>
          </a:p>
        </p:txBody>
      </p:sp>
      <p:sp>
        <p:nvSpPr>
          <p:cNvPr id="9" name="route-number-2">
            <a:extLst xmlns:a="http://schemas.openxmlformats.org/drawingml/2006/main">
              <a:ext uri="{FF2B5EF4-FFF2-40B4-BE49-F238E27FC236}">
                <a16:creationId xmlns:a16="http://schemas.microsoft.com/office/drawing/2014/main" id="{C79DFBFB-87F0-42D4-9CAE-B87BD2FA8F8E}"/>
              </a:ext>
            </a:extLst>
          </p:cNvPr>
          <p:cNvSpPr>
            <a:spLocks xmlns:a="http://schemas.openxmlformats.org/drawingml/2006/main" noGrp="1"/>
          </p:cNvSpPr>
          <p:nvPr/>
        </p:nvSpPr>
        <p:spPr>
          <a:xfrm xmlns:a="http://schemas.openxmlformats.org/drawingml/2006/main">
            <a:off x="571500" y="3238500"/>
            <a:ext cx="457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72C6F712-0C41-46BB-B60E-14C81770F2BC}"/>
              </a:ext>
            </a:extLst>
          </p:cNvPr>
          <p:cNvSpPr>
            <a:spLocks xmlns:a="http://schemas.openxmlformats.org/drawingml/2006/main" noGrp="1"/>
          </p:cNvSpPr>
          <p:nvPr/>
        </p:nvSpPr>
        <p:spPr>
          <a:xfrm xmlns:a="http://schemas.openxmlformats.org/drawingml/2006/main">
            <a:off x="1104900" y="3238500"/>
            <a:ext cx="7534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FD6F0DDE-8407-4C00-87B6-4E72AF8DF84E}"/>
              </a:ext>
            </a:extLst>
          </p:cNvPr>
          <p:cNvSpPr>
            <a:spLocks xmlns:a="http://schemas.openxmlformats.org/drawingml/2006/main" noGrp="1"/>
          </p:cNvSpPr>
          <p:nvPr/>
        </p:nvSpPr>
        <p:spPr>
          <a:xfrm xmlns:a="http://schemas.openxmlformats.org/drawingml/2006/main">
            <a:off x="571500" y="38481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C289491-AD9D-42EE-929F-FF64746E4A71}"/>
              </a:ext>
            </a:extLst>
          </p:cNvPr>
          <p:cNvSpPr>
            <a:spLocks xmlns:a="http://schemas.openxmlformats.org/drawingml/2006/main" noGrp="1"/>
          </p:cNvSpPr>
          <p:nvPr/>
        </p:nvSpPr>
        <p:spPr>
          <a:xfrm xmlns:a="http://schemas.openxmlformats.org/drawingml/2006/main">
            <a:off x="1104900" y="3848100"/>
            <a:ext cx="75342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E3ED5869-7003-43E0-AB44-3CFD50F01A19}"/>
              </a:ext>
            </a:extLst>
          </p:cNvPr>
          <p:cNvSpPr>
            <a:spLocks xmlns:a="http://schemas.openxmlformats.org/drawingml/2006/main" noGrp="1"/>
          </p:cNvSpPr>
          <p:nvPr/>
        </p:nvSpPr>
        <p:spPr>
          <a:xfrm xmlns:a="http://schemas.openxmlformats.org/drawingml/2006/main">
            <a:off x="571500" y="4457700"/>
            <a:ext cx="457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8661E22D-4845-459C-9450-37C0CC2CA999}"/>
              </a:ext>
            </a:extLst>
          </p:cNvPr>
          <p:cNvSpPr>
            <a:spLocks xmlns:a="http://schemas.openxmlformats.org/drawingml/2006/main" noGrp="1"/>
          </p:cNvSpPr>
          <p:nvPr/>
        </p:nvSpPr>
        <p:spPr>
          <a:xfrm xmlns:a="http://schemas.openxmlformats.org/drawingml/2006/main">
            <a:off x="1104900" y="4457700"/>
            <a:ext cx="75342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stel vragen en kijk je antwoorden na.</a:t>
            </a:r>
          </a:p>
        </p:txBody>
      </p:sp>
      <p:sp>
        <p:nvSpPr>
          <p:cNvPr id="15" name="route-number-5">
            <a:extLst xmlns:a="http://schemas.openxmlformats.org/drawingml/2006/main">
              <a:ext uri="{FF2B5EF4-FFF2-40B4-BE49-F238E27FC236}">
                <a16:creationId xmlns:a16="http://schemas.microsoft.com/office/drawing/2014/main" id="{578B73AD-9258-457C-8897-FD0F9CA020AC}"/>
              </a:ext>
            </a:extLst>
          </p:cNvPr>
          <p:cNvSpPr>
            <a:spLocks xmlns:a="http://schemas.openxmlformats.org/drawingml/2006/main" noGrp="1"/>
          </p:cNvSpPr>
          <p:nvPr/>
        </p:nvSpPr>
        <p:spPr>
          <a:xfrm xmlns:a="http://schemas.openxmlformats.org/drawingml/2006/main">
            <a:off x="571500" y="5791200"/>
            <a:ext cx="457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D8D3E33-800E-403A-A810-51710781C879}"/>
              </a:ext>
            </a:extLst>
          </p:cNvPr>
          <p:cNvSpPr>
            <a:spLocks xmlns:a="http://schemas.openxmlformats.org/drawingml/2006/main" noGrp="1"/>
          </p:cNvSpPr>
          <p:nvPr/>
        </p:nvSpPr>
        <p:spPr>
          <a:xfrm xmlns:a="http://schemas.openxmlformats.org/drawingml/2006/main">
            <a:off x="1104900" y="5791200"/>
            <a:ext cx="75342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1A61C3CE-93B8-4E58-ADCE-4DC8902A07CF}"/>
              </a:ext>
            </a:extLst>
          </p:cNvPr>
          <p:cNvSpPr>
            <a:spLocks xmlns:a="http://schemas.openxmlformats.org/drawingml/2006/main" noGrp="1"/>
          </p:cNvSpPr>
          <p:nvPr/>
        </p:nvSpPr>
        <p:spPr>
          <a:xfrm xmlns:a="http://schemas.openxmlformats.org/drawingml/2006/main">
            <a:off x="571500" y="664845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8C58BEBE-F717-4E63-9CF1-90C9E67DDAEE}"/>
              </a:ext>
            </a:extLst>
          </p:cNvPr>
          <p:cNvSpPr>
            <a:spLocks xmlns:a="http://schemas.openxmlformats.org/drawingml/2006/main" noGrp="1"/>
          </p:cNvSpPr>
          <p:nvPr/>
        </p:nvSpPr>
        <p:spPr>
          <a:xfrm xmlns:a="http://schemas.openxmlformats.org/drawingml/2006/main">
            <a:off x="1104900" y="6648450"/>
            <a:ext cx="7534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37.</a:t>
            </a:r>
          </a:p>
        </p:txBody>
      </p:sp>
      <p:sp>
        <p:nvSpPr>
          <p:cNvPr id="19" name="route-number-7">
            <a:extLst xmlns:a="http://schemas.openxmlformats.org/drawingml/2006/main">
              <a:ext uri="{FF2B5EF4-FFF2-40B4-BE49-F238E27FC236}">
                <a16:creationId xmlns:a16="http://schemas.microsoft.com/office/drawing/2014/main" id="{385D0EE1-1F4D-49DD-A505-D074B892A9BD}"/>
              </a:ext>
            </a:extLst>
          </p:cNvPr>
          <p:cNvSpPr>
            <a:spLocks xmlns:a="http://schemas.openxmlformats.org/drawingml/2006/main" noGrp="1"/>
          </p:cNvSpPr>
          <p:nvPr/>
        </p:nvSpPr>
        <p:spPr>
          <a:xfrm xmlns:a="http://schemas.openxmlformats.org/drawingml/2006/main">
            <a:off x="571500" y="731520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6B7CF9FA-1976-4424-8570-A4B6999AF775}"/>
              </a:ext>
            </a:extLst>
          </p:cNvPr>
          <p:cNvSpPr>
            <a:spLocks xmlns:a="http://schemas.openxmlformats.org/drawingml/2006/main" noGrp="1"/>
          </p:cNvSpPr>
          <p:nvPr/>
        </p:nvSpPr>
        <p:spPr>
          <a:xfrm xmlns:a="http://schemas.openxmlformats.org/drawingml/2006/main">
            <a:off x="1104900" y="7315200"/>
            <a:ext cx="7534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76B5562-E16A-4B9F-B0E4-B5451FE017C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9071C498-4641-40C5-AABC-27A0AD557333}"/>
              </a:ext>
            </a:extLst>
          </p:cNvPr>
          <p:cNvSpPr>
            <a:spLocks xmlns:a="http://schemas.openxmlformats.org/drawingml/2006/main" noGrp="1"/>
          </p:cNvSpPr>
          <p:nvPr/>
        </p:nvSpPr>
        <p:spPr>
          <a:xfrm xmlns:a="http://schemas.openxmlformats.org/drawingml/2006/main">
            <a:off x="9258300" y="2324100"/>
            <a:ext cx="5381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Bronnen kiezen. Evenwichten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berekenen 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Veranderingen onderbouwen.</a:t>
            </a:r>
          </a:p>
        </p:txBody>
      </p:sp>
      <p:sp>
        <p:nvSpPr>
          <p:cNvPr id="23" name="">
            <a:extLst xmlns:a="http://schemas.openxmlformats.org/drawingml/2006/main">
              <a:ext uri="{FF2B5EF4-FFF2-40B4-BE49-F238E27FC236}">
                <a16:creationId xmlns:a16="http://schemas.microsoft.com/office/drawing/2014/main" id="{D5927FB0-E5B0-4D32-B335-81F5FE93BC9C}"/>
              </a:ext>
            </a:extLst>
          </p:cNvPr>
          <p:cNvSpPr>
            <a:spLocks xmlns:a="http://schemas.openxmlformats.org/drawingml/2006/main" noGrp="1"/>
          </p:cNvSpPr>
          <p:nvPr/>
        </p:nvSpPr>
        <p:spPr>
          <a:xfrm xmlns:a="http://schemas.openxmlformats.org/drawingml/2006/main">
            <a:off x="9258300" y="36195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3124FFC7-22C2-4620-B0A4-FE20D63EAFC6}"/>
              </a:ext>
            </a:extLst>
          </p:cNvPr>
          <p:cNvSpPr>
            <a:spLocks xmlns:a="http://schemas.openxmlformats.org/drawingml/2006/main" noGrp="1"/>
          </p:cNvSpPr>
          <p:nvPr/>
        </p:nvSpPr>
        <p:spPr>
          <a:xfrm xmlns:a="http://schemas.openxmlformats.org/drawingml/2006/main">
            <a:off x="9258300" y="3876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E4F5B2E-D024-458C-B98C-10201437A1C4}"/>
              </a:ext>
            </a:extLst>
          </p:cNvPr>
          <p:cNvSpPr>
            <a:spLocks xmlns:a="http://schemas.openxmlformats.org/drawingml/2006/main" noGrp="1"/>
          </p:cNvSpPr>
          <p:nvPr/>
        </p:nvSpPr>
        <p:spPr>
          <a:xfrm xmlns:a="http://schemas.openxmlformats.org/drawingml/2006/main">
            <a:off x="9258300" y="439102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118 · Opgave 34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Bij twijfel: herneem p. 87–88</a:t>
            </a:r>
          </a:p>
        </p:txBody>
      </p:sp>
      <p:sp>
        <p:nvSpPr>
          <p:cNvPr id="26" name="">
            <a:extLst xmlns:a="http://schemas.openxmlformats.org/drawingml/2006/main">
              <a:ext uri="{FF2B5EF4-FFF2-40B4-BE49-F238E27FC236}">
                <a16:creationId xmlns:a16="http://schemas.microsoft.com/office/drawing/2014/main" id="{E15BCE0B-14DB-4CF5-AC98-E3A25EC667F6}"/>
              </a:ext>
            </a:extLst>
          </p:cNvPr>
          <p:cNvSpPr>
            <a:spLocks xmlns:a="http://schemas.openxmlformats.org/drawingml/2006/main" noGrp="1"/>
          </p:cNvSpPr>
          <p:nvPr/>
        </p:nvSpPr>
        <p:spPr>
          <a:xfrm xmlns:a="http://schemas.openxmlformats.org/drawingml/2006/main">
            <a:off x="9258300" y="54483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2A4BAB2-2AC1-43C6-9854-F1BE4DC3C136}"/>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6E03CF5A-7297-43B4-8140-327B6BA42FAA}"/>
              </a:ext>
            </a:extLst>
          </p:cNvPr>
          <p:cNvSpPr>
            <a:spLocks xmlns:a="http://schemas.openxmlformats.org/drawingml/2006/main" noGrp="1"/>
          </p:cNvSpPr>
          <p:nvPr/>
        </p:nvSpPr>
        <p:spPr>
          <a:xfrm xmlns:a="http://schemas.openxmlformats.org/drawingml/2006/main">
            <a:off x="9258300" y="6257925"/>
            <a:ext cx="538162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§1.3.4 · Opgaven 34–38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34–36 · Doel: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Terugblik: 38 · Geen bonus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118–122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8149772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e vraag bepaalt je aanpak">
            <a:extLst xmlns:a="http://schemas.openxmlformats.org/drawingml/2006/main">
              <a:ext uri="{FF2B5EF4-FFF2-40B4-BE49-F238E27FC236}">
                <a16:creationId xmlns:a16="http://schemas.microsoft.com/office/drawing/2014/main" id="{15B26445-6C82-4EF0-8B4A-07436FEC6CD1}"/>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De vraag bepaalt je aanpak</a:t>
            </a:r>
          </a:p>
        </p:txBody>
      </p:sp>
      <p:sp>
        <p:nvSpPr>
          <p:cNvPr id="2" name="">
            <a:extLst xmlns:a="http://schemas.openxmlformats.org/drawingml/2006/main">
              <a:ext uri="{FF2B5EF4-FFF2-40B4-BE49-F238E27FC236}">
                <a16:creationId xmlns:a16="http://schemas.microsoft.com/office/drawing/2014/main" id="{0244A42A-80CA-42CE-8BC2-DAEF1DC6032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3E234145-E1E4-4AE4-9924-DCA0EC61F4A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Boek 1, tweede editie 2026</a:t>
            </a:r>
          </a:p>
        </p:txBody>
      </p:sp>
      <p:sp>
        <p:nvSpPr>
          <p:cNvPr id="4" name="slide-number">
            <a:extLst xmlns:a="http://schemas.openxmlformats.org/drawingml/2006/main">
              <a:ext uri="{FF2B5EF4-FFF2-40B4-BE49-F238E27FC236}">
                <a16:creationId xmlns:a16="http://schemas.microsoft.com/office/drawing/2014/main" id="{F8228E37-4234-43C2-BEFD-B129D1DABE7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1" name=""/>
          <p:cNvGraphicFramePr/>
          <p:nvPr/>
        </p:nvGraphicFramePr>
        <p:xfrm>
          <a:off xmlns:a="http://schemas.openxmlformats.org/drawingml/2006/main" x="571500" y="2047875"/>
          <a:ext xmlns:a="http://schemas.openxmlformats.org/drawingml/2006/main" cx="14097000" cy="4695825"/>
        </p:xfrm>
        <a:graphic xmlns:a="http://schemas.openxmlformats.org/drawingml/2006/main">
          <a:graphicData uri="http://schemas.openxmlformats.org/drawingml/2006/table">
            <a:tbl>
              <a:tblPr/>
              <a:tblGrid>
                <a:gridCol w="6000750"/>
                <a:gridCol w="8096250"/>
              </a:tblGrid>
              <a:tr h="939165">
                <a:tc>
                  <a:txBody>
                    <a:bodyPr lIns="171450" tIns="95250" rIns="152400" bIns="95250"/>
                    <a:lstStyle/>
                    <a:p>
                      <a:r>
                        <a:rPr sz="2475" b="1">
                          <a:solidFill>
                            <a:srgbClr val="FFFFFF"/>
                          </a:solidFill>
                          <a:latin typeface="Arial"/>
                          <a:ea typeface="Arial"/>
                          <a:cs typeface="Arial"/>
                        </a:rPr>
                        <a:t>Wat vraagt de opgave?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Aanpak</a:t>
                      </a:r>
                    </a:p>
                  </a:txBody>
                  <a:tcPr marL="91440" marR="91440" marT="45720" marB="45720" anchor="ctr">
                    <a:solidFill>
                      <a:srgbClr val="183247"/>
                    </a:solidFill>
                  </a:tcPr>
                </a:tc>
              </a:tr>
              <a:tr h="939165">
                <a:tc>
                  <a:txBody>
                    <a:bodyPr lIns="171450" tIns="95250" rIns="152400" bIns="95250"/>
                    <a:lstStyle/>
                    <a:p>
                      <a:r>
                        <a:rPr sz="2475" b="0">
                          <a:solidFill>
                            <a:srgbClr val="183247"/>
                          </a:solidFill>
                          <a:latin typeface="Arial"/>
                          <a:ea typeface="Arial"/>
                          <a:cs typeface="Arial"/>
                        </a:rPr>
                        <a:t>Hoeveel bij deze prijs?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De gegeven prijs invullen in de juiste functie.</a:t>
                      </a:r>
                    </a:p>
                  </a:txBody>
                  <a:tcPr marL="91440" marR="91440" marT="45720" marB="45720" anchor="ctr">
                    <a:solidFill>
                      <a:srgbClr val="FFFFFF"/>
                    </a:solidFill>
                  </a:tcPr>
                </a:tc>
              </a:tr>
              <a:tr h="939165">
                <a:tc>
                  <a:txBody>
                    <a:bodyPr lIns="171450" tIns="95250" rIns="152400" bIns="95250"/>
                    <a:lstStyle/>
                    <a:p>
                      <a:r>
                        <a:rPr sz="2475" b="0">
                          <a:solidFill>
                            <a:srgbClr val="183247"/>
                          </a:solidFill>
                          <a:latin typeface="Arial"/>
                          <a:ea typeface="Arial"/>
                          <a:cs typeface="Arial"/>
                        </a:rPr>
                        <a:t>Waar passen marktpartijen bij elkaar?</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Qᵥ = Qₐ oplossen en beide functies controleren.</a:t>
                      </a:r>
                    </a:p>
                  </a:txBody>
                  <a:tcPr marL="91440" marR="91440" marT="45720" marB="45720" anchor="ctr">
                    <a:solidFill>
                      <a:srgbClr val="EFF4F7"/>
                    </a:solidFill>
                  </a:tcPr>
                </a:tc>
              </a:tr>
              <a:tr h="939165">
                <a:tc>
                  <a:txBody>
                    <a:bodyPr lIns="171450" tIns="95250" rIns="152400" bIns="95250"/>
                    <a:lstStyle/>
                    <a:p>
                      <a:r>
                        <a:rPr sz="2475" b="0">
                          <a:solidFill>
                            <a:srgbClr val="183247"/>
                          </a:solidFill>
                          <a:latin typeface="Arial"/>
                          <a:ea typeface="Arial"/>
                          <a:cs typeface="Arial"/>
                        </a:rPr>
                        <a:t>Wat verandert er?</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Eerst de factor, dan vergelijken bij dezelfde prijs.</a:t>
                      </a:r>
                    </a:p>
                  </a:txBody>
                  <a:tcPr marL="91440" marR="91440" marT="45720" marB="45720" anchor="ctr">
                    <a:solidFill>
                      <a:srgbClr val="FFFFFF"/>
                    </a:solidFill>
                  </a:tcPr>
                </a:tc>
              </a:tr>
              <a:tr h="939165">
                <a:tc>
                  <a:txBody>
                    <a:bodyPr lIns="171450" tIns="95250" rIns="152400" bIns="95250"/>
                    <a:lstStyle/>
                    <a:p>
                      <a:r>
                        <a:rPr sz="2475" b="0">
                          <a:solidFill>
                            <a:srgbClr val="183247"/>
                          </a:solidFill>
                          <a:latin typeface="Arial"/>
                          <a:ea typeface="Arial"/>
                          <a:cs typeface="Arial"/>
                        </a:rPr>
                        <a:t>Hoeveel wordt verkocht?</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Vraag, aanbod én de afspraak over handel gebruiken.</a:t>
                      </a:r>
                    </a:p>
                  </a:txBody>
                  <a:tcPr marL="91440" marR="91440" marT="45720" marB="45720" anchor="ctr">
                    <a:solidFill>
                      <a:srgbClr val="EFF4F7"/>
                    </a:solidFill>
                  </a:tcPr>
                </a:tc>
              </a:tr>
            </a:tbl>
          </a:graphicData>
        </a:graphic>
      </p:graphicFrame>
      <p:sp>
        <p:nvSpPr>
          <p:cNvPr id="6" name="Grafiek: twee punten per lijn, (Q; P), assen en eenheden.">
            <a:extLst xmlns:a="http://schemas.openxmlformats.org/drawingml/2006/main">
              <a:ext uri="{FF2B5EF4-FFF2-40B4-BE49-F238E27FC236}">
                <a16:creationId xmlns:a16="http://schemas.microsoft.com/office/drawing/2014/main" id="{2C728AD0-3A18-4CB2-B9F6-9B31C435F608}"/>
              </a:ext>
            </a:extLst>
          </p:cNvPr>
          <p:cNvSpPr>
            <a:spLocks xmlns:a="http://schemas.openxmlformats.org/drawingml/2006/main" noGrp="1"/>
          </p:cNvSpPr>
          <p:nvPr/>
        </p:nvSpPr>
        <p:spPr>
          <a:xfrm xmlns:a="http://schemas.openxmlformats.org/drawingml/2006/main">
            <a:off x="571500" y="7191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Grafiek: twee punten per lijn, (Q; P), assen en eenheden.</a:t>
            </a:r>
          </a:p>
        </p:txBody>
      </p:sp>
    </p:spTree>
    <p:extLst>
      <p:ext uri="{BB962C8B-B14F-4D97-AF65-F5344CB8AC3E}">
        <p14:creationId xmlns:p14="http://schemas.microsoft.com/office/powerpoint/2010/main" val="21107823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Vouwkrukjes: de oorspronkelijke markt">
            <a:extLst xmlns:a="http://schemas.openxmlformats.org/drawingml/2006/main">
              <a:ext uri="{FF2B5EF4-FFF2-40B4-BE49-F238E27FC236}">
                <a16:creationId xmlns:a16="http://schemas.microsoft.com/office/drawing/2014/main" id="{EDA11937-47B0-487D-A774-55AA197ADCCD}"/>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Vouwkrukjes: de oorspronkelijke markt</a:t>
            </a:r>
          </a:p>
        </p:txBody>
      </p:sp>
      <p:sp>
        <p:nvSpPr>
          <p:cNvPr id="2" name="">
            <a:extLst xmlns:a="http://schemas.openxmlformats.org/drawingml/2006/main">
              <a:ext uri="{FF2B5EF4-FFF2-40B4-BE49-F238E27FC236}">
                <a16:creationId xmlns:a16="http://schemas.microsoft.com/office/drawing/2014/main" id="{69CCFDA9-74A9-404C-9CBC-E60A8F5592F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A40B2F0-82E1-406B-94E0-9E543F0D98A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28AAC2A9-609D-4A02-9A57-EA63CC9F43C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Qᵥ = 72 − 4P      Qₐ,₀ = 8P − 24">
            <a:extLst xmlns:a="http://schemas.openxmlformats.org/drawingml/2006/main">
              <a:ext uri="{FF2B5EF4-FFF2-40B4-BE49-F238E27FC236}">
                <a16:creationId xmlns:a16="http://schemas.microsoft.com/office/drawing/2014/main" id="{53366326-A59B-419A-B365-4C837D1FC5B4}"/>
              </a:ext>
            </a:extLst>
          </p:cNvPr>
          <p:cNvSpPr>
            <a:spLocks xmlns:a="http://schemas.openxmlformats.org/drawingml/2006/main" noGrp="1"/>
          </p:cNvSpPr>
          <p:nvPr/>
        </p:nvSpPr>
        <p:spPr>
          <a:xfrm xmlns:a="http://schemas.openxmlformats.org/drawingml/2006/main">
            <a:off x="571500" y="18097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Qᵥ = 72 − 4P      Qₐ,₀ = 8P − 24</a:t>
            </a:r>
          </a:p>
        </p:txBody>
      </p:sp>
      <p:sp>
        <p:nvSpPr>
          <p:cNvPr id="6" name="Q: krukjes per week · P: euro per krukje&#10;Vraag: 0 ≤ P ≤ 18 · Aanb">
            <a:extLst xmlns:a="http://schemas.openxmlformats.org/drawingml/2006/main">
              <a:ext uri="{FF2B5EF4-FFF2-40B4-BE49-F238E27FC236}">
                <a16:creationId xmlns:a16="http://schemas.microsoft.com/office/drawing/2014/main" id="{3731378C-8404-4EFE-9F5C-AC1F3CDEBDA4}"/>
              </a:ext>
            </a:extLst>
          </p:cNvPr>
          <p:cNvSpPr>
            <a:spLocks xmlns:a="http://schemas.openxmlformats.org/drawingml/2006/main" noGrp="1"/>
          </p:cNvSpPr>
          <p:nvPr/>
        </p:nvSpPr>
        <p:spPr>
          <a:xfrm xmlns:a="http://schemas.openxmlformats.org/drawingml/2006/main">
            <a:off x="571500" y="2619375"/>
            <a:ext cx="1409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Q: krukjes per week · P: euro per krukje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Vraag: 0 ≤ P ≤ 18 · Aanbod: 3 ≤ P ≤ 18</a:t>
            </a:r>
          </a:p>
        </p:txBody>
      </p:sp>
      <p:sp>
        <p:nvSpPr>
          <p:cNvPr id="7" name="72 − 4P = 8P − 24&#10;72 = 12P − 24&#10;96 = 12P&#10;P₀ = € 8 per krukje">
            <a:extLst xmlns:a="http://schemas.openxmlformats.org/drawingml/2006/main">
              <a:ext uri="{FF2B5EF4-FFF2-40B4-BE49-F238E27FC236}">
                <a16:creationId xmlns:a16="http://schemas.microsoft.com/office/drawing/2014/main" id="{32B63940-7877-4575-A08E-85140B2D97A4}"/>
              </a:ext>
            </a:extLst>
          </p:cNvPr>
          <p:cNvSpPr>
            <a:spLocks xmlns:a="http://schemas.openxmlformats.org/drawingml/2006/main" noGrp="1"/>
          </p:cNvSpPr>
          <p:nvPr/>
        </p:nvSpPr>
        <p:spPr>
          <a:xfrm xmlns:a="http://schemas.openxmlformats.org/drawingml/2006/main">
            <a:off x="571500" y="3952875"/>
            <a:ext cx="7096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72 − 4P = 8P − 24</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72 = 12P − 24</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96 = 12P</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P₀ = € 8 per krukje</a:t>
            </a:r>
          </a:p>
        </p:txBody>
      </p:sp>
      <p:sp>
        <p:nvSpPr>
          <p:cNvPr id="8" name="Controle met beide functies">
            <a:extLst xmlns:a="http://schemas.openxmlformats.org/drawingml/2006/main">
              <a:ext uri="{FF2B5EF4-FFF2-40B4-BE49-F238E27FC236}">
                <a16:creationId xmlns:a16="http://schemas.microsoft.com/office/drawing/2014/main" id="{A6E433EF-0C3D-4A4B-A2BE-2E1343DEA1BA}"/>
              </a:ext>
            </a:extLst>
          </p:cNvPr>
          <p:cNvSpPr>
            <a:spLocks xmlns:a="http://schemas.openxmlformats.org/drawingml/2006/main" noGrp="1"/>
          </p:cNvSpPr>
          <p:nvPr/>
        </p:nvSpPr>
        <p:spPr>
          <a:xfrm xmlns:a="http://schemas.openxmlformats.org/drawingml/2006/main">
            <a:off x="8429625" y="39528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665B"/>
                </a:solidFill>
                <a:latin typeface="Arial"/>
                <a:ea typeface="Arial"/>
                <a:cs typeface="Arial"/>
              </a:defRPr>
            </a:pPr>
            <a:r>
              <a:rPr sz="2475" b="1">
                <a:solidFill>
                  <a:srgbClr val="20665B"/>
                </a:solidFill>
                <a:latin typeface="Arial"/>
                <a:ea typeface="Arial"/>
                <a:cs typeface="Arial"/>
              </a:rPr>
              <a:t>Controle met beide functies</a:t>
            </a:r>
          </a:p>
        </p:txBody>
      </p:sp>
      <p:sp>
        <p:nvSpPr>
          <p:cNvPr id="9" name="Qᵥ = 72 − 4 × 8 = 40&#10;Qₐ,₀ = 8 × 8 − 24 = 40">
            <a:extLst xmlns:a="http://schemas.openxmlformats.org/drawingml/2006/main">
              <a:ext uri="{FF2B5EF4-FFF2-40B4-BE49-F238E27FC236}">
                <a16:creationId xmlns:a16="http://schemas.microsoft.com/office/drawing/2014/main" id="{14A1EF4C-6BCF-4FAE-A3BA-BCF2339B161B}"/>
              </a:ext>
            </a:extLst>
          </p:cNvPr>
          <p:cNvSpPr>
            <a:spLocks xmlns:a="http://schemas.openxmlformats.org/drawingml/2006/main" noGrp="1"/>
          </p:cNvSpPr>
          <p:nvPr/>
        </p:nvSpPr>
        <p:spPr>
          <a:xfrm xmlns:a="http://schemas.openxmlformats.org/drawingml/2006/main">
            <a:off x="8429625" y="4714875"/>
            <a:ext cx="61912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Qᵥ = 72 − 4 × 8 = 40</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Qₐ,₀ = 8 × 8 − 24 = 40</a:t>
            </a:r>
          </a:p>
        </p:txBody>
      </p:sp>
      <p:sp>
        <p:nvSpPr>
          <p:cNvPr id="10" name="Q₀ = 40 krukjes per week">
            <a:extLst xmlns:a="http://schemas.openxmlformats.org/drawingml/2006/main">
              <a:ext uri="{FF2B5EF4-FFF2-40B4-BE49-F238E27FC236}">
                <a16:creationId xmlns:a16="http://schemas.microsoft.com/office/drawing/2014/main" id="{697A1F16-684D-4EDD-83F2-3AFB36448082}"/>
              </a:ext>
            </a:extLst>
          </p:cNvPr>
          <p:cNvSpPr>
            <a:spLocks xmlns:a="http://schemas.openxmlformats.org/drawingml/2006/main" noGrp="1"/>
          </p:cNvSpPr>
          <p:nvPr/>
        </p:nvSpPr>
        <p:spPr>
          <a:xfrm xmlns:a="http://schemas.openxmlformats.org/drawingml/2006/main">
            <a:off x="571500" y="70580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Q₀ = 40 krukjes per week</a:t>
            </a:r>
          </a:p>
        </p:txBody>
      </p:sp>
    </p:spTree>
    <p:extLst>
      <p:ext uri="{BB962C8B-B14F-4D97-AF65-F5344CB8AC3E}">
        <p14:creationId xmlns:p14="http://schemas.microsoft.com/office/powerpoint/2010/main" val="1401107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etere techniek: eerst dezelfde prijs">
            <a:extLst xmlns:a="http://schemas.openxmlformats.org/drawingml/2006/main">
              <a:ext uri="{FF2B5EF4-FFF2-40B4-BE49-F238E27FC236}">
                <a16:creationId xmlns:a16="http://schemas.microsoft.com/office/drawing/2014/main" id="{03F05F0C-688C-4EFA-872E-8C295F9FF9CB}"/>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Betere techniek: eerst dezelfde prijs</a:t>
            </a:r>
          </a:p>
        </p:txBody>
      </p:sp>
      <p:sp>
        <p:nvSpPr>
          <p:cNvPr id="2" name="">
            <a:extLst xmlns:a="http://schemas.openxmlformats.org/drawingml/2006/main">
              <a:ext uri="{FF2B5EF4-FFF2-40B4-BE49-F238E27FC236}">
                <a16:creationId xmlns:a16="http://schemas.microsoft.com/office/drawing/2014/main" id="{3D3479F6-D508-47FB-A6DC-4BD0DB8AFF3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44474AF-3F89-412F-ABB1-E7F2D2467C6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A329BDF7-5181-4D06-B824-CE14FF803C9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Nieuw aanbod: Qₐ,₁ = 8P − 12   (1,5 ≤ P ≤ 18)">
            <a:extLst xmlns:a="http://schemas.openxmlformats.org/drawingml/2006/main">
              <a:ext uri="{FF2B5EF4-FFF2-40B4-BE49-F238E27FC236}">
                <a16:creationId xmlns:a16="http://schemas.microsoft.com/office/drawing/2014/main" id="{0D58A2C4-BD77-4DE0-92D4-AC8F7A67F557}"/>
              </a:ext>
            </a:extLst>
          </p:cNvPr>
          <p:cNvSpPr>
            <a:spLocks xmlns:a="http://schemas.openxmlformats.org/drawingml/2006/main" noGrp="1"/>
          </p:cNvSpPr>
          <p:nvPr/>
        </p:nvSpPr>
        <p:spPr>
          <a:xfrm xmlns:a="http://schemas.openxmlformats.org/drawingml/2006/main">
            <a:off x="571500" y="18478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Nieuw aanbod: Qₐ,₁ = 8P − 12   (1,5 ≤ P ≤ 18)</a:t>
            </a:r>
          </a:p>
        </p:txBody>
      </p:sp>
      <p:sp>
        <p:nvSpPr>
          <p:cNvPr id="6" name="De vraag en de overige omstandigheden blijven gelijk.">
            <a:extLst xmlns:a="http://schemas.openxmlformats.org/drawingml/2006/main">
              <a:ext uri="{FF2B5EF4-FFF2-40B4-BE49-F238E27FC236}">
                <a16:creationId xmlns:a16="http://schemas.microsoft.com/office/drawing/2014/main" id="{98443410-B9A4-4CDC-8FE8-37E6A511398A}"/>
              </a:ext>
            </a:extLst>
          </p:cNvPr>
          <p:cNvSpPr>
            <a:spLocks xmlns:a="http://schemas.openxmlformats.org/drawingml/2006/main" noGrp="1"/>
          </p:cNvSpPr>
          <p:nvPr/>
        </p:nvSpPr>
        <p:spPr>
          <a:xfrm xmlns:a="http://schemas.openxmlformats.org/drawingml/2006/main">
            <a:off x="571500" y="269557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 vraag en de overige omstandigheden blijven gelijk.</a:t>
            </a:r>
          </a:p>
        </p:txBody>
      </p:sp>
      <p:graphicFrame>
        <p:nvGraphicFramePr>
          <p:cNvPr id="15" name=""/>
          <p:cNvGraphicFramePr/>
          <p:nvPr/>
        </p:nvGraphicFramePr>
        <p:xfrm>
          <a:off xmlns:a="http://schemas.openxmlformats.org/drawingml/2006/main" x="571500" y="3629025"/>
          <a:ext xmlns:a="http://schemas.openxmlformats.org/drawingml/2006/main" cx="14097000" cy="3228975"/>
        </p:xfrm>
        <a:graphic xmlns:a="http://schemas.openxmlformats.org/drawingml/2006/main">
          <a:graphicData uri="http://schemas.openxmlformats.org/drawingml/2006/table">
            <a:tbl>
              <a:tblPr/>
              <a:tblGrid>
                <a:gridCol w="5238750"/>
                <a:gridCol w="4429125"/>
                <a:gridCol w="4429125"/>
              </a:tblGrid>
              <a:tr h="807244">
                <a:tc>
                  <a:txBody>
                    <a:bodyPr lIns="171450" tIns="95250" rIns="152400" bIns="95250"/>
                    <a:lstStyle/>
                    <a:p>
                      <a:r>
                        <a:rPr sz="2475" b="1">
                          <a:solidFill>
                            <a:srgbClr val="FFFFFF"/>
                          </a:solidFill>
                          <a:latin typeface="Arial"/>
                          <a:ea typeface="Arial"/>
                          <a:cs typeface="Arial"/>
                        </a:rPr>
                        <a:t>Bij de oude P = € 8</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Krukjes per week</a:t>
                      </a:r>
                    </a:p>
                  </a:txBody>
                  <a:tcPr marL="91440" marR="91440" marT="45720" marB="45720" anchor="ctr">
                    <a:solidFill>
                      <a:srgbClr val="183247"/>
                    </a:solidFill>
                  </a:tcPr>
                </a:tc>
              </a:tr>
              <a:tr h="807244">
                <a:tc>
                  <a:txBody>
                    <a:bodyPr lIns="171450" tIns="95250" rIns="152400" bIns="95250"/>
                    <a:lstStyle/>
                    <a:p>
                      <a:r>
                        <a:rPr sz="2475" b="0">
                          <a:solidFill>
                            <a:srgbClr val="183247"/>
                          </a:solidFill>
                          <a:latin typeface="Arial"/>
                          <a:ea typeface="Arial"/>
                          <a:cs typeface="Arial"/>
                        </a:rPr>
                        <a:t>Oud aanbod</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8 × 8 − 24</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a:t>
                      </a:r>
                    </a:p>
                  </a:txBody>
                  <a:tcPr marL="91440" marR="91440" marT="45720" marB="45720" anchor="ctr">
                    <a:solidFill>
                      <a:srgbClr val="FFFFFF"/>
                    </a:solidFill>
                  </a:tcPr>
                </a:tc>
              </a:tr>
              <a:tr h="807244">
                <a:tc>
                  <a:txBody>
                    <a:bodyPr lIns="171450" tIns="95250" rIns="152400" bIns="95250"/>
                    <a:lstStyle/>
                    <a:p>
                      <a:r>
                        <a:rPr sz="2475" b="0">
                          <a:solidFill>
                            <a:srgbClr val="183247"/>
                          </a:solidFill>
                          <a:latin typeface="Arial"/>
                          <a:ea typeface="Arial"/>
                          <a:cs typeface="Arial"/>
                        </a:rPr>
                        <a:t>Nieuw aanbod</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8 × 8 − 12</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52</a:t>
                      </a:r>
                    </a:p>
                  </a:txBody>
                  <a:tcPr marL="91440" marR="91440" marT="45720" marB="45720" anchor="ctr">
                    <a:solidFill>
                      <a:srgbClr val="EFF4F7"/>
                    </a:solidFill>
                  </a:tcPr>
                </a:tc>
              </a:tr>
              <a:tr h="807244">
                <a:tc>
                  <a:txBody>
                    <a:bodyPr lIns="171450" tIns="95250" rIns="152400" bIns="95250"/>
                    <a:lstStyle/>
                    <a:p>
                      <a:r>
                        <a:rPr sz="2475" b="0">
                          <a:solidFill>
                            <a:srgbClr val="183247"/>
                          </a:solidFill>
                          <a:latin typeface="Arial"/>
                          <a:ea typeface="Arial"/>
                          <a:cs typeface="Arial"/>
                        </a:rPr>
                        <a:t>Ongewijzigde vraag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72 − 4 × 8</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40</a:t>
                      </a:r>
                    </a:p>
                  </a:txBody>
                  <a:tcPr marL="91440" marR="91440" marT="45720" marB="45720" anchor="ctr">
                    <a:solidFill>
                      <a:srgbClr val="FFFFFF"/>
                    </a:solidFill>
                  </a:tcPr>
                </a:tc>
              </a:tr>
            </a:tbl>
          </a:graphicData>
        </a:graphic>
      </p:graphicFrame>
      <p:sp>
        <p:nvSpPr>
          <p:cNvPr id="8" name="A verschuift naar rechts. Aanbodoverschot: 52 − 40 = 12.">
            <a:extLst xmlns:a="http://schemas.openxmlformats.org/drawingml/2006/main">
              <a:ext uri="{FF2B5EF4-FFF2-40B4-BE49-F238E27FC236}">
                <a16:creationId xmlns:a16="http://schemas.microsoft.com/office/drawing/2014/main" id="{91196D2E-D410-46FB-A1A0-3CCDC2F8E498}"/>
              </a:ext>
            </a:extLst>
          </p:cNvPr>
          <p:cNvSpPr>
            <a:spLocks xmlns:a="http://schemas.openxmlformats.org/drawingml/2006/main" noGrp="1"/>
          </p:cNvSpPr>
          <p:nvPr/>
        </p:nvSpPr>
        <p:spPr>
          <a:xfrm xmlns:a="http://schemas.openxmlformats.org/drawingml/2006/main">
            <a:off x="571500" y="717232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A94D16"/>
                </a:solidFill>
                <a:latin typeface="Arial"/>
                <a:ea typeface="Arial"/>
                <a:cs typeface="Arial"/>
              </a:defRPr>
            </a:pPr>
            <a:r>
              <a:rPr sz="2775" b="1">
                <a:solidFill>
                  <a:srgbClr val="A94D16"/>
                </a:solidFill>
                <a:latin typeface="Arial"/>
                <a:ea typeface="Arial"/>
                <a:cs typeface="Arial"/>
              </a:rPr>
              <a:t>A verschuift naar rechts. Aanbodoverschot: 52 − 40 = 12.</a:t>
            </a:r>
          </a:p>
        </p:txBody>
      </p:sp>
    </p:spTree>
    <p:extLst>
      <p:ext uri="{BB962C8B-B14F-4D97-AF65-F5344CB8AC3E}">
        <p14:creationId xmlns:p14="http://schemas.microsoft.com/office/powerpoint/2010/main" val="1792312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t nieuwe evenwicht gebruikt de nieuwe functie">
            <a:extLst xmlns:a="http://schemas.openxmlformats.org/drawingml/2006/main">
              <a:ext uri="{FF2B5EF4-FFF2-40B4-BE49-F238E27FC236}">
                <a16:creationId xmlns:a16="http://schemas.microsoft.com/office/drawing/2014/main" id="{29F4A198-44CB-471E-B80E-419D9337C158}"/>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Het nieuwe evenwicht gebruikt de nieuwe functie</a:t>
            </a:r>
          </a:p>
        </p:txBody>
      </p:sp>
      <p:sp>
        <p:nvSpPr>
          <p:cNvPr id="2" name="">
            <a:extLst xmlns:a="http://schemas.openxmlformats.org/drawingml/2006/main">
              <a:ext uri="{FF2B5EF4-FFF2-40B4-BE49-F238E27FC236}">
                <a16:creationId xmlns:a16="http://schemas.microsoft.com/office/drawing/2014/main" id="{11553360-DE93-4107-B057-BDC59F4E5C1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CF482A7-DB90-4B19-8F72-84CB6026791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Uitlegvoorbeeld — niet uit het boek</a:t>
            </a:r>
          </a:p>
        </p:txBody>
      </p:sp>
      <p:sp>
        <p:nvSpPr>
          <p:cNvPr id="4" name="slide-number">
            <a:extLst xmlns:a="http://schemas.openxmlformats.org/drawingml/2006/main">
              <a:ext uri="{FF2B5EF4-FFF2-40B4-BE49-F238E27FC236}">
                <a16:creationId xmlns:a16="http://schemas.microsoft.com/office/drawing/2014/main" id="{F5245211-6329-4632-B61D-00C96B66534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72 − 4P = 8P − 12&#10;84 = 12P&#10;P₁ = € 7 per krukje">
            <a:extLst xmlns:a="http://schemas.openxmlformats.org/drawingml/2006/main">
              <a:ext uri="{FF2B5EF4-FFF2-40B4-BE49-F238E27FC236}">
                <a16:creationId xmlns:a16="http://schemas.microsoft.com/office/drawing/2014/main" id="{C173CC02-835C-4F30-9259-D45D208328D8}"/>
              </a:ext>
            </a:extLst>
          </p:cNvPr>
          <p:cNvSpPr>
            <a:spLocks xmlns:a="http://schemas.openxmlformats.org/drawingml/2006/main" noGrp="1"/>
          </p:cNvSpPr>
          <p:nvPr/>
        </p:nvSpPr>
        <p:spPr>
          <a:xfrm xmlns:a="http://schemas.openxmlformats.org/drawingml/2006/main">
            <a:off x="571500" y="2066925"/>
            <a:ext cx="819150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72 − 4P = 8P − 12</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84 = 12P</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P₁ = € 7 per krukje</a:t>
            </a:r>
          </a:p>
        </p:txBody>
      </p:sp>
      <p:sp>
        <p:nvSpPr>
          <p:cNvPr id="6" name="Qᵥ = 72 − 4 × 7 = 44&#10;Qₐ,₁ = 8 × 7 − 12 = 44">
            <a:extLst xmlns:a="http://schemas.openxmlformats.org/drawingml/2006/main">
              <a:ext uri="{FF2B5EF4-FFF2-40B4-BE49-F238E27FC236}">
                <a16:creationId xmlns:a16="http://schemas.microsoft.com/office/drawing/2014/main" id="{0CD2955F-4EC9-429A-A935-CE93D6FD6AB8}"/>
              </a:ext>
            </a:extLst>
          </p:cNvPr>
          <p:cNvSpPr>
            <a:spLocks xmlns:a="http://schemas.openxmlformats.org/drawingml/2006/main" noGrp="1"/>
          </p:cNvSpPr>
          <p:nvPr/>
        </p:nvSpPr>
        <p:spPr>
          <a:xfrm xmlns:a="http://schemas.openxmlformats.org/drawingml/2006/main">
            <a:off x="571500" y="4657725"/>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Qᵥ = 72 − 4 × 7 = 44</a:t>
            </a:r>
          </a:p>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Qₐ,₁ = 8 × 7 − 12 = 44</a:t>
            </a:r>
          </a:p>
        </p:txBody>
      </p:sp>
      <p:sp>
        <p:nvSpPr>
          <p:cNvPr id="7" name="Q₁ = 44 krukjes per week">
            <a:extLst xmlns:a="http://schemas.openxmlformats.org/drawingml/2006/main">
              <a:ext uri="{FF2B5EF4-FFF2-40B4-BE49-F238E27FC236}">
                <a16:creationId xmlns:a16="http://schemas.microsoft.com/office/drawing/2014/main" id="{B88F57B1-5F2F-407D-BC0E-D25D2FB3F936}"/>
              </a:ext>
            </a:extLst>
          </p:cNvPr>
          <p:cNvSpPr>
            <a:spLocks xmlns:a="http://schemas.openxmlformats.org/drawingml/2006/main" noGrp="1"/>
          </p:cNvSpPr>
          <p:nvPr/>
        </p:nvSpPr>
        <p:spPr>
          <a:xfrm xmlns:a="http://schemas.openxmlformats.org/drawingml/2006/main">
            <a:off x="571500" y="65055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658A"/>
                </a:solidFill>
                <a:latin typeface="Arial"/>
                <a:ea typeface="Arial"/>
                <a:cs typeface="Arial"/>
              </a:defRPr>
            </a:pPr>
            <a:r>
              <a:rPr sz="3150" b="1">
                <a:solidFill>
                  <a:srgbClr val="17658A"/>
                </a:solidFill>
                <a:latin typeface="Arial"/>
                <a:ea typeface="Arial"/>
                <a:cs typeface="Arial"/>
              </a:rPr>
              <a:t>Q₁ = 44 krukjes per week</a:t>
            </a:r>
          </a:p>
        </p:txBody>
      </p:sp>
      <p:sp>
        <p:nvSpPr>
          <p:cNvPr id="8" name="De lagere prijs geeft een beweging langs V.">
            <a:extLst xmlns:a="http://schemas.openxmlformats.org/drawingml/2006/main">
              <a:ext uri="{FF2B5EF4-FFF2-40B4-BE49-F238E27FC236}">
                <a16:creationId xmlns:a16="http://schemas.microsoft.com/office/drawing/2014/main" id="{F2A02BE9-632C-440F-97B7-5F322C3E8424}"/>
              </a:ext>
            </a:extLst>
          </p:cNvPr>
          <p:cNvSpPr>
            <a:spLocks xmlns:a="http://schemas.openxmlformats.org/drawingml/2006/main" noGrp="1"/>
          </p:cNvSpPr>
          <p:nvPr/>
        </p:nvSpPr>
        <p:spPr>
          <a:xfrm xmlns:a="http://schemas.openxmlformats.org/drawingml/2006/main">
            <a:off x="571500" y="7334250"/>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0665B"/>
                </a:solidFill>
                <a:latin typeface="Arial"/>
                <a:ea typeface="Arial"/>
                <a:cs typeface="Arial"/>
              </a:defRPr>
            </a:pPr>
            <a:r>
              <a:rPr sz="2625" b="1">
                <a:solidFill>
                  <a:srgbClr val="20665B"/>
                </a:solidFill>
                <a:latin typeface="Arial"/>
                <a:ea typeface="Arial"/>
                <a:cs typeface="Arial"/>
              </a:rPr>
              <a:t>De lagere prijs geeft een beweging langs V.</a:t>
            </a:r>
          </a:p>
        </p:txBody>
      </p:sp>
    </p:spTree>
    <p:extLst>
      <p:ext uri="{BB962C8B-B14F-4D97-AF65-F5344CB8AC3E}">
        <p14:creationId xmlns:p14="http://schemas.microsoft.com/office/powerpoint/2010/main" val="8034873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4 Gemengde opgaven">
            <a:extLst xmlns:a="http://schemas.openxmlformats.org/drawingml/2006/main">
              <a:ext uri="{FF2B5EF4-FFF2-40B4-BE49-F238E27FC236}">
                <a16:creationId xmlns:a16="http://schemas.microsoft.com/office/drawing/2014/main" id="{E545632A-556B-41AF-90CA-A304D059AD5D}"/>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Deze les: §1.3.4 Gemengde opgaven</a:t>
            </a:r>
          </a:p>
        </p:txBody>
      </p:sp>
      <p:sp>
        <p:nvSpPr>
          <p:cNvPr id="2" name="">
            <a:extLst xmlns:a="http://schemas.openxmlformats.org/drawingml/2006/main">
              <a:ext uri="{FF2B5EF4-FFF2-40B4-BE49-F238E27FC236}">
                <a16:creationId xmlns:a16="http://schemas.microsoft.com/office/drawing/2014/main" id="{A5A1E628-64AA-48FA-A718-C59EC7CCA6D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7D10872-45A8-40D1-BF62-BC1A9763357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Boek 1, tweede editie 2026</a:t>
            </a:r>
          </a:p>
        </p:txBody>
      </p:sp>
      <p:sp>
        <p:nvSpPr>
          <p:cNvPr id="4" name="slide-number">
            <a:extLst xmlns:a="http://schemas.openxmlformats.org/drawingml/2006/main">
              <a:ext uri="{FF2B5EF4-FFF2-40B4-BE49-F238E27FC236}">
                <a16:creationId xmlns:a16="http://schemas.microsoft.com/office/drawing/2014/main" id="{B4547207-A9FE-4DB5-9FAD-4BA3510B2A4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phase">
            <a:extLst xmlns:a="http://schemas.openxmlformats.org/drawingml/2006/main">
              <a:ext uri="{FF2B5EF4-FFF2-40B4-BE49-F238E27FC236}">
                <a16:creationId xmlns:a16="http://schemas.microsoft.com/office/drawing/2014/main" id="{1E40B9AA-8C53-49D3-9836-9F8B0FEBCEF1}"/>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BAED404E-2001-4C28-B2C8-42E956FD9982}"/>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83F8D76-6278-4052-B32C-F339B69F33A1}"/>
              </a:ext>
            </a:extLst>
          </p:cNvPr>
          <p:cNvSpPr>
            <a:spLocks xmlns:a="http://schemas.openxmlformats.org/drawingml/2006/main" noGrp="1"/>
          </p:cNvSpPr>
          <p:nvPr/>
        </p:nvSpPr>
        <p:spPr>
          <a:xfrm xmlns:a="http://schemas.openxmlformats.org/drawingml/2006/main">
            <a:off x="571500" y="2324100"/>
            <a:ext cx="457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1C2B7617-E1D6-47B7-B15A-E397BAD9900E}"/>
              </a:ext>
            </a:extLst>
          </p:cNvPr>
          <p:cNvSpPr>
            <a:spLocks xmlns:a="http://schemas.openxmlformats.org/drawingml/2006/main" noGrp="1"/>
          </p:cNvSpPr>
          <p:nvPr/>
        </p:nvSpPr>
        <p:spPr>
          <a:xfrm xmlns:a="http://schemas.openxmlformats.org/drawingml/2006/main">
            <a:off x="1104900" y="2324100"/>
            <a:ext cx="7534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schrift, pen en rekenmachine.</a:t>
            </a:r>
          </a:p>
        </p:txBody>
      </p:sp>
      <p:sp>
        <p:nvSpPr>
          <p:cNvPr id="9" name="route-number-2">
            <a:extLst xmlns:a="http://schemas.openxmlformats.org/drawingml/2006/main">
              <a:ext uri="{FF2B5EF4-FFF2-40B4-BE49-F238E27FC236}">
                <a16:creationId xmlns:a16="http://schemas.microsoft.com/office/drawing/2014/main" id="{DB9132F4-7799-45D4-B1BA-CE09E6FCAA80}"/>
              </a:ext>
            </a:extLst>
          </p:cNvPr>
          <p:cNvSpPr>
            <a:spLocks xmlns:a="http://schemas.openxmlformats.org/drawingml/2006/main" noGrp="1"/>
          </p:cNvSpPr>
          <p:nvPr/>
        </p:nvSpPr>
        <p:spPr>
          <a:xfrm xmlns:a="http://schemas.openxmlformats.org/drawingml/2006/main">
            <a:off x="571500" y="3238500"/>
            <a:ext cx="457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30CF7126-1FC5-48B5-A09D-456D059D1C44}"/>
              </a:ext>
            </a:extLst>
          </p:cNvPr>
          <p:cNvSpPr>
            <a:spLocks xmlns:a="http://schemas.openxmlformats.org/drawingml/2006/main" noGrp="1"/>
          </p:cNvSpPr>
          <p:nvPr/>
        </p:nvSpPr>
        <p:spPr>
          <a:xfrm xmlns:a="http://schemas.openxmlformats.org/drawingml/2006/main">
            <a:off x="1104900" y="3238500"/>
            <a:ext cx="7534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8027B7D6-B72F-4669-8A56-D46F35859965}"/>
              </a:ext>
            </a:extLst>
          </p:cNvPr>
          <p:cNvSpPr>
            <a:spLocks xmlns:a="http://schemas.openxmlformats.org/drawingml/2006/main" noGrp="1"/>
          </p:cNvSpPr>
          <p:nvPr/>
        </p:nvSpPr>
        <p:spPr>
          <a:xfrm xmlns:a="http://schemas.openxmlformats.org/drawingml/2006/main">
            <a:off x="571500" y="38481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63552EF0-6021-4D9C-B1E5-6A92A89F8ADE}"/>
              </a:ext>
            </a:extLst>
          </p:cNvPr>
          <p:cNvSpPr>
            <a:spLocks xmlns:a="http://schemas.openxmlformats.org/drawingml/2006/main" noGrp="1"/>
          </p:cNvSpPr>
          <p:nvPr/>
        </p:nvSpPr>
        <p:spPr>
          <a:xfrm xmlns:a="http://schemas.openxmlformats.org/drawingml/2006/main">
            <a:off x="1104900" y="3848100"/>
            <a:ext cx="75342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61348753-EF04-405D-9E28-D38C4080B045}"/>
              </a:ext>
            </a:extLst>
          </p:cNvPr>
          <p:cNvSpPr>
            <a:spLocks xmlns:a="http://schemas.openxmlformats.org/drawingml/2006/main" noGrp="1"/>
          </p:cNvSpPr>
          <p:nvPr/>
        </p:nvSpPr>
        <p:spPr>
          <a:xfrm xmlns:a="http://schemas.openxmlformats.org/drawingml/2006/main">
            <a:off x="571500" y="4457700"/>
            <a:ext cx="457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DFFBCA69-314D-4FED-81CF-E4712D6BB94F}"/>
              </a:ext>
            </a:extLst>
          </p:cNvPr>
          <p:cNvSpPr>
            <a:spLocks xmlns:a="http://schemas.openxmlformats.org/drawingml/2006/main" noGrp="1"/>
          </p:cNvSpPr>
          <p:nvPr/>
        </p:nvSpPr>
        <p:spPr>
          <a:xfrm xmlns:a="http://schemas.openxmlformats.org/drawingml/2006/main">
            <a:off x="1104900" y="4457700"/>
            <a:ext cx="75342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Werk verder aan de gemengde opgaven,</a:t>
            </a:r>
          </a:p>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stel vragen en kijk je antwoorden na.</a:t>
            </a:r>
          </a:p>
        </p:txBody>
      </p:sp>
      <p:sp>
        <p:nvSpPr>
          <p:cNvPr id="15" name="route-number-5">
            <a:extLst xmlns:a="http://schemas.openxmlformats.org/drawingml/2006/main">
              <a:ext uri="{FF2B5EF4-FFF2-40B4-BE49-F238E27FC236}">
                <a16:creationId xmlns:a16="http://schemas.microsoft.com/office/drawing/2014/main" id="{088C685A-A1AE-4242-B0A3-6A0339ADC43A}"/>
              </a:ext>
            </a:extLst>
          </p:cNvPr>
          <p:cNvSpPr>
            <a:spLocks xmlns:a="http://schemas.openxmlformats.org/drawingml/2006/main" noGrp="1"/>
          </p:cNvSpPr>
          <p:nvPr/>
        </p:nvSpPr>
        <p:spPr>
          <a:xfrm xmlns:a="http://schemas.openxmlformats.org/drawingml/2006/main">
            <a:off x="571500" y="5791200"/>
            <a:ext cx="457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C596F49B-3CD6-4B3C-9774-CBD618A1AC9F}"/>
              </a:ext>
            </a:extLst>
          </p:cNvPr>
          <p:cNvSpPr>
            <a:spLocks xmlns:a="http://schemas.openxmlformats.org/drawingml/2006/main" noGrp="1"/>
          </p:cNvSpPr>
          <p:nvPr/>
        </p:nvSpPr>
        <p:spPr>
          <a:xfrm xmlns:a="http://schemas.openxmlformats.org/drawingml/2006/main">
            <a:off x="1104900" y="5791200"/>
            <a:ext cx="75342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77DE160C-165F-40CD-95A0-65A205384D33}"/>
              </a:ext>
            </a:extLst>
          </p:cNvPr>
          <p:cNvSpPr>
            <a:spLocks xmlns:a="http://schemas.openxmlformats.org/drawingml/2006/main" noGrp="1"/>
          </p:cNvSpPr>
          <p:nvPr/>
        </p:nvSpPr>
        <p:spPr>
          <a:xfrm xmlns:a="http://schemas.openxmlformats.org/drawingml/2006/main">
            <a:off x="571500" y="664845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786FFCD4-A8C9-494C-ACED-908FB83B4B51}"/>
              </a:ext>
            </a:extLst>
          </p:cNvPr>
          <p:cNvSpPr>
            <a:spLocks xmlns:a="http://schemas.openxmlformats.org/drawingml/2006/main" noGrp="1"/>
          </p:cNvSpPr>
          <p:nvPr/>
        </p:nvSpPr>
        <p:spPr>
          <a:xfrm xmlns:a="http://schemas.openxmlformats.org/drawingml/2006/main">
            <a:off x="1104900" y="6648450"/>
            <a:ext cx="7534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37.</a:t>
            </a:r>
          </a:p>
        </p:txBody>
      </p:sp>
      <p:sp>
        <p:nvSpPr>
          <p:cNvPr id="19" name="route-number-7">
            <a:extLst xmlns:a="http://schemas.openxmlformats.org/drawingml/2006/main">
              <a:ext uri="{FF2B5EF4-FFF2-40B4-BE49-F238E27FC236}">
                <a16:creationId xmlns:a16="http://schemas.microsoft.com/office/drawing/2014/main" id="{4738AF0B-D8DF-48DD-8911-8F178E83C8A8}"/>
              </a:ext>
            </a:extLst>
          </p:cNvPr>
          <p:cNvSpPr>
            <a:spLocks xmlns:a="http://schemas.openxmlformats.org/drawingml/2006/main" noGrp="1"/>
          </p:cNvSpPr>
          <p:nvPr/>
        </p:nvSpPr>
        <p:spPr>
          <a:xfrm xmlns:a="http://schemas.openxmlformats.org/drawingml/2006/main">
            <a:off x="571500" y="731520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8948B425-47E9-403D-85AF-54CE0E80A9A1}"/>
              </a:ext>
            </a:extLst>
          </p:cNvPr>
          <p:cNvSpPr>
            <a:spLocks xmlns:a="http://schemas.openxmlformats.org/drawingml/2006/main" noGrp="1"/>
          </p:cNvSpPr>
          <p:nvPr/>
        </p:nvSpPr>
        <p:spPr>
          <a:xfrm xmlns:a="http://schemas.openxmlformats.org/drawingml/2006/main">
            <a:off x="1104900" y="7315200"/>
            <a:ext cx="7534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E9CABC6E-484C-4D79-8D88-C991085C382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C44E57A1-097D-469F-9919-5565AFEE587A}"/>
              </a:ext>
            </a:extLst>
          </p:cNvPr>
          <p:cNvSpPr>
            <a:spLocks xmlns:a="http://schemas.openxmlformats.org/drawingml/2006/main" noGrp="1"/>
          </p:cNvSpPr>
          <p:nvPr/>
        </p:nvSpPr>
        <p:spPr>
          <a:xfrm xmlns:a="http://schemas.openxmlformats.org/drawingml/2006/main">
            <a:off x="9258300" y="2324100"/>
            <a:ext cx="5381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Bronnen kiezen. Evenwichten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berekenen 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Veranderingen onderbouwen.</a:t>
            </a:r>
          </a:p>
        </p:txBody>
      </p:sp>
      <p:sp>
        <p:nvSpPr>
          <p:cNvPr id="23" name="">
            <a:extLst xmlns:a="http://schemas.openxmlformats.org/drawingml/2006/main">
              <a:ext uri="{FF2B5EF4-FFF2-40B4-BE49-F238E27FC236}">
                <a16:creationId xmlns:a16="http://schemas.microsoft.com/office/drawing/2014/main" id="{D7D0683E-5454-4F4C-85BF-46BFD2538AF6}"/>
              </a:ext>
            </a:extLst>
          </p:cNvPr>
          <p:cNvSpPr>
            <a:spLocks xmlns:a="http://schemas.openxmlformats.org/drawingml/2006/main" noGrp="1"/>
          </p:cNvSpPr>
          <p:nvPr/>
        </p:nvSpPr>
        <p:spPr>
          <a:xfrm xmlns:a="http://schemas.openxmlformats.org/drawingml/2006/main">
            <a:off x="9258300" y="36195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AA18C626-5CC5-466D-8CF8-39323CDCBADF}"/>
              </a:ext>
            </a:extLst>
          </p:cNvPr>
          <p:cNvSpPr>
            <a:spLocks xmlns:a="http://schemas.openxmlformats.org/drawingml/2006/main" noGrp="1"/>
          </p:cNvSpPr>
          <p:nvPr/>
        </p:nvSpPr>
        <p:spPr>
          <a:xfrm xmlns:a="http://schemas.openxmlformats.org/drawingml/2006/main">
            <a:off x="9258300" y="3876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501A746A-E645-45FF-851F-3D3393C59E32}"/>
              </a:ext>
            </a:extLst>
          </p:cNvPr>
          <p:cNvSpPr>
            <a:spLocks xmlns:a="http://schemas.openxmlformats.org/drawingml/2006/main" noGrp="1"/>
          </p:cNvSpPr>
          <p:nvPr/>
        </p:nvSpPr>
        <p:spPr>
          <a:xfrm xmlns:a="http://schemas.openxmlformats.org/drawingml/2006/main">
            <a:off x="9258300" y="439102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118 · 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Bij twijfel: herneem p. 87–88</a:t>
            </a:r>
          </a:p>
        </p:txBody>
      </p:sp>
      <p:sp>
        <p:nvSpPr>
          <p:cNvPr id="26" name="">
            <a:extLst xmlns:a="http://schemas.openxmlformats.org/drawingml/2006/main">
              <a:ext uri="{FF2B5EF4-FFF2-40B4-BE49-F238E27FC236}">
                <a16:creationId xmlns:a16="http://schemas.microsoft.com/office/drawing/2014/main" id="{329A7A2E-4E50-409E-86EC-642A5294B1DC}"/>
              </a:ext>
            </a:extLst>
          </p:cNvPr>
          <p:cNvSpPr>
            <a:spLocks xmlns:a="http://schemas.openxmlformats.org/drawingml/2006/main" noGrp="1"/>
          </p:cNvSpPr>
          <p:nvPr/>
        </p:nvSpPr>
        <p:spPr>
          <a:xfrm xmlns:a="http://schemas.openxmlformats.org/drawingml/2006/main">
            <a:off x="9258300" y="54483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3F93782C-15D2-45D8-AD04-60D6ABC8302C}"/>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476AA074-63F4-43C4-BAB0-2F00B61EE908}"/>
              </a:ext>
            </a:extLst>
          </p:cNvPr>
          <p:cNvSpPr>
            <a:spLocks xmlns:a="http://schemas.openxmlformats.org/drawingml/2006/main" noGrp="1"/>
          </p:cNvSpPr>
          <p:nvPr/>
        </p:nvSpPr>
        <p:spPr>
          <a:xfrm xmlns:a="http://schemas.openxmlformats.org/drawingml/2006/main">
            <a:off x="9258300" y="6257925"/>
            <a:ext cx="538162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§1.3.4 · Opgaven 34–38</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Gemengd: 34–36 · Doel: 37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Terugblik: 38 · Geen bonus</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118–122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9097579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7: de linnen boodschappentas">
            <a:extLst xmlns:a="http://schemas.openxmlformats.org/drawingml/2006/main">
              <a:ext uri="{FF2B5EF4-FFF2-40B4-BE49-F238E27FC236}">
                <a16:creationId xmlns:a16="http://schemas.microsoft.com/office/drawing/2014/main" id="{E4C208B9-DCE0-4991-A813-F1292E270367}"/>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Opgave 37: de linnen boodschappentas</a:t>
            </a:r>
          </a:p>
        </p:txBody>
      </p:sp>
      <p:sp>
        <p:nvSpPr>
          <p:cNvPr id="2" name="">
            <a:extLst xmlns:a="http://schemas.openxmlformats.org/drawingml/2006/main">
              <a:ext uri="{FF2B5EF4-FFF2-40B4-BE49-F238E27FC236}">
                <a16:creationId xmlns:a16="http://schemas.microsoft.com/office/drawing/2014/main" id="{E8F05692-1D90-493C-8FA2-66150D45877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6722337-DE6E-4ED5-9FDB-7A9948C7AFB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6740F581-E3D6-4CC8-8349-4AF34E07FF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Bron A · De oorspronkelijke markt">
            <a:extLst xmlns:a="http://schemas.openxmlformats.org/drawingml/2006/main">
              <a:ext uri="{FF2B5EF4-FFF2-40B4-BE49-F238E27FC236}">
                <a16:creationId xmlns:a16="http://schemas.microsoft.com/office/drawing/2014/main" id="{D5E1BACD-D9D7-48B5-AC14-C56FA544A581}"/>
              </a:ext>
            </a:extLst>
          </p:cNvPr>
          <p:cNvSpPr>
            <a:spLocks xmlns:a="http://schemas.openxmlformats.org/drawingml/2006/main" noGrp="1"/>
          </p:cNvSpPr>
          <p:nvPr/>
        </p:nvSpPr>
        <p:spPr>
          <a:xfrm xmlns:a="http://schemas.openxmlformats.org/drawingml/2006/main">
            <a:off x="571500" y="18097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Bron A · De oorspronkelijke markt</a:t>
            </a:r>
          </a:p>
        </p:txBody>
      </p:sp>
      <p:sp>
        <p:nvSpPr>
          <p:cNvPr id="6" name="Eén soort linnen boodschappentas. Veel kleine kopers en verkopers">
            <a:extLst xmlns:a="http://schemas.openxmlformats.org/drawingml/2006/main">
              <a:ext uri="{FF2B5EF4-FFF2-40B4-BE49-F238E27FC236}">
                <a16:creationId xmlns:a16="http://schemas.microsoft.com/office/drawing/2014/main" id="{C81190A9-05DF-4055-BAB3-212FA3141232}"/>
              </a:ext>
            </a:extLst>
          </p:cNvPr>
          <p:cNvSpPr>
            <a:spLocks xmlns:a="http://schemas.openxmlformats.org/drawingml/2006/main" noGrp="1"/>
          </p:cNvSpPr>
          <p:nvPr/>
        </p:nvSpPr>
        <p:spPr>
          <a:xfrm xmlns:a="http://schemas.openxmlformats.org/drawingml/2006/main">
            <a:off x="571500" y="2781300"/>
            <a:ext cx="14097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Eén soort linnen boodschappentas. Veel kleine kopers en verkopers.</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prijs kan zich aanpassen.</a:t>
            </a:r>
          </a:p>
        </p:txBody>
      </p:sp>
      <p:sp>
        <p:nvSpPr>
          <p:cNvPr id="7" name="Qᵥ = 180 − 10P       (0 ≤ P ≤ 18)&#10;Qₐ,₀ = 10P − 20      (2 ≤ P ≤ 1">
            <a:extLst xmlns:a="http://schemas.openxmlformats.org/drawingml/2006/main">
              <a:ext uri="{FF2B5EF4-FFF2-40B4-BE49-F238E27FC236}">
                <a16:creationId xmlns:a16="http://schemas.microsoft.com/office/drawing/2014/main" id="{1D7B990B-AA36-4A3E-B59D-4D0B1A69963E}"/>
              </a:ext>
            </a:extLst>
          </p:cNvPr>
          <p:cNvSpPr>
            <a:spLocks xmlns:a="http://schemas.openxmlformats.org/drawingml/2006/main" noGrp="1"/>
          </p:cNvSpPr>
          <p:nvPr/>
        </p:nvSpPr>
        <p:spPr>
          <a:xfrm xmlns:a="http://schemas.openxmlformats.org/drawingml/2006/main">
            <a:off x="571500" y="4467225"/>
            <a:ext cx="14097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Qᵥ = 180 − 10P       (0 ≤ P ≤ 18)</a:t>
            </a:r>
          </a:p>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Qₐ,₀ = 10P − 20      (2 ≤ P ≤ 18)</a:t>
            </a:r>
          </a:p>
        </p:txBody>
      </p:sp>
      <p:sp>
        <p:nvSpPr>
          <p:cNvPr id="8" name="Q: tassen per week · P: euro per tas">
            <a:extLst xmlns:a="http://schemas.openxmlformats.org/drawingml/2006/main">
              <a:ext uri="{FF2B5EF4-FFF2-40B4-BE49-F238E27FC236}">
                <a16:creationId xmlns:a16="http://schemas.microsoft.com/office/drawing/2014/main" id="{373FD046-9E33-4F6B-9431-240D1E68A06E}"/>
              </a:ext>
            </a:extLst>
          </p:cNvPr>
          <p:cNvSpPr>
            <a:spLocks xmlns:a="http://schemas.openxmlformats.org/drawingml/2006/main" noGrp="1"/>
          </p:cNvSpPr>
          <p:nvPr/>
        </p:nvSpPr>
        <p:spPr>
          <a:xfrm xmlns:a="http://schemas.openxmlformats.org/drawingml/2006/main">
            <a:off x="571500" y="6381750"/>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Q: tassen per week · P: euro per tas</a:t>
            </a:r>
          </a:p>
        </p:txBody>
      </p:sp>
      <p:sp>
        <p:nvSpPr>
          <p:cNvPr id="9" name="Vier bronnen met lesmodelgegevens. Niet alle informatie is nodig.">
            <a:extLst xmlns:a="http://schemas.openxmlformats.org/drawingml/2006/main">
              <a:ext uri="{FF2B5EF4-FFF2-40B4-BE49-F238E27FC236}">
                <a16:creationId xmlns:a16="http://schemas.microsoft.com/office/drawing/2014/main" id="{2573AD42-CB2B-4BF1-9746-975080595325}"/>
              </a:ext>
            </a:extLst>
          </p:cNvPr>
          <p:cNvSpPr>
            <a:spLocks xmlns:a="http://schemas.openxmlformats.org/drawingml/2006/main" noGrp="1"/>
          </p:cNvSpPr>
          <p:nvPr/>
        </p:nvSpPr>
        <p:spPr>
          <a:xfrm xmlns:a="http://schemas.openxmlformats.org/drawingml/2006/main">
            <a:off x="571500" y="7410450"/>
            <a:ext cx="14097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45B6B"/>
                </a:solidFill>
                <a:latin typeface="Arial"/>
                <a:ea typeface="Arial"/>
                <a:cs typeface="Arial"/>
              </a:defRPr>
            </a:pPr>
            <a:r>
              <a:rPr sz="2250" b="0">
                <a:solidFill>
                  <a:srgbClr val="445B6B"/>
                </a:solidFill>
                <a:latin typeface="Arial"/>
                <a:ea typeface="Arial"/>
                <a:cs typeface="Arial"/>
              </a:rPr>
              <a:t>Vier bronnen met lesmodelgegevens. Niet alle informatie is nodig.</a:t>
            </a:r>
          </a:p>
        </p:txBody>
      </p:sp>
    </p:spTree>
    <p:extLst>
      <p:ext uri="{BB962C8B-B14F-4D97-AF65-F5344CB8AC3E}">
        <p14:creationId xmlns:p14="http://schemas.microsoft.com/office/powerpoint/2010/main" val="21443350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on B: linnen wordt duurder">
            <a:extLst xmlns:a="http://schemas.openxmlformats.org/drawingml/2006/main">
              <a:ext uri="{FF2B5EF4-FFF2-40B4-BE49-F238E27FC236}">
                <a16:creationId xmlns:a16="http://schemas.microsoft.com/office/drawing/2014/main" id="{9E6C7703-9CE5-423E-AF8B-D23AAE3836C1}"/>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Bron B: linnen wordt duurder</a:t>
            </a:r>
          </a:p>
        </p:txBody>
      </p:sp>
      <p:sp>
        <p:nvSpPr>
          <p:cNvPr id="2" name="">
            <a:extLst xmlns:a="http://schemas.openxmlformats.org/drawingml/2006/main">
              <a:ext uri="{FF2B5EF4-FFF2-40B4-BE49-F238E27FC236}">
                <a16:creationId xmlns:a16="http://schemas.microsoft.com/office/drawing/2014/main" id="{0F85B19F-218E-435C-AB1A-4ED4FCF5297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C17A914-250A-483A-A310-E12EE482095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50713ABF-1943-44DA-9DE9-8E2846376AC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Alleen de prijs van het linnen stijgt.">
            <a:extLst xmlns:a="http://schemas.openxmlformats.org/drawingml/2006/main">
              <a:ext uri="{FF2B5EF4-FFF2-40B4-BE49-F238E27FC236}">
                <a16:creationId xmlns:a16="http://schemas.microsoft.com/office/drawing/2014/main" id="{6A2F09FA-8580-45FF-8496-834773B3BC3E}"/>
              </a:ext>
            </a:extLst>
          </p:cNvPr>
          <p:cNvSpPr>
            <a:spLocks xmlns:a="http://schemas.openxmlformats.org/drawingml/2006/main" noGrp="1"/>
          </p:cNvSpPr>
          <p:nvPr/>
        </p:nvSpPr>
        <p:spPr>
          <a:xfrm xmlns:a="http://schemas.openxmlformats.org/drawingml/2006/main">
            <a:off x="571500" y="20002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Alleen de prijs van het linnen stijgt.</a:t>
            </a:r>
          </a:p>
        </p:txBody>
      </p:sp>
      <p:sp>
        <p:nvSpPr>
          <p:cNvPr id="6" name="De koopplannen van consumenten veranderen niet.">
            <a:extLst xmlns:a="http://schemas.openxmlformats.org/drawingml/2006/main">
              <a:ext uri="{FF2B5EF4-FFF2-40B4-BE49-F238E27FC236}">
                <a16:creationId xmlns:a16="http://schemas.microsoft.com/office/drawing/2014/main" id="{76937309-FAA9-4A13-AB3F-1DF32B94481B}"/>
              </a:ext>
            </a:extLst>
          </p:cNvPr>
          <p:cNvSpPr>
            <a:spLocks xmlns:a="http://schemas.openxmlformats.org/drawingml/2006/main" noGrp="1"/>
          </p:cNvSpPr>
          <p:nvPr/>
        </p:nvSpPr>
        <p:spPr>
          <a:xfrm xmlns:a="http://schemas.openxmlformats.org/drawingml/2006/main">
            <a:off x="571500" y="30384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koopplannen van consumenten veranderen niet.</a:t>
            </a:r>
          </a:p>
        </p:txBody>
      </p:sp>
      <p:sp>
        <p:nvSpPr>
          <p:cNvPr id="7" name="Voortaan geldt voor de aanbieders:">
            <a:extLst xmlns:a="http://schemas.openxmlformats.org/drawingml/2006/main">
              <a:ext uri="{FF2B5EF4-FFF2-40B4-BE49-F238E27FC236}">
                <a16:creationId xmlns:a16="http://schemas.microsoft.com/office/drawing/2014/main" id="{BD12ED13-DB38-4099-862C-93C0125737A4}"/>
              </a:ext>
            </a:extLst>
          </p:cNvPr>
          <p:cNvSpPr>
            <a:spLocks xmlns:a="http://schemas.openxmlformats.org/drawingml/2006/main" noGrp="1"/>
          </p:cNvSpPr>
          <p:nvPr/>
        </p:nvSpPr>
        <p:spPr>
          <a:xfrm xmlns:a="http://schemas.openxmlformats.org/drawingml/2006/main">
            <a:off x="571500" y="4276725"/>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Voortaan geldt voor de aanbieders:</a:t>
            </a:r>
          </a:p>
        </p:txBody>
      </p:sp>
      <p:sp>
        <p:nvSpPr>
          <p:cNvPr id="8" name="Qₐ,₁ = 10P − 60       (6 ≤ P ≤ 18)">
            <a:extLst xmlns:a="http://schemas.openxmlformats.org/drawingml/2006/main">
              <a:ext uri="{FF2B5EF4-FFF2-40B4-BE49-F238E27FC236}">
                <a16:creationId xmlns:a16="http://schemas.microsoft.com/office/drawing/2014/main" id="{E6652C60-36C3-453B-BD6E-069CD2F914FE}"/>
              </a:ext>
            </a:extLst>
          </p:cNvPr>
          <p:cNvSpPr>
            <a:spLocks xmlns:a="http://schemas.openxmlformats.org/drawingml/2006/main" noGrp="1"/>
          </p:cNvSpPr>
          <p:nvPr/>
        </p:nvSpPr>
        <p:spPr>
          <a:xfrm xmlns:a="http://schemas.openxmlformats.org/drawingml/2006/main">
            <a:off x="571500" y="521970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Qₐ,₁ = 10P − 60       (6 ≤ P ≤ 18)</a:t>
            </a:r>
          </a:p>
        </p:txBody>
      </p:sp>
      <p:sp>
        <p:nvSpPr>
          <p:cNvPr id="9" name="Deze nieuwe situatie begint vanuit bron A.&#10;Er is geen andere vraa">
            <a:extLst xmlns:a="http://schemas.openxmlformats.org/drawingml/2006/main">
              <a:ext uri="{FF2B5EF4-FFF2-40B4-BE49-F238E27FC236}">
                <a16:creationId xmlns:a16="http://schemas.microsoft.com/office/drawing/2014/main" id="{EBA3B938-6D04-4901-8BAB-0714C6C3D8BB}"/>
              </a:ext>
            </a:extLst>
          </p:cNvPr>
          <p:cNvSpPr>
            <a:spLocks xmlns:a="http://schemas.openxmlformats.org/drawingml/2006/main" noGrp="1"/>
          </p:cNvSpPr>
          <p:nvPr/>
        </p:nvSpPr>
        <p:spPr>
          <a:xfrm xmlns:a="http://schemas.openxmlformats.org/drawingml/2006/main">
            <a:off x="571500" y="6791325"/>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Deze nieuwe situatie begint vanuit bron A.</a:t>
            </a:r>
          </a:p>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Er is geen andere vraag- of aanbodverandering.</a:t>
            </a:r>
          </a:p>
        </p:txBody>
      </p:sp>
    </p:spTree>
    <p:extLst>
      <p:ext uri="{BB962C8B-B14F-4D97-AF65-F5344CB8AC3E}">
        <p14:creationId xmlns:p14="http://schemas.microsoft.com/office/powerpoint/2010/main" val="20496835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on C: een afzonderlijke prijsvergelijking">
            <a:extLst xmlns:a="http://schemas.openxmlformats.org/drawingml/2006/main">
              <a:ext uri="{FF2B5EF4-FFF2-40B4-BE49-F238E27FC236}">
                <a16:creationId xmlns:a16="http://schemas.microsoft.com/office/drawing/2014/main" id="{639C6965-402E-4248-ADBC-29D563AC60DD}"/>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Bron C: een afzonderlijke prijsvergelijking</a:t>
            </a:r>
          </a:p>
        </p:txBody>
      </p:sp>
      <p:sp>
        <p:nvSpPr>
          <p:cNvPr id="2" name="">
            <a:extLst xmlns:a="http://schemas.openxmlformats.org/drawingml/2006/main">
              <a:ext uri="{FF2B5EF4-FFF2-40B4-BE49-F238E27FC236}">
                <a16:creationId xmlns:a16="http://schemas.microsoft.com/office/drawing/2014/main" id="{9E8DE2AC-7186-43D6-945C-8DF2EDA43A1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181E5F5-7E49-4F6E-8B59-B66B505F08E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3598E351-36AD-46C5-BADB-189B4F177EF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Nieuwe situatie uit bron B · Verkoopprijs € 14">
            <a:extLst xmlns:a="http://schemas.openxmlformats.org/drawingml/2006/main">
              <a:ext uri="{FF2B5EF4-FFF2-40B4-BE49-F238E27FC236}">
                <a16:creationId xmlns:a16="http://schemas.microsoft.com/office/drawing/2014/main" id="{2C27B032-737F-45D1-8C3E-D9CBD291C5F0}"/>
              </a:ext>
            </a:extLst>
          </p:cNvPr>
          <p:cNvSpPr>
            <a:spLocks xmlns:a="http://schemas.openxmlformats.org/drawingml/2006/main" noGrp="1"/>
          </p:cNvSpPr>
          <p:nvPr/>
        </p:nvSpPr>
        <p:spPr>
          <a:xfrm xmlns:a="http://schemas.openxmlformats.org/drawingml/2006/main">
            <a:off x="571500" y="19907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Nieuwe situatie uit bron B · Verkoopprijs € 14</a:t>
            </a:r>
          </a:p>
        </p:txBody>
      </p:sp>
      <p:sp>
        <p:nvSpPr>
          <p:cNvPr id="6" name="Zolang deze prijs geldt, vindt iedere koper die volgens de&#10;vraagf">
            <a:extLst xmlns:a="http://schemas.openxmlformats.org/drawingml/2006/main">
              <a:ext uri="{FF2B5EF4-FFF2-40B4-BE49-F238E27FC236}">
                <a16:creationId xmlns:a16="http://schemas.microsoft.com/office/drawing/2014/main" id="{251F17C6-0749-49A5-B270-D81151AD183C}"/>
              </a:ext>
            </a:extLst>
          </p:cNvPr>
          <p:cNvSpPr>
            <a:spLocks xmlns:a="http://schemas.openxmlformats.org/drawingml/2006/main" noGrp="1"/>
          </p:cNvSpPr>
          <p:nvPr/>
        </p:nvSpPr>
        <p:spPr>
          <a:xfrm xmlns:a="http://schemas.openxmlformats.org/drawingml/2006/main">
            <a:off x="571500" y="332422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Zolang deze prijs geldt, vindt iedere koper die volgens de</a:t>
            </a:r>
          </a:p>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vraagfunctie wil kopen een verkoper.</a:t>
            </a:r>
          </a:p>
        </p:txBody>
      </p:sp>
      <p:sp>
        <p:nvSpPr>
          <p:cNvPr id="7" name="Er zijn geen andere belemmeringen.">
            <a:extLst xmlns:a="http://schemas.openxmlformats.org/drawingml/2006/main">
              <a:ext uri="{FF2B5EF4-FFF2-40B4-BE49-F238E27FC236}">
                <a16:creationId xmlns:a16="http://schemas.microsoft.com/office/drawing/2014/main" id="{9B30DDAF-3DA9-4909-A5EE-A9862E037F2E}"/>
              </a:ext>
            </a:extLst>
          </p:cNvPr>
          <p:cNvSpPr>
            <a:spLocks xmlns:a="http://schemas.openxmlformats.org/drawingml/2006/main" noGrp="1"/>
          </p:cNvSpPr>
          <p:nvPr/>
        </p:nvSpPr>
        <p:spPr>
          <a:xfrm xmlns:a="http://schemas.openxmlformats.org/drawingml/2006/main">
            <a:off x="571500" y="51530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Er zijn geen andere belemmeringen.</a:t>
            </a:r>
          </a:p>
        </p:txBody>
      </p:sp>
      <p:sp>
        <p:nvSpPr>
          <p:cNvPr id="8" name="Dit is een rekenvergelijking bij één prijs,&#10;geen wettelijke prijs">
            <a:extLst xmlns:a="http://schemas.openxmlformats.org/drawingml/2006/main">
              <a:ext uri="{FF2B5EF4-FFF2-40B4-BE49-F238E27FC236}">
                <a16:creationId xmlns:a16="http://schemas.microsoft.com/office/drawing/2014/main" id="{36A2752F-0935-4672-A2F6-3FB9B053421C}"/>
              </a:ext>
            </a:extLst>
          </p:cNvPr>
          <p:cNvSpPr>
            <a:spLocks xmlns:a="http://schemas.openxmlformats.org/drawingml/2006/main" noGrp="1"/>
          </p:cNvSpPr>
          <p:nvPr/>
        </p:nvSpPr>
        <p:spPr>
          <a:xfrm xmlns:a="http://schemas.openxmlformats.org/drawingml/2006/main">
            <a:off x="571500" y="66008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Dit is een rekenvergelijking bij één prijs,</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geen wettelijke prijsregel.</a:t>
            </a:r>
          </a:p>
        </p:txBody>
      </p:sp>
    </p:spTree>
    <p:extLst>
      <p:ext uri="{BB962C8B-B14F-4D97-AF65-F5344CB8AC3E}">
        <p14:creationId xmlns:p14="http://schemas.microsoft.com/office/powerpoint/2010/main" val="15411465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on D: een uitspraak">
            <a:extLst xmlns:a="http://schemas.openxmlformats.org/drawingml/2006/main">
              <a:ext uri="{FF2B5EF4-FFF2-40B4-BE49-F238E27FC236}">
                <a16:creationId xmlns:a16="http://schemas.microsoft.com/office/drawing/2014/main" id="{262108EA-9CB1-4496-B36A-6E2E2C0AD320}"/>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Bron D: een uitspraak</a:t>
            </a:r>
          </a:p>
        </p:txBody>
      </p:sp>
      <p:sp>
        <p:nvSpPr>
          <p:cNvPr id="2" name="">
            <a:extLst xmlns:a="http://schemas.openxmlformats.org/drawingml/2006/main">
              <a:ext uri="{FF2B5EF4-FFF2-40B4-BE49-F238E27FC236}">
                <a16:creationId xmlns:a16="http://schemas.microsoft.com/office/drawing/2014/main" id="{3A253571-C601-408D-9EB1-C22B23A0E96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9E7FEDE3-B957-4A08-9447-1874250B831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042DD344-EA5D-49D6-A02B-6D9ECFACA7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Een verkoper beweert:">
            <a:extLst xmlns:a="http://schemas.openxmlformats.org/drawingml/2006/main">
              <a:ext uri="{FF2B5EF4-FFF2-40B4-BE49-F238E27FC236}">
                <a16:creationId xmlns:a16="http://schemas.microsoft.com/office/drawing/2014/main" id="{71277AAD-262E-45D1-9932-D86AE461EAA3}"/>
              </a:ext>
            </a:extLst>
          </p:cNvPr>
          <p:cNvSpPr>
            <a:spLocks xmlns:a="http://schemas.openxmlformats.org/drawingml/2006/main" noGrp="1"/>
          </p:cNvSpPr>
          <p:nvPr/>
        </p:nvSpPr>
        <p:spPr>
          <a:xfrm xmlns:a="http://schemas.openxmlformats.org/drawingml/2006/main">
            <a:off x="571500" y="186690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Een verkoper beweert:</a:t>
            </a:r>
          </a:p>
        </p:txBody>
      </p:sp>
      <p:sp>
        <p:nvSpPr>
          <p:cNvPr id="6" name="“Door de hogere marktprijs is de vraaglijn naar links&#10;verschoven.">
            <a:extLst xmlns:a="http://schemas.openxmlformats.org/drawingml/2006/main">
              <a:ext uri="{FF2B5EF4-FFF2-40B4-BE49-F238E27FC236}">
                <a16:creationId xmlns:a16="http://schemas.microsoft.com/office/drawing/2014/main" id="{2DA06ED0-7E2F-4F77-A870-1F26288D96AB}"/>
              </a:ext>
            </a:extLst>
          </p:cNvPr>
          <p:cNvSpPr>
            <a:spLocks xmlns:a="http://schemas.openxmlformats.org/drawingml/2006/main" noGrp="1"/>
          </p:cNvSpPr>
          <p:nvPr/>
        </p:nvSpPr>
        <p:spPr>
          <a:xfrm xmlns:a="http://schemas.openxmlformats.org/drawingml/2006/main">
            <a:off x="571500" y="2800350"/>
            <a:ext cx="140970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“Door de hogere marktprijs is de vraaglijn naar links</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verschoven. Het nieuwe evenwicht laat bovendien</a:t>
            </a:r>
          </a:p>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zien dat iedereen tevreden is.”</a:t>
            </a:r>
          </a:p>
        </p:txBody>
      </p:sp>
      <p:sp>
        <p:nvSpPr>
          <p:cNvPr id="7" name="De vormgeving van de tassen kreeg in een enquête 4,6 uit 5 punten">
            <a:extLst xmlns:a="http://schemas.openxmlformats.org/drawingml/2006/main">
              <a:ext uri="{FF2B5EF4-FFF2-40B4-BE49-F238E27FC236}">
                <a16:creationId xmlns:a16="http://schemas.microsoft.com/office/drawing/2014/main" id="{CFCC97E6-82D0-4D77-AE11-B2B87AC5612B}"/>
              </a:ext>
            </a:extLst>
          </p:cNvPr>
          <p:cNvSpPr>
            <a:spLocks xmlns:a="http://schemas.openxmlformats.org/drawingml/2006/main" noGrp="1"/>
          </p:cNvSpPr>
          <p:nvPr/>
        </p:nvSpPr>
        <p:spPr>
          <a:xfrm xmlns:a="http://schemas.openxmlformats.org/drawingml/2006/main">
            <a:off x="571500" y="558165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vormgeving van de tassen kreeg in een enquête 4,6 uit 5 punten.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Die beoordeling veranderde niet.</a:t>
            </a:r>
          </a:p>
        </p:txBody>
      </p:sp>
      <p:sp>
        <p:nvSpPr>
          <p:cNvPr id="8" name="Schrijf bij elke berekening de situatie. Onderbouw conclusies met">
            <a:extLst xmlns:a="http://schemas.openxmlformats.org/drawingml/2006/main">
              <a:ext uri="{FF2B5EF4-FFF2-40B4-BE49-F238E27FC236}">
                <a16:creationId xmlns:a16="http://schemas.microsoft.com/office/drawing/2014/main" id="{B2919183-874F-4FD9-903E-F723E86463F2}"/>
              </a:ext>
            </a:extLst>
          </p:cNvPr>
          <p:cNvSpPr>
            <a:spLocks xmlns:a="http://schemas.openxmlformats.org/drawingml/2006/main" noGrp="1"/>
          </p:cNvSpPr>
          <p:nvPr/>
        </p:nvSpPr>
        <p:spPr>
          <a:xfrm xmlns:a="http://schemas.openxmlformats.org/drawingml/2006/main">
            <a:off x="571500" y="732472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Schrijf bij elke berekening de situatie. Onderbouw conclusies met de bron.</a:t>
            </a:r>
          </a:p>
        </p:txBody>
      </p:sp>
    </p:spTree>
    <p:extLst>
      <p:ext uri="{BB962C8B-B14F-4D97-AF65-F5344CB8AC3E}">
        <p14:creationId xmlns:p14="http://schemas.microsoft.com/office/powerpoint/2010/main" val="14395816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7: vragen a en b">
            <a:extLst xmlns:a="http://schemas.openxmlformats.org/drawingml/2006/main">
              <a:ext uri="{FF2B5EF4-FFF2-40B4-BE49-F238E27FC236}">
                <a16:creationId xmlns:a16="http://schemas.microsoft.com/office/drawing/2014/main" id="{D8E8DB68-3807-4794-BA7C-4BCD328BCCDC}"/>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Opgave 37: vragen a en b</a:t>
            </a:r>
          </a:p>
        </p:txBody>
      </p:sp>
      <p:sp>
        <p:nvSpPr>
          <p:cNvPr id="2" name="">
            <a:extLst xmlns:a="http://schemas.openxmlformats.org/drawingml/2006/main">
              <a:ext uri="{FF2B5EF4-FFF2-40B4-BE49-F238E27FC236}">
                <a16:creationId xmlns:a16="http://schemas.microsoft.com/office/drawing/2014/main" id="{E595057D-87C3-477F-8325-5A5079CA8CF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D9FF4B6-D336-4E7A-97DC-75FD0282A43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DFA9C7DC-786D-4B41-9499-E7B494BD8A3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Gebruik bronnen A–D · Tassen per week en euro per tas">
            <a:extLst xmlns:a="http://schemas.openxmlformats.org/drawingml/2006/main">
              <a:ext uri="{FF2B5EF4-FFF2-40B4-BE49-F238E27FC236}">
                <a16:creationId xmlns:a16="http://schemas.microsoft.com/office/drawing/2014/main" id="{3B9C6E7B-2F0D-42ED-BFA2-F30CE58D7678}"/>
              </a:ext>
            </a:extLst>
          </p:cNvPr>
          <p:cNvSpPr>
            <a:spLocks xmlns:a="http://schemas.openxmlformats.org/drawingml/2006/main" noGrp="1"/>
          </p:cNvSpPr>
          <p:nvPr/>
        </p:nvSpPr>
        <p:spPr>
          <a:xfrm xmlns:a="http://schemas.openxmlformats.org/drawingml/2006/main">
            <a:off x="571500" y="18002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Gebruik bronnen A–D · Tassen per week en euro per tas</a:t>
            </a:r>
          </a:p>
        </p:txBody>
      </p:sp>
      <p:sp>
        <p:nvSpPr>
          <p:cNvPr id="6" name="a)">
            <a:extLst xmlns:a="http://schemas.openxmlformats.org/drawingml/2006/main">
              <a:ext uri="{FF2B5EF4-FFF2-40B4-BE49-F238E27FC236}">
                <a16:creationId xmlns:a16="http://schemas.microsoft.com/office/drawing/2014/main" id="{0F61170A-A918-4A90-A70E-88DC02876DB3}"/>
              </a:ext>
            </a:extLst>
          </p:cNvPr>
          <p:cNvSpPr>
            <a:spLocks xmlns:a="http://schemas.openxmlformats.org/drawingml/2006/main" noGrp="1"/>
          </p:cNvSpPr>
          <p:nvPr/>
        </p:nvSpPr>
        <p:spPr>
          <a:xfrm xmlns:a="http://schemas.openxmlformats.org/drawingml/2006/main">
            <a:off x="571500" y="2771775"/>
            <a:ext cx="733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a)</a:t>
            </a:r>
          </a:p>
        </p:txBody>
      </p:sp>
      <p:sp>
        <p:nvSpPr>
          <p:cNvPr id="7" name="Bereken uit bron A de evenwichtsprijs en -hoeveelheid. Controleer">
            <a:extLst xmlns:a="http://schemas.openxmlformats.org/drawingml/2006/main">
              <a:ext uri="{FF2B5EF4-FFF2-40B4-BE49-F238E27FC236}">
                <a16:creationId xmlns:a16="http://schemas.microsoft.com/office/drawing/2014/main" id="{EC256445-AEC3-4824-B158-8ACE46E50EF6}"/>
              </a:ext>
            </a:extLst>
          </p:cNvPr>
          <p:cNvSpPr>
            <a:spLocks xmlns:a="http://schemas.openxmlformats.org/drawingml/2006/main" noGrp="1"/>
          </p:cNvSpPr>
          <p:nvPr/>
        </p:nvSpPr>
        <p:spPr>
          <a:xfrm xmlns:a="http://schemas.openxmlformats.org/drawingml/2006/main">
            <a:off x="1495425" y="2771775"/>
            <a:ext cx="1317307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uit bron A de evenwichtsprijs en -hoeveelheid. Controleer de</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hoeveelheid met beide functies.</a:t>
            </a:r>
          </a:p>
        </p:txBody>
      </p:sp>
      <p:sp>
        <p:nvSpPr>
          <p:cNvPr id="8" name="b)">
            <a:extLst xmlns:a="http://schemas.openxmlformats.org/drawingml/2006/main">
              <a:ext uri="{FF2B5EF4-FFF2-40B4-BE49-F238E27FC236}">
                <a16:creationId xmlns:a16="http://schemas.microsoft.com/office/drawing/2014/main" id="{CDD59EA2-BDE7-49B2-866D-F075A55C1A5B}"/>
              </a:ext>
            </a:extLst>
          </p:cNvPr>
          <p:cNvSpPr>
            <a:spLocks xmlns:a="http://schemas.openxmlformats.org/drawingml/2006/main" noGrp="1"/>
          </p:cNvSpPr>
          <p:nvPr/>
        </p:nvSpPr>
        <p:spPr>
          <a:xfrm xmlns:a="http://schemas.openxmlformats.org/drawingml/2006/main">
            <a:off x="571500" y="5124450"/>
            <a:ext cx="733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a:t>
            </a:r>
          </a:p>
        </p:txBody>
      </p:sp>
      <p:sp>
        <p:nvSpPr>
          <p:cNvPr id="9" name="Leg uit welke lijn door bron B verschuift en waarom. Bereken het ">
            <a:extLst xmlns:a="http://schemas.openxmlformats.org/drawingml/2006/main">
              <a:ext uri="{FF2B5EF4-FFF2-40B4-BE49-F238E27FC236}">
                <a16:creationId xmlns:a16="http://schemas.microsoft.com/office/drawing/2014/main" id="{44996E00-6AAD-4FB7-A6D8-D8D8CB13D93F}"/>
              </a:ext>
            </a:extLst>
          </p:cNvPr>
          <p:cNvSpPr>
            <a:spLocks xmlns:a="http://schemas.openxmlformats.org/drawingml/2006/main" noGrp="1"/>
          </p:cNvSpPr>
          <p:nvPr/>
        </p:nvSpPr>
        <p:spPr>
          <a:xfrm xmlns:a="http://schemas.openxmlformats.org/drawingml/2006/main">
            <a:off x="1495425" y="5124450"/>
            <a:ext cx="13173075"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Leg uit welke lijn door bron B verschuift en waarom. Bereken het nieuwe aanbod</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bij de oude evenwichtsprijs en vergelijk dit met de ongewijzigde vraag.</a:t>
            </a:r>
          </a:p>
        </p:txBody>
      </p:sp>
    </p:spTree>
    <p:extLst>
      <p:ext uri="{BB962C8B-B14F-4D97-AF65-F5344CB8AC3E}">
        <p14:creationId xmlns:p14="http://schemas.microsoft.com/office/powerpoint/2010/main" val="18140028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7: vragen c en d">
            <a:extLst xmlns:a="http://schemas.openxmlformats.org/drawingml/2006/main">
              <a:ext uri="{FF2B5EF4-FFF2-40B4-BE49-F238E27FC236}">
                <a16:creationId xmlns:a16="http://schemas.microsoft.com/office/drawing/2014/main" id="{DC1F70B5-2A04-4C02-BD91-E6AF6B7FFB23}"/>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Opgave 37: vragen c en d</a:t>
            </a:r>
          </a:p>
        </p:txBody>
      </p:sp>
      <p:sp>
        <p:nvSpPr>
          <p:cNvPr id="2" name="">
            <a:extLst xmlns:a="http://schemas.openxmlformats.org/drawingml/2006/main">
              <a:ext uri="{FF2B5EF4-FFF2-40B4-BE49-F238E27FC236}">
                <a16:creationId xmlns:a16="http://schemas.microsoft.com/office/drawing/2014/main" id="{4ED3815C-CB85-4F90-96D7-A16109356CB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D145BBFA-3C5B-4DCA-BF9A-81ADD562D15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A0625B4A-70A3-4BE9-9DFC-8208D4B8AA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Gebruik bronnen A–D · Tassen per week en euro per tas">
            <a:extLst xmlns:a="http://schemas.openxmlformats.org/drawingml/2006/main">
              <a:ext uri="{FF2B5EF4-FFF2-40B4-BE49-F238E27FC236}">
                <a16:creationId xmlns:a16="http://schemas.microsoft.com/office/drawing/2014/main" id="{4F9DF4BA-E314-46C9-8E52-C900A9F00CD9}"/>
              </a:ext>
            </a:extLst>
          </p:cNvPr>
          <p:cNvSpPr>
            <a:spLocks xmlns:a="http://schemas.openxmlformats.org/drawingml/2006/main" noGrp="1"/>
          </p:cNvSpPr>
          <p:nvPr/>
        </p:nvSpPr>
        <p:spPr>
          <a:xfrm xmlns:a="http://schemas.openxmlformats.org/drawingml/2006/main">
            <a:off x="571500" y="18002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Gebruik bronnen A–D · Tassen per week en euro per tas</a:t>
            </a:r>
          </a:p>
        </p:txBody>
      </p:sp>
      <p:sp>
        <p:nvSpPr>
          <p:cNvPr id="6" name="c)">
            <a:extLst xmlns:a="http://schemas.openxmlformats.org/drawingml/2006/main">
              <a:ext uri="{FF2B5EF4-FFF2-40B4-BE49-F238E27FC236}">
                <a16:creationId xmlns:a16="http://schemas.microsoft.com/office/drawing/2014/main" id="{00EA6B1A-2419-45D5-B28F-B6465C56E436}"/>
              </a:ext>
            </a:extLst>
          </p:cNvPr>
          <p:cNvSpPr>
            <a:spLocks xmlns:a="http://schemas.openxmlformats.org/drawingml/2006/main" noGrp="1"/>
          </p:cNvSpPr>
          <p:nvPr/>
        </p:nvSpPr>
        <p:spPr>
          <a:xfrm xmlns:a="http://schemas.openxmlformats.org/drawingml/2006/main">
            <a:off x="571500" y="2771775"/>
            <a:ext cx="733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c)</a:t>
            </a:r>
          </a:p>
        </p:txBody>
      </p:sp>
      <p:sp>
        <p:nvSpPr>
          <p:cNvPr id="7" name="Bereken het nieuwe evenwicht en controleer. Bereken de procentuel">
            <a:extLst xmlns:a="http://schemas.openxmlformats.org/drawingml/2006/main">
              <a:ext uri="{FF2B5EF4-FFF2-40B4-BE49-F238E27FC236}">
                <a16:creationId xmlns:a16="http://schemas.microsoft.com/office/drawing/2014/main" id="{BB894F66-200E-401C-80B7-444D216D8839}"/>
              </a:ext>
            </a:extLst>
          </p:cNvPr>
          <p:cNvSpPr>
            <a:spLocks xmlns:a="http://schemas.openxmlformats.org/drawingml/2006/main" noGrp="1"/>
          </p:cNvSpPr>
          <p:nvPr/>
        </p:nvSpPr>
        <p:spPr>
          <a:xfrm xmlns:a="http://schemas.openxmlformats.org/drawingml/2006/main">
            <a:off x="1495425" y="2771775"/>
            <a:ext cx="1317307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 het nieuwe evenwicht en controleer. Bereken de procentuele verandering</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van prijs én verhandelde hoeveelheid ten opzichte van bron A.</a:t>
            </a:r>
          </a:p>
        </p:txBody>
      </p:sp>
      <p:sp>
        <p:nvSpPr>
          <p:cNvPr id="8" name="d)">
            <a:extLst xmlns:a="http://schemas.openxmlformats.org/drawingml/2006/main">
              <a:ext uri="{FF2B5EF4-FFF2-40B4-BE49-F238E27FC236}">
                <a16:creationId xmlns:a16="http://schemas.microsoft.com/office/drawing/2014/main" id="{6CD0991E-842E-479B-B5B3-D2BD0819D062}"/>
              </a:ext>
            </a:extLst>
          </p:cNvPr>
          <p:cNvSpPr>
            <a:spLocks xmlns:a="http://schemas.openxmlformats.org/drawingml/2006/main" noGrp="1"/>
          </p:cNvSpPr>
          <p:nvPr/>
        </p:nvSpPr>
        <p:spPr>
          <a:xfrm xmlns:a="http://schemas.openxmlformats.org/drawingml/2006/main">
            <a:off x="571500" y="5124450"/>
            <a:ext cx="733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d)</a:t>
            </a:r>
          </a:p>
        </p:txBody>
      </p:sp>
      <p:sp>
        <p:nvSpPr>
          <p:cNvPr id="9" name="Teken zelf V, A₀ en A₁ in één marktgrafiek. Geef assen, eenheden ">
            <a:extLst xmlns:a="http://schemas.openxmlformats.org/drawingml/2006/main">
              <a:ext uri="{FF2B5EF4-FFF2-40B4-BE49-F238E27FC236}">
                <a16:creationId xmlns:a16="http://schemas.microsoft.com/office/drawing/2014/main" id="{CFA56C5C-AD56-44A5-8C6E-F09596DE396F}"/>
              </a:ext>
            </a:extLst>
          </p:cNvPr>
          <p:cNvSpPr>
            <a:spLocks xmlns:a="http://schemas.openxmlformats.org/drawingml/2006/main" noGrp="1"/>
          </p:cNvSpPr>
          <p:nvPr/>
        </p:nvSpPr>
        <p:spPr>
          <a:xfrm xmlns:a="http://schemas.openxmlformats.org/drawingml/2006/main">
            <a:off x="1495425" y="5124450"/>
            <a:ext cx="13173075"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Teken zelf V, A₀ en A₁ in één marktgrafiek. Geef assen, eenheden en schaal.</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Markeer E₀ en E₁ met coördinaten en hulplijnen. Laat ook een verschuiving bij</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de oude prijs en de beweging langs de ongewijzigde lijn zien.</a:t>
            </a:r>
          </a:p>
        </p:txBody>
      </p:sp>
    </p:spTree>
    <p:extLst>
      <p:ext uri="{BB962C8B-B14F-4D97-AF65-F5344CB8AC3E}">
        <p14:creationId xmlns:p14="http://schemas.microsoft.com/office/powerpoint/2010/main" val="12847858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37: vragen e en f">
            <a:extLst xmlns:a="http://schemas.openxmlformats.org/drawingml/2006/main">
              <a:ext uri="{FF2B5EF4-FFF2-40B4-BE49-F238E27FC236}">
                <a16:creationId xmlns:a16="http://schemas.microsoft.com/office/drawing/2014/main" id="{F391B932-8071-4D27-8108-828965B32EDE}"/>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Opgave 37: vragen e en f</a:t>
            </a:r>
          </a:p>
        </p:txBody>
      </p:sp>
      <p:sp>
        <p:nvSpPr>
          <p:cNvPr id="2" name="">
            <a:extLst xmlns:a="http://schemas.openxmlformats.org/drawingml/2006/main">
              <a:ext uri="{FF2B5EF4-FFF2-40B4-BE49-F238E27FC236}">
                <a16:creationId xmlns:a16="http://schemas.microsoft.com/office/drawing/2014/main" id="{22E7711E-F177-425C-8584-2043268829A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9ECD456-8CF2-4EC1-A4F1-83E32ACCD7B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653343DD-6954-4765-9BA8-143B8E7C8C1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Gebruik bronnen A–D · Tassen per week en euro per tas">
            <a:extLst xmlns:a="http://schemas.openxmlformats.org/drawingml/2006/main">
              <a:ext uri="{FF2B5EF4-FFF2-40B4-BE49-F238E27FC236}">
                <a16:creationId xmlns:a16="http://schemas.microsoft.com/office/drawing/2014/main" id="{4D453199-E9A5-4B75-AF59-4C2350F04BE4}"/>
              </a:ext>
            </a:extLst>
          </p:cNvPr>
          <p:cNvSpPr>
            <a:spLocks xmlns:a="http://schemas.openxmlformats.org/drawingml/2006/main" noGrp="1"/>
          </p:cNvSpPr>
          <p:nvPr/>
        </p:nvSpPr>
        <p:spPr>
          <a:xfrm xmlns:a="http://schemas.openxmlformats.org/drawingml/2006/main">
            <a:off x="571500" y="1800225"/>
            <a:ext cx="1409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658A"/>
                </a:solidFill>
                <a:latin typeface="Arial"/>
                <a:ea typeface="Arial"/>
                <a:cs typeface="Arial"/>
              </a:defRPr>
            </a:pPr>
            <a:r>
              <a:rPr sz="2475" b="1">
                <a:solidFill>
                  <a:srgbClr val="17658A"/>
                </a:solidFill>
                <a:latin typeface="Arial"/>
                <a:ea typeface="Arial"/>
                <a:cs typeface="Arial"/>
              </a:rPr>
              <a:t>Gebruik bronnen A–D · Tassen per week en euro per tas</a:t>
            </a:r>
          </a:p>
        </p:txBody>
      </p:sp>
      <p:sp>
        <p:nvSpPr>
          <p:cNvPr id="6" name="e)">
            <a:extLst xmlns:a="http://schemas.openxmlformats.org/drawingml/2006/main">
              <a:ext uri="{FF2B5EF4-FFF2-40B4-BE49-F238E27FC236}">
                <a16:creationId xmlns:a16="http://schemas.microsoft.com/office/drawing/2014/main" id="{6B171663-0427-4E72-8BBF-60543CB10B73}"/>
              </a:ext>
            </a:extLst>
          </p:cNvPr>
          <p:cNvSpPr>
            <a:spLocks xmlns:a="http://schemas.openxmlformats.org/drawingml/2006/main" noGrp="1"/>
          </p:cNvSpPr>
          <p:nvPr/>
        </p:nvSpPr>
        <p:spPr>
          <a:xfrm xmlns:a="http://schemas.openxmlformats.org/drawingml/2006/main">
            <a:off x="571500" y="2771775"/>
            <a:ext cx="733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a:t>
            </a:r>
          </a:p>
        </p:txBody>
      </p:sp>
      <p:sp>
        <p:nvSpPr>
          <p:cNvPr id="7" name="Gebruik nu uitsluitend de situatie van bron C. Bereken de vraag, ">
            <a:extLst xmlns:a="http://schemas.openxmlformats.org/drawingml/2006/main">
              <a:ext uri="{FF2B5EF4-FFF2-40B4-BE49-F238E27FC236}">
                <a16:creationId xmlns:a16="http://schemas.microsoft.com/office/drawing/2014/main" id="{9DB3ABEB-5E3A-464D-8659-39D23E99027F}"/>
              </a:ext>
            </a:extLst>
          </p:cNvPr>
          <p:cNvSpPr>
            <a:spLocks xmlns:a="http://schemas.openxmlformats.org/drawingml/2006/main" noGrp="1"/>
          </p:cNvSpPr>
          <p:nvPr/>
        </p:nvSpPr>
        <p:spPr>
          <a:xfrm xmlns:a="http://schemas.openxmlformats.org/drawingml/2006/main">
            <a:off x="1495425" y="2771775"/>
            <a:ext cx="1317307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Gebruik nu uitsluitend de situatie van bron C. Bereken de vraag, het nieuwe</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aanbod, het type en de omvang van het overschot en de werkelijke verkoop</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volgens de gegeven afspraak.</a:t>
            </a:r>
          </a:p>
        </p:txBody>
      </p:sp>
      <p:sp>
        <p:nvSpPr>
          <p:cNvPr id="8" name="f)">
            <a:extLst xmlns:a="http://schemas.openxmlformats.org/drawingml/2006/main">
              <a:ext uri="{FF2B5EF4-FFF2-40B4-BE49-F238E27FC236}">
                <a16:creationId xmlns:a16="http://schemas.microsoft.com/office/drawing/2014/main" id="{DC3F95FB-55ED-4BB7-85E2-4E2495D8AF77}"/>
              </a:ext>
            </a:extLst>
          </p:cNvPr>
          <p:cNvSpPr>
            <a:spLocks xmlns:a="http://schemas.openxmlformats.org/drawingml/2006/main" noGrp="1"/>
          </p:cNvSpPr>
          <p:nvPr/>
        </p:nvSpPr>
        <p:spPr>
          <a:xfrm xmlns:a="http://schemas.openxmlformats.org/drawingml/2006/main">
            <a:off x="571500" y="5124450"/>
            <a:ext cx="733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f)</a:t>
            </a:r>
          </a:p>
        </p:txBody>
      </p:sp>
      <p:sp>
        <p:nvSpPr>
          <p:cNvPr id="9" name="Beoordeel beide delen van de uitspraak in bron D. Gebruik je bere">
            <a:extLst xmlns:a="http://schemas.openxmlformats.org/drawingml/2006/main">
              <a:ext uri="{FF2B5EF4-FFF2-40B4-BE49-F238E27FC236}">
                <a16:creationId xmlns:a16="http://schemas.microsoft.com/office/drawing/2014/main" id="{DA9E07EF-A7AB-4E0C-9069-3851AC8418FF}"/>
              </a:ext>
            </a:extLst>
          </p:cNvPr>
          <p:cNvSpPr>
            <a:spLocks xmlns:a="http://schemas.openxmlformats.org/drawingml/2006/main" noGrp="1"/>
          </p:cNvSpPr>
          <p:nvPr/>
        </p:nvSpPr>
        <p:spPr>
          <a:xfrm xmlns:a="http://schemas.openxmlformats.org/drawingml/2006/main">
            <a:off x="1495425" y="5124450"/>
            <a:ext cx="13173075"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Beoordeel beide delen van de uitspraak in bron D. Gebruik je berekening en het</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model. Noem ook één gegeven uit bron D dat niet nodig was om de evenwichten te</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berekenen.</a:t>
            </a:r>
          </a:p>
        </p:txBody>
      </p:sp>
    </p:spTree>
    <p:extLst>
      <p:ext uri="{BB962C8B-B14F-4D97-AF65-F5344CB8AC3E}">
        <p14:creationId xmlns:p14="http://schemas.microsoft.com/office/powerpoint/2010/main" val="7172193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37a: het oorspronkelijke evenwicht">
            <a:extLst xmlns:a="http://schemas.openxmlformats.org/drawingml/2006/main">
              <a:ext uri="{FF2B5EF4-FFF2-40B4-BE49-F238E27FC236}">
                <a16:creationId xmlns:a16="http://schemas.microsoft.com/office/drawing/2014/main" id="{7CB14D33-D011-40C3-8B4C-9274FE7CBA92}"/>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37a: het oorspronkelijke evenwicht</a:t>
            </a:r>
          </a:p>
        </p:txBody>
      </p:sp>
      <p:sp>
        <p:nvSpPr>
          <p:cNvPr id="2" name="">
            <a:extLst xmlns:a="http://schemas.openxmlformats.org/drawingml/2006/main">
              <a:ext uri="{FF2B5EF4-FFF2-40B4-BE49-F238E27FC236}">
                <a16:creationId xmlns:a16="http://schemas.microsoft.com/office/drawing/2014/main" id="{25B75BE6-A83E-447E-AE10-39E8D0859CD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AD446E2-5887-454D-9FB7-DD757B74B16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9715AC6E-0AFD-4F57-AEA5-82B4C2CACF2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Bron A · Qᵥ = Qₐ,₀">
            <a:extLst xmlns:a="http://schemas.openxmlformats.org/drawingml/2006/main">
              <a:ext uri="{FF2B5EF4-FFF2-40B4-BE49-F238E27FC236}">
                <a16:creationId xmlns:a16="http://schemas.microsoft.com/office/drawing/2014/main" id="{07D2F1F1-F5D3-486A-828E-9E7FD7E146EF}"/>
              </a:ext>
            </a:extLst>
          </p:cNvPr>
          <p:cNvSpPr>
            <a:spLocks xmlns:a="http://schemas.openxmlformats.org/drawingml/2006/main" noGrp="1"/>
          </p:cNvSpPr>
          <p:nvPr/>
        </p:nvSpPr>
        <p:spPr>
          <a:xfrm xmlns:a="http://schemas.openxmlformats.org/drawingml/2006/main">
            <a:off x="571500" y="18097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Bron A · Qᵥ = Qₐ,₀</a:t>
            </a:r>
          </a:p>
        </p:txBody>
      </p:sp>
      <p:sp>
        <p:nvSpPr>
          <p:cNvPr id="6" name="180 − 10P = 10P − 20&#10;180 = 20P − 20&#10;200 = 20P&#10;P₀ = € 10 per tas">
            <a:extLst xmlns:a="http://schemas.openxmlformats.org/drawingml/2006/main">
              <a:ext uri="{FF2B5EF4-FFF2-40B4-BE49-F238E27FC236}">
                <a16:creationId xmlns:a16="http://schemas.microsoft.com/office/drawing/2014/main" id="{4414E1F8-98A2-4019-88F6-A3D14D13BFC5}"/>
              </a:ext>
            </a:extLst>
          </p:cNvPr>
          <p:cNvSpPr>
            <a:spLocks xmlns:a="http://schemas.openxmlformats.org/drawingml/2006/main" noGrp="1"/>
          </p:cNvSpPr>
          <p:nvPr/>
        </p:nvSpPr>
        <p:spPr>
          <a:xfrm xmlns:a="http://schemas.openxmlformats.org/drawingml/2006/main">
            <a:off x="571500" y="2781300"/>
            <a:ext cx="790575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180 − 10P = 10P − 20</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180 = 20P − 20</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200 = 20P</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P₀ = € 10 per tas</a:t>
            </a:r>
          </a:p>
        </p:txBody>
      </p:sp>
      <p:sp>
        <p:nvSpPr>
          <p:cNvPr id="7" name="+10P aan beide kanten&#10;+20 aan beide kanten&#10;Delen door 20">
            <a:extLst xmlns:a="http://schemas.openxmlformats.org/drawingml/2006/main">
              <a:ext uri="{FF2B5EF4-FFF2-40B4-BE49-F238E27FC236}">
                <a16:creationId xmlns:a16="http://schemas.microsoft.com/office/drawing/2014/main" id="{B517C0D7-32BB-4A8F-962D-E4E2B626F60B}"/>
              </a:ext>
            </a:extLst>
          </p:cNvPr>
          <p:cNvSpPr>
            <a:spLocks xmlns:a="http://schemas.openxmlformats.org/drawingml/2006/main" noGrp="1"/>
          </p:cNvSpPr>
          <p:nvPr/>
        </p:nvSpPr>
        <p:spPr>
          <a:xfrm xmlns:a="http://schemas.openxmlformats.org/drawingml/2006/main">
            <a:off x="9525000" y="3324225"/>
            <a:ext cx="49530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445B6B"/>
                </a:solidFill>
                <a:latin typeface="Arial"/>
                <a:ea typeface="Arial"/>
                <a:cs typeface="Arial"/>
              </a:defRPr>
            </a:pPr>
            <a:r>
              <a:rPr sz="2400" b="0">
                <a:solidFill>
                  <a:srgbClr val="445B6B"/>
                </a:solidFill>
                <a:latin typeface="Arial"/>
                <a:ea typeface="Arial"/>
                <a:cs typeface="Arial"/>
              </a:rPr>
              <a:t>+10P aan beide kanten</a:t>
            </a:r>
          </a:p>
          <a:p xmlns:a="http://schemas.openxmlformats.org/drawingml/2006/main">
            <a:pPr algn="l">
              <a:defRPr sz="2400" b="0">
                <a:solidFill>
                  <a:srgbClr val="445B6B"/>
                </a:solidFill>
                <a:latin typeface="Arial"/>
                <a:ea typeface="Arial"/>
                <a:cs typeface="Arial"/>
              </a:defRPr>
            </a:pPr>
            <a:r>
              <a:rPr sz="2400" b="0">
                <a:solidFill>
                  <a:srgbClr val="445B6B"/>
                </a:solidFill>
                <a:latin typeface="Arial"/>
                <a:ea typeface="Arial"/>
                <a:cs typeface="Arial"/>
              </a:rPr>
              <a:t>+20 aan beide kanten</a:t>
            </a:r>
          </a:p>
          <a:p xmlns:a="http://schemas.openxmlformats.org/drawingml/2006/main">
            <a:pPr algn="l">
              <a:defRPr sz="2400" b="0">
                <a:solidFill>
                  <a:srgbClr val="445B6B"/>
                </a:solidFill>
                <a:latin typeface="Arial"/>
                <a:ea typeface="Arial"/>
                <a:cs typeface="Arial"/>
              </a:defRPr>
            </a:pPr>
            <a:r>
              <a:rPr sz="2400" b="0">
                <a:solidFill>
                  <a:srgbClr val="445B6B"/>
                </a:solidFill>
                <a:latin typeface="Arial"/>
                <a:ea typeface="Arial"/>
                <a:cs typeface="Arial"/>
              </a:rPr>
              <a:t>Delen door 20</a:t>
            </a:r>
          </a:p>
        </p:txBody>
      </p:sp>
      <p:sp>
        <p:nvSpPr>
          <p:cNvPr id="8" name="Qᵥ = 180 − 10 × 10 = 80&#10;Qₐ,₀ = 10 × 10 − 20 = 80">
            <a:extLst xmlns:a="http://schemas.openxmlformats.org/drawingml/2006/main">
              <a:ext uri="{FF2B5EF4-FFF2-40B4-BE49-F238E27FC236}">
                <a16:creationId xmlns:a16="http://schemas.microsoft.com/office/drawing/2014/main" id="{CFA04F75-60DC-4F85-A015-E67959DB69AB}"/>
              </a:ext>
            </a:extLst>
          </p:cNvPr>
          <p:cNvSpPr>
            <a:spLocks xmlns:a="http://schemas.openxmlformats.org/drawingml/2006/main" noGrp="1"/>
          </p:cNvSpPr>
          <p:nvPr/>
        </p:nvSpPr>
        <p:spPr>
          <a:xfrm xmlns:a="http://schemas.openxmlformats.org/drawingml/2006/main">
            <a:off x="571500" y="6010275"/>
            <a:ext cx="14097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Qᵥ = 180 − 10 × 10 = 80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Qₐ,₀ = 10 × 10 − 20 = 80</a:t>
            </a:r>
          </a:p>
        </p:txBody>
      </p:sp>
      <p:sp>
        <p:nvSpPr>
          <p:cNvPr id="9" name="Q₀ = 80 tassen per week · Beide plannen passen bij € 10.">
            <a:extLst xmlns:a="http://schemas.openxmlformats.org/drawingml/2006/main">
              <a:ext uri="{FF2B5EF4-FFF2-40B4-BE49-F238E27FC236}">
                <a16:creationId xmlns:a16="http://schemas.microsoft.com/office/drawing/2014/main" id="{7D47D6D5-E29E-4F07-834C-66A07E89679E}"/>
              </a:ext>
            </a:extLst>
          </p:cNvPr>
          <p:cNvSpPr>
            <a:spLocks xmlns:a="http://schemas.openxmlformats.org/drawingml/2006/main" noGrp="1"/>
          </p:cNvSpPr>
          <p:nvPr/>
        </p:nvSpPr>
        <p:spPr>
          <a:xfrm xmlns:a="http://schemas.openxmlformats.org/drawingml/2006/main">
            <a:off x="571500" y="7429500"/>
            <a:ext cx="1409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Q₀ = 80 tassen per week · Beide plannen passen bij € 10.</a:t>
            </a:r>
          </a:p>
        </p:txBody>
      </p:sp>
    </p:spTree>
    <p:extLst>
      <p:ext uri="{BB962C8B-B14F-4D97-AF65-F5344CB8AC3E}">
        <p14:creationId xmlns:p14="http://schemas.microsoft.com/office/powerpoint/2010/main" val="18053181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7b: duurdere linnenproductie">
            <a:extLst xmlns:a="http://schemas.openxmlformats.org/drawingml/2006/main">
              <a:ext uri="{FF2B5EF4-FFF2-40B4-BE49-F238E27FC236}">
                <a16:creationId xmlns:a16="http://schemas.microsoft.com/office/drawing/2014/main" id="{BFEADF2D-CEBC-4ADB-B0A5-A069BD4A32A8}"/>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37b: duurdere linnenproductie</a:t>
            </a:r>
          </a:p>
        </p:txBody>
      </p:sp>
      <p:sp>
        <p:nvSpPr>
          <p:cNvPr id="2" name="">
            <a:extLst xmlns:a="http://schemas.openxmlformats.org/drawingml/2006/main">
              <a:ext uri="{FF2B5EF4-FFF2-40B4-BE49-F238E27FC236}">
                <a16:creationId xmlns:a16="http://schemas.microsoft.com/office/drawing/2014/main" id="{D2E1132A-E06A-47A0-A4CB-9277CE0924C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19FB5BAB-60E4-4445-A4DF-F637B174A10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43C8AFA3-18CC-43B9-9A2A-587F0162B75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A verschuift naar links: minder aanbod bij dezelfde prijs.">
            <a:extLst xmlns:a="http://schemas.openxmlformats.org/drawingml/2006/main">
              <a:ext uri="{FF2B5EF4-FFF2-40B4-BE49-F238E27FC236}">
                <a16:creationId xmlns:a16="http://schemas.microsoft.com/office/drawing/2014/main" id="{D9FEF3E2-AFE9-408F-BA12-E38DF090EE99}"/>
              </a:ext>
            </a:extLst>
          </p:cNvPr>
          <p:cNvSpPr>
            <a:spLocks xmlns:a="http://schemas.openxmlformats.org/drawingml/2006/main" noGrp="1"/>
          </p:cNvSpPr>
          <p:nvPr/>
        </p:nvSpPr>
        <p:spPr>
          <a:xfrm xmlns:a="http://schemas.openxmlformats.org/drawingml/2006/main">
            <a:off x="571500" y="1943100"/>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A verschuift naar links: minder aanbod bij dezelfde prijs.</a:t>
            </a:r>
          </a:p>
        </p:txBody>
      </p:sp>
      <p:graphicFrame>
        <p:nvGraphicFramePr>
          <p:cNvPr id="13" name=""/>
          <p:cNvGraphicFramePr/>
          <p:nvPr/>
        </p:nvGraphicFramePr>
        <p:xfrm>
          <a:off xmlns:a="http://schemas.openxmlformats.org/drawingml/2006/main" x="571500" y="3514725"/>
          <a:ext xmlns:a="http://schemas.openxmlformats.org/drawingml/2006/main" cx="14097000" cy="2790825"/>
        </p:xfrm>
        <a:graphic xmlns:a="http://schemas.openxmlformats.org/drawingml/2006/main">
          <a:graphicData uri="http://schemas.openxmlformats.org/drawingml/2006/table">
            <a:tbl>
              <a:tblPr/>
              <a:tblGrid>
                <a:gridCol w="5381625"/>
                <a:gridCol w="4572000"/>
                <a:gridCol w="4143375"/>
              </a:tblGrid>
              <a:tr h="930275">
                <a:tc>
                  <a:txBody>
                    <a:bodyPr lIns="171450" tIns="95250" rIns="152400" bIns="95250"/>
                    <a:lstStyle/>
                    <a:p>
                      <a:r>
                        <a:rPr sz="2550" b="1">
                          <a:solidFill>
                            <a:srgbClr val="FFFFFF"/>
                          </a:solidFill>
                          <a:latin typeface="Arial"/>
                          <a:ea typeface="Arial"/>
                          <a:cs typeface="Arial"/>
                        </a:rPr>
                        <a:t>Bij de oude P = € 10</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Tassen per week</a:t>
                      </a:r>
                    </a:p>
                  </a:txBody>
                  <a:tcPr marL="91440" marR="91440" marT="45720" marB="45720" anchor="ctr">
                    <a:solidFill>
                      <a:srgbClr val="183247"/>
                    </a:solidFill>
                  </a:tcPr>
                </a:tc>
              </a:tr>
              <a:tr h="930275">
                <a:tc>
                  <a:txBody>
                    <a:bodyPr lIns="171450" tIns="95250" rIns="152400" bIns="95250"/>
                    <a:lstStyle/>
                    <a:p>
                      <a:r>
                        <a:rPr sz="2550" b="0">
                          <a:solidFill>
                            <a:srgbClr val="183247"/>
                          </a:solidFill>
                          <a:latin typeface="Arial"/>
                          <a:ea typeface="Arial"/>
                          <a:cs typeface="Arial"/>
                        </a:rPr>
                        <a:t>Nieuw aanbod, bron B</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 × 10 − 60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40</a:t>
                      </a:r>
                    </a:p>
                  </a:txBody>
                  <a:tcPr marL="91440" marR="91440" marT="45720" marB="45720" anchor="ctr">
                    <a:solidFill>
                      <a:srgbClr val="FFFFFF"/>
                    </a:solidFill>
                  </a:tcPr>
                </a:tc>
              </a:tr>
              <a:tr h="930275">
                <a:tc>
                  <a:txBody>
                    <a:bodyPr lIns="171450" tIns="95250" rIns="152400" bIns="95250"/>
                    <a:lstStyle/>
                    <a:p>
                      <a:r>
                        <a:rPr sz="2550" b="0">
                          <a:solidFill>
                            <a:srgbClr val="183247"/>
                          </a:solidFill>
                          <a:latin typeface="Arial"/>
                          <a:ea typeface="Arial"/>
                          <a:cs typeface="Arial"/>
                        </a:rPr>
                        <a:t>Vraag blijft gelijk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180 − 10 × 10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80</a:t>
                      </a:r>
                    </a:p>
                  </a:txBody>
                  <a:tcPr marL="91440" marR="91440" marT="45720" marB="45720" anchor="ctr">
                    <a:solidFill>
                      <a:srgbClr val="EFF4F7"/>
                    </a:solidFill>
                  </a:tcPr>
                </a:tc>
              </a:tr>
            </a:tbl>
          </a:graphicData>
        </a:graphic>
      </p:graphicFrame>
      <p:sp>
        <p:nvSpPr>
          <p:cNvPr id="7" name="Vraagoverschot: 80 − 40 = 40 tassen per week.">
            <a:extLst xmlns:a="http://schemas.openxmlformats.org/drawingml/2006/main">
              <a:ext uri="{FF2B5EF4-FFF2-40B4-BE49-F238E27FC236}">
                <a16:creationId xmlns:a16="http://schemas.microsoft.com/office/drawing/2014/main" id="{00B3C639-D875-4D83-A869-EA084CE4AAC7}"/>
              </a:ext>
            </a:extLst>
          </p:cNvPr>
          <p:cNvSpPr>
            <a:spLocks xmlns:a="http://schemas.openxmlformats.org/drawingml/2006/main" noGrp="1"/>
          </p:cNvSpPr>
          <p:nvPr/>
        </p:nvSpPr>
        <p:spPr>
          <a:xfrm xmlns:a="http://schemas.openxmlformats.org/drawingml/2006/main">
            <a:off x="571500" y="6800850"/>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Vraagoverschot: 80 − 40 = 40 tassen per week.</a:t>
            </a:r>
          </a:p>
        </p:txBody>
      </p:sp>
    </p:spTree>
    <p:extLst>
      <p:ext uri="{BB962C8B-B14F-4D97-AF65-F5344CB8AC3E}">
        <p14:creationId xmlns:p14="http://schemas.microsoft.com/office/powerpoint/2010/main" val="6403706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37c: het nieuwe evenwicht">
            <a:extLst xmlns:a="http://schemas.openxmlformats.org/drawingml/2006/main">
              <a:ext uri="{FF2B5EF4-FFF2-40B4-BE49-F238E27FC236}">
                <a16:creationId xmlns:a16="http://schemas.microsoft.com/office/drawing/2014/main" id="{FF52C0CB-1B2E-4A5B-A747-283DBC64A177}"/>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37c: het nieuwe evenwicht</a:t>
            </a:r>
          </a:p>
        </p:txBody>
      </p:sp>
      <p:sp>
        <p:nvSpPr>
          <p:cNvPr id="2" name="">
            <a:extLst xmlns:a="http://schemas.openxmlformats.org/drawingml/2006/main">
              <a:ext uri="{FF2B5EF4-FFF2-40B4-BE49-F238E27FC236}">
                <a16:creationId xmlns:a16="http://schemas.microsoft.com/office/drawing/2014/main" id="{81052933-C356-4184-938E-98B2A6AEFCF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FFE8E8B-9E54-4A26-8E9A-7B818AE4C9D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C392BD93-2AC1-4098-8507-CAA1D40CD9F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Bron B · Ongewijzigde vraag en nieuw aanbod">
            <a:extLst xmlns:a="http://schemas.openxmlformats.org/drawingml/2006/main">
              <a:ext uri="{FF2B5EF4-FFF2-40B4-BE49-F238E27FC236}">
                <a16:creationId xmlns:a16="http://schemas.microsoft.com/office/drawing/2014/main" id="{35DE6883-AD69-484C-81A1-67559C0E35AD}"/>
              </a:ext>
            </a:extLst>
          </p:cNvPr>
          <p:cNvSpPr>
            <a:spLocks xmlns:a="http://schemas.openxmlformats.org/drawingml/2006/main" noGrp="1"/>
          </p:cNvSpPr>
          <p:nvPr/>
        </p:nvSpPr>
        <p:spPr>
          <a:xfrm xmlns:a="http://schemas.openxmlformats.org/drawingml/2006/main">
            <a:off x="571500" y="18097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Bron B · Ongewijzigde vraag en nieuw aanbod</a:t>
            </a:r>
          </a:p>
        </p:txBody>
      </p:sp>
      <p:sp>
        <p:nvSpPr>
          <p:cNvPr id="6" name="180 − 10P = 10P − 60&#10;180 = 20P − 60&#10;240 = 20P&#10;P₁ = € 12 per tas">
            <a:extLst xmlns:a="http://schemas.openxmlformats.org/drawingml/2006/main">
              <a:ext uri="{FF2B5EF4-FFF2-40B4-BE49-F238E27FC236}">
                <a16:creationId xmlns:a16="http://schemas.microsoft.com/office/drawing/2014/main" id="{B0EDADF4-E92B-4E4A-AD38-696047AED9E8}"/>
              </a:ext>
            </a:extLst>
          </p:cNvPr>
          <p:cNvSpPr>
            <a:spLocks xmlns:a="http://schemas.openxmlformats.org/drawingml/2006/main" noGrp="1"/>
          </p:cNvSpPr>
          <p:nvPr/>
        </p:nvSpPr>
        <p:spPr>
          <a:xfrm xmlns:a="http://schemas.openxmlformats.org/drawingml/2006/main">
            <a:off x="571500" y="2819400"/>
            <a:ext cx="85725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180 − 10P = 10P − 60</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180 = 20P − 60</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240 = 20P</a:t>
            </a:r>
          </a:p>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P₁ = € 12 per tas</a:t>
            </a:r>
          </a:p>
        </p:txBody>
      </p:sp>
      <p:sp>
        <p:nvSpPr>
          <p:cNvPr id="7" name="+10P&#10;+60&#10;Delen door 20">
            <a:extLst xmlns:a="http://schemas.openxmlformats.org/drawingml/2006/main">
              <a:ext uri="{FF2B5EF4-FFF2-40B4-BE49-F238E27FC236}">
                <a16:creationId xmlns:a16="http://schemas.microsoft.com/office/drawing/2014/main" id="{7BDDFD40-D5FA-4018-9C3C-DA2980F11457}"/>
              </a:ext>
            </a:extLst>
          </p:cNvPr>
          <p:cNvSpPr>
            <a:spLocks xmlns:a="http://schemas.openxmlformats.org/drawingml/2006/main" noGrp="1"/>
          </p:cNvSpPr>
          <p:nvPr/>
        </p:nvSpPr>
        <p:spPr>
          <a:xfrm xmlns:a="http://schemas.openxmlformats.org/drawingml/2006/main">
            <a:off x="10287000" y="3362325"/>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445B6B"/>
                </a:solidFill>
                <a:latin typeface="Arial"/>
                <a:ea typeface="Arial"/>
                <a:cs typeface="Arial"/>
              </a:defRPr>
            </a:pPr>
            <a:r>
              <a:rPr sz="2475" b="0">
                <a:solidFill>
                  <a:srgbClr val="445B6B"/>
                </a:solidFill>
                <a:latin typeface="Arial"/>
                <a:ea typeface="Arial"/>
                <a:cs typeface="Arial"/>
              </a:rPr>
              <a:t>+10P</a:t>
            </a:r>
          </a:p>
          <a:p xmlns:a="http://schemas.openxmlformats.org/drawingml/2006/main">
            <a:pPr algn="l">
              <a:defRPr sz="2475" b="0">
                <a:solidFill>
                  <a:srgbClr val="445B6B"/>
                </a:solidFill>
                <a:latin typeface="Arial"/>
                <a:ea typeface="Arial"/>
                <a:cs typeface="Arial"/>
              </a:defRPr>
            </a:pPr>
            <a:r>
              <a:rPr sz="2475" b="0">
                <a:solidFill>
                  <a:srgbClr val="445B6B"/>
                </a:solidFill>
                <a:latin typeface="Arial"/>
                <a:ea typeface="Arial"/>
                <a:cs typeface="Arial"/>
              </a:rPr>
              <a:t>+60</a:t>
            </a:r>
          </a:p>
          <a:p xmlns:a="http://schemas.openxmlformats.org/drawingml/2006/main">
            <a:pPr algn="l">
              <a:defRPr sz="2475" b="0">
                <a:solidFill>
                  <a:srgbClr val="445B6B"/>
                </a:solidFill>
                <a:latin typeface="Arial"/>
                <a:ea typeface="Arial"/>
                <a:cs typeface="Arial"/>
              </a:defRPr>
            </a:pPr>
            <a:r>
              <a:rPr sz="2475" b="0">
                <a:solidFill>
                  <a:srgbClr val="445B6B"/>
                </a:solidFill>
                <a:latin typeface="Arial"/>
                <a:ea typeface="Arial"/>
                <a:cs typeface="Arial"/>
              </a:rPr>
              <a:t>Delen door 20</a:t>
            </a:r>
          </a:p>
        </p:txBody>
      </p:sp>
      <p:sp>
        <p:nvSpPr>
          <p:cNvPr id="8" name="Qᵥ = 180 − 10 × 12 = 60&#10;Qₐ,₁ = 10 × 12 − 60 = 60">
            <a:extLst xmlns:a="http://schemas.openxmlformats.org/drawingml/2006/main">
              <a:ext uri="{FF2B5EF4-FFF2-40B4-BE49-F238E27FC236}">
                <a16:creationId xmlns:a16="http://schemas.microsoft.com/office/drawing/2014/main" id="{D3704FC4-DD55-47BC-B6C8-8813118685D0}"/>
              </a:ext>
            </a:extLst>
          </p:cNvPr>
          <p:cNvSpPr>
            <a:spLocks xmlns:a="http://schemas.openxmlformats.org/drawingml/2006/main" noGrp="1"/>
          </p:cNvSpPr>
          <p:nvPr/>
        </p:nvSpPr>
        <p:spPr>
          <a:xfrm xmlns:a="http://schemas.openxmlformats.org/drawingml/2006/main">
            <a:off x="571500" y="6038850"/>
            <a:ext cx="14097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Qᵥ = 180 − 10 × 12 = 60</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Qₐ,₁ = 10 × 12 − 60 = 60</a:t>
            </a:r>
          </a:p>
        </p:txBody>
      </p:sp>
      <p:sp>
        <p:nvSpPr>
          <p:cNvPr id="9" name="Q₁ = 60 tassen per week · Controle: beide plannen zijn gelijk.">
            <a:extLst xmlns:a="http://schemas.openxmlformats.org/drawingml/2006/main">
              <a:ext uri="{FF2B5EF4-FFF2-40B4-BE49-F238E27FC236}">
                <a16:creationId xmlns:a16="http://schemas.microsoft.com/office/drawing/2014/main" id="{4DF35952-7956-495F-BC07-DBEA38F11CB8}"/>
              </a:ext>
            </a:extLst>
          </p:cNvPr>
          <p:cNvSpPr>
            <a:spLocks xmlns:a="http://schemas.openxmlformats.org/drawingml/2006/main" noGrp="1"/>
          </p:cNvSpPr>
          <p:nvPr/>
        </p:nvSpPr>
        <p:spPr>
          <a:xfrm xmlns:a="http://schemas.openxmlformats.org/drawingml/2006/main">
            <a:off x="571500" y="74390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Q₁ = 60 tassen per week · Controle: beide plannen zijn gelijk.</a:t>
            </a:r>
          </a:p>
        </p:txBody>
      </p:sp>
    </p:spTree>
    <p:extLst>
      <p:ext uri="{BB962C8B-B14F-4D97-AF65-F5344CB8AC3E}">
        <p14:creationId xmlns:p14="http://schemas.microsoft.com/office/powerpoint/2010/main" val="15287874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7c: procentuele veranderingen">
            <a:extLst xmlns:a="http://schemas.openxmlformats.org/drawingml/2006/main">
              <a:ext uri="{FF2B5EF4-FFF2-40B4-BE49-F238E27FC236}">
                <a16:creationId xmlns:a16="http://schemas.microsoft.com/office/drawing/2014/main" id="{46E5F816-F59E-4703-B616-4C90BCB685E9}"/>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37c: procentuele veranderingen</a:t>
            </a:r>
          </a:p>
        </p:txBody>
      </p:sp>
      <p:sp>
        <p:nvSpPr>
          <p:cNvPr id="2" name="">
            <a:extLst xmlns:a="http://schemas.openxmlformats.org/drawingml/2006/main">
              <a:ext uri="{FF2B5EF4-FFF2-40B4-BE49-F238E27FC236}">
                <a16:creationId xmlns:a16="http://schemas.microsoft.com/office/drawing/2014/main" id="{D27C7975-5345-4662-8525-6E563B53686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823B2FD5-67B1-425F-8311-A03F578B9AA6}"/>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E0D61ABF-87F5-4DFC-9E27-5F4A57396BE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graphicFrame>
        <p:nvGraphicFramePr>
          <p:cNvPr id="12" name=""/>
          <p:cNvGraphicFramePr/>
          <p:nvPr/>
        </p:nvGraphicFramePr>
        <p:xfrm>
          <a:off xmlns:a="http://schemas.openxmlformats.org/drawingml/2006/main" x="571500" y="1962150"/>
          <a:ext xmlns:a="http://schemas.openxmlformats.org/drawingml/2006/main" cx="14097000" cy="2600325"/>
        </p:xfrm>
        <a:graphic xmlns:a="http://schemas.openxmlformats.org/drawingml/2006/main">
          <a:graphicData uri="http://schemas.openxmlformats.org/drawingml/2006/table">
            <a:tbl>
              <a:tblPr/>
              <a:tblGrid>
                <a:gridCol w="6572250"/>
                <a:gridCol w="3762375"/>
                <a:gridCol w="3762375"/>
              </a:tblGrid>
              <a:tr h="866775">
                <a:tc>
                  <a:txBody>
                    <a:bodyPr lIns="171450" tIns="95250" rIns="152400" bIns="95250"/>
                    <a:lstStyle/>
                    <a:p>
                      <a:r>
                        <a:rPr sz="2625"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Oud, bron A</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Nieuw, bron B</a:t>
                      </a:r>
                    </a:p>
                  </a:txBody>
                  <a:tcPr marL="91440" marR="91440" marT="45720" marB="45720" anchor="ctr">
                    <a:solidFill>
                      <a:srgbClr val="183247"/>
                    </a:solidFill>
                  </a:tcPr>
                </a:tc>
              </a:tr>
              <a:tr h="866775">
                <a:tc>
                  <a:txBody>
                    <a:bodyPr lIns="171450" tIns="95250" rIns="152400" bIns="95250"/>
                    <a:lstStyle/>
                    <a:p>
                      <a:r>
                        <a:rPr sz="2625" b="0">
                          <a:solidFill>
                            <a:srgbClr val="183247"/>
                          </a:solidFill>
                          <a:latin typeface="Arial"/>
                          <a:ea typeface="Arial"/>
                          <a:cs typeface="Arial"/>
                        </a:rPr>
                        <a:t>P (€ per tas)</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12</a:t>
                      </a:r>
                    </a:p>
                  </a:txBody>
                  <a:tcPr marL="91440" marR="91440" marT="45720" marB="45720" anchor="ctr">
                    <a:solidFill>
                      <a:srgbClr val="FFFFFF"/>
                    </a:solidFill>
                  </a:tcPr>
                </a:tc>
              </a:tr>
              <a:tr h="866775">
                <a:tc>
                  <a:txBody>
                    <a:bodyPr lIns="171450" tIns="95250" rIns="152400" bIns="95250"/>
                    <a:lstStyle/>
                    <a:p>
                      <a:r>
                        <a:rPr sz="2625" b="0">
                          <a:solidFill>
                            <a:srgbClr val="183247"/>
                          </a:solidFill>
                          <a:latin typeface="Arial"/>
                          <a:ea typeface="Arial"/>
                          <a:cs typeface="Arial"/>
                        </a:rPr>
                        <a:t>Q (tassen per week)</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80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60</a:t>
                      </a:r>
                    </a:p>
                  </a:txBody>
                  <a:tcPr marL="91440" marR="91440" marT="45720" marB="45720" anchor="ctr">
                    <a:solidFill>
                      <a:srgbClr val="EFF4F7"/>
                    </a:solidFill>
                  </a:tcPr>
                </a:tc>
              </a:tr>
            </a:tbl>
          </a:graphicData>
        </a:graphic>
      </p:graphicFrame>
      <p:sp>
        <p:nvSpPr>
          <p:cNvPr id="6" name="Prijs: (12 − 10) / 10 × 100% = +20%">
            <a:extLst xmlns:a="http://schemas.openxmlformats.org/drawingml/2006/main">
              <a:ext uri="{FF2B5EF4-FFF2-40B4-BE49-F238E27FC236}">
                <a16:creationId xmlns:a16="http://schemas.microsoft.com/office/drawing/2014/main" id="{FE107B33-9083-45C0-A7D3-27759C672CEC}"/>
              </a:ext>
            </a:extLst>
          </p:cNvPr>
          <p:cNvSpPr>
            <a:spLocks xmlns:a="http://schemas.openxmlformats.org/drawingml/2006/main" noGrp="1"/>
          </p:cNvSpPr>
          <p:nvPr/>
        </p:nvSpPr>
        <p:spPr>
          <a:xfrm xmlns:a="http://schemas.openxmlformats.org/drawingml/2006/main">
            <a:off x="571500" y="52959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A94D16"/>
                </a:solidFill>
                <a:latin typeface="Arial"/>
                <a:ea typeface="Arial"/>
                <a:cs typeface="Arial"/>
              </a:defRPr>
            </a:pPr>
            <a:r>
              <a:rPr sz="3375" b="1">
                <a:solidFill>
                  <a:srgbClr val="A94D16"/>
                </a:solidFill>
                <a:latin typeface="Arial"/>
                <a:ea typeface="Arial"/>
                <a:cs typeface="Arial"/>
              </a:rPr>
              <a:t>Prijs: (12 − 10) / 10 × 100% = +20%</a:t>
            </a:r>
          </a:p>
        </p:txBody>
      </p:sp>
      <p:sp>
        <p:nvSpPr>
          <p:cNvPr id="7" name="Hoeveelheid: (60 − 80) / 80 × 100% = −25%">
            <a:extLst xmlns:a="http://schemas.openxmlformats.org/drawingml/2006/main">
              <a:ext uri="{FF2B5EF4-FFF2-40B4-BE49-F238E27FC236}">
                <a16:creationId xmlns:a16="http://schemas.microsoft.com/office/drawing/2014/main" id="{A2CBBAEC-8A50-4B44-BAEC-4631D4864318}"/>
              </a:ext>
            </a:extLst>
          </p:cNvPr>
          <p:cNvSpPr>
            <a:spLocks xmlns:a="http://schemas.openxmlformats.org/drawingml/2006/main" noGrp="1"/>
          </p:cNvSpPr>
          <p:nvPr/>
        </p:nvSpPr>
        <p:spPr>
          <a:xfrm xmlns:a="http://schemas.openxmlformats.org/drawingml/2006/main">
            <a:off x="571500" y="6496050"/>
            <a:ext cx="14097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658A"/>
                </a:solidFill>
                <a:latin typeface="Arial"/>
                <a:ea typeface="Arial"/>
                <a:cs typeface="Arial"/>
              </a:defRPr>
            </a:pPr>
            <a:r>
              <a:rPr sz="3375" b="1">
                <a:solidFill>
                  <a:srgbClr val="17658A"/>
                </a:solidFill>
                <a:latin typeface="Arial"/>
                <a:ea typeface="Arial"/>
                <a:cs typeface="Arial"/>
              </a:rPr>
              <a:t>Hoeveelheid: (60 − 80) / 80 × 100% = −25%</a:t>
            </a:r>
          </a:p>
        </p:txBody>
      </p:sp>
    </p:spTree>
    <p:extLst>
      <p:ext uri="{BB962C8B-B14F-4D97-AF65-F5344CB8AC3E}">
        <p14:creationId xmlns:p14="http://schemas.microsoft.com/office/powerpoint/2010/main" val="11241244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7d: tekenpunten uit de functies">
            <a:extLst xmlns:a="http://schemas.openxmlformats.org/drawingml/2006/main">
              <a:ext uri="{FF2B5EF4-FFF2-40B4-BE49-F238E27FC236}">
                <a16:creationId xmlns:a16="http://schemas.microsoft.com/office/drawing/2014/main" id="{680DE17E-24DB-453E-8F99-378BBDDD2BE0}"/>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37d: tekenpunten uit de functies</a:t>
            </a:r>
          </a:p>
        </p:txBody>
      </p:sp>
      <p:sp>
        <p:nvSpPr>
          <p:cNvPr id="2" name="">
            <a:extLst xmlns:a="http://schemas.openxmlformats.org/drawingml/2006/main">
              <a:ext uri="{FF2B5EF4-FFF2-40B4-BE49-F238E27FC236}">
                <a16:creationId xmlns:a16="http://schemas.microsoft.com/office/drawing/2014/main" id="{DCE2488C-30FE-4ECF-9949-999D3A2D27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5F839330-7C78-4D7E-A1B1-9BFE7C13B68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1F0C4D4D-41CC-4887-99B0-5A3A996608F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graphicFrame>
        <p:nvGraphicFramePr>
          <p:cNvPr id="12" name=""/>
          <p:cNvGraphicFramePr/>
          <p:nvPr/>
        </p:nvGraphicFramePr>
        <p:xfrm>
          <a:off xmlns:a="http://schemas.openxmlformats.org/drawingml/2006/main" x="571500" y="2238375"/>
          <a:ext xmlns:a="http://schemas.openxmlformats.org/drawingml/2006/main" cx="14097000" cy="3714750"/>
        </p:xfrm>
        <a:graphic xmlns:a="http://schemas.openxmlformats.org/drawingml/2006/main">
          <a:graphicData uri="http://schemas.openxmlformats.org/drawingml/2006/table">
            <a:tbl>
              <a:tblPr/>
              <a:tblGrid>
                <a:gridCol w="6286500"/>
                <a:gridCol w="3905250"/>
                <a:gridCol w="3905250"/>
              </a:tblGrid>
              <a:tr h="928688">
                <a:tc>
                  <a:txBody>
                    <a:bodyPr lIns="171450" tIns="95250" rIns="152400" bIns="95250"/>
                    <a:lstStyle/>
                    <a:p>
                      <a:r>
                        <a:rPr sz="2625" b="1">
                          <a:solidFill>
                            <a:srgbClr val="FFFFFF"/>
                          </a:solidFill>
                          <a:latin typeface="Arial"/>
                          <a:ea typeface="Arial"/>
                          <a:cs typeface="Arial"/>
                        </a:rPr>
                        <a:t>Lijn</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Punt bij Q = 0</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Tweede geldig punt</a:t>
                      </a:r>
                    </a:p>
                  </a:txBody>
                  <a:tcPr marL="91440" marR="91440" marT="45720" marB="45720" anchor="ctr">
                    <a:solidFill>
                      <a:srgbClr val="183247"/>
                    </a:solidFill>
                  </a:tcPr>
                </a:tc>
              </a:tr>
              <a:tr h="928688">
                <a:tc>
                  <a:txBody>
                    <a:bodyPr lIns="171450" tIns="95250" rIns="152400" bIns="95250"/>
                    <a:lstStyle/>
                    <a:p>
                      <a:r>
                        <a:rPr sz="2625" b="0">
                          <a:solidFill>
                            <a:srgbClr val="183247"/>
                          </a:solidFill>
                          <a:latin typeface="Arial"/>
                          <a:ea typeface="Arial"/>
                          <a:cs typeface="Arial"/>
                        </a:rPr>
                        <a:t>V: Qᵥ = 180 − 10P</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 18)</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(180; 0)</a:t>
                      </a:r>
                    </a:p>
                  </a:txBody>
                  <a:tcPr marL="91440" marR="91440" marT="45720" marB="45720" anchor="ctr">
                    <a:solidFill>
                      <a:srgbClr val="FFFFFF"/>
                    </a:solidFill>
                  </a:tcPr>
                </a:tc>
              </a:tr>
              <a:tr h="928688">
                <a:tc>
                  <a:txBody>
                    <a:bodyPr lIns="171450" tIns="95250" rIns="152400" bIns="95250"/>
                    <a:lstStyle/>
                    <a:p>
                      <a:r>
                        <a:rPr sz="2625" b="0">
                          <a:solidFill>
                            <a:srgbClr val="183247"/>
                          </a:solidFill>
                          <a:latin typeface="Arial"/>
                          <a:ea typeface="Arial"/>
                          <a:cs typeface="Arial"/>
                        </a:rPr>
                        <a:t>A₀: Qₐ,₀ = 10P − 20</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(0; 2)</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(160; 18)</a:t>
                      </a:r>
                    </a:p>
                  </a:txBody>
                  <a:tcPr marL="91440" marR="91440" marT="45720" marB="45720" anchor="ctr">
                    <a:solidFill>
                      <a:srgbClr val="EFF4F7"/>
                    </a:solidFill>
                  </a:tcPr>
                </a:tc>
              </a:tr>
              <a:tr h="928688">
                <a:tc>
                  <a:txBody>
                    <a:bodyPr lIns="171450" tIns="95250" rIns="152400" bIns="95250"/>
                    <a:lstStyle/>
                    <a:p>
                      <a:r>
                        <a:rPr sz="2625" b="0">
                          <a:solidFill>
                            <a:srgbClr val="183247"/>
                          </a:solidFill>
                          <a:latin typeface="Arial"/>
                          <a:ea typeface="Arial"/>
                          <a:cs typeface="Arial"/>
                        </a:rPr>
                        <a:t>A₁: Qₐ,₁ = 10P − 60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 6)</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(120; 18)</a:t>
                      </a:r>
                    </a:p>
                  </a:txBody>
                  <a:tcPr marL="91440" marR="91440" marT="45720" marB="45720" anchor="ctr">
                    <a:solidFill>
                      <a:srgbClr val="FFFFFF"/>
                    </a:solidFill>
                  </a:tcPr>
                </a:tc>
              </a:tr>
            </a:tbl>
          </a:graphicData>
        </a:graphic>
      </p:graphicFrame>
      <p:sp>
        <p:nvSpPr>
          <p:cNvPr id="6" name="Horizontaal: Q, tassen per week · Verticaal: P, euro per tas">
            <a:extLst xmlns:a="http://schemas.openxmlformats.org/drawingml/2006/main">
              <a:ext uri="{FF2B5EF4-FFF2-40B4-BE49-F238E27FC236}">
                <a16:creationId xmlns:a16="http://schemas.microsoft.com/office/drawing/2014/main" id="{2E846369-3A58-4B46-BC31-616534078826}"/>
              </a:ext>
            </a:extLst>
          </p:cNvPr>
          <p:cNvSpPr>
            <a:spLocks xmlns:a="http://schemas.openxmlformats.org/drawingml/2006/main" noGrp="1"/>
          </p:cNvSpPr>
          <p:nvPr/>
        </p:nvSpPr>
        <p:spPr>
          <a:xfrm xmlns:a="http://schemas.openxmlformats.org/drawingml/2006/main">
            <a:off x="571500" y="650557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Horizontaal: Q, tassen per week · Verticaal: P, euro per tas</a:t>
            </a:r>
          </a:p>
        </p:txBody>
      </p:sp>
      <p:sp>
        <p:nvSpPr>
          <p:cNvPr id="7" name="Coördinaten: (Q; P). De lijnstukken blijven binnen de gegeven dom">
            <a:extLst xmlns:a="http://schemas.openxmlformats.org/drawingml/2006/main">
              <a:ext uri="{FF2B5EF4-FFF2-40B4-BE49-F238E27FC236}">
                <a16:creationId xmlns:a16="http://schemas.microsoft.com/office/drawing/2014/main" id="{01511E63-46D3-49C2-A028-FFAF7624ABE4}"/>
              </a:ext>
            </a:extLst>
          </p:cNvPr>
          <p:cNvSpPr>
            <a:spLocks xmlns:a="http://schemas.openxmlformats.org/drawingml/2006/main" noGrp="1"/>
          </p:cNvSpPr>
          <p:nvPr/>
        </p:nvSpPr>
        <p:spPr>
          <a:xfrm xmlns:a="http://schemas.openxmlformats.org/drawingml/2006/main">
            <a:off x="571500" y="7448550"/>
            <a:ext cx="1409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Coördinaten: (Q; P). De lijnstukken blijven binnen de gegeven domeinen.</a:t>
            </a:r>
          </a:p>
        </p:txBody>
      </p:sp>
    </p:spTree>
    <p:extLst>
      <p:ext uri="{BB962C8B-B14F-4D97-AF65-F5344CB8AC3E}">
        <p14:creationId xmlns:p14="http://schemas.microsoft.com/office/powerpoint/2010/main" val="8036972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7d: de oorspronkelijke markt">
            <a:extLst xmlns:a="http://schemas.openxmlformats.org/drawingml/2006/main">
              <a:ext uri="{FF2B5EF4-FFF2-40B4-BE49-F238E27FC236}">
                <a16:creationId xmlns:a16="http://schemas.microsoft.com/office/drawing/2014/main" id="{A57CE8BB-F3DD-4EFC-B135-342D847A1388}"/>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37d: de oorspronkelijke markt</a:t>
            </a:r>
          </a:p>
        </p:txBody>
      </p:sp>
      <p:sp>
        <p:nvSpPr>
          <p:cNvPr id="2" name="">
            <a:extLst xmlns:a="http://schemas.openxmlformats.org/drawingml/2006/main">
              <a:ext uri="{FF2B5EF4-FFF2-40B4-BE49-F238E27FC236}">
                <a16:creationId xmlns:a16="http://schemas.microsoft.com/office/drawing/2014/main" id="{F09908DF-8B9F-421C-A8A5-4AC46B25777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F7801350-FC77-413A-B4DE-DE08A9A0BA8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0283762B-FA43-4461-BE17-40ED1E200418}"/>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graphicFrame>
        <p:nvGraphicFramePr>
          <p:cNvPr id="12" name="Chart"/>
          <p:cNvGraphicFramePr/>
          <p:nvPr/>
        </p:nvGraphicFramePr>
        <p:xfrm>
          <a:off xmlns:a="http://schemas.openxmlformats.org/drawingml/2006/main" x="438150" y="2095500"/>
          <a:ext xmlns:a="http://schemas.openxmlformats.org/drawingml/2006/main" cx="10525125" cy="5791200"/>
        </p:xfrm>
        <a:graphic xmlns:a="http://schemas.openxmlformats.org/drawingml/2006/main">
          <a:graphicData uri="http://schemas.openxmlformats.org/drawingml/2006/chart">
            <c:chart xmlns:r="http://schemas.openxmlformats.org/officeDocument/2006/relationships" xmlns:c="http://schemas.openxmlformats.org/drawingml/2006/chart" r:id="Ra20ac57a1f724c9b"/>
          </a:graphicData>
        </a:graphic>
      </p:graphicFrame>
      <p:sp>
        <p:nvSpPr>
          <p:cNvPr id="6" name="E₀ = (80; 10)">
            <a:extLst xmlns:a="http://schemas.openxmlformats.org/drawingml/2006/main">
              <a:ext uri="{FF2B5EF4-FFF2-40B4-BE49-F238E27FC236}">
                <a16:creationId xmlns:a16="http://schemas.microsoft.com/office/drawing/2014/main" id="{61AE552F-32AA-48C5-8AD2-F420FCD8A62E}"/>
              </a:ext>
            </a:extLst>
          </p:cNvPr>
          <p:cNvSpPr>
            <a:spLocks xmlns:a="http://schemas.openxmlformats.org/drawingml/2006/main" noGrp="1"/>
          </p:cNvSpPr>
          <p:nvPr/>
        </p:nvSpPr>
        <p:spPr>
          <a:xfrm xmlns:a="http://schemas.openxmlformats.org/drawingml/2006/main">
            <a:off x="11315700" y="2333625"/>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E₀ = (80; 10)</a:t>
            </a:r>
          </a:p>
        </p:txBody>
      </p:sp>
      <p:sp>
        <p:nvSpPr>
          <p:cNvPr id="7" name="V en A₀ snijden&#10;elkaar bij&#10;€ 10 per tas.&#10;&#10;80 tassen&#10;per week.">
            <a:extLst xmlns:a="http://schemas.openxmlformats.org/drawingml/2006/main">
              <a:ext uri="{FF2B5EF4-FFF2-40B4-BE49-F238E27FC236}">
                <a16:creationId xmlns:a16="http://schemas.microsoft.com/office/drawing/2014/main" id="{176A6718-D1F7-4365-8512-6BF36AB543E8}"/>
              </a:ext>
            </a:extLst>
          </p:cNvPr>
          <p:cNvSpPr>
            <a:spLocks xmlns:a="http://schemas.openxmlformats.org/drawingml/2006/main" noGrp="1"/>
          </p:cNvSpPr>
          <p:nvPr/>
        </p:nvSpPr>
        <p:spPr>
          <a:xfrm xmlns:a="http://schemas.openxmlformats.org/drawingml/2006/main">
            <a:off x="11315700" y="3790950"/>
            <a:ext cx="32861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V en A₀ snijden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elkaar bij</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€ 10 per tas.</a:t>
            </a:r>
          </a:p>
          <a:p xmlns:a="http://schemas.openxmlformats.org/drawingml/2006/main">
            <a:r>
              <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80 tassen</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per week.</a:t>
            </a:r>
          </a:p>
        </p:txBody>
      </p:sp>
    </p:spTree>
    <p:extLst>
      <p:ext uri="{BB962C8B-B14F-4D97-AF65-F5344CB8AC3E}">
        <p14:creationId xmlns:p14="http://schemas.microsoft.com/office/powerpoint/2010/main" val="16718754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37d: verschuiving en beweging">
            <a:extLst xmlns:a="http://schemas.openxmlformats.org/drawingml/2006/main">
              <a:ext uri="{FF2B5EF4-FFF2-40B4-BE49-F238E27FC236}">
                <a16:creationId xmlns:a16="http://schemas.microsoft.com/office/drawing/2014/main" id="{15665D0C-D90A-4229-A541-81C673196681}"/>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37d: verschuiving en beweging</a:t>
            </a:r>
          </a:p>
        </p:txBody>
      </p:sp>
      <p:sp>
        <p:nvSpPr>
          <p:cNvPr id="2" name="">
            <a:extLst xmlns:a="http://schemas.openxmlformats.org/drawingml/2006/main">
              <a:ext uri="{FF2B5EF4-FFF2-40B4-BE49-F238E27FC236}">
                <a16:creationId xmlns:a16="http://schemas.microsoft.com/office/drawing/2014/main" id="{D99D4F4C-DB08-4101-AB76-679A7645CBB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A5AB75EC-1E51-4852-A168-8B9049E817E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6673467F-CA8A-46DA-A214-F211347CB90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5" name="Chart"/>
          <p:cNvGraphicFramePr/>
          <p:nvPr/>
        </p:nvGraphicFramePr>
        <p:xfrm>
          <a:off xmlns:a="http://schemas.openxmlformats.org/drawingml/2006/main" x="438150" y="2095500"/>
          <a:ext xmlns:a="http://schemas.openxmlformats.org/drawingml/2006/main" cx="10525125" cy="5791200"/>
        </p:xfrm>
        <a:graphic xmlns:a="http://schemas.openxmlformats.org/drawingml/2006/main">
          <a:graphicData uri="http://schemas.openxmlformats.org/drawingml/2006/chart">
            <c:chart xmlns:r="http://schemas.openxmlformats.org/officeDocument/2006/relationships" xmlns:c="http://schemas.openxmlformats.org/drawingml/2006/chart" r:id="Rc1f6c5298a074da7"/>
          </a:graphicData>
        </a:graphic>
      </p:graphicFrame>
      <p:sp>
        <p:nvSpPr>
          <p:cNvPr id="6" name="A₀ naar A₁">
            <a:extLst xmlns:a="http://schemas.openxmlformats.org/drawingml/2006/main">
              <a:ext uri="{FF2B5EF4-FFF2-40B4-BE49-F238E27FC236}">
                <a16:creationId xmlns:a16="http://schemas.microsoft.com/office/drawing/2014/main" id="{19BBEE19-F11C-4381-9700-EC3450CE807A}"/>
              </a:ext>
            </a:extLst>
          </p:cNvPr>
          <p:cNvSpPr>
            <a:spLocks xmlns:a="http://schemas.openxmlformats.org/drawingml/2006/main" noGrp="1"/>
          </p:cNvSpPr>
          <p:nvPr/>
        </p:nvSpPr>
        <p:spPr>
          <a:xfrm xmlns:a="http://schemas.openxmlformats.org/drawingml/2006/main">
            <a:off x="11315700" y="2114550"/>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A₀ naar A₁</a:t>
            </a:r>
          </a:p>
        </p:txBody>
      </p:sp>
      <p:sp>
        <p:nvSpPr>
          <p:cNvPr id="7" name="Bij P = € 10:&#10;80 naar 40&#10;tassen aanbod.">
            <a:extLst xmlns:a="http://schemas.openxmlformats.org/drawingml/2006/main">
              <a:ext uri="{FF2B5EF4-FFF2-40B4-BE49-F238E27FC236}">
                <a16:creationId xmlns:a16="http://schemas.microsoft.com/office/drawing/2014/main" id="{DA76B20A-2A7F-46FA-B775-71029BB5FF64}"/>
              </a:ext>
            </a:extLst>
          </p:cNvPr>
          <p:cNvSpPr>
            <a:spLocks xmlns:a="http://schemas.openxmlformats.org/drawingml/2006/main" noGrp="1"/>
          </p:cNvSpPr>
          <p:nvPr/>
        </p:nvSpPr>
        <p:spPr>
          <a:xfrm xmlns:a="http://schemas.openxmlformats.org/drawingml/2006/main">
            <a:off x="11315700" y="2924175"/>
            <a:ext cx="3286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Bij P = € 10: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80 naar 40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tassen aanbod.</a:t>
            </a:r>
          </a:p>
        </p:txBody>
      </p:sp>
      <p:sp>
        <p:nvSpPr>
          <p:cNvPr id="8" name="Langs V">
            <a:extLst xmlns:a="http://schemas.openxmlformats.org/drawingml/2006/main">
              <a:ext uri="{FF2B5EF4-FFF2-40B4-BE49-F238E27FC236}">
                <a16:creationId xmlns:a16="http://schemas.microsoft.com/office/drawing/2014/main" id="{6D93A62B-3F58-49D0-BB0D-9A7A6B5502E0}"/>
              </a:ext>
            </a:extLst>
          </p:cNvPr>
          <p:cNvSpPr>
            <a:spLocks xmlns:a="http://schemas.openxmlformats.org/drawingml/2006/main" noGrp="1"/>
          </p:cNvSpPr>
          <p:nvPr/>
        </p:nvSpPr>
        <p:spPr>
          <a:xfrm xmlns:a="http://schemas.openxmlformats.org/drawingml/2006/main">
            <a:off x="11315700" y="4857750"/>
            <a:ext cx="328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Langs V</a:t>
            </a:r>
          </a:p>
        </p:txBody>
      </p:sp>
      <p:sp>
        <p:nvSpPr>
          <p:cNvPr id="9" name="E₀ = (80; 10)&#10;E₁ = (60; 12)">
            <a:extLst xmlns:a="http://schemas.openxmlformats.org/drawingml/2006/main">
              <a:ext uri="{FF2B5EF4-FFF2-40B4-BE49-F238E27FC236}">
                <a16:creationId xmlns:a16="http://schemas.microsoft.com/office/drawing/2014/main" id="{9231645E-1253-4028-A2A5-727105355B39}"/>
              </a:ext>
            </a:extLst>
          </p:cNvPr>
          <p:cNvSpPr>
            <a:spLocks xmlns:a="http://schemas.openxmlformats.org/drawingml/2006/main" noGrp="1"/>
          </p:cNvSpPr>
          <p:nvPr/>
        </p:nvSpPr>
        <p:spPr>
          <a:xfrm xmlns:a="http://schemas.openxmlformats.org/drawingml/2006/main">
            <a:off x="11315700" y="5638800"/>
            <a:ext cx="328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E₀ = (80; 10)</a:t>
            </a:r>
          </a:p>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E₁ = (60; 12)</a:t>
            </a:r>
          </a:p>
        </p:txBody>
      </p:sp>
      <p:sp>
        <p:nvSpPr>
          <p:cNvPr id="10" name="Q daalt als P stijgt.">
            <a:extLst xmlns:a="http://schemas.openxmlformats.org/drawingml/2006/main">
              <a:ext uri="{FF2B5EF4-FFF2-40B4-BE49-F238E27FC236}">
                <a16:creationId xmlns:a16="http://schemas.microsoft.com/office/drawing/2014/main" id="{7DEFFCBC-A53C-40CB-9F10-4DE0877E716F}"/>
              </a:ext>
            </a:extLst>
          </p:cNvPr>
          <p:cNvSpPr>
            <a:spLocks xmlns:a="http://schemas.openxmlformats.org/drawingml/2006/main" noGrp="1"/>
          </p:cNvSpPr>
          <p:nvPr/>
        </p:nvSpPr>
        <p:spPr>
          <a:xfrm xmlns:a="http://schemas.openxmlformats.org/drawingml/2006/main">
            <a:off x="11315700" y="7229475"/>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Q daalt als P stijgt.</a:t>
            </a:r>
          </a:p>
        </p:txBody>
      </p:sp>
    </p:spTree>
    <p:extLst>
      <p:ext uri="{BB962C8B-B14F-4D97-AF65-F5344CB8AC3E}">
        <p14:creationId xmlns:p14="http://schemas.microsoft.com/office/powerpoint/2010/main" val="49903026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37e: bron C bij € 14">
            <a:extLst xmlns:a="http://schemas.openxmlformats.org/drawingml/2006/main">
              <a:ext uri="{FF2B5EF4-FFF2-40B4-BE49-F238E27FC236}">
                <a16:creationId xmlns:a16="http://schemas.microsoft.com/office/drawing/2014/main" id="{8E64867D-DB2C-4829-B918-07B078DA7785}"/>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37e: bron C bij € 14</a:t>
            </a:r>
          </a:p>
        </p:txBody>
      </p:sp>
      <p:sp>
        <p:nvSpPr>
          <p:cNvPr id="2" name="">
            <a:extLst xmlns:a="http://schemas.openxmlformats.org/drawingml/2006/main">
              <a:ext uri="{FF2B5EF4-FFF2-40B4-BE49-F238E27FC236}">
                <a16:creationId xmlns:a16="http://schemas.microsoft.com/office/drawing/2014/main" id="{A2901B83-ADB9-4785-AB06-DBB1E8EAB2F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479F0C4A-9E90-4B45-A491-BAAB13AF16B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88F2D061-37BB-40C0-9831-AA2DDA744E4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2076450"/>
          <a:ext xmlns:a="http://schemas.openxmlformats.org/drawingml/2006/main" cx="14097000" cy="3810000"/>
        </p:xfrm>
        <a:graphic xmlns:a="http://schemas.openxmlformats.org/drawingml/2006/main">
          <a:graphicData uri="http://schemas.openxmlformats.org/drawingml/2006/table">
            <a:tbl>
              <a:tblPr/>
              <a:tblGrid>
                <a:gridCol w="5619750"/>
                <a:gridCol w="4476750"/>
                <a:gridCol w="4000500"/>
              </a:tblGrid>
              <a:tr h="952500">
                <a:tc>
                  <a:txBody>
                    <a:bodyPr lIns="171450" tIns="95250" rIns="152400" bIns="95250"/>
                    <a:lstStyle/>
                    <a:p>
                      <a:r>
                        <a:rPr sz="2550" b="1">
                          <a:solidFill>
                            <a:srgbClr val="FFFFFF"/>
                          </a:solidFill>
                          <a:latin typeface="Arial"/>
                          <a:ea typeface="Arial"/>
                          <a:cs typeface="Arial"/>
                        </a:rPr>
                        <a:t>Nieuwe situatie bij P = € 14</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Tassen per week</a:t>
                      </a:r>
                    </a:p>
                  </a:txBody>
                  <a:tcPr marL="91440" marR="91440" marT="45720" marB="45720" anchor="ctr">
                    <a:solidFill>
                      <a:srgbClr val="183247"/>
                    </a:solidFill>
                  </a:tcPr>
                </a:tc>
              </a:tr>
              <a:tr h="952500">
                <a:tc>
                  <a:txBody>
                    <a:bodyPr lIns="171450" tIns="95250" rIns="152400" bIns="95250"/>
                    <a:lstStyle/>
                    <a:p>
                      <a:r>
                        <a:rPr sz="2550" b="0">
                          <a:solidFill>
                            <a:srgbClr val="183247"/>
                          </a:solidFill>
                          <a:latin typeface="Arial"/>
                          <a:ea typeface="Arial"/>
                          <a:cs typeface="Arial"/>
                        </a:rPr>
                        <a:t>Vraag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180 − 10 × 14</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40</a:t>
                      </a:r>
                    </a:p>
                  </a:txBody>
                  <a:tcPr marL="91440" marR="91440" marT="45720" marB="45720" anchor="ctr">
                    <a:solidFill>
                      <a:srgbClr val="FFFFFF"/>
                    </a:solidFill>
                  </a:tcPr>
                </a:tc>
              </a:tr>
              <a:tr h="952500">
                <a:tc>
                  <a:txBody>
                    <a:bodyPr lIns="171450" tIns="95250" rIns="152400" bIns="95250"/>
                    <a:lstStyle/>
                    <a:p>
                      <a:r>
                        <a:rPr sz="2550" b="0">
                          <a:solidFill>
                            <a:srgbClr val="183247"/>
                          </a:solidFill>
                          <a:latin typeface="Arial"/>
                          <a:ea typeface="Arial"/>
                          <a:cs typeface="Arial"/>
                        </a:rPr>
                        <a:t>Nieuw aanbod</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10 × 14 − 60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80</a:t>
                      </a:r>
                    </a:p>
                  </a:txBody>
                  <a:tcPr marL="91440" marR="91440" marT="45720" marB="45720" anchor="ctr">
                    <a:solidFill>
                      <a:srgbClr val="EFF4F7"/>
                    </a:solidFill>
                  </a:tcPr>
                </a:tc>
              </a:tr>
              <a:tr h="952500">
                <a:tc>
                  <a:txBody>
                    <a:bodyPr lIns="171450" tIns="95250" rIns="152400" bIns="95250"/>
                    <a:lstStyle/>
                    <a:p>
                      <a:r>
                        <a:rPr sz="2550" b="0">
                          <a:solidFill>
                            <a:srgbClr val="183247"/>
                          </a:solidFill>
                          <a:latin typeface="Arial"/>
                          <a:ea typeface="Arial"/>
                          <a:cs typeface="Arial"/>
                        </a:rPr>
                        <a:t>Aanbodoverschot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80 − 40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40</a:t>
                      </a:r>
                    </a:p>
                  </a:txBody>
                  <a:tcPr marL="91440" marR="91440" marT="45720" marB="45720" anchor="ctr">
                    <a:solidFill>
                      <a:srgbClr val="FFFFFF"/>
                    </a:solidFill>
                  </a:tcPr>
                </a:tc>
              </a:tr>
            </a:tbl>
          </a:graphicData>
        </a:graphic>
      </p:graphicFrame>
      <p:sp>
        <p:nvSpPr>
          <p:cNvPr id="6" name="Werkelijke verkoop: 40 tassen per week.">
            <a:extLst xmlns:a="http://schemas.openxmlformats.org/drawingml/2006/main">
              <a:ext uri="{FF2B5EF4-FFF2-40B4-BE49-F238E27FC236}">
                <a16:creationId xmlns:a16="http://schemas.microsoft.com/office/drawing/2014/main" id="{70C60169-5ADD-47CB-8991-CC56CD0A8AE5}"/>
              </a:ext>
            </a:extLst>
          </p:cNvPr>
          <p:cNvSpPr>
            <a:spLocks xmlns:a="http://schemas.openxmlformats.org/drawingml/2006/main" noGrp="1"/>
          </p:cNvSpPr>
          <p:nvPr/>
        </p:nvSpPr>
        <p:spPr>
          <a:xfrm xmlns:a="http://schemas.openxmlformats.org/drawingml/2006/main">
            <a:off x="571500" y="655320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Werkelijke verkoop: 40 tassen per week.</a:t>
            </a:r>
          </a:p>
        </p:txBody>
      </p:sp>
      <p:sp>
        <p:nvSpPr>
          <p:cNvPr id="7" name="Volgens bron C vindt iedere koper een verkoper.">
            <a:extLst xmlns:a="http://schemas.openxmlformats.org/drawingml/2006/main">
              <a:ext uri="{FF2B5EF4-FFF2-40B4-BE49-F238E27FC236}">
                <a16:creationId xmlns:a16="http://schemas.microsoft.com/office/drawing/2014/main" id="{E9257C3B-4095-4E46-AAA2-6E0C97E47048}"/>
              </a:ext>
            </a:extLst>
          </p:cNvPr>
          <p:cNvSpPr>
            <a:spLocks xmlns:a="http://schemas.openxmlformats.org/drawingml/2006/main" noGrp="1"/>
          </p:cNvSpPr>
          <p:nvPr/>
        </p:nvSpPr>
        <p:spPr>
          <a:xfrm xmlns:a="http://schemas.openxmlformats.org/drawingml/2006/main">
            <a:off x="571500" y="73628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Volgens bron C vindt iedere koper een verkoper.</a:t>
            </a:r>
          </a:p>
        </p:txBody>
      </p:sp>
    </p:spTree>
    <p:extLst>
      <p:ext uri="{BB962C8B-B14F-4D97-AF65-F5344CB8AC3E}">
        <p14:creationId xmlns:p14="http://schemas.microsoft.com/office/powerpoint/2010/main" val="13095312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37f: wat ondersteunen de bronnen?">
            <a:extLst xmlns:a="http://schemas.openxmlformats.org/drawingml/2006/main">
              <a:ext uri="{FF2B5EF4-FFF2-40B4-BE49-F238E27FC236}">
                <a16:creationId xmlns:a16="http://schemas.microsoft.com/office/drawing/2014/main" id="{C6908220-208A-4D3D-AFE1-9E3CD5B83A03}"/>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37f: wat ondersteunen de bronnen?</a:t>
            </a:r>
          </a:p>
        </p:txBody>
      </p:sp>
      <p:sp>
        <p:nvSpPr>
          <p:cNvPr id="2" name="">
            <a:extLst xmlns:a="http://schemas.openxmlformats.org/drawingml/2006/main">
              <a:ext uri="{FF2B5EF4-FFF2-40B4-BE49-F238E27FC236}">
                <a16:creationId xmlns:a16="http://schemas.microsoft.com/office/drawing/2014/main" id="{0D57B778-3984-4270-A14F-08EC5BA7109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0DA647D2-69BA-4137-81B1-42461A1C9B1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Opgave 37 · Boekpagina 120–121</a:t>
            </a:r>
          </a:p>
        </p:txBody>
      </p:sp>
      <p:sp>
        <p:nvSpPr>
          <p:cNvPr id="4" name="slide-number">
            <a:extLst xmlns:a="http://schemas.openxmlformats.org/drawingml/2006/main">
              <a:ext uri="{FF2B5EF4-FFF2-40B4-BE49-F238E27FC236}">
                <a16:creationId xmlns:a16="http://schemas.microsoft.com/office/drawing/2014/main" id="{69734AAF-5F77-4801-8DBA-AEC07B2CF45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De vraaglijn is naar links verschoven.”">
            <a:extLst xmlns:a="http://schemas.openxmlformats.org/drawingml/2006/main">
              <a:ext uri="{FF2B5EF4-FFF2-40B4-BE49-F238E27FC236}">
                <a16:creationId xmlns:a16="http://schemas.microsoft.com/office/drawing/2014/main" id="{A607299F-0B2B-40DB-9B35-D3AFE558F727}"/>
              </a:ext>
            </a:extLst>
          </p:cNvPr>
          <p:cNvSpPr>
            <a:spLocks xmlns:a="http://schemas.openxmlformats.org/drawingml/2006/main" noGrp="1"/>
          </p:cNvSpPr>
          <p:nvPr/>
        </p:nvSpPr>
        <p:spPr>
          <a:xfrm xmlns:a="http://schemas.openxmlformats.org/drawingml/2006/main">
            <a:off x="571500" y="1828800"/>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“De vraaglijn is naar links verschoven.”</a:t>
            </a:r>
          </a:p>
        </p:txBody>
      </p:sp>
      <p:sp>
        <p:nvSpPr>
          <p:cNvPr id="6" name="Onjuist: Qᵥ blijft 180 − 10P.&#10;De prijs stijgt van € 10 naar € 12:">
            <a:extLst xmlns:a="http://schemas.openxmlformats.org/drawingml/2006/main">
              <a:ext uri="{FF2B5EF4-FFF2-40B4-BE49-F238E27FC236}">
                <a16:creationId xmlns:a16="http://schemas.microsoft.com/office/drawing/2014/main" id="{5406F64C-51ED-41C3-AA93-9C99EAC80732}"/>
              </a:ext>
            </a:extLst>
          </p:cNvPr>
          <p:cNvSpPr>
            <a:spLocks xmlns:a="http://schemas.openxmlformats.org/drawingml/2006/main" noGrp="1"/>
          </p:cNvSpPr>
          <p:nvPr/>
        </p:nvSpPr>
        <p:spPr>
          <a:xfrm xmlns:a="http://schemas.openxmlformats.org/drawingml/2006/main">
            <a:off x="571500" y="2771775"/>
            <a:ext cx="14097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658A"/>
                </a:solidFill>
                <a:latin typeface="Arial"/>
                <a:ea typeface="Arial"/>
                <a:cs typeface="Arial"/>
              </a:defRPr>
            </a:pPr>
            <a:r>
              <a:rPr sz="2775" b="0">
                <a:solidFill>
                  <a:srgbClr val="17658A"/>
                </a:solidFill>
                <a:latin typeface="Arial"/>
                <a:ea typeface="Arial"/>
                <a:cs typeface="Arial"/>
              </a:rPr>
              <a:t>Onjuist: Qᵥ blijft 180 − 10P.</a:t>
            </a:r>
          </a:p>
          <a:p xmlns:a="http://schemas.openxmlformats.org/drawingml/2006/main">
            <a:pPr algn="l">
              <a:defRPr sz="2775" b="0">
                <a:solidFill>
                  <a:srgbClr val="17658A"/>
                </a:solidFill>
                <a:latin typeface="Arial"/>
                <a:ea typeface="Arial"/>
                <a:cs typeface="Arial"/>
              </a:defRPr>
            </a:pPr>
            <a:r>
              <a:rPr sz="2775" b="0">
                <a:solidFill>
                  <a:srgbClr val="17658A"/>
                </a:solidFill>
                <a:latin typeface="Arial"/>
                <a:ea typeface="Arial"/>
                <a:cs typeface="Arial"/>
              </a:rPr>
              <a:t>De prijs stijgt van € 10 naar € 12: langs V van 80 naar 60.</a:t>
            </a:r>
          </a:p>
        </p:txBody>
      </p:sp>
      <p:sp>
        <p:nvSpPr>
          <p:cNvPr id="7" name="">
            <a:extLst xmlns:a="http://schemas.openxmlformats.org/drawingml/2006/main">
              <a:ext uri="{FF2B5EF4-FFF2-40B4-BE49-F238E27FC236}">
                <a16:creationId xmlns:a16="http://schemas.microsoft.com/office/drawing/2014/main" id="{F78FFE89-95BB-45DE-AAB3-283C3CE14F2B}"/>
              </a:ext>
            </a:extLst>
          </p:cNvPr>
          <p:cNvSpPr>
            <a:spLocks xmlns:a="http://schemas.openxmlformats.org/drawingml/2006/main" noGrp="1"/>
          </p:cNvSpPr>
          <p:nvPr/>
        </p:nvSpPr>
        <p:spPr>
          <a:xfrm xmlns:a="http://schemas.openxmlformats.org/drawingml/2006/main">
            <a:off x="571500" y="4305300"/>
            <a:ext cx="14097000" cy="0"/>
          </a:xfrm>
          <a:prstGeom xmlns:a="http://schemas.openxmlformats.org/drawingml/2006/main" prst="line">
            <a:avLst/>
          </a:prstGeom>
          <a:ln xmlns:a="http://schemas.openxmlformats.org/drawingml/2006/main" w="19050">
            <a:solidFill>
              <a:srgbClr val="C6D2DB"/>
            </a:solidFill>
          </a:ln>
        </p:spPr>
      </p:sp>
      <p:sp>
        <p:nvSpPr>
          <p:cNvPr id="8" name="“Iedereen is tevreden.”">
            <a:extLst xmlns:a="http://schemas.openxmlformats.org/drawingml/2006/main">
              <a:ext uri="{FF2B5EF4-FFF2-40B4-BE49-F238E27FC236}">
                <a16:creationId xmlns:a16="http://schemas.microsoft.com/office/drawing/2014/main" id="{9C6C80F2-9145-4786-BEA4-9E57196ED86D}"/>
              </a:ext>
            </a:extLst>
          </p:cNvPr>
          <p:cNvSpPr>
            <a:spLocks xmlns:a="http://schemas.openxmlformats.org/drawingml/2006/main" noGrp="1"/>
          </p:cNvSpPr>
          <p:nvPr/>
        </p:nvSpPr>
        <p:spPr>
          <a:xfrm xmlns:a="http://schemas.openxmlformats.org/drawingml/2006/main">
            <a:off x="571500" y="465772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“Iedereen is tevreden.”</a:t>
            </a:r>
          </a:p>
        </p:txBody>
      </p:sp>
      <p:sp>
        <p:nvSpPr>
          <p:cNvPr id="9" name="Niet bewezen: bij € 12 passen de plannen voor 60 tassen.&#10;Het mode">
            <a:extLst xmlns:a="http://schemas.openxmlformats.org/drawingml/2006/main">
              <a:ext uri="{FF2B5EF4-FFF2-40B4-BE49-F238E27FC236}">
                <a16:creationId xmlns:a16="http://schemas.microsoft.com/office/drawing/2014/main" id="{FAE961CA-F1A4-41B0-A563-2EB3E98E6CF0}"/>
              </a:ext>
            </a:extLst>
          </p:cNvPr>
          <p:cNvSpPr>
            <a:spLocks xmlns:a="http://schemas.openxmlformats.org/drawingml/2006/main" noGrp="1"/>
          </p:cNvSpPr>
          <p:nvPr/>
        </p:nvSpPr>
        <p:spPr>
          <a:xfrm xmlns:a="http://schemas.openxmlformats.org/drawingml/2006/main">
            <a:off x="571500" y="5495925"/>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7658A"/>
                </a:solidFill>
                <a:latin typeface="Arial"/>
                <a:ea typeface="Arial"/>
                <a:cs typeface="Arial"/>
              </a:defRPr>
            </a:pPr>
            <a:r>
              <a:rPr sz="2775" b="0">
                <a:solidFill>
                  <a:srgbClr val="17658A"/>
                </a:solidFill>
                <a:latin typeface="Arial"/>
                <a:ea typeface="Arial"/>
                <a:cs typeface="Arial"/>
              </a:rPr>
              <a:t>Niet bewezen: bij € 12 passen de plannen voor 60 tassen.</a:t>
            </a:r>
          </a:p>
          <a:p xmlns:a="http://schemas.openxmlformats.org/drawingml/2006/main">
            <a:pPr algn="l">
              <a:defRPr sz="2775" b="0">
                <a:solidFill>
                  <a:srgbClr val="17658A"/>
                </a:solidFill>
                <a:latin typeface="Arial"/>
                <a:ea typeface="Arial"/>
                <a:cs typeface="Arial"/>
              </a:defRPr>
            </a:pPr>
            <a:r>
              <a:rPr sz="2775" b="0">
                <a:solidFill>
                  <a:srgbClr val="17658A"/>
                </a:solidFill>
                <a:latin typeface="Arial"/>
                <a:ea typeface="Arial"/>
                <a:cs typeface="Arial"/>
              </a:rPr>
              <a:t>Het model meet geen algemene tevredenheid.</a:t>
            </a:r>
          </a:p>
        </p:txBody>
      </p:sp>
      <p:sp>
        <p:nvSpPr>
          <p:cNvPr id="10" name="De enquêtewaardering 4,6/5 was niet nodig voor de evenwichten.">
            <a:extLst xmlns:a="http://schemas.openxmlformats.org/drawingml/2006/main">
              <a:ext uri="{FF2B5EF4-FFF2-40B4-BE49-F238E27FC236}">
                <a16:creationId xmlns:a16="http://schemas.microsoft.com/office/drawing/2014/main" id="{ABA6DA44-E573-44C9-94DD-255AA1E8BAAB}"/>
              </a:ext>
            </a:extLst>
          </p:cNvPr>
          <p:cNvSpPr>
            <a:spLocks xmlns:a="http://schemas.openxmlformats.org/drawingml/2006/main" noGrp="1"/>
          </p:cNvSpPr>
          <p:nvPr/>
        </p:nvSpPr>
        <p:spPr>
          <a:xfrm xmlns:a="http://schemas.openxmlformats.org/drawingml/2006/main">
            <a:off x="571500" y="7267575"/>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De enquêtewaardering 4,6/5 was niet nodig voor de evenwichten.</a:t>
            </a:r>
          </a:p>
        </p:txBody>
      </p:sp>
    </p:spTree>
    <p:extLst>
      <p:ext uri="{BB962C8B-B14F-4D97-AF65-F5344CB8AC3E}">
        <p14:creationId xmlns:p14="http://schemas.microsoft.com/office/powerpoint/2010/main" val="8560173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1.3.4 Gemengde opgaven">
            <a:extLst xmlns:a="http://schemas.openxmlformats.org/drawingml/2006/main">
              <a:ext uri="{FF2B5EF4-FFF2-40B4-BE49-F238E27FC236}">
                <a16:creationId xmlns:a16="http://schemas.microsoft.com/office/drawing/2014/main" id="{4383ECFF-2E64-4417-99D7-94470F8C2C49}"/>
              </a:ext>
            </a:extLst>
          </p:cNvPr>
          <p:cNvSpPr>
            <a:spLocks xmlns:a="http://schemas.openxmlformats.org/drawingml/2006/main" noGrp="1"/>
          </p:cNvSpPr>
          <p:nvPr/>
        </p:nvSpPr>
        <p:spPr>
          <a:xfrm xmlns:a="http://schemas.openxmlformats.org/drawingml/2006/main">
            <a:off x="571500" y="400050"/>
            <a:ext cx="14097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83247"/>
                </a:solidFill>
                <a:latin typeface="Arial"/>
                <a:ea typeface="Arial"/>
                <a:cs typeface="Arial"/>
              </a:defRPr>
            </a:pPr>
            <a:r>
              <a:rPr sz="3825" b="1">
                <a:solidFill>
                  <a:srgbClr val="183247"/>
                </a:solidFill>
                <a:latin typeface="Arial"/>
                <a:ea typeface="Arial"/>
                <a:cs typeface="Arial"/>
              </a:rPr>
              <a:t>Deze les: §1.3.4 Gemengde opgaven</a:t>
            </a:r>
          </a:p>
        </p:txBody>
      </p:sp>
      <p:sp>
        <p:nvSpPr>
          <p:cNvPr id="2" name="">
            <a:extLst xmlns:a="http://schemas.openxmlformats.org/drawingml/2006/main">
              <a:ext uri="{FF2B5EF4-FFF2-40B4-BE49-F238E27FC236}">
                <a16:creationId xmlns:a16="http://schemas.microsoft.com/office/drawing/2014/main" id="{2A03188B-9A23-4419-9A01-13B83701A94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footer">
            <a:extLst xmlns:a="http://schemas.openxmlformats.org/drawingml/2006/main">
              <a:ext uri="{FF2B5EF4-FFF2-40B4-BE49-F238E27FC236}">
                <a16:creationId xmlns:a16="http://schemas.microsoft.com/office/drawing/2014/main" id="{E67FB733-1AD0-4003-91D6-D69135BE2281}"/>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§1.3.4 Gemengde opgaven · Boek 1, tweede editie 2026</a:t>
            </a:r>
          </a:p>
        </p:txBody>
      </p:sp>
      <p:sp>
        <p:nvSpPr>
          <p:cNvPr id="4" name="slide-number">
            <a:extLst xmlns:a="http://schemas.openxmlformats.org/drawingml/2006/main">
              <a:ext uri="{FF2B5EF4-FFF2-40B4-BE49-F238E27FC236}">
                <a16:creationId xmlns:a16="http://schemas.microsoft.com/office/drawing/2014/main" id="{DAE2C66B-86D9-4793-ADF3-20C40B756F1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phase">
            <a:extLst xmlns:a="http://schemas.openxmlformats.org/drawingml/2006/main">
              <a:ext uri="{FF2B5EF4-FFF2-40B4-BE49-F238E27FC236}">
                <a16:creationId xmlns:a16="http://schemas.microsoft.com/office/drawing/2014/main" id="{74E9F51E-9899-4460-9D9F-85A3F9CE6F8D}"/>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005D17B6-8A63-47E9-AF06-C1C3F93E7E0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A596D7DF-7E74-4DEC-AF71-7DA38A194913}"/>
              </a:ext>
            </a:extLst>
          </p:cNvPr>
          <p:cNvSpPr>
            <a:spLocks xmlns:a="http://schemas.openxmlformats.org/drawingml/2006/main" noGrp="1"/>
          </p:cNvSpPr>
          <p:nvPr/>
        </p:nvSpPr>
        <p:spPr>
          <a:xfrm xmlns:a="http://schemas.openxmlformats.org/drawingml/2006/main">
            <a:off x="571500" y="2324100"/>
            <a:ext cx="457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AB41C9C-B3AB-449B-A1B2-60BBCE86073F}"/>
              </a:ext>
            </a:extLst>
          </p:cNvPr>
          <p:cNvSpPr>
            <a:spLocks xmlns:a="http://schemas.openxmlformats.org/drawingml/2006/main" noGrp="1"/>
          </p:cNvSpPr>
          <p:nvPr/>
        </p:nvSpPr>
        <p:spPr>
          <a:xfrm xmlns:a="http://schemas.openxmlformats.org/drawingml/2006/main">
            <a:off x="1104900" y="2324100"/>
            <a:ext cx="7534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schrift, pen en rekenmachine.</a:t>
            </a:r>
          </a:p>
        </p:txBody>
      </p:sp>
      <p:sp>
        <p:nvSpPr>
          <p:cNvPr id="9" name="route-number-2">
            <a:extLst xmlns:a="http://schemas.openxmlformats.org/drawingml/2006/main">
              <a:ext uri="{FF2B5EF4-FFF2-40B4-BE49-F238E27FC236}">
                <a16:creationId xmlns:a16="http://schemas.microsoft.com/office/drawing/2014/main" id="{A3C7C990-96D9-43D8-88BC-ECB1D71C7EC7}"/>
              </a:ext>
            </a:extLst>
          </p:cNvPr>
          <p:cNvSpPr>
            <a:spLocks xmlns:a="http://schemas.openxmlformats.org/drawingml/2006/main" noGrp="1"/>
          </p:cNvSpPr>
          <p:nvPr/>
        </p:nvSpPr>
        <p:spPr>
          <a:xfrm xmlns:a="http://schemas.openxmlformats.org/drawingml/2006/main">
            <a:off x="571500" y="3238500"/>
            <a:ext cx="457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187D0EAA-CB85-496B-A57B-BFAD588F9BD5}"/>
              </a:ext>
            </a:extLst>
          </p:cNvPr>
          <p:cNvSpPr>
            <a:spLocks xmlns:a="http://schemas.openxmlformats.org/drawingml/2006/main" noGrp="1"/>
          </p:cNvSpPr>
          <p:nvPr/>
        </p:nvSpPr>
        <p:spPr>
          <a:xfrm xmlns:a="http://schemas.openxmlformats.org/drawingml/2006/main">
            <a:off x="1104900" y="3238500"/>
            <a:ext cx="75342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420C93EE-A774-49F5-99AD-1D65571CC756}"/>
              </a:ext>
            </a:extLst>
          </p:cNvPr>
          <p:cNvSpPr>
            <a:spLocks xmlns:a="http://schemas.openxmlformats.org/drawingml/2006/main" noGrp="1"/>
          </p:cNvSpPr>
          <p:nvPr/>
        </p:nvSpPr>
        <p:spPr>
          <a:xfrm xmlns:a="http://schemas.openxmlformats.org/drawingml/2006/main">
            <a:off x="571500" y="38481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B9568145-E973-41B7-853D-20F025FF0F49}"/>
              </a:ext>
            </a:extLst>
          </p:cNvPr>
          <p:cNvSpPr>
            <a:spLocks xmlns:a="http://schemas.openxmlformats.org/drawingml/2006/main" noGrp="1"/>
          </p:cNvSpPr>
          <p:nvPr/>
        </p:nvSpPr>
        <p:spPr>
          <a:xfrm xmlns:a="http://schemas.openxmlformats.org/drawingml/2006/main">
            <a:off x="1104900" y="3848100"/>
            <a:ext cx="75342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Korte herhaling en aanpak.</a:t>
            </a:r>
          </a:p>
        </p:txBody>
      </p:sp>
      <p:sp>
        <p:nvSpPr>
          <p:cNvPr id="13" name="route-number-4">
            <a:extLst xmlns:a="http://schemas.openxmlformats.org/drawingml/2006/main">
              <a:ext uri="{FF2B5EF4-FFF2-40B4-BE49-F238E27FC236}">
                <a16:creationId xmlns:a16="http://schemas.microsoft.com/office/drawing/2014/main" id="{ABB786F2-C062-469D-AFAF-82D13750FBA9}"/>
              </a:ext>
            </a:extLst>
          </p:cNvPr>
          <p:cNvSpPr>
            <a:spLocks xmlns:a="http://schemas.openxmlformats.org/drawingml/2006/main" noGrp="1"/>
          </p:cNvSpPr>
          <p:nvPr/>
        </p:nvSpPr>
        <p:spPr>
          <a:xfrm xmlns:a="http://schemas.openxmlformats.org/drawingml/2006/main">
            <a:off x="571500" y="4457700"/>
            <a:ext cx="457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CEACE739-FACB-449A-A407-DFC981237EE1}"/>
              </a:ext>
            </a:extLst>
          </p:cNvPr>
          <p:cNvSpPr>
            <a:spLocks xmlns:a="http://schemas.openxmlformats.org/drawingml/2006/main" noGrp="1"/>
          </p:cNvSpPr>
          <p:nvPr/>
        </p:nvSpPr>
        <p:spPr>
          <a:xfrm xmlns:a="http://schemas.openxmlformats.org/drawingml/2006/main">
            <a:off x="1104900" y="4457700"/>
            <a:ext cx="75342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Werk verder aan de gemengde opgaven,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stel vragen en kijk je antwoorden na.</a:t>
            </a:r>
          </a:p>
        </p:txBody>
      </p:sp>
      <p:sp>
        <p:nvSpPr>
          <p:cNvPr id="15" name="route-number-5">
            <a:extLst xmlns:a="http://schemas.openxmlformats.org/drawingml/2006/main">
              <a:ext uri="{FF2B5EF4-FFF2-40B4-BE49-F238E27FC236}">
                <a16:creationId xmlns:a16="http://schemas.microsoft.com/office/drawing/2014/main" id="{F87B971C-272B-4C18-88E6-09D2279D4C24}"/>
              </a:ext>
            </a:extLst>
          </p:cNvPr>
          <p:cNvSpPr>
            <a:spLocks xmlns:a="http://schemas.openxmlformats.org/drawingml/2006/main" noGrp="1"/>
          </p:cNvSpPr>
          <p:nvPr/>
        </p:nvSpPr>
        <p:spPr>
          <a:xfrm xmlns:a="http://schemas.openxmlformats.org/drawingml/2006/main">
            <a:off x="571500" y="5791200"/>
            <a:ext cx="457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69901B26-53E8-455C-8330-765F9829D0CA}"/>
              </a:ext>
            </a:extLst>
          </p:cNvPr>
          <p:cNvSpPr>
            <a:spLocks xmlns:a="http://schemas.openxmlformats.org/drawingml/2006/main" noGrp="1"/>
          </p:cNvSpPr>
          <p:nvPr/>
        </p:nvSpPr>
        <p:spPr>
          <a:xfrm xmlns:a="http://schemas.openxmlformats.org/drawingml/2006/main">
            <a:off x="1104900" y="5791200"/>
            <a:ext cx="75342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A16DB761-11A1-42B7-B1FC-F0F14FE1F3A7}"/>
              </a:ext>
            </a:extLst>
          </p:cNvPr>
          <p:cNvSpPr>
            <a:spLocks xmlns:a="http://schemas.openxmlformats.org/drawingml/2006/main" noGrp="1"/>
          </p:cNvSpPr>
          <p:nvPr/>
        </p:nvSpPr>
        <p:spPr>
          <a:xfrm xmlns:a="http://schemas.openxmlformats.org/drawingml/2006/main">
            <a:off x="571500" y="664845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9C4F373F-50BB-475E-9585-6B5C901C3586}"/>
              </a:ext>
            </a:extLst>
          </p:cNvPr>
          <p:cNvSpPr>
            <a:spLocks xmlns:a="http://schemas.openxmlformats.org/drawingml/2006/main" noGrp="1"/>
          </p:cNvSpPr>
          <p:nvPr/>
        </p:nvSpPr>
        <p:spPr>
          <a:xfrm xmlns:a="http://schemas.openxmlformats.org/drawingml/2006/main">
            <a:off x="1104900" y="6648450"/>
            <a:ext cx="7534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opgave 37.</a:t>
            </a:r>
          </a:p>
        </p:txBody>
      </p:sp>
      <p:sp>
        <p:nvSpPr>
          <p:cNvPr id="19" name="route-number-7">
            <a:extLst xmlns:a="http://schemas.openxmlformats.org/drawingml/2006/main">
              <a:ext uri="{FF2B5EF4-FFF2-40B4-BE49-F238E27FC236}">
                <a16:creationId xmlns:a16="http://schemas.microsoft.com/office/drawing/2014/main" id="{B42A8B15-F680-43A9-A306-D8F372197B80}"/>
              </a:ext>
            </a:extLst>
          </p:cNvPr>
          <p:cNvSpPr>
            <a:spLocks xmlns:a="http://schemas.openxmlformats.org/drawingml/2006/main" noGrp="1"/>
          </p:cNvSpPr>
          <p:nvPr/>
        </p:nvSpPr>
        <p:spPr>
          <a:xfrm xmlns:a="http://schemas.openxmlformats.org/drawingml/2006/main">
            <a:off x="571500" y="7315200"/>
            <a:ext cx="457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CC4385C7-94F1-414B-B563-D660D02C9B59}"/>
              </a:ext>
            </a:extLst>
          </p:cNvPr>
          <p:cNvSpPr>
            <a:spLocks xmlns:a="http://schemas.openxmlformats.org/drawingml/2006/main" noGrp="1"/>
          </p:cNvSpPr>
          <p:nvPr/>
        </p:nvSpPr>
        <p:spPr>
          <a:xfrm xmlns:a="http://schemas.openxmlformats.org/drawingml/2006/main">
            <a:off x="1104900" y="7315200"/>
            <a:ext cx="75342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5806837F-2E0A-49C7-9300-213CD3024FC4}"/>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F54B1B35-92C8-4ED5-B1FD-41C7A7AF405B}"/>
              </a:ext>
            </a:extLst>
          </p:cNvPr>
          <p:cNvSpPr>
            <a:spLocks xmlns:a="http://schemas.openxmlformats.org/drawingml/2006/main" noGrp="1"/>
          </p:cNvSpPr>
          <p:nvPr/>
        </p:nvSpPr>
        <p:spPr>
          <a:xfrm xmlns:a="http://schemas.openxmlformats.org/drawingml/2006/main">
            <a:off x="9258300" y="2324100"/>
            <a:ext cx="5381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Bronnen kiezen. Evenwichten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berekenen en tekenen.</a:t>
            </a:r>
          </a:p>
          <a:p xmlns:a="http://schemas.openxmlformats.org/drawingml/2006/main">
            <a:pPr algn="l">
              <a:defRPr sz="2325" b="0">
                <a:solidFill>
                  <a:srgbClr val="183247"/>
                </a:solidFill>
                <a:latin typeface="Arial"/>
                <a:ea typeface="Arial"/>
                <a:cs typeface="Arial"/>
              </a:defRPr>
            </a:pPr>
            <a:r>
              <a:rPr sz="2325" b="0">
                <a:solidFill>
                  <a:srgbClr val="183247"/>
                </a:solidFill>
                <a:latin typeface="Arial"/>
                <a:ea typeface="Arial"/>
                <a:cs typeface="Arial"/>
              </a:rPr>
              <a:t>Veranderingen onderbouwen.</a:t>
            </a:r>
          </a:p>
        </p:txBody>
      </p:sp>
      <p:sp>
        <p:nvSpPr>
          <p:cNvPr id="23" name="">
            <a:extLst xmlns:a="http://schemas.openxmlformats.org/drawingml/2006/main">
              <a:ext uri="{FF2B5EF4-FFF2-40B4-BE49-F238E27FC236}">
                <a16:creationId xmlns:a16="http://schemas.microsoft.com/office/drawing/2014/main" id="{A1AE7022-711C-4932-8512-EC764422C8DB}"/>
              </a:ext>
            </a:extLst>
          </p:cNvPr>
          <p:cNvSpPr>
            <a:spLocks xmlns:a="http://schemas.openxmlformats.org/drawingml/2006/main" noGrp="1"/>
          </p:cNvSpPr>
          <p:nvPr/>
        </p:nvSpPr>
        <p:spPr>
          <a:xfrm xmlns:a="http://schemas.openxmlformats.org/drawingml/2006/main">
            <a:off x="9258300" y="361950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90C7847-66D5-4702-A9B4-69A4E36B3F8E}"/>
              </a:ext>
            </a:extLst>
          </p:cNvPr>
          <p:cNvSpPr>
            <a:spLocks xmlns:a="http://schemas.openxmlformats.org/drawingml/2006/main" noGrp="1"/>
          </p:cNvSpPr>
          <p:nvPr/>
        </p:nvSpPr>
        <p:spPr>
          <a:xfrm xmlns:a="http://schemas.openxmlformats.org/drawingml/2006/main">
            <a:off x="9258300" y="38766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ED17EBF7-4F49-4223-A5E4-CC38A1CE6101}"/>
              </a:ext>
            </a:extLst>
          </p:cNvPr>
          <p:cNvSpPr>
            <a:spLocks xmlns:a="http://schemas.openxmlformats.org/drawingml/2006/main" noGrp="1"/>
          </p:cNvSpPr>
          <p:nvPr/>
        </p:nvSpPr>
        <p:spPr>
          <a:xfrm xmlns:a="http://schemas.openxmlformats.org/drawingml/2006/main">
            <a:off x="9258300" y="4391025"/>
            <a:ext cx="5381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118 · Opgave 34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Bij twijfel: herneem p. 87–88</a:t>
            </a:r>
          </a:p>
        </p:txBody>
      </p:sp>
      <p:sp>
        <p:nvSpPr>
          <p:cNvPr id="26" name="">
            <a:extLst xmlns:a="http://schemas.openxmlformats.org/drawingml/2006/main">
              <a:ext uri="{FF2B5EF4-FFF2-40B4-BE49-F238E27FC236}">
                <a16:creationId xmlns:a16="http://schemas.microsoft.com/office/drawing/2014/main" id="{F5DDB8EA-B45F-4F36-B5EF-D9F4A39D34A2}"/>
              </a:ext>
            </a:extLst>
          </p:cNvPr>
          <p:cNvSpPr>
            <a:spLocks xmlns:a="http://schemas.openxmlformats.org/drawingml/2006/main" noGrp="1"/>
          </p:cNvSpPr>
          <p:nvPr/>
        </p:nvSpPr>
        <p:spPr>
          <a:xfrm xmlns:a="http://schemas.openxmlformats.org/drawingml/2006/main">
            <a:off x="9258300" y="544830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28DD2464-60D7-4D33-B56E-0FDF8BDBB8F9}"/>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F028CF93-0AF9-4CD3-8F4C-140CF04550E6}"/>
              </a:ext>
            </a:extLst>
          </p:cNvPr>
          <p:cNvSpPr>
            <a:spLocks xmlns:a="http://schemas.openxmlformats.org/drawingml/2006/main" noGrp="1"/>
          </p:cNvSpPr>
          <p:nvPr/>
        </p:nvSpPr>
        <p:spPr>
          <a:xfrm xmlns:a="http://schemas.openxmlformats.org/drawingml/2006/main">
            <a:off x="9258300" y="6257925"/>
            <a:ext cx="538162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§1.3.4 · Opgaven 34–38</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Gemengd: 34–36 · Doel: 37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Terugblik: 38 · Geen bonus</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118–122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675791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2026-10-03T14:42:29.5320000Z</dcterms:created>
  <dcterms:modified xsi:type="dcterms:W3CDTF">2026-10-03T14:42:29.5320000Z</dcterms:modified>
</coreProperties>
</file>