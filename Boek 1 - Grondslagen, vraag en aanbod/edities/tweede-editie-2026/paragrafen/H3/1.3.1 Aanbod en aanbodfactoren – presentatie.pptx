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5.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6.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7.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ba331931a8a4efe" /><Relationship Type="http://schemas.openxmlformats.org/officeDocument/2006/relationships/extended-properties" Target="/docProps/app.xml" Id="R62cfcc06caac4fa4" /><Relationship Type="http://schemas.openxmlformats.org/officeDocument/2006/relationships/officeDocument" Target="/ppt/presentation.xml" Id="Rb1ed412014f54b73" /></Relationships>
</file>

<file path=ppt/presentation.xml><?xml version="1.0" encoding="utf-8"?>
<p:presentation xmlns:p="http://schemas.openxmlformats.org/presentationml/2006/main">
  <p:sldMasterIdLst>
    <p:sldMasterId xmlns:r="http://schemas.openxmlformats.org/officeDocument/2006/relationships" id="2147483648" r:id="R4958d16485f54dd9"/>
  </p:sldMasterIdLst>
  <p:notesMasterIdLst>
    <p:notesMasterId xmlns:r="http://schemas.openxmlformats.org/officeDocument/2006/relationships" r:id="R6bdefbfd0d114394"/>
  </p:notesMasterIdLst>
  <p:sldIdLst>
    <p:sldId xmlns:r="http://schemas.openxmlformats.org/officeDocument/2006/relationships" id="256" r:id="R3136dfcd82804d48"/>
    <p:sldId xmlns:r="http://schemas.openxmlformats.org/officeDocument/2006/relationships" id="257" r:id="R8618b75bab4b4010"/>
    <p:sldId xmlns:r="http://schemas.openxmlformats.org/officeDocument/2006/relationships" id="258" r:id="Rc7f4a4a80f5e42fa"/>
    <p:sldId xmlns:r="http://schemas.openxmlformats.org/officeDocument/2006/relationships" id="259" r:id="R10840fbd56ec416e"/>
    <p:sldId xmlns:r="http://schemas.openxmlformats.org/officeDocument/2006/relationships" id="260" r:id="Rdb3cafecf15243aa"/>
    <p:sldId xmlns:r="http://schemas.openxmlformats.org/officeDocument/2006/relationships" id="261" r:id="R3abbcf9d549e4c3d"/>
    <p:sldId xmlns:r="http://schemas.openxmlformats.org/officeDocument/2006/relationships" id="262" r:id="R2c0b3d1f1f23488e"/>
    <p:sldId xmlns:r="http://schemas.openxmlformats.org/officeDocument/2006/relationships" id="263" r:id="R6e2c9d14d33a4c49"/>
    <p:sldId xmlns:r="http://schemas.openxmlformats.org/officeDocument/2006/relationships" id="264" r:id="R2b45f67b47274ae0"/>
    <p:sldId xmlns:r="http://schemas.openxmlformats.org/officeDocument/2006/relationships" id="265" r:id="R869fb7c364d24f3f"/>
    <p:sldId xmlns:r="http://schemas.openxmlformats.org/officeDocument/2006/relationships" id="266" r:id="R8ac4031db1cc42fc"/>
    <p:sldId xmlns:r="http://schemas.openxmlformats.org/officeDocument/2006/relationships" id="267" r:id="R4776704cf22149a9"/>
    <p:sldId xmlns:r="http://schemas.openxmlformats.org/officeDocument/2006/relationships" id="268" r:id="R384cdb0f70794f8a"/>
    <p:sldId xmlns:r="http://schemas.openxmlformats.org/officeDocument/2006/relationships" id="269" r:id="Ra8ac22d57f9f463c"/>
    <p:sldId xmlns:r="http://schemas.openxmlformats.org/officeDocument/2006/relationships" id="270" r:id="R194d847940154541"/>
    <p:sldId xmlns:r="http://schemas.openxmlformats.org/officeDocument/2006/relationships" id="271" r:id="R1e055d1c09e54fe1"/>
    <p:sldId xmlns:r="http://schemas.openxmlformats.org/officeDocument/2006/relationships" id="272" r:id="Raf26764475c7405e"/>
    <p:sldId xmlns:r="http://schemas.openxmlformats.org/officeDocument/2006/relationships" id="273" r:id="R8b9c0d13ea034ab9"/>
    <p:sldId xmlns:r="http://schemas.openxmlformats.org/officeDocument/2006/relationships" id="274" r:id="R9b5316d464034d2d"/>
    <p:sldId xmlns:r="http://schemas.openxmlformats.org/officeDocument/2006/relationships" id="275" r:id="Rae7258913bc343a7"/>
    <p:sldId xmlns:r="http://schemas.openxmlformats.org/officeDocument/2006/relationships" id="276" r:id="R26e48b7da6674559"/>
    <p:sldId xmlns:r="http://schemas.openxmlformats.org/officeDocument/2006/relationships" id="277" r:id="R536ef0b0062b4316"/>
    <p:sldId xmlns:r="http://schemas.openxmlformats.org/officeDocument/2006/relationships" id="278" r:id="R3cc458c015104ef5"/>
    <p:sldId xmlns:r="http://schemas.openxmlformats.org/officeDocument/2006/relationships" id="279" r:id="R6d3ec1df320e47c7"/>
    <p:sldId xmlns:r="http://schemas.openxmlformats.org/officeDocument/2006/relationships" id="280" r:id="Re8d973742ed84a44"/>
    <p:sldId xmlns:r="http://schemas.openxmlformats.org/officeDocument/2006/relationships" id="281" r:id="R96122f8b32af4ed1"/>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9dd3a198648432f" /><Relationship Type="http://schemas.openxmlformats.org/officeDocument/2006/relationships/slideMaster" Target="/ppt/slideMasters/slideMaster1.xml" Id="R4958d16485f54dd9" /><Relationship Type="http://schemas.openxmlformats.org/officeDocument/2006/relationships/notesMaster" Target="/ppt/notesMasters/notesMaster1.xml" Id="R6bdefbfd0d114394" /><Relationship Type="http://schemas.openxmlformats.org/officeDocument/2006/relationships/presProps" Target="/ppt/presProps.xml" Id="Rebd1e9a254534e54" /><Relationship Type="http://schemas.openxmlformats.org/officeDocument/2006/relationships/tableStyles" Target="/ppt/tableStyles.xml" Id="Rd27db9c90b7f4e1e" /><Relationship Type="http://schemas.openxmlformats.org/officeDocument/2006/relationships/slide" Target="/ppt/slides/slide1.xml" Id="R3136dfcd82804d48" /><Relationship Type="http://schemas.openxmlformats.org/officeDocument/2006/relationships/slide" Target="/ppt/slides/slide2.xml" Id="R8618b75bab4b4010" /><Relationship Type="http://schemas.openxmlformats.org/officeDocument/2006/relationships/slide" Target="/ppt/slides/slide3.xml" Id="Rc7f4a4a80f5e42fa" /><Relationship Type="http://schemas.openxmlformats.org/officeDocument/2006/relationships/slide" Target="/ppt/slides/slide4.xml" Id="R10840fbd56ec416e" /><Relationship Type="http://schemas.openxmlformats.org/officeDocument/2006/relationships/slide" Target="/ppt/slides/slide5.xml" Id="Rdb3cafecf15243aa" /><Relationship Type="http://schemas.openxmlformats.org/officeDocument/2006/relationships/slide" Target="/ppt/slides/slide6.xml" Id="R3abbcf9d549e4c3d" /><Relationship Type="http://schemas.openxmlformats.org/officeDocument/2006/relationships/slide" Target="/ppt/slides/slide7.xml" Id="R2c0b3d1f1f23488e" /><Relationship Type="http://schemas.openxmlformats.org/officeDocument/2006/relationships/slide" Target="/ppt/slides/slide8.xml" Id="R6e2c9d14d33a4c49" /><Relationship Type="http://schemas.openxmlformats.org/officeDocument/2006/relationships/slide" Target="/ppt/slides/slide9.xml" Id="R2b45f67b47274ae0" /><Relationship Type="http://schemas.openxmlformats.org/officeDocument/2006/relationships/slide" Target="/ppt/slides/slide10.xml" Id="R869fb7c364d24f3f" /><Relationship Type="http://schemas.openxmlformats.org/officeDocument/2006/relationships/slide" Target="/ppt/slides/slide11.xml" Id="R8ac4031db1cc42fc" /><Relationship Type="http://schemas.openxmlformats.org/officeDocument/2006/relationships/slide" Target="/ppt/slides/slide12.xml" Id="R4776704cf22149a9" /><Relationship Type="http://schemas.openxmlformats.org/officeDocument/2006/relationships/slide" Target="/ppt/slides/slide13.xml" Id="R384cdb0f70794f8a" /><Relationship Type="http://schemas.openxmlformats.org/officeDocument/2006/relationships/slide" Target="/ppt/slides/slide14.xml" Id="Ra8ac22d57f9f463c" /><Relationship Type="http://schemas.openxmlformats.org/officeDocument/2006/relationships/slide" Target="/ppt/slides/slide15.xml" Id="R194d847940154541" /><Relationship Type="http://schemas.openxmlformats.org/officeDocument/2006/relationships/slide" Target="/ppt/slides/slide16.xml" Id="R1e055d1c09e54fe1" /><Relationship Type="http://schemas.openxmlformats.org/officeDocument/2006/relationships/slide" Target="/ppt/slides/slide17.xml" Id="Raf26764475c7405e" /><Relationship Type="http://schemas.openxmlformats.org/officeDocument/2006/relationships/slide" Target="/ppt/slides/slide18.xml" Id="R8b9c0d13ea034ab9" /><Relationship Type="http://schemas.openxmlformats.org/officeDocument/2006/relationships/slide" Target="/ppt/slides/slide19.xml" Id="R9b5316d464034d2d" /><Relationship Type="http://schemas.openxmlformats.org/officeDocument/2006/relationships/slide" Target="/ppt/slides/slide20.xml" Id="Rae7258913bc343a7" /><Relationship Type="http://schemas.openxmlformats.org/officeDocument/2006/relationships/slide" Target="/ppt/slides/slide21.xml" Id="R26e48b7da6674559" /><Relationship Type="http://schemas.openxmlformats.org/officeDocument/2006/relationships/slide" Target="/ppt/slides/slide22.xml" Id="R536ef0b0062b4316" /><Relationship Type="http://schemas.openxmlformats.org/officeDocument/2006/relationships/slide" Target="/ppt/slides/slide23.xml" Id="R3cc458c015104ef5" /><Relationship Type="http://schemas.openxmlformats.org/officeDocument/2006/relationships/slide" Target="/ppt/slides/slide24.xml" Id="R6d3ec1df320e47c7" /><Relationship Type="http://schemas.openxmlformats.org/officeDocument/2006/relationships/slide" Target="/ppt/slides/slide25.xml" Id="Re8d973742ed84a44" /><Relationship Type="http://schemas.openxmlformats.org/officeDocument/2006/relationships/slide" Target="/ppt/slides/slide26.xml" Id="R96122f8b32af4ed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1217c5516e04ec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7ec5dabfefd4323" /><Relationship Type="http://schemas.openxmlformats.org/officeDocument/2006/relationships/notesMaster" Target="/ppt/notesMasters/notesMaster1.xml" Id="R89d36437d9ba4e58" /></Relationships>
</file>

<file path=ppt/notesSlides/_rels/notesSlide2.xml.rels>&#65279;<?xml version="1.0" encoding="utf-8"?><Relationships xmlns="http://schemas.openxmlformats.org/package/2006/relationships"><Relationship Type="http://schemas.openxmlformats.org/officeDocument/2006/relationships/slide" Target="/ppt/slides/slide2.xml" Id="R354d9d2e6eff40ba" /><Relationship Type="http://schemas.openxmlformats.org/officeDocument/2006/relationships/notesMaster" Target="/ppt/notesMasters/notesMaster1.xml" Id="R65118e1fff27410c" /></Relationships>
</file>

<file path=ppt/notesSlides/_rels/notesSlide3.xml.rels>&#65279;<?xml version="1.0" encoding="utf-8"?><Relationships xmlns="http://schemas.openxmlformats.org/package/2006/relationships"><Relationship Type="http://schemas.openxmlformats.org/officeDocument/2006/relationships/slide" Target="/ppt/slides/slide3.xml" Id="Rcb33b51156804972" /><Relationship Type="http://schemas.openxmlformats.org/officeDocument/2006/relationships/notesMaster" Target="/ppt/notesMasters/notesMaster1.xml" Id="Rf7a8d9ea6d884b03" /></Relationships>
</file>

<file path=ppt/notesSlides/_rels/notesSlide4.xml.rels>&#65279;<?xml version="1.0" encoding="utf-8"?><Relationships xmlns="http://schemas.openxmlformats.org/package/2006/relationships"><Relationship Type="http://schemas.openxmlformats.org/officeDocument/2006/relationships/slide" Target="/ppt/slides/slide4.xml" Id="R0518ffc173b547a9" /><Relationship Type="http://schemas.openxmlformats.org/officeDocument/2006/relationships/notesMaster" Target="/ppt/notesMasters/notesMaster1.xml" Id="R912b4d73129743c8" /></Relationships>
</file>

<file path=ppt/notesSlides/_rels/notesSlide5.xml.rels>&#65279;<?xml version="1.0" encoding="utf-8"?><Relationships xmlns="http://schemas.openxmlformats.org/package/2006/relationships"><Relationship Type="http://schemas.openxmlformats.org/officeDocument/2006/relationships/slide" Target="/ppt/slides/slide5.xml" Id="R3416da30494f4a0f" /><Relationship Type="http://schemas.openxmlformats.org/officeDocument/2006/relationships/notesMaster" Target="/ppt/notesMasters/notesMaster1.xml" Id="R3c7842d3fc6f4af5" /></Relationships>
</file>

<file path=ppt/notesSlides/_rels/notesSlide6.xml.rels>&#65279;<?xml version="1.0" encoding="utf-8"?><Relationships xmlns="http://schemas.openxmlformats.org/package/2006/relationships"><Relationship Type="http://schemas.openxmlformats.org/officeDocument/2006/relationships/slide" Target="/ppt/slides/slide6.xml" Id="R4459171d91704806" /><Relationship Type="http://schemas.openxmlformats.org/officeDocument/2006/relationships/notesMaster" Target="/ppt/notesMasters/notesMaster1.xml" Id="R2597318a41d14c20" /></Relationships>
</file>

<file path=ppt/notesSlides/_rels/notesSlide7.xml.rels>&#65279;<?xml version="1.0" encoding="utf-8"?><Relationships xmlns="http://schemas.openxmlformats.org/package/2006/relationships"><Relationship Type="http://schemas.openxmlformats.org/officeDocument/2006/relationships/slide" Target="/ppt/slides/slide7.xml" Id="R5580d638e2ac4926" /><Relationship Type="http://schemas.openxmlformats.org/officeDocument/2006/relationships/notesMaster" Target="/ppt/notesMasters/notesMaster1.xml" Id="R84acf956d383404c" /></Relationships>
</file>

<file path=ppt/notesSlides/_rels/notesSlide8.xml.rels>&#65279;<?xml version="1.0" encoding="utf-8"?><Relationships xmlns="http://schemas.openxmlformats.org/package/2006/relationships"><Relationship Type="http://schemas.openxmlformats.org/officeDocument/2006/relationships/slide" Target="/ppt/slides/slide8.xml" Id="R23e8acf0e43b443d" /><Relationship Type="http://schemas.openxmlformats.org/officeDocument/2006/relationships/notesMaster" Target="/ppt/notesMasters/notesMaster1.xml" Id="R2f1386b5e5e04421" /></Relationships>
</file>

<file path=ppt/notesSlides/_rels/notesSlide9.xml.rels>&#65279;<?xml version="1.0" encoding="utf-8"?><Relationships xmlns="http://schemas.openxmlformats.org/package/2006/relationships"><Relationship Type="http://schemas.openxmlformats.org/officeDocument/2006/relationships/slide" Target="/ppt/slides/slide9.xml" Id="Rbd4cd4652b454098" /><Relationship Type="http://schemas.openxmlformats.org/officeDocument/2006/relationships/notesMaster" Target="/ppt/notesMasters/notesMaster1.xml" Id="R836025481e4c4a2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82e3f8031c14b63" /><Relationship Type="http://schemas.openxmlformats.org/officeDocument/2006/relationships/notesMaster" Target="/ppt/notesMasters/notesMaster1.xml" Id="R19004cd082b248c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6628d48898b4684" /><Relationship Type="http://schemas.openxmlformats.org/officeDocument/2006/relationships/notesMaster" Target="/ppt/notesMasters/notesMaster1.xml" Id="R3bef1c72d5ec4c1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b4fe2072c314498" /><Relationship Type="http://schemas.openxmlformats.org/officeDocument/2006/relationships/notesMaster" Target="/ppt/notesMasters/notesMaster1.xml" Id="R8518f117e9d241a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dc82d46ebe64946" /><Relationship Type="http://schemas.openxmlformats.org/officeDocument/2006/relationships/notesMaster" Target="/ppt/notesMasters/notesMaster1.xml" Id="R4c84569182004f6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a5754b402354984" /><Relationship Type="http://schemas.openxmlformats.org/officeDocument/2006/relationships/notesMaster" Target="/ppt/notesMasters/notesMaster1.xml" Id="Rda19e66331a44d6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3a9730b03c042c6" /><Relationship Type="http://schemas.openxmlformats.org/officeDocument/2006/relationships/notesMaster" Target="/ppt/notesMasters/notesMaster1.xml" Id="R9be5ee17681e477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8de24fcba524d1f" /><Relationship Type="http://schemas.openxmlformats.org/officeDocument/2006/relationships/notesMaster" Target="/ppt/notesMasters/notesMaster1.xml" Id="R3e791e1d79804ec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9690813a818406a" /><Relationship Type="http://schemas.openxmlformats.org/officeDocument/2006/relationships/notesMaster" Target="/ppt/notesMasters/notesMaster1.xml" Id="R8778dfd21f18428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9b4a2480f904fd3" /><Relationship Type="http://schemas.openxmlformats.org/officeDocument/2006/relationships/notesMaster" Target="/ppt/notesMasters/notesMaster1.xml" Id="Rb6ff8b8f4d1449e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f3bb94564994140" /><Relationship Type="http://schemas.openxmlformats.org/officeDocument/2006/relationships/notesMaster" Target="/ppt/notesMasters/notesMaster1.xml" Id="R89f1849bc70f4dd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d973fc3ceac43b9" /><Relationship Type="http://schemas.openxmlformats.org/officeDocument/2006/relationships/notesMaster" Target="/ppt/notesMasters/notesMaster1.xml" Id="Rca549dc45e4c471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6591172552b45c4" /><Relationship Type="http://schemas.openxmlformats.org/officeDocument/2006/relationships/notesMaster" Target="/ppt/notesMasters/notesMaster1.xml" Id="R5fa05de23db5431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bd5ff4af9674434" /><Relationship Type="http://schemas.openxmlformats.org/officeDocument/2006/relationships/notesMaster" Target="/ppt/notesMasters/notesMaster1.xml" Id="Rd0304e372de245f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cc396b439414457" /><Relationship Type="http://schemas.openxmlformats.org/officeDocument/2006/relationships/notesMaster" Target="/ppt/notesMasters/notesMaster1.xml" Id="Rd55db14b7830412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811d3f4dddf4aef" /><Relationship Type="http://schemas.openxmlformats.org/officeDocument/2006/relationships/notesMaster" Target="/ppt/notesMasters/notesMaster1.xml" Id="R74b9af5618ca45c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fc44efbf48041c3" /><Relationship Type="http://schemas.openxmlformats.org/officeDocument/2006/relationships/notesMaster" Target="/ppt/notesMasters/notesMaster1.xml" Id="R445df0b6917241e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7779a810e6543f3" /><Relationship Type="http://schemas.openxmlformats.org/officeDocument/2006/relationships/notesMaster" Target="/ppt/notesMasters/notesMaster1.xml" Id="R34391dcd845841b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vraag lukt al, en waar helpt de theorie?</a:t>
            </a:r>
          </a:p>
          <a:p xmlns:a="http://schemas.openxmlformats.org/drawingml/2006/main">
            <a:r>
              <a:rPr sz="1400"/>
              <a:t/>
            </a:r>
          </a:p>
          <a:p xmlns:a="http://schemas.openxmlformats.org/drawingml/2006/main">
            <a:r>
              <a:rPr sz="1400"/>
              <a:t>Uitleg: Laat deze dia staan tijdens startopdracht. Start 1–2 op p. 90; basis 3 op p. 90 en 4–5 op p. 91; zelfstandig 6–7 op p. 92 en 8 op p. 93; doel 9 op p. 94. Huiswerk: 3, 4, 5, 6, 7, 8 en 9 maken en nakijken. Bonus 10 en herhaling 11 zijn extra. De volledige route hoeft niet in één les af.</a:t>
            </a:r>
          </a:p>
          <a:p xmlns:a="http://schemas.openxmlformats.org/drawingml/2006/main">
            <a:r>
              <a:rPr sz="1400"/>
              <a:t/>
            </a:r>
          </a:p>
          <a:p xmlns:a="http://schemas.openxmlformats.org/drawingml/2006/main">
            <a:r>
              <a:rPr sz="1400"/>
              <a:t>Start 1 haalt substitutie en terugrekenen op uit §1.2.1, gedrukte pp. 48–50. Antwoorden: q = 12 stuks per maand; P = 5 euro per stuk, controle 18 − 2 × 5 = 8. Start 2 gebruikt nieuwe aanbodtaal: laat leerlingen p. 86 lezen (willen en kunnen aanbieden; nog geen verkoop) en stap 4 van het voorbeeld op p. 89. Laat hen de voorraad in de context als al aanwezige onderdelen herkennen. Behandel de poging als verkenning en laat twijfel noteren. Na de uitleg keren leerlingen terug naar opgave 2 en verbeteren hun reden vóór het basiswerk: aanbodplan 5 vervangingen deze middag, voorraad 8 binnenbanden op dit moment, werkelijke verkoop 3 vervangingen deze middag. Vraag steeds welke grootheid en periode bij een getal horen.</a:t>
            </a:r>
          </a:p>
          <a:p xmlns:a="http://schemas.openxmlformats.org/drawingml/2006/main">
            <a:r>
              <a:rPr sz="1400"/>
              <a:t/>
            </a:r>
          </a:p>
          <a:p xmlns:a="http://schemas.openxmlformats.org/drawingml/2006/main">
            <a:r>
              <a:rPr sz="1400"/>
              <a:t>Misvatting: Een voorraad op één moment is geen hoeveelheid aangeboden dienstverlening per middag.</a:t>
            </a:r>
          </a:p>
          <a:p xmlns:a="http://schemas.openxmlformats.org/drawingml/2006/main">
            <a:r>
              <a:rPr sz="1400"/>
              <a:t/>
            </a:r>
          </a:p>
          <a:p xmlns:a="http://schemas.openxmlformats.org/drawingml/2006/main">
            <a:r>
              <a:rPr sz="1400"/>
              <a:t>Overgang: Ga verder met de bijbehorende lesfase.</a:t>
            </a:r>
          </a:p>
          <a:p xmlns:a="http://schemas.openxmlformats.org/drawingml/2006/main">
            <a:r>
              <a:rPr sz="1400"/>
              <a:t/>
            </a:r>
          </a:p>
          <a:p xmlns:a="http://schemas.openxmlformats.org/drawingml/2006/main">
            <a:r>
              <a:rPr sz="1400"/>
              <a:t>Bron: Boek 1, tweede editie 2026. Gedrukte complete-boekpagina 86, 89–94. https://github.com/meijer1973/4veco-lessen/blob/173aa9a803897965c572df2c4e7f83cdb135eb1c/Boek%201%20-%20Grondslagen%2C%20vraag%20en%20aanbod/edities/tweede-editie-2026/boek/Boek_1_Compleet_Tweede_editie.pdf</a:t>
            </a:r>
          </a:p>
          <a:p xmlns:a="http://schemas.openxmlformats.org/drawingml/2006/main">
            <a:r>
              <a:rPr sz="1400"/>
              <a:t>Manuscript en antwoordmodel: https://github.com/meijer1973/4veco-lessen/blob/173aa9a803897965c572df2c4e7f83cdb135eb1c/Boek%201%20-%20Grondslagen%2C%20vraag%20en%20aanbod/edities/tweede-editie-2026/bronnen/H3/ (1.3.1 Aanbod en aanbodfactoren – paragraaf.md; Antwoorden.md).</a:t>
            </a:r>
          </a:p>
          <a:p xmlns:a="http://schemas.openxmlformats.org/drawingml/2006/main">
            <a:r>
              <a:rPr sz="1400"/>
              <a:t>Alle pagina’s verwijzen naar de gedrukte complete tweede editie. Voorkennisbron: https://github.com/meijer1973/4veco-lessen/blob/173aa9a803897965c572df2c4e7f83cdb135eb1c/Boek%201%20-%20Grondslagen%2C%20vraag%20en%20aanbod/edities/tweede-editie-2026/bronnen/H2/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Wie neemt hier het besluit: een koper of een verkoper?</a:t>
            </a:r>
          </a:p>
          <a:p xmlns:a="http://schemas.openxmlformats.org/drawingml/2006/main">
            <a:r>
              <a:rPr sz="1400"/>
              <a:t/>
            </a:r>
          </a:p>
          <a:p xmlns:a="http://schemas.openxmlformats.org/drawingml/2006/main">
            <a:r>
              <a:rPr sz="1400"/>
              <a:t>Uitleg: Koppel de doelen aan de latere doeloefening. Leerlingen kennen vraagfuncties, maar aanbod heeft een andere actor en een andere reactie op de eigen prijs. Leg aanbod opnieuw uit; neem dit niet als al beheerste stof aan.</a:t>
            </a:r>
          </a:p>
          <a:p xmlns:a="http://schemas.openxmlformats.org/drawingml/2006/main">
            <a:r>
              <a:rPr sz="1400"/>
              <a:t/>
            </a:r>
          </a:p>
          <a:p xmlns:a="http://schemas.openxmlformats.org/drawingml/2006/main">
            <a:r>
              <a:rPr sz="1400"/>
              <a:t>Misvatting: Een aangeboden hoeveelheid is geen bewezen afzet.</a:t>
            </a:r>
          </a:p>
          <a:p xmlns:a="http://schemas.openxmlformats.org/drawingml/2006/main">
            <a:r>
              <a:rPr sz="1400"/>
              <a:t/>
            </a:r>
          </a:p>
          <a:p xmlns:a="http://schemas.openxmlformats.org/drawingml/2006/main">
            <a:r>
              <a:rPr sz="1400"/>
              <a:t>Overgang: Maak het onderscheid tussen een plan, een voorraad en een verkoop concreet.</a:t>
            </a:r>
          </a:p>
          <a:p xmlns:a="http://schemas.openxmlformats.org/drawingml/2006/main">
            <a:r>
              <a:rPr sz="1400"/>
              <a:t/>
            </a:r>
          </a:p>
          <a:p xmlns:a="http://schemas.openxmlformats.org/drawingml/2006/main">
            <a:r>
              <a:rPr sz="1400"/>
              <a:t>Bron: Boek 1, tweede editie 2026. Gedrukte complete-boekpagina 86–89. https://github.com/meijer1973/4veco-lessen/blob/173aa9a803897965c572df2c4e7f83cdb135eb1c/Boek%201%20-%20Grondslagen%2C%20vraag%20en%20aanbod/edities/tweede-editie-2026/boek/Boek_1_Compleet_Tweede_editie.pdf</a:t>
            </a:r>
          </a:p>
          <a:p xmlns:a="http://schemas.openxmlformats.org/drawingml/2006/main">
            <a:r>
              <a:rPr sz="1400"/>
              <a:t>Manuscript en antwoordmodel: https://github.com/meijer1973/4veco-lessen/blob/173aa9a803897965c572df2c4e7f83cdb135eb1c/Boek%201%20-%20Grondslagen%2C%20vraag%20en%20aanbod/edities/tweede-editie-2026/bronnen/H3/ (1.3.1 Aanbod en aanbodfactoren – paragraaf.md; 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getal gaat over wat er nu ligt, en welk getal over een plan?</a:t>
            </a:r>
          </a:p>
          <a:p xmlns:a="http://schemas.openxmlformats.org/drawingml/2006/main">
            <a:r>
              <a:rPr sz="1400"/>
              <a:t/>
            </a:r>
          </a:p>
          <a:p xmlns:a="http://schemas.openxmlformats.org/drawingml/2006/main">
            <a:r>
              <a:rPr sz="1400"/>
              <a:t>Uitleg: Begin bij de verkoper. Bij € 8 wil en kan hij 12 houders leveren in de week. De voorraad is wat op een bepaald moment al aanwezig is. Tijdens de week kan hij ook produceren. Daarom is voorraad niet automatisch de grens van een aanbodfunctie voor de week. Er worden volgens onze afzonderlijke aanname 7 gekocht. Het aanbodplan alleen bepaalt dat niet.</a:t>
            </a:r>
          </a:p>
          <a:p xmlns:a="http://schemas.openxmlformats.org/drawingml/2006/main">
            <a:r>
              <a:rPr sz="1400"/>
              <a:t/>
            </a:r>
          </a:p>
          <a:p xmlns:a="http://schemas.openxmlformats.org/drawingml/2006/main">
            <a:r>
              <a:rPr sz="1400"/>
              <a:t>Misvatting: Tel de voorraad en het aanbodplan niet op. Zij meten verschillende dingen.</a:t>
            </a:r>
          </a:p>
          <a:p xmlns:a="http://schemas.openxmlformats.org/drawingml/2006/main">
            <a:r>
              <a:rPr sz="1400"/>
              <a:t/>
            </a:r>
          </a:p>
          <a:p xmlns:a="http://schemas.openxmlformats.org/drawingml/2006/main">
            <a:r>
              <a:rPr sz="1400"/>
              <a:t>Overgang: Vergelijk nu meerdere mogelijke verkoopprijzen, terwijl andere omstandigheden gelijk blijven.</a:t>
            </a:r>
          </a:p>
          <a:p xmlns:a="http://schemas.openxmlformats.org/drawingml/2006/main">
            <a:r>
              <a:rPr sz="1400"/>
              <a:t/>
            </a:r>
          </a:p>
          <a:p xmlns:a="http://schemas.openxmlformats.org/drawingml/2006/main">
            <a:r>
              <a:rPr sz="1400"/>
              <a:t>Bron: Boek 1, tweede editie 2026. Gedrukte complete-boekpagina 86 en 89. https://github.com/meijer1973/4veco-lessen/blob/173aa9a803897965c572df2c4e7f83cdb135eb1c/Boek%201%20-%20Grondslagen%2C%20vraag%20en%20aanbod/edities/tweede-editie-2026/boek/Boek_1_Compleet_Tweede_editie.pdf</a:t>
            </a:r>
          </a:p>
          <a:p xmlns:a="http://schemas.openxmlformats.org/drawingml/2006/main">
            <a:r>
              <a:rPr sz="1400"/>
              <a:t>Manuscript en antwoordmodel: https://github.com/meijer1973/4veco-lessen/blob/173aa9a803897965c572df2c4e7f83cdb135eb1c/Boek%201%20-%20Grondslagen%2C%20vraag%20en%20aanbod/edities/tweede-editie-2026/bronnen/H3/ (1.3.1 Aanbod en aanbodfactoren – paragraaf.md; Antwoorden.md).</a:t>
            </a:r>
          </a:p>
          <a:p xmlns:a="http://schemas.openxmlformats.org/drawingml/2006/main">
            <a:r>
              <a:rPr sz="1400"/>
              <a:t>Uitlegvoorbeeld — niet uit het boek. Context en getallen over Houtwerk zijn voor deze presentatie geschreven. De bronpagina’s onderbouwen de methode, niet deze gegevens. Oud: q = 3P − 12, 4 ≤ P ≤ 16. Nieuw na duurdere houtprijs: q = 3P − 18, 6 ≤ P ≤ 16. q in houders per week, P in euro per houder. Eigen prijs van 8 naar 12; verder verandert er niets.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grootheid vul je in, en welke grootheid krijg je terug?</a:t>
            </a:r>
          </a:p>
          <a:p xmlns:a="http://schemas.openxmlformats.org/drawingml/2006/main">
            <a:r>
              <a:rPr sz="1400"/>
              <a:t/>
            </a:r>
          </a:p>
          <a:p xmlns:a="http://schemas.openxmlformats.org/drawingml/2006/main">
            <a:r>
              <a:rPr sz="1400"/>
              <a:t>Uitleg: Lees eerst de variabelen en het geldigheidsgebied. 3 P betekent 3 maal P. Bij 8 is de uitkomst 12. Ceteris paribus: de andere omstandigheden blijven gelijk. De functie geldt alleen voor 4 tot en met 16 euro. Gebruik een negatieve uitkomst daarbuiten niet als negatief aanbod. Dit model zegt ook niet hoeveel kopers kopen.</a:t>
            </a:r>
          </a:p>
          <a:p xmlns:a="http://schemas.openxmlformats.org/drawingml/2006/main">
            <a:r>
              <a:rPr sz="1400"/>
              <a:t/>
            </a:r>
          </a:p>
          <a:p xmlns:a="http://schemas.openxmlformats.org/drawingml/2006/main">
            <a:r>
              <a:rPr sz="1400"/>
              <a:t>Misvatting: De 12 in de formule is geen vaste voorraad. Het minteken past bij de prijsgrens van dit model.</a:t>
            </a:r>
          </a:p>
          <a:p xmlns:a="http://schemas.openxmlformats.org/drawingml/2006/main">
            <a:r>
              <a:rPr sz="1400"/>
              <a:t/>
            </a:r>
          </a:p>
          <a:p xmlns:a="http://schemas.openxmlformats.org/drawingml/2006/main">
            <a:r>
              <a:rPr sz="1400"/>
              <a:t>Overgang: Zet de tabelpunten op de assen.</a:t>
            </a:r>
          </a:p>
          <a:p xmlns:a="http://schemas.openxmlformats.org/drawingml/2006/main">
            <a:r>
              <a:rPr sz="1400"/>
              <a:t/>
            </a:r>
          </a:p>
          <a:p xmlns:a="http://schemas.openxmlformats.org/drawingml/2006/main">
            <a:r>
              <a:rPr sz="1400"/>
              <a:t>Bron: Boek 1, tweede editie 2026. Gedrukte complete-boekpagina 87–88. https://github.com/meijer1973/4veco-lessen/blob/173aa9a803897965c572df2c4e7f83cdb135eb1c/Boek%201%20-%20Grondslagen%2C%20vraag%20en%20aanbod/edities/tweede-editie-2026/boek/Boek_1_Compleet_Tweede_editie.pdf</a:t>
            </a:r>
          </a:p>
          <a:p xmlns:a="http://schemas.openxmlformats.org/drawingml/2006/main">
            <a:r>
              <a:rPr sz="1400"/>
              <a:t>Manuscript en antwoordmodel: https://github.com/meijer1973/4veco-lessen/blob/173aa9a803897965c572df2c4e7f83cdb135eb1c/Boek%201%20-%20Grondslagen%2C%20vraag%20en%20aanbod/edities/tweede-editie-2026/bronnen/H3/ (1.3.1 Aanbod en aanbodfactoren – paragraaf.md; Antwoorden.md).</a:t>
            </a:r>
          </a:p>
          <a:p xmlns:a="http://schemas.openxmlformats.org/drawingml/2006/main">
            <a:r>
              <a:rPr sz="1400"/>
              <a:t>Uitlegvoorbeeld — niet uit het boek. Context en getallen over Houtwerk zijn voor deze presentatie geschreven. De bronpagina’s onderbouwen de methode, niet deze gegevens. Oud: q = 3P − 12, 4 ≤ P ≤ 16. Nieuw na duurdere houtprijs: q = 3P − 18, 6 ≤ P ≤ 16. q in houders per week, P in euro per houder. Eigen prijs van 8 naar 12; verder verandert er niets.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staat het prijsgetal als tweede in de coördinaten?</a:t>
            </a:r>
          </a:p>
          <a:p xmlns:a="http://schemas.openxmlformats.org/drawingml/2006/main">
            <a:r>
              <a:rPr sz="1400"/>
              <a:t/>
            </a:r>
          </a:p>
          <a:p xmlns:a="http://schemas.openxmlformats.org/drawingml/2006/main">
            <a:r>
              <a:rPr sz="1400"/>
              <a:t>Uitleg: Kies regelmatige assen: q horizontaal en P verticaal. Het punt bij P=8 is (12;8), niet (8;12). Reken twee verschillende punten uit. De gegeven rechte functie loopt van (0;4) tot (36;16). Verbind ze binnen de geldige grenzen. Lees ter controle vanaf P=8 horizontaal naar de lijn en verticaal naar q=12. Een aanbodlijn vat meerdere mogelijke plannen samen.</a:t>
            </a:r>
          </a:p>
          <a:p xmlns:a="http://schemas.openxmlformats.org/drawingml/2006/main">
            <a:r>
              <a:rPr sz="1400"/>
              <a:t/>
            </a:r>
          </a:p>
          <a:p xmlns:a="http://schemas.openxmlformats.org/drawingml/2006/main">
            <a:r>
              <a:rPr sz="1400"/>
              <a:t>Misvatting: Een stijgende lijn is hier aanbod van één verkoper; zij is geen vraaglijn.</a:t>
            </a:r>
          </a:p>
          <a:p xmlns:a="http://schemas.openxmlformats.org/drawingml/2006/main">
            <a:r>
              <a:rPr sz="1400"/>
              <a:t/>
            </a:r>
          </a:p>
          <a:p xmlns:a="http://schemas.openxmlformats.org/drawingml/2006/main">
            <a:r>
              <a:rPr sz="1400"/>
              <a:t>Overgang: Verander alleen de eigen verkoopprijs.</a:t>
            </a:r>
          </a:p>
          <a:p xmlns:a="http://schemas.openxmlformats.org/drawingml/2006/main">
            <a:r>
              <a:rPr sz="1400"/>
              <a:t/>
            </a:r>
          </a:p>
          <a:p xmlns:a="http://schemas.openxmlformats.org/drawingml/2006/main">
            <a:r>
              <a:rPr sz="1400"/>
              <a:t>Bron: Boek 1, tweede editie 2026. Gedrukte complete-boekpagina 87; voorkennis 48 en 51. https://github.com/meijer1973/4veco-lessen/blob/173aa9a803897965c572df2c4e7f83cdb135eb1c/Boek%201%20-%20Grondslagen%2C%20vraag%20en%20aanbod/edities/tweede-editie-2026/boek/Boek_1_Compleet_Tweede_editie.pdf</a:t>
            </a:r>
          </a:p>
          <a:p xmlns:a="http://schemas.openxmlformats.org/drawingml/2006/main">
            <a:r>
              <a:rPr sz="1400"/>
              <a:t>Manuscript en antwoordmodel: https://github.com/meijer1973/4veco-lessen/blob/173aa9a803897965c572df2c4e7f83cdb135eb1c/Boek%201%20-%20Grondslagen%2C%20vraag%20en%20aanbod/edities/tweede-editie-2026/bronnen/H3/ (1.3.1 Aanbod en aanbodfactoren – paragraaf.md; Antwoorden.md).</a:t>
            </a:r>
          </a:p>
          <a:p xmlns:a="http://schemas.openxmlformats.org/drawingml/2006/main">
            <a:r>
              <a:rPr sz="1400"/>
              <a:t>Uitlegvoorbeeld — niet uit het boek. Context en getallen over Houtwerk zijn voor deze presentatie geschreven. De bronpagina’s onderbouwen de methode, niet deze gegevens. Oud: q = 3P − 12, 4 ≤ P ≤ 16. Nieuw na duurdere houtprijs: q = 3P − 18, 6 ≤ P ≤ 16. q in houders per week, P in euro per houder. Eigen prijs van 8 naar 12; verder verandert er niets.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omstandigheden blijven gelijk tussen R en S?</a:t>
            </a:r>
          </a:p>
          <a:p xmlns:a="http://schemas.openxmlformats.org/drawingml/2006/main">
            <a:r>
              <a:rPr sz="1400"/>
              <a:t/>
            </a:r>
          </a:p>
          <a:p xmlns:a="http://schemas.openxmlformats.org/drawingml/2006/main">
            <a:r>
              <a:rPr sz="1400"/>
              <a:t>Uitleg: Vul beide prijzen in dezelfde functie in: 3×8−12=12 en 3×12−12=24. Alleen de verkoopprijs verandert. De lijn blijft liggen. De coëfficiënt 3 geeft de verandering in hoeveelheid per euro prijsstijging, niet de helling dP/dq van de getekende inverse lijn. Op deze assen is die helling 1/3 euro per extra houder. Een hogere opbrengst per houder maakt extra productie in dit model aantrekkelijk.</a:t>
            </a:r>
          </a:p>
          <a:p xmlns:a="http://schemas.openxmlformats.org/drawingml/2006/main">
            <a:r>
              <a:rPr sz="1400"/>
              <a:t/>
            </a:r>
          </a:p>
          <a:p xmlns:a="http://schemas.openxmlformats.org/drawingml/2006/main">
            <a:r>
              <a:rPr sz="1400"/>
              <a:t>Misvatting: Een hogere eigen prijs verschuift de lijn niet. Het punt verandert.</a:t>
            </a:r>
          </a:p>
          <a:p xmlns:a="http://schemas.openxmlformats.org/drawingml/2006/main">
            <a:r>
              <a:rPr sz="1400"/>
              <a:t/>
            </a:r>
          </a:p>
          <a:p xmlns:a="http://schemas.openxmlformats.org/drawingml/2006/main">
            <a:r>
              <a:rPr sz="1400"/>
              <a:t>Overgang: Reken ook terug van een hoeveelheid naar de bijbehorende prijs.</a:t>
            </a:r>
          </a:p>
          <a:p xmlns:a="http://schemas.openxmlformats.org/drawingml/2006/main">
            <a:r>
              <a:rPr sz="1400"/>
              <a:t/>
            </a:r>
          </a:p>
          <a:p xmlns:a="http://schemas.openxmlformats.org/drawingml/2006/main">
            <a:r>
              <a:rPr sz="1400"/>
              <a:t>Bron: Boek 1, tweede editie 2026. Gedrukte complete-boekpagina 87. https://github.com/meijer1973/4veco-lessen/blob/173aa9a803897965c572df2c4e7f83cdb135eb1c/Boek%201%20-%20Grondslagen%2C%20vraag%20en%20aanbod/edities/tweede-editie-2026/boek/Boek_1_Compleet_Tweede_editie.pdf</a:t>
            </a:r>
          </a:p>
          <a:p xmlns:a="http://schemas.openxmlformats.org/drawingml/2006/main">
            <a:r>
              <a:rPr sz="1400"/>
              <a:t>Manuscript en antwoordmodel: https://github.com/meijer1973/4veco-lessen/blob/173aa9a803897965c572df2c4e7f83cdb135eb1c/Boek%201%20-%20Grondslagen%2C%20vraag%20en%20aanbod/edities/tweede-editie-2026/bronnen/H3/ (1.3.1 Aanbod en aanbodfactoren – paragraaf.md; Antwoorden.md).</a:t>
            </a:r>
          </a:p>
          <a:p xmlns:a="http://schemas.openxmlformats.org/drawingml/2006/main">
            <a:r>
              <a:rPr sz="1400"/>
              <a:t>Uitlegvoorbeeld — niet uit het boek. Context en getallen over Houtwerk zijn voor deze presentatie geschreven. De bronpagina’s onderbouwen de methode, niet deze gegevens. Oud: q = 3P − 12, 4 ≤ P ≤ 16. Nieuw na duurdere houtprijs: q = 3P − 18, 6 ≤ P ≤ 16. q in houders per week, P in euro per houder. Eigen prijs van 8 naar 12; verder verandert er niets.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doe je aan beide kanten om −12 weg te werken?</a:t>
            </a:r>
          </a:p>
          <a:p xmlns:a="http://schemas.openxmlformats.org/drawingml/2006/main">
            <a:r>
              <a:rPr sz="1400"/>
              <a:t/>
            </a:r>
          </a:p>
          <a:p xmlns:a="http://schemas.openxmlformats.org/drawingml/2006/main">
            <a:r>
              <a:rPr sz="1400"/>
              <a:t>Uitleg: Dit is de bekende terugrekenbewerking nu in een aanbodfunctie. Vul de hoeveelheid links in, houd de gelijkheid in stand met dezelfde bewerking aan beide kanten en controleer in de oorspronkelijke functie. P=11 ligt binnen 4≤P≤16. De eenheid is euro per houder, niet houders per week. Dit bereidt de zelfstandige inverse vraag in opgave 6 voor zonder haar uit te werken.</a:t>
            </a:r>
          </a:p>
          <a:p xmlns:a="http://schemas.openxmlformats.org/drawingml/2006/main">
            <a:r>
              <a:rPr sz="1400"/>
              <a:t/>
            </a:r>
          </a:p>
          <a:p xmlns:a="http://schemas.openxmlformats.org/drawingml/2006/main">
            <a:r>
              <a:rPr sz="1400"/>
              <a:t>Misvatting: Verwissel een gegeven hoeveelheid niet met de gevraagde prijs.</a:t>
            </a:r>
          </a:p>
          <a:p xmlns:a="http://schemas.openxmlformats.org/drawingml/2006/main">
            <a:r>
              <a:rPr sz="1400"/>
              <a:t/>
            </a:r>
          </a:p>
          <a:p xmlns:a="http://schemas.openxmlformats.org/drawingml/2006/main">
            <a:r>
              <a:rPr sz="1400"/>
              <a:t>Overgang: Verander nu de prijs van het hout, niet die van de houder.</a:t>
            </a:r>
          </a:p>
          <a:p xmlns:a="http://schemas.openxmlformats.org/drawingml/2006/main">
            <a:r>
              <a:rPr sz="1400"/>
              <a:t/>
            </a:r>
          </a:p>
          <a:p xmlns:a="http://schemas.openxmlformats.org/drawingml/2006/main">
            <a:r>
              <a:rPr sz="1400"/>
              <a:t>Bron: Boek 1, tweede editie 2026. Gedrukte complete-boekpagina 87; rekenmethode 49–50. https://github.com/meijer1973/4veco-lessen/blob/173aa9a803897965c572df2c4e7f83cdb135eb1c/Boek%201%20-%20Grondslagen%2C%20vraag%20en%20aanbod/edities/tweede-editie-2026/boek/Boek_1_Compleet_Tweede_editie.pdf</a:t>
            </a:r>
          </a:p>
          <a:p xmlns:a="http://schemas.openxmlformats.org/drawingml/2006/main">
            <a:r>
              <a:rPr sz="1400"/>
              <a:t>Manuscript en antwoordmodel: https://github.com/meijer1973/4veco-lessen/blob/173aa9a803897965c572df2c4e7f83cdb135eb1c/Boek%201%20-%20Grondslagen%2C%20vraag%20en%20aanbod/edities/tweede-editie-2026/bronnen/H3/ (1.3.1 Aanbod en aanbodfactoren – paragraaf.md; Antwoorden.md).</a:t>
            </a:r>
          </a:p>
          <a:p xmlns:a="http://schemas.openxmlformats.org/drawingml/2006/main">
            <a:r>
              <a:rPr sz="1400"/>
              <a:t>Uitlegvoorbeeld — niet uit het boek. Context en getallen over Houtwerk zijn voor deze presentatie geschreven. De bronpagina’s onderbouwen de methode, niet deze gegevens. Oud: q = 3P − 12, 4 ≤ P ≤ 16. Nieuw na duurdere houtprijs: q = 3P − 18, 6 ≤ P ≤ 16. q in houders per week, P in euro per houder. Eigen prijs van 8 naar 12; verder verandert er niets.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houden we de verkoopprijs hier op € 8?</a:t>
            </a:r>
          </a:p>
          <a:p xmlns:a="http://schemas.openxmlformats.org/drawingml/2006/main">
            <a:r>
              <a:rPr sz="1400"/>
              <a:t/>
            </a:r>
          </a:p>
          <a:p xmlns:a="http://schemas.openxmlformats.org/drawingml/2006/main">
            <a:r>
              <a:rPr sz="1400"/>
              <a:t>Uitleg: Een houder is het eindproduct; hout is een productiemiddel. Vergelijk eerst dezelfde verkoopprijs van 8 in beide functies. De nieuwe houtprijs verlaagt het aanbod van 12 naar 6 per week. Niet alleen één punt verandert: in dit model is het bij elke gemeenschappelijke prijs 6 minder. De nieuwe lijn verschuift naar links. Bij dezelfde hoeveelheid is een hogere verkoopprijs nodig.</a:t>
            </a:r>
          </a:p>
          <a:p xmlns:a="http://schemas.openxmlformats.org/drawingml/2006/main">
            <a:r>
              <a:rPr sz="1400"/>
              <a:t/>
            </a:r>
          </a:p>
          <a:p xmlns:a="http://schemas.openxmlformats.org/drawingml/2006/main">
            <a:r>
              <a:rPr sz="1400"/>
              <a:t>Misvatting: Een productiemiddelprijs en de eigen productprijs zijn verschillende oorzaken.</a:t>
            </a:r>
          </a:p>
          <a:p xmlns:a="http://schemas.openxmlformats.org/drawingml/2006/main">
            <a:r>
              <a:rPr sz="1400"/>
              <a:t/>
            </a:r>
          </a:p>
          <a:p xmlns:a="http://schemas.openxmlformats.org/drawingml/2006/main">
            <a:r>
              <a:rPr sz="1400"/>
              <a:t>Overgang: Bereken twee punten om de nieuwe lijn te tekenen.</a:t>
            </a:r>
          </a:p>
          <a:p xmlns:a="http://schemas.openxmlformats.org/drawingml/2006/main">
            <a:r>
              <a:rPr sz="1400"/>
              <a:t/>
            </a:r>
          </a:p>
          <a:p xmlns:a="http://schemas.openxmlformats.org/drawingml/2006/main">
            <a:r>
              <a:rPr sz="1400"/>
              <a:t>Bron: Boek 1, tweede editie 2026. Gedrukte complete-boekpagina 88–89. https://github.com/meijer1973/4veco-lessen/blob/173aa9a803897965c572df2c4e7f83cdb135eb1c/Boek%201%20-%20Grondslagen%2C%20vraag%20en%20aanbod/edities/tweede-editie-2026/boek/Boek_1_Compleet_Tweede_editie.pdf</a:t>
            </a:r>
          </a:p>
          <a:p xmlns:a="http://schemas.openxmlformats.org/drawingml/2006/main">
            <a:r>
              <a:rPr sz="1400"/>
              <a:t>Manuscript en antwoordmodel: https://github.com/meijer1973/4veco-lessen/blob/173aa9a803897965c572df2c4e7f83cdb135eb1c/Boek%201%20-%20Grondslagen%2C%20vraag%20en%20aanbod/edities/tweede-editie-2026/bronnen/H3/ (1.3.1 Aanbod en aanbodfactoren – paragraaf.md; Antwoorden.md).</a:t>
            </a:r>
          </a:p>
          <a:p xmlns:a="http://schemas.openxmlformats.org/drawingml/2006/main">
            <a:r>
              <a:rPr sz="1400"/>
              <a:t>Uitlegvoorbeeld — niet uit het boek. Context en getallen over Houtwerk zijn voor deze presentatie geschreven. De bronpagina’s onderbouwen de methode, niet deze gegevens. Oud: q = 3P − 12, 4 ≤ P ≤ 16. Nieuw na duurdere houtprijs: q = 3P − 18, 6 ≤ P ≤ 16. q in houders per week, P in euro per houder. Eigen prijs van 8 naar 12; verder verandert er niets.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twee waarden bepalen de nieuwe rechte lijn?</a:t>
            </a:r>
          </a:p>
          <a:p xmlns:a="http://schemas.openxmlformats.org/drawingml/2006/main">
            <a:r>
              <a:rPr sz="1400"/>
              <a:t/>
            </a:r>
          </a:p>
          <a:p xmlns:a="http://schemas.openxmlformats.org/drawingml/2006/main">
            <a:r>
              <a:rPr sz="1400"/>
              <a:t>Uitleg: Bereken voor de nieuwe functie eerst twee punten: bij 6 nul en bij 16 dertig. Zet (0;6) en (30;16) in hetzelfde assenstelsel en verbind ze. De nieuwe lijn stopt bij de gegeven maximale prijs 16. Vergelijk bij 8 de hoeveelheden 12 en 6. Minder bij dezelfde prijs betekent naar links. Een derde controlepunt toont of de getekende lijn bij de functie past. De assenschalen zijn gelijk aan de vorige grafiek.</a:t>
            </a:r>
          </a:p>
          <a:p xmlns:a="http://schemas.openxmlformats.org/drawingml/2006/main">
            <a:r>
              <a:rPr sz="1400"/>
              <a:t/>
            </a:r>
          </a:p>
          <a:p xmlns:a="http://schemas.openxmlformats.org/drawingml/2006/main">
            <a:r>
              <a:rPr sz="1400"/>
              <a:t>Misvatting: Teken de nieuwe lijn niet op goed geluk evenwijdig. Bepaal punten uit de functie.</a:t>
            </a:r>
          </a:p>
          <a:p xmlns:a="http://schemas.openxmlformats.org/drawingml/2006/main">
            <a:r>
              <a:rPr sz="1400"/>
              <a:t/>
            </a:r>
          </a:p>
          <a:p xmlns:a="http://schemas.openxmlformats.org/drawingml/2006/main">
            <a:r>
              <a:rPr sz="1400"/>
              <a:t>Overgang: Bekijk de andere aanbodfactoren en het verschil tussen één aanbieder en de markt.</a:t>
            </a:r>
          </a:p>
          <a:p xmlns:a="http://schemas.openxmlformats.org/drawingml/2006/main">
            <a:r>
              <a:rPr sz="1400"/>
              <a:t/>
            </a:r>
          </a:p>
          <a:p xmlns:a="http://schemas.openxmlformats.org/drawingml/2006/main">
            <a:r>
              <a:rPr sz="1400"/>
              <a:t>Bron: Boek 1, tweede editie 2026. Gedrukte complete-boekpagina 88–89; grafiekmethode 48 en 51. https://github.com/meijer1973/4veco-lessen/blob/173aa9a803897965c572df2c4e7f83cdb135eb1c/Boek%201%20-%20Grondslagen%2C%20vraag%20en%20aanbod/edities/tweede-editie-2026/boek/Boek_1_Compleet_Tweede_editie.pdf</a:t>
            </a:r>
          </a:p>
          <a:p xmlns:a="http://schemas.openxmlformats.org/drawingml/2006/main">
            <a:r>
              <a:rPr sz="1400"/>
              <a:t>Manuscript en antwoordmodel: https://github.com/meijer1973/4veco-lessen/blob/173aa9a803897965c572df2c4e7f83cdb135eb1c/Boek%201%20-%20Grondslagen%2C%20vraag%20en%20aanbod/edities/tweede-editie-2026/bronnen/H3/ (1.3.1 Aanbod en aanbodfactoren – paragraaf.md; Antwoorden.md).</a:t>
            </a:r>
          </a:p>
          <a:p xmlns:a="http://schemas.openxmlformats.org/drawingml/2006/main">
            <a:r>
              <a:rPr sz="1400"/>
              <a:t>Uitlegvoorbeeld — niet uit het boek. Context en getallen over Houtwerk zijn voor deze presentatie geschreven. De bronpagina’s onderbouwen de methode, niet deze gegevens. Oud: q = 3P − 12, 4 ≤ P ≤ 16. Nieuw na duurdere houtprijs: q = 3P − 18, 6 ≤ P ≤ 16. q in houders per week, P in euro per houder. Eigen prijs van 8 naar 12; verder verandert er niets.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Bij welke rij moet je nadrukkelijk naar alle aanbieders samen kijken?</a:t>
            </a:r>
          </a:p>
          <a:p xmlns:a="http://schemas.openxmlformats.org/drawingml/2006/main">
            <a:r>
              <a:rPr sz="1400"/>
              <a:t/>
            </a:r>
          </a:p>
          <a:p xmlns:a="http://schemas.openxmlformats.org/drawingml/2006/main">
            <a:r>
              <a:rPr sz="1400"/>
              <a:t>Uitleg: Vergelijk telkens alleen de genoemde verandering. Bij dezelfde eigen verkoopprijs kan de hele lijn verschuiven. Het aantal aanbieders is een factor voor de markt. Leg de nieuwe notatie Qₐ uit: de subscript a betekent aanbod. Het idee van optellen bij dezelfde prijs is bekend uit collectieve vraag op pp 68–69. Gebruik hier geen extra afgeleide aanbodfunctie. Vraag en aanbod zijn beide plannen, maar van andere actoren.</a:t>
            </a:r>
          </a:p>
          <a:p xmlns:a="http://schemas.openxmlformats.org/drawingml/2006/main">
            <a:r>
              <a:rPr sz="1400"/>
              <a:t/>
            </a:r>
          </a:p>
          <a:p xmlns:a="http://schemas.openxmlformats.org/drawingml/2006/main">
            <a:r>
              <a:rPr sz="1400"/>
              <a:t>Misvatting: Meer verkopers hoeft het individuele aanbodplan q niet te veranderen. Noem de specifieke oorzaak; zeg niet alleen dat de markt verandert.</a:t>
            </a:r>
          </a:p>
          <a:p xmlns:a="http://schemas.openxmlformats.org/drawingml/2006/main">
            <a:r>
              <a:rPr sz="1400"/>
              <a:t/>
            </a:r>
          </a:p>
          <a:p xmlns:a="http://schemas.openxmlformats.org/drawingml/2006/main">
            <a:r>
              <a:rPr sz="1400"/>
              <a:t>Overgang: Combineer nu twee veranderingen in ons afzonderlijke uitlegvoorbeeld.</a:t>
            </a:r>
          </a:p>
          <a:p xmlns:a="http://schemas.openxmlformats.org/drawingml/2006/main">
            <a:r>
              <a:rPr sz="1400"/>
              <a:t/>
            </a:r>
          </a:p>
          <a:p xmlns:a="http://schemas.openxmlformats.org/drawingml/2006/main">
            <a:r>
              <a:rPr sz="1400"/>
              <a:t>Bron: Boek 1, tweede editie 2026. Gedrukte complete-boekpagina 88 en 92; voorkennis 68–69. https://github.com/meijer1973/4veco-lessen/blob/173aa9a803897965c572df2c4e7f83cdb135eb1c/Boek%201%20-%20Grondslagen%2C%20vraag%20en%20aanbod/edities/tweede-editie-2026/boek/Boek_1_Compleet_Tweede_editie.pdf</a:t>
            </a:r>
          </a:p>
          <a:p xmlns:a="http://schemas.openxmlformats.org/drawingml/2006/main">
            <a:r>
              <a:rPr sz="1400"/>
              <a:t>Manuscript en antwoordmodel: https://github.com/meijer1973/4veco-lessen/blob/173aa9a803897965c572df2c4e7f83cdb135eb1c/Boek%201%20-%20Grondslagen%2C%20vraag%20en%20aanbod/edities/tweede-editie-2026/bronnen/H3/ (1.3.1 Aanbod en aanbodfactoren – paragraaf.md; 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prijs en welke functie horen bij de laatste rij?</a:t>
            </a:r>
          </a:p>
          <a:p xmlns:a="http://schemas.openxmlformats.org/drawingml/2006/main">
            <a:r>
              <a:rPr sz="1400"/>
              <a:t/>
            </a:r>
          </a:p>
          <a:p xmlns:a="http://schemas.openxmlformats.org/drawingml/2006/main">
            <a:r>
              <a:rPr sz="1400"/>
              <a:t>Uitleg: Scheid de oorzaken. Eerst varieer je de verkoopprijs op de oude lijn:12 naar 24, dus+12. Daarna vergelijk je bij dezelfde nieuwe prijs 12 de oude met de nieuwe functie:24 naar 18, dus−6. Uiteindelijk 18, dus 6 meer dan de beginhoeveelheid 12. Dezelfde −6 vonden we bij de oude prijs; dat komt door de gegeven parallelle functies, niet door een algemene regel dat elk kosteneffect bij elke prijs even groot is.</a:t>
            </a:r>
          </a:p>
          <a:p xmlns:a="http://schemas.openxmlformats.org/drawingml/2006/main">
            <a:r>
              <a:rPr sz="1400"/>
              <a:t/>
            </a:r>
          </a:p>
          <a:p xmlns:a="http://schemas.openxmlformats.org/drawingml/2006/main">
            <a:r>
              <a:rPr sz="1400"/>
              <a:t>Misvatting: De tussenstap is een gedachte-experiment. Zij hoeft niet als werkelijke tussenweek te hebben plaatsgevonden.</a:t>
            </a:r>
          </a:p>
          <a:p xmlns:a="http://schemas.openxmlformats.org/drawingml/2006/main">
            <a:r>
              <a:rPr sz="1400"/>
              <a:t/>
            </a:r>
          </a:p>
          <a:p xmlns:a="http://schemas.openxmlformats.org/drawingml/2006/main">
            <a:r>
              <a:rPr sz="1400"/>
              <a:t>Overgang: Plaats de drie berekende situaties in één grafiek.</a:t>
            </a:r>
          </a:p>
          <a:p xmlns:a="http://schemas.openxmlformats.org/drawingml/2006/main">
            <a:r>
              <a:rPr sz="1400"/>
              <a:t/>
            </a:r>
          </a:p>
          <a:p xmlns:a="http://schemas.openxmlformats.org/drawingml/2006/main">
            <a:r>
              <a:rPr sz="1400"/>
              <a:t>Bron: Boek 1, tweede editie 2026. Gedrukte complete-boekpagina 89. https://github.com/meijer1973/4veco-lessen/blob/173aa9a803897965c572df2c4e7f83cdb135eb1c/Boek%201%20-%20Grondslagen%2C%20vraag%20en%20aanbod/edities/tweede-editie-2026/boek/Boek_1_Compleet_Tweede_editie.pdf</a:t>
            </a:r>
          </a:p>
          <a:p xmlns:a="http://schemas.openxmlformats.org/drawingml/2006/main">
            <a:r>
              <a:rPr sz="1400"/>
              <a:t>Manuscript en antwoordmodel: https://github.com/meijer1973/4veco-lessen/blob/173aa9a803897965c572df2c4e7f83cdb135eb1c/Boek%201%20-%20Grondslagen%2C%20vraag%20en%20aanbod/edities/tweede-editie-2026/bronnen/H3/ (1.3.1 Aanbod en aanbodfactoren – paragraaf.md; Antwoorden.md).</a:t>
            </a:r>
          </a:p>
          <a:p xmlns:a="http://schemas.openxmlformats.org/drawingml/2006/main">
            <a:r>
              <a:rPr sz="1400"/>
              <a:t>Uitlegvoorbeeld — niet uit het boek. Context en getallen over Houtwerk zijn voor deze presentatie geschreven. De bronpagina’s onderbouwen de methode, niet deze gegevens. Oud: q = 3P − 12, 4 ≤ P ≤ 16. Nieuw na duurdere houtprijs: q = 3P − 18, 6 ≤ P ≤ 16. q in houders per week, P in euro per houder. Eigen prijs van 8 naar 12; verder verandert er niets.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ligt S nog op A₀, terwijl T op A₁ ligt?</a:t>
            </a:r>
          </a:p>
          <a:p xmlns:a="http://schemas.openxmlformats.org/drawingml/2006/main">
            <a:r>
              <a:rPr sz="1400"/>
              <a:t/>
            </a:r>
          </a:p>
          <a:p xmlns:a="http://schemas.openxmlformats.org/drawingml/2006/main">
            <a:r>
              <a:rPr sz="1400"/>
              <a:t>Uitleg: R ligt op de oude lijn bij 8. S ligt nog op de oude lijn, maar bij 12. T gebruikt de nieuwe lijn en de nieuwe prijs. De beweging R naar S en het verschil S naar T verbeelden verschillende oorzaken. Vergelijk S en T horizontaal bij prijs 12. Controleer T in de nieuwe functie:3×12−18=18. Dit zijn aangeboden hoeveelheden, geen marktevenwicht en geen gegarandeerde verkopen.</a:t>
            </a:r>
          </a:p>
          <a:p xmlns:a="http://schemas.openxmlformats.org/drawingml/2006/main">
            <a:r>
              <a:rPr sz="1400"/>
              <a:t/>
            </a:r>
          </a:p>
          <a:p xmlns:a="http://schemas.openxmlformats.org/drawingml/2006/main">
            <a:r>
              <a:rPr sz="1400"/>
              <a:t>Misvatting: Dezelfde eigen prijs van S en T maakt het mogelijk de houtverandering apart te herkennen.</a:t>
            </a:r>
          </a:p>
          <a:p xmlns:a="http://schemas.openxmlformats.org/drawingml/2006/main">
            <a:r>
              <a:rPr sz="1400"/>
              <a:t/>
            </a:r>
          </a:p>
          <a:p xmlns:a="http://schemas.openxmlformats.org/drawingml/2006/main">
            <a:r>
              <a:rPr sz="1400"/>
              <a:t>Overgang: Laat leerlingen de aanpak in woorden controleren, daarna hun startantwoord verbeteren.</a:t>
            </a:r>
          </a:p>
          <a:p xmlns:a="http://schemas.openxmlformats.org/drawingml/2006/main">
            <a:r>
              <a:rPr sz="1400"/>
              <a:t/>
            </a:r>
          </a:p>
          <a:p xmlns:a="http://schemas.openxmlformats.org/drawingml/2006/main">
            <a:r>
              <a:rPr sz="1400"/>
              <a:t>Bron: Boek 1, tweede editie 2026. Gedrukte complete-boekpagina 89. https://github.com/meijer1973/4veco-lessen/blob/173aa9a803897965c572df2c4e7f83cdb135eb1c/Boek%201%20-%20Grondslagen%2C%20vraag%20en%20aanbod/edities/tweede-editie-2026/boek/Boek_1_Compleet_Tweede_editie.pdf</a:t>
            </a:r>
          </a:p>
          <a:p xmlns:a="http://schemas.openxmlformats.org/drawingml/2006/main">
            <a:r>
              <a:rPr sz="1400"/>
              <a:t>Manuscript en antwoordmodel: https://github.com/meijer1973/4veco-lessen/blob/173aa9a803897965c572df2c4e7f83cdb135eb1c/Boek%201%20-%20Grondslagen%2C%20vraag%20en%20aanbod/edities/tweede-editie-2026/bronnen/H3/ (1.3.1 Aanbod en aanbodfactoren – paragraaf.md; Antwoorden.md).</a:t>
            </a:r>
          </a:p>
          <a:p xmlns:a="http://schemas.openxmlformats.org/drawingml/2006/main">
            <a:r>
              <a:rPr sz="1400"/>
              <a:t>Uitlegvoorbeeld — niet uit het boek. Context en getallen over Houtwerk zijn voor deze presentatie geschreven. De bronpagina’s onderbouwen de methode, niet deze gegevens. Oud: q = 3P − 12, 4 ≤ P ≤ 16. Nieuw na duurdere houtprijs: q = 3P − 18, 6 ≤ P ≤ 16. q in houders per week, P in euro per houder. Eigen prijs van 8 naar 12; verder verandert er niets.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informatie ontbreekt om het netto-effect vast te stellen?</a:t>
            </a:r>
          </a:p>
          <a:p xmlns:a="http://schemas.openxmlformats.org/drawingml/2006/main">
            <a:r>
              <a:rPr sz="1400"/>
              <a:t/>
            </a:r>
          </a:p>
          <a:p xmlns:a="http://schemas.openxmlformats.org/drawingml/2006/main">
            <a:r>
              <a:rPr sz="1400"/>
              <a:t>Uitleg: Dit is een korte begripscontrole op het uitlegvoorbeeld, geen nieuwe huiswerkopgave. Vraag eerst individueel na te denken. Antwoord: niet zeker. De hogere houderprijs vergroot q langs A. Duurder hout vermindert het aanbod bij dezelfde prijs en verschuift A naar links. De effecten werken tegen elkaar, maar de grootte ontbreekt. In de doorgerekende versie was het netto+6; dat resultaat geldt niet zonder die gegevens.</a:t>
            </a:r>
          </a:p>
          <a:p xmlns:a="http://schemas.openxmlformats.org/drawingml/2006/main">
            <a:r>
              <a:rPr sz="1400"/>
              <a:t/>
            </a:r>
          </a:p>
          <a:p xmlns:a="http://schemas.openxmlformats.org/drawingml/2006/main">
            <a:r>
              <a:rPr sz="1400"/>
              <a:t>Misvatting: Richting van een verschuiving alleen bepaalt het uiteindelijke verschil niet als ook de eigen prijs verandert.</a:t>
            </a:r>
          </a:p>
          <a:p xmlns:a="http://schemas.openxmlformats.org/drawingml/2006/main">
            <a:r>
              <a:rPr sz="1400"/>
              <a:t/>
            </a:r>
          </a:p>
          <a:p xmlns:a="http://schemas.openxmlformats.org/drawingml/2006/main">
            <a:r>
              <a:rPr sz="1400"/>
              <a:t>Overgang: Keer terug naar startopgave2: laat de nieuwe begrippen met een reden toepassen. Zet daarna het overzicht klaar voor het basiswerk.</a:t>
            </a:r>
          </a:p>
          <a:p xmlns:a="http://schemas.openxmlformats.org/drawingml/2006/main">
            <a:r>
              <a:rPr sz="1400"/>
              <a:t/>
            </a:r>
          </a:p>
          <a:p xmlns:a="http://schemas.openxmlformats.org/drawingml/2006/main">
            <a:r>
              <a:rPr sz="1400"/>
              <a:t>Bron: Boek 1, tweede editie 2026. Gedrukte complete-boekpagina 88–89. https://github.com/meijer1973/4veco-lessen/blob/173aa9a803897965c572df2c4e7f83cdb135eb1c/Boek%201%20-%20Grondslagen%2C%20vraag%20en%20aanbod/edities/tweede-editie-2026/boek/Boek_1_Compleet_Tweede_editie.pdf</a:t>
            </a:r>
          </a:p>
          <a:p xmlns:a="http://schemas.openxmlformats.org/drawingml/2006/main">
            <a:r>
              <a:rPr sz="1400"/>
              <a:t>Manuscript en antwoordmodel: https://github.com/meijer1973/4veco-lessen/blob/173aa9a803897965c572df2c4e7f83cdb135eb1c/Boek%201%20-%20Grondslagen%2C%20vraag%20en%20aanbod/edities/tweede-editie-2026/bronnen/H3/ (1.3.1 Aanbod en aanbodfactoren – paragraaf.md; Antwoorden.md).</a:t>
            </a:r>
          </a:p>
          <a:p xmlns:a="http://schemas.openxmlformats.org/drawingml/2006/main">
            <a:r>
              <a:rPr sz="1400"/>
              <a:t>Uitlegvoorbeeld — niet uit het boek. Context en getallen over Houtwerk zijn voor deze presentatie geschreven. De bronpagina’s onderbouwen de methode, niet deze gegevens. Oud: q = 3P − 12, 4 ≤ P ≤ 16. Nieuw na duurdere houtprijs: q = 3P − 18, 6 ≤ P ≤ 16. q in houders per week, P in euro per houder. Eigen prijs van 8 naar 12; verder verandert er niets.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Hoe kun je opgave 2 nu verbeteren?</a:t>
            </a:r>
          </a:p>
          <a:p xmlns:a="http://schemas.openxmlformats.org/drawingml/2006/main">
            <a:r>
              <a:rPr sz="1400"/>
              <a:t/>
            </a:r>
          </a:p>
          <a:p xmlns:a="http://schemas.openxmlformats.org/drawingml/2006/main">
            <a:r>
              <a:rPr sz="1400"/>
              <a:t>Uitleg: Laat deze dia staan tijdens zelfstandig werken. Start 1–2 op p. 90; basis 3 op p. 90 en 4–5 op p. 91; zelfstandig 6–7 op p. 92 en 8 op p. 93; doel 9 op p. 94. Huiswerk: 3, 4, 5, 6, 7, 8 en 9 maken en nakijken. Bonus 10 en herhaling 11 zijn extra. De volledige route hoeft niet in één les af.</a:t>
            </a:r>
          </a:p>
          <a:p xmlns:a="http://schemas.openxmlformats.org/drawingml/2006/main">
            <a:r>
              <a:rPr sz="1400"/>
              <a:t/>
            </a:r>
          </a:p>
          <a:p xmlns:a="http://schemas.openxmlformats.org/drawingml/2006/main">
            <a:r>
              <a:rPr sz="1400"/>
              <a:t>Start 1 haalt substitutie en terugrekenen op uit §1.2.1, gedrukte pp. 48–50. Antwoorden: q = 12 stuks per maand; P = 5 euro per stuk, controle 18 − 2 × 5 = 8. Start 2 gebruikt nieuwe aanbodtaal: laat leerlingen p. 86 lezen (willen en kunnen aanbieden; nog geen verkoop) en stap 4 van het voorbeeld op p. 89. Laat hen de voorraad in de context als al aanwezige onderdelen herkennen. Behandel de poging als verkenning en laat twijfel noteren. Na de uitleg keren leerlingen terug naar opgave 2 en verbeteren hun reden vóór het basiswerk: aanbodplan 5 vervangingen deze middag, voorraad 8 binnenbanden op dit moment, werkelijke verkoop 3 vervangingen deze middag. Vraag steeds welke grootheid en periode bij een getal horen.</a:t>
            </a:r>
          </a:p>
          <a:p xmlns:a="http://schemas.openxmlformats.org/drawingml/2006/main">
            <a:r>
              <a:rPr sz="1400"/>
              <a:t/>
            </a:r>
          </a:p>
          <a:p xmlns:a="http://schemas.openxmlformats.org/drawingml/2006/main">
            <a:r>
              <a:rPr sz="1400"/>
              <a:t>Misvatting: Een voorraad op één moment is geen hoeveelheid aangeboden dienstverlening per middag.</a:t>
            </a:r>
          </a:p>
          <a:p xmlns:a="http://schemas.openxmlformats.org/drawingml/2006/main">
            <a:r>
              <a:rPr sz="1400"/>
              <a:t/>
            </a:r>
          </a:p>
          <a:p xmlns:a="http://schemas.openxmlformats.org/drawingml/2006/main">
            <a:r>
              <a:rPr sz="1400"/>
              <a:t>Overgang: Ga verder met de bijbehorende lesfase.</a:t>
            </a:r>
          </a:p>
          <a:p xmlns:a="http://schemas.openxmlformats.org/drawingml/2006/main">
            <a:r>
              <a:rPr sz="1400"/>
              <a:t/>
            </a:r>
          </a:p>
          <a:p xmlns:a="http://schemas.openxmlformats.org/drawingml/2006/main">
            <a:r>
              <a:rPr sz="1400"/>
              <a:t>Bron: Boek 1, tweede editie 2026. Gedrukte complete-boekpagina 86, 89–94. https://github.com/meijer1973/4veco-lessen/blob/173aa9a803897965c572df2c4e7f83cdb135eb1c/Boek%201%20-%20Grondslagen%2C%20vraag%20en%20aanbod/edities/tweede-editie-2026/boek/Boek_1_Compleet_Tweede_editie.pdf</a:t>
            </a:r>
          </a:p>
          <a:p xmlns:a="http://schemas.openxmlformats.org/drawingml/2006/main">
            <a:r>
              <a:rPr sz="1400"/>
              <a:t>Manuscript en antwoordmodel: https://github.com/meijer1973/4veco-lessen/blob/173aa9a803897965c572df2c4e7f83cdb135eb1c/Boek%201%20-%20Grondslagen%2C%20vraag%20en%20aanbod/edities/tweede-editie-2026/bronnen/H3/ (1.3.1 Aanbod en aanbodfactoren – paragraaf.md; Antwoorden.md).</a:t>
            </a:r>
          </a:p>
          <a:p xmlns:a="http://schemas.openxmlformats.org/drawingml/2006/main">
            <a:r>
              <a:rPr sz="1400"/>
              <a:t>Alle pagina’s verwijzen naar de gedrukte complete tweede editie. Voorkennisbron: https://github.com/meijer1973/4veco-lessen/blob/173aa9a803897965c572df2c4e7f83cdb135eb1c/Boek%201%20-%20Grondslagen%2C%20vraag%20en%20aanbod/edities/tweede-editie-2026/bronnen/H2/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hoort bij de oude situatie, en wat verandert er?</a:t>
            </a:r>
          </a:p>
          <a:p xmlns:a="http://schemas.openxmlformats.org/drawingml/2006/main">
            <a:r>
              <a:rPr sz="1400"/>
              <a:t/>
            </a:r>
          </a:p>
          <a:p xmlns:a="http://schemas.openxmlformats.org/drawingml/2006/main">
            <a:r>
              <a:rPr sz="1400"/>
              <a:t>Uitleg: Dit zijn de complete context, functies, geldigheidsgebieden, eenheden en veranderingen van de echte doelopgave 9. Laat eigen werk erbij pakken. Er volgen eerst de gegeven grafiek en alle deelvragen, zonder uitwerking.</a:t>
            </a:r>
          </a:p>
          <a:p xmlns:a="http://schemas.openxmlformats.org/drawingml/2006/main">
            <a:r>
              <a:rPr sz="1400"/>
              <a:t/>
            </a:r>
          </a:p>
          <a:p xmlns:a="http://schemas.openxmlformats.org/drawingml/2006/main">
            <a:r>
              <a:rPr sz="1400"/>
              <a:t>Misvatting: q betreft één atelier en tassen per maand. Dit is geen markt- of evenwichtsvraag.</a:t>
            </a:r>
          </a:p>
          <a:p xmlns:a="http://schemas.openxmlformats.org/drawingml/2006/main">
            <a:r>
              <a:rPr sz="1400"/>
              <a:t/>
            </a:r>
          </a:p>
          <a:p xmlns:a="http://schemas.openxmlformats.org/drawingml/2006/main">
            <a:r>
              <a:rPr sz="1400"/>
              <a:t>Overgang: Toon de beginlijn uit de opgave.</a:t>
            </a:r>
          </a:p>
          <a:p xmlns:a="http://schemas.openxmlformats.org/drawingml/2006/main">
            <a:r>
              <a:rPr sz="1400"/>
              <a:t/>
            </a:r>
          </a:p>
          <a:p xmlns:a="http://schemas.openxmlformats.org/drawingml/2006/main">
            <a:r>
              <a:rPr sz="1400"/>
              <a:t>Bron: Boek 1, tweede editie 2026. Gedrukte complete-boekpagina 94. https://github.com/meijer1973/4veco-lessen/blob/173aa9a803897965c572df2c4e7f83cdb135eb1c/Boek%201%20-%20Grondslagen%2C%20vraag%20en%20aanbod/edities/tweede-editie-2026/boek/Boek_1_Compleet_Tweede_editie.pdf</a:t>
            </a:r>
          </a:p>
          <a:p xmlns:a="http://schemas.openxmlformats.org/drawingml/2006/main">
            <a:r>
              <a:rPr sz="1400"/>
              <a:t>Manuscript en antwoordmodel: https://github.com/meijer1973/4veco-lessen/blob/173aa9a803897965c572df2c4e7f83cdb135eb1c/Boek%201%20-%20Grondslagen%2C%20vraag%20en%20aanbod/edities/tweede-editie-2026/bronnen/H3/ (1.3.1 Aanbod en aanbodfactoren – paragraaf.md; 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lijn en welke markeringen moet je zelf toevoegen?</a:t>
            </a:r>
          </a:p>
          <a:p xmlns:a="http://schemas.openxmlformats.org/drawingml/2006/main">
            <a:r>
              <a:rPr sz="1400"/>
              <a:t/>
            </a:r>
          </a:p>
          <a:p xmlns:a="http://schemas.openxmlformats.org/drawingml/2006/main">
            <a:r>
              <a:rPr sz="1400"/>
              <a:t>Uitleg: De native grafiek bevat precies de gegevens van figuur 8: q-as 0–80, prijs-as 0–32, A₀ van(0;10) tot(80;30), met de oorspronkelijke eenheden. Geen nieuwe lijn of gevraagde R/S/T-markeringen wordt hier onthuld. De native grafiek is een bewerkbare reconstructie van de bronfiguur.</a:t>
            </a:r>
          </a:p>
          <a:p xmlns:a="http://schemas.openxmlformats.org/drawingml/2006/main">
            <a:r>
              <a:rPr sz="1400"/>
              <a:t/>
            </a:r>
          </a:p>
          <a:p xmlns:a="http://schemas.openxmlformats.org/drawingml/2006/main">
            <a:r>
              <a:rPr sz="1400"/>
              <a:t>Misvatting: De assen verwisselen verandert de betekenis van alle coördinaten.</a:t>
            </a:r>
          </a:p>
          <a:p xmlns:a="http://schemas.openxmlformats.org/drawingml/2006/main">
            <a:r>
              <a:rPr sz="1400"/>
              <a:t/>
            </a:r>
          </a:p>
          <a:p xmlns:a="http://schemas.openxmlformats.org/drawingml/2006/main">
            <a:r>
              <a:rPr sz="1400"/>
              <a:t>Overgang: Toon alle deelvragen voor het bespreken van oplossingen.</a:t>
            </a:r>
          </a:p>
          <a:p xmlns:a="http://schemas.openxmlformats.org/drawingml/2006/main">
            <a:r>
              <a:rPr sz="1400"/>
              <a:t/>
            </a:r>
          </a:p>
          <a:p xmlns:a="http://schemas.openxmlformats.org/drawingml/2006/main">
            <a:r>
              <a:rPr sz="1400"/>
              <a:t>Bron: Boek 1, tweede editie 2026. Gedrukte complete-boekpagina 94. https://github.com/meijer1973/4veco-lessen/blob/173aa9a803897965c572df2c4e7f83cdb135eb1c/Boek%201%20-%20Grondslagen%2C%20vraag%20en%20aanbod/edities/tweede-editie-2026/boek/Boek_1_Compleet_Tweede_editie.pdf</a:t>
            </a:r>
          </a:p>
          <a:p xmlns:a="http://schemas.openxmlformats.org/drawingml/2006/main">
            <a:r>
              <a:rPr sz="1400"/>
              <a:t>Manuscript en antwoordmodel: https://github.com/meijer1973/4veco-lessen/blob/173aa9a803897965c572df2c4e7f83cdb135eb1c/Boek%201%20-%20Grondslagen%2C%20vraag%20en%20aanbod/edities/tweede-editie-2026/bronnen/H3/ (1.3.1 Aanbod en aanbodfactoren – paragraaf.md; 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vraagt c naast het tekenen van een lijn?</a:t>
            </a:r>
          </a:p>
          <a:p xmlns:a="http://schemas.openxmlformats.org/drawingml/2006/main">
            <a:r>
              <a:rPr sz="1400"/>
              <a:t/>
            </a:r>
          </a:p>
          <a:p xmlns:a="http://schemas.openxmlformats.org/drawingml/2006/main">
            <a:r>
              <a:rPr sz="1400"/>
              <a:t>Uitleg: De drie deelvragen zijn onverkort overgenomen. Laat leerlingen nog geen klassikale oplossing zien. Voor c zijn zowel de nieuwe lijn als alle drie punten met coördinaten vereist.</a:t>
            </a:r>
          </a:p>
          <a:p xmlns:a="http://schemas.openxmlformats.org/drawingml/2006/main">
            <a:r>
              <a:rPr sz="1400"/>
              <a:t/>
            </a:r>
          </a:p>
          <a:p xmlns:a="http://schemas.openxmlformats.org/drawingml/2006/main">
            <a:r>
              <a:rPr sz="1400"/>
              <a:t>Misvatting: Een eindpunt zonder uitleg van de twee oorzaken dekt de opgave nog niet.</a:t>
            </a:r>
          </a:p>
          <a:p xmlns:a="http://schemas.openxmlformats.org/drawingml/2006/main">
            <a:r>
              <a:rPr sz="1400"/>
              <a:t/>
            </a:r>
          </a:p>
          <a:p xmlns:a="http://schemas.openxmlformats.org/drawingml/2006/main">
            <a:r>
              <a:rPr sz="1400"/>
              <a:t>Overgang: Toon ook d en e voordat de uitwerking begint.</a:t>
            </a:r>
          </a:p>
          <a:p xmlns:a="http://schemas.openxmlformats.org/drawingml/2006/main">
            <a:r>
              <a:rPr sz="1400"/>
              <a:t/>
            </a:r>
          </a:p>
          <a:p xmlns:a="http://schemas.openxmlformats.org/drawingml/2006/main">
            <a:r>
              <a:rPr sz="1400"/>
              <a:t>Bron: Boek 1, tweede editie 2026. Gedrukte complete-boekpagina 94. https://github.com/meijer1973/4veco-lessen/blob/173aa9a803897965c572df2c4e7f83cdb135eb1c/Boek%201%20-%20Grondslagen%2C%20vraag%20en%20aanbod/edities/tweede-editie-2026/boek/Boek_1_Compleet_Tweede_editie.pdf</a:t>
            </a:r>
          </a:p>
          <a:p xmlns:a="http://schemas.openxmlformats.org/drawingml/2006/main">
            <a:r>
              <a:rPr sz="1400"/>
              <a:t>Manuscript en antwoordmodel: https://github.com/meijer1973/4veco-lessen/blob/173aa9a803897965c572df2c4e7f83cdb135eb1c/Boek%201%20-%20Grondslagen%2C%20vraag%20en%20aanbod/edities/tweede-editie-2026/bronnen/H3/ (1.3.1 Aanbod en aanbodfactoren – paragraaf.md; 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grootheid vergelijk je met het begin?</a:t>
            </a:r>
          </a:p>
          <a:p xmlns:a="http://schemas.openxmlformats.org/drawingml/2006/main">
            <a:r>
              <a:rPr sz="1400"/>
              <a:t/>
            </a:r>
          </a:p>
          <a:p xmlns:a="http://schemas.openxmlformats.org/drawingml/2006/main">
            <a:r>
              <a:rPr sz="1400"/>
              <a:t>Uitleg: Nu zijn de complete context, bronfiguur en alle vijf deelvragen beschikbaar voordat een antwoord is getoond. Bespreek pas hierna de uitwerkingen. Bij d horen zowel nettoverandering als de verklaring van twee effecten; e vraagt een oordeel met reden.</a:t>
            </a:r>
          </a:p>
          <a:p xmlns:a="http://schemas.openxmlformats.org/drawingml/2006/main">
            <a:r>
              <a:rPr sz="1400"/>
              <a:t/>
            </a:r>
          </a:p>
          <a:p xmlns:a="http://schemas.openxmlformats.org/drawingml/2006/main">
            <a:r>
              <a:rPr sz="1400"/>
              <a:t>Misvatting: Alleen zeggen dat iets onjuist is, geeft nog geen economische verklaring.</a:t>
            </a:r>
          </a:p>
          <a:p xmlns:a="http://schemas.openxmlformats.org/drawingml/2006/main">
            <a:r>
              <a:rPr sz="1400"/>
              <a:t/>
            </a:r>
          </a:p>
          <a:p xmlns:a="http://schemas.openxmlformats.org/drawingml/2006/main">
            <a:r>
              <a:rPr sz="1400"/>
              <a:t>Overgang: Begin de uitwerking bij de oude functie en beide verkoopprijzen.</a:t>
            </a:r>
          </a:p>
          <a:p xmlns:a="http://schemas.openxmlformats.org/drawingml/2006/main">
            <a:r>
              <a:rPr sz="1400"/>
              <a:t/>
            </a:r>
          </a:p>
          <a:p xmlns:a="http://schemas.openxmlformats.org/drawingml/2006/main">
            <a:r>
              <a:rPr sz="1400"/>
              <a:t>Bron: Boek 1, tweede editie 2026. Gedrukte complete-boekpagina 94. https://github.com/meijer1973/4veco-lessen/blob/173aa9a803897965c572df2c4e7f83cdb135eb1c/Boek%201%20-%20Grondslagen%2C%20vraag%20en%20aanbod/edities/tweede-editie-2026/boek/Boek_1_Compleet_Tweede_editie.pdf</a:t>
            </a:r>
          </a:p>
          <a:p xmlns:a="http://schemas.openxmlformats.org/drawingml/2006/main">
            <a:r>
              <a:rPr sz="1400"/>
              <a:t>Manuscript en antwoordmodel: https://github.com/meijer1973/4veco-lessen/blob/173aa9a803897965c572df2c4e7f83cdb135eb1c/Boek%201%20-%20Grondslagen%2C%20vraag%20en%20aanbod/edities/tweede-editie-2026/bronnen/H3/ (1.3.1 Aanbod en aanbodfactoren – paragraaf.md; 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gebruik je hier nog niet de nieuwe functie?</a:t>
            </a:r>
          </a:p>
          <a:p xmlns:a="http://schemas.openxmlformats.org/drawingml/2006/main">
            <a:r>
              <a:rPr sz="1400"/>
              <a:t/>
            </a:r>
          </a:p>
          <a:p xmlns:a="http://schemas.openxmlformats.org/drawingml/2006/main">
            <a:r>
              <a:rPr sz="1400"/>
              <a:t>Uitleg: Gebruik voor beide gevallen de oude functie. 4×20−40=40; 4×24−40=56. Het verschil is 16. Een euro prijsstijging vergroot in dit model de aangeboden hoeveelheid met 4 tassen per maand, bij gelijke overige omstandigheden. Controle:4 euro extra maal 4 tassen per euro geeft 16 tassen extra. Beide prijzen passen binnen 10≤P≤30.</a:t>
            </a:r>
          </a:p>
          <a:p xmlns:a="http://schemas.openxmlformats.org/drawingml/2006/main">
            <a:r>
              <a:rPr sz="1400"/>
              <a:t/>
            </a:r>
          </a:p>
          <a:p xmlns:a="http://schemas.openxmlformats.org/drawingml/2006/main">
            <a:r>
              <a:rPr sz="1400"/>
              <a:t>Misvatting: De coëfficiënt4 is geen hoeveelheid van4 tassen zonder prijsverandering.</a:t>
            </a:r>
          </a:p>
          <a:p xmlns:a="http://schemas.openxmlformats.org/drawingml/2006/main">
            <a:r>
              <a:rPr sz="1400"/>
              <a:t/>
            </a:r>
          </a:p>
          <a:p xmlns:a="http://schemas.openxmlformats.org/drawingml/2006/main">
            <a:r>
              <a:rPr sz="1400"/>
              <a:t>Overgang: Plaats de twee combinaties op dezelfde oude lijn.</a:t>
            </a:r>
          </a:p>
          <a:p xmlns:a="http://schemas.openxmlformats.org/drawingml/2006/main">
            <a:r>
              <a:rPr sz="1400"/>
              <a:t/>
            </a:r>
          </a:p>
          <a:p xmlns:a="http://schemas.openxmlformats.org/drawingml/2006/main">
            <a:r>
              <a:rPr sz="1400"/>
              <a:t>Bron: Boek 1, tweede editie 2026. Gedrukte complete-boekpagina 94. https://github.com/meijer1973/4veco-lessen/blob/173aa9a803897965c572df2c4e7f83cdb135eb1c/Boek%201%20-%20Grondslagen%2C%20vraag%20en%20aanbod/edities/tweede-editie-2026/boek/Boek_1_Compleet_Tweede_editie.pdf</a:t>
            </a:r>
          </a:p>
          <a:p xmlns:a="http://schemas.openxmlformats.org/drawingml/2006/main">
            <a:r>
              <a:rPr sz="1400"/>
              <a:t>Manuscript en antwoordmodel: https://github.com/meijer1973/4veco-lessen/blob/173aa9a803897965c572df2c4e7f83cdb135eb1c/Boek%201%20-%20Grondslagen%2C%20vraag%20en%20aanbod/edities/tweede-editie-2026/bronnen/H3/ (1.3.1 Aanbod en aanbodfactoren – paragraaf.md; 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punt beschrijft alleen de hogere verkoopprijs?</a:t>
            </a:r>
          </a:p>
          <a:p xmlns:a="http://schemas.openxmlformats.org/drawingml/2006/main">
            <a:r>
              <a:rPr sz="1400"/>
              <a:t/>
            </a:r>
          </a:p>
          <a:p xmlns:a="http://schemas.openxmlformats.org/drawingml/2006/main">
            <a:r>
              <a:rPr sz="1400"/>
              <a:t>Uitleg: R=(40;20) is de oude situatie. S=(56;24) gebruikt de nieuwe verkoopprijs en oude omstandigheden. Controleer beide punten in q=4 P−40. De prijsbeweging verandert het aanbodplan, niet de aanbodfunctie.</a:t>
            </a:r>
          </a:p>
          <a:p xmlns:a="http://schemas.openxmlformats.org/drawingml/2006/main">
            <a:r>
              <a:rPr sz="1400"/>
              <a:t/>
            </a:r>
          </a:p>
          <a:p xmlns:a="http://schemas.openxmlformats.org/drawingml/2006/main">
            <a:r>
              <a:rPr sz="1400"/>
              <a:t>Misvatting: S is nog niet de einduitkomst omdat de stofprijs nog niet is meegenomen.</a:t>
            </a:r>
          </a:p>
          <a:p xmlns:a="http://schemas.openxmlformats.org/drawingml/2006/main">
            <a:r>
              <a:rPr sz="1400"/>
              <a:t/>
            </a:r>
          </a:p>
          <a:p xmlns:a="http://schemas.openxmlformats.org/drawingml/2006/main">
            <a:r>
              <a:rPr sz="1400"/>
              <a:t>Overgang: Onderzoek de stofverandering eerst bij de oude verkoopprijs.</a:t>
            </a:r>
          </a:p>
          <a:p xmlns:a="http://schemas.openxmlformats.org/drawingml/2006/main">
            <a:r>
              <a:rPr sz="1400"/>
              <a:t/>
            </a:r>
          </a:p>
          <a:p xmlns:a="http://schemas.openxmlformats.org/drawingml/2006/main">
            <a:r>
              <a:rPr sz="1400"/>
              <a:t>Bron: Boek 1, tweede editie 2026. Gedrukte complete-boekpagina 94. https://github.com/meijer1973/4veco-lessen/blob/173aa9a803897965c572df2c4e7f83cdb135eb1c/Boek%201%20-%20Grondslagen%2C%20vraag%20en%20aanbod/edities/tweede-editie-2026/boek/Boek_1_Compleet_Tweede_editie.pdf</a:t>
            </a:r>
          </a:p>
          <a:p xmlns:a="http://schemas.openxmlformats.org/drawingml/2006/main">
            <a:r>
              <a:rPr sz="1400"/>
              <a:t>Manuscript en antwoordmodel: https://github.com/meijer1973/4veco-lessen/blob/173aa9a803897965c572df2c4e7f83cdb135eb1c/Boek%201%20-%20Grondslagen%2C%20vraag%20en%20aanbod/edities/tweede-editie-2026/bronnen/H3/ (1.3.1 Aanbod en aanbodfactoren – paragraaf.md; 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vergelijk je hier met40 en niet met56?</a:t>
            </a:r>
          </a:p>
          <a:p xmlns:a="http://schemas.openxmlformats.org/drawingml/2006/main">
            <a:r>
              <a:rPr sz="1400"/>
              <a:t/>
            </a:r>
          </a:p>
          <a:p xmlns:a="http://schemas.openxmlformats.org/drawingml/2006/main">
            <a:r>
              <a:rPr sz="1400"/>
              <a:t>Uitleg: De specifieke factor is de prijs van stof. Vul de oude verkoopprijs 20 in de nieuwe functie 4 P−52 in. De uitkomst 28 is 12 lager dan de oude 40. De stofverandering maakt produceren bij dezelfde verkoopprijs minder aantrekkelijk. Controle:4×20−52=28 en 20 ligt ook in het nieuwe geldigheidsgebied 13–30.</a:t>
            </a:r>
          </a:p>
          <a:p xmlns:a="http://schemas.openxmlformats.org/drawingml/2006/main">
            <a:r>
              <a:rPr sz="1400"/>
              <a:t/>
            </a:r>
          </a:p>
          <a:p xmlns:a="http://schemas.openxmlformats.org/drawingml/2006/main">
            <a:r>
              <a:rPr sz="1400"/>
              <a:t>Misvatting: 28 is de nieuwe aangeboden hoeveelheid bij de oude prijs. Het is niet de eindhoeveelheid bij24.</a:t>
            </a:r>
          </a:p>
          <a:p xmlns:a="http://schemas.openxmlformats.org/drawingml/2006/main">
            <a:r>
              <a:rPr sz="1400"/>
              <a:t/>
            </a:r>
          </a:p>
          <a:p xmlns:a="http://schemas.openxmlformats.org/drawingml/2006/main">
            <a:r>
              <a:rPr sz="1400"/>
              <a:t>Overgang: Bepaal twee punten van A₁ en daarna het uiteindelijke punt T.</a:t>
            </a:r>
          </a:p>
          <a:p xmlns:a="http://schemas.openxmlformats.org/drawingml/2006/main">
            <a:r>
              <a:rPr sz="1400"/>
              <a:t/>
            </a:r>
          </a:p>
          <a:p xmlns:a="http://schemas.openxmlformats.org/drawingml/2006/main">
            <a:r>
              <a:rPr sz="1400"/>
              <a:t>Bron: Boek 1, tweede editie 2026. Gedrukte complete-boekpagina 94. https://github.com/meijer1973/4veco-lessen/blob/173aa9a803897965c572df2c4e7f83cdb135eb1c/Boek%201%20-%20Grondslagen%2C%20vraag%20en%20aanbod/edities/tweede-editie-2026/boek/Boek_1_Compleet_Tweede_editie.pdf</a:t>
            </a:r>
          </a:p>
          <a:p xmlns:a="http://schemas.openxmlformats.org/drawingml/2006/main">
            <a:r>
              <a:rPr sz="1400"/>
              <a:t>Manuscript en antwoordmodel: https://github.com/meijer1973/4veco-lessen/blob/173aa9a803897965c572df2c4e7f83cdb135eb1c/Boek%201%20-%20Grondslagen%2C%20vraag%20en%20aanbod/edities/tweede-editie-2026/bronnen/H3/ (1.3.1 Aanbod en aanbodfactoren – paragraaf.md; 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heb je voor A₁ aan twee berekende punten genoeg?</a:t>
            </a:r>
          </a:p>
          <a:p xmlns:a="http://schemas.openxmlformats.org/drawingml/2006/main">
            <a:r>
              <a:rPr sz="1400"/>
              <a:t/>
            </a:r>
          </a:p>
          <a:p xmlns:a="http://schemas.openxmlformats.org/drawingml/2006/main">
            <a:r>
              <a:rPr sz="1400"/>
              <a:t>Uitleg: Teken A₁ door de berekende eindpunten van het gegeven prijsgebied. De lijn loopt niet buiten 13≤P≤30. T volgt uit de nieuwe prijs in de nieuwe functie:44. Controleer dat T tussen de eindpunten ligt. De eenheid van 44 is tassen per maand;24 is euro per tas.</a:t>
            </a:r>
          </a:p>
          <a:p xmlns:a="http://schemas.openxmlformats.org/drawingml/2006/main">
            <a:r>
              <a:rPr sz="1400"/>
              <a:t/>
            </a:r>
          </a:p>
          <a:p xmlns:a="http://schemas.openxmlformats.org/drawingml/2006/main">
            <a:r>
              <a:rPr sz="1400"/>
              <a:t>Misvatting: T hoort op A₁. Wie24 in de oude functie invult, vindt S in plaats van T.</a:t>
            </a:r>
          </a:p>
          <a:p xmlns:a="http://schemas.openxmlformats.org/drawingml/2006/main">
            <a:r>
              <a:rPr sz="1400"/>
              <a:t/>
            </a:r>
          </a:p>
          <a:p xmlns:a="http://schemas.openxmlformats.org/drawingml/2006/main">
            <a:r>
              <a:rPr sz="1400"/>
              <a:t>Overgang: Toon de volledige nieuwe lijn en de drie punten samen.</a:t>
            </a:r>
          </a:p>
          <a:p xmlns:a="http://schemas.openxmlformats.org/drawingml/2006/main">
            <a:r>
              <a:rPr sz="1400"/>
              <a:t/>
            </a:r>
          </a:p>
          <a:p xmlns:a="http://schemas.openxmlformats.org/drawingml/2006/main">
            <a:r>
              <a:rPr sz="1400"/>
              <a:t>Bron: Boek 1, tweede editie 2026. Gedrukte complete-boekpagina 94. https://github.com/meijer1973/4veco-lessen/blob/173aa9a803897965c572df2c4e7f83cdb135eb1c/Boek%201%20-%20Grondslagen%2C%20vraag%20en%20aanbod/edities/tweede-editie-2026/boek/Boek_1_Compleet_Tweede_editie.pdf</a:t>
            </a:r>
          </a:p>
          <a:p xmlns:a="http://schemas.openxmlformats.org/drawingml/2006/main">
            <a:r>
              <a:rPr sz="1400"/>
              <a:t>Manuscript en antwoordmodel: https://github.com/meijer1973/4veco-lessen/blob/173aa9a803897965c572df2c4e7f83cdb135eb1c/Boek%201%20-%20Grondslagen%2C%20vraag%20en%20aanbod/edities/tweede-editie-2026/bronnen/H3/ (1.3.1 Aanbod en aanbodfactoren – paragraaf.md; 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Hoe kunnen er uiteindelijk meer tassen aangeboden worden terwijl A naar links verschuift?</a:t>
            </a:r>
          </a:p>
          <a:p xmlns:a="http://schemas.openxmlformats.org/drawingml/2006/main">
            <a:r>
              <a:rPr sz="1400"/>
              <a:t/>
            </a:r>
          </a:p>
          <a:p xmlns:a="http://schemas.openxmlformats.org/drawingml/2006/main">
            <a:r>
              <a:rPr sz="1400"/>
              <a:t>Uitleg: De volledige figuur heeft A₀ van(0;10) tot(80;30), A₁ van(0;13) tot(68;30), R(40;20), S(56;24) en T(44;24). Elke reeks gebruikt numerieke q-waarden. De prijs- en hoeveelheidsschalen zijn identiek aan de beginfiguur en de vorige targetgrafiek. Vergelijk S met T bij 24:12 minder door duurdere stof. T ligt rechts van R qua hoeveelheid, maar dat maakt de verschuiving van A niet rechtswaarts.</a:t>
            </a:r>
          </a:p>
          <a:p xmlns:a="http://schemas.openxmlformats.org/drawingml/2006/main">
            <a:r>
              <a:rPr sz="1400"/>
              <a:t/>
            </a:r>
          </a:p>
          <a:p xmlns:a="http://schemas.openxmlformats.org/drawingml/2006/main">
            <a:r>
              <a:rPr sz="1400"/>
              <a:t>Misvatting: Verwar een nettoverandering van q tussen R en T niet met de richting van de hele lijn.</a:t>
            </a:r>
          </a:p>
          <a:p xmlns:a="http://schemas.openxmlformats.org/drawingml/2006/main">
            <a:r>
              <a:rPr sz="1400"/>
              <a:t/>
            </a:r>
          </a:p>
          <a:p xmlns:a="http://schemas.openxmlformats.org/drawingml/2006/main">
            <a:r>
              <a:rPr sz="1400"/>
              <a:t>Overgang: Zet de twee tegengestelde hoeveelheidseffecten naast elkaar.</a:t>
            </a:r>
          </a:p>
          <a:p xmlns:a="http://schemas.openxmlformats.org/drawingml/2006/main">
            <a:r>
              <a:rPr sz="1400"/>
              <a:t/>
            </a:r>
          </a:p>
          <a:p xmlns:a="http://schemas.openxmlformats.org/drawingml/2006/main">
            <a:r>
              <a:rPr sz="1400"/>
              <a:t>Bron: Boek 1, tweede editie 2026. Gedrukte complete-boekpagina 94. https://github.com/meijer1973/4veco-lessen/blob/173aa9a803897965c572df2c4e7f83cdb135eb1c/Boek%201%20-%20Grondslagen%2C%20vraag%20en%20aanbod/edities/tweede-editie-2026/boek/Boek_1_Compleet_Tweede_editie.pdf</a:t>
            </a:r>
          </a:p>
          <a:p xmlns:a="http://schemas.openxmlformats.org/drawingml/2006/main">
            <a:r>
              <a:rPr sz="1400"/>
              <a:t>Manuscript en antwoordmodel: https://github.com/meijer1973/4veco-lessen/blob/173aa9a803897965c572df2c4e7f83cdb135eb1c/Boek%201%20-%20Grondslagen%2C%20vraag%20en%20aanbod/edities/tweede-editie-2026/bronnen/H3/ (1.3.1 Aanbod en aanbodfactoren – paragraaf.md; 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controle verbindt beginhoeveelheid, beide effecten en eindhoeveelheid?</a:t>
            </a:r>
          </a:p>
          <a:p xmlns:a="http://schemas.openxmlformats.org/drawingml/2006/main">
            <a:r>
              <a:rPr sz="1400"/>
              <a:t/>
            </a:r>
          </a:p>
          <a:p xmlns:a="http://schemas.openxmlformats.org/drawingml/2006/main">
            <a:r>
              <a:rPr sz="1400"/>
              <a:t>Uitleg: Herhaal eerst het juiste eindgetal 44. Netto 44−40=+4. De prijsstijging alleen geeft+16, de stofprijs−12 bij dezelfde prijs. Controle:40+16−12=44. De positieve bijdrage is in absolute waarde groter dan de negatieve, waardoor de uiteindelijke aangeboden hoeveelheid stijgt. Dit bewijst geen stijging van de werkelijke verkoop.</a:t>
            </a:r>
          </a:p>
          <a:p xmlns:a="http://schemas.openxmlformats.org/drawingml/2006/main">
            <a:r>
              <a:rPr sz="1400"/>
              <a:t/>
            </a:r>
          </a:p>
          <a:p xmlns:a="http://schemas.openxmlformats.org/drawingml/2006/main">
            <a:r>
              <a:rPr sz="1400"/>
              <a:t>Misvatting: Zonder de gegeven groottes kon je bij tegengestelde effecten geen netto-richting bepalen.</a:t>
            </a:r>
          </a:p>
          <a:p xmlns:a="http://schemas.openxmlformats.org/drawingml/2006/main">
            <a:r>
              <a:rPr sz="1400"/>
              <a:t/>
            </a:r>
          </a:p>
          <a:p xmlns:a="http://schemas.openxmlformats.org/drawingml/2006/main">
            <a:r>
              <a:rPr sz="1400"/>
              <a:t>Overgang: Beoordeel nu de uitspraak over de richting van de aanbodlijn.</a:t>
            </a:r>
          </a:p>
          <a:p xmlns:a="http://schemas.openxmlformats.org/drawingml/2006/main">
            <a:r>
              <a:rPr sz="1400"/>
              <a:t/>
            </a:r>
          </a:p>
          <a:p xmlns:a="http://schemas.openxmlformats.org/drawingml/2006/main">
            <a:r>
              <a:rPr sz="1400"/>
              <a:t>Bron: Boek 1, tweede editie 2026. Gedrukte complete-boekpagina 94. https://github.com/meijer1973/4veco-lessen/blob/173aa9a803897965c572df2c4e7f83cdb135eb1c/Boek%201%20-%20Grondslagen%2C%20vraag%20en%20aanbod/edities/tweede-editie-2026/boek/Boek_1_Compleet_Tweede_editie.pdf</a:t>
            </a:r>
          </a:p>
          <a:p xmlns:a="http://schemas.openxmlformats.org/drawingml/2006/main">
            <a:r>
              <a:rPr sz="1400"/>
              <a:t>Manuscript en antwoordmodel: https://github.com/meijer1973/4veco-lessen/blob/173aa9a803897965c572df2c4e7f83cdb135eb1c/Boek%201%20-%20Grondslagen%2C%20vraag%20en%20aanbod/edities/tweede-editie-2026/bronnen/H3/ (1.3.1 Aanbod en aanbodfactoren – paragraaf.md; 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prijs hoort bij het eindproduct en welke bij een productiemiddel?</a:t>
            </a:r>
          </a:p>
          <a:p xmlns:a="http://schemas.openxmlformats.org/drawingml/2006/main">
            <a:r>
              <a:rPr sz="1400"/>
              <a:t/>
            </a:r>
          </a:p>
          <a:p xmlns:a="http://schemas.openxmlformats.org/drawingml/2006/main">
            <a:r>
              <a:rPr sz="1400"/>
              <a:t>Uitleg: De uitspraak is onjuist omdat de eigen verkoopprijs de positie op een gegeven lijn verandert. Duurdere stof is de factor die de aanbodlijn verandert. Geef dit causale onderscheid, niet alleen een oordeel. Laat leerlingen een ontbrekende coördinaat, eenheid of reden in hun eigen antwoord verbeteren.</a:t>
            </a:r>
          </a:p>
          <a:p xmlns:a="http://schemas.openxmlformats.org/drawingml/2006/main">
            <a:r>
              <a:rPr sz="1400"/>
              <a:t/>
            </a:r>
          </a:p>
          <a:p xmlns:a="http://schemas.openxmlformats.org/drawingml/2006/main">
            <a:r>
              <a:rPr sz="1400"/>
              <a:t>Misvatting: De uiteindelijke hoeveelheid44 is groter dan40, maar A₁ ligt bij dezelfde prijs links van A₀.</a:t>
            </a:r>
          </a:p>
          <a:p xmlns:a="http://schemas.openxmlformats.org/drawingml/2006/main">
            <a:r>
              <a:rPr sz="1400"/>
              <a:t/>
            </a:r>
          </a:p>
          <a:p xmlns:a="http://schemas.openxmlformats.org/drawingml/2006/main">
            <a:r>
              <a:rPr sz="1400"/>
              <a:t>Overgang: Zet het huiswerk in de agenda met het vaste overzicht.</a:t>
            </a:r>
          </a:p>
          <a:p xmlns:a="http://schemas.openxmlformats.org/drawingml/2006/main">
            <a:r>
              <a:rPr sz="1400"/>
              <a:t/>
            </a:r>
          </a:p>
          <a:p xmlns:a="http://schemas.openxmlformats.org/drawingml/2006/main">
            <a:r>
              <a:rPr sz="1400"/>
              <a:t>Bron: Boek 1, tweede editie 2026. Gedrukte complete-boekpagina 94. https://github.com/meijer1973/4veco-lessen/blob/173aa9a803897965c572df2c4e7f83cdb135eb1c/Boek%201%20-%20Grondslagen%2C%20vraag%20en%20aanbod/edities/tweede-editie-2026/boek/Boek_1_Compleet_Tweede_editie.pdf</a:t>
            </a:r>
          </a:p>
          <a:p xmlns:a="http://schemas.openxmlformats.org/drawingml/2006/main">
            <a:r>
              <a:rPr sz="1400"/>
              <a:t>Manuscript en antwoordmodel: https://github.com/meijer1973/4veco-lessen/blob/173aa9a803897965c572df2c4e7f83cdb135eb1c/Boek%201%20-%20Grondslagen%2C%20vraag%20en%20aanbod/edities/tweede-editie-2026/bronnen/H3/ (1.3.1 Aanbod en aanbodfactoren – paragraaf.md; 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opgaven maak en controleer je thuis?</a:t>
            </a:r>
          </a:p>
          <a:p xmlns:a="http://schemas.openxmlformats.org/drawingml/2006/main">
            <a:r>
              <a:rPr sz="1400"/>
              <a:t/>
            </a:r>
          </a:p>
          <a:p xmlns:a="http://schemas.openxmlformats.org/drawingml/2006/main">
            <a:r>
              <a:rPr sz="1400"/>
              <a:t>Uitleg: Laat deze dia staan tijdens afsluiting / huiswerk. Start 1–2 op p. 90; basis 3 op p. 90 en 4–5 op p. 91; zelfstandig 6–7 op p. 92 en 8 op p. 93; doel 9 op p. 94. Huiswerk: 3, 4, 5, 6, 7, 8 en 9 maken en nakijken. Bonus 10 en herhaling 11 zijn extra. De volledige route hoeft niet in één les af.</a:t>
            </a:r>
          </a:p>
          <a:p xmlns:a="http://schemas.openxmlformats.org/drawingml/2006/main">
            <a:r>
              <a:rPr sz="1400"/>
              <a:t/>
            </a:r>
          </a:p>
          <a:p xmlns:a="http://schemas.openxmlformats.org/drawingml/2006/main">
            <a:r>
              <a:rPr sz="1400"/>
              <a:t>Start 1 haalt substitutie en terugrekenen op uit §1.2.1, gedrukte pp. 48–50. Antwoorden: q = 12 stuks per maand; P = 5 euro per stuk, controle 18 − 2 × 5 = 8. Start 2 gebruikt nieuwe aanbodtaal: laat leerlingen p. 86 lezen (willen en kunnen aanbieden; nog geen verkoop) en stap 4 van het voorbeeld op p. 89. Laat hen de voorraad in de context als al aanwezige onderdelen herkennen. Behandel de poging als verkenning en laat twijfel noteren. Na de uitleg keren leerlingen terug naar opgave 2 en verbeteren hun reden vóór het basiswerk: aanbodplan 5 vervangingen deze middag, voorraad 8 binnenbanden op dit moment, werkelijke verkoop 3 vervangingen deze middag. Vraag steeds welke grootheid en periode bij een getal horen.</a:t>
            </a:r>
          </a:p>
          <a:p xmlns:a="http://schemas.openxmlformats.org/drawingml/2006/main">
            <a:r>
              <a:rPr sz="1400"/>
              <a:t/>
            </a:r>
          </a:p>
          <a:p xmlns:a="http://schemas.openxmlformats.org/drawingml/2006/main">
            <a:r>
              <a:rPr sz="1400"/>
              <a:t>Misvatting: Een voorraad op één moment is geen hoeveelheid aangeboden dienstverlening per middag.</a:t>
            </a:r>
          </a:p>
          <a:p xmlns:a="http://schemas.openxmlformats.org/drawingml/2006/main">
            <a:r>
              <a:rPr sz="1400"/>
              <a:t/>
            </a:r>
          </a:p>
          <a:p xmlns:a="http://schemas.openxmlformats.org/drawingml/2006/main">
            <a:r>
              <a:rPr sz="1400"/>
              <a:t>Overgang: Laat het huiswerk in de agenda zetten.</a:t>
            </a:r>
          </a:p>
          <a:p xmlns:a="http://schemas.openxmlformats.org/drawingml/2006/main">
            <a:r>
              <a:rPr sz="1400"/>
              <a:t/>
            </a:r>
          </a:p>
          <a:p xmlns:a="http://schemas.openxmlformats.org/drawingml/2006/main">
            <a:r>
              <a:rPr sz="1400"/>
              <a:t>Bron: Boek 1, tweede editie 2026. Gedrukte complete-boekpagina 86, 89–94. https://github.com/meijer1973/4veco-lessen/blob/173aa9a803897965c572df2c4e7f83cdb135eb1c/Boek%201%20-%20Grondslagen%2C%20vraag%20en%20aanbod/edities/tweede-editie-2026/boek/Boek_1_Compleet_Tweede_editie.pdf</a:t>
            </a:r>
          </a:p>
          <a:p xmlns:a="http://schemas.openxmlformats.org/drawingml/2006/main">
            <a:r>
              <a:rPr sz="1400"/>
              <a:t>Manuscript en antwoordmodel: https://github.com/meijer1973/4veco-lessen/blob/173aa9a803897965c572df2c4e7f83cdb135eb1c/Boek%201%20-%20Grondslagen%2C%20vraag%20en%20aanbod/edities/tweede-editie-2026/bronnen/H3/ (1.3.1 Aanbod en aanbodfactoren – paragraaf.md; Antwoorden.md).</a:t>
            </a:r>
          </a:p>
          <a:p xmlns:a="http://schemas.openxmlformats.org/drawingml/2006/main">
            <a:r>
              <a:rPr sz="1400"/>
              <a:t>Alle pagina’s verwijzen naar de gedrukte complete tweede editie. Voorkennisbron: https://github.com/meijer1973/4veco-lessen/blob/173aa9a803897965c572df2c4e7f83cdb135eb1c/Boek%201%20-%20Grondslagen%2C%20vraag%20en%20aanbod/edities/tweede-editie-2026/bronnen/H2/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6834e66ce86475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83db6d3ab3c4ccc" /><Relationship Type="http://schemas.openxmlformats.org/officeDocument/2006/relationships/slideLayout" Target="/ppt/slideLayouts/slideLayout1.xml" Id="Re2acbc9db35f45e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2acbc9db35f45e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46dc26a738a4ddd" /><Relationship Type="http://schemas.openxmlformats.org/officeDocument/2006/relationships/notesSlide" Target="/ppt/notesSlides/notesSlide1.xml" Id="R46da2cfa9bac481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3a3cb57501345f0" /><Relationship Type="http://schemas.openxmlformats.org/officeDocument/2006/relationships/notesSlide" Target="/ppt/notesSlides/notesSlide2.xml" Id="R2fb329835cd7408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19b840d1d694704" /><Relationship Type="http://schemas.openxmlformats.org/officeDocument/2006/relationships/notesSlide" Target="/ppt/notesSlides/notesSlide3.xml" Id="R17f8cd5cdcc343f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85d647841064907" /><Relationship Type="http://schemas.openxmlformats.org/officeDocument/2006/relationships/notesSlide" Target="/ppt/notesSlides/notesSlide4.xml" Id="R7b6048256ce5460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066595c0fa149c9" /><Relationship Type="http://schemas.openxmlformats.org/officeDocument/2006/relationships/chart" Target="/ppt/slides/charts/chart1.xml" Id="R0955b89dc2fe4631" /><Relationship Type="http://schemas.openxmlformats.org/officeDocument/2006/relationships/notesSlide" Target="/ppt/notesSlides/notesSlide5.xml" Id="Rfbc25e75031347e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3422f684cae4dbb" /><Relationship Type="http://schemas.openxmlformats.org/officeDocument/2006/relationships/chart" Target="/ppt/slides/charts/chart2.xml" Id="R03744e001ef84f86" /><Relationship Type="http://schemas.openxmlformats.org/officeDocument/2006/relationships/notesSlide" Target="/ppt/notesSlides/notesSlide6.xml" Id="Ra0b639771fc7482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ebb3bfbd430497d" /><Relationship Type="http://schemas.openxmlformats.org/officeDocument/2006/relationships/notesSlide" Target="/ppt/notesSlides/notesSlide7.xml" Id="R4ea3b4af13574e5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8ad2767abb04d8b" /><Relationship Type="http://schemas.openxmlformats.org/officeDocument/2006/relationships/notesSlide" Target="/ppt/notesSlides/notesSlide8.xml" Id="R6141055d2a3448c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b8b278293224d09" /><Relationship Type="http://schemas.openxmlformats.org/officeDocument/2006/relationships/chart" Target="/ppt/slides/charts/chart3.xml" Id="Re14b112fa3834b41" /><Relationship Type="http://schemas.openxmlformats.org/officeDocument/2006/relationships/notesSlide" Target="/ppt/notesSlides/notesSlide9.xml" Id="Rbeba0ec36c604cf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b30e18917e44289" /><Relationship Type="http://schemas.openxmlformats.org/officeDocument/2006/relationships/notesSlide" Target="/ppt/notesSlides/notesSlide10.xml" Id="R73a8d1718554422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11c9cd6a0ae4bec" /><Relationship Type="http://schemas.openxmlformats.org/officeDocument/2006/relationships/notesSlide" Target="/ppt/notesSlides/notesSlide11.xml" Id="R78215cd209fe4a3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041e01439e14463" /><Relationship Type="http://schemas.openxmlformats.org/officeDocument/2006/relationships/chart" Target="/ppt/slides/charts/chart4.xml" Id="R70a66c54faf9499b" /><Relationship Type="http://schemas.openxmlformats.org/officeDocument/2006/relationships/notesSlide" Target="/ppt/notesSlides/notesSlide12.xml" Id="Re35520eff52a49a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638d1488dfe49b4" /><Relationship Type="http://schemas.openxmlformats.org/officeDocument/2006/relationships/notesSlide" Target="/ppt/notesSlides/notesSlide13.xml" Id="R7b1b0c44dec0451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477c110ce164d46" /><Relationship Type="http://schemas.openxmlformats.org/officeDocument/2006/relationships/notesSlide" Target="/ppt/notesSlides/notesSlide14.xml" Id="R588a5d8f75c04e8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89f62a15e264771" /><Relationship Type="http://schemas.openxmlformats.org/officeDocument/2006/relationships/notesSlide" Target="/ppt/notesSlides/notesSlide15.xml" Id="R1c83b25cdd3b44f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7c4d9403095429f" /><Relationship Type="http://schemas.openxmlformats.org/officeDocument/2006/relationships/chart" Target="/ppt/slides/charts/chart5.xml" Id="Rcde9fa2ef1ea40f5" /><Relationship Type="http://schemas.openxmlformats.org/officeDocument/2006/relationships/notesSlide" Target="/ppt/notesSlides/notesSlide16.xml" Id="R7c4805f4dccf409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e85133dc9ea40e3" /><Relationship Type="http://schemas.openxmlformats.org/officeDocument/2006/relationships/notesSlide" Target="/ppt/notesSlides/notesSlide17.xml" Id="R918a4e700b90438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a6907a0602140e4" /><Relationship Type="http://schemas.openxmlformats.org/officeDocument/2006/relationships/notesSlide" Target="/ppt/notesSlides/notesSlide18.xml" Id="R028ba8fc5f124c9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4d0b8e30fb8484b" /><Relationship Type="http://schemas.openxmlformats.org/officeDocument/2006/relationships/notesSlide" Target="/ppt/notesSlides/notesSlide19.xml" Id="R43a211f1bc1546a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fa7422d44394242" /><Relationship Type="http://schemas.openxmlformats.org/officeDocument/2006/relationships/chart" Target="/ppt/slides/charts/chart6.xml" Id="R295c03e17cc34a7e" /><Relationship Type="http://schemas.openxmlformats.org/officeDocument/2006/relationships/notesSlide" Target="/ppt/notesSlides/notesSlide20.xml" Id="R38d79926b64d4fe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3712a6f6cbd43c7" /><Relationship Type="http://schemas.openxmlformats.org/officeDocument/2006/relationships/notesSlide" Target="/ppt/notesSlides/notesSlide21.xml" Id="R18723da4d2b7481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2638540b02041e8" /><Relationship Type="http://schemas.openxmlformats.org/officeDocument/2006/relationships/notesSlide" Target="/ppt/notesSlides/notesSlide22.xml" Id="R8f38f553d43c4c7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e3fa7b18ce14f7f" /><Relationship Type="http://schemas.openxmlformats.org/officeDocument/2006/relationships/chart" Target="/ppt/slides/charts/chart7.xml" Id="Ra69f1f9165054d64" /><Relationship Type="http://schemas.openxmlformats.org/officeDocument/2006/relationships/notesSlide" Target="/ppt/notesSlides/notesSlide23.xml" Id="R16e499e5ca8b4f8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dfb20b7b4a9640b9" /><Relationship Type="http://schemas.openxmlformats.org/officeDocument/2006/relationships/notesSlide" Target="/ppt/notesSlides/notesSlide24.xml" Id="R56293d110ec541e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bb9e3a8bcd1d41cf" /><Relationship Type="http://schemas.openxmlformats.org/officeDocument/2006/relationships/notesSlide" Target="/ppt/notesSlides/notesSlide25.xml" Id="Rfecc039457fd45a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5448c0a184ea4fae" /><Relationship Type="http://schemas.openxmlformats.org/officeDocument/2006/relationships/notesSlide" Target="/ppt/notesSlides/notesSlide26.xml" Id="R2dcd69abfa89479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Marker"/>
        <c:ser>
          <c:idx val="0"/>
          <c:order val="0"/>
          <c:tx>
            <c:v>Aflezen bij P = 8</c:v>
          </c:tx>
          <c:spPr>
            <a:solidFill xmlns:a="http://schemas.openxmlformats.org/drawingml/2006/main">
              <a:srgbClr val="445B6B"/>
            </a:solidFill>
            <a:ln xmlns:a="http://schemas.openxmlformats.org/drawingml/2006/main" w="16193">
              <a:solidFill>
                <a:srgbClr val="445B6B"/>
              </a:solidFill>
              <a:prstDash val="dash"/>
            </a:ln>
          </c:spPr>
          <c:marker>
            <c:symbol val="none"/>
            <c:size val="10"/>
          </c:marker>
          <c:xVal>
            <c:numRef>
              <c:f>'Chart Data'!$A$2:$A$4</c:f>
              <c:numCache>
                <c:formatCode>General</c:formatCode>
                <c:ptCount val="3"/>
                <c:pt idx="0">
                  <c:v>0</c:v>
                </c:pt>
                <c:pt idx="1">
                  <c:v>12</c:v>
                </c:pt>
                <c:pt idx="2">
                  <c:v>12</c:v>
                </c:pt>
              </c:numCache>
            </c:numRef>
          </c:xVal>
          <c:yVal>
            <c:numRef>
              <c:f>'Chart Data'!$B$2:$B$4</c:f>
              <c:numCache>
                <c:formatCode>0</c:formatCode>
                <c:ptCount val="3"/>
                <c:pt idx="0">
                  <c:v>8</c:v>
                </c:pt>
                <c:pt idx="1">
                  <c:v>8</c:v>
                </c:pt>
                <c:pt idx="2">
                  <c:v>0</c:v>
                </c:pt>
              </c:numCache>
            </c:numRef>
          </c:yVal>
          <c:smooth val="0"/>
        </c:ser>
        <c:ser>
          <c:idx val="1"/>
          <c:order val="1"/>
          <c:tx>
            <c:v>A₀</c:v>
          </c:tx>
          <c:spPr>
            <a:solidFill xmlns:a="http://schemas.openxmlformats.org/drawingml/2006/main">
              <a:srgbClr val="20665B"/>
            </a:solidFill>
            <a:ln xmlns:a="http://schemas.openxmlformats.org/drawingml/2006/main" w="38100">
              <a:solidFill>
                <a:srgbClr val="20665B"/>
              </a:solidFill>
              <a:prstDash val="solid"/>
            </a:ln>
          </c:spPr>
          <c:marker>
            <c:symbol val="none"/>
            <c:size val="10"/>
          </c:marker>
          <c:dLbls>
            <c:dLbl>
              <c:idx val="1"/>
              <c:tx>
                <c:rich>
                  <a:bodyPr xmlns:a="http://schemas.openxmlformats.org/drawingml/2006/main"/>
                  <a:lstStyle xmlns:a="http://schemas.openxmlformats.org/drawingml/2006/main"/>
                  <a:p xmlns:a="http://schemas.openxmlformats.org/drawingml/2006/main">
                    <a:r>
                      <a:rPr sz="2100" b="1">
                        <a:solidFill>
                          <a:srgbClr val="20665B"/>
                        </a:solidFill>
                        <a:latin typeface="Arial"/>
                        <a:ea typeface="Arial"/>
                        <a:cs typeface="Arial"/>
                      </a:rPr>
                      <a:t>A₀</a:t>
                    </a:r>
                  </a:p>
                </c:rich>
              </c:tx>
              <c:txPr>
                <a:bodyPr xmlns:a="http://schemas.openxmlformats.org/drawingml/2006/main" anchorCtr="1"/>
                <a:lstStyle xmlns:a="http://schemas.openxmlformats.org/drawingml/2006/main"/>
                <a:p xmlns:a="http://schemas.openxmlformats.org/drawingml/2006/main">
                  <a:pPr>
                    <a:defRPr sz="2100" b="1">
                      <a:solidFill>
                        <a:srgbClr val="20665B"/>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Data'!$C$2:$C$3</c:f>
              <c:numCache>
                <c:formatCode>General</c:formatCode>
                <c:ptCount val="2"/>
                <c:pt idx="0">
                  <c:v>0</c:v>
                </c:pt>
                <c:pt idx="1">
                  <c:v>36</c:v>
                </c:pt>
              </c:numCache>
            </c:numRef>
          </c:xVal>
          <c:yVal>
            <c:numRef>
              <c:f>'Chart Data'!$D$2:$D$3</c:f>
              <c:numCache>
                <c:formatCode>0</c:formatCode>
                <c:ptCount val="2"/>
                <c:pt idx="0">
                  <c:v>4</c:v>
                </c:pt>
                <c:pt idx="1">
                  <c:v>16</c:v>
                </c:pt>
              </c:numCache>
            </c:numRef>
          </c:yVal>
          <c:smooth val="0"/>
        </c:ser>
        <c:ser>
          <c:idx val="2"/>
          <c:order val="2"/>
          <c:tx>
            <c:v>B</c:v>
          </c:tx>
          <c:spPr>
            <a:solidFill xmlns:a="http://schemas.openxmlformats.org/drawingml/2006/main">
              <a:srgbClr val="183247"/>
            </a:solidFill>
            <a:ln xmlns:a="http://schemas.openxmlformats.org/drawingml/2006/main" w="0">
              <a:solidFill>
                <a:srgbClr val="183247"/>
              </a:solidFill>
              <a:prstDash val="solid"/>
            </a:ln>
          </c:spPr>
          <c:marker>
            <c:symbol val="circle"/>
            <c:size val="10"/>
            <c:spPr>
              <a:solidFill xmlns:a="http://schemas.openxmlformats.org/drawingml/2006/main">
                <a:srgbClr val="183247"/>
              </a:solidFill>
            </c:spPr>
          </c:marker>
          <c:dLbls>
            <c:dLbl>
              <c:idx val="0"/>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B</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Data'!$E$2:$E$2</c:f>
              <c:numCache>
                <c:formatCode>General</c:formatCode>
                <c:ptCount val="1"/>
                <c:pt idx="0">
                  <c:v>12</c:v>
                </c:pt>
              </c:numCache>
            </c:numRef>
          </c:xVal>
          <c:yVal>
            <c:numRef>
              <c:f>'Chart Data'!$F$2:$F$2</c:f>
              <c:numCache>
                <c:formatCode>0</c:formatCode>
                <c:ptCount val="1"/>
                <c:pt idx="0">
                  <c:v>8</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8"/>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houder)</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2"/>
      </c:valAx>
      <c:valAx>
        <c:axId val="48650112"/>
        <c:scaling>
          <c:orientation val="minMax"/>
          <c:max val="42"/>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(houders per week)</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6"/>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ser>
          <c:idx val="0"/>
          <c:order val="0"/>
          <c:tx>
            <c:v>R-hulplijnen</c:v>
          </c:tx>
          <c:spPr>
            <a:solidFill xmlns:a="http://schemas.openxmlformats.org/drawingml/2006/main">
              <a:srgbClr val="445B6B"/>
            </a:solidFill>
            <a:ln xmlns:a="http://schemas.openxmlformats.org/drawingml/2006/main" w="16193">
              <a:solidFill>
                <a:srgbClr val="445B6B"/>
              </a:solidFill>
              <a:prstDash val="dash"/>
            </a:ln>
          </c:spPr>
          <c:marker>
            <c:symbol val="none"/>
            <c:size val="10"/>
          </c:marker>
          <c:xVal>
            <c:numRef>
              <c:f>'Chart Data'!$A$2:$A$4</c:f>
              <c:numCache>
                <c:formatCode>General</c:formatCode>
                <c:ptCount val="3"/>
                <c:pt idx="0">
                  <c:v>0</c:v>
                </c:pt>
                <c:pt idx="1">
                  <c:v>12</c:v>
                </c:pt>
                <c:pt idx="2">
                  <c:v>12</c:v>
                </c:pt>
              </c:numCache>
            </c:numRef>
          </c:xVal>
          <c:yVal>
            <c:numRef>
              <c:f>'Chart Data'!$B$2:$B$4</c:f>
              <c:numCache>
                <c:formatCode>0</c:formatCode>
                <c:ptCount val="3"/>
                <c:pt idx="0">
                  <c:v>8</c:v>
                </c:pt>
                <c:pt idx="1">
                  <c:v>8</c:v>
                </c:pt>
                <c:pt idx="2">
                  <c:v>0</c:v>
                </c:pt>
              </c:numCache>
            </c:numRef>
          </c:yVal>
          <c:smooth val="0"/>
        </c:ser>
        <c:ser>
          <c:idx val="1"/>
          <c:order val="1"/>
          <c:tx>
            <c:v>S-hulplijnen</c:v>
          </c:tx>
          <c:spPr>
            <a:solidFill xmlns:a="http://schemas.openxmlformats.org/drawingml/2006/main">
              <a:srgbClr val="445B6B"/>
            </a:solidFill>
            <a:ln xmlns:a="http://schemas.openxmlformats.org/drawingml/2006/main" w="16193">
              <a:solidFill>
                <a:srgbClr val="445B6B"/>
              </a:solidFill>
              <a:prstDash val="dash"/>
            </a:ln>
          </c:spPr>
          <c:marker>
            <c:symbol val="none"/>
            <c:size val="10"/>
          </c:marker>
          <c:xVal>
            <c:numRef>
              <c:f>'Chart Data'!$C$2:$C$4</c:f>
              <c:numCache>
                <c:formatCode>General</c:formatCode>
                <c:ptCount val="3"/>
                <c:pt idx="0">
                  <c:v>0</c:v>
                </c:pt>
                <c:pt idx="1">
                  <c:v>24</c:v>
                </c:pt>
                <c:pt idx="2">
                  <c:v>24</c:v>
                </c:pt>
              </c:numCache>
            </c:numRef>
          </c:xVal>
          <c:yVal>
            <c:numRef>
              <c:f>'Chart Data'!$D$2:$D$4</c:f>
              <c:numCache>
                <c:formatCode>0</c:formatCode>
                <c:ptCount val="3"/>
                <c:pt idx="0">
                  <c:v>12</c:v>
                </c:pt>
                <c:pt idx="1">
                  <c:v>12</c:v>
                </c:pt>
                <c:pt idx="2">
                  <c:v>0</c:v>
                </c:pt>
              </c:numCache>
            </c:numRef>
          </c:yVal>
          <c:smooth val="0"/>
        </c:ser>
        <c:ser>
          <c:idx val="2"/>
          <c:order val="2"/>
          <c:tx>
            <c:v>A₀</c:v>
          </c:tx>
          <c:spPr>
            <a:solidFill xmlns:a="http://schemas.openxmlformats.org/drawingml/2006/main">
              <a:srgbClr val="20665B"/>
            </a:solidFill>
            <a:ln xmlns:a="http://schemas.openxmlformats.org/drawingml/2006/main" w="38100">
              <a:solidFill>
                <a:srgbClr val="20665B"/>
              </a:solidFill>
              <a:prstDash val="solid"/>
            </a:ln>
          </c:spPr>
          <c:marker>
            <c:symbol val="none"/>
            <c:size val="10"/>
          </c:marker>
          <c:dLbls>
            <c:dLbl>
              <c:idx val="1"/>
              <c:tx>
                <c:rich>
                  <a:bodyPr xmlns:a="http://schemas.openxmlformats.org/drawingml/2006/main"/>
                  <a:lstStyle xmlns:a="http://schemas.openxmlformats.org/drawingml/2006/main"/>
                  <a:p xmlns:a="http://schemas.openxmlformats.org/drawingml/2006/main">
                    <a:r>
                      <a:rPr sz="2100" b="1">
                        <a:solidFill>
                          <a:srgbClr val="20665B"/>
                        </a:solidFill>
                        <a:latin typeface="Arial"/>
                        <a:ea typeface="Arial"/>
                        <a:cs typeface="Arial"/>
                      </a:rPr>
                      <a:t>A₀</a:t>
                    </a:r>
                  </a:p>
                </c:rich>
              </c:tx>
              <c:txPr>
                <a:bodyPr xmlns:a="http://schemas.openxmlformats.org/drawingml/2006/main" anchorCtr="1"/>
                <a:lstStyle xmlns:a="http://schemas.openxmlformats.org/drawingml/2006/main"/>
                <a:p xmlns:a="http://schemas.openxmlformats.org/drawingml/2006/main">
                  <a:pPr>
                    <a:defRPr sz="2100" b="1">
                      <a:solidFill>
                        <a:srgbClr val="20665B"/>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Data'!$E$2:$E$3</c:f>
              <c:numCache>
                <c:formatCode>General</c:formatCode>
                <c:ptCount val="2"/>
                <c:pt idx="0">
                  <c:v>0</c:v>
                </c:pt>
                <c:pt idx="1">
                  <c:v>36</c:v>
                </c:pt>
              </c:numCache>
            </c:numRef>
          </c:xVal>
          <c:yVal>
            <c:numRef>
              <c:f>'Chart Data'!$F$2:$F$3</c:f>
              <c:numCache>
                <c:formatCode>0</c:formatCode>
                <c:ptCount val="2"/>
                <c:pt idx="0">
                  <c:v>4</c:v>
                </c:pt>
                <c:pt idx="1">
                  <c:v>16</c:v>
                </c:pt>
              </c:numCache>
            </c:numRef>
          </c:yVal>
          <c:smooth val="0"/>
        </c:ser>
        <c:ser>
          <c:idx val="3"/>
          <c:order val="3"/>
          <c:tx>
            <c:v>R</c:v>
          </c:tx>
          <c:spPr>
            <a:solidFill xmlns:a="http://schemas.openxmlformats.org/drawingml/2006/main">
              <a:srgbClr val="183247"/>
            </a:solidFill>
            <a:ln xmlns:a="http://schemas.openxmlformats.org/drawingml/2006/main" w="0">
              <a:solidFill>
                <a:srgbClr val="183247"/>
              </a:solidFill>
              <a:prstDash val="solid"/>
            </a:ln>
          </c:spPr>
          <c:marker>
            <c:symbol val="circle"/>
            <c:size val="10"/>
            <c:spPr>
              <a:solidFill xmlns:a="http://schemas.openxmlformats.org/drawingml/2006/main">
                <a:srgbClr val="183247"/>
              </a:solidFill>
            </c:spPr>
          </c:marker>
          <c:dLbls>
            <c:dLbl>
              <c:idx val="0"/>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R</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Data'!$G$2:$G$2</c:f>
              <c:numCache>
                <c:formatCode>General</c:formatCode>
                <c:ptCount val="1"/>
                <c:pt idx="0">
                  <c:v>12</c:v>
                </c:pt>
              </c:numCache>
            </c:numRef>
          </c:xVal>
          <c:yVal>
            <c:numRef>
              <c:f>'Chart Data'!$H$2:$H$2</c:f>
              <c:numCache>
                <c:formatCode>0</c:formatCode>
                <c:ptCount val="1"/>
                <c:pt idx="0">
                  <c:v>8</c:v>
                </c:pt>
              </c:numCache>
            </c:numRef>
          </c:yVal>
          <c:smooth val="0"/>
        </c:ser>
        <c:ser>
          <c:idx val="4"/>
          <c:order val="4"/>
          <c:tx>
            <c:v>S</c:v>
          </c:tx>
          <c:spPr>
            <a:solidFill xmlns:a="http://schemas.openxmlformats.org/drawingml/2006/main">
              <a:srgbClr val="20665B"/>
            </a:solidFill>
            <a:ln xmlns:a="http://schemas.openxmlformats.org/drawingml/2006/main" w="0">
              <a:solidFill>
                <a:srgbClr val="20665B"/>
              </a:solidFill>
              <a:prstDash val="solid"/>
            </a:ln>
          </c:spPr>
          <c:marker>
            <c:symbol val="circle"/>
            <c:size val="10"/>
            <c:spPr>
              <a:solidFill xmlns:a="http://schemas.openxmlformats.org/drawingml/2006/main">
                <a:srgbClr val="20665B"/>
              </a:solidFill>
            </c:spPr>
          </c:marker>
          <c:dLbls>
            <c:dLbl>
              <c:idx val="0"/>
              <c:tx>
                <c:rich>
                  <a:bodyPr xmlns:a="http://schemas.openxmlformats.org/drawingml/2006/main"/>
                  <a:lstStyle xmlns:a="http://schemas.openxmlformats.org/drawingml/2006/main"/>
                  <a:p xmlns:a="http://schemas.openxmlformats.org/drawingml/2006/main">
                    <a:r>
                      <a:rPr sz="2100" b="1">
                        <a:solidFill>
                          <a:srgbClr val="20665B"/>
                        </a:solidFill>
                        <a:latin typeface="Arial"/>
                        <a:ea typeface="Arial"/>
                        <a:cs typeface="Arial"/>
                      </a:rPr>
                      <a:t>S</a:t>
                    </a:r>
                  </a:p>
                </c:rich>
              </c:tx>
              <c:txPr>
                <a:bodyPr xmlns:a="http://schemas.openxmlformats.org/drawingml/2006/main" anchorCtr="1"/>
                <a:lstStyle xmlns:a="http://schemas.openxmlformats.org/drawingml/2006/main"/>
                <a:p xmlns:a="http://schemas.openxmlformats.org/drawingml/2006/main">
                  <a:pPr>
                    <a:defRPr sz="2100" b="1">
                      <a:solidFill>
                        <a:srgbClr val="20665B"/>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Data'!$I$2:$I$2</c:f>
              <c:numCache>
                <c:formatCode>General</c:formatCode>
                <c:ptCount val="1"/>
                <c:pt idx="0">
                  <c:v>24</c:v>
                </c:pt>
              </c:numCache>
            </c:numRef>
          </c:xVal>
          <c:yVal>
            <c:numRef>
              <c:f>'Chart Data'!$J$2:$J$2</c:f>
              <c:numCache>
                <c:formatCode>0</c:formatCode>
                <c:ptCount val="1"/>
                <c:pt idx="0">
                  <c:v>12</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8"/>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houder)</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2"/>
      </c:valAx>
      <c:valAx>
        <c:axId val="48650112"/>
        <c:scaling>
          <c:orientation val="minMax"/>
          <c:max val="42"/>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(houders per week)</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6"/>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ser>
          <c:idx val="0"/>
          <c:order val="0"/>
          <c:tx>
            <c:v>Oud bij dezelfde prijs</c:v>
          </c:tx>
          <c:spPr>
            <a:solidFill xmlns:a="http://schemas.openxmlformats.org/drawingml/2006/main">
              <a:srgbClr val="445B6B"/>
            </a:solidFill>
            <a:ln xmlns:a="http://schemas.openxmlformats.org/drawingml/2006/main" w="16193">
              <a:solidFill>
                <a:srgbClr val="445B6B"/>
              </a:solidFill>
              <a:prstDash val="dash"/>
            </a:ln>
          </c:spPr>
          <c:marker>
            <c:symbol val="none"/>
            <c:size val="10"/>
          </c:marker>
          <c:xVal>
            <c:numRef>
              <c:f>'Chart Data'!$A$2:$A$4</c:f>
              <c:numCache>
                <c:formatCode>General</c:formatCode>
                <c:ptCount val="3"/>
                <c:pt idx="0">
                  <c:v>0</c:v>
                </c:pt>
                <c:pt idx="1">
                  <c:v>12</c:v>
                </c:pt>
                <c:pt idx="2">
                  <c:v>12</c:v>
                </c:pt>
              </c:numCache>
            </c:numRef>
          </c:xVal>
          <c:yVal>
            <c:numRef>
              <c:f>'Chart Data'!$B$2:$B$4</c:f>
              <c:numCache>
                <c:formatCode>0</c:formatCode>
                <c:ptCount val="3"/>
                <c:pt idx="0">
                  <c:v>8</c:v>
                </c:pt>
                <c:pt idx="1">
                  <c:v>8</c:v>
                </c:pt>
                <c:pt idx="2">
                  <c:v>0</c:v>
                </c:pt>
              </c:numCache>
            </c:numRef>
          </c:yVal>
          <c:smooth val="0"/>
        </c:ser>
        <c:ser>
          <c:idx val="1"/>
          <c:order val="1"/>
          <c:tx>
            <c:v>Nieuw bij dezelfde prijs</c:v>
          </c:tx>
          <c:spPr>
            <a:solidFill xmlns:a="http://schemas.openxmlformats.org/drawingml/2006/main">
              <a:srgbClr val="445B6B"/>
            </a:solidFill>
            <a:ln xmlns:a="http://schemas.openxmlformats.org/drawingml/2006/main" w="16193">
              <a:solidFill>
                <a:srgbClr val="445B6B"/>
              </a:solidFill>
              <a:prstDash val="dash"/>
            </a:ln>
          </c:spPr>
          <c:marker>
            <c:symbol val="none"/>
            <c:size val="10"/>
          </c:marker>
          <c:xVal>
            <c:numRef>
              <c:f>'Chart Data'!$C$2:$C$4</c:f>
              <c:numCache>
                <c:formatCode>General</c:formatCode>
                <c:ptCount val="3"/>
                <c:pt idx="0">
                  <c:v>0</c:v>
                </c:pt>
                <c:pt idx="1">
                  <c:v>6</c:v>
                </c:pt>
                <c:pt idx="2">
                  <c:v>6</c:v>
                </c:pt>
              </c:numCache>
            </c:numRef>
          </c:xVal>
          <c:yVal>
            <c:numRef>
              <c:f>'Chart Data'!$D$2:$D$4</c:f>
              <c:numCache>
                <c:formatCode>0</c:formatCode>
                <c:ptCount val="3"/>
                <c:pt idx="0">
                  <c:v>8</c:v>
                </c:pt>
                <c:pt idx="1">
                  <c:v>8</c:v>
                </c:pt>
                <c:pt idx="2">
                  <c:v>0</c:v>
                </c:pt>
              </c:numCache>
            </c:numRef>
          </c:yVal>
          <c:smooth val="0"/>
        </c:ser>
        <c:ser>
          <c:idx val="2"/>
          <c:order val="2"/>
          <c:tx>
            <c:v>A₀</c:v>
          </c:tx>
          <c:spPr>
            <a:solidFill xmlns:a="http://schemas.openxmlformats.org/drawingml/2006/main">
              <a:srgbClr val="20665B"/>
            </a:solidFill>
            <a:ln xmlns:a="http://schemas.openxmlformats.org/drawingml/2006/main" w="38100">
              <a:solidFill>
                <a:srgbClr val="20665B"/>
              </a:solidFill>
              <a:prstDash val="solid"/>
            </a:ln>
          </c:spPr>
          <c:marker>
            <c:symbol val="none"/>
            <c:size val="10"/>
          </c:marker>
          <c:dLbls>
            <c:dLbl>
              <c:idx val="1"/>
              <c:tx>
                <c:rich>
                  <a:bodyPr xmlns:a="http://schemas.openxmlformats.org/drawingml/2006/main"/>
                  <a:lstStyle xmlns:a="http://schemas.openxmlformats.org/drawingml/2006/main"/>
                  <a:p xmlns:a="http://schemas.openxmlformats.org/drawingml/2006/main">
                    <a:r>
                      <a:rPr sz="2100" b="1">
                        <a:solidFill>
                          <a:srgbClr val="20665B"/>
                        </a:solidFill>
                        <a:latin typeface="Arial"/>
                        <a:ea typeface="Arial"/>
                        <a:cs typeface="Arial"/>
                      </a:rPr>
                      <a:t>A₀</a:t>
                    </a:r>
                  </a:p>
                </c:rich>
              </c:tx>
              <c:txPr>
                <a:bodyPr xmlns:a="http://schemas.openxmlformats.org/drawingml/2006/main" anchorCtr="1"/>
                <a:lstStyle xmlns:a="http://schemas.openxmlformats.org/drawingml/2006/main"/>
                <a:p xmlns:a="http://schemas.openxmlformats.org/drawingml/2006/main">
                  <a:pPr>
                    <a:defRPr sz="2100" b="1">
                      <a:solidFill>
                        <a:srgbClr val="20665B"/>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Data'!$E$2:$E$3</c:f>
              <c:numCache>
                <c:formatCode>General</c:formatCode>
                <c:ptCount val="2"/>
                <c:pt idx="0">
                  <c:v>0</c:v>
                </c:pt>
                <c:pt idx="1">
                  <c:v>36</c:v>
                </c:pt>
              </c:numCache>
            </c:numRef>
          </c:xVal>
          <c:yVal>
            <c:numRef>
              <c:f>'Chart Data'!$F$2:$F$3</c:f>
              <c:numCache>
                <c:formatCode>0</c:formatCode>
                <c:ptCount val="2"/>
                <c:pt idx="0">
                  <c:v>4</c:v>
                </c:pt>
                <c:pt idx="1">
                  <c:v>16</c:v>
                </c:pt>
              </c:numCache>
            </c:numRef>
          </c:yVal>
          <c:smooth val="0"/>
        </c:ser>
        <c:ser>
          <c:idx val="3"/>
          <c:order val="3"/>
          <c:tx>
            <c:v>A₁</c:v>
          </c:tx>
          <c:spPr>
            <a:solidFill xmlns:a="http://schemas.openxmlformats.org/drawingml/2006/main">
              <a:srgbClr val="A94D16"/>
            </a:solidFill>
            <a:ln xmlns:a="http://schemas.openxmlformats.org/drawingml/2006/main" w="38100">
              <a:solidFill>
                <a:srgbClr val="A94D16"/>
              </a:solidFill>
              <a:prstDash val="solid"/>
            </a:ln>
          </c:spPr>
          <c:marker>
            <c:symbol val="none"/>
            <c:size val="10"/>
          </c:marker>
          <c:dLbls>
            <c:dLbl>
              <c:idx val="1"/>
              <c:tx>
                <c:rich>
                  <a:bodyPr xmlns:a="http://schemas.openxmlformats.org/drawingml/2006/main"/>
                  <a:lstStyle xmlns:a="http://schemas.openxmlformats.org/drawingml/2006/main"/>
                  <a:p xmlns:a="http://schemas.openxmlformats.org/drawingml/2006/main">
                    <a:r>
                      <a:rPr sz="2100" b="1">
                        <a:solidFill>
                          <a:srgbClr val="A94D16"/>
                        </a:solidFill>
                        <a:latin typeface="Arial"/>
                        <a:ea typeface="Arial"/>
                        <a:cs typeface="Arial"/>
                      </a:rPr>
                      <a:t>A₁</a:t>
                    </a:r>
                  </a:p>
                </c:rich>
              </c:tx>
              <c:txPr>
                <a:bodyPr xmlns:a="http://schemas.openxmlformats.org/drawingml/2006/main" anchorCtr="1"/>
                <a:lstStyle xmlns:a="http://schemas.openxmlformats.org/drawingml/2006/main"/>
                <a:p xmlns:a="http://schemas.openxmlformats.org/drawingml/2006/main">
                  <a:pPr>
                    <a:defRPr sz="2100" b="1">
                      <a:solidFill>
                        <a:srgbClr val="A94D1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Data'!$G$2:$G$3</c:f>
              <c:numCache>
                <c:formatCode>General</c:formatCode>
                <c:ptCount val="2"/>
                <c:pt idx="0">
                  <c:v>0</c:v>
                </c:pt>
                <c:pt idx="1">
                  <c:v>30</c:v>
                </c:pt>
              </c:numCache>
            </c:numRef>
          </c:xVal>
          <c:yVal>
            <c:numRef>
              <c:f>'Chart Data'!$H$2:$H$3</c:f>
              <c:numCache>
                <c:formatCode>0</c:formatCode>
                <c:ptCount val="2"/>
                <c:pt idx="0">
                  <c:v>6</c:v>
                </c:pt>
                <c:pt idx="1">
                  <c:v>16</c:v>
                </c:pt>
              </c:numCache>
            </c:numRef>
          </c:yVal>
          <c:smooth val="0"/>
        </c:ser>
        <c:ser>
          <c:idx val="4"/>
          <c:order val="4"/>
          <c:tx>
            <c:v>O</c:v>
          </c:tx>
          <c:spPr>
            <a:solidFill xmlns:a="http://schemas.openxmlformats.org/drawingml/2006/main">
              <a:srgbClr val="20665B"/>
            </a:solidFill>
            <a:ln xmlns:a="http://schemas.openxmlformats.org/drawingml/2006/main" w="0">
              <a:solidFill>
                <a:srgbClr val="20665B"/>
              </a:solidFill>
              <a:prstDash val="solid"/>
            </a:ln>
          </c:spPr>
          <c:marker>
            <c:symbol val="circle"/>
            <c:size val="10"/>
            <c:spPr>
              <a:solidFill xmlns:a="http://schemas.openxmlformats.org/drawingml/2006/main">
                <a:srgbClr val="20665B"/>
              </a:solidFill>
            </c:spPr>
          </c:marker>
          <c:dLbls>
            <c:dLbl>
              <c:idx val="0"/>
              <c:tx>
                <c:rich>
                  <a:bodyPr xmlns:a="http://schemas.openxmlformats.org/drawingml/2006/main"/>
                  <a:lstStyle xmlns:a="http://schemas.openxmlformats.org/drawingml/2006/main"/>
                  <a:p xmlns:a="http://schemas.openxmlformats.org/drawingml/2006/main">
                    <a:r>
                      <a:rPr sz="2100" b="1">
                        <a:solidFill>
                          <a:srgbClr val="20665B"/>
                        </a:solidFill>
                        <a:latin typeface="Arial"/>
                        <a:ea typeface="Arial"/>
                        <a:cs typeface="Arial"/>
                      </a:rPr>
                      <a:t>O</a:t>
                    </a:r>
                  </a:p>
                </c:rich>
              </c:tx>
              <c:txPr>
                <a:bodyPr xmlns:a="http://schemas.openxmlformats.org/drawingml/2006/main" anchorCtr="1"/>
                <a:lstStyle xmlns:a="http://schemas.openxmlformats.org/drawingml/2006/main"/>
                <a:p xmlns:a="http://schemas.openxmlformats.org/drawingml/2006/main">
                  <a:pPr>
                    <a:defRPr sz="2100" b="1">
                      <a:solidFill>
                        <a:srgbClr val="20665B"/>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Data'!$I$2:$I$2</c:f>
              <c:numCache>
                <c:formatCode>General</c:formatCode>
                <c:ptCount val="1"/>
                <c:pt idx="0">
                  <c:v>12</c:v>
                </c:pt>
              </c:numCache>
            </c:numRef>
          </c:xVal>
          <c:yVal>
            <c:numRef>
              <c:f>'Chart Data'!$J$2:$J$2</c:f>
              <c:numCache>
                <c:formatCode>0</c:formatCode>
                <c:ptCount val="1"/>
                <c:pt idx="0">
                  <c:v>8</c:v>
                </c:pt>
              </c:numCache>
            </c:numRef>
          </c:yVal>
          <c:smooth val="0"/>
        </c:ser>
        <c:ser>
          <c:idx val="5"/>
          <c:order val="5"/>
          <c:tx>
            <c:v>N</c:v>
          </c:tx>
          <c:spPr>
            <a:solidFill xmlns:a="http://schemas.openxmlformats.org/drawingml/2006/main">
              <a:srgbClr val="A94D16"/>
            </a:solidFill>
            <a:ln xmlns:a="http://schemas.openxmlformats.org/drawingml/2006/main" w="0">
              <a:solidFill>
                <a:srgbClr val="A94D16"/>
              </a:solidFill>
              <a:prstDash val="solid"/>
            </a:ln>
          </c:spPr>
          <c:marker>
            <c:symbol val="circle"/>
            <c:size val="10"/>
            <c:spPr>
              <a:solidFill xmlns:a="http://schemas.openxmlformats.org/drawingml/2006/main">
                <a:srgbClr val="A94D16"/>
              </a:solidFill>
            </c:spPr>
          </c:marker>
          <c:dLbls>
            <c:dLbl>
              <c:idx val="0"/>
              <c:tx>
                <c:rich>
                  <a:bodyPr xmlns:a="http://schemas.openxmlformats.org/drawingml/2006/main"/>
                  <a:lstStyle xmlns:a="http://schemas.openxmlformats.org/drawingml/2006/main"/>
                  <a:p xmlns:a="http://schemas.openxmlformats.org/drawingml/2006/main">
                    <a:r>
                      <a:rPr sz="2100" b="1">
                        <a:solidFill>
                          <a:srgbClr val="A94D16"/>
                        </a:solidFill>
                        <a:latin typeface="Arial"/>
                        <a:ea typeface="Arial"/>
                        <a:cs typeface="Arial"/>
                      </a:rPr>
                      <a:t>N</a:t>
                    </a:r>
                  </a:p>
                </c:rich>
              </c:tx>
              <c:txPr>
                <a:bodyPr xmlns:a="http://schemas.openxmlformats.org/drawingml/2006/main" anchorCtr="1"/>
                <a:lstStyle xmlns:a="http://schemas.openxmlformats.org/drawingml/2006/main"/>
                <a:p xmlns:a="http://schemas.openxmlformats.org/drawingml/2006/main">
                  <a:pPr>
                    <a:defRPr sz="2100" b="1">
                      <a:solidFill>
                        <a:srgbClr val="A94D1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Data'!$K$2:$K$2</c:f>
              <c:numCache>
                <c:formatCode>General</c:formatCode>
                <c:ptCount val="1"/>
                <c:pt idx="0">
                  <c:v>6</c:v>
                </c:pt>
              </c:numCache>
            </c:numRef>
          </c:xVal>
          <c:yVal>
            <c:numRef>
              <c:f>'Chart Data'!$L$2:$L$2</c:f>
              <c:numCache>
                <c:formatCode>0</c:formatCode>
                <c:ptCount val="1"/>
                <c:pt idx="0">
                  <c:v>8</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8"/>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houder)</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2"/>
      </c:valAx>
      <c:valAx>
        <c:axId val="48650112"/>
        <c:scaling>
          <c:orientation val="minMax"/>
          <c:max val="42"/>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(houders per week)</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6"/>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ser>
          <c:idx val="0"/>
          <c:order val="0"/>
          <c:tx>
            <c:v>R-hulplijnen</c:v>
          </c:tx>
          <c:spPr>
            <a:solidFill xmlns:a="http://schemas.openxmlformats.org/drawingml/2006/main">
              <a:srgbClr val="445B6B"/>
            </a:solidFill>
            <a:ln xmlns:a="http://schemas.openxmlformats.org/drawingml/2006/main" w="16193">
              <a:solidFill>
                <a:srgbClr val="445B6B"/>
              </a:solidFill>
              <a:prstDash val="dash"/>
            </a:ln>
          </c:spPr>
          <c:marker>
            <c:symbol val="none"/>
            <c:size val="10"/>
          </c:marker>
          <c:xVal>
            <c:numRef>
              <c:f>'Chart Data'!$A$2:$A$4</c:f>
              <c:numCache>
                <c:formatCode>General</c:formatCode>
                <c:ptCount val="3"/>
                <c:pt idx="0">
                  <c:v>0</c:v>
                </c:pt>
                <c:pt idx="1">
                  <c:v>12</c:v>
                </c:pt>
                <c:pt idx="2">
                  <c:v>12</c:v>
                </c:pt>
              </c:numCache>
            </c:numRef>
          </c:xVal>
          <c:yVal>
            <c:numRef>
              <c:f>'Chart Data'!$B$2:$B$4</c:f>
              <c:numCache>
                <c:formatCode>0</c:formatCode>
                <c:ptCount val="3"/>
                <c:pt idx="0">
                  <c:v>8</c:v>
                </c:pt>
                <c:pt idx="1">
                  <c:v>8</c:v>
                </c:pt>
                <c:pt idx="2">
                  <c:v>0</c:v>
                </c:pt>
              </c:numCache>
            </c:numRef>
          </c:yVal>
          <c:smooth val="0"/>
        </c:ser>
        <c:ser>
          <c:idx val="1"/>
          <c:order val="1"/>
          <c:tx>
            <c:v>S-hulplijnen</c:v>
          </c:tx>
          <c:spPr>
            <a:solidFill xmlns:a="http://schemas.openxmlformats.org/drawingml/2006/main">
              <a:srgbClr val="445B6B"/>
            </a:solidFill>
            <a:ln xmlns:a="http://schemas.openxmlformats.org/drawingml/2006/main" w="16193">
              <a:solidFill>
                <a:srgbClr val="445B6B"/>
              </a:solidFill>
              <a:prstDash val="dash"/>
            </a:ln>
          </c:spPr>
          <c:marker>
            <c:symbol val="none"/>
            <c:size val="10"/>
          </c:marker>
          <c:xVal>
            <c:numRef>
              <c:f>'Chart Data'!$C$2:$C$4</c:f>
              <c:numCache>
                <c:formatCode>General</c:formatCode>
                <c:ptCount val="3"/>
                <c:pt idx="0">
                  <c:v>0</c:v>
                </c:pt>
                <c:pt idx="1">
                  <c:v>24</c:v>
                </c:pt>
                <c:pt idx="2">
                  <c:v>24</c:v>
                </c:pt>
              </c:numCache>
            </c:numRef>
          </c:xVal>
          <c:yVal>
            <c:numRef>
              <c:f>'Chart Data'!$D$2:$D$4</c:f>
              <c:numCache>
                <c:formatCode>0</c:formatCode>
                <c:ptCount val="3"/>
                <c:pt idx="0">
                  <c:v>12</c:v>
                </c:pt>
                <c:pt idx="1">
                  <c:v>12</c:v>
                </c:pt>
                <c:pt idx="2">
                  <c:v>0</c:v>
                </c:pt>
              </c:numCache>
            </c:numRef>
          </c:yVal>
          <c:smooth val="0"/>
        </c:ser>
        <c:ser>
          <c:idx val="2"/>
          <c:order val="2"/>
          <c:tx>
            <c:v>A₀</c:v>
          </c:tx>
          <c:spPr>
            <a:solidFill xmlns:a="http://schemas.openxmlformats.org/drawingml/2006/main">
              <a:srgbClr val="20665B"/>
            </a:solidFill>
            <a:ln xmlns:a="http://schemas.openxmlformats.org/drawingml/2006/main" w="38100">
              <a:solidFill>
                <a:srgbClr val="20665B"/>
              </a:solidFill>
              <a:prstDash val="solid"/>
            </a:ln>
          </c:spPr>
          <c:marker>
            <c:symbol val="none"/>
            <c:size val="10"/>
          </c:marker>
          <c:dLbls>
            <c:dLbl>
              <c:idx val="1"/>
              <c:tx>
                <c:rich>
                  <a:bodyPr xmlns:a="http://schemas.openxmlformats.org/drawingml/2006/main"/>
                  <a:lstStyle xmlns:a="http://schemas.openxmlformats.org/drawingml/2006/main"/>
                  <a:p xmlns:a="http://schemas.openxmlformats.org/drawingml/2006/main">
                    <a:r>
                      <a:rPr sz="2100" b="1">
                        <a:solidFill>
                          <a:srgbClr val="20665B"/>
                        </a:solidFill>
                        <a:latin typeface="Arial"/>
                        <a:ea typeface="Arial"/>
                        <a:cs typeface="Arial"/>
                      </a:rPr>
                      <a:t>A₀</a:t>
                    </a:r>
                  </a:p>
                </c:rich>
              </c:tx>
              <c:txPr>
                <a:bodyPr xmlns:a="http://schemas.openxmlformats.org/drawingml/2006/main" anchorCtr="1"/>
                <a:lstStyle xmlns:a="http://schemas.openxmlformats.org/drawingml/2006/main"/>
                <a:p xmlns:a="http://schemas.openxmlformats.org/drawingml/2006/main">
                  <a:pPr>
                    <a:defRPr sz="2100" b="1">
                      <a:solidFill>
                        <a:srgbClr val="20665B"/>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Data'!$E$2:$E$3</c:f>
              <c:numCache>
                <c:formatCode>General</c:formatCode>
                <c:ptCount val="2"/>
                <c:pt idx="0">
                  <c:v>0</c:v>
                </c:pt>
                <c:pt idx="1">
                  <c:v>36</c:v>
                </c:pt>
              </c:numCache>
            </c:numRef>
          </c:xVal>
          <c:yVal>
            <c:numRef>
              <c:f>'Chart Data'!$F$2:$F$3</c:f>
              <c:numCache>
                <c:formatCode>0</c:formatCode>
                <c:ptCount val="2"/>
                <c:pt idx="0">
                  <c:v>4</c:v>
                </c:pt>
                <c:pt idx="1">
                  <c:v>16</c:v>
                </c:pt>
              </c:numCache>
            </c:numRef>
          </c:yVal>
          <c:smooth val="0"/>
        </c:ser>
        <c:ser>
          <c:idx val="3"/>
          <c:order val="3"/>
          <c:tx>
            <c:v>A₁</c:v>
          </c:tx>
          <c:spPr>
            <a:solidFill xmlns:a="http://schemas.openxmlformats.org/drawingml/2006/main">
              <a:srgbClr val="A94D16"/>
            </a:solidFill>
            <a:ln xmlns:a="http://schemas.openxmlformats.org/drawingml/2006/main" w="38100">
              <a:solidFill>
                <a:srgbClr val="A94D16"/>
              </a:solidFill>
              <a:prstDash val="solid"/>
            </a:ln>
          </c:spPr>
          <c:marker>
            <c:symbol val="none"/>
            <c:size val="10"/>
          </c:marker>
          <c:dLbls>
            <c:dLbl>
              <c:idx val="1"/>
              <c:tx>
                <c:rich>
                  <a:bodyPr xmlns:a="http://schemas.openxmlformats.org/drawingml/2006/main"/>
                  <a:lstStyle xmlns:a="http://schemas.openxmlformats.org/drawingml/2006/main"/>
                  <a:p xmlns:a="http://schemas.openxmlformats.org/drawingml/2006/main">
                    <a:r>
                      <a:rPr sz="2100" b="1">
                        <a:solidFill>
                          <a:srgbClr val="A94D16"/>
                        </a:solidFill>
                        <a:latin typeface="Arial"/>
                        <a:ea typeface="Arial"/>
                        <a:cs typeface="Arial"/>
                      </a:rPr>
                      <a:t>A₁</a:t>
                    </a:r>
                  </a:p>
                </c:rich>
              </c:tx>
              <c:txPr>
                <a:bodyPr xmlns:a="http://schemas.openxmlformats.org/drawingml/2006/main" anchorCtr="1"/>
                <a:lstStyle xmlns:a="http://schemas.openxmlformats.org/drawingml/2006/main"/>
                <a:p xmlns:a="http://schemas.openxmlformats.org/drawingml/2006/main">
                  <a:pPr>
                    <a:defRPr sz="2100" b="1">
                      <a:solidFill>
                        <a:srgbClr val="A94D1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Data'!$G$2:$G$3</c:f>
              <c:numCache>
                <c:formatCode>General</c:formatCode>
                <c:ptCount val="2"/>
                <c:pt idx="0">
                  <c:v>0</c:v>
                </c:pt>
                <c:pt idx="1">
                  <c:v>30</c:v>
                </c:pt>
              </c:numCache>
            </c:numRef>
          </c:xVal>
          <c:yVal>
            <c:numRef>
              <c:f>'Chart Data'!$H$2:$H$3</c:f>
              <c:numCache>
                <c:formatCode>0</c:formatCode>
                <c:ptCount val="2"/>
                <c:pt idx="0">
                  <c:v>6</c:v>
                </c:pt>
                <c:pt idx="1">
                  <c:v>16</c:v>
                </c:pt>
              </c:numCache>
            </c:numRef>
          </c:yVal>
          <c:smooth val="0"/>
        </c:ser>
        <c:ser>
          <c:idx val="4"/>
          <c:order val="4"/>
          <c:tx>
            <c:v>R</c:v>
          </c:tx>
          <c:spPr>
            <a:solidFill xmlns:a="http://schemas.openxmlformats.org/drawingml/2006/main">
              <a:srgbClr val="183247"/>
            </a:solidFill>
            <a:ln xmlns:a="http://schemas.openxmlformats.org/drawingml/2006/main" w="0">
              <a:solidFill>
                <a:srgbClr val="183247"/>
              </a:solidFill>
              <a:prstDash val="solid"/>
            </a:ln>
          </c:spPr>
          <c:marker>
            <c:symbol val="circle"/>
            <c:size val="10"/>
            <c:spPr>
              <a:solidFill xmlns:a="http://schemas.openxmlformats.org/drawingml/2006/main">
                <a:srgbClr val="183247"/>
              </a:solidFill>
            </c:spPr>
          </c:marker>
          <c:dLbls>
            <c:dLbl>
              <c:idx val="0"/>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R</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Data'!$I$2:$I$2</c:f>
              <c:numCache>
                <c:formatCode>General</c:formatCode>
                <c:ptCount val="1"/>
                <c:pt idx="0">
                  <c:v>12</c:v>
                </c:pt>
              </c:numCache>
            </c:numRef>
          </c:xVal>
          <c:yVal>
            <c:numRef>
              <c:f>'Chart Data'!$J$2:$J$2</c:f>
              <c:numCache>
                <c:formatCode>0</c:formatCode>
                <c:ptCount val="1"/>
                <c:pt idx="0">
                  <c:v>8</c:v>
                </c:pt>
              </c:numCache>
            </c:numRef>
          </c:yVal>
          <c:smooth val="0"/>
        </c:ser>
        <c:ser>
          <c:idx val="5"/>
          <c:order val="5"/>
          <c:tx>
            <c:v>S</c:v>
          </c:tx>
          <c:spPr>
            <a:solidFill xmlns:a="http://schemas.openxmlformats.org/drawingml/2006/main">
              <a:srgbClr val="20665B"/>
            </a:solidFill>
            <a:ln xmlns:a="http://schemas.openxmlformats.org/drawingml/2006/main" w="0">
              <a:solidFill>
                <a:srgbClr val="20665B"/>
              </a:solidFill>
              <a:prstDash val="solid"/>
            </a:ln>
          </c:spPr>
          <c:marker>
            <c:symbol val="circle"/>
            <c:size val="10"/>
            <c:spPr>
              <a:solidFill xmlns:a="http://schemas.openxmlformats.org/drawingml/2006/main">
                <a:srgbClr val="20665B"/>
              </a:solidFill>
            </c:spPr>
          </c:marker>
          <c:dLbls>
            <c:dLbl>
              <c:idx val="0"/>
              <c:tx>
                <c:rich>
                  <a:bodyPr xmlns:a="http://schemas.openxmlformats.org/drawingml/2006/main"/>
                  <a:lstStyle xmlns:a="http://schemas.openxmlformats.org/drawingml/2006/main"/>
                  <a:p xmlns:a="http://schemas.openxmlformats.org/drawingml/2006/main">
                    <a:r>
                      <a:rPr sz="2100" b="1">
                        <a:solidFill>
                          <a:srgbClr val="20665B"/>
                        </a:solidFill>
                        <a:latin typeface="Arial"/>
                        <a:ea typeface="Arial"/>
                        <a:cs typeface="Arial"/>
                      </a:rPr>
                      <a:t>S</a:t>
                    </a:r>
                  </a:p>
                </c:rich>
              </c:tx>
              <c:txPr>
                <a:bodyPr xmlns:a="http://schemas.openxmlformats.org/drawingml/2006/main" anchorCtr="1"/>
                <a:lstStyle xmlns:a="http://schemas.openxmlformats.org/drawingml/2006/main"/>
                <a:p xmlns:a="http://schemas.openxmlformats.org/drawingml/2006/main">
                  <a:pPr>
                    <a:defRPr sz="2100" b="1">
                      <a:solidFill>
                        <a:srgbClr val="20665B"/>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Data'!$K$2:$K$2</c:f>
              <c:numCache>
                <c:formatCode>General</c:formatCode>
                <c:ptCount val="1"/>
                <c:pt idx="0">
                  <c:v>24</c:v>
                </c:pt>
              </c:numCache>
            </c:numRef>
          </c:xVal>
          <c:yVal>
            <c:numRef>
              <c:f>'Chart Data'!$L$2:$L$2</c:f>
              <c:numCache>
                <c:formatCode>0</c:formatCode>
                <c:ptCount val="1"/>
                <c:pt idx="0">
                  <c:v>12</c:v>
                </c:pt>
              </c:numCache>
            </c:numRef>
          </c:yVal>
          <c:smooth val="0"/>
        </c:ser>
        <c:ser>
          <c:idx val="6"/>
          <c:order val="6"/>
          <c:tx>
            <c:v>T-hulplijn</c:v>
          </c:tx>
          <c:spPr>
            <a:solidFill xmlns:a="http://schemas.openxmlformats.org/drawingml/2006/main">
              <a:srgbClr val="445B6B"/>
            </a:solidFill>
            <a:ln xmlns:a="http://schemas.openxmlformats.org/drawingml/2006/main" w="16193">
              <a:solidFill>
                <a:srgbClr val="445B6B"/>
              </a:solidFill>
              <a:prstDash val="dash"/>
            </a:ln>
          </c:spPr>
          <c:marker>
            <c:symbol val="none"/>
            <c:size val="10"/>
          </c:marker>
          <c:xVal>
            <c:numRef>
              <c:f>'Chart Data'!$M$2:$M$4</c:f>
              <c:numCache>
                <c:formatCode>General</c:formatCode>
                <c:ptCount val="3"/>
                <c:pt idx="0">
                  <c:v>0</c:v>
                </c:pt>
                <c:pt idx="1">
                  <c:v>18</c:v>
                </c:pt>
                <c:pt idx="2">
                  <c:v>18</c:v>
                </c:pt>
              </c:numCache>
            </c:numRef>
          </c:xVal>
          <c:yVal>
            <c:numRef>
              <c:f>'Chart Data'!$N$2:$N$4</c:f>
              <c:numCache>
                <c:formatCode>0</c:formatCode>
                <c:ptCount val="3"/>
                <c:pt idx="0">
                  <c:v>12</c:v>
                </c:pt>
                <c:pt idx="1">
                  <c:v>12</c:v>
                </c:pt>
                <c:pt idx="2">
                  <c:v>0</c:v>
                </c:pt>
              </c:numCache>
            </c:numRef>
          </c:yVal>
          <c:smooth val="0"/>
        </c:ser>
        <c:ser>
          <c:idx val="7"/>
          <c:order val="7"/>
          <c:tx>
            <c:v>T</c:v>
          </c:tx>
          <c:spPr>
            <a:solidFill xmlns:a="http://schemas.openxmlformats.org/drawingml/2006/main">
              <a:srgbClr val="A94D16"/>
            </a:solidFill>
            <a:ln xmlns:a="http://schemas.openxmlformats.org/drawingml/2006/main" w="0">
              <a:solidFill>
                <a:srgbClr val="A94D16"/>
              </a:solidFill>
              <a:prstDash val="solid"/>
            </a:ln>
          </c:spPr>
          <c:marker>
            <c:symbol val="circle"/>
            <c:size val="10"/>
            <c:spPr>
              <a:solidFill xmlns:a="http://schemas.openxmlformats.org/drawingml/2006/main">
                <a:srgbClr val="A94D16"/>
              </a:solidFill>
            </c:spPr>
          </c:marker>
          <c:dLbls>
            <c:dLbl>
              <c:idx val="0"/>
              <c:tx>
                <c:rich>
                  <a:bodyPr xmlns:a="http://schemas.openxmlformats.org/drawingml/2006/main"/>
                  <a:lstStyle xmlns:a="http://schemas.openxmlformats.org/drawingml/2006/main"/>
                  <a:p xmlns:a="http://schemas.openxmlformats.org/drawingml/2006/main">
                    <a:r>
                      <a:rPr sz="2100" b="1">
                        <a:solidFill>
                          <a:srgbClr val="A94D16"/>
                        </a:solidFill>
                        <a:latin typeface="Arial"/>
                        <a:ea typeface="Arial"/>
                        <a:cs typeface="Arial"/>
                      </a:rPr>
                      <a:t>T</a:t>
                    </a:r>
                  </a:p>
                </c:rich>
              </c:tx>
              <c:txPr>
                <a:bodyPr xmlns:a="http://schemas.openxmlformats.org/drawingml/2006/main" anchorCtr="1"/>
                <a:lstStyle xmlns:a="http://schemas.openxmlformats.org/drawingml/2006/main"/>
                <a:p xmlns:a="http://schemas.openxmlformats.org/drawingml/2006/main">
                  <a:pPr>
                    <a:defRPr sz="2100" b="1">
                      <a:solidFill>
                        <a:srgbClr val="A94D1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Data'!$O$2:$O$2</c:f>
              <c:numCache>
                <c:formatCode>General</c:formatCode>
                <c:ptCount val="1"/>
                <c:pt idx="0">
                  <c:v>18</c:v>
                </c:pt>
              </c:numCache>
            </c:numRef>
          </c:xVal>
          <c:yVal>
            <c:numRef>
              <c:f>'Chart Data'!$P$2:$P$2</c:f>
              <c:numCache>
                <c:formatCode>0</c:formatCode>
                <c:ptCount val="1"/>
                <c:pt idx="0">
                  <c:v>12</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8"/>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houder)</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2"/>
      </c:valAx>
      <c:valAx>
        <c:axId val="48650112"/>
        <c:scaling>
          <c:orientation val="minMax"/>
          <c:max val="42"/>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(houders per week)</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6"/>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Marker"/>
        <c:ser>
          <c:idx val="0"/>
          <c:order val="0"/>
          <c:tx>
            <c:v>A₀</c:v>
          </c:tx>
          <c:spPr>
            <a:solidFill xmlns:a="http://schemas.openxmlformats.org/drawingml/2006/main">
              <a:srgbClr val="20665B"/>
            </a:solidFill>
            <a:ln xmlns:a="http://schemas.openxmlformats.org/drawingml/2006/main" w="38100">
              <a:solidFill>
                <a:srgbClr val="20665B"/>
              </a:solidFill>
              <a:prstDash val="solid"/>
            </a:ln>
          </c:spPr>
          <c:marker>
            <c:symbol val="none"/>
            <c:size val="10"/>
          </c:marker>
          <c:dLbls>
            <c:dLbl>
              <c:idx val="1"/>
              <c:tx>
                <c:rich>
                  <a:bodyPr xmlns:a="http://schemas.openxmlformats.org/drawingml/2006/main"/>
                  <a:lstStyle xmlns:a="http://schemas.openxmlformats.org/drawingml/2006/main"/>
                  <a:p xmlns:a="http://schemas.openxmlformats.org/drawingml/2006/main">
                    <a:r>
                      <a:rPr sz="2100" b="1">
                        <a:solidFill>
                          <a:srgbClr val="20665B"/>
                        </a:solidFill>
                        <a:latin typeface="Arial"/>
                        <a:ea typeface="Arial"/>
                        <a:cs typeface="Arial"/>
                      </a:rPr>
                      <a:t>A₀</a:t>
                    </a:r>
                  </a:p>
                </c:rich>
              </c:tx>
              <c:txPr>
                <a:bodyPr xmlns:a="http://schemas.openxmlformats.org/drawingml/2006/main" anchorCtr="1"/>
                <a:lstStyle xmlns:a="http://schemas.openxmlformats.org/drawingml/2006/main"/>
                <a:p xmlns:a="http://schemas.openxmlformats.org/drawingml/2006/main">
                  <a:pPr>
                    <a:defRPr sz="2100" b="1">
                      <a:solidFill>
                        <a:srgbClr val="20665B"/>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Data'!$A$2:$A$3</c:f>
              <c:numCache>
                <c:formatCode>General</c:formatCode>
                <c:ptCount val="2"/>
                <c:pt idx="0">
                  <c:v>0</c:v>
                </c:pt>
                <c:pt idx="1">
                  <c:v>80</c:v>
                </c:pt>
              </c:numCache>
            </c:numRef>
          </c:xVal>
          <c:yVal>
            <c:numRef>
              <c:f>'Chart Data'!$B$2:$B$3</c:f>
              <c:numCache>
                <c:formatCode>0</c:formatCode>
                <c:ptCount val="2"/>
                <c:pt idx="0">
                  <c:v>10</c:v>
                </c:pt>
                <c:pt idx="1">
                  <c:v>30</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2"/>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tas)</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8"/>
      </c:valAx>
      <c:valAx>
        <c:axId val="48650112"/>
        <c:scaling>
          <c:orientation val="minMax"/>
          <c:max val="8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(tassen per maand)</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catterStyle val="lineMarker"/>
        <c:ser>
          <c:idx val="0"/>
          <c:order val="0"/>
          <c:tx>
            <c:v>R-hulplijnen</c:v>
          </c:tx>
          <c:spPr>
            <a:solidFill xmlns:a="http://schemas.openxmlformats.org/drawingml/2006/main">
              <a:srgbClr val="445B6B"/>
            </a:solidFill>
            <a:ln xmlns:a="http://schemas.openxmlformats.org/drawingml/2006/main" w="16193">
              <a:solidFill>
                <a:srgbClr val="445B6B"/>
              </a:solidFill>
              <a:prstDash val="dash"/>
            </a:ln>
          </c:spPr>
          <c:marker>
            <c:symbol val="none"/>
            <c:size val="10"/>
          </c:marker>
          <c:xVal>
            <c:numRef>
              <c:f>'Chart Data'!$A$2:$A$4</c:f>
              <c:numCache>
                <c:formatCode>General</c:formatCode>
                <c:ptCount val="3"/>
                <c:pt idx="0">
                  <c:v>0</c:v>
                </c:pt>
                <c:pt idx="1">
                  <c:v>40</c:v>
                </c:pt>
                <c:pt idx="2">
                  <c:v>40</c:v>
                </c:pt>
              </c:numCache>
            </c:numRef>
          </c:xVal>
          <c:yVal>
            <c:numRef>
              <c:f>'Chart Data'!$B$2:$B$4</c:f>
              <c:numCache>
                <c:formatCode>0</c:formatCode>
                <c:ptCount val="3"/>
                <c:pt idx="0">
                  <c:v>20</c:v>
                </c:pt>
                <c:pt idx="1">
                  <c:v>20</c:v>
                </c:pt>
                <c:pt idx="2">
                  <c:v>0</c:v>
                </c:pt>
              </c:numCache>
            </c:numRef>
          </c:yVal>
          <c:smooth val="0"/>
        </c:ser>
        <c:ser>
          <c:idx val="1"/>
          <c:order val="1"/>
          <c:tx>
            <c:v>S-hulplijnen</c:v>
          </c:tx>
          <c:spPr>
            <a:solidFill xmlns:a="http://schemas.openxmlformats.org/drawingml/2006/main">
              <a:srgbClr val="445B6B"/>
            </a:solidFill>
            <a:ln xmlns:a="http://schemas.openxmlformats.org/drawingml/2006/main" w="16193">
              <a:solidFill>
                <a:srgbClr val="445B6B"/>
              </a:solidFill>
              <a:prstDash val="dash"/>
            </a:ln>
          </c:spPr>
          <c:marker>
            <c:symbol val="none"/>
            <c:size val="10"/>
          </c:marker>
          <c:xVal>
            <c:numRef>
              <c:f>'Chart Data'!$C$2:$C$4</c:f>
              <c:numCache>
                <c:formatCode>General</c:formatCode>
                <c:ptCount val="3"/>
                <c:pt idx="0">
                  <c:v>0</c:v>
                </c:pt>
                <c:pt idx="1">
                  <c:v>56</c:v>
                </c:pt>
                <c:pt idx="2">
                  <c:v>56</c:v>
                </c:pt>
              </c:numCache>
            </c:numRef>
          </c:xVal>
          <c:yVal>
            <c:numRef>
              <c:f>'Chart Data'!$D$2:$D$4</c:f>
              <c:numCache>
                <c:formatCode>0</c:formatCode>
                <c:ptCount val="3"/>
                <c:pt idx="0">
                  <c:v>24</c:v>
                </c:pt>
                <c:pt idx="1">
                  <c:v>24</c:v>
                </c:pt>
                <c:pt idx="2">
                  <c:v>0</c:v>
                </c:pt>
              </c:numCache>
            </c:numRef>
          </c:yVal>
          <c:smooth val="0"/>
        </c:ser>
        <c:ser>
          <c:idx val="2"/>
          <c:order val="2"/>
          <c:tx>
            <c:v>A₀</c:v>
          </c:tx>
          <c:spPr>
            <a:solidFill xmlns:a="http://schemas.openxmlformats.org/drawingml/2006/main">
              <a:srgbClr val="20665B"/>
            </a:solidFill>
            <a:ln xmlns:a="http://schemas.openxmlformats.org/drawingml/2006/main" w="38100">
              <a:solidFill>
                <a:srgbClr val="20665B"/>
              </a:solidFill>
              <a:prstDash val="solid"/>
            </a:ln>
          </c:spPr>
          <c:marker>
            <c:symbol val="none"/>
            <c:size val="10"/>
          </c:marker>
          <c:dLbls>
            <c:dLbl>
              <c:idx val="1"/>
              <c:tx>
                <c:rich>
                  <a:bodyPr xmlns:a="http://schemas.openxmlformats.org/drawingml/2006/main"/>
                  <a:lstStyle xmlns:a="http://schemas.openxmlformats.org/drawingml/2006/main"/>
                  <a:p xmlns:a="http://schemas.openxmlformats.org/drawingml/2006/main">
                    <a:r>
                      <a:rPr sz="2100" b="1">
                        <a:solidFill>
                          <a:srgbClr val="20665B"/>
                        </a:solidFill>
                        <a:latin typeface="Arial"/>
                        <a:ea typeface="Arial"/>
                        <a:cs typeface="Arial"/>
                      </a:rPr>
                      <a:t>A₀</a:t>
                    </a:r>
                  </a:p>
                </c:rich>
              </c:tx>
              <c:txPr>
                <a:bodyPr xmlns:a="http://schemas.openxmlformats.org/drawingml/2006/main" anchorCtr="1"/>
                <a:lstStyle xmlns:a="http://schemas.openxmlformats.org/drawingml/2006/main"/>
                <a:p xmlns:a="http://schemas.openxmlformats.org/drawingml/2006/main">
                  <a:pPr>
                    <a:defRPr sz="2100" b="1">
                      <a:solidFill>
                        <a:srgbClr val="20665B"/>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Data'!$E$2:$E$3</c:f>
              <c:numCache>
                <c:formatCode>General</c:formatCode>
                <c:ptCount val="2"/>
                <c:pt idx="0">
                  <c:v>0</c:v>
                </c:pt>
                <c:pt idx="1">
                  <c:v>80</c:v>
                </c:pt>
              </c:numCache>
            </c:numRef>
          </c:xVal>
          <c:yVal>
            <c:numRef>
              <c:f>'Chart Data'!$F$2:$F$3</c:f>
              <c:numCache>
                <c:formatCode>0</c:formatCode>
                <c:ptCount val="2"/>
                <c:pt idx="0">
                  <c:v>10</c:v>
                </c:pt>
                <c:pt idx="1">
                  <c:v>30</c:v>
                </c:pt>
              </c:numCache>
            </c:numRef>
          </c:yVal>
          <c:smooth val="0"/>
        </c:ser>
        <c:ser>
          <c:idx val="3"/>
          <c:order val="3"/>
          <c:tx>
            <c:v>R</c:v>
          </c:tx>
          <c:spPr>
            <a:solidFill xmlns:a="http://schemas.openxmlformats.org/drawingml/2006/main">
              <a:srgbClr val="183247"/>
            </a:solidFill>
            <a:ln xmlns:a="http://schemas.openxmlformats.org/drawingml/2006/main" w="0">
              <a:solidFill>
                <a:srgbClr val="183247"/>
              </a:solidFill>
              <a:prstDash val="solid"/>
            </a:ln>
          </c:spPr>
          <c:marker>
            <c:symbol val="circle"/>
            <c:size val="10"/>
            <c:spPr>
              <a:solidFill xmlns:a="http://schemas.openxmlformats.org/drawingml/2006/main">
                <a:srgbClr val="183247"/>
              </a:solidFill>
            </c:spPr>
          </c:marker>
          <c:dLbls>
            <c:dLbl>
              <c:idx val="0"/>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R</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Data'!$G$2:$G$2</c:f>
              <c:numCache>
                <c:formatCode>General</c:formatCode>
                <c:ptCount val="1"/>
                <c:pt idx="0">
                  <c:v>40</c:v>
                </c:pt>
              </c:numCache>
            </c:numRef>
          </c:xVal>
          <c:yVal>
            <c:numRef>
              <c:f>'Chart Data'!$H$2:$H$2</c:f>
              <c:numCache>
                <c:formatCode>0</c:formatCode>
                <c:ptCount val="1"/>
                <c:pt idx="0">
                  <c:v>20</c:v>
                </c:pt>
              </c:numCache>
            </c:numRef>
          </c:yVal>
          <c:smooth val="0"/>
        </c:ser>
        <c:ser>
          <c:idx val="4"/>
          <c:order val="4"/>
          <c:tx>
            <c:v>S</c:v>
          </c:tx>
          <c:spPr>
            <a:solidFill xmlns:a="http://schemas.openxmlformats.org/drawingml/2006/main">
              <a:srgbClr val="20665B"/>
            </a:solidFill>
            <a:ln xmlns:a="http://schemas.openxmlformats.org/drawingml/2006/main" w="0">
              <a:solidFill>
                <a:srgbClr val="20665B"/>
              </a:solidFill>
              <a:prstDash val="solid"/>
            </a:ln>
          </c:spPr>
          <c:marker>
            <c:symbol val="circle"/>
            <c:size val="10"/>
            <c:spPr>
              <a:solidFill xmlns:a="http://schemas.openxmlformats.org/drawingml/2006/main">
                <a:srgbClr val="20665B"/>
              </a:solidFill>
            </c:spPr>
          </c:marker>
          <c:dLbls>
            <c:dLbl>
              <c:idx val="0"/>
              <c:tx>
                <c:rich>
                  <a:bodyPr xmlns:a="http://schemas.openxmlformats.org/drawingml/2006/main"/>
                  <a:lstStyle xmlns:a="http://schemas.openxmlformats.org/drawingml/2006/main"/>
                  <a:p xmlns:a="http://schemas.openxmlformats.org/drawingml/2006/main">
                    <a:r>
                      <a:rPr sz="2100" b="1">
                        <a:solidFill>
                          <a:srgbClr val="20665B"/>
                        </a:solidFill>
                        <a:latin typeface="Arial"/>
                        <a:ea typeface="Arial"/>
                        <a:cs typeface="Arial"/>
                      </a:rPr>
                      <a:t>S</a:t>
                    </a:r>
                  </a:p>
                </c:rich>
              </c:tx>
              <c:txPr>
                <a:bodyPr xmlns:a="http://schemas.openxmlformats.org/drawingml/2006/main" anchorCtr="1"/>
                <a:lstStyle xmlns:a="http://schemas.openxmlformats.org/drawingml/2006/main"/>
                <a:p xmlns:a="http://schemas.openxmlformats.org/drawingml/2006/main">
                  <a:pPr>
                    <a:defRPr sz="2100" b="1">
                      <a:solidFill>
                        <a:srgbClr val="20665B"/>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Data'!$I$2:$I$2</c:f>
              <c:numCache>
                <c:formatCode>General</c:formatCode>
                <c:ptCount val="1"/>
                <c:pt idx="0">
                  <c:v>56</c:v>
                </c:pt>
              </c:numCache>
            </c:numRef>
          </c:xVal>
          <c:yVal>
            <c:numRef>
              <c:f>'Chart Data'!$J$2:$J$2</c:f>
              <c:numCache>
                <c:formatCode>0</c:formatCode>
                <c:ptCount val="1"/>
                <c:pt idx="0">
                  <c:v>24</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2"/>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tas)</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8"/>
      </c:valAx>
      <c:valAx>
        <c:axId val="48650112"/>
        <c:scaling>
          <c:orientation val="minMax"/>
          <c:max val="8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(tassen per maand)</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scatterChart>
        <c:scatterStyle val="lineMarker"/>
        <c:ser>
          <c:idx val="0"/>
          <c:order val="0"/>
          <c:tx>
            <c:v>R-hulplijnen</c:v>
          </c:tx>
          <c:spPr>
            <a:solidFill xmlns:a="http://schemas.openxmlformats.org/drawingml/2006/main">
              <a:srgbClr val="445B6B"/>
            </a:solidFill>
            <a:ln xmlns:a="http://schemas.openxmlformats.org/drawingml/2006/main" w="16193">
              <a:solidFill>
                <a:srgbClr val="445B6B"/>
              </a:solidFill>
              <a:prstDash val="dash"/>
            </a:ln>
          </c:spPr>
          <c:marker>
            <c:symbol val="none"/>
            <c:size val="10"/>
          </c:marker>
          <c:xVal>
            <c:numRef>
              <c:f>'Chart Data'!$A$2:$A$4</c:f>
              <c:numCache>
                <c:formatCode>General</c:formatCode>
                <c:ptCount val="3"/>
                <c:pt idx="0">
                  <c:v>0</c:v>
                </c:pt>
                <c:pt idx="1">
                  <c:v>40</c:v>
                </c:pt>
                <c:pt idx="2">
                  <c:v>40</c:v>
                </c:pt>
              </c:numCache>
            </c:numRef>
          </c:xVal>
          <c:yVal>
            <c:numRef>
              <c:f>'Chart Data'!$B$2:$B$4</c:f>
              <c:numCache>
                <c:formatCode>0</c:formatCode>
                <c:ptCount val="3"/>
                <c:pt idx="0">
                  <c:v>20</c:v>
                </c:pt>
                <c:pt idx="1">
                  <c:v>20</c:v>
                </c:pt>
                <c:pt idx="2">
                  <c:v>0</c:v>
                </c:pt>
              </c:numCache>
            </c:numRef>
          </c:yVal>
          <c:smooth val="0"/>
        </c:ser>
        <c:ser>
          <c:idx val="1"/>
          <c:order val="1"/>
          <c:tx>
            <c:v>S-hulplijnen</c:v>
          </c:tx>
          <c:spPr>
            <a:solidFill xmlns:a="http://schemas.openxmlformats.org/drawingml/2006/main">
              <a:srgbClr val="445B6B"/>
            </a:solidFill>
            <a:ln xmlns:a="http://schemas.openxmlformats.org/drawingml/2006/main" w="16193">
              <a:solidFill>
                <a:srgbClr val="445B6B"/>
              </a:solidFill>
              <a:prstDash val="dash"/>
            </a:ln>
          </c:spPr>
          <c:marker>
            <c:symbol val="none"/>
            <c:size val="10"/>
          </c:marker>
          <c:xVal>
            <c:numRef>
              <c:f>'Chart Data'!$C$2:$C$4</c:f>
              <c:numCache>
                <c:formatCode>General</c:formatCode>
                <c:ptCount val="3"/>
                <c:pt idx="0">
                  <c:v>0</c:v>
                </c:pt>
                <c:pt idx="1">
                  <c:v>56</c:v>
                </c:pt>
                <c:pt idx="2">
                  <c:v>56</c:v>
                </c:pt>
              </c:numCache>
            </c:numRef>
          </c:xVal>
          <c:yVal>
            <c:numRef>
              <c:f>'Chart Data'!$D$2:$D$4</c:f>
              <c:numCache>
                <c:formatCode>0</c:formatCode>
                <c:ptCount val="3"/>
                <c:pt idx="0">
                  <c:v>24</c:v>
                </c:pt>
                <c:pt idx="1">
                  <c:v>24</c:v>
                </c:pt>
                <c:pt idx="2">
                  <c:v>0</c:v>
                </c:pt>
              </c:numCache>
            </c:numRef>
          </c:yVal>
          <c:smooth val="0"/>
        </c:ser>
        <c:ser>
          <c:idx val="2"/>
          <c:order val="2"/>
          <c:tx>
            <c:v>A₀</c:v>
          </c:tx>
          <c:spPr>
            <a:solidFill xmlns:a="http://schemas.openxmlformats.org/drawingml/2006/main">
              <a:srgbClr val="20665B"/>
            </a:solidFill>
            <a:ln xmlns:a="http://schemas.openxmlformats.org/drawingml/2006/main" w="38100">
              <a:solidFill>
                <a:srgbClr val="20665B"/>
              </a:solidFill>
              <a:prstDash val="solid"/>
            </a:ln>
          </c:spPr>
          <c:marker>
            <c:symbol val="none"/>
            <c:size val="10"/>
          </c:marker>
          <c:dLbls>
            <c:dLbl>
              <c:idx val="1"/>
              <c:tx>
                <c:rich>
                  <a:bodyPr xmlns:a="http://schemas.openxmlformats.org/drawingml/2006/main"/>
                  <a:lstStyle xmlns:a="http://schemas.openxmlformats.org/drawingml/2006/main"/>
                  <a:p xmlns:a="http://schemas.openxmlformats.org/drawingml/2006/main">
                    <a:r>
                      <a:rPr sz="2100" b="1">
                        <a:solidFill>
                          <a:srgbClr val="20665B"/>
                        </a:solidFill>
                        <a:latin typeface="Arial"/>
                        <a:ea typeface="Arial"/>
                        <a:cs typeface="Arial"/>
                      </a:rPr>
                      <a:t>A₀</a:t>
                    </a:r>
                  </a:p>
                </c:rich>
              </c:tx>
              <c:txPr>
                <a:bodyPr xmlns:a="http://schemas.openxmlformats.org/drawingml/2006/main" anchorCtr="1"/>
                <a:lstStyle xmlns:a="http://schemas.openxmlformats.org/drawingml/2006/main"/>
                <a:p xmlns:a="http://schemas.openxmlformats.org/drawingml/2006/main">
                  <a:pPr>
                    <a:defRPr sz="2100" b="1">
                      <a:solidFill>
                        <a:srgbClr val="20665B"/>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Data'!$E$2:$E$3</c:f>
              <c:numCache>
                <c:formatCode>General</c:formatCode>
                <c:ptCount val="2"/>
                <c:pt idx="0">
                  <c:v>0</c:v>
                </c:pt>
                <c:pt idx="1">
                  <c:v>80</c:v>
                </c:pt>
              </c:numCache>
            </c:numRef>
          </c:xVal>
          <c:yVal>
            <c:numRef>
              <c:f>'Chart Data'!$F$2:$F$3</c:f>
              <c:numCache>
                <c:formatCode>0</c:formatCode>
                <c:ptCount val="2"/>
                <c:pt idx="0">
                  <c:v>10</c:v>
                </c:pt>
                <c:pt idx="1">
                  <c:v>30</c:v>
                </c:pt>
              </c:numCache>
            </c:numRef>
          </c:yVal>
          <c:smooth val="0"/>
        </c:ser>
        <c:ser>
          <c:idx val="3"/>
          <c:order val="3"/>
          <c:tx>
            <c:v>A₁</c:v>
          </c:tx>
          <c:spPr>
            <a:solidFill xmlns:a="http://schemas.openxmlformats.org/drawingml/2006/main">
              <a:srgbClr val="A94D16"/>
            </a:solidFill>
            <a:ln xmlns:a="http://schemas.openxmlformats.org/drawingml/2006/main" w="38100">
              <a:solidFill>
                <a:srgbClr val="A94D16"/>
              </a:solidFill>
              <a:prstDash val="solid"/>
            </a:ln>
          </c:spPr>
          <c:marker>
            <c:symbol val="none"/>
            <c:size val="10"/>
          </c:marker>
          <c:dLbls>
            <c:dLbl>
              <c:idx val="1"/>
              <c:tx>
                <c:rich>
                  <a:bodyPr xmlns:a="http://schemas.openxmlformats.org/drawingml/2006/main"/>
                  <a:lstStyle xmlns:a="http://schemas.openxmlformats.org/drawingml/2006/main"/>
                  <a:p xmlns:a="http://schemas.openxmlformats.org/drawingml/2006/main">
                    <a:r>
                      <a:rPr sz="2100" b="1">
                        <a:solidFill>
                          <a:srgbClr val="A94D16"/>
                        </a:solidFill>
                        <a:latin typeface="Arial"/>
                        <a:ea typeface="Arial"/>
                        <a:cs typeface="Arial"/>
                      </a:rPr>
                      <a:t>A₁</a:t>
                    </a:r>
                  </a:p>
                </c:rich>
              </c:tx>
              <c:txPr>
                <a:bodyPr xmlns:a="http://schemas.openxmlformats.org/drawingml/2006/main" anchorCtr="1"/>
                <a:lstStyle xmlns:a="http://schemas.openxmlformats.org/drawingml/2006/main"/>
                <a:p xmlns:a="http://schemas.openxmlformats.org/drawingml/2006/main">
                  <a:pPr>
                    <a:defRPr sz="2100" b="1">
                      <a:solidFill>
                        <a:srgbClr val="A94D1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Data'!$G$2:$G$3</c:f>
              <c:numCache>
                <c:formatCode>General</c:formatCode>
                <c:ptCount val="2"/>
                <c:pt idx="0">
                  <c:v>0</c:v>
                </c:pt>
                <c:pt idx="1">
                  <c:v>68</c:v>
                </c:pt>
              </c:numCache>
            </c:numRef>
          </c:xVal>
          <c:yVal>
            <c:numRef>
              <c:f>'Chart Data'!$H$2:$H$3</c:f>
              <c:numCache>
                <c:formatCode>0</c:formatCode>
                <c:ptCount val="2"/>
                <c:pt idx="0">
                  <c:v>13</c:v>
                </c:pt>
                <c:pt idx="1">
                  <c:v>30</c:v>
                </c:pt>
              </c:numCache>
            </c:numRef>
          </c:yVal>
          <c:smooth val="0"/>
        </c:ser>
        <c:ser>
          <c:idx val="4"/>
          <c:order val="4"/>
          <c:tx>
            <c:v>R</c:v>
          </c:tx>
          <c:spPr>
            <a:solidFill xmlns:a="http://schemas.openxmlformats.org/drawingml/2006/main">
              <a:srgbClr val="183247"/>
            </a:solidFill>
            <a:ln xmlns:a="http://schemas.openxmlformats.org/drawingml/2006/main" w="0">
              <a:solidFill>
                <a:srgbClr val="183247"/>
              </a:solidFill>
              <a:prstDash val="solid"/>
            </a:ln>
          </c:spPr>
          <c:marker>
            <c:symbol val="circle"/>
            <c:size val="10"/>
            <c:spPr>
              <a:solidFill xmlns:a="http://schemas.openxmlformats.org/drawingml/2006/main">
                <a:srgbClr val="183247"/>
              </a:solidFill>
            </c:spPr>
          </c:marker>
          <c:dLbls>
            <c:dLbl>
              <c:idx val="0"/>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R</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Data'!$I$2:$I$2</c:f>
              <c:numCache>
                <c:formatCode>General</c:formatCode>
                <c:ptCount val="1"/>
                <c:pt idx="0">
                  <c:v>40</c:v>
                </c:pt>
              </c:numCache>
            </c:numRef>
          </c:xVal>
          <c:yVal>
            <c:numRef>
              <c:f>'Chart Data'!$J$2:$J$2</c:f>
              <c:numCache>
                <c:formatCode>0</c:formatCode>
                <c:ptCount val="1"/>
                <c:pt idx="0">
                  <c:v>20</c:v>
                </c:pt>
              </c:numCache>
            </c:numRef>
          </c:yVal>
          <c:smooth val="0"/>
        </c:ser>
        <c:ser>
          <c:idx val="5"/>
          <c:order val="5"/>
          <c:tx>
            <c:v>S</c:v>
          </c:tx>
          <c:spPr>
            <a:solidFill xmlns:a="http://schemas.openxmlformats.org/drawingml/2006/main">
              <a:srgbClr val="20665B"/>
            </a:solidFill>
            <a:ln xmlns:a="http://schemas.openxmlformats.org/drawingml/2006/main" w="0">
              <a:solidFill>
                <a:srgbClr val="20665B"/>
              </a:solidFill>
              <a:prstDash val="solid"/>
            </a:ln>
          </c:spPr>
          <c:marker>
            <c:symbol val="circle"/>
            <c:size val="10"/>
            <c:spPr>
              <a:solidFill xmlns:a="http://schemas.openxmlformats.org/drawingml/2006/main">
                <a:srgbClr val="20665B"/>
              </a:solidFill>
            </c:spPr>
          </c:marker>
          <c:dLbls>
            <c:dLbl>
              <c:idx val="0"/>
              <c:tx>
                <c:rich>
                  <a:bodyPr xmlns:a="http://schemas.openxmlformats.org/drawingml/2006/main"/>
                  <a:lstStyle xmlns:a="http://schemas.openxmlformats.org/drawingml/2006/main"/>
                  <a:p xmlns:a="http://schemas.openxmlformats.org/drawingml/2006/main">
                    <a:r>
                      <a:rPr sz="2100" b="1">
                        <a:solidFill>
                          <a:srgbClr val="20665B"/>
                        </a:solidFill>
                        <a:latin typeface="Arial"/>
                        <a:ea typeface="Arial"/>
                        <a:cs typeface="Arial"/>
                      </a:rPr>
                      <a:t>S</a:t>
                    </a:r>
                  </a:p>
                </c:rich>
              </c:tx>
              <c:txPr>
                <a:bodyPr xmlns:a="http://schemas.openxmlformats.org/drawingml/2006/main" anchorCtr="1"/>
                <a:lstStyle xmlns:a="http://schemas.openxmlformats.org/drawingml/2006/main"/>
                <a:p xmlns:a="http://schemas.openxmlformats.org/drawingml/2006/main">
                  <a:pPr>
                    <a:defRPr sz="2100" b="1">
                      <a:solidFill>
                        <a:srgbClr val="20665B"/>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Data'!$K$2:$K$2</c:f>
              <c:numCache>
                <c:formatCode>General</c:formatCode>
                <c:ptCount val="1"/>
                <c:pt idx="0">
                  <c:v>56</c:v>
                </c:pt>
              </c:numCache>
            </c:numRef>
          </c:xVal>
          <c:yVal>
            <c:numRef>
              <c:f>'Chart Data'!$L$2:$L$2</c:f>
              <c:numCache>
                <c:formatCode>0</c:formatCode>
                <c:ptCount val="1"/>
                <c:pt idx="0">
                  <c:v>24</c:v>
                </c:pt>
              </c:numCache>
            </c:numRef>
          </c:yVal>
          <c:smooth val="0"/>
        </c:ser>
        <c:ser>
          <c:idx val="6"/>
          <c:order val="6"/>
          <c:tx>
            <c:v>T-hulplijn</c:v>
          </c:tx>
          <c:spPr>
            <a:solidFill xmlns:a="http://schemas.openxmlformats.org/drawingml/2006/main">
              <a:srgbClr val="445B6B"/>
            </a:solidFill>
            <a:ln xmlns:a="http://schemas.openxmlformats.org/drawingml/2006/main" w="16193">
              <a:solidFill>
                <a:srgbClr val="445B6B"/>
              </a:solidFill>
              <a:prstDash val="dash"/>
            </a:ln>
          </c:spPr>
          <c:marker>
            <c:symbol val="none"/>
            <c:size val="10"/>
          </c:marker>
          <c:xVal>
            <c:numRef>
              <c:f>'Chart Data'!$M$2:$M$4</c:f>
              <c:numCache>
                <c:formatCode>General</c:formatCode>
                <c:ptCount val="3"/>
                <c:pt idx="0">
                  <c:v>0</c:v>
                </c:pt>
                <c:pt idx="1">
                  <c:v>44</c:v>
                </c:pt>
                <c:pt idx="2">
                  <c:v>44</c:v>
                </c:pt>
              </c:numCache>
            </c:numRef>
          </c:xVal>
          <c:yVal>
            <c:numRef>
              <c:f>'Chart Data'!$N$2:$N$4</c:f>
              <c:numCache>
                <c:formatCode>0</c:formatCode>
                <c:ptCount val="3"/>
                <c:pt idx="0">
                  <c:v>24</c:v>
                </c:pt>
                <c:pt idx="1">
                  <c:v>24</c:v>
                </c:pt>
                <c:pt idx="2">
                  <c:v>0</c:v>
                </c:pt>
              </c:numCache>
            </c:numRef>
          </c:yVal>
          <c:smooth val="0"/>
        </c:ser>
        <c:ser>
          <c:idx val="7"/>
          <c:order val="7"/>
          <c:tx>
            <c:v>T</c:v>
          </c:tx>
          <c:spPr>
            <a:solidFill xmlns:a="http://schemas.openxmlformats.org/drawingml/2006/main">
              <a:srgbClr val="A94D16"/>
            </a:solidFill>
            <a:ln xmlns:a="http://schemas.openxmlformats.org/drawingml/2006/main" w="0">
              <a:solidFill>
                <a:srgbClr val="A94D16"/>
              </a:solidFill>
              <a:prstDash val="solid"/>
            </a:ln>
          </c:spPr>
          <c:marker>
            <c:symbol val="circle"/>
            <c:size val="10"/>
            <c:spPr>
              <a:solidFill xmlns:a="http://schemas.openxmlformats.org/drawingml/2006/main">
                <a:srgbClr val="A94D16"/>
              </a:solidFill>
            </c:spPr>
          </c:marker>
          <c:dLbls>
            <c:dLbl>
              <c:idx val="0"/>
              <c:tx>
                <c:rich>
                  <a:bodyPr xmlns:a="http://schemas.openxmlformats.org/drawingml/2006/main"/>
                  <a:lstStyle xmlns:a="http://schemas.openxmlformats.org/drawingml/2006/main"/>
                  <a:p xmlns:a="http://schemas.openxmlformats.org/drawingml/2006/main">
                    <a:r>
                      <a:rPr sz="2100" b="1">
                        <a:solidFill>
                          <a:srgbClr val="A94D16"/>
                        </a:solidFill>
                        <a:latin typeface="Arial"/>
                        <a:ea typeface="Arial"/>
                        <a:cs typeface="Arial"/>
                      </a:rPr>
                      <a:t>T</a:t>
                    </a:r>
                  </a:p>
                </c:rich>
              </c:tx>
              <c:txPr>
                <a:bodyPr xmlns:a="http://schemas.openxmlformats.org/drawingml/2006/main" anchorCtr="1"/>
                <a:lstStyle xmlns:a="http://schemas.openxmlformats.org/drawingml/2006/main"/>
                <a:p xmlns:a="http://schemas.openxmlformats.org/drawingml/2006/main">
                  <a:pPr>
                    <a:defRPr sz="2100" b="1">
                      <a:solidFill>
                        <a:srgbClr val="A94D16"/>
                      </a:solidFill>
                      <a:latin typeface="Arial"/>
                      <a:ea typeface="Arial"/>
                      <a:cs typeface="Arial"/>
                    </a:defRPr>
                  </a:pPr>
                </a:p>
              </c:txPr>
              <c:dLblPos val="t"/>
              <c:showLegendKey val="0"/>
              <c:showVal val="0"/>
              <c:showCatName val="0"/>
              <c:showSerName val="0"/>
              <c:showPercent val="0"/>
              <c:showBubbleSize val="0"/>
            </c:dLbl>
            <c:showLegendKey val="0"/>
            <c:showVal val="0"/>
            <c:showCatName val="0"/>
            <c:showSerName val="0"/>
            <c:showPercent val="0"/>
            <c:showBubbleSize val="0"/>
          </c:dLbls>
          <c:xVal>
            <c:numRef>
              <c:f>'Chart Data'!$O$2:$O$2</c:f>
              <c:numCache>
                <c:formatCode>General</c:formatCode>
                <c:ptCount val="1"/>
                <c:pt idx="0">
                  <c:v>44</c:v>
                </c:pt>
              </c:numCache>
            </c:numRef>
          </c:xVal>
          <c:yVal>
            <c:numRef>
              <c:f>'Chart Data'!$P$2:$P$2</c:f>
              <c:numCache>
                <c:formatCode>0</c:formatCode>
                <c:ptCount val="1"/>
                <c:pt idx="0">
                  <c:v>24</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2"/>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tas)</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8"/>
      </c:valAx>
      <c:valAx>
        <c:axId val="48650112"/>
        <c:scaling>
          <c:orientation val="minMax"/>
          <c:max val="8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(tassen per maand)</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1.3.1 Aanbod en aanbodfactoren">
            <a:extLst xmlns:a="http://schemas.openxmlformats.org/drawingml/2006/main">
              <a:ext uri="{FF2B5EF4-FFF2-40B4-BE49-F238E27FC236}">
                <a16:creationId xmlns:a16="http://schemas.microsoft.com/office/drawing/2014/main" id="{15D181DD-712D-45A8-9626-7B483B1FB8FF}"/>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Deze les: §1.3.1 Aanbod en aanbodfactoren</a:t>
            </a:r>
          </a:p>
        </p:txBody>
      </p:sp>
      <p:sp>
        <p:nvSpPr>
          <p:cNvPr id="2" name="">
            <a:extLst xmlns:a="http://schemas.openxmlformats.org/drawingml/2006/main">
              <a:ext uri="{FF2B5EF4-FFF2-40B4-BE49-F238E27FC236}">
                <a16:creationId xmlns:a16="http://schemas.microsoft.com/office/drawing/2014/main" id="{ED0B8ABA-7904-4ED1-B3F4-5EBD975B7CE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1 Aanbod en aanbodfactoren">
            <a:extLst xmlns:a="http://schemas.openxmlformats.org/drawingml/2006/main">
              <a:ext uri="{FF2B5EF4-FFF2-40B4-BE49-F238E27FC236}">
                <a16:creationId xmlns:a16="http://schemas.microsoft.com/office/drawing/2014/main" id="{B5862559-D96B-405F-B4A9-FA2D84F57F19}"/>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§1.3.1 Aanbod en aanbodfactoren</a:t>
            </a:r>
          </a:p>
        </p:txBody>
      </p:sp>
      <p:sp>
        <p:nvSpPr>
          <p:cNvPr id="4" name="1">
            <a:extLst xmlns:a="http://schemas.openxmlformats.org/drawingml/2006/main">
              <a:ext uri="{FF2B5EF4-FFF2-40B4-BE49-F238E27FC236}">
                <a16:creationId xmlns:a16="http://schemas.microsoft.com/office/drawing/2014/main" id="{D5C06951-ADC3-411F-92BE-6E3DF0B6207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
        <p:nvSpPr>
          <p:cNvPr id="5" name="phase">
            <a:extLst xmlns:a="http://schemas.openxmlformats.org/drawingml/2006/main">
              <a:ext uri="{FF2B5EF4-FFF2-40B4-BE49-F238E27FC236}">
                <a16:creationId xmlns:a16="http://schemas.microsoft.com/office/drawing/2014/main" id="{B3800DA4-EE8B-4992-8AC7-D2E6D72B1DE8}"/>
              </a:ext>
            </a:extLst>
          </p:cNvPr>
          <p:cNvSpPr>
            <a:spLocks xmlns:a="http://schemas.openxmlformats.org/drawingml/2006/main" noGrp="1"/>
          </p:cNvSpPr>
          <p:nvPr/>
        </p:nvSpPr>
        <p:spPr>
          <a:xfrm xmlns:a="http://schemas.openxmlformats.org/drawingml/2006/main">
            <a:off x="571500" y="1066800"/>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Startopdracht</a:t>
            </a:r>
          </a:p>
        </p:txBody>
      </p:sp>
      <p:sp>
        <p:nvSpPr>
          <p:cNvPr id="6" name="Lesroute">
            <a:extLst xmlns:a="http://schemas.openxmlformats.org/drawingml/2006/main">
              <a:ext uri="{FF2B5EF4-FFF2-40B4-BE49-F238E27FC236}">
                <a16:creationId xmlns:a16="http://schemas.microsoft.com/office/drawing/2014/main" id="{C5C01E58-0071-4B4B-B7AB-4687250AEEB8}"/>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78D5B673-8B6F-4E39-BF8B-2D95982BC766}"/>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66A2BF8D-1ED6-4CC8-8DA9-D636FA431AAB}"/>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F953B127-849C-4862-B248-4576F103FE54}"/>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AC176F0C-0115-494F-9029-780CF00CB76C}"/>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A9401373-77BC-4EBD-9DF7-F9D8EEAC13D2}"/>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DF0B5458-40FD-4A30-83C2-A2C4987E3346}"/>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64617749-3B13-48E6-90EC-0B6B8EF2A10D}"/>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2BFD505D-5EB4-4261-B19F-E133B878BAF4}"/>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040E64EF-D213-4EFD-9E3B-A2149B688A5F}"/>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2A4C1C01-4655-431D-BC9F-129DA8CF3257}"/>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39085840-61FB-4ADF-AF17-97073FDD2B18}"/>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EECF7A49-F09D-4F71-98B3-120003020E11}"/>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9.</a:t>
            </a:r>
          </a:p>
        </p:txBody>
      </p:sp>
      <p:sp>
        <p:nvSpPr>
          <p:cNvPr id="19" name="route-number-7">
            <a:extLst xmlns:a="http://schemas.openxmlformats.org/drawingml/2006/main">
              <a:ext uri="{FF2B5EF4-FFF2-40B4-BE49-F238E27FC236}">
                <a16:creationId xmlns:a16="http://schemas.microsoft.com/office/drawing/2014/main" id="{EFED806D-BEEF-4EE6-BC8B-5D5A514DCB39}"/>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D0C72A89-EC16-4A2B-B2B8-AF43BD7BEB59}"/>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2DC10DDE-D348-437A-A624-EB42EC65C8E1}"/>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B7F75452-E36D-4394-AD5E-6DBCEFE824B1}"/>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Aanbod uitleggen en berekenen.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Bewegen en verschuiven onderscheiden.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Plannen en verkoop uit elkaar houden.</a:t>
            </a:r>
          </a:p>
        </p:txBody>
      </p:sp>
      <p:sp>
        <p:nvSpPr>
          <p:cNvPr id="23" name="">
            <a:extLst xmlns:a="http://schemas.openxmlformats.org/drawingml/2006/main">
              <a:ext uri="{FF2B5EF4-FFF2-40B4-BE49-F238E27FC236}">
                <a16:creationId xmlns:a16="http://schemas.microsoft.com/office/drawing/2014/main" id="{1F44241B-B667-40F1-8F8B-540300528214}"/>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EE56790B-FE84-480F-83D6-52482D3F4128}"/>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CF82E36D-D918-478B-B6D9-7D52908FB824}"/>
              </a:ext>
            </a:extLst>
          </p:cNvPr>
          <p:cNvSpPr>
            <a:spLocks xmlns:a="http://schemas.openxmlformats.org/drawingml/2006/main" noGrp="1"/>
          </p:cNvSpPr>
          <p:nvPr/>
        </p:nvSpPr>
        <p:spPr>
          <a:xfrm xmlns:a="http://schemas.openxmlformats.org/drawingml/2006/main">
            <a:off x="9258300" y="4371975"/>
            <a:ext cx="5381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Pagina 90 · Opgaven 1 en 2</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 verkennen, theorie p. 86 en 89</a:t>
            </a:r>
          </a:p>
        </p:txBody>
      </p:sp>
      <p:sp>
        <p:nvSpPr>
          <p:cNvPr id="26" name="">
            <a:extLst xmlns:a="http://schemas.openxmlformats.org/drawingml/2006/main">
              <a:ext uri="{FF2B5EF4-FFF2-40B4-BE49-F238E27FC236}">
                <a16:creationId xmlns:a16="http://schemas.microsoft.com/office/drawing/2014/main" id="{592B8E31-6E7A-4F62-9414-87C334F9459A}"/>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19427C66-3ABB-41B4-AD80-2EFD02AA1C0A}"/>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47ED54B5-E22E-4723-A49E-A90AED70104C}"/>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§1.3.1</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 4 en 5</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6, 7 en 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9</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59550822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Wat kun je na deze les?">
            <a:extLst xmlns:a="http://schemas.openxmlformats.org/drawingml/2006/main">
              <a:ext uri="{FF2B5EF4-FFF2-40B4-BE49-F238E27FC236}">
                <a16:creationId xmlns:a16="http://schemas.microsoft.com/office/drawing/2014/main" id="{16732667-48DE-4A8E-A68A-B7A3E2A6671A}"/>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Wat kun je na deze les?</a:t>
            </a:r>
          </a:p>
        </p:txBody>
      </p:sp>
      <p:sp>
        <p:nvSpPr>
          <p:cNvPr id="2" name="">
            <a:extLst xmlns:a="http://schemas.openxmlformats.org/drawingml/2006/main">
              <a:ext uri="{FF2B5EF4-FFF2-40B4-BE49-F238E27FC236}">
                <a16:creationId xmlns:a16="http://schemas.microsoft.com/office/drawing/2014/main" id="{BCA296E5-7CD7-4BC6-8194-8B8A43EEDA0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1 Aanbod en aanbodfactoren">
            <a:extLst xmlns:a="http://schemas.openxmlformats.org/drawingml/2006/main">
              <a:ext uri="{FF2B5EF4-FFF2-40B4-BE49-F238E27FC236}">
                <a16:creationId xmlns:a16="http://schemas.microsoft.com/office/drawing/2014/main" id="{CAD33509-8183-4DAF-8742-8DC23C34A014}"/>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§1.3.1 Aanbod en aanbodfactoren</a:t>
            </a:r>
          </a:p>
        </p:txBody>
      </p:sp>
      <p:sp>
        <p:nvSpPr>
          <p:cNvPr id="4" name="2">
            <a:extLst xmlns:a="http://schemas.openxmlformats.org/drawingml/2006/main">
              <a:ext uri="{FF2B5EF4-FFF2-40B4-BE49-F238E27FC236}">
                <a16:creationId xmlns:a16="http://schemas.microsoft.com/office/drawing/2014/main" id="{17323B09-5CDB-4892-BEF0-1B907C8C8C1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sp>
        <p:nvSpPr>
          <p:cNvPr id="5" name="Aanbod uitleggen">
            <a:extLst xmlns:a="http://schemas.openxmlformats.org/drawingml/2006/main">
              <a:ext uri="{FF2B5EF4-FFF2-40B4-BE49-F238E27FC236}">
                <a16:creationId xmlns:a16="http://schemas.microsoft.com/office/drawing/2014/main" id="{4B885332-72B8-4330-8FC3-26C5089E4C58}"/>
              </a:ext>
            </a:extLst>
          </p:cNvPr>
          <p:cNvSpPr>
            <a:spLocks xmlns:a="http://schemas.openxmlformats.org/drawingml/2006/main" noGrp="1"/>
          </p:cNvSpPr>
          <p:nvPr/>
        </p:nvSpPr>
        <p:spPr>
          <a:xfrm xmlns:a="http://schemas.openxmlformats.org/drawingml/2006/main">
            <a:off x="571500" y="1981200"/>
            <a:ext cx="561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Aanbod uitleggen</a:t>
            </a:r>
          </a:p>
        </p:txBody>
      </p:sp>
      <p:sp>
        <p:nvSpPr>
          <p:cNvPr id="6" name="Willen én kunnen aanbieden bij een prijs.">
            <a:extLst xmlns:a="http://schemas.openxmlformats.org/drawingml/2006/main">
              <a:ext uri="{FF2B5EF4-FFF2-40B4-BE49-F238E27FC236}">
                <a16:creationId xmlns:a16="http://schemas.microsoft.com/office/drawing/2014/main" id="{4BD1E2E7-00CA-4B83-B0B6-0BD3CF7EFA98}"/>
              </a:ext>
            </a:extLst>
          </p:cNvPr>
          <p:cNvSpPr>
            <a:spLocks xmlns:a="http://schemas.openxmlformats.org/drawingml/2006/main" noGrp="1"/>
          </p:cNvSpPr>
          <p:nvPr/>
        </p:nvSpPr>
        <p:spPr>
          <a:xfrm xmlns:a="http://schemas.openxmlformats.org/drawingml/2006/main">
            <a:off x="6762750" y="1981200"/>
            <a:ext cx="7905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Willen én kunnen aanbieden bij een prijs.</a:t>
            </a:r>
          </a:p>
        </p:txBody>
      </p:sp>
      <p:sp>
        <p:nvSpPr>
          <p:cNvPr id="7" name="">
            <a:extLst xmlns:a="http://schemas.openxmlformats.org/drawingml/2006/main">
              <a:ext uri="{FF2B5EF4-FFF2-40B4-BE49-F238E27FC236}">
                <a16:creationId xmlns:a16="http://schemas.microsoft.com/office/drawing/2014/main" id="{757C5838-B5FB-4FC7-B1EB-063135A572C0}"/>
              </a:ext>
            </a:extLst>
          </p:cNvPr>
          <p:cNvSpPr>
            <a:spLocks xmlns:a="http://schemas.openxmlformats.org/drawingml/2006/main" noGrp="1"/>
          </p:cNvSpPr>
          <p:nvPr/>
        </p:nvSpPr>
        <p:spPr>
          <a:xfrm xmlns:a="http://schemas.openxmlformats.org/drawingml/2006/main">
            <a:off x="571500" y="3095625"/>
            <a:ext cx="14097000" cy="0"/>
          </a:xfrm>
          <a:prstGeom xmlns:a="http://schemas.openxmlformats.org/drawingml/2006/main" prst="line">
            <a:avLst/>
          </a:prstGeom>
          <a:ln xmlns:a="http://schemas.openxmlformats.org/drawingml/2006/main" w="19050">
            <a:solidFill>
              <a:srgbClr val="C6D2DB"/>
            </a:solidFill>
          </a:ln>
        </p:spPr>
      </p:sp>
      <p:sp>
        <p:nvSpPr>
          <p:cNvPr id="8" name="Met een functie rekenen">
            <a:extLst xmlns:a="http://schemas.openxmlformats.org/drawingml/2006/main">
              <a:ext uri="{FF2B5EF4-FFF2-40B4-BE49-F238E27FC236}">
                <a16:creationId xmlns:a16="http://schemas.microsoft.com/office/drawing/2014/main" id="{67D53AC5-EBDA-4878-9B90-E29ACC5EC9D0}"/>
              </a:ext>
            </a:extLst>
          </p:cNvPr>
          <p:cNvSpPr>
            <a:spLocks xmlns:a="http://schemas.openxmlformats.org/drawingml/2006/main" noGrp="1"/>
          </p:cNvSpPr>
          <p:nvPr/>
        </p:nvSpPr>
        <p:spPr>
          <a:xfrm xmlns:a="http://schemas.openxmlformats.org/drawingml/2006/main">
            <a:off x="571500" y="3362325"/>
            <a:ext cx="561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Met een functie rekenen</a:t>
            </a:r>
          </a:p>
        </p:txBody>
      </p:sp>
      <p:sp>
        <p:nvSpPr>
          <p:cNvPr id="9" name="Hoeveelheid, prijs en eenheden controleren.">
            <a:extLst xmlns:a="http://schemas.openxmlformats.org/drawingml/2006/main">
              <a:ext uri="{FF2B5EF4-FFF2-40B4-BE49-F238E27FC236}">
                <a16:creationId xmlns:a16="http://schemas.microsoft.com/office/drawing/2014/main" id="{F4CBC7B7-0BA4-4332-8B7C-87F85FE2046E}"/>
              </a:ext>
            </a:extLst>
          </p:cNvPr>
          <p:cNvSpPr>
            <a:spLocks xmlns:a="http://schemas.openxmlformats.org/drawingml/2006/main" noGrp="1"/>
          </p:cNvSpPr>
          <p:nvPr/>
        </p:nvSpPr>
        <p:spPr>
          <a:xfrm xmlns:a="http://schemas.openxmlformats.org/drawingml/2006/main">
            <a:off x="6762750" y="3362325"/>
            <a:ext cx="7905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Hoeveelheid, prijs en eenheden controleren.</a:t>
            </a:r>
          </a:p>
        </p:txBody>
      </p:sp>
      <p:sp>
        <p:nvSpPr>
          <p:cNvPr id="10" name="">
            <a:extLst xmlns:a="http://schemas.openxmlformats.org/drawingml/2006/main">
              <a:ext uri="{FF2B5EF4-FFF2-40B4-BE49-F238E27FC236}">
                <a16:creationId xmlns:a16="http://schemas.microsoft.com/office/drawing/2014/main" id="{90E4CEF1-341A-4382-B5A7-445B6C1D1711}"/>
              </a:ext>
            </a:extLst>
          </p:cNvPr>
          <p:cNvSpPr>
            <a:spLocks xmlns:a="http://schemas.openxmlformats.org/drawingml/2006/main" noGrp="1"/>
          </p:cNvSpPr>
          <p:nvPr/>
        </p:nvSpPr>
        <p:spPr>
          <a:xfrm xmlns:a="http://schemas.openxmlformats.org/drawingml/2006/main">
            <a:off x="571500" y="4476750"/>
            <a:ext cx="14097000" cy="0"/>
          </a:xfrm>
          <a:prstGeom xmlns:a="http://schemas.openxmlformats.org/drawingml/2006/main" prst="line">
            <a:avLst/>
          </a:prstGeom>
          <a:ln xmlns:a="http://schemas.openxmlformats.org/drawingml/2006/main" w="19050">
            <a:solidFill>
              <a:srgbClr val="C6D2DB"/>
            </a:solidFill>
          </a:ln>
        </p:spPr>
      </p:sp>
      <p:sp>
        <p:nvSpPr>
          <p:cNvPr id="11" name="Een verandering verklaren">
            <a:extLst xmlns:a="http://schemas.openxmlformats.org/drawingml/2006/main">
              <a:ext uri="{FF2B5EF4-FFF2-40B4-BE49-F238E27FC236}">
                <a16:creationId xmlns:a16="http://schemas.microsoft.com/office/drawing/2014/main" id="{354E40DD-5EC3-4EA4-BF95-4DAE511E2EA1}"/>
              </a:ext>
            </a:extLst>
          </p:cNvPr>
          <p:cNvSpPr>
            <a:spLocks xmlns:a="http://schemas.openxmlformats.org/drawingml/2006/main" noGrp="1"/>
          </p:cNvSpPr>
          <p:nvPr/>
        </p:nvSpPr>
        <p:spPr>
          <a:xfrm xmlns:a="http://schemas.openxmlformats.org/drawingml/2006/main">
            <a:off x="571500" y="4743450"/>
            <a:ext cx="561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Een verandering verklaren</a:t>
            </a:r>
          </a:p>
        </p:txBody>
      </p:sp>
      <p:sp>
        <p:nvSpPr>
          <p:cNvPr id="12" name="Eigen verkoopprijs of een aanbodfactor?">
            <a:extLst xmlns:a="http://schemas.openxmlformats.org/drawingml/2006/main">
              <a:ext uri="{FF2B5EF4-FFF2-40B4-BE49-F238E27FC236}">
                <a16:creationId xmlns:a16="http://schemas.microsoft.com/office/drawing/2014/main" id="{A319D4F2-6FCE-4EEA-B7E0-E00F9E3CCB4C}"/>
              </a:ext>
            </a:extLst>
          </p:cNvPr>
          <p:cNvSpPr>
            <a:spLocks xmlns:a="http://schemas.openxmlformats.org/drawingml/2006/main" noGrp="1"/>
          </p:cNvSpPr>
          <p:nvPr/>
        </p:nvSpPr>
        <p:spPr>
          <a:xfrm xmlns:a="http://schemas.openxmlformats.org/drawingml/2006/main">
            <a:off x="6762750" y="4743450"/>
            <a:ext cx="7905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Eigen verkoopprijs of een aanbodfactor?</a:t>
            </a:r>
          </a:p>
        </p:txBody>
      </p:sp>
      <p:sp>
        <p:nvSpPr>
          <p:cNvPr id="13" name="">
            <a:extLst xmlns:a="http://schemas.openxmlformats.org/drawingml/2006/main">
              <a:ext uri="{FF2B5EF4-FFF2-40B4-BE49-F238E27FC236}">
                <a16:creationId xmlns:a16="http://schemas.microsoft.com/office/drawing/2014/main" id="{612482BF-CFBE-4CF3-B979-E195CEAB8613}"/>
              </a:ext>
            </a:extLst>
          </p:cNvPr>
          <p:cNvSpPr>
            <a:spLocks xmlns:a="http://schemas.openxmlformats.org/drawingml/2006/main" noGrp="1"/>
          </p:cNvSpPr>
          <p:nvPr/>
        </p:nvSpPr>
        <p:spPr>
          <a:xfrm xmlns:a="http://schemas.openxmlformats.org/drawingml/2006/main">
            <a:off x="571500" y="5857875"/>
            <a:ext cx="14097000" cy="0"/>
          </a:xfrm>
          <a:prstGeom xmlns:a="http://schemas.openxmlformats.org/drawingml/2006/main" prst="line">
            <a:avLst/>
          </a:prstGeom>
          <a:ln xmlns:a="http://schemas.openxmlformats.org/drawingml/2006/main" w="19050">
            <a:solidFill>
              <a:srgbClr val="C6D2DB"/>
            </a:solidFill>
          </a:ln>
        </p:spPr>
      </p:sp>
      <p:sp>
        <p:nvSpPr>
          <p:cNvPr id="14" name="Een grafiek aanvullen">
            <a:extLst xmlns:a="http://schemas.openxmlformats.org/drawingml/2006/main">
              <a:ext uri="{FF2B5EF4-FFF2-40B4-BE49-F238E27FC236}">
                <a16:creationId xmlns:a16="http://schemas.microsoft.com/office/drawing/2014/main" id="{C5553BB6-3D6E-4A7B-95D3-713C2AB92345}"/>
              </a:ext>
            </a:extLst>
          </p:cNvPr>
          <p:cNvSpPr>
            <a:spLocks xmlns:a="http://schemas.openxmlformats.org/drawingml/2006/main" noGrp="1"/>
          </p:cNvSpPr>
          <p:nvPr/>
        </p:nvSpPr>
        <p:spPr>
          <a:xfrm xmlns:a="http://schemas.openxmlformats.org/drawingml/2006/main">
            <a:off x="571500" y="6124575"/>
            <a:ext cx="561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Een grafiek aanvullen</a:t>
            </a:r>
          </a:p>
        </p:txBody>
      </p:sp>
      <p:sp>
        <p:nvSpPr>
          <p:cNvPr id="15" name="De nieuwe lijn en de juiste punten tekenen.">
            <a:extLst xmlns:a="http://schemas.openxmlformats.org/drawingml/2006/main">
              <a:ext uri="{FF2B5EF4-FFF2-40B4-BE49-F238E27FC236}">
                <a16:creationId xmlns:a16="http://schemas.microsoft.com/office/drawing/2014/main" id="{03C32CC5-C38F-45B2-9FE1-3393D5DD03B8}"/>
              </a:ext>
            </a:extLst>
          </p:cNvPr>
          <p:cNvSpPr>
            <a:spLocks xmlns:a="http://schemas.openxmlformats.org/drawingml/2006/main" noGrp="1"/>
          </p:cNvSpPr>
          <p:nvPr/>
        </p:nvSpPr>
        <p:spPr>
          <a:xfrm xmlns:a="http://schemas.openxmlformats.org/drawingml/2006/main">
            <a:off x="6762750" y="6124575"/>
            <a:ext cx="7905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De nieuwe lijn en de juiste punten tekenen.</a:t>
            </a:r>
          </a:p>
        </p:txBody>
      </p:sp>
    </p:spTree>
    <p:extLst>
      <p:ext uri="{BB962C8B-B14F-4D97-AF65-F5344CB8AC3E}">
        <p14:creationId xmlns:p14="http://schemas.microsoft.com/office/powerpoint/2010/main" val="208293416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anbodplan, voorraad en verkoop">
            <a:extLst xmlns:a="http://schemas.openxmlformats.org/drawingml/2006/main">
              <a:ext uri="{FF2B5EF4-FFF2-40B4-BE49-F238E27FC236}">
                <a16:creationId xmlns:a16="http://schemas.microsoft.com/office/drawing/2014/main" id="{ECC3B33D-66A0-4DF5-8967-0D8474FF588D}"/>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Aanbodplan, voorraad en verkoop</a:t>
            </a:r>
          </a:p>
        </p:txBody>
      </p:sp>
      <p:sp>
        <p:nvSpPr>
          <p:cNvPr id="2" name="">
            <a:extLst xmlns:a="http://schemas.openxmlformats.org/drawingml/2006/main">
              <a:ext uri="{FF2B5EF4-FFF2-40B4-BE49-F238E27FC236}">
                <a16:creationId xmlns:a16="http://schemas.microsoft.com/office/drawing/2014/main" id="{BC72EB9A-285E-4572-9E5D-E010081F3A1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1 Aanbod en aanbodfactoren">
            <a:extLst xmlns:a="http://schemas.openxmlformats.org/drawingml/2006/main">
              <a:ext uri="{FF2B5EF4-FFF2-40B4-BE49-F238E27FC236}">
                <a16:creationId xmlns:a16="http://schemas.microsoft.com/office/drawing/2014/main" id="{E951246D-9497-459D-B09E-D11B0181C069}"/>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§1.3.1 Aanbod en aanbodfactoren</a:t>
            </a:r>
          </a:p>
        </p:txBody>
      </p:sp>
      <p:sp>
        <p:nvSpPr>
          <p:cNvPr id="4" name="3">
            <a:extLst xmlns:a="http://schemas.openxmlformats.org/drawingml/2006/main">
              <a:ext uri="{FF2B5EF4-FFF2-40B4-BE49-F238E27FC236}">
                <a16:creationId xmlns:a16="http://schemas.microsoft.com/office/drawing/2014/main" id="{9BD09B2B-8A86-405A-89FE-FC6B0E9EE63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sp>
        <p:nvSpPr>
          <p:cNvPr id="5" name="Uitlegvoorbeeld — niet uit het boek">
            <a:extLst xmlns:a="http://schemas.openxmlformats.org/drawingml/2006/main">
              <a:ext uri="{FF2B5EF4-FFF2-40B4-BE49-F238E27FC236}">
                <a16:creationId xmlns:a16="http://schemas.microsoft.com/office/drawing/2014/main" id="{815D82ED-1B92-492D-8F07-923221719276}"/>
              </a:ext>
            </a:extLst>
          </p:cNvPr>
          <p:cNvSpPr>
            <a:spLocks xmlns:a="http://schemas.openxmlformats.org/drawingml/2006/main" noGrp="1"/>
          </p:cNvSpPr>
          <p:nvPr/>
        </p:nvSpPr>
        <p:spPr>
          <a:xfrm xmlns:a="http://schemas.openxmlformats.org/drawingml/2006/main">
            <a:off x="571500" y="169545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658A"/>
                </a:solidFill>
                <a:latin typeface="Arial"/>
                <a:ea typeface="Arial"/>
                <a:cs typeface="Arial"/>
              </a:defRPr>
            </a:pPr>
            <a:r>
              <a:rPr sz="2175" b="1">
                <a:solidFill>
                  <a:srgbClr val="17658A"/>
                </a:solidFill>
                <a:latin typeface="Arial"/>
                <a:ea typeface="Arial"/>
                <a:cs typeface="Arial"/>
              </a:rPr>
              <a:t>Uitlegvoorbeeld — niet uit het boek</a:t>
            </a:r>
          </a:p>
        </p:txBody>
      </p:sp>
      <p:sp>
        <p:nvSpPr>
          <p:cNvPr id="6" name="Houtwerk maakt houten telefoonhouders.">
            <a:extLst xmlns:a="http://schemas.openxmlformats.org/drawingml/2006/main">
              <a:ext uri="{FF2B5EF4-FFF2-40B4-BE49-F238E27FC236}">
                <a16:creationId xmlns:a16="http://schemas.microsoft.com/office/drawing/2014/main" id="{87E5AABA-956E-416E-9DB2-E7096652360B}"/>
              </a:ext>
            </a:extLst>
          </p:cNvPr>
          <p:cNvSpPr>
            <a:spLocks xmlns:a="http://schemas.openxmlformats.org/drawingml/2006/main" noGrp="1"/>
          </p:cNvSpPr>
          <p:nvPr/>
        </p:nvSpPr>
        <p:spPr>
          <a:xfrm xmlns:a="http://schemas.openxmlformats.org/drawingml/2006/main">
            <a:off x="571500" y="23622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Houtwerk maakt houten telefoonhouders.</a:t>
            </a:r>
          </a:p>
        </p:txBody>
      </p:sp>
      <p:graphicFrame>
        <p:nvGraphicFramePr>
          <p:cNvPr id="15" name=""/>
          <p:cNvGraphicFramePr/>
          <p:nvPr/>
        </p:nvGraphicFramePr>
        <p:xfrm>
          <a:off xmlns:a="http://schemas.openxmlformats.org/drawingml/2006/main" x="571500" y="3381375"/>
          <a:ext xmlns:a="http://schemas.openxmlformats.org/drawingml/2006/main" cx="14097000" cy="3381375"/>
        </p:xfrm>
        <a:graphic xmlns:a="http://schemas.openxmlformats.org/drawingml/2006/main">
          <a:graphicData uri="http://schemas.openxmlformats.org/drawingml/2006/table">
            <a:tbl>
              <a:tblPr/>
              <a:tblGrid>
                <a:gridCol w="6381750"/>
                <a:gridCol w="7715250"/>
              </a:tblGrid>
              <a:tr h="845344">
                <a:tc>
                  <a:txBody>
                    <a:bodyPr lIns="171450" tIns="95250" rIns="152400" bIns="95250"/>
                    <a:lstStyle/>
                    <a:p>
                      <a:r>
                        <a:rPr sz="2550" b="1">
                          <a:solidFill>
                            <a:srgbClr val="FFFFFF"/>
                          </a:solidFill>
                          <a:latin typeface="Arial"/>
                          <a:ea typeface="Arial"/>
                          <a:cs typeface="Arial"/>
                        </a:rPr>
                        <a:t>Wat beschrijft het getal?</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In dit voorbeeld</a:t>
                      </a:r>
                    </a:p>
                  </a:txBody>
                  <a:tcPr marL="91440" marR="91440" marT="45720" marB="45720" anchor="ctr">
                    <a:solidFill>
                      <a:srgbClr val="183247"/>
                    </a:solidFill>
                  </a:tcPr>
                </a:tc>
              </a:tr>
              <a:tr h="845344">
                <a:tc>
                  <a:txBody>
                    <a:bodyPr lIns="171450" tIns="95250" rIns="152400" bIns="95250"/>
                    <a:lstStyle/>
                    <a:p>
                      <a:r>
                        <a:rPr sz="2550" b="0">
                          <a:solidFill>
                            <a:srgbClr val="183247"/>
                          </a:solidFill>
                          <a:latin typeface="Arial"/>
                          <a:ea typeface="Arial"/>
                          <a:cs typeface="Arial"/>
                        </a:rPr>
                        <a:t>Voorraad op dit moment</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20 houders staan klaar.</a:t>
                      </a:r>
                    </a:p>
                  </a:txBody>
                  <a:tcPr marL="91440" marR="91440" marT="45720" marB="45720" anchor="ctr">
                    <a:solidFill>
                      <a:srgbClr val="FFFFFF"/>
                    </a:solidFill>
                  </a:tcPr>
                </a:tc>
              </a:tr>
              <a:tr h="845344">
                <a:tc>
                  <a:txBody>
                    <a:bodyPr lIns="171450" tIns="95250" rIns="152400" bIns="95250"/>
                    <a:lstStyle/>
                    <a:p>
                      <a:r>
                        <a:rPr sz="2550" b="0">
                          <a:solidFill>
                            <a:srgbClr val="183247"/>
                          </a:solidFill>
                          <a:latin typeface="Arial"/>
                          <a:ea typeface="Arial"/>
                          <a:cs typeface="Arial"/>
                        </a:rPr>
                        <a:t>Aanbodplan bij € 8 per houder</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12 houders per week willen én kunnen leveren.</a:t>
                      </a:r>
                    </a:p>
                  </a:txBody>
                  <a:tcPr marL="91440" marR="91440" marT="45720" marB="45720" anchor="ctr">
                    <a:solidFill>
                      <a:srgbClr val="EFF4F7"/>
                    </a:solidFill>
                  </a:tcPr>
                </a:tc>
              </a:tr>
              <a:tr h="845344">
                <a:tc>
                  <a:txBody>
                    <a:bodyPr lIns="171450" tIns="95250" rIns="152400" bIns="95250"/>
                    <a:lstStyle/>
                    <a:p>
                      <a:r>
                        <a:rPr sz="2550" b="0">
                          <a:solidFill>
                            <a:srgbClr val="183247"/>
                          </a:solidFill>
                          <a:latin typeface="Arial"/>
                          <a:ea typeface="Arial"/>
                          <a:cs typeface="Arial"/>
                        </a:rPr>
                        <a:t>Werkelijke verkoop deze week</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7 houders gekocht door klanten.</a:t>
                      </a:r>
                    </a:p>
                  </a:txBody>
                  <a:tcPr marL="91440" marR="91440" marT="45720" marB="45720" anchor="ctr">
                    <a:solidFill>
                      <a:srgbClr val="FFFFFF"/>
                    </a:solidFill>
                  </a:tcPr>
                </a:tc>
              </a:tr>
            </a:tbl>
          </a:graphicData>
        </a:graphic>
      </p:graphicFrame>
      <p:sp>
        <p:nvSpPr>
          <p:cNvPr id="8" name="Aanbod vergelijkt zulke plannen bij verschillende prijzen.">
            <a:extLst xmlns:a="http://schemas.openxmlformats.org/drawingml/2006/main">
              <a:ext uri="{FF2B5EF4-FFF2-40B4-BE49-F238E27FC236}">
                <a16:creationId xmlns:a16="http://schemas.microsoft.com/office/drawing/2014/main" id="{88EE477E-FD90-4C49-B0EC-03B0F918E0B9}"/>
              </a:ext>
            </a:extLst>
          </p:cNvPr>
          <p:cNvSpPr>
            <a:spLocks xmlns:a="http://schemas.openxmlformats.org/drawingml/2006/main" noGrp="1"/>
          </p:cNvSpPr>
          <p:nvPr/>
        </p:nvSpPr>
        <p:spPr>
          <a:xfrm xmlns:a="http://schemas.openxmlformats.org/drawingml/2006/main">
            <a:off x="571500" y="7334250"/>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20665B"/>
                </a:solidFill>
                <a:latin typeface="Arial"/>
                <a:ea typeface="Arial"/>
                <a:cs typeface="Arial"/>
              </a:defRPr>
            </a:pPr>
            <a:r>
              <a:rPr sz="2850" b="1">
                <a:solidFill>
                  <a:srgbClr val="20665B"/>
                </a:solidFill>
                <a:latin typeface="Arial"/>
                <a:ea typeface="Arial"/>
                <a:cs typeface="Arial"/>
              </a:rPr>
              <a:t>Aanbod vergelijkt zulke plannen bij verschillende prijzen.</a:t>
            </a:r>
          </a:p>
        </p:txBody>
      </p:sp>
    </p:spTree>
    <p:extLst>
      <p:ext uri="{BB962C8B-B14F-4D97-AF65-F5344CB8AC3E}">
        <p14:creationId xmlns:p14="http://schemas.microsoft.com/office/powerpoint/2010/main" val="5803436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Dezelfde aanbodplannen in een formule">
            <a:extLst xmlns:a="http://schemas.openxmlformats.org/drawingml/2006/main">
              <a:ext uri="{FF2B5EF4-FFF2-40B4-BE49-F238E27FC236}">
                <a16:creationId xmlns:a16="http://schemas.microsoft.com/office/drawing/2014/main" id="{7355CEC9-BFA9-4FF5-9745-D599D8E6C371}"/>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Dezelfde aanbodplannen in een formule</a:t>
            </a:r>
          </a:p>
        </p:txBody>
      </p:sp>
      <p:sp>
        <p:nvSpPr>
          <p:cNvPr id="2" name="">
            <a:extLst xmlns:a="http://schemas.openxmlformats.org/drawingml/2006/main">
              <a:ext uri="{FF2B5EF4-FFF2-40B4-BE49-F238E27FC236}">
                <a16:creationId xmlns:a16="http://schemas.microsoft.com/office/drawing/2014/main" id="{F109C314-896C-41E4-83DE-4D0740EEE71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1 Aanbod en aanbodfactoren">
            <a:extLst xmlns:a="http://schemas.openxmlformats.org/drawingml/2006/main">
              <a:ext uri="{FF2B5EF4-FFF2-40B4-BE49-F238E27FC236}">
                <a16:creationId xmlns:a16="http://schemas.microsoft.com/office/drawing/2014/main" id="{7FC07E79-4AF0-4FE5-B502-D4753E36AC3C}"/>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§1.3.1 Aanbod en aanbodfactoren</a:t>
            </a:r>
          </a:p>
        </p:txBody>
      </p:sp>
      <p:sp>
        <p:nvSpPr>
          <p:cNvPr id="4" name="4">
            <a:extLst xmlns:a="http://schemas.openxmlformats.org/drawingml/2006/main">
              <a:ext uri="{FF2B5EF4-FFF2-40B4-BE49-F238E27FC236}">
                <a16:creationId xmlns:a16="http://schemas.microsoft.com/office/drawing/2014/main" id="{C4A56095-1B71-48A4-B65F-808F0C5EF19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sp>
        <p:nvSpPr>
          <p:cNvPr id="5" name="Uitlegvoorbeeld — niet uit het boek">
            <a:extLst xmlns:a="http://schemas.openxmlformats.org/drawingml/2006/main">
              <a:ext uri="{FF2B5EF4-FFF2-40B4-BE49-F238E27FC236}">
                <a16:creationId xmlns:a16="http://schemas.microsoft.com/office/drawing/2014/main" id="{8ACA1DD0-F374-4C2C-9899-D9A742299E66}"/>
              </a:ext>
            </a:extLst>
          </p:cNvPr>
          <p:cNvSpPr>
            <a:spLocks xmlns:a="http://schemas.openxmlformats.org/drawingml/2006/main" noGrp="1"/>
          </p:cNvSpPr>
          <p:nvPr/>
        </p:nvSpPr>
        <p:spPr>
          <a:xfrm xmlns:a="http://schemas.openxmlformats.org/drawingml/2006/main">
            <a:off x="571500" y="169545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658A"/>
                </a:solidFill>
                <a:latin typeface="Arial"/>
                <a:ea typeface="Arial"/>
                <a:cs typeface="Arial"/>
              </a:defRPr>
            </a:pPr>
            <a:r>
              <a:rPr sz="2175" b="1">
                <a:solidFill>
                  <a:srgbClr val="17658A"/>
                </a:solidFill>
                <a:latin typeface="Arial"/>
                <a:ea typeface="Arial"/>
                <a:cs typeface="Arial"/>
              </a:rPr>
              <a:t>Uitlegvoorbeeld — niet uit het boek</a:t>
            </a:r>
          </a:p>
        </p:txBody>
      </p:sp>
      <p:sp>
        <p:nvSpPr>
          <p:cNvPr id="6" name="Houtwerk: q = 3P − 12">
            <a:extLst xmlns:a="http://schemas.openxmlformats.org/drawingml/2006/main">
              <a:ext uri="{FF2B5EF4-FFF2-40B4-BE49-F238E27FC236}">
                <a16:creationId xmlns:a16="http://schemas.microsoft.com/office/drawing/2014/main" id="{B3F58F9D-D5DF-42C1-8A34-D1B98F33B29A}"/>
              </a:ext>
            </a:extLst>
          </p:cNvPr>
          <p:cNvSpPr>
            <a:spLocks xmlns:a="http://schemas.openxmlformats.org/drawingml/2006/main" noGrp="1"/>
          </p:cNvSpPr>
          <p:nvPr/>
        </p:nvSpPr>
        <p:spPr>
          <a:xfrm xmlns:a="http://schemas.openxmlformats.org/drawingml/2006/main">
            <a:off x="571500" y="2352675"/>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0665B"/>
                </a:solidFill>
                <a:latin typeface="Arial"/>
                <a:ea typeface="Arial"/>
                <a:cs typeface="Arial"/>
              </a:defRPr>
            </a:pPr>
            <a:r>
              <a:rPr sz="3600" b="1">
                <a:solidFill>
                  <a:srgbClr val="20665B"/>
                </a:solidFill>
                <a:latin typeface="Arial"/>
                <a:ea typeface="Arial"/>
                <a:cs typeface="Arial"/>
              </a:rPr>
              <a:t>Houtwerk: q = 3P − 12</a:t>
            </a:r>
          </a:p>
        </p:txBody>
      </p:sp>
      <p:sp>
        <p:nvSpPr>
          <p:cNvPr id="7" name="q: houders per week     P: euro per houder     4 ≤ P ≤ 16">
            <a:extLst xmlns:a="http://schemas.openxmlformats.org/drawingml/2006/main">
              <a:ext uri="{FF2B5EF4-FFF2-40B4-BE49-F238E27FC236}">
                <a16:creationId xmlns:a16="http://schemas.microsoft.com/office/drawing/2014/main" id="{23222B79-AA2E-49AA-B885-D9E6D407B8D2}"/>
              </a:ext>
            </a:extLst>
          </p:cNvPr>
          <p:cNvSpPr>
            <a:spLocks xmlns:a="http://schemas.openxmlformats.org/drawingml/2006/main" noGrp="1"/>
          </p:cNvSpPr>
          <p:nvPr/>
        </p:nvSpPr>
        <p:spPr>
          <a:xfrm xmlns:a="http://schemas.openxmlformats.org/drawingml/2006/main">
            <a:off x="571500" y="319087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q: houders per week     P: euro per houder     4 ≤ P ≤ 16</a:t>
            </a:r>
          </a:p>
        </p:txBody>
      </p:sp>
      <p:graphicFrame>
        <p:nvGraphicFramePr>
          <p:cNvPr id="18" name=""/>
          <p:cNvGraphicFramePr/>
          <p:nvPr/>
        </p:nvGraphicFramePr>
        <p:xfrm>
          <a:off xmlns:a="http://schemas.openxmlformats.org/drawingml/2006/main" x="571500" y="4124325"/>
          <a:ext xmlns:a="http://schemas.openxmlformats.org/drawingml/2006/main" cx="14097000" cy="1866900"/>
        </p:xfrm>
        <a:graphic xmlns:a="http://schemas.openxmlformats.org/drawingml/2006/main">
          <a:graphicData uri="http://schemas.openxmlformats.org/drawingml/2006/table">
            <a:tbl>
              <a:tblPr/>
              <a:tblGrid>
                <a:gridCol w="5334000"/>
                <a:gridCol w="2190750"/>
                <a:gridCol w="2190750"/>
                <a:gridCol w="2190750"/>
                <a:gridCol w="2190750"/>
              </a:tblGrid>
              <a:tr h="933450">
                <a:tc>
                  <a:txBody>
                    <a:bodyPr lIns="171450" tIns="95250" rIns="152400" bIns="95250"/>
                    <a:lstStyle/>
                    <a:p>
                      <a:r>
                        <a:rPr sz="2625" b="1">
                          <a:solidFill>
                            <a:srgbClr val="FFFFFF"/>
                          </a:solidFill>
                          <a:latin typeface="Arial"/>
                          <a:ea typeface="Arial"/>
                          <a:cs typeface="Arial"/>
                        </a:rPr>
                        <a:t>P (€ per houder)</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4</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8</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12</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16</a:t>
                      </a:r>
                    </a:p>
                  </a:txBody>
                  <a:tcPr marL="91440" marR="91440" marT="45720" marB="45720" anchor="ctr">
                    <a:solidFill>
                      <a:srgbClr val="183247"/>
                    </a:solidFill>
                  </a:tcPr>
                </a:tc>
              </a:tr>
              <a:tr h="933450">
                <a:tc>
                  <a:txBody>
                    <a:bodyPr lIns="171450" tIns="95250" rIns="152400" bIns="95250"/>
                    <a:lstStyle/>
                    <a:p>
                      <a:r>
                        <a:rPr sz="2625" b="0">
                          <a:solidFill>
                            <a:srgbClr val="183247"/>
                          </a:solidFill>
                          <a:latin typeface="Arial"/>
                          <a:ea typeface="Arial"/>
                          <a:cs typeface="Arial"/>
                        </a:rPr>
                        <a:t>q (houders per week)</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0</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12</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24</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36</a:t>
                      </a:r>
                    </a:p>
                  </a:txBody>
                  <a:tcPr marL="91440" marR="91440" marT="45720" marB="45720" anchor="ctr">
                    <a:solidFill>
                      <a:srgbClr val="FFFFFF"/>
                    </a:solidFill>
                  </a:tcPr>
                </a:tc>
              </a:tr>
            </a:tbl>
          </a:graphicData>
        </a:graphic>
      </p:graphicFrame>
      <p:sp>
        <p:nvSpPr>
          <p:cNvPr id="9" name="Bij € 8: q = 3 × 8 − 12 = 12 houders per week">
            <a:extLst xmlns:a="http://schemas.openxmlformats.org/drawingml/2006/main">
              <a:ext uri="{FF2B5EF4-FFF2-40B4-BE49-F238E27FC236}">
                <a16:creationId xmlns:a16="http://schemas.microsoft.com/office/drawing/2014/main" id="{F36A2BFD-ABE2-4645-A8DD-D8139CFBF89C}"/>
              </a:ext>
            </a:extLst>
          </p:cNvPr>
          <p:cNvSpPr>
            <a:spLocks xmlns:a="http://schemas.openxmlformats.org/drawingml/2006/main" noGrp="1"/>
          </p:cNvSpPr>
          <p:nvPr/>
        </p:nvSpPr>
        <p:spPr>
          <a:xfrm xmlns:a="http://schemas.openxmlformats.org/drawingml/2006/main">
            <a:off x="571500" y="6477000"/>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83247"/>
                </a:solidFill>
                <a:latin typeface="Arial"/>
                <a:ea typeface="Arial"/>
                <a:cs typeface="Arial"/>
              </a:defRPr>
            </a:pPr>
            <a:r>
              <a:rPr sz="3075" b="1">
                <a:solidFill>
                  <a:srgbClr val="183247"/>
                </a:solidFill>
                <a:latin typeface="Arial"/>
                <a:ea typeface="Arial"/>
                <a:cs typeface="Arial"/>
              </a:rPr>
              <a:t>Bij € 8: q = 3 × 8 − 12 = 12 houders per week</a:t>
            </a:r>
          </a:p>
        </p:txBody>
      </p:sp>
      <p:sp>
        <p:nvSpPr>
          <p:cNvPr id="10" name="Houtprijs, techniek en beschikbare werktijd blijven gelijk.">
            <a:extLst xmlns:a="http://schemas.openxmlformats.org/drawingml/2006/main">
              <a:ext uri="{FF2B5EF4-FFF2-40B4-BE49-F238E27FC236}">
                <a16:creationId xmlns:a16="http://schemas.microsoft.com/office/drawing/2014/main" id="{209716A1-A1A1-446C-BBDF-5F0969A4568A}"/>
              </a:ext>
            </a:extLst>
          </p:cNvPr>
          <p:cNvSpPr>
            <a:spLocks xmlns:a="http://schemas.openxmlformats.org/drawingml/2006/main" noGrp="1"/>
          </p:cNvSpPr>
          <p:nvPr/>
        </p:nvSpPr>
        <p:spPr>
          <a:xfrm xmlns:a="http://schemas.openxmlformats.org/drawingml/2006/main">
            <a:off x="571500" y="7477125"/>
            <a:ext cx="1409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Houtprijs, techniek en beschikbare werktijd blijven gelijk.</a:t>
            </a:r>
          </a:p>
        </p:txBody>
      </p:sp>
    </p:spTree>
    <p:extLst>
      <p:ext uri="{BB962C8B-B14F-4D97-AF65-F5344CB8AC3E}">
        <p14:creationId xmlns:p14="http://schemas.microsoft.com/office/powerpoint/2010/main" val="111395109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Van tabel naar aanbodlijn">
            <a:extLst xmlns:a="http://schemas.openxmlformats.org/drawingml/2006/main">
              <a:ext uri="{FF2B5EF4-FFF2-40B4-BE49-F238E27FC236}">
                <a16:creationId xmlns:a16="http://schemas.microsoft.com/office/drawing/2014/main" id="{51F78414-54BC-43E5-946D-0D29B5823687}"/>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Van tabel naar aanbodlijn</a:t>
            </a:r>
          </a:p>
        </p:txBody>
      </p:sp>
      <p:sp>
        <p:nvSpPr>
          <p:cNvPr id="2" name="">
            <a:extLst xmlns:a="http://schemas.openxmlformats.org/drawingml/2006/main">
              <a:ext uri="{FF2B5EF4-FFF2-40B4-BE49-F238E27FC236}">
                <a16:creationId xmlns:a16="http://schemas.microsoft.com/office/drawing/2014/main" id="{0415688B-817D-4257-B221-036BD6D95CA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1 Aanbod en aanbodfactoren">
            <a:extLst xmlns:a="http://schemas.openxmlformats.org/drawingml/2006/main">
              <a:ext uri="{FF2B5EF4-FFF2-40B4-BE49-F238E27FC236}">
                <a16:creationId xmlns:a16="http://schemas.microsoft.com/office/drawing/2014/main" id="{2FBF7034-00D1-4B44-9CA6-1E7E5E65B1B9}"/>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§1.3.1 Aanbod en aanbodfactoren</a:t>
            </a:r>
          </a:p>
        </p:txBody>
      </p:sp>
      <p:sp>
        <p:nvSpPr>
          <p:cNvPr id="4" name="5">
            <a:extLst xmlns:a="http://schemas.openxmlformats.org/drawingml/2006/main">
              <a:ext uri="{FF2B5EF4-FFF2-40B4-BE49-F238E27FC236}">
                <a16:creationId xmlns:a16="http://schemas.microsoft.com/office/drawing/2014/main" id="{0DCAA472-9CAB-4BA6-BBAC-C06752D1E21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sp>
        <p:nvSpPr>
          <p:cNvPr id="5" name="Uitlegvoorbeeld — niet uit het boek">
            <a:extLst xmlns:a="http://schemas.openxmlformats.org/drawingml/2006/main">
              <a:ext uri="{FF2B5EF4-FFF2-40B4-BE49-F238E27FC236}">
                <a16:creationId xmlns:a16="http://schemas.microsoft.com/office/drawing/2014/main" id="{51DE68F3-01F0-4EB1-B001-6749A161D268}"/>
              </a:ext>
            </a:extLst>
          </p:cNvPr>
          <p:cNvSpPr>
            <a:spLocks xmlns:a="http://schemas.openxmlformats.org/drawingml/2006/main" noGrp="1"/>
          </p:cNvSpPr>
          <p:nvPr/>
        </p:nvSpPr>
        <p:spPr>
          <a:xfrm xmlns:a="http://schemas.openxmlformats.org/drawingml/2006/main">
            <a:off x="571500" y="169545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658A"/>
                </a:solidFill>
                <a:latin typeface="Arial"/>
                <a:ea typeface="Arial"/>
                <a:cs typeface="Arial"/>
              </a:defRPr>
            </a:pPr>
            <a:r>
              <a:rPr sz="2175" b="1">
                <a:solidFill>
                  <a:srgbClr val="17658A"/>
                </a:solidFill>
                <a:latin typeface="Arial"/>
                <a:ea typeface="Arial"/>
                <a:cs typeface="Arial"/>
              </a:rPr>
              <a:t>Uitlegvoorbeeld — niet uit het boek</a:t>
            </a:r>
          </a:p>
        </p:txBody>
      </p:sp>
      <p:graphicFrame>
        <p:nvGraphicFramePr>
          <p:cNvPr id="16" name="Chart"/>
          <p:cNvGraphicFramePr/>
          <p:nvPr/>
        </p:nvGraphicFramePr>
        <p:xfrm>
          <a:off xmlns:a="http://schemas.openxmlformats.org/drawingml/2006/main" x="571500" y="2362200"/>
          <a:ext xmlns:a="http://schemas.openxmlformats.org/drawingml/2006/main" cx="9810750" cy="5334000"/>
        </p:xfrm>
        <a:graphic xmlns:a="http://schemas.openxmlformats.org/drawingml/2006/main">
          <a:graphicData uri="http://schemas.openxmlformats.org/drawingml/2006/chart">
            <c:chart xmlns:r="http://schemas.openxmlformats.org/officeDocument/2006/relationships" xmlns:c="http://schemas.openxmlformats.org/drawingml/2006/chart" r:id="R0955b89dc2fe4631"/>
          </a:graphicData>
        </a:graphic>
      </p:graphicFrame>
      <p:sp>
        <p:nvSpPr>
          <p:cNvPr id="7" name="Een punt is (q; P)">
            <a:extLst xmlns:a="http://schemas.openxmlformats.org/drawingml/2006/main">
              <a:ext uri="{FF2B5EF4-FFF2-40B4-BE49-F238E27FC236}">
                <a16:creationId xmlns:a16="http://schemas.microsoft.com/office/drawing/2014/main" id="{B0156CD2-BA84-4D26-B4E4-C68A56FD241A}"/>
              </a:ext>
            </a:extLst>
          </p:cNvPr>
          <p:cNvSpPr>
            <a:spLocks xmlns:a="http://schemas.openxmlformats.org/drawingml/2006/main" noGrp="1"/>
          </p:cNvSpPr>
          <p:nvPr/>
        </p:nvSpPr>
        <p:spPr>
          <a:xfrm xmlns:a="http://schemas.openxmlformats.org/drawingml/2006/main">
            <a:off x="10763250" y="2524125"/>
            <a:ext cx="3905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Een punt is (q; P)</a:t>
            </a:r>
          </a:p>
        </p:txBody>
      </p:sp>
      <p:sp>
        <p:nvSpPr>
          <p:cNvPr id="8" name="Bij € 8:&#10;B = (12; 8)">
            <a:extLst xmlns:a="http://schemas.openxmlformats.org/drawingml/2006/main">
              <a:ext uri="{FF2B5EF4-FFF2-40B4-BE49-F238E27FC236}">
                <a16:creationId xmlns:a16="http://schemas.microsoft.com/office/drawing/2014/main" id="{AEC2545F-C043-4D37-9CBC-34E376173603}"/>
              </a:ext>
            </a:extLst>
          </p:cNvPr>
          <p:cNvSpPr>
            <a:spLocks xmlns:a="http://schemas.openxmlformats.org/drawingml/2006/main" noGrp="1"/>
          </p:cNvSpPr>
          <p:nvPr/>
        </p:nvSpPr>
        <p:spPr>
          <a:xfrm xmlns:a="http://schemas.openxmlformats.org/drawingml/2006/main">
            <a:off x="10763250" y="3429000"/>
            <a:ext cx="3905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Bij € 8:</a:t>
            </a:r>
          </a:p>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B = (12; 8)</a:t>
            </a:r>
          </a:p>
        </p:txBody>
      </p:sp>
      <p:sp>
        <p:nvSpPr>
          <p:cNvPr id="9" name="Twee lijnpunten:&#10;(0; 4) en (36; 16)">
            <a:extLst xmlns:a="http://schemas.openxmlformats.org/drawingml/2006/main">
              <a:ext uri="{FF2B5EF4-FFF2-40B4-BE49-F238E27FC236}">
                <a16:creationId xmlns:a16="http://schemas.microsoft.com/office/drawing/2014/main" id="{DFCD473B-E214-49CE-B7CE-2D734D05F0BE}"/>
              </a:ext>
            </a:extLst>
          </p:cNvPr>
          <p:cNvSpPr>
            <a:spLocks xmlns:a="http://schemas.openxmlformats.org/drawingml/2006/main" noGrp="1"/>
          </p:cNvSpPr>
          <p:nvPr/>
        </p:nvSpPr>
        <p:spPr>
          <a:xfrm xmlns:a="http://schemas.openxmlformats.org/drawingml/2006/main">
            <a:off x="10763250" y="4953000"/>
            <a:ext cx="39052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Twee lijnpunten:</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(0; 4) en (36; 16)</a:t>
            </a:r>
          </a:p>
        </p:txBody>
      </p:sp>
      <p:sp>
        <p:nvSpPr>
          <p:cNvPr id="10" name="Horizontaal: hoeveelheid&#10;Verticaal: prijs">
            <a:extLst xmlns:a="http://schemas.openxmlformats.org/drawingml/2006/main">
              <a:ext uri="{FF2B5EF4-FFF2-40B4-BE49-F238E27FC236}">
                <a16:creationId xmlns:a16="http://schemas.microsoft.com/office/drawing/2014/main" id="{BD318951-0DB4-4BDC-A017-53D9FBF3FF9F}"/>
              </a:ext>
            </a:extLst>
          </p:cNvPr>
          <p:cNvSpPr>
            <a:spLocks xmlns:a="http://schemas.openxmlformats.org/drawingml/2006/main" noGrp="1"/>
          </p:cNvSpPr>
          <p:nvPr/>
        </p:nvSpPr>
        <p:spPr>
          <a:xfrm xmlns:a="http://schemas.openxmlformats.org/drawingml/2006/main">
            <a:off x="10763250" y="6572250"/>
            <a:ext cx="39052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83247"/>
                </a:solidFill>
                <a:latin typeface="Arial"/>
                <a:ea typeface="Arial"/>
                <a:cs typeface="Arial"/>
              </a:defRPr>
            </a:pPr>
            <a:r>
              <a:rPr sz="2325" b="1">
                <a:solidFill>
                  <a:srgbClr val="183247"/>
                </a:solidFill>
                <a:latin typeface="Arial"/>
                <a:ea typeface="Arial"/>
                <a:cs typeface="Arial"/>
              </a:rPr>
              <a:t>Horizontaal: hoeveelheid</a:t>
            </a:r>
          </a:p>
          <a:p xmlns:a="http://schemas.openxmlformats.org/drawingml/2006/main">
            <a:pPr algn="l">
              <a:defRPr sz="2325" b="1">
                <a:solidFill>
                  <a:srgbClr val="183247"/>
                </a:solidFill>
                <a:latin typeface="Arial"/>
                <a:ea typeface="Arial"/>
                <a:cs typeface="Arial"/>
              </a:defRPr>
            </a:pPr>
            <a:r>
              <a:rPr sz="2325" b="1">
                <a:solidFill>
                  <a:srgbClr val="183247"/>
                </a:solidFill>
                <a:latin typeface="Arial"/>
                <a:ea typeface="Arial"/>
                <a:cs typeface="Arial"/>
              </a:rPr>
              <a:t>Verticaal: prijs</a:t>
            </a:r>
          </a:p>
        </p:txBody>
      </p:sp>
    </p:spTree>
    <p:extLst>
      <p:ext uri="{BB962C8B-B14F-4D97-AF65-F5344CB8AC3E}">
        <p14:creationId xmlns:p14="http://schemas.microsoft.com/office/powerpoint/2010/main" val="113596928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Een hogere eigen prijs: langs dezelfde lijn">
            <a:extLst xmlns:a="http://schemas.openxmlformats.org/drawingml/2006/main">
              <a:ext uri="{FF2B5EF4-FFF2-40B4-BE49-F238E27FC236}">
                <a16:creationId xmlns:a16="http://schemas.microsoft.com/office/drawing/2014/main" id="{D1783601-4529-4E29-8573-BC0DCF6FD103}"/>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Een hogere eigen prijs: langs dezelfde lijn</a:t>
            </a:r>
          </a:p>
        </p:txBody>
      </p:sp>
      <p:sp>
        <p:nvSpPr>
          <p:cNvPr id="2" name="">
            <a:extLst xmlns:a="http://schemas.openxmlformats.org/drawingml/2006/main">
              <a:ext uri="{FF2B5EF4-FFF2-40B4-BE49-F238E27FC236}">
                <a16:creationId xmlns:a16="http://schemas.microsoft.com/office/drawing/2014/main" id="{FBB47738-BD0B-4696-A470-F5709548A90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1 Aanbod en aanbodfactoren">
            <a:extLst xmlns:a="http://schemas.openxmlformats.org/drawingml/2006/main">
              <a:ext uri="{FF2B5EF4-FFF2-40B4-BE49-F238E27FC236}">
                <a16:creationId xmlns:a16="http://schemas.microsoft.com/office/drawing/2014/main" id="{91C92DF1-101B-4F8E-8CAF-2DBEFF848B36}"/>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§1.3.1 Aanbod en aanbodfactoren</a:t>
            </a:r>
          </a:p>
        </p:txBody>
      </p:sp>
      <p:sp>
        <p:nvSpPr>
          <p:cNvPr id="4" name="6">
            <a:extLst xmlns:a="http://schemas.openxmlformats.org/drawingml/2006/main">
              <a:ext uri="{FF2B5EF4-FFF2-40B4-BE49-F238E27FC236}">
                <a16:creationId xmlns:a16="http://schemas.microsoft.com/office/drawing/2014/main" id="{E88446A6-18F7-48D6-B632-C0A30061F3E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sp>
        <p:nvSpPr>
          <p:cNvPr id="5" name="Uitlegvoorbeeld — niet uit het boek">
            <a:extLst xmlns:a="http://schemas.openxmlformats.org/drawingml/2006/main">
              <a:ext uri="{FF2B5EF4-FFF2-40B4-BE49-F238E27FC236}">
                <a16:creationId xmlns:a16="http://schemas.microsoft.com/office/drawing/2014/main" id="{C7AB2F1C-45F6-4C58-A413-637AC675F524}"/>
              </a:ext>
            </a:extLst>
          </p:cNvPr>
          <p:cNvSpPr>
            <a:spLocks xmlns:a="http://schemas.openxmlformats.org/drawingml/2006/main" noGrp="1"/>
          </p:cNvSpPr>
          <p:nvPr/>
        </p:nvSpPr>
        <p:spPr>
          <a:xfrm xmlns:a="http://schemas.openxmlformats.org/drawingml/2006/main">
            <a:off x="571500" y="169545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658A"/>
                </a:solidFill>
                <a:latin typeface="Arial"/>
                <a:ea typeface="Arial"/>
                <a:cs typeface="Arial"/>
              </a:defRPr>
            </a:pPr>
            <a:r>
              <a:rPr sz="2175" b="1">
                <a:solidFill>
                  <a:srgbClr val="17658A"/>
                </a:solidFill>
                <a:latin typeface="Arial"/>
                <a:ea typeface="Arial"/>
                <a:cs typeface="Arial"/>
              </a:rPr>
              <a:t>Uitlegvoorbeeld — niet uit het boek</a:t>
            </a:r>
          </a:p>
        </p:txBody>
      </p:sp>
      <p:graphicFrame>
        <p:nvGraphicFramePr>
          <p:cNvPr id="16" name="Chart"/>
          <p:cNvGraphicFramePr/>
          <p:nvPr/>
        </p:nvGraphicFramePr>
        <p:xfrm>
          <a:off xmlns:a="http://schemas.openxmlformats.org/drawingml/2006/main" x="571500" y="2362200"/>
          <a:ext xmlns:a="http://schemas.openxmlformats.org/drawingml/2006/main" cx="9810750" cy="5334000"/>
        </p:xfrm>
        <a:graphic xmlns:a="http://schemas.openxmlformats.org/drawingml/2006/main">
          <a:graphicData uri="http://schemas.openxmlformats.org/drawingml/2006/chart">
            <c:chart xmlns:r="http://schemas.openxmlformats.org/officeDocument/2006/relationships" xmlns:c="http://schemas.openxmlformats.org/drawingml/2006/chart" r:id="R03744e001ef84f86"/>
          </a:graphicData>
        </a:graphic>
      </p:graphicFrame>
      <p:sp>
        <p:nvSpPr>
          <p:cNvPr id="7" name="€ 8 wordt € 12">
            <a:extLst xmlns:a="http://schemas.openxmlformats.org/drawingml/2006/main">
              <a:ext uri="{FF2B5EF4-FFF2-40B4-BE49-F238E27FC236}">
                <a16:creationId xmlns:a16="http://schemas.microsoft.com/office/drawing/2014/main" id="{8B229D53-7E98-450F-8240-13AB64A51B0E}"/>
              </a:ext>
            </a:extLst>
          </p:cNvPr>
          <p:cNvSpPr>
            <a:spLocks xmlns:a="http://schemas.openxmlformats.org/drawingml/2006/main" noGrp="1"/>
          </p:cNvSpPr>
          <p:nvPr/>
        </p:nvSpPr>
        <p:spPr>
          <a:xfrm xmlns:a="http://schemas.openxmlformats.org/drawingml/2006/main">
            <a:off x="10763250" y="2524125"/>
            <a:ext cx="3905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€ 8 wordt € 12</a:t>
            </a:r>
          </a:p>
        </p:txBody>
      </p:sp>
      <p:sp>
        <p:nvSpPr>
          <p:cNvPr id="8" name="R = (12; 8)&#10;S = (24; 12)">
            <a:extLst xmlns:a="http://schemas.openxmlformats.org/drawingml/2006/main">
              <a:ext uri="{FF2B5EF4-FFF2-40B4-BE49-F238E27FC236}">
                <a16:creationId xmlns:a16="http://schemas.microsoft.com/office/drawing/2014/main" id="{C5D9200F-23E4-4B3E-AEA4-2844D7687789}"/>
              </a:ext>
            </a:extLst>
          </p:cNvPr>
          <p:cNvSpPr>
            <a:spLocks xmlns:a="http://schemas.openxmlformats.org/drawingml/2006/main" noGrp="1"/>
          </p:cNvSpPr>
          <p:nvPr/>
        </p:nvSpPr>
        <p:spPr>
          <a:xfrm xmlns:a="http://schemas.openxmlformats.org/drawingml/2006/main">
            <a:off x="10763250" y="3552825"/>
            <a:ext cx="3905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20665B"/>
                </a:solidFill>
                <a:latin typeface="Arial"/>
                <a:ea typeface="Arial"/>
                <a:cs typeface="Arial"/>
              </a:defRPr>
            </a:pPr>
            <a:r>
              <a:rPr sz="2850" b="1">
                <a:solidFill>
                  <a:srgbClr val="20665B"/>
                </a:solidFill>
                <a:latin typeface="Arial"/>
                <a:ea typeface="Arial"/>
                <a:cs typeface="Arial"/>
              </a:rPr>
              <a:t>R = (12; 8)</a:t>
            </a:r>
          </a:p>
          <a:p xmlns:a="http://schemas.openxmlformats.org/drawingml/2006/main">
            <a:pPr algn="l">
              <a:defRPr sz="2850" b="1">
                <a:solidFill>
                  <a:srgbClr val="20665B"/>
                </a:solidFill>
                <a:latin typeface="Arial"/>
                <a:ea typeface="Arial"/>
                <a:cs typeface="Arial"/>
              </a:defRPr>
            </a:pPr>
            <a:r>
              <a:rPr sz="2850" b="1">
                <a:solidFill>
                  <a:srgbClr val="20665B"/>
                </a:solidFill>
                <a:latin typeface="Arial"/>
                <a:ea typeface="Arial"/>
                <a:cs typeface="Arial"/>
              </a:rPr>
              <a:t>S = (24; 12)</a:t>
            </a:r>
          </a:p>
        </p:txBody>
      </p:sp>
      <p:sp>
        <p:nvSpPr>
          <p:cNvPr id="9" name="+€ 4 per houder&#10;+12 houders per week">
            <a:extLst xmlns:a="http://schemas.openxmlformats.org/drawingml/2006/main">
              <a:ext uri="{FF2B5EF4-FFF2-40B4-BE49-F238E27FC236}">
                <a16:creationId xmlns:a16="http://schemas.microsoft.com/office/drawing/2014/main" id="{8022A400-EDF7-4765-BC90-D883FEDFD373}"/>
              </a:ext>
            </a:extLst>
          </p:cNvPr>
          <p:cNvSpPr>
            <a:spLocks xmlns:a="http://schemas.openxmlformats.org/drawingml/2006/main" noGrp="1"/>
          </p:cNvSpPr>
          <p:nvPr/>
        </p:nvSpPr>
        <p:spPr>
          <a:xfrm xmlns:a="http://schemas.openxmlformats.org/drawingml/2006/main">
            <a:off x="10763250" y="5238750"/>
            <a:ext cx="39052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+€ 4 per houder</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+12 houders per week</a:t>
            </a:r>
          </a:p>
        </p:txBody>
      </p:sp>
      <p:sp>
        <p:nvSpPr>
          <p:cNvPr id="10" name="De 3 betekent:&#10;3 extra houders per week&#10;per euro prijsstijgi">
            <a:extLst xmlns:a="http://schemas.openxmlformats.org/drawingml/2006/main">
              <a:ext uri="{FF2B5EF4-FFF2-40B4-BE49-F238E27FC236}">
                <a16:creationId xmlns:a16="http://schemas.microsoft.com/office/drawing/2014/main" id="{633E46B6-B2B2-4D52-BF02-6F02B7844E28}"/>
              </a:ext>
            </a:extLst>
          </p:cNvPr>
          <p:cNvSpPr>
            <a:spLocks xmlns:a="http://schemas.openxmlformats.org/drawingml/2006/main" noGrp="1"/>
          </p:cNvSpPr>
          <p:nvPr/>
        </p:nvSpPr>
        <p:spPr>
          <a:xfrm xmlns:a="http://schemas.openxmlformats.org/drawingml/2006/main">
            <a:off x="10763250" y="6753225"/>
            <a:ext cx="39052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De 3 betekent:</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 extra houders per week</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per euro prijsstijging.</a:t>
            </a:r>
          </a:p>
        </p:txBody>
      </p:sp>
    </p:spTree>
    <p:extLst>
      <p:ext uri="{BB962C8B-B14F-4D97-AF65-F5344CB8AC3E}">
        <p14:creationId xmlns:p14="http://schemas.microsoft.com/office/powerpoint/2010/main" val="73239150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Van een hoeveelheid terug naar de prijs">
            <a:extLst xmlns:a="http://schemas.openxmlformats.org/drawingml/2006/main">
              <a:ext uri="{FF2B5EF4-FFF2-40B4-BE49-F238E27FC236}">
                <a16:creationId xmlns:a16="http://schemas.microsoft.com/office/drawing/2014/main" id="{A7868476-6CF6-4B1B-8B0F-40BFA185F8EF}"/>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Van een hoeveelheid terug naar de prijs</a:t>
            </a:r>
          </a:p>
        </p:txBody>
      </p:sp>
      <p:sp>
        <p:nvSpPr>
          <p:cNvPr id="2" name="">
            <a:extLst xmlns:a="http://schemas.openxmlformats.org/drawingml/2006/main">
              <a:ext uri="{FF2B5EF4-FFF2-40B4-BE49-F238E27FC236}">
                <a16:creationId xmlns:a16="http://schemas.microsoft.com/office/drawing/2014/main" id="{90A70B7D-6E8B-4F14-B79B-C227E6AC081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1 Aanbod en aanbodfactoren">
            <a:extLst xmlns:a="http://schemas.openxmlformats.org/drawingml/2006/main">
              <a:ext uri="{FF2B5EF4-FFF2-40B4-BE49-F238E27FC236}">
                <a16:creationId xmlns:a16="http://schemas.microsoft.com/office/drawing/2014/main" id="{203F935F-3B32-4481-B985-3DB541AB8005}"/>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§1.3.1 Aanbod en aanbodfactoren</a:t>
            </a:r>
          </a:p>
        </p:txBody>
      </p:sp>
      <p:sp>
        <p:nvSpPr>
          <p:cNvPr id="4" name="7">
            <a:extLst xmlns:a="http://schemas.openxmlformats.org/drawingml/2006/main">
              <a:ext uri="{FF2B5EF4-FFF2-40B4-BE49-F238E27FC236}">
                <a16:creationId xmlns:a16="http://schemas.microsoft.com/office/drawing/2014/main" id="{05DF7B0D-4162-4D95-9444-AEF05865D79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sp>
        <p:nvSpPr>
          <p:cNvPr id="5" name="Uitlegvoorbeeld — niet uit het boek">
            <a:extLst xmlns:a="http://schemas.openxmlformats.org/drawingml/2006/main">
              <a:ext uri="{FF2B5EF4-FFF2-40B4-BE49-F238E27FC236}">
                <a16:creationId xmlns:a16="http://schemas.microsoft.com/office/drawing/2014/main" id="{CA5D7C78-DA7C-4973-8417-4CC6777E4920}"/>
              </a:ext>
            </a:extLst>
          </p:cNvPr>
          <p:cNvSpPr>
            <a:spLocks xmlns:a="http://schemas.openxmlformats.org/drawingml/2006/main" noGrp="1"/>
          </p:cNvSpPr>
          <p:nvPr/>
        </p:nvSpPr>
        <p:spPr>
          <a:xfrm xmlns:a="http://schemas.openxmlformats.org/drawingml/2006/main">
            <a:off x="571500" y="169545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658A"/>
                </a:solidFill>
                <a:latin typeface="Arial"/>
                <a:ea typeface="Arial"/>
                <a:cs typeface="Arial"/>
              </a:defRPr>
            </a:pPr>
            <a:r>
              <a:rPr sz="2175" b="1">
                <a:solidFill>
                  <a:srgbClr val="17658A"/>
                </a:solidFill>
                <a:latin typeface="Arial"/>
                <a:ea typeface="Arial"/>
                <a:cs typeface="Arial"/>
              </a:rPr>
              <a:t>Uitlegvoorbeeld — niet uit het boek</a:t>
            </a:r>
          </a:p>
        </p:txBody>
      </p:sp>
      <p:sp>
        <p:nvSpPr>
          <p:cNvPr id="6" name="Welke prijs past bij 21 houders per week?">
            <a:extLst xmlns:a="http://schemas.openxmlformats.org/drawingml/2006/main">
              <a:ext uri="{FF2B5EF4-FFF2-40B4-BE49-F238E27FC236}">
                <a16:creationId xmlns:a16="http://schemas.microsoft.com/office/drawing/2014/main" id="{29D1C2D1-3F55-4133-A61A-99D8B7712E31}"/>
              </a:ext>
            </a:extLst>
          </p:cNvPr>
          <p:cNvSpPr>
            <a:spLocks xmlns:a="http://schemas.openxmlformats.org/drawingml/2006/main" noGrp="1"/>
          </p:cNvSpPr>
          <p:nvPr/>
        </p:nvSpPr>
        <p:spPr>
          <a:xfrm xmlns:a="http://schemas.openxmlformats.org/drawingml/2006/main">
            <a:off x="571500" y="2333625"/>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7658A"/>
                </a:solidFill>
                <a:latin typeface="Arial"/>
                <a:ea typeface="Arial"/>
                <a:cs typeface="Arial"/>
              </a:defRPr>
            </a:pPr>
            <a:r>
              <a:rPr sz="3075" b="1">
                <a:solidFill>
                  <a:srgbClr val="17658A"/>
                </a:solidFill>
                <a:latin typeface="Arial"/>
                <a:ea typeface="Arial"/>
                <a:cs typeface="Arial"/>
              </a:rPr>
              <a:t>Welke prijs past bij 21 houders per week?</a:t>
            </a:r>
          </a:p>
        </p:txBody>
      </p:sp>
      <p:sp>
        <p:nvSpPr>
          <p:cNvPr id="7" name="21 = 3P − 12">
            <a:extLst xmlns:a="http://schemas.openxmlformats.org/drawingml/2006/main">
              <a:ext uri="{FF2B5EF4-FFF2-40B4-BE49-F238E27FC236}">
                <a16:creationId xmlns:a16="http://schemas.microsoft.com/office/drawing/2014/main" id="{D2814EAF-1EC7-4BE8-AD57-29CAD4ADC7AE}"/>
              </a:ext>
            </a:extLst>
          </p:cNvPr>
          <p:cNvSpPr>
            <a:spLocks xmlns:a="http://schemas.openxmlformats.org/drawingml/2006/main" noGrp="1"/>
          </p:cNvSpPr>
          <p:nvPr/>
        </p:nvSpPr>
        <p:spPr>
          <a:xfrm xmlns:a="http://schemas.openxmlformats.org/drawingml/2006/main">
            <a:off x="571500" y="3467100"/>
            <a:ext cx="6238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21 = 3P − 12</a:t>
            </a:r>
          </a:p>
        </p:txBody>
      </p:sp>
      <p:sp>
        <p:nvSpPr>
          <p:cNvPr id="8" name="Vul q = 21 in.">
            <a:extLst xmlns:a="http://schemas.openxmlformats.org/drawingml/2006/main">
              <a:ext uri="{FF2B5EF4-FFF2-40B4-BE49-F238E27FC236}">
                <a16:creationId xmlns:a16="http://schemas.microsoft.com/office/drawing/2014/main" id="{E684E060-96DC-46FD-A462-C5E324F34D41}"/>
              </a:ext>
            </a:extLst>
          </p:cNvPr>
          <p:cNvSpPr>
            <a:spLocks xmlns:a="http://schemas.openxmlformats.org/drawingml/2006/main" noGrp="1"/>
          </p:cNvSpPr>
          <p:nvPr/>
        </p:nvSpPr>
        <p:spPr>
          <a:xfrm xmlns:a="http://schemas.openxmlformats.org/drawingml/2006/main">
            <a:off x="7524750" y="3533775"/>
            <a:ext cx="71437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Vul q = 21 in.</a:t>
            </a:r>
          </a:p>
        </p:txBody>
      </p:sp>
      <p:sp>
        <p:nvSpPr>
          <p:cNvPr id="9" name="33 = 3P">
            <a:extLst xmlns:a="http://schemas.openxmlformats.org/drawingml/2006/main">
              <a:ext uri="{FF2B5EF4-FFF2-40B4-BE49-F238E27FC236}">
                <a16:creationId xmlns:a16="http://schemas.microsoft.com/office/drawing/2014/main" id="{AEA90598-B235-481E-A0A0-85CB7C970880}"/>
              </a:ext>
            </a:extLst>
          </p:cNvPr>
          <p:cNvSpPr>
            <a:spLocks xmlns:a="http://schemas.openxmlformats.org/drawingml/2006/main" noGrp="1"/>
          </p:cNvSpPr>
          <p:nvPr/>
        </p:nvSpPr>
        <p:spPr>
          <a:xfrm xmlns:a="http://schemas.openxmlformats.org/drawingml/2006/main">
            <a:off x="571500" y="4657725"/>
            <a:ext cx="6238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33 = 3P</a:t>
            </a:r>
          </a:p>
        </p:txBody>
      </p:sp>
      <p:sp>
        <p:nvSpPr>
          <p:cNvPr id="10" name="Tel aan beide kanten 12 op.">
            <a:extLst xmlns:a="http://schemas.openxmlformats.org/drawingml/2006/main">
              <a:ext uri="{FF2B5EF4-FFF2-40B4-BE49-F238E27FC236}">
                <a16:creationId xmlns:a16="http://schemas.microsoft.com/office/drawing/2014/main" id="{1D5E78C5-FFAE-4490-905A-5E866BAACD5E}"/>
              </a:ext>
            </a:extLst>
          </p:cNvPr>
          <p:cNvSpPr>
            <a:spLocks xmlns:a="http://schemas.openxmlformats.org/drawingml/2006/main" noGrp="1"/>
          </p:cNvSpPr>
          <p:nvPr/>
        </p:nvSpPr>
        <p:spPr>
          <a:xfrm xmlns:a="http://schemas.openxmlformats.org/drawingml/2006/main">
            <a:off x="7524750" y="4724400"/>
            <a:ext cx="71437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Tel aan beide kanten 12 op.</a:t>
            </a:r>
          </a:p>
        </p:txBody>
      </p:sp>
      <p:sp>
        <p:nvSpPr>
          <p:cNvPr id="11" name="P = 11">
            <a:extLst xmlns:a="http://schemas.openxmlformats.org/drawingml/2006/main">
              <a:ext uri="{FF2B5EF4-FFF2-40B4-BE49-F238E27FC236}">
                <a16:creationId xmlns:a16="http://schemas.microsoft.com/office/drawing/2014/main" id="{A6345C4C-9A85-48A2-9BD9-792D00EE27C4}"/>
              </a:ext>
            </a:extLst>
          </p:cNvPr>
          <p:cNvSpPr>
            <a:spLocks xmlns:a="http://schemas.openxmlformats.org/drawingml/2006/main" noGrp="1"/>
          </p:cNvSpPr>
          <p:nvPr/>
        </p:nvSpPr>
        <p:spPr>
          <a:xfrm xmlns:a="http://schemas.openxmlformats.org/drawingml/2006/main">
            <a:off x="571500" y="5848350"/>
            <a:ext cx="6238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P = 11</a:t>
            </a:r>
          </a:p>
        </p:txBody>
      </p:sp>
      <p:sp>
        <p:nvSpPr>
          <p:cNvPr id="12" name="Deel beide kanten door 3.">
            <a:extLst xmlns:a="http://schemas.openxmlformats.org/drawingml/2006/main">
              <a:ext uri="{FF2B5EF4-FFF2-40B4-BE49-F238E27FC236}">
                <a16:creationId xmlns:a16="http://schemas.microsoft.com/office/drawing/2014/main" id="{1FC8B733-7F99-4931-8A29-C62A7F3565B0}"/>
              </a:ext>
            </a:extLst>
          </p:cNvPr>
          <p:cNvSpPr>
            <a:spLocks xmlns:a="http://schemas.openxmlformats.org/drawingml/2006/main" noGrp="1"/>
          </p:cNvSpPr>
          <p:nvPr/>
        </p:nvSpPr>
        <p:spPr>
          <a:xfrm xmlns:a="http://schemas.openxmlformats.org/drawingml/2006/main">
            <a:off x="7524750" y="5915025"/>
            <a:ext cx="71437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Deel beide kanten door 3.</a:t>
            </a:r>
          </a:p>
        </p:txBody>
      </p:sp>
      <p:sp>
        <p:nvSpPr>
          <p:cNvPr id="13" name="€ 11 per houder. Controle: 3 × 11 − 12 = 21.">
            <a:extLst xmlns:a="http://schemas.openxmlformats.org/drawingml/2006/main">
              <a:ext uri="{FF2B5EF4-FFF2-40B4-BE49-F238E27FC236}">
                <a16:creationId xmlns:a16="http://schemas.microsoft.com/office/drawing/2014/main" id="{43A10781-FB4E-4751-92EB-7EB60D528699}"/>
              </a:ext>
            </a:extLst>
          </p:cNvPr>
          <p:cNvSpPr>
            <a:spLocks xmlns:a="http://schemas.openxmlformats.org/drawingml/2006/main" noGrp="1"/>
          </p:cNvSpPr>
          <p:nvPr/>
        </p:nvSpPr>
        <p:spPr>
          <a:xfrm xmlns:a="http://schemas.openxmlformats.org/drawingml/2006/main">
            <a:off x="571500" y="729615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20665B"/>
                </a:solidFill>
                <a:latin typeface="Arial"/>
                <a:ea typeface="Arial"/>
                <a:cs typeface="Arial"/>
              </a:defRPr>
            </a:pPr>
            <a:r>
              <a:rPr sz="2850" b="1">
                <a:solidFill>
                  <a:srgbClr val="20665B"/>
                </a:solidFill>
                <a:latin typeface="Arial"/>
                <a:ea typeface="Arial"/>
                <a:cs typeface="Arial"/>
              </a:rPr>
              <a:t>€ 11 per houder. Controle: 3 × 11 − 12 = 21.</a:t>
            </a:r>
          </a:p>
        </p:txBody>
      </p:sp>
    </p:spTree>
    <p:extLst>
      <p:ext uri="{BB962C8B-B14F-4D97-AF65-F5344CB8AC3E}">
        <p14:creationId xmlns:p14="http://schemas.microsoft.com/office/powerpoint/2010/main" val="117702690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uurder hout: vergelijken bij dezelfde prijs">
            <a:extLst xmlns:a="http://schemas.openxmlformats.org/drawingml/2006/main">
              <a:ext uri="{FF2B5EF4-FFF2-40B4-BE49-F238E27FC236}">
                <a16:creationId xmlns:a16="http://schemas.microsoft.com/office/drawing/2014/main" id="{82FEEE7B-3BA0-4AAC-AA65-230276772482}"/>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Duurder hout: vergelijken bij dezelfde prijs</a:t>
            </a:r>
          </a:p>
        </p:txBody>
      </p:sp>
      <p:sp>
        <p:nvSpPr>
          <p:cNvPr id="2" name="">
            <a:extLst xmlns:a="http://schemas.openxmlformats.org/drawingml/2006/main">
              <a:ext uri="{FF2B5EF4-FFF2-40B4-BE49-F238E27FC236}">
                <a16:creationId xmlns:a16="http://schemas.microsoft.com/office/drawing/2014/main" id="{0D8C9B8A-3402-4B95-A78C-B8A0B274D4B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1 Aanbod en aanbodfactoren">
            <a:extLst xmlns:a="http://schemas.openxmlformats.org/drawingml/2006/main">
              <a:ext uri="{FF2B5EF4-FFF2-40B4-BE49-F238E27FC236}">
                <a16:creationId xmlns:a16="http://schemas.microsoft.com/office/drawing/2014/main" id="{A41CC863-B8F2-496A-B6E6-7E5B641848AB}"/>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§1.3.1 Aanbod en aanbodfactoren</a:t>
            </a:r>
          </a:p>
        </p:txBody>
      </p:sp>
      <p:sp>
        <p:nvSpPr>
          <p:cNvPr id="4" name="8">
            <a:extLst xmlns:a="http://schemas.openxmlformats.org/drawingml/2006/main">
              <a:ext uri="{FF2B5EF4-FFF2-40B4-BE49-F238E27FC236}">
                <a16:creationId xmlns:a16="http://schemas.microsoft.com/office/drawing/2014/main" id="{1D4EFBB0-C630-4D44-B6D1-3CBF586D6F1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sp>
        <p:nvSpPr>
          <p:cNvPr id="5" name="Uitlegvoorbeeld — niet uit het boek">
            <a:extLst xmlns:a="http://schemas.openxmlformats.org/drawingml/2006/main">
              <a:ext uri="{FF2B5EF4-FFF2-40B4-BE49-F238E27FC236}">
                <a16:creationId xmlns:a16="http://schemas.microsoft.com/office/drawing/2014/main" id="{6E8DF767-FC87-4F7E-A7C2-ACE3381EC041}"/>
              </a:ext>
            </a:extLst>
          </p:cNvPr>
          <p:cNvSpPr>
            <a:spLocks xmlns:a="http://schemas.openxmlformats.org/drawingml/2006/main" noGrp="1"/>
          </p:cNvSpPr>
          <p:nvPr/>
        </p:nvSpPr>
        <p:spPr>
          <a:xfrm xmlns:a="http://schemas.openxmlformats.org/drawingml/2006/main">
            <a:off x="571500" y="169545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658A"/>
                </a:solidFill>
                <a:latin typeface="Arial"/>
                <a:ea typeface="Arial"/>
                <a:cs typeface="Arial"/>
              </a:defRPr>
            </a:pPr>
            <a:r>
              <a:rPr sz="2175" b="1">
                <a:solidFill>
                  <a:srgbClr val="17658A"/>
                </a:solidFill>
                <a:latin typeface="Arial"/>
                <a:ea typeface="Arial"/>
                <a:cs typeface="Arial"/>
              </a:rPr>
              <a:t>Uitlegvoorbeeld — niet uit het boek</a:t>
            </a:r>
          </a:p>
        </p:txBody>
      </p:sp>
      <p:sp>
        <p:nvSpPr>
          <p:cNvPr id="6" name="Nieuwe omstandigheden: hout wordt duurder.">
            <a:extLst xmlns:a="http://schemas.openxmlformats.org/drawingml/2006/main">
              <a:ext uri="{FF2B5EF4-FFF2-40B4-BE49-F238E27FC236}">
                <a16:creationId xmlns:a16="http://schemas.microsoft.com/office/drawing/2014/main" id="{457D6AA7-7F1E-4107-AE1E-2D2682FEAC7B}"/>
              </a:ext>
            </a:extLst>
          </p:cNvPr>
          <p:cNvSpPr>
            <a:spLocks xmlns:a="http://schemas.openxmlformats.org/drawingml/2006/main" noGrp="1"/>
          </p:cNvSpPr>
          <p:nvPr/>
        </p:nvSpPr>
        <p:spPr>
          <a:xfrm xmlns:a="http://schemas.openxmlformats.org/drawingml/2006/main">
            <a:off x="571500" y="2381250"/>
            <a:ext cx="14097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Nieuwe omstandigheden: hout wordt duurder.</a:t>
            </a:r>
          </a:p>
        </p:txBody>
      </p:sp>
      <p:graphicFrame>
        <p:nvGraphicFramePr>
          <p:cNvPr id="16" name=""/>
          <p:cNvGraphicFramePr/>
          <p:nvPr/>
        </p:nvGraphicFramePr>
        <p:xfrm>
          <a:off xmlns:a="http://schemas.openxmlformats.org/drawingml/2006/main" x="571500" y="3505200"/>
          <a:ext xmlns:a="http://schemas.openxmlformats.org/drawingml/2006/main" cx="14097000" cy="2667000"/>
        </p:xfrm>
        <a:graphic xmlns:a="http://schemas.openxmlformats.org/drawingml/2006/main">
          <a:graphicData uri="http://schemas.openxmlformats.org/drawingml/2006/table">
            <a:tbl>
              <a:tblPr/>
              <a:tblGrid>
                <a:gridCol w="4953000"/>
                <a:gridCol w="4000500"/>
                <a:gridCol w="5143500"/>
              </a:tblGrid>
              <a:tr h="889000">
                <a:tc>
                  <a:txBody>
                    <a:bodyPr lIns="171450" tIns="95250" rIns="152400" bIns="95250"/>
                    <a:lstStyle/>
                    <a:p>
                      <a:r>
                        <a:rPr sz="2550" b="1">
                          <a:solidFill>
                            <a:srgbClr val="FFFFFF"/>
                          </a:solidFill>
                          <a:latin typeface="Arial"/>
                          <a:ea typeface="Arial"/>
                          <a:cs typeface="Arial"/>
                        </a:rPr>
                        <a:t>Bij P = € 8 per houder</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Functie</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Aanbod</a:t>
                      </a:r>
                    </a:p>
                  </a:txBody>
                  <a:tcPr marL="91440" marR="91440" marT="45720" marB="45720" anchor="ctr">
                    <a:solidFill>
                      <a:srgbClr val="183247"/>
                    </a:solidFill>
                  </a:tcPr>
                </a:tc>
              </a:tr>
              <a:tr h="889000">
                <a:tc>
                  <a:txBody>
                    <a:bodyPr lIns="171450" tIns="95250" rIns="152400" bIns="95250"/>
                    <a:lstStyle/>
                    <a:p>
                      <a:r>
                        <a:rPr sz="2550" b="0">
                          <a:solidFill>
                            <a:srgbClr val="183247"/>
                          </a:solidFill>
                          <a:latin typeface="Arial"/>
                          <a:ea typeface="Arial"/>
                          <a:cs typeface="Arial"/>
                        </a:rPr>
                        <a:t>Oude houtprijs</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q = 3P − 12</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3 × 8 − 12 = 12</a:t>
                      </a:r>
                    </a:p>
                  </a:txBody>
                  <a:tcPr marL="91440" marR="91440" marT="45720" marB="45720" anchor="ctr">
                    <a:solidFill>
                      <a:srgbClr val="FFFFFF"/>
                    </a:solidFill>
                  </a:tcPr>
                </a:tc>
              </a:tr>
              <a:tr h="889000">
                <a:tc>
                  <a:txBody>
                    <a:bodyPr lIns="171450" tIns="95250" rIns="152400" bIns="95250"/>
                    <a:lstStyle/>
                    <a:p>
                      <a:r>
                        <a:rPr sz="2550" b="0">
                          <a:solidFill>
                            <a:srgbClr val="183247"/>
                          </a:solidFill>
                          <a:latin typeface="Arial"/>
                          <a:ea typeface="Arial"/>
                          <a:cs typeface="Arial"/>
                        </a:rPr>
                        <a:t>Nieuwe houtprijs</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q = 3P − 18</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3 × 8 − 18 = 6</a:t>
                      </a:r>
                    </a:p>
                  </a:txBody>
                  <a:tcPr marL="91440" marR="91440" marT="45720" marB="45720" anchor="ctr">
                    <a:solidFill>
                      <a:srgbClr val="EFF4F7"/>
                    </a:solidFill>
                  </a:tcPr>
                </a:tc>
              </a:tr>
            </a:tbl>
          </a:graphicData>
        </a:graphic>
      </p:graphicFrame>
      <p:sp>
        <p:nvSpPr>
          <p:cNvPr id="8" name="6 houders per week minder bij dezelfde verkoopprijs">
            <a:extLst xmlns:a="http://schemas.openxmlformats.org/drawingml/2006/main">
              <a:ext uri="{FF2B5EF4-FFF2-40B4-BE49-F238E27FC236}">
                <a16:creationId xmlns:a16="http://schemas.microsoft.com/office/drawing/2014/main" id="{7454571A-482B-445B-95E3-AB5478434639}"/>
              </a:ext>
            </a:extLst>
          </p:cNvPr>
          <p:cNvSpPr>
            <a:spLocks xmlns:a="http://schemas.openxmlformats.org/drawingml/2006/main" noGrp="1"/>
          </p:cNvSpPr>
          <p:nvPr/>
        </p:nvSpPr>
        <p:spPr>
          <a:xfrm xmlns:a="http://schemas.openxmlformats.org/drawingml/2006/main">
            <a:off x="571500" y="664845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A94D16"/>
                </a:solidFill>
                <a:latin typeface="Arial"/>
                <a:ea typeface="Arial"/>
                <a:cs typeface="Arial"/>
              </a:defRPr>
            </a:pPr>
            <a:r>
              <a:rPr sz="3000" b="1">
                <a:solidFill>
                  <a:srgbClr val="A94D16"/>
                </a:solidFill>
                <a:latin typeface="Arial"/>
                <a:ea typeface="Arial"/>
                <a:cs typeface="Arial"/>
              </a:rPr>
              <a:t>6 houders per week minder bij dezelfde verkoopprijs</a:t>
            </a:r>
          </a:p>
        </p:txBody>
      </p:sp>
      <p:sp>
        <p:nvSpPr>
          <p:cNvPr id="9" name="Nieuwe functie: geldig voor 6 ≤ P ≤ 16.">
            <a:extLst xmlns:a="http://schemas.openxmlformats.org/drawingml/2006/main">
              <a:ext uri="{FF2B5EF4-FFF2-40B4-BE49-F238E27FC236}">
                <a16:creationId xmlns:a16="http://schemas.microsoft.com/office/drawing/2014/main" id="{94006383-351A-4697-8331-1E54C659A66F}"/>
              </a:ext>
            </a:extLst>
          </p:cNvPr>
          <p:cNvSpPr>
            <a:spLocks xmlns:a="http://schemas.openxmlformats.org/drawingml/2006/main" noGrp="1"/>
          </p:cNvSpPr>
          <p:nvPr/>
        </p:nvSpPr>
        <p:spPr>
          <a:xfrm xmlns:a="http://schemas.openxmlformats.org/drawingml/2006/main">
            <a:off x="571500" y="7486650"/>
            <a:ext cx="1409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Nieuwe functie: geldig voor 6 ≤ P ≤ 16.</a:t>
            </a:r>
          </a:p>
        </p:txBody>
      </p:sp>
    </p:spTree>
    <p:extLst>
      <p:ext uri="{BB962C8B-B14F-4D97-AF65-F5344CB8AC3E}">
        <p14:creationId xmlns:p14="http://schemas.microsoft.com/office/powerpoint/2010/main" val="78009715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De nieuwe lijn tekenen en controleren">
            <a:extLst xmlns:a="http://schemas.openxmlformats.org/drawingml/2006/main">
              <a:ext uri="{FF2B5EF4-FFF2-40B4-BE49-F238E27FC236}">
                <a16:creationId xmlns:a16="http://schemas.microsoft.com/office/drawing/2014/main" id="{C08BDFDB-F563-43F8-B74F-C8704ECA6942}"/>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 nieuwe lijn tekenen en controleren</a:t>
            </a:r>
          </a:p>
        </p:txBody>
      </p:sp>
      <p:sp>
        <p:nvSpPr>
          <p:cNvPr id="2" name="">
            <a:extLst xmlns:a="http://schemas.openxmlformats.org/drawingml/2006/main">
              <a:ext uri="{FF2B5EF4-FFF2-40B4-BE49-F238E27FC236}">
                <a16:creationId xmlns:a16="http://schemas.microsoft.com/office/drawing/2014/main" id="{FE3BBC77-8E12-4712-B2AC-6601DCD41A8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1 Aanbod en aanbodfactoren">
            <a:extLst xmlns:a="http://schemas.openxmlformats.org/drawingml/2006/main">
              <a:ext uri="{FF2B5EF4-FFF2-40B4-BE49-F238E27FC236}">
                <a16:creationId xmlns:a16="http://schemas.microsoft.com/office/drawing/2014/main" id="{0E2D99D3-A829-4C3B-B68E-EDCDAFAFD133}"/>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§1.3.1 Aanbod en aanbodfactoren</a:t>
            </a:r>
          </a:p>
        </p:txBody>
      </p:sp>
      <p:sp>
        <p:nvSpPr>
          <p:cNvPr id="4" name="9">
            <a:extLst xmlns:a="http://schemas.openxmlformats.org/drawingml/2006/main">
              <a:ext uri="{FF2B5EF4-FFF2-40B4-BE49-F238E27FC236}">
                <a16:creationId xmlns:a16="http://schemas.microsoft.com/office/drawing/2014/main" id="{8C13B1B6-8F63-4B0B-A6C8-8138E68AD0A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sp>
        <p:nvSpPr>
          <p:cNvPr id="5" name="Uitlegvoorbeeld — niet uit het boek">
            <a:extLst xmlns:a="http://schemas.openxmlformats.org/drawingml/2006/main">
              <a:ext uri="{FF2B5EF4-FFF2-40B4-BE49-F238E27FC236}">
                <a16:creationId xmlns:a16="http://schemas.microsoft.com/office/drawing/2014/main" id="{EA56B4FA-9FAE-472E-8391-D6D9DB30864D}"/>
              </a:ext>
            </a:extLst>
          </p:cNvPr>
          <p:cNvSpPr>
            <a:spLocks xmlns:a="http://schemas.openxmlformats.org/drawingml/2006/main" noGrp="1"/>
          </p:cNvSpPr>
          <p:nvPr/>
        </p:nvSpPr>
        <p:spPr>
          <a:xfrm xmlns:a="http://schemas.openxmlformats.org/drawingml/2006/main">
            <a:off x="571500" y="169545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658A"/>
                </a:solidFill>
                <a:latin typeface="Arial"/>
                <a:ea typeface="Arial"/>
                <a:cs typeface="Arial"/>
              </a:defRPr>
            </a:pPr>
            <a:r>
              <a:rPr sz="2175" b="1">
                <a:solidFill>
                  <a:srgbClr val="17658A"/>
                </a:solidFill>
                <a:latin typeface="Arial"/>
                <a:ea typeface="Arial"/>
                <a:cs typeface="Arial"/>
              </a:rPr>
              <a:t>Uitlegvoorbeeld — niet uit het boek</a:t>
            </a:r>
          </a:p>
        </p:txBody>
      </p:sp>
      <p:graphicFrame>
        <p:nvGraphicFramePr>
          <p:cNvPr id="16" name="Chart"/>
          <p:cNvGraphicFramePr/>
          <p:nvPr/>
        </p:nvGraphicFramePr>
        <p:xfrm>
          <a:off xmlns:a="http://schemas.openxmlformats.org/drawingml/2006/main" x="571500" y="2362200"/>
          <a:ext xmlns:a="http://schemas.openxmlformats.org/drawingml/2006/main" cx="9810750" cy="5334000"/>
        </p:xfrm>
        <a:graphic xmlns:a="http://schemas.openxmlformats.org/drawingml/2006/main">
          <a:graphicData uri="http://schemas.openxmlformats.org/drawingml/2006/chart">
            <c:chart xmlns:r="http://schemas.openxmlformats.org/officeDocument/2006/relationships" xmlns:c="http://schemas.openxmlformats.org/drawingml/2006/chart" r:id="Re14b112fa3834b41"/>
          </a:graphicData>
        </a:graphic>
      </p:graphicFrame>
      <p:sp>
        <p:nvSpPr>
          <p:cNvPr id="7" name="A₁: q = 3P − 18">
            <a:extLst xmlns:a="http://schemas.openxmlformats.org/drawingml/2006/main">
              <a:ext uri="{FF2B5EF4-FFF2-40B4-BE49-F238E27FC236}">
                <a16:creationId xmlns:a16="http://schemas.microsoft.com/office/drawing/2014/main" id="{38A1DCCC-1BBC-41CA-8817-E0C4893F3233}"/>
              </a:ext>
            </a:extLst>
          </p:cNvPr>
          <p:cNvSpPr>
            <a:spLocks xmlns:a="http://schemas.openxmlformats.org/drawingml/2006/main" noGrp="1"/>
          </p:cNvSpPr>
          <p:nvPr/>
        </p:nvSpPr>
        <p:spPr>
          <a:xfrm xmlns:a="http://schemas.openxmlformats.org/drawingml/2006/main">
            <a:off x="10763250" y="2457450"/>
            <a:ext cx="3905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A94D16"/>
                </a:solidFill>
                <a:latin typeface="Arial"/>
                <a:ea typeface="Arial"/>
                <a:cs typeface="Arial"/>
              </a:defRPr>
            </a:pPr>
            <a:r>
              <a:rPr sz="2625" b="1">
                <a:solidFill>
                  <a:srgbClr val="A94D16"/>
                </a:solidFill>
                <a:latin typeface="Arial"/>
                <a:ea typeface="Arial"/>
                <a:cs typeface="Arial"/>
              </a:rPr>
              <a:t>A₁: q = 3P − 18</a:t>
            </a:r>
          </a:p>
        </p:txBody>
      </p:sp>
      <p:sp>
        <p:nvSpPr>
          <p:cNvPr id="8" name="P = 6 geeft q = 0&#10;P = 16 geeft q = 30">
            <a:extLst xmlns:a="http://schemas.openxmlformats.org/drawingml/2006/main">
              <a:ext uri="{FF2B5EF4-FFF2-40B4-BE49-F238E27FC236}">
                <a16:creationId xmlns:a16="http://schemas.microsoft.com/office/drawing/2014/main" id="{24215EF3-C593-487C-B66E-91E474EF5CB5}"/>
              </a:ext>
            </a:extLst>
          </p:cNvPr>
          <p:cNvSpPr>
            <a:spLocks xmlns:a="http://schemas.openxmlformats.org/drawingml/2006/main" noGrp="1"/>
          </p:cNvSpPr>
          <p:nvPr/>
        </p:nvSpPr>
        <p:spPr>
          <a:xfrm xmlns:a="http://schemas.openxmlformats.org/drawingml/2006/main">
            <a:off x="10763250" y="3333750"/>
            <a:ext cx="3905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P = 6 geeft q = 0</a:t>
            </a:r>
          </a:p>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P = 16 geeft q = 30</a:t>
            </a:r>
          </a:p>
        </p:txBody>
      </p:sp>
      <p:sp>
        <p:nvSpPr>
          <p:cNvPr id="9" name="Punten:&#10;(0; 6) en (30; 16)">
            <a:extLst xmlns:a="http://schemas.openxmlformats.org/drawingml/2006/main">
              <a:ext uri="{FF2B5EF4-FFF2-40B4-BE49-F238E27FC236}">
                <a16:creationId xmlns:a16="http://schemas.microsoft.com/office/drawing/2014/main" id="{3A90A141-0A48-4B84-97A0-5887BDE09045}"/>
              </a:ext>
            </a:extLst>
          </p:cNvPr>
          <p:cNvSpPr>
            <a:spLocks xmlns:a="http://schemas.openxmlformats.org/drawingml/2006/main" noGrp="1"/>
          </p:cNvSpPr>
          <p:nvPr/>
        </p:nvSpPr>
        <p:spPr>
          <a:xfrm xmlns:a="http://schemas.openxmlformats.org/drawingml/2006/main">
            <a:off x="10763250" y="4667250"/>
            <a:ext cx="39052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Punten:</a:t>
            </a:r>
          </a:p>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(0; 6) en (30; 16)</a:t>
            </a:r>
          </a:p>
        </p:txBody>
      </p:sp>
      <p:sp>
        <p:nvSpPr>
          <p:cNvPr id="10" name="Controle bij € 8:&#10;O: oud 12, N: nieuw 6&#10;houders per week">
            <a:extLst xmlns:a="http://schemas.openxmlformats.org/drawingml/2006/main">
              <a:ext uri="{FF2B5EF4-FFF2-40B4-BE49-F238E27FC236}">
                <a16:creationId xmlns:a16="http://schemas.microsoft.com/office/drawing/2014/main" id="{1D820E6F-A9D2-4098-AF04-78E7E755C3B5}"/>
              </a:ext>
            </a:extLst>
          </p:cNvPr>
          <p:cNvSpPr>
            <a:spLocks xmlns:a="http://schemas.openxmlformats.org/drawingml/2006/main" noGrp="1"/>
          </p:cNvSpPr>
          <p:nvPr/>
        </p:nvSpPr>
        <p:spPr>
          <a:xfrm xmlns:a="http://schemas.openxmlformats.org/drawingml/2006/main">
            <a:off x="10763250" y="6334125"/>
            <a:ext cx="3905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Controle bij € 8:</a:t>
            </a:r>
          </a:p>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O: oud 12, N: nieuw 6</a:t>
            </a:r>
          </a:p>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houders per week</a:t>
            </a:r>
          </a:p>
        </p:txBody>
      </p:sp>
    </p:spTree>
    <p:extLst>
      <p:ext uri="{BB962C8B-B14F-4D97-AF65-F5344CB8AC3E}">
        <p14:creationId xmlns:p14="http://schemas.microsoft.com/office/powerpoint/2010/main" val="55365006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ndere omstandigheden kunnen het aanbod veranderen">
            <a:extLst xmlns:a="http://schemas.openxmlformats.org/drawingml/2006/main">
              <a:ext uri="{FF2B5EF4-FFF2-40B4-BE49-F238E27FC236}">
                <a16:creationId xmlns:a16="http://schemas.microsoft.com/office/drawing/2014/main" id="{AAE9E2D2-9AD2-49D1-8D0E-51FA796B9FC9}"/>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Andere omstandigheden kunnen het aanbod veranderen</a:t>
            </a:r>
          </a:p>
        </p:txBody>
      </p:sp>
      <p:sp>
        <p:nvSpPr>
          <p:cNvPr id="2" name="">
            <a:extLst xmlns:a="http://schemas.openxmlformats.org/drawingml/2006/main">
              <a:ext uri="{FF2B5EF4-FFF2-40B4-BE49-F238E27FC236}">
                <a16:creationId xmlns:a16="http://schemas.microsoft.com/office/drawing/2014/main" id="{F78FBA3E-52AE-447D-8425-8D706997905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1 Aanbod en aanbodfactoren">
            <a:extLst xmlns:a="http://schemas.openxmlformats.org/drawingml/2006/main">
              <a:ext uri="{FF2B5EF4-FFF2-40B4-BE49-F238E27FC236}">
                <a16:creationId xmlns:a16="http://schemas.microsoft.com/office/drawing/2014/main" id="{0A4250BE-44D7-41F3-A21D-66ED50947F59}"/>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§1.3.1 Aanbod en aanbodfactoren</a:t>
            </a:r>
          </a:p>
        </p:txBody>
      </p:sp>
      <p:sp>
        <p:nvSpPr>
          <p:cNvPr id="4" name="10">
            <a:extLst xmlns:a="http://schemas.openxmlformats.org/drawingml/2006/main">
              <a:ext uri="{FF2B5EF4-FFF2-40B4-BE49-F238E27FC236}">
                <a16:creationId xmlns:a16="http://schemas.microsoft.com/office/drawing/2014/main" id="{9FE9F23E-1A49-45BA-A16C-A3A1FBC88EE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graphicFrame>
        <p:nvGraphicFramePr>
          <p:cNvPr id="13" name=""/>
          <p:cNvGraphicFramePr/>
          <p:nvPr/>
        </p:nvGraphicFramePr>
        <p:xfrm>
          <a:off xmlns:a="http://schemas.openxmlformats.org/drawingml/2006/main" x="571500" y="1971675"/>
          <a:ext xmlns:a="http://schemas.openxmlformats.org/drawingml/2006/main" cx="14097000" cy="3724275"/>
        </p:xfrm>
        <a:graphic xmlns:a="http://schemas.openxmlformats.org/drawingml/2006/main">
          <a:graphicData uri="http://schemas.openxmlformats.org/drawingml/2006/table">
            <a:tbl>
              <a:tblPr/>
              <a:tblGrid>
                <a:gridCol w="8096250"/>
                <a:gridCol w="6000750"/>
              </a:tblGrid>
              <a:tr h="931069">
                <a:tc>
                  <a:txBody>
                    <a:bodyPr lIns="171450" tIns="95250" rIns="152400" bIns="95250"/>
                    <a:lstStyle/>
                    <a:p>
                      <a:r>
                        <a:rPr sz="2550" b="1">
                          <a:solidFill>
                            <a:srgbClr val="FFFFFF"/>
                          </a:solidFill>
                          <a:latin typeface="Arial"/>
                          <a:ea typeface="Arial"/>
                          <a:cs typeface="Arial"/>
                        </a:rPr>
                        <a:t>Verandering</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Bij dezelfde verkoopprijs</a:t>
                      </a:r>
                    </a:p>
                  </a:txBody>
                  <a:tcPr marL="91440" marR="91440" marT="45720" marB="45720" anchor="ctr">
                    <a:solidFill>
                      <a:srgbClr val="183247"/>
                    </a:solidFill>
                  </a:tcPr>
                </a:tc>
              </a:tr>
              <a:tr h="931069">
                <a:tc>
                  <a:txBody>
                    <a:bodyPr lIns="171450" tIns="95250" rIns="152400" bIns="95250"/>
                    <a:lstStyle/>
                    <a:p>
                      <a:r>
                        <a:rPr sz="2550" b="0">
                          <a:solidFill>
                            <a:srgbClr val="183247"/>
                          </a:solidFill>
                          <a:latin typeface="Arial"/>
                          <a:ea typeface="Arial"/>
                          <a:cs typeface="Arial"/>
                        </a:rPr>
                        <a:t>Productiemiddelen worden duurder.</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Minder aanbod: de lijn naar links.</a:t>
                      </a:r>
                    </a:p>
                  </a:txBody>
                  <a:tcPr marL="91440" marR="91440" marT="45720" marB="45720" anchor="ctr">
                    <a:solidFill>
                      <a:srgbClr val="FFFFFF"/>
                    </a:solidFill>
                  </a:tcPr>
                </a:tc>
              </a:tr>
              <a:tr h="931069">
                <a:tc>
                  <a:txBody>
                    <a:bodyPr lIns="171450" tIns="95250" rIns="152400" bIns="95250"/>
                    <a:lstStyle/>
                    <a:p>
                      <a:r>
                        <a:rPr sz="2550" b="0">
                          <a:solidFill>
                            <a:srgbClr val="183247"/>
                          </a:solidFill>
                          <a:latin typeface="Arial"/>
                          <a:ea typeface="Arial"/>
                          <a:cs typeface="Arial"/>
                        </a:rPr>
                        <a:t>Een betere techniek maakt meer productie mogelijk.</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Meer aanbod: de lijn naar rechts.</a:t>
                      </a:r>
                    </a:p>
                  </a:txBody>
                  <a:tcPr marL="91440" marR="91440" marT="45720" marB="45720" anchor="ctr">
                    <a:solidFill>
                      <a:srgbClr val="EFF4F7"/>
                    </a:solidFill>
                  </a:tcPr>
                </a:tc>
              </a:tr>
              <a:tr h="931069">
                <a:tc>
                  <a:txBody>
                    <a:bodyPr lIns="171450" tIns="95250" rIns="152400" bIns="95250"/>
                    <a:lstStyle/>
                    <a:p>
                      <a:r>
                        <a:rPr sz="2550" b="0">
                          <a:solidFill>
                            <a:srgbClr val="183247"/>
                          </a:solidFill>
                          <a:latin typeface="Arial"/>
                          <a:ea typeface="Arial"/>
                          <a:cs typeface="Arial"/>
                        </a:rPr>
                        <a:t>Er komen aanbieders op de markt bij.</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Meer marktaanbod: de lijn naar rechts.</a:t>
                      </a:r>
                    </a:p>
                  </a:txBody>
                  <a:tcPr marL="91440" marR="91440" marT="45720" marB="45720" anchor="ctr">
                    <a:solidFill>
                      <a:srgbClr val="FFFFFF"/>
                    </a:solidFill>
                  </a:tcPr>
                </a:tc>
              </a:tr>
            </a:tbl>
          </a:graphicData>
        </a:graphic>
      </p:graphicFrame>
      <p:sp>
        <p:nvSpPr>
          <p:cNvPr id="6" name="q: één aanbieder">
            <a:extLst xmlns:a="http://schemas.openxmlformats.org/drawingml/2006/main">
              <a:ext uri="{FF2B5EF4-FFF2-40B4-BE49-F238E27FC236}">
                <a16:creationId xmlns:a16="http://schemas.microsoft.com/office/drawing/2014/main" id="{EA07DF7A-F863-4811-BBD1-18FDA9E11290}"/>
              </a:ext>
            </a:extLst>
          </p:cNvPr>
          <p:cNvSpPr>
            <a:spLocks xmlns:a="http://schemas.openxmlformats.org/drawingml/2006/main" noGrp="1"/>
          </p:cNvSpPr>
          <p:nvPr/>
        </p:nvSpPr>
        <p:spPr>
          <a:xfrm xmlns:a="http://schemas.openxmlformats.org/drawingml/2006/main">
            <a:off x="571500" y="6286500"/>
            <a:ext cx="6524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20665B"/>
                </a:solidFill>
                <a:latin typeface="Arial"/>
                <a:ea typeface="Arial"/>
                <a:cs typeface="Arial"/>
              </a:defRPr>
            </a:pPr>
            <a:r>
              <a:rPr sz="3150" b="1">
                <a:solidFill>
                  <a:srgbClr val="20665B"/>
                </a:solidFill>
                <a:latin typeface="Arial"/>
                <a:ea typeface="Arial"/>
                <a:cs typeface="Arial"/>
              </a:rPr>
              <a:t>q: één aanbieder</a:t>
            </a:r>
          </a:p>
        </p:txBody>
      </p:sp>
      <p:sp>
        <p:nvSpPr>
          <p:cNvPr id="7" name="Qₐ: alle aanbieders samen">
            <a:extLst xmlns:a="http://schemas.openxmlformats.org/drawingml/2006/main">
              <a:ext uri="{FF2B5EF4-FFF2-40B4-BE49-F238E27FC236}">
                <a16:creationId xmlns:a16="http://schemas.microsoft.com/office/drawing/2014/main" id="{370BCC9B-57E9-4701-94A7-5560BCB543B2}"/>
              </a:ext>
            </a:extLst>
          </p:cNvPr>
          <p:cNvSpPr>
            <a:spLocks xmlns:a="http://schemas.openxmlformats.org/drawingml/2006/main" noGrp="1"/>
          </p:cNvSpPr>
          <p:nvPr/>
        </p:nvSpPr>
        <p:spPr>
          <a:xfrm xmlns:a="http://schemas.openxmlformats.org/drawingml/2006/main">
            <a:off x="7524750" y="6286500"/>
            <a:ext cx="714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Qₐ: alle aanbieders samen</a:t>
            </a:r>
          </a:p>
        </p:txBody>
      </p:sp>
      <p:sp>
        <p:nvSpPr>
          <p:cNvPr id="8" name="Extra aanbieders veranderen niet vanzelf het plan van één be">
            <a:extLst xmlns:a="http://schemas.openxmlformats.org/drawingml/2006/main">
              <a:ext uri="{FF2B5EF4-FFF2-40B4-BE49-F238E27FC236}">
                <a16:creationId xmlns:a16="http://schemas.microsoft.com/office/drawing/2014/main" id="{4117223F-1BB7-400B-930C-688B7B60CAF8}"/>
              </a:ext>
            </a:extLst>
          </p:cNvPr>
          <p:cNvSpPr>
            <a:spLocks xmlns:a="http://schemas.openxmlformats.org/drawingml/2006/main" noGrp="1"/>
          </p:cNvSpPr>
          <p:nvPr/>
        </p:nvSpPr>
        <p:spPr>
          <a:xfrm xmlns:a="http://schemas.openxmlformats.org/drawingml/2006/main">
            <a:off x="571500" y="7296150"/>
            <a:ext cx="1409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Extra aanbieders veranderen niet vanzelf het plan van één bestaande aanbieder.</a:t>
            </a:r>
          </a:p>
        </p:txBody>
      </p:sp>
    </p:spTree>
    <p:extLst>
      <p:ext uri="{BB962C8B-B14F-4D97-AF65-F5344CB8AC3E}">
        <p14:creationId xmlns:p14="http://schemas.microsoft.com/office/powerpoint/2010/main" val="180485012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wee veranderingen: de effecten apart berekenen">
            <a:extLst xmlns:a="http://schemas.openxmlformats.org/drawingml/2006/main">
              <a:ext uri="{FF2B5EF4-FFF2-40B4-BE49-F238E27FC236}">
                <a16:creationId xmlns:a16="http://schemas.microsoft.com/office/drawing/2014/main" id="{BA5D30B3-167B-4117-8AAE-BCB4FE15D692}"/>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Twee veranderingen: de effecten apart berekenen</a:t>
            </a:r>
          </a:p>
        </p:txBody>
      </p:sp>
      <p:sp>
        <p:nvSpPr>
          <p:cNvPr id="2" name="">
            <a:extLst xmlns:a="http://schemas.openxmlformats.org/drawingml/2006/main">
              <a:ext uri="{FF2B5EF4-FFF2-40B4-BE49-F238E27FC236}">
                <a16:creationId xmlns:a16="http://schemas.microsoft.com/office/drawing/2014/main" id="{775F1D68-D581-4F7F-A793-28053B55FF1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1 Aanbod en aanbodfactoren">
            <a:extLst xmlns:a="http://schemas.openxmlformats.org/drawingml/2006/main">
              <a:ext uri="{FF2B5EF4-FFF2-40B4-BE49-F238E27FC236}">
                <a16:creationId xmlns:a16="http://schemas.microsoft.com/office/drawing/2014/main" id="{A13F0932-7E67-4DD3-BB16-04BD85833016}"/>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§1.3.1 Aanbod en aanbodfactoren</a:t>
            </a:r>
          </a:p>
        </p:txBody>
      </p:sp>
      <p:sp>
        <p:nvSpPr>
          <p:cNvPr id="4" name="11">
            <a:extLst xmlns:a="http://schemas.openxmlformats.org/drawingml/2006/main">
              <a:ext uri="{FF2B5EF4-FFF2-40B4-BE49-F238E27FC236}">
                <a16:creationId xmlns:a16="http://schemas.microsoft.com/office/drawing/2014/main" id="{62FA3D19-5CFC-4B6D-B22C-AF31A5FF051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sp>
        <p:nvSpPr>
          <p:cNvPr id="5" name="Uitlegvoorbeeld — niet uit het boek">
            <a:extLst xmlns:a="http://schemas.openxmlformats.org/drawingml/2006/main">
              <a:ext uri="{FF2B5EF4-FFF2-40B4-BE49-F238E27FC236}">
                <a16:creationId xmlns:a16="http://schemas.microsoft.com/office/drawing/2014/main" id="{6588D255-27F8-4645-AB0D-EB9EE9973669}"/>
              </a:ext>
            </a:extLst>
          </p:cNvPr>
          <p:cNvSpPr>
            <a:spLocks xmlns:a="http://schemas.openxmlformats.org/drawingml/2006/main" noGrp="1"/>
          </p:cNvSpPr>
          <p:nvPr/>
        </p:nvSpPr>
        <p:spPr>
          <a:xfrm xmlns:a="http://schemas.openxmlformats.org/drawingml/2006/main">
            <a:off x="571500" y="169545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658A"/>
                </a:solidFill>
                <a:latin typeface="Arial"/>
                <a:ea typeface="Arial"/>
                <a:cs typeface="Arial"/>
              </a:defRPr>
            </a:pPr>
            <a:r>
              <a:rPr sz="2175" b="1">
                <a:solidFill>
                  <a:srgbClr val="17658A"/>
                </a:solidFill>
                <a:latin typeface="Arial"/>
                <a:ea typeface="Arial"/>
                <a:cs typeface="Arial"/>
              </a:rPr>
              <a:t>Uitlegvoorbeeld — niet uit het boek</a:t>
            </a:r>
          </a:p>
        </p:txBody>
      </p:sp>
      <p:sp>
        <p:nvSpPr>
          <p:cNvPr id="6" name="Houderprijs: € 8 naar € 12. Tegelijk wordt hout duurder.">
            <a:extLst xmlns:a="http://schemas.openxmlformats.org/drawingml/2006/main">
              <a:ext uri="{FF2B5EF4-FFF2-40B4-BE49-F238E27FC236}">
                <a16:creationId xmlns:a16="http://schemas.microsoft.com/office/drawing/2014/main" id="{CDAE14FD-C2BF-46FB-8FF6-F4B92918C5DD}"/>
              </a:ext>
            </a:extLst>
          </p:cNvPr>
          <p:cNvSpPr>
            <a:spLocks xmlns:a="http://schemas.openxmlformats.org/drawingml/2006/main" noGrp="1"/>
          </p:cNvSpPr>
          <p:nvPr/>
        </p:nvSpPr>
        <p:spPr>
          <a:xfrm xmlns:a="http://schemas.openxmlformats.org/drawingml/2006/main">
            <a:off x="571500" y="2333625"/>
            <a:ext cx="14097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Houderprijs: € 8 naar € 12. Tegelijk wordt hout duurder.</a:t>
            </a:r>
          </a:p>
        </p:txBody>
      </p:sp>
      <p:graphicFrame>
        <p:nvGraphicFramePr>
          <p:cNvPr id="15" name=""/>
          <p:cNvGraphicFramePr/>
          <p:nvPr/>
        </p:nvGraphicFramePr>
        <p:xfrm>
          <a:off xmlns:a="http://schemas.openxmlformats.org/drawingml/2006/main" x="571500" y="3457575"/>
          <a:ext xmlns:a="http://schemas.openxmlformats.org/drawingml/2006/main" cx="14097000" cy="3267075"/>
        </p:xfrm>
        <a:graphic xmlns:a="http://schemas.openxmlformats.org/drawingml/2006/main">
          <a:graphicData uri="http://schemas.openxmlformats.org/drawingml/2006/table">
            <a:tbl>
              <a:tblPr/>
              <a:tblGrid>
                <a:gridCol w="7048500"/>
                <a:gridCol w="4286250"/>
                <a:gridCol w="2762250"/>
              </a:tblGrid>
              <a:tr h="816769">
                <a:tc>
                  <a:txBody>
                    <a:bodyPr lIns="171450" tIns="95250" rIns="152400" bIns="95250"/>
                    <a:lstStyle/>
                    <a:p>
                      <a:r>
                        <a:rPr sz="2475" b="1">
                          <a:solidFill>
                            <a:srgbClr val="FFFFFF"/>
                          </a:solidFill>
                          <a:latin typeface="Arial"/>
                          <a:ea typeface="Arial"/>
                          <a:cs typeface="Arial"/>
                        </a:rPr>
                        <a:t>Situatie</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Berekening</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q per week</a:t>
                      </a:r>
                    </a:p>
                  </a:txBody>
                  <a:tcPr marL="91440" marR="91440" marT="45720" marB="45720" anchor="ctr">
                    <a:solidFill>
                      <a:srgbClr val="183247"/>
                    </a:solidFill>
                  </a:tcPr>
                </a:tc>
              </a:tr>
              <a:tr h="816769">
                <a:tc>
                  <a:txBody>
                    <a:bodyPr lIns="171450" tIns="95250" rIns="152400" bIns="95250"/>
                    <a:lstStyle/>
                    <a:p>
                      <a:r>
                        <a:rPr sz="2475" b="0">
                          <a:solidFill>
                            <a:srgbClr val="183247"/>
                          </a:solidFill>
                          <a:latin typeface="Arial"/>
                          <a:ea typeface="Arial"/>
                          <a:cs typeface="Arial"/>
                        </a:rPr>
                        <a:t>Begin: oude prijs en oude functie</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3 × 8 − 12</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12</a:t>
                      </a:r>
                    </a:p>
                  </a:txBody>
                  <a:tcPr marL="91440" marR="91440" marT="45720" marB="45720" anchor="ctr">
                    <a:solidFill>
                      <a:srgbClr val="FFFFFF"/>
                    </a:solidFill>
                  </a:tcPr>
                </a:tc>
              </a:tr>
              <a:tr h="816769">
                <a:tc>
                  <a:txBody>
                    <a:bodyPr lIns="171450" tIns="95250" rIns="152400" bIns="95250"/>
                    <a:lstStyle/>
                    <a:p>
                      <a:r>
                        <a:rPr sz="2475" b="0">
                          <a:solidFill>
                            <a:srgbClr val="183247"/>
                          </a:solidFill>
                          <a:latin typeface="Arial"/>
                          <a:ea typeface="Arial"/>
                          <a:cs typeface="Arial"/>
                        </a:rPr>
                        <a:t>Alleen hogere verkoopprijs</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3 × 12 − 12</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24</a:t>
                      </a:r>
                    </a:p>
                  </a:txBody>
                  <a:tcPr marL="91440" marR="91440" marT="45720" marB="45720" anchor="ctr">
                    <a:solidFill>
                      <a:srgbClr val="EFF4F7"/>
                    </a:solidFill>
                  </a:tcPr>
                </a:tc>
              </a:tr>
              <a:tr h="816769">
                <a:tc>
                  <a:txBody>
                    <a:bodyPr lIns="171450" tIns="95250" rIns="152400" bIns="95250"/>
                    <a:lstStyle/>
                    <a:p>
                      <a:r>
                        <a:rPr sz="2475" b="0">
                          <a:solidFill>
                            <a:srgbClr val="183247"/>
                          </a:solidFill>
                          <a:latin typeface="Arial"/>
                          <a:ea typeface="Arial"/>
                          <a:cs typeface="Arial"/>
                        </a:rPr>
                        <a:t>Daarna ook duurdere houtprijs</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3 × 12 − 18</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18</a:t>
                      </a:r>
                    </a:p>
                  </a:txBody>
                  <a:tcPr marL="91440" marR="91440" marT="45720" marB="45720" anchor="ctr">
                    <a:solidFill>
                      <a:srgbClr val="FFFFFF"/>
                    </a:solidFill>
                  </a:tcPr>
                </a:tc>
              </a:tr>
            </a:tbl>
          </a:graphicData>
        </a:graphic>
      </p:graphicFrame>
      <p:sp>
        <p:nvSpPr>
          <p:cNvPr id="8" name="+12 door de houderprijs, −6 door het hout: netto +6.">
            <a:extLst xmlns:a="http://schemas.openxmlformats.org/drawingml/2006/main">
              <a:ext uri="{FF2B5EF4-FFF2-40B4-BE49-F238E27FC236}">
                <a16:creationId xmlns:a16="http://schemas.microsoft.com/office/drawing/2014/main" id="{F4358238-9D92-48B5-8DF5-C96E2B4077FB}"/>
              </a:ext>
            </a:extLst>
          </p:cNvPr>
          <p:cNvSpPr>
            <a:spLocks xmlns:a="http://schemas.openxmlformats.org/drawingml/2006/main" noGrp="1"/>
          </p:cNvSpPr>
          <p:nvPr/>
        </p:nvSpPr>
        <p:spPr>
          <a:xfrm xmlns:a="http://schemas.openxmlformats.org/drawingml/2006/main">
            <a:off x="571500" y="7239000"/>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A94D16"/>
                </a:solidFill>
                <a:latin typeface="Arial"/>
                <a:ea typeface="Arial"/>
                <a:cs typeface="Arial"/>
              </a:defRPr>
            </a:pPr>
            <a:r>
              <a:rPr sz="3000" b="1">
                <a:solidFill>
                  <a:srgbClr val="A94D16"/>
                </a:solidFill>
                <a:latin typeface="Arial"/>
                <a:ea typeface="Arial"/>
                <a:cs typeface="Arial"/>
              </a:rPr>
              <a:t>+12 door de houderprijs, −6 door het hout: netto +6.</a:t>
            </a:r>
          </a:p>
        </p:txBody>
      </p:sp>
    </p:spTree>
    <p:extLst>
      <p:ext uri="{BB962C8B-B14F-4D97-AF65-F5344CB8AC3E}">
        <p14:creationId xmlns:p14="http://schemas.microsoft.com/office/powerpoint/2010/main" val="212186122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De drie situaties in één grafiek">
            <a:extLst xmlns:a="http://schemas.openxmlformats.org/drawingml/2006/main">
              <a:ext uri="{FF2B5EF4-FFF2-40B4-BE49-F238E27FC236}">
                <a16:creationId xmlns:a16="http://schemas.microsoft.com/office/drawing/2014/main" id="{6CBB12F2-ECFB-424C-B204-DEB88398A033}"/>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 drie situaties in één grafiek</a:t>
            </a:r>
          </a:p>
        </p:txBody>
      </p:sp>
      <p:sp>
        <p:nvSpPr>
          <p:cNvPr id="2" name="">
            <a:extLst xmlns:a="http://schemas.openxmlformats.org/drawingml/2006/main">
              <a:ext uri="{FF2B5EF4-FFF2-40B4-BE49-F238E27FC236}">
                <a16:creationId xmlns:a16="http://schemas.microsoft.com/office/drawing/2014/main" id="{9D9AC823-4FB7-4FB3-8A93-253F3FBBEBE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1 Aanbod en aanbodfactoren">
            <a:extLst xmlns:a="http://schemas.openxmlformats.org/drawingml/2006/main">
              <a:ext uri="{FF2B5EF4-FFF2-40B4-BE49-F238E27FC236}">
                <a16:creationId xmlns:a16="http://schemas.microsoft.com/office/drawing/2014/main" id="{30BAE219-C023-4087-BBD1-A426C3F2106F}"/>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§1.3.1 Aanbod en aanbodfactoren</a:t>
            </a:r>
          </a:p>
        </p:txBody>
      </p:sp>
      <p:sp>
        <p:nvSpPr>
          <p:cNvPr id="4" name="12">
            <a:extLst xmlns:a="http://schemas.openxmlformats.org/drawingml/2006/main">
              <a:ext uri="{FF2B5EF4-FFF2-40B4-BE49-F238E27FC236}">
                <a16:creationId xmlns:a16="http://schemas.microsoft.com/office/drawing/2014/main" id="{793097BE-902F-4D99-BF00-92CA0776B2C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sp>
        <p:nvSpPr>
          <p:cNvPr id="5" name="Uitlegvoorbeeld — niet uit het boek">
            <a:extLst xmlns:a="http://schemas.openxmlformats.org/drawingml/2006/main">
              <a:ext uri="{FF2B5EF4-FFF2-40B4-BE49-F238E27FC236}">
                <a16:creationId xmlns:a16="http://schemas.microsoft.com/office/drawing/2014/main" id="{49B472DC-B5E2-4AF5-A44F-E553B3E9E5DB}"/>
              </a:ext>
            </a:extLst>
          </p:cNvPr>
          <p:cNvSpPr>
            <a:spLocks xmlns:a="http://schemas.openxmlformats.org/drawingml/2006/main" noGrp="1"/>
          </p:cNvSpPr>
          <p:nvPr/>
        </p:nvSpPr>
        <p:spPr>
          <a:xfrm xmlns:a="http://schemas.openxmlformats.org/drawingml/2006/main">
            <a:off x="571500" y="169545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658A"/>
                </a:solidFill>
                <a:latin typeface="Arial"/>
                <a:ea typeface="Arial"/>
                <a:cs typeface="Arial"/>
              </a:defRPr>
            </a:pPr>
            <a:r>
              <a:rPr sz="2175" b="1">
                <a:solidFill>
                  <a:srgbClr val="17658A"/>
                </a:solidFill>
                <a:latin typeface="Arial"/>
                <a:ea typeface="Arial"/>
                <a:cs typeface="Arial"/>
              </a:rPr>
              <a:t>Uitlegvoorbeeld — niet uit het boek</a:t>
            </a:r>
          </a:p>
        </p:txBody>
      </p:sp>
      <p:graphicFrame>
        <p:nvGraphicFramePr>
          <p:cNvPr id="19" name="Chart"/>
          <p:cNvGraphicFramePr/>
          <p:nvPr/>
        </p:nvGraphicFramePr>
        <p:xfrm>
          <a:off xmlns:a="http://schemas.openxmlformats.org/drawingml/2006/main" x="571500" y="2362200"/>
          <a:ext xmlns:a="http://schemas.openxmlformats.org/drawingml/2006/main" cx="9810750" cy="5334000"/>
        </p:xfrm>
        <a:graphic xmlns:a="http://schemas.openxmlformats.org/drawingml/2006/main">
          <a:graphicData uri="http://schemas.openxmlformats.org/drawingml/2006/chart">
            <c:chart xmlns:r="http://schemas.openxmlformats.org/officeDocument/2006/relationships" xmlns:c="http://schemas.openxmlformats.org/drawingml/2006/chart" r:id="R70a66c54faf9499b"/>
          </a:graphicData>
        </a:graphic>
      </p:graphicFrame>
      <p:sp>
        <p:nvSpPr>
          <p:cNvPr id="7" name="R: oud">
            <a:extLst xmlns:a="http://schemas.openxmlformats.org/drawingml/2006/main">
              <a:ext uri="{FF2B5EF4-FFF2-40B4-BE49-F238E27FC236}">
                <a16:creationId xmlns:a16="http://schemas.microsoft.com/office/drawing/2014/main" id="{C32F317F-0C2B-4B3F-B2DF-C7A3C883A9B7}"/>
              </a:ext>
            </a:extLst>
          </p:cNvPr>
          <p:cNvSpPr>
            <a:spLocks xmlns:a="http://schemas.openxmlformats.org/drawingml/2006/main" noGrp="1"/>
          </p:cNvSpPr>
          <p:nvPr/>
        </p:nvSpPr>
        <p:spPr>
          <a:xfrm xmlns:a="http://schemas.openxmlformats.org/drawingml/2006/main">
            <a:off x="10763250" y="2514600"/>
            <a:ext cx="3905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R: oud</a:t>
            </a:r>
          </a:p>
        </p:txBody>
      </p:sp>
      <p:sp>
        <p:nvSpPr>
          <p:cNvPr id="8" name="(12; 8)">
            <a:extLst xmlns:a="http://schemas.openxmlformats.org/drawingml/2006/main">
              <a:ext uri="{FF2B5EF4-FFF2-40B4-BE49-F238E27FC236}">
                <a16:creationId xmlns:a16="http://schemas.microsoft.com/office/drawing/2014/main" id="{652F3E30-6091-4C86-9FEE-A58AC8D1ACA6}"/>
              </a:ext>
            </a:extLst>
          </p:cNvPr>
          <p:cNvSpPr>
            <a:spLocks xmlns:a="http://schemas.openxmlformats.org/drawingml/2006/main" noGrp="1"/>
          </p:cNvSpPr>
          <p:nvPr/>
        </p:nvSpPr>
        <p:spPr>
          <a:xfrm xmlns:a="http://schemas.openxmlformats.org/drawingml/2006/main">
            <a:off x="10763250" y="3057525"/>
            <a:ext cx="3905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(12; 8)</a:t>
            </a:r>
          </a:p>
        </p:txBody>
      </p:sp>
      <p:sp>
        <p:nvSpPr>
          <p:cNvPr id="9" name="S: alleen eigen prijs">
            <a:extLst xmlns:a="http://schemas.openxmlformats.org/drawingml/2006/main">
              <a:ext uri="{FF2B5EF4-FFF2-40B4-BE49-F238E27FC236}">
                <a16:creationId xmlns:a16="http://schemas.microsoft.com/office/drawing/2014/main" id="{0D73E3B0-E497-4E8F-A3D1-1AA781ED9FE7}"/>
              </a:ext>
            </a:extLst>
          </p:cNvPr>
          <p:cNvSpPr>
            <a:spLocks xmlns:a="http://schemas.openxmlformats.org/drawingml/2006/main" noGrp="1"/>
          </p:cNvSpPr>
          <p:nvPr/>
        </p:nvSpPr>
        <p:spPr>
          <a:xfrm xmlns:a="http://schemas.openxmlformats.org/drawingml/2006/main">
            <a:off x="10763250" y="3962400"/>
            <a:ext cx="3905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0665B"/>
                </a:solidFill>
                <a:latin typeface="Arial"/>
                <a:ea typeface="Arial"/>
                <a:cs typeface="Arial"/>
              </a:defRPr>
            </a:pPr>
            <a:r>
              <a:rPr sz="2400" b="1">
                <a:solidFill>
                  <a:srgbClr val="20665B"/>
                </a:solidFill>
                <a:latin typeface="Arial"/>
                <a:ea typeface="Arial"/>
                <a:cs typeface="Arial"/>
              </a:rPr>
              <a:t>S: alleen eigen prijs</a:t>
            </a:r>
          </a:p>
        </p:txBody>
      </p:sp>
      <p:sp>
        <p:nvSpPr>
          <p:cNvPr id="10" name="(24; 12)">
            <a:extLst xmlns:a="http://schemas.openxmlformats.org/drawingml/2006/main">
              <a:ext uri="{FF2B5EF4-FFF2-40B4-BE49-F238E27FC236}">
                <a16:creationId xmlns:a16="http://schemas.microsoft.com/office/drawing/2014/main" id="{9F5F4A73-D9AC-4DD7-9CDB-A6ED60BF990E}"/>
              </a:ext>
            </a:extLst>
          </p:cNvPr>
          <p:cNvSpPr>
            <a:spLocks xmlns:a="http://schemas.openxmlformats.org/drawingml/2006/main" noGrp="1"/>
          </p:cNvSpPr>
          <p:nvPr/>
        </p:nvSpPr>
        <p:spPr>
          <a:xfrm xmlns:a="http://schemas.openxmlformats.org/drawingml/2006/main">
            <a:off x="10763250" y="4476750"/>
            <a:ext cx="3905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(24; 12)</a:t>
            </a:r>
          </a:p>
        </p:txBody>
      </p:sp>
      <p:sp>
        <p:nvSpPr>
          <p:cNvPr id="11" name="T: beide veranderingen">
            <a:extLst xmlns:a="http://schemas.openxmlformats.org/drawingml/2006/main">
              <a:ext uri="{FF2B5EF4-FFF2-40B4-BE49-F238E27FC236}">
                <a16:creationId xmlns:a16="http://schemas.microsoft.com/office/drawing/2014/main" id="{F609D783-00B6-47D3-B1A3-687D5782F177}"/>
              </a:ext>
            </a:extLst>
          </p:cNvPr>
          <p:cNvSpPr>
            <a:spLocks xmlns:a="http://schemas.openxmlformats.org/drawingml/2006/main" noGrp="1"/>
          </p:cNvSpPr>
          <p:nvPr/>
        </p:nvSpPr>
        <p:spPr>
          <a:xfrm xmlns:a="http://schemas.openxmlformats.org/drawingml/2006/main">
            <a:off x="10763250" y="5429250"/>
            <a:ext cx="3905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A94D16"/>
                </a:solidFill>
                <a:latin typeface="Arial"/>
                <a:ea typeface="Arial"/>
                <a:cs typeface="Arial"/>
              </a:defRPr>
            </a:pPr>
            <a:r>
              <a:rPr sz="2400" b="1">
                <a:solidFill>
                  <a:srgbClr val="A94D16"/>
                </a:solidFill>
                <a:latin typeface="Arial"/>
                <a:ea typeface="Arial"/>
                <a:cs typeface="Arial"/>
              </a:rPr>
              <a:t>T: beide veranderingen</a:t>
            </a:r>
          </a:p>
        </p:txBody>
      </p:sp>
      <p:sp>
        <p:nvSpPr>
          <p:cNvPr id="12" name="(18; 12)">
            <a:extLst xmlns:a="http://schemas.openxmlformats.org/drawingml/2006/main">
              <a:ext uri="{FF2B5EF4-FFF2-40B4-BE49-F238E27FC236}">
                <a16:creationId xmlns:a16="http://schemas.microsoft.com/office/drawing/2014/main" id="{B1B2E4FB-D9AE-4328-B30D-D92E3DB03AD8}"/>
              </a:ext>
            </a:extLst>
          </p:cNvPr>
          <p:cNvSpPr>
            <a:spLocks xmlns:a="http://schemas.openxmlformats.org/drawingml/2006/main" noGrp="1"/>
          </p:cNvSpPr>
          <p:nvPr/>
        </p:nvSpPr>
        <p:spPr>
          <a:xfrm xmlns:a="http://schemas.openxmlformats.org/drawingml/2006/main">
            <a:off x="10763250" y="5943600"/>
            <a:ext cx="3905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(18; 12)</a:t>
            </a:r>
          </a:p>
        </p:txBody>
      </p:sp>
      <p:sp>
        <p:nvSpPr>
          <p:cNvPr id="13" name="Aangeboden is nog&#10;niet verkocht.">
            <a:extLst xmlns:a="http://schemas.openxmlformats.org/drawingml/2006/main">
              <a:ext uri="{FF2B5EF4-FFF2-40B4-BE49-F238E27FC236}">
                <a16:creationId xmlns:a16="http://schemas.microsoft.com/office/drawing/2014/main" id="{71F5A6E7-16B0-421D-BB53-96C921EEDF5E}"/>
              </a:ext>
            </a:extLst>
          </p:cNvPr>
          <p:cNvSpPr>
            <a:spLocks xmlns:a="http://schemas.openxmlformats.org/drawingml/2006/main" noGrp="1"/>
          </p:cNvSpPr>
          <p:nvPr/>
        </p:nvSpPr>
        <p:spPr>
          <a:xfrm xmlns:a="http://schemas.openxmlformats.org/drawingml/2006/main">
            <a:off x="10763250" y="6981825"/>
            <a:ext cx="3905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83247"/>
                </a:solidFill>
                <a:latin typeface="Arial"/>
                <a:ea typeface="Arial"/>
                <a:cs typeface="Arial"/>
              </a:defRPr>
            </a:pPr>
            <a:r>
              <a:rPr sz="2475" b="1">
                <a:solidFill>
                  <a:srgbClr val="183247"/>
                </a:solidFill>
                <a:latin typeface="Arial"/>
                <a:ea typeface="Arial"/>
                <a:cs typeface="Arial"/>
              </a:rPr>
              <a:t>Aangeboden is nog</a:t>
            </a:r>
          </a:p>
          <a:p xmlns:a="http://schemas.openxmlformats.org/drawingml/2006/main">
            <a:pPr algn="l">
              <a:defRPr sz="2475" b="1">
                <a:solidFill>
                  <a:srgbClr val="183247"/>
                </a:solidFill>
                <a:latin typeface="Arial"/>
                <a:ea typeface="Arial"/>
                <a:cs typeface="Arial"/>
              </a:defRPr>
            </a:pPr>
            <a:r>
              <a:rPr sz="2475" b="1">
                <a:solidFill>
                  <a:srgbClr val="183247"/>
                </a:solidFill>
                <a:latin typeface="Arial"/>
                <a:ea typeface="Arial"/>
                <a:cs typeface="Arial"/>
              </a:rPr>
              <a:t>niet verkocht.</a:t>
            </a:r>
          </a:p>
        </p:txBody>
      </p:sp>
    </p:spTree>
    <p:extLst>
      <p:ext uri="{BB962C8B-B14F-4D97-AF65-F5344CB8AC3E}">
        <p14:creationId xmlns:p14="http://schemas.microsoft.com/office/powerpoint/2010/main" val="181456869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orte controle: wat kun je zonder getallen zeggen?">
            <a:extLst xmlns:a="http://schemas.openxmlformats.org/drawingml/2006/main">
              <a:ext uri="{FF2B5EF4-FFF2-40B4-BE49-F238E27FC236}">
                <a16:creationId xmlns:a16="http://schemas.microsoft.com/office/drawing/2014/main" id="{AADF7597-29CF-4AE7-8728-52B96AB36AC0}"/>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Korte controle: wat kun je zonder getallen zeggen?</a:t>
            </a:r>
          </a:p>
        </p:txBody>
      </p:sp>
      <p:sp>
        <p:nvSpPr>
          <p:cNvPr id="2" name="">
            <a:extLst xmlns:a="http://schemas.openxmlformats.org/drawingml/2006/main">
              <a:ext uri="{FF2B5EF4-FFF2-40B4-BE49-F238E27FC236}">
                <a16:creationId xmlns:a16="http://schemas.microsoft.com/office/drawing/2014/main" id="{156DF4F2-9E17-4FB8-BF65-091CC483B0D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1 Aanbod en aanbodfactoren">
            <a:extLst xmlns:a="http://schemas.openxmlformats.org/drawingml/2006/main">
              <a:ext uri="{FF2B5EF4-FFF2-40B4-BE49-F238E27FC236}">
                <a16:creationId xmlns:a16="http://schemas.microsoft.com/office/drawing/2014/main" id="{F01AA14C-5774-483C-A9B7-A12966AB3DD4}"/>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§1.3.1 Aanbod en aanbodfactoren</a:t>
            </a:r>
          </a:p>
        </p:txBody>
      </p:sp>
      <p:sp>
        <p:nvSpPr>
          <p:cNvPr id="4" name="13">
            <a:extLst xmlns:a="http://schemas.openxmlformats.org/drawingml/2006/main">
              <a:ext uri="{FF2B5EF4-FFF2-40B4-BE49-F238E27FC236}">
                <a16:creationId xmlns:a16="http://schemas.microsoft.com/office/drawing/2014/main" id="{C99C09C4-AABB-4D1C-A6B6-265A6C15AA4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sp>
        <p:nvSpPr>
          <p:cNvPr id="5" name="Uitlegvoorbeeld — niet uit het boek">
            <a:extLst xmlns:a="http://schemas.openxmlformats.org/drawingml/2006/main">
              <a:ext uri="{FF2B5EF4-FFF2-40B4-BE49-F238E27FC236}">
                <a16:creationId xmlns:a16="http://schemas.microsoft.com/office/drawing/2014/main" id="{B7D86191-AC34-4E20-9D27-1E5AA89C455D}"/>
              </a:ext>
            </a:extLst>
          </p:cNvPr>
          <p:cNvSpPr>
            <a:spLocks xmlns:a="http://schemas.openxmlformats.org/drawingml/2006/main" noGrp="1"/>
          </p:cNvSpPr>
          <p:nvPr/>
        </p:nvSpPr>
        <p:spPr>
          <a:xfrm xmlns:a="http://schemas.openxmlformats.org/drawingml/2006/main">
            <a:off x="571500" y="169545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658A"/>
                </a:solidFill>
                <a:latin typeface="Arial"/>
                <a:ea typeface="Arial"/>
                <a:cs typeface="Arial"/>
              </a:defRPr>
            </a:pPr>
            <a:r>
              <a:rPr sz="2175" b="1">
                <a:solidFill>
                  <a:srgbClr val="17658A"/>
                </a:solidFill>
                <a:latin typeface="Arial"/>
                <a:ea typeface="Arial"/>
                <a:cs typeface="Arial"/>
              </a:rPr>
              <a:t>Uitlegvoorbeeld — niet uit het boek</a:t>
            </a:r>
          </a:p>
        </p:txBody>
      </p:sp>
      <p:sp>
        <p:nvSpPr>
          <p:cNvPr id="6" name="Een hogere houderprijs én duurder hout.">
            <a:extLst xmlns:a="http://schemas.openxmlformats.org/drawingml/2006/main">
              <a:ext uri="{FF2B5EF4-FFF2-40B4-BE49-F238E27FC236}">
                <a16:creationId xmlns:a16="http://schemas.microsoft.com/office/drawing/2014/main" id="{20B0A44F-F3D0-4494-9C33-4AD48E2C5DD2}"/>
              </a:ext>
            </a:extLst>
          </p:cNvPr>
          <p:cNvSpPr>
            <a:spLocks xmlns:a="http://schemas.openxmlformats.org/drawingml/2006/main" noGrp="1"/>
          </p:cNvSpPr>
          <p:nvPr/>
        </p:nvSpPr>
        <p:spPr>
          <a:xfrm xmlns:a="http://schemas.openxmlformats.org/drawingml/2006/main">
            <a:off x="571500" y="2514600"/>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83247"/>
                </a:solidFill>
                <a:latin typeface="Arial"/>
                <a:ea typeface="Arial"/>
                <a:cs typeface="Arial"/>
              </a:defRPr>
            </a:pPr>
            <a:r>
              <a:rPr sz="3600" b="1">
                <a:solidFill>
                  <a:srgbClr val="183247"/>
                </a:solidFill>
                <a:latin typeface="Arial"/>
                <a:ea typeface="Arial"/>
                <a:cs typeface="Arial"/>
              </a:rPr>
              <a:t>Een hogere houderprijs én duurder hout.</a:t>
            </a:r>
          </a:p>
        </p:txBody>
      </p:sp>
      <p:sp>
        <p:nvSpPr>
          <p:cNvPr id="7" name="Je kent de grootte van beide effecten niet.">
            <a:extLst xmlns:a="http://schemas.openxmlformats.org/drawingml/2006/main">
              <a:ext uri="{FF2B5EF4-FFF2-40B4-BE49-F238E27FC236}">
                <a16:creationId xmlns:a16="http://schemas.microsoft.com/office/drawing/2014/main" id="{2784C36C-C639-4A7B-A9F4-2622E053C27F}"/>
              </a:ext>
            </a:extLst>
          </p:cNvPr>
          <p:cNvSpPr>
            <a:spLocks xmlns:a="http://schemas.openxmlformats.org/drawingml/2006/main" noGrp="1"/>
          </p:cNvSpPr>
          <p:nvPr/>
        </p:nvSpPr>
        <p:spPr>
          <a:xfrm xmlns:a="http://schemas.openxmlformats.org/drawingml/2006/main">
            <a:off x="571500" y="369570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Je kent de grootte van beide effecten niet.</a:t>
            </a:r>
          </a:p>
        </p:txBody>
      </p:sp>
      <p:sp>
        <p:nvSpPr>
          <p:cNvPr id="8" name="Is de uiteindelijke aangeboden hoeveelheid&#10;zeker groter dan ">
            <a:extLst xmlns:a="http://schemas.openxmlformats.org/drawingml/2006/main">
              <a:ext uri="{FF2B5EF4-FFF2-40B4-BE49-F238E27FC236}">
                <a16:creationId xmlns:a16="http://schemas.microsoft.com/office/drawing/2014/main" id="{CD28ABC0-313F-41EE-9737-1C5A9556CB1A}"/>
              </a:ext>
            </a:extLst>
          </p:cNvPr>
          <p:cNvSpPr>
            <a:spLocks xmlns:a="http://schemas.openxmlformats.org/drawingml/2006/main" noGrp="1"/>
          </p:cNvSpPr>
          <p:nvPr/>
        </p:nvSpPr>
        <p:spPr>
          <a:xfrm xmlns:a="http://schemas.openxmlformats.org/drawingml/2006/main">
            <a:off x="571500" y="4905375"/>
            <a:ext cx="140970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17658A"/>
                </a:solidFill>
                <a:latin typeface="Arial"/>
                <a:ea typeface="Arial"/>
                <a:cs typeface="Arial"/>
              </a:defRPr>
            </a:pPr>
            <a:r>
              <a:rPr sz="3525" b="1">
                <a:solidFill>
                  <a:srgbClr val="17658A"/>
                </a:solidFill>
                <a:latin typeface="Arial"/>
                <a:ea typeface="Arial"/>
                <a:cs typeface="Arial"/>
              </a:rPr>
              <a:t>Is de uiteindelijke aangeboden hoeveelheid</a:t>
            </a:r>
          </a:p>
          <a:p xmlns:a="http://schemas.openxmlformats.org/drawingml/2006/main">
            <a:pPr algn="l">
              <a:defRPr sz="3525" b="1">
                <a:solidFill>
                  <a:srgbClr val="17658A"/>
                </a:solidFill>
                <a:latin typeface="Arial"/>
                <a:ea typeface="Arial"/>
                <a:cs typeface="Arial"/>
              </a:defRPr>
            </a:pPr>
            <a:r>
              <a:rPr sz="3525" b="1">
                <a:solidFill>
                  <a:srgbClr val="17658A"/>
                </a:solidFill>
                <a:latin typeface="Arial"/>
                <a:ea typeface="Arial"/>
                <a:cs typeface="Arial"/>
              </a:rPr>
              <a:t>zeker groter dan eerst?</a:t>
            </a:r>
          </a:p>
        </p:txBody>
      </p:sp>
      <p:sp>
        <p:nvSpPr>
          <p:cNvPr id="9" name="Benoem eerst de twee oorzaken en hun richting.">
            <a:extLst xmlns:a="http://schemas.openxmlformats.org/drawingml/2006/main">
              <a:ext uri="{FF2B5EF4-FFF2-40B4-BE49-F238E27FC236}">
                <a16:creationId xmlns:a16="http://schemas.microsoft.com/office/drawing/2014/main" id="{7FEF8DF6-54BD-4288-BA06-BB63E66F726A}"/>
              </a:ext>
            </a:extLst>
          </p:cNvPr>
          <p:cNvSpPr>
            <a:spLocks xmlns:a="http://schemas.openxmlformats.org/drawingml/2006/main" noGrp="1"/>
          </p:cNvSpPr>
          <p:nvPr/>
        </p:nvSpPr>
        <p:spPr>
          <a:xfrm xmlns:a="http://schemas.openxmlformats.org/drawingml/2006/main">
            <a:off x="571500" y="7048500"/>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Benoem eerst de twee oorzaken en hun richting.</a:t>
            </a:r>
          </a:p>
        </p:txBody>
      </p:sp>
    </p:spTree>
    <p:extLst>
      <p:ext uri="{BB962C8B-B14F-4D97-AF65-F5344CB8AC3E}">
        <p14:creationId xmlns:p14="http://schemas.microsoft.com/office/powerpoint/2010/main" val="213625263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1.3.1 Aanbod en aanbodfactoren">
            <a:extLst xmlns:a="http://schemas.openxmlformats.org/drawingml/2006/main">
              <a:ext uri="{FF2B5EF4-FFF2-40B4-BE49-F238E27FC236}">
                <a16:creationId xmlns:a16="http://schemas.microsoft.com/office/drawing/2014/main" id="{A162531E-87C8-4DF3-8AAE-98CA8A3E158E}"/>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Deze les: §1.3.1 Aanbod en aanbodfactoren</a:t>
            </a:r>
          </a:p>
        </p:txBody>
      </p:sp>
      <p:sp>
        <p:nvSpPr>
          <p:cNvPr id="2" name="">
            <a:extLst xmlns:a="http://schemas.openxmlformats.org/drawingml/2006/main">
              <a:ext uri="{FF2B5EF4-FFF2-40B4-BE49-F238E27FC236}">
                <a16:creationId xmlns:a16="http://schemas.microsoft.com/office/drawing/2014/main" id="{98704077-5887-428A-B110-577BBFA4034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1 Aanbod en aanbodfactoren">
            <a:extLst xmlns:a="http://schemas.openxmlformats.org/drawingml/2006/main">
              <a:ext uri="{FF2B5EF4-FFF2-40B4-BE49-F238E27FC236}">
                <a16:creationId xmlns:a16="http://schemas.microsoft.com/office/drawing/2014/main" id="{F1C38627-1833-4D66-A459-C2964FDE7DD3}"/>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§1.3.1 Aanbod en aanbodfactoren</a:t>
            </a:r>
          </a:p>
        </p:txBody>
      </p:sp>
      <p:sp>
        <p:nvSpPr>
          <p:cNvPr id="4" name="14">
            <a:extLst xmlns:a="http://schemas.openxmlformats.org/drawingml/2006/main">
              <a:ext uri="{FF2B5EF4-FFF2-40B4-BE49-F238E27FC236}">
                <a16:creationId xmlns:a16="http://schemas.microsoft.com/office/drawing/2014/main" id="{2D80D866-239E-4479-A622-1FC42B54A62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sp>
        <p:nvSpPr>
          <p:cNvPr id="5" name="phase">
            <a:extLst xmlns:a="http://schemas.openxmlformats.org/drawingml/2006/main">
              <a:ext uri="{FF2B5EF4-FFF2-40B4-BE49-F238E27FC236}">
                <a16:creationId xmlns:a16="http://schemas.microsoft.com/office/drawing/2014/main" id="{7C53278E-E38A-480C-9481-5D3A3711F66C}"/>
              </a:ext>
            </a:extLst>
          </p:cNvPr>
          <p:cNvSpPr>
            <a:spLocks xmlns:a="http://schemas.openxmlformats.org/drawingml/2006/main" noGrp="1"/>
          </p:cNvSpPr>
          <p:nvPr/>
        </p:nvSpPr>
        <p:spPr>
          <a:xfrm xmlns:a="http://schemas.openxmlformats.org/drawingml/2006/main">
            <a:off x="571500" y="1066800"/>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Zelfstandig werken</a:t>
            </a:r>
          </a:p>
        </p:txBody>
      </p:sp>
      <p:sp>
        <p:nvSpPr>
          <p:cNvPr id="6" name="Lesroute">
            <a:extLst xmlns:a="http://schemas.openxmlformats.org/drawingml/2006/main">
              <a:ext uri="{FF2B5EF4-FFF2-40B4-BE49-F238E27FC236}">
                <a16:creationId xmlns:a16="http://schemas.microsoft.com/office/drawing/2014/main" id="{D1BC5EBB-FB4C-4089-A36E-B74626B6B8DE}"/>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57783358-3C78-42C9-8ACC-641B66E69BBD}"/>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8F2FEDEB-EBA8-41FD-866B-6665C8450D5B}"/>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88DBABAD-62CC-4EAC-960D-71A8B734DD3B}"/>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A5705E42-0757-41DC-8BE5-C4CD0463D1CE}"/>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AF1DBCD2-D6FB-4327-9187-143DC039D070}"/>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242DDBAF-E5FF-4793-B3FD-CD372D5CC19C}"/>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A7CFC8C6-A04F-413F-9A1F-518469E57F17}"/>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80107880-9405-4F82-84FD-8414C010C523}"/>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E1245F05-6B3A-4179-90ED-C00762C1CB30}"/>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0536B4C8-D144-4F49-8327-06FF5D5AF148}"/>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A0B56CE2-31B5-41AD-96A4-795E128B4F49}"/>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346F1114-DEA9-474A-AAAA-F8669C776E52}"/>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9.</a:t>
            </a:r>
          </a:p>
        </p:txBody>
      </p:sp>
      <p:sp>
        <p:nvSpPr>
          <p:cNvPr id="19" name="route-number-7">
            <a:extLst xmlns:a="http://schemas.openxmlformats.org/drawingml/2006/main">
              <a:ext uri="{FF2B5EF4-FFF2-40B4-BE49-F238E27FC236}">
                <a16:creationId xmlns:a16="http://schemas.microsoft.com/office/drawing/2014/main" id="{99457367-0D49-453E-8132-75FF45B8C505}"/>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73CBE22C-FA9E-497E-BD14-A85BBF489345}"/>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2E3BB693-F660-49EA-8F76-BF9CCF1251B3}"/>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91A3113C-4917-4AED-A38D-CD975DB179E2}"/>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Aanbod uitleggen en berekenen.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Bewegen en verschuiven onderscheiden.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Plannen en verkoop uit elkaar houden.</a:t>
            </a:r>
          </a:p>
        </p:txBody>
      </p:sp>
      <p:sp>
        <p:nvSpPr>
          <p:cNvPr id="23" name="">
            <a:extLst xmlns:a="http://schemas.openxmlformats.org/drawingml/2006/main">
              <a:ext uri="{FF2B5EF4-FFF2-40B4-BE49-F238E27FC236}">
                <a16:creationId xmlns:a16="http://schemas.microsoft.com/office/drawing/2014/main" id="{0AA8B551-C5DC-4AF1-B4A9-ABB8A95A024F}"/>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EF53FC00-5F14-4884-99F3-4352EDDD4804}"/>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9A03F416-AA88-44F5-AB95-ECB20BF750B9}"/>
              </a:ext>
            </a:extLst>
          </p:cNvPr>
          <p:cNvSpPr>
            <a:spLocks xmlns:a="http://schemas.openxmlformats.org/drawingml/2006/main" noGrp="1"/>
          </p:cNvSpPr>
          <p:nvPr/>
        </p:nvSpPr>
        <p:spPr>
          <a:xfrm xmlns:a="http://schemas.openxmlformats.org/drawingml/2006/main">
            <a:off x="9258300" y="4371975"/>
            <a:ext cx="5381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90 · Opgaven 1 en 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 verkennen, theorie p. 86 en 89</a:t>
            </a:r>
          </a:p>
        </p:txBody>
      </p:sp>
      <p:sp>
        <p:nvSpPr>
          <p:cNvPr id="26" name="">
            <a:extLst xmlns:a="http://schemas.openxmlformats.org/drawingml/2006/main">
              <a:ext uri="{FF2B5EF4-FFF2-40B4-BE49-F238E27FC236}">
                <a16:creationId xmlns:a16="http://schemas.microsoft.com/office/drawing/2014/main" id="{CCBE05D6-5E2F-4F93-9BB4-24617759347D}"/>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E3BD5CEE-E376-447E-BA0B-CB9486C1556B}"/>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07579518-E736-45C1-AF6D-2B298536964F}"/>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§1.3.1</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 4 en 5</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6, 7 en 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9</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106620962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9 · Atelier Sprint">
            <a:extLst xmlns:a="http://schemas.openxmlformats.org/drawingml/2006/main">
              <a:ext uri="{FF2B5EF4-FFF2-40B4-BE49-F238E27FC236}">
                <a16:creationId xmlns:a16="http://schemas.microsoft.com/office/drawing/2014/main" id="{D4882CAA-FD14-42D7-B888-DFFE8C243B0E}"/>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9 · Atelier Sprint</a:t>
            </a:r>
          </a:p>
        </p:txBody>
      </p:sp>
      <p:sp>
        <p:nvSpPr>
          <p:cNvPr id="2" name="">
            <a:extLst xmlns:a="http://schemas.openxmlformats.org/drawingml/2006/main">
              <a:ext uri="{FF2B5EF4-FFF2-40B4-BE49-F238E27FC236}">
                <a16:creationId xmlns:a16="http://schemas.microsoft.com/office/drawing/2014/main" id="{E8FC35E7-A914-434E-8177-5169D73F01B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1 Aanbod en aanbodfactoren · Doelopgave · Boekpagina 94">
            <a:extLst xmlns:a="http://schemas.openxmlformats.org/drawingml/2006/main">
              <a:ext uri="{FF2B5EF4-FFF2-40B4-BE49-F238E27FC236}">
                <a16:creationId xmlns:a16="http://schemas.microsoft.com/office/drawing/2014/main" id="{FC5B03E0-B87C-4E84-8E93-1778CABC7A37}"/>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§1.3.1 Aanbod en aanbodfactoren · Doelopgave · Boekpagina 94</a:t>
            </a:r>
          </a:p>
        </p:txBody>
      </p:sp>
      <p:sp>
        <p:nvSpPr>
          <p:cNvPr id="4" name="15">
            <a:extLst xmlns:a="http://schemas.openxmlformats.org/drawingml/2006/main">
              <a:ext uri="{FF2B5EF4-FFF2-40B4-BE49-F238E27FC236}">
                <a16:creationId xmlns:a16="http://schemas.microsoft.com/office/drawing/2014/main" id="{3C899F51-E415-400E-9008-01BFDF28024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sp>
        <p:nvSpPr>
          <p:cNvPr id="5" name="Eén atelier maakt sporttassen.">
            <a:extLst xmlns:a="http://schemas.openxmlformats.org/drawingml/2006/main">
              <a:ext uri="{FF2B5EF4-FFF2-40B4-BE49-F238E27FC236}">
                <a16:creationId xmlns:a16="http://schemas.microsoft.com/office/drawing/2014/main" id="{9CCE03AC-DB60-4DDF-88E9-09AB26EDC8FB}"/>
              </a:ext>
            </a:extLst>
          </p:cNvPr>
          <p:cNvSpPr>
            <a:spLocks xmlns:a="http://schemas.openxmlformats.org/drawingml/2006/main" noGrp="1"/>
          </p:cNvSpPr>
          <p:nvPr/>
        </p:nvSpPr>
        <p:spPr>
          <a:xfrm xmlns:a="http://schemas.openxmlformats.org/drawingml/2006/main">
            <a:off x="571500" y="1847850"/>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Eén atelier maakt sporttassen.</a:t>
            </a:r>
          </a:p>
        </p:txBody>
      </p:sp>
      <p:graphicFrame>
        <p:nvGraphicFramePr>
          <p:cNvPr id="14" name=""/>
          <p:cNvGraphicFramePr/>
          <p:nvPr/>
        </p:nvGraphicFramePr>
        <p:xfrm>
          <a:off xmlns:a="http://schemas.openxmlformats.org/drawingml/2006/main" x="571500" y="2971800"/>
          <a:ext xmlns:a="http://schemas.openxmlformats.org/drawingml/2006/main" cx="14097000" cy="2495550"/>
        </p:xfrm>
        <a:graphic xmlns:a="http://schemas.openxmlformats.org/drawingml/2006/main">
          <a:graphicData uri="http://schemas.openxmlformats.org/drawingml/2006/table">
            <a:tbl>
              <a:tblPr/>
              <a:tblGrid>
                <a:gridCol w="8667750"/>
                <a:gridCol w="5429250"/>
              </a:tblGrid>
              <a:tr h="831850">
                <a:tc>
                  <a:txBody>
                    <a:bodyPr lIns="171450" tIns="95250" rIns="152400" bIns="95250"/>
                    <a:lstStyle/>
                    <a:p>
                      <a:r>
                        <a:rPr sz="2925" b="1">
                          <a:solidFill>
                            <a:srgbClr val="FFFFFF"/>
                          </a:solidFill>
                          <a:latin typeface="Arial"/>
                          <a:ea typeface="Arial"/>
                          <a:cs typeface="Arial"/>
                        </a:rPr>
                        <a:t>Aanbodfunctie</a:t>
                      </a:r>
                    </a:p>
                  </a:txBody>
                  <a:tcPr marL="91440" marR="91440" marT="45720" marB="45720" anchor="ctr">
                    <a:solidFill>
                      <a:srgbClr val="183247"/>
                    </a:solidFill>
                  </a:tcPr>
                </a:tc>
                <a:tc>
                  <a:txBody>
                    <a:bodyPr lIns="171450" tIns="95250" rIns="152400" bIns="95250"/>
                    <a:lstStyle/>
                    <a:p>
                      <a:r>
                        <a:rPr sz="2925" b="1">
                          <a:solidFill>
                            <a:srgbClr val="FFFFFF"/>
                          </a:solidFill>
                          <a:latin typeface="Arial"/>
                          <a:ea typeface="Arial"/>
                          <a:cs typeface="Arial"/>
                        </a:rPr>
                        <a:t>Geldig voor</a:t>
                      </a:r>
                    </a:p>
                  </a:txBody>
                  <a:tcPr marL="91440" marR="91440" marT="45720" marB="45720" anchor="ctr">
                    <a:solidFill>
                      <a:srgbClr val="183247"/>
                    </a:solidFill>
                  </a:tcPr>
                </a:tc>
              </a:tr>
              <a:tr h="831850">
                <a:tc>
                  <a:txBody>
                    <a:bodyPr lIns="171450" tIns="95250" rIns="152400" bIns="95250"/>
                    <a:lstStyle/>
                    <a:p>
                      <a:r>
                        <a:rPr sz="2925" b="0">
                          <a:solidFill>
                            <a:srgbClr val="183247"/>
                          </a:solidFill>
                          <a:latin typeface="Arial"/>
                          <a:ea typeface="Arial"/>
                          <a:cs typeface="Arial"/>
                        </a:rPr>
                        <a:t>Eerst: q = 4P − 40</a:t>
                      </a:r>
                    </a:p>
                  </a:txBody>
                  <a:tcPr marL="91440" marR="91440" marT="45720" marB="45720" anchor="ctr">
                    <a:solidFill>
                      <a:srgbClr val="FFFFFF"/>
                    </a:solidFill>
                  </a:tcPr>
                </a:tc>
                <a:tc>
                  <a:txBody>
                    <a:bodyPr lIns="171450" tIns="95250" rIns="152400" bIns="95250"/>
                    <a:lstStyle/>
                    <a:p>
                      <a:r>
                        <a:rPr sz="2925" b="0">
                          <a:solidFill>
                            <a:srgbClr val="183247"/>
                          </a:solidFill>
                          <a:latin typeface="Arial"/>
                          <a:ea typeface="Arial"/>
                          <a:cs typeface="Arial"/>
                        </a:rPr>
                        <a:t>10 ≤ P ≤ 30</a:t>
                      </a:r>
                    </a:p>
                  </a:txBody>
                  <a:tcPr marL="91440" marR="91440" marT="45720" marB="45720" anchor="ctr">
                    <a:solidFill>
                      <a:srgbClr val="FFFFFF"/>
                    </a:solidFill>
                  </a:tcPr>
                </a:tc>
              </a:tr>
              <a:tr h="831850">
                <a:tc>
                  <a:txBody>
                    <a:bodyPr lIns="171450" tIns="95250" rIns="152400" bIns="95250"/>
                    <a:lstStyle/>
                    <a:p>
                      <a:r>
                        <a:rPr sz="2925" b="0">
                          <a:solidFill>
                            <a:srgbClr val="183247"/>
                          </a:solidFill>
                          <a:latin typeface="Arial"/>
                          <a:ea typeface="Arial"/>
                          <a:cs typeface="Arial"/>
                        </a:rPr>
                        <a:t>Nieuw: q = 4P − 52</a:t>
                      </a:r>
                    </a:p>
                  </a:txBody>
                  <a:tcPr marL="91440" marR="91440" marT="45720" marB="45720" anchor="ctr">
                    <a:solidFill>
                      <a:srgbClr val="EFF4F7"/>
                    </a:solidFill>
                  </a:tcPr>
                </a:tc>
                <a:tc>
                  <a:txBody>
                    <a:bodyPr lIns="171450" tIns="95250" rIns="152400" bIns="95250"/>
                    <a:lstStyle/>
                    <a:p>
                      <a:r>
                        <a:rPr sz="2925" b="0">
                          <a:solidFill>
                            <a:srgbClr val="183247"/>
                          </a:solidFill>
                          <a:latin typeface="Arial"/>
                          <a:ea typeface="Arial"/>
                          <a:cs typeface="Arial"/>
                        </a:rPr>
                        <a:t>13 ≤ P ≤ 30</a:t>
                      </a:r>
                    </a:p>
                  </a:txBody>
                  <a:tcPr marL="91440" marR="91440" marT="45720" marB="45720" anchor="ctr">
                    <a:solidFill>
                      <a:srgbClr val="EFF4F7"/>
                    </a:solidFill>
                  </a:tcPr>
                </a:tc>
              </a:tr>
            </a:tbl>
          </a:graphicData>
        </a:graphic>
      </p:graphicFrame>
      <p:sp>
        <p:nvSpPr>
          <p:cNvPr id="7" name="q: tassen per maand. P: euro per tas.">
            <a:extLst xmlns:a="http://schemas.openxmlformats.org/drawingml/2006/main">
              <a:ext uri="{FF2B5EF4-FFF2-40B4-BE49-F238E27FC236}">
                <a16:creationId xmlns:a16="http://schemas.microsoft.com/office/drawing/2014/main" id="{D93F13F8-5B5D-4017-89D6-98F94F7311E0}"/>
              </a:ext>
            </a:extLst>
          </p:cNvPr>
          <p:cNvSpPr>
            <a:spLocks xmlns:a="http://schemas.openxmlformats.org/drawingml/2006/main" noGrp="1"/>
          </p:cNvSpPr>
          <p:nvPr/>
        </p:nvSpPr>
        <p:spPr>
          <a:xfrm xmlns:a="http://schemas.openxmlformats.org/drawingml/2006/main">
            <a:off x="571500" y="587692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q: tassen per maand. P: euro per tas.</a:t>
            </a:r>
          </a:p>
        </p:txBody>
      </p:sp>
      <p:sp>
        <p:nvSpPr>
          <p:cNvPr id="8" name="De verkoopprijs stijgt van € 20 naar € 24.&#10;Tegelijk wordt st">
            <a:extLst xmlns:a="http://schemas.openxmlformats.org/drawingml/2006/main">
              <a:ext uri="{FF2B5EF4-FFF2-40B4-BE49-F238E27FC236}">
                <a16:creationId xmlns:a16="http://schemas.microsoft.com/office/drawing/2014/main" id="{B6A785F4-6EB4-46E9-8612-2D3599FCA075}"/>
              </a:ext>
            </a:extLst>
          </p:cNvPr>
          <p:cNvSpPr>
            <a:spLocks xmlns:a="http://schemas.openxmlformats.org/drawingml/2006/main" noGrp="1"/>
          </p:cNvSpPr>
          <p:nvPr/>
        </p:nvSpPr>
        <p:spPr>
          <a:xfrm xmlns:a="http://schemas.openxmlformats.org/drawingml/2006/main">
            <a:off x="571500" y="6896100"/>
            <a:ext cx="140970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De verkoopprijs stijgt van € 20 naar € 24.</a:t>
            </a:r>
          </a:p>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Tegelijk wordt stof duurder. Verder verandert er niets.</a:t>
            </a:r>
          </a:p>
        </p:txBody>
      </p:sp>
    </p:spTree>
    <p:extLst>
      <p:ext uri="{BB962C8B-B14F-4D97-AF65-F5344CB8AC3E}">
        <p14:creationId xmlns:p14="http://schemas.microsoft.com/office/powerpoint/2010/main" val="181667900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9 · De gegeven beginlijn">
            <a:extLst xmlns:a="http://schemas.openxmlformats.org/drawingml/2006/main">
              <a:ext uri="{FF2B5EF4-FFF2-40B4-BE49-F238E27FC236}">
                <a16:creationId xmlns:a16="http://schemas.microsoft.com/office/drawing/2014/main" id="{5B7EE8E4-3B30-4EC9-8387-44711111D6C9}"/>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9 · De gegeven beginlijn</a:t>
            </a:r>
          </a:p>
        </p:txBody>
      </p:sp>
      <p:sp>
        <p:nvSpPr>
          <p:cNvPr id="2" name="">
            <a:extLst xmlns:a="http://schemas.openxmlformats.org/drawingml/2006/main">
              <a:ext uri="{FF2B5EF4-FFF2-40B4-BE49-F238E27FC236}">
                <a16:creationId xmlns:a16="http://schemas.microsoft.com/office/drawing/2014/main" id="{A44A7668-A01A-43F0-A593-B74F83638E5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1 Aanbod en aanbodfactoren · Opgave 9 · Boekpagina 94">
            <a:extLst xmlns:a="http://schemas.openxmlformats.org/drawingml/2006/main">
              <a:ext uri="{FF2B5EF4-FFF2-40B4-BE49-F238E27FC236}">
                <a16:creationId xmlns:a16="http://schemas.microsoft.com/office/drawing/2014/main" id="{53423D0C-914C-4E12-848B-7E0D9A2E1319}"/>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§1.3.1 Aanbod en aanbodfactoren · Opgave 9 · Boekpagina 94</a:t>
            </a:r>
          </a:p>
        </p:txBody>
      </p:sp>
      <p:sp>
        <p:nvSpPr>
          <p:cNvPr id="4" name="16">
            <a:extLst xmlns:a="http://schemas.openxmlformats.org/drawingml/2006/main">
              <a:ext uri="{FF2B5EF4-FFF2-40B4-BE49-F238E27FC236}">
                <a16:creationId xmlns:a16="http://schemas.microsoft.com/office/drawing/2014/main" id="{FF3D21D0-56BC-4458-9090-1A48B325E59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graphicFrame>
        <p:nvGraphicFramePr>
          <p:cNvPr id="13" name="Chart"/>
          <p:cNvGraphicFramePr/>
          <p:nvPr/>
        </p:nvGraphicFramePr>
        <p:xfrm>
          <a:off xmlns:a="http://schemas.openxmlformats.org/drawingml/2006/main" x="571500" y="2362200"/>
          <a:ext xmlns:a="http://schemas.openxmlformats.org/drawingml/2006/main" cx="9810750" cy="5334000"/>
        </p:xfrm>
        <a:graphic xmlns:a="http://schemas.openxmlformats.org/drawingml/2006/main">
          <a:graphicData uri="http://schemas.openxmlformats.org/drawingml/2006/chart">
            <c:chart xmlns:r="http://schemas.openxmlformats.org/officeDocument/2006/relationships" xmlns:c="http://schemas.openxmlformats.org/drawingml/2006/chart" r:id="Rcde9fa2ef1ea40f5"/>
          </a:graphicData>
        </a:graphic>
      </p:graphicFrame>
      <p:sp>
        <p:nvSpPr>
          <p:cNvPr id="6" name="Aanbod van één&#10;tassenatelier">
            <a:extLst xmlns:a="http://schemas.openxmlformats.org/drawingml/2006/main">
              <a:ext uri="{FF2B5EF4-FFF2-40B4-BE49-F238E27FC236}">
                <a16:creationId xmlns:a16="http://schemas.microsoft.com/office/drawing/2014/main" id="{B7DC6F28-7FE3-47B3-8683-A4129581B0C3}"/>
              </a:ext>
            </a:extLst>
          </p:cNvPr>
          <p:cNvSpPr>
            <a:spLocks xmlns:a="http://schemas.openxmlformats.org/drawingml/2006/main" noGrp="1"/>
          </p:cNvSpPr>
          <p:nvPr/>
        </p:nvSpPr>
        <p:spPr>
          <a:xfrm xmlns:a="http://schemas.openxmlformats.org/drawingml/2006/main">
            <a:off x="10763250" y="2505075"/>
            <a:ext cx="3905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Aanbod van één</a:t>
            </a:r>
          </a:p>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tassenatelier</a:t>
            </a:r>
          </a:p>
        </p:txBody>
      </p:sp>
      <p:sp>
        <p:nvSpPr>
          <p:cNvPr id="7" name="Gebruik de gegeven&#10;beginlijn; voeg de&#10;nieuwe lijn en alle&#10;ma">
            <a:extLst xmlns:a="http://schemas.openxmlformats.org/drawingml/2006/main">
              <a:ext uri="{FF2B5EF4-FFF2-40B4-BE49-F238E27FC236}">
                <a16:creationId xmlns:a16="http://schemas.microsoft.com/office/drawing/2014/main" id="{69FAC4BA-236C-424F-97E4-7252C9752E2E}"/>
              </a:ext>
            </a:extLst>
          </p:cNvPr>
          <p:cNvSpPr>
            <a:spLocks xmlns:a="http://schemas.openxmlformats.org/drawingml/2006/main" noGrp="1"/>
          </p:cNvSpPr>
          <p:nvPr/>
        </p:nvSpPr>
        <p:spPr>
          <a:xfrm xmlns:a="http://schemas.openxmlformats.org/drawingml/2006/main">
            <a:off x="10763250" y="4048125"/>
            <a:ext cx="3905250" cy="2114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Gebruik de gegeven</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beginlijn; voeg de</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nieuwe lijn en alle</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markeringen zelf toe.</a:t>
            </a:r>
          </a:p>
        </p:txBody>
      </p:sp>
      <p:sp>
        <p:nvSpPr>
          <p:cNvPr id="8" name="A₀: q = 4P − 40">
            <a:extLst xmlns:a="http://schemas.openxmlformats.org/drawingml/2006/main">
              <a:ext uri="{FF2B5EF4-FFF2-40B4-BE49-F238E27FC236}">
                <a16:creationId xmlns:a16="http://schemas.microsoft.com/office/drawing/2014/main" id="{66A427CE-5E11-4AFD-A5C2-3A4B653980BF}"/>
              </a:ext>
            </a:extLst>
          </p:cNvPr>
          <p:cNvSpPr>
            <a:spLocks xmlns:a="http://schemas.openxmlformats.org/drawingml/2006/main" noGrp="1"/>
          </p:cNvSpPr>
          <p:nvPr/>
        </p:nvSpPr>
        <p:spPr>
          <a:xfrm xmlns:a="http://schemas.openxmlformats.org/drawingml/2006/main">
            <a:off x="10763250" y="7077075"/>
            <a:ext cx="3905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0665B"/>
                </a:solidFill>
                <a:latin typeface="Arial"/>
                <a:ea typeface="Arial"/>
                <a:cs typeface="Arial"/>
              </a:defRPr>
            </a:pPr>
            <a:r>
              <a:rPr sz="2550" b="1">
                <a:solidFill>
                  <a:srgbClr val="20665B"/>
                </a:solidFill>
                <a:latin typeface="Arial"/>
                <a:ea typeface="Arial"/>
                <a:cs typeface="Arial"/>
              </a:rPr>
              <a:t>A₀: q = 4P − 40</a:t>
            </a:r>
          </a:p>
        </p:txBody>
      </p:sp>
    </p:spTree>
    <p:extLst>
      <p:ext uri="{BB962C8B-B14F-4D97-AF65-F5344CB8AC3E}">
        <p14:creationId xmlns:p14="http://schemas.microsoft.com/office/powerpoint/2010/main" val="178287202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9 · Deelvragen a, b en c">
            <a:extLst xmlns:a="http://schemas.openxmlformats.org/drawingml/2006/main">
              <a:ext uri="{FF2B5EF4-FFF2-40B4-BE49-F238E27FC236}">
                <a16:creationId xmlns:a16="http://schemas.microsoft.com/office/drawing/2014/main" id="{D522EE8F-45B3-486F-875A-8BD52F7A0D2A}"/>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9 · Deelvragen a, b en c</a:t>
            </a:r>
          </a:p>
        </p:txBody>
      </p:sp>
      <p:sp>
        <p:nvSpPr>
          <p:cNvPr id="2" name="">
            <a:extLst xmlns:a="http://schemas.openxmlformats.org/drawingml/2006/main">
              <a:ext uri="{FF2B5EF4-FFF2-40B4-BE49-F238E27FC236}">
                <a16:creationId xmlns:a16="http://schemas.microsoft.com/office/drawing/2014/main" id="{4011D9BF-9C75-483D-9CA3-4C7DE4D357E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1 Aanbod en aanbodfactoren · Opgave 9 · Boekpagina 94">
            <a:extLst xmlns:a="http://schemas.openxmlformats.org/drawingml/2006/main">
              <a:ext uri="{FF2B5EF4-FFF2-40B4-BE49-F238E27FC236}">
                <a16:creationId xmlns:a16="http://schemas.microsoft.com/office/drawing/2014/main" id="{41F41FC1-9138-48AE-80B4-77BF4E618F3A}"/>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§1.3.1 Aanbod en aanbodfactoren · Opgave 9 · Boekpagina 94</a:t>
            </a:r>
          </a:p>
        </p:txBody>
      </p:sp>
      <p:sp>
        <p:nvSpPr>
          <p:cNvPr id="4" name="17">
            <a:extLst xmlns:a="http://schemas.openxmlformats.org/drawingml/2006/main">
              <a:ext uri="{FF2B5EF4-FFF2-40B4-BE49-F238E27FC236}">
                <a16:creationId xmlns:a16="http://schemas.microsoft.com/office/drawing/2014/main" id="{70A4A510-3172-46E8-9098-05DAA6A8378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sp>
        <p:nvSpPr>
          <p:cNvPr id="5" name="a. Bereken q vóór de veranderingen en na alleen de verkooppr">
            <a:extLst xmlns:a="http://schemas.openxmlformats.org/drawingml/2006/main">
              <a:ext uri="{FF2B5EF4-FFF2-40B4-BE49-F238E27FC236}">
                <a16:creationId xmlns:a16="http://schemas.microsoft.com/office/drawing/2014/main" id="{7CF92C41-A6A8-493B-A5E0-D293D72EE4A3}"/>
              </a:ext>
            </a:extLst>
          </p:cNvPr>
          <p:cNvSpPr>
            <a:spLocks xmlns:a="http://schemas.openxmlformats.org/drawingml/2006/main" noGrp="1"/>
          </p:cNvSpPr>
          <p:nvPr/>
        </p:nvSpPr>
        <p:spPr>
          <a:xfrm xmlns:a="http://schemas.openxmlformats.org/drawingml/2006/main">
            <a:off x="571500" y="1971675"/>
            <a:ext cx="1409700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a. Bereken q vóór de veranderingen en na alleen de verkoopprijsstijging. Wat betekent de 4 in de functie?</a:t>
            </a:r>
          </a:p>
        </p:txBody>
      </p:sp>
      <p:sp>
        <p:nvSpPr>
          <p:cNvPr id="6" name="">
            <a:extLst xmlns:a="http://schemas.openxmlformats.org/drawingml/2006/main">
              <a:ext uri="{FF2B5EF4-FFF2-40B4-BE49-F238E27FC236}">
                <a16:creationId xmlns:a16="http://schemas.microsoft.com/office/drawing/2014/main" id="{77CA1685-6B30-4803-8A57-23DE62EA897D}"/>
              </a:ext>
            </a:extLst>
          </p:cNvPr>
          <p:cNvSpPr>
            <a:spLocks xmlns:a="http://schemas.openxmlformats.org/drawingml/2006/main" noGrp="1"/>
          </p:cNvSpPr>
          <p:nvPr/>
        </p:nvSpPr>
        <p:spPr>
          <a:xfrm xmlns:a="http://schemas.openxmlformats.org/drawingml/2006/main">
            <a:off x="571500" y="3676650"/>
            <a:ext cx="14097000" cy="0"/>
          </a:xfrm>
          <a:prstGeom xmlns:a="http://schemas.openxmlformats.org/drawingml/2006/main" prst="line">
            <a:avLst/>
          </a:prstGeom>
          <a:ln xmlns:a="http://schemas.openxmlformats.org/drawingml/2006/main" w="19050">
            <a:solidFill>
              <a:srgbClr val="C6D2DB"/>
            </a:solidFill>
          </a:ln>
        </p:spPr>
      </p:sp>
      <p:sp>
        <p:nvSpPr>
          <p:cNvPr id="7" name="b. Welke factor verschuift A? Bereken ter vergelijking het n">
            <a:extLst xmlns:a="http://schemas.openxmlformats.org/drawingml/2006/main">
              <a:ext uri="{FF2B5EF4-FFF2-40B4-BE49-F238E27FC236}">
                <a16:creationId xmlns:a16="http://schemas.microsoft.com/office/drawing/2014/main" id="{358CD9CF-BE73-473F-BEC9-E27261AF60BB}"/>
              </a:ext>
            </a:extLst>
          </p:cNvPr>
          <p:cNvSpPr>
            <a:spLocks xmlns:a="http://schemas.openxmlformats.org/drawingml/2006/main" noGrp="1"/>
          </p:cNvSpPr>
          <p:nvPr/>
        </p:nvSpPr>
        <p:spPr>
          <a:xfrm xmlns:a="http://schemas.openxmlformats.org/drawingml/2006/main">
            <a:off x="571500" y="4067175"/>
            <a:ext cx="14097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b. Welke factor verschuift A? Bereken ter vergelijking het nieuwe aanbod bij de oude prijs van € 20.</a:t>
            </a:r>
          </a:p>
        </p:txBody>
      </p:sp>
      <p:sp>
        <p:nvSpPr>
          <p:cNvPr id="8" name="">
            <a:extLst xmlns:a="http://schemas.openxmlformats.org/drawingml/2006/main">
              <a:ext uri="{FF2B5EF4-FFF2-40B4-BE49-F238E27FC236}">
                <a16:creationId xmlns:a16="http://schemas.microsoft.com/office/drawing/2014/main" id="{7707DD53-94CA-4702-ACA1-D4A1E041AB6D}"/>
              </a:ext>
            </a:extLst>
          </p:cNvPr>
          <p:cNvSpPr>
            <a:spLocks xmlns:a="http://schemas.openxmlformats.org/drawingml/2006/main" noGrp="1"/>
          </p:cNvSpPr>
          <p:nvPr/>
        </p:nvSpPr>
        <p:spPr>
          <a:xfrm xmlns:a="http://schemas.openxmlformats.org/drawingml/2006/main">
            <a:off x="571500" y="5838825"/>
            <a:ext cx="14097000" cy="0"/>
          </a:xfrm>
          <a:prstGeom xmlns:a="http://schemas.openxmlformats.org/drawingml/2006/main" prst="line">
            <a:avLst/>
          </a:prstGeom>
          <a:ln xmlns:a="http://schemas.openxmlformats.org/drawingml/2006/main" w="19050">
            <a:solidFill>
              <a:srgbClr val="C6D2DB"/>
            </a:solidFill>
          </a:ln>
        </p:spPr>
      </p:sp>
      <p:sp>
        <p:nvSpPr>
          <p:cNvPr id="9" name="c. Teken A₁. Markeer R (oud), S (alleen hogere verkoopprijs)">
            <a:extLst xmlns:a="http://schemas.openxmlformats.org/drawingml/2006/main">
              <a:ext uri="{FF2B5EF4-FFF2-40B4-BE49-F238E27FC236}">
                <a16:creationId xmlns:a16="http://schemas.microsoft.com/office/drawing/2014/main" id="{DACA5CD7-2B5F-429A-B2D7-E094884AD8E4}"/>
              </a:ext>
            </a:extLst>
          </p:cNvPr>
          <p:cNvSpPr>
            <a:spLocks xmlns:a="http://schemas.openxmlformats.org/drawingml/2006/main" noGrp="1"/>
          </p:cNvSpPr>
          <p:nvPr/>
        </p:nvSpPr>
        <p:spPr>
          <a:xfrm xmlns:a="http://schemas.openxmlformats.org/drawingml/2006/main">
            <a:off x="571500" y="6257925"/>
            <a:ext cx="140970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c. Teken A₁. Markeer R (oud), S (alleen hogere verkoopprijs) en T (beide veranderingen), met hun coördinaten.</a:t>
            </a:r>
          </a:p>
        </p:txBody>
      </p:sp>
    </p:spTree>
    <p:extLst>
      <p:ext uri="{BB962C8B-B14F-4D97-AF65-F5344CB8AC3E}">
        <p14:creationId xmlns:p14="http://schemas.microsoft.com/office/powerpoint/2010/main" val="164658309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9 · Deelvragen d en e">
            <a:extLst xmlns:a="http://schemas.openxmlformats.org/drawingml/2006/main">
              <a:ext uri="{FF2B5EF4-FFF2-40B4-BE49-F238E27FC236}">
                <a16:creationId xmlns:a16="http://schemas.microsoft.com/office/drawing/2014/main" id="{3794C8BB-E4AE-4DE2-AA92-3B8512900F31}"/>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9 · Deelvragen d en e</a:t>
            </a:r>
          </a:p>
        </p:txBody>
      </p:sp>
      <p:sp>
        <p:nvSpPr>
          <p:cNvPr id="2" name="">
            <a:extLst xmlns:a="http://schemas.openxmlformats.org/drawingml/2006/main">
              <a:ext uri="{FF2B5EF4-FFF2-40B4-BE49-F238E27FC236}">
                <a16:creationId xmlns:a16="http://schemas.microsoft.com/office/drawing/2014/main" id="{BF4A6F49-756C-44A4-806E-C7321A3078F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1 Aanbod en aanbodfactoren · Opgave 9 · Boekpagina 94">
            <a:extLst xmlns:a="http://schemas.openxmlformats.org/drawingml/2006/main">
              <a:ext uri="{FF2B5EF4-FFF2-40B4-BE49-F238E27FC236}">
                <a16:creationId xmlns:a16="http://schemas.microsoft.com/office/drawing/2014/main" id="{5464F6D1-CB0B-421C-9350-C667696F1E4D}"/>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§1.3.1 Aanbod en aanbodfactoren · Opgave 9 · Boekpagina 94</a:t>
            </a:r>
          </a:p>
        </p:txBody>
      </p:sp>
      <p:sp>
        <p:nvSpPr>
          <p:cNvPr id="4" name="18">
            <a:extLst xmlns:a="http://schemas.openxmlformats.org/drawingml/2006/main">
              <a:ext uri="{FF2B5EF4-FFF2-40B4-BE49-F238E27FC236}">
                <a16:creationId xmlns:a16="http://schemas.microsoft.com/office/drawing/2014/main" id="{5F216F63-A153-439D-A1A7-0CE2CD0A06D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sp>
        <p:nvSpPr>
          <p:cNvPr id="5" name="d. Bereken de uiteindelijke hoeveelheid en de verandering te">
            <a:extLst xmlns:a="http://schemas.openxmlformats.org/drawingml/2006/main">
              <a:ext uri="{FF2B5EF4-FFF2-40B4-BE49-F238E27FC236}">
                <a16:creationId xmlns:a16="http://schemas.microsoft.com/office/drawing/2014/main" id="{302DE938-FC79-4F9A-8499-01CCF55264BD}"/>
              </a:ext>
            </a:extLst>
          </p:cNvPr>
          <p:cNvSpPr>
            <a:spLocks xmlns:a="http://schemas.openxmlformats.org/drawingml/2006/main" noGrp="1"/>
          </p:cNvSpPr>
          <p:nvPr/>
        </p:nvSpPr>
        <p:spPr>
          <a:xfrm xmlns:a="http://schemas.openxmlformats.org/drawingml/2006/main">
            <a:off x="571500" y="2200275"/>
            <a:ext cx="14097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d. Bereken de uiteindelijke hoeveelheid en de verandering ten opzichte van het begin. Leg uit hoe de effecten samenwerken of tegenwerken.</a:t>
            </a:r>
          </a:p>
        </p:txBody>
      </p:sp>
      <p:sp>
        <p:nvSpPr>
          <p:cNvPr id="6" name="">
            <a:extLst xmlns:a="http://schemas.openxmlformats.org/drawingml/2006/main">
              <a:ext uri="{FF2B5EF4-FFF2-40B4-BE49-F238E27FC236}">
                <a16:creationId xmlns:a16="http://schemas.microsoft.com/office/drawing/2014/main" id="{7A1189EC-57CA-4524-AF74-645AA993B552}"/>
              </a:ext>
            </a:extLst>
          </p:cNvPr>
          <p:cNvSpPr>
            <a:spLocks xmlns:a="http://schemas.openxmlformats.org/drawingml/2006/main" noGrp="1"/>
          </p:cNvSpPr>
          <p:nvPr/>
        </p:nvSpPr>
        <p:spPr>
          <a:xfrm xmlns:a="http://schemas.openxmlformats.org/drawingml/2006/main">
            <a:off x="571500" y="4762500"/>
            <a:ext cx="14097000" cy="0"/>
          </a:xfrm>
          <a:prstGeom xmlns:a="http://schemas.openxmlformats.org/drawingml/2006/main" prst="line">
            <a:avLst/>
          </a:prstGeom>
          <a:ln xmlns:a="http://schemas.openxmlformats.org/drawingml/2006/main" w="19050">
            <a:solidFill>
              <a:srgbClr val="C6D2DB"/>
            </a:solidFill>
          </a:ln>
        </p:spPr>
      </p:sp>
      <p:sp>
        <p:nvSpPr>
          <p:cNvPr id="7" name="e. Beoordeel: “De hogere verkoopprijs verschuift de aanbodli">
            <a:extLst xmlns:a="http://schemas.openxmlformats.org/drawingml/2006/main">
              <a:ext uri="{FF2B5EF4-FFF2-40B4-BE49-F238E27FC236}">
                <a16:creationId xmlns:a16="http://schemas.microsoft.com/office/drawing/2014/main" id="{8E17FCC3-9F10-42A7-AB14-75CE7378530F}"/>
              </a:ext>
            </a:extLst>
          </p:cNvPr>
          <p:cNvSpPr>
            <a:spLocks xmlns:a="http://schemas.openxmlformats.org/drawingml/2006/main" noGrp="1"/>
          </p:cNvSpPr>
          <p:nvPr/>
        </p:nvSpPr>
        <p:spPr>
          <a:xfrm xmlns:a="http://schemas.openxmlformats.org/drawingml/2006/main">
            <a:off x="571500" y="5334000"/>
            <a:ext cx="1409700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0">
                <a:solidFill>
                  <a:srgbClr val="183247"/>
                </a:solidFill>
                <a:latin typeface="Arial"/>
                <a:ea typeface="Arial"/>
                <a:cs typeface="Arial"/>
              </a:defRPr>
            </a:pPr>
            <a:r>
              <a:rPr sz="3375" b="0">
                <a:solidFill>
                  <a:srgbClr val="183247"/>
                </a:solidFill>
                <a:latin typeface="Arial"/>
                <a:ea typeface="Arial"/>
                <a:cs typeface="Arial"/>
              </a:rPr>
              <a:t>e. Beoordeel: “De hogere verkoopprijs verschuift de aanbodlijn naar rechts.”</a:t>
            </a:r>
          </a:p>
        </p:txBody>
      </p:sp>
    </p:spTree>
    <p:extLst>
      <p:ext uri="{BB962C8B-B14F-4D97-AF65-F5344CB8AC3E}">
        <p14:creationId xmlns:p14="http://schemas.microsoft.com/office/powerpoint/2010/main" val="146688633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Opgave 9a · Alleen de verkoopprijs veranderen">
            <a:extLst xmlns:a="http://schemas.openxmlformats.org/drawingml/2006/main">
              <a:ext uri="{FF2B5EF4-FFF2-40B4-BE49-F238E27FC236}">
                <a16:creationId xmlns:a16="http://schemas.microsoft.com/office/drawing/2014/main" id="{D10CA40F-B23F-4735-8D64-FF5B1938A7B9}"/>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9a · Alleen de verkoopprijs veranderen</a:t>
            </a:r>
          </a:p>
        </p:txBody>
      </p:sp>
      <p:sp>
        <p:nvSpPr>
          <p:cNvPr id="2" name="">
            <a:extLst xmlns:a="http://schemas.openxmlformats.org/drawingml/2006/main">
              <a:ext uri="{FF2B5EF4-FFF2-40B4-BE49-F238E27FC236}">
                <a16:creationId xmlns:a16="http://schemas.microsoft.com/office/drawing/2014/main" id="{7F51405A-384A-4350-A605-4DA7DCD1D5A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1 Aanbod en aanbodfactoren · Opgave 9 · Boekpagina 94">
            <a:extLst xmlns:a="http://schemas.openxmlformats.org/drawingml/2006/main">
              <a:ext uri="{FF2B5EF4-FFF2-40B4-BE49-F238E27FC236}">
                <a16:creationId xmlns:a16="http://schemas.microsoft.com/office/drawing/2014/main" id="{522CAE5A-A985-48F6-8440-6A89E622A145}"/>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§1.3.1 Aanbod en aanbodfactoren · Opgave 9 · Boekpagina 94</a:t>
            </a:r>
          </a:p>
        </p:txBody>
      </p:sp>
      <p:sp>
        <p:nvSpPr>
          <p:cNvPr id="4" name="19">
            <a:extLst xmlns:a="http://schemas.openxmlformats.org/drawingml/2006/main">
              <a:ext uri="{FF2B5EF4-FFF2-40B4-BE49-F238E27FC236}">
                <a16:creationId xmlns:a16="http://schemas.microsoft.com/office/drawing/2014/main" id="{E30FCA94-DF32-4836-B0BC-8227DDA7F34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sp>
        <p:nvSpPr>
          <p:cNvPr id="5" name="Oude functie: q = 4P − 40">
            <a:extLst xmlns:a="http://schemas.openxmlformats.org/drawingml/2006/main">
              <a:ext uri="{FF2B5EF4-FFF2-40B4-BE49-F238E27FC236}">
                <a16:creationId xmlns:a16="http://schemas.microsoft.com/office/drawing/2014/main" id="{3393702D-8AE8-43A1-A926-0654A07BC8BD}"/>
              </a:ext>
            </a:extLst>
          </p:cNvPr>
          <p:cNvSpPr>
            <a:spLocks xmlns:a="http://schemas.openxmlformats.org/drawingml/2006/main" noGrp="1"/>
          </p:cNvSpPr>
          <p:nvPr/>
        </p:nvSpPr>
        <p:spPr>
          <a:xfrm xmlns:a="http://schemas.openxmlformats.org/drawingml/2006/main">
            <a:off x="571500" y="1990725"/>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20665B"/>
                </a:solidFill>
                <a:latin typeface="Arial"/>
                <a:ea typeface="Arial"/>
                <a:cs typeface="Arial"/>
              </a:defRPr>
            </a:pPr>
            <a:r>
              <a:rPr sz="3225" b="1">
                <a:solidFill>
                  <a:srgbClr val="20665B"/>
                </a:solidFill>
                <a:latin typeface="Arial"/>
                <a:ea typeface="Arial"/>
                <a:cs typeface="Arial"/>
              </a:rPr>
              <a:t>Oude functie: q = 4P − 40</a:t>
            </a:r>
          </a:p>
        </p:txBody>
      </p:sp>
      <p:sp>
        <p:nvSpPr>
          <p:cNvPr id="6" name="Vóór de veranderingen">
            <a:extLst xmlns:a="http://schemas.openxmlformats.org/drawingml/2006/main">
              <a:ext uri="{FF2B5EF4-FFF2-40B4-BE49-F238E27FC236}">
                <a16:creationId xmlns:a16="http://schemas.microsoft.com/office/drawing/2014/main" id="{D40A6731-E4A4-4842-A3F4-BA94408F2080}"/>
              </a:ext>
            </a:extLst>
          </p:cNvPr>
          <p:cNvSpPr>
            <a:spLocks xmlns:a="http://schemas.openxmlformats.org/drawingml/2006/main" noGrp="1"/>
          </p:cNvSpPr>
          <p:nvPr/>
        </p:nvSpPr>
        <p:spPr>
          <a:xfrm xmlns:a="http://schemas.openxmlformats.org/drawingml/2006/main">
            <a:off x="571500" y="3067050"/>
            <a:ext cx="1409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83247"/>
                </a:solidFill>
                <a:latin typeface="Arial"/>
                <a:ea typeface="Arial"/>
                <a:cs typeface="Arial"/>
              </a:defRPr>
            </a:pPr>
            <a:r>
              <a:rPr sz="2475" b="1">
                <a:solidFill>
                  <a:srgbClr val="183247"/>
                </a:solidFill>
                <a:latin typeface="Arial"/>
                <a:ea typeface="Arial"/>
                <a:cs typeface="Arial"/>
              </a:rPr>
              <a:t>Vóór de veranderingen</a:t>
            </a:r>
          </a:p>
        </p:txBody>
      </p:sp>
      <p:sp>
        <p:nvSpPr>
          <p:cNvPr id="7" name="q = 4 × 20 − 40 = 40 tassen per maand">
            <a:extLst xmlns:a="http://schemas.openxmlformats.org/drawingml/2006/main">
              <a:ext uri="{FF2B5EF4-FFF2-40B4-BE49-F238E27FC236}">
                <a16:creationId xmlns:a16="http://schemas.microsoft.com/office/drawing/2014/main" id="{A8C7C856-7414-4F7C-97F5-3A59162235ED}"/>
              </a:ext>
            </a:extLst>
          </p:cNvPr>
          <p:cNvSpPr>
            <a:spLocks xmlns:a="http://schemas.openxmlformats.org/drawingml/2006/main" noGrp="1"/>
          </p:cNvSpPr>
          <p:nvPr/>
        </p:nvSpPr>
        <p:spPr>
          <a:xfrm xmlns:a="http://schemas.openxmlformats.org/drawingml/2006/main">
            <a:off x="571500" y="3743325"/>
            <a:ext cx="1409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183247"/>
                </a:solidFill>
                <a:latin typeface="Arial"/>
                <a:ea typeface="Arial"/>
                <a:cs typeface="Arial"/>
              </a:defRPr>
            </a:pPr>
            <a:r>
              <a:rPr sz="3300" b="0">
                <a:solidFill>
                  <a:srgbClr val="183247"/>
                </a:solidFill>
                <a:latin typeface="Arial"/>
                <a:ea typeface="Arial"/>
                <a:cs typeface="Arial"/>
              </a:rPr>
              <a:t>q = 4 × 20 − 40 = 40 tassen per maand</a:t>
            </a:r>
          </a:p>
        </p:txBody>
      </p:sp>
      <p:sp>
        <p:nvSpPr>
          <p:cNvPr id="8" name="Na alleen de verkoopprijsstijging">
            <a:extLst xmlns:a="http://schemas.openxmlformats.org/drawingml/2006/main">
              <a:ext uri="{FF2B5EF4-FFF2-40B4-BE49-F238E27FC236}">
                <a16:creationId xmlns:a16="http://schemas.microsoft.com/office/drawing/2014/main" id="{57713109-F022-49C6-B808-04B9B0915B8D}"/>
              </a:ext>
            </a:extLst>
          </p:cNvPr>
          <p:cNvSpPr>
            <a:spLocks xmlns:a="http://schemas.openxmlformats.org/drawingml/2006/main" noGrp="1"/>
          </p:cNvSpPr>
          <p:nvPr/>
        </p:nvSpPr>
        <p:spPr>
          <a:xfrm xmlns:a="http://schemas.openxmlformats.org/drawingml/2006/main">
            <a:off x="571500" y="5019675"/>
            <a:ext cx="1409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83247"/>
                </a:solidFill>
                <a:latin typeface="Arial"/>
                <a:ea typeface="Arial"/>
                <a:cs typeface="Arial"/>
              </a:defRPr>
            </a:pPr>
            <a:r>
              <a:rPr sz="2475" b="1">
                <a:solidFill>
                  <a:srgbClr val="183247"/>
                </a:solidFill>
                <a:latin typeface="Arial"/>
                <a:ea typeface="Arial"/>
                <a:cs typeface="Arial"/>
              </a:rPr>
              <a:t>Na alleen de verkoopprijsstijging</a:t>
            </a:r>
          </a:p>
        </p:txBody>
      </p:sp>
      <p:sp>
        <p:nvSpPr>
          <p:cNvPr id="9" name="q = 4 × 24 − 40 = 56 tassen per maand">
            <a:extLst xmlns:a="http://schemas.openxmlformats.org/drawingml/2006/main">
              <a:ext uri="{FF2B5EF4-FFF2-40B4-BE49-F238E27FC236}">
                <a16:creationId xmlns:a16="http://schemas.microsoft.com/office/drawing/2014/main" id="{33711750-C26E-4A34-9E90-6F219FCB3942}"/>
              </a:ext>
            </a:extLst>
          </p:cNvPr>
          <p:cNvSpPr>
            <a:spLocks xmlns:a="http://schemas.openxmlformats.org/drawingml/2006/main" noGrp="1"/>
          </p:cNvSpPr>
          <p:nvPr/>
        </p:nvSpPr>
        <p:spPr>
          <a:xfrm xmlns:a="http://schemas.openxmlformats.org/drawingml/2006/main">
            <a:off x="571500" y="5695950"/>
            <a:ext cx="1409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183247"/>
                </a:solidFill>
                <a:latin typeface="Arial"/>
                <a:ea typeface="Arial"/>
                <a:cs typeface="Arial"/>
              </a:defRPr>
            </a:pPr>
            <a:r>
              <a:rPr sz="3300" b="0">
                <a:solidFill>
                  <a:srgbClr val="183247"/>
                </a:solidFill>
                <a:latin typeface="Arial"/>
                <a:ea typeface="Arial"/>
                <a:cs typeface="Arial"/>
              </a:rPr>
              <a:t>q = 4 × 24 − 40 = 56 tassen per maand</a:t>
            </a:r>
          </a:p>
        </p:txBody>
      </p:sp>
      <p:sp>
        <p:nvSpPr>
          <p:cNvPr id="10" name="De 4: per euro prijsstijging 4 extra tassen per maand.">
            <a:extLst xmlns:a="http://schemas.openxmlformats.org/drawingml/2006/main">
              <a:ext uri="{FF2B5EF4-FFF2-40B4-BE49-F238E27FC236}">
                <a16:creationId xmlns:a16="http://schemas.microsoft.com/office/drawing/2014/main" id="{037F3187-4AA8-43D0-B656-B27D19514419}"/>
              </a:ext>
            </a:extLst>
          </p:cNvPr>
          <p:cNvSpPr>
            <a:spLocks xmlns:a="http://schemas.openxmlformats.org/drawingml/2006/main" noGrp="1"/>
          </p:cNvSpPr>
          <p:nvPr/>
        </p:nvSpPr>
        <p:spPr>
          <a:xfrm xmlns:a="http://schemas.openxmlformats.org/drawingml/2006/main">
            <a:off x="571500" y="7267575"/>
            <a:ext cx="1409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De 4: per euro prijsstijging 4 extra tassen per maand.</a:t>
            </a:r>
          </a:p>
        </p:txBody>
      </p:sp>
    </p:spTree>
    <p:extLst>
      <p:ext uri="{BB962C8B-B14F-4D97-AF65-F5344CB8AC3E}">
        <p14:creationId xmlns:p14="http://schemas.microsoft.com/office/powerpoint/2010/main" val="16010584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9a en c · R en S op de oude lijn">
            <a:extLst xmlns:a="http://schemas.openxmlformats.org/drawingml/2006/main">
              <a:ext uri="{FF2B5EF4-FFF2-40B4-BE49-F238E27FC236}">
                <a16:creationId xmlns:a16="http://schemas.microsoft.com/office/drawing/2014/main" id="{0E91D3DD-02C3-4601-9031-14F491A14A58}"/>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9a en c · R en S op de oude lijn</a:t>
            </a:r>
          </a:p>
        </p:txBody>
      </p:sp>
      <p:sp>
        <p:nvSpPr>
          <p:cNvPr id="2" name="">
            <a:extLst xmlns:a="http://schemas.openxmlformats.org/drawingml/2006/main">
              <a:ext uri="{FF2B5EF4-FFF2-40B4-BE49-F238E27FC236}">
                <a16:creationId xmlns:a16="http://schemas.microsoft.com/office/drawing/2014/main" id="{A85E0E83-CDAF-422F-88B2-1369B220A09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1 Aanbod en aanbodfactoren · Opgave 9 · Boekpagina 94">
            <a:extLst xmlns:a="http://schemas.openxmlformats.org/drawingml/2006/main">
              <a:ext uri="{FF2B5EF4-FFF2-40B4-BE49-F238E27FC236}">
                <a16:creationId xmlns:a16="http://schemas.microsoft.com/office/drawing/2014/main" id="{B515D187-B62D-44FC-A364-316C0A0563E4}"/>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§1.3.1 Aanbod en aanbodfactoren · Opgave 9 · Boekpagina 94</a:t>
            </a:r>
          </a:p>
        </p:txBody>
      </p:sp>
      <p:sp>
        <p:nvSpPr>
          <p:cNvPr id="4" name="20">
            <a:extLst xmlns:a="http://schemas.openxmlformats.org/drawingml/2006/main">
              <a:ext uri="{FF2B5EF4-FFF2-40B4-BE49-F238E27FC236}">
                <a16:creationId xmlns:a16="http://schemas.microsoft.com/office/drawing/2014/main" id="{B2F531ED-B09C-4FB0-8B82-D20B6C6453E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20</a:t>
            </a:r>
          </a:p>
        </p:txBody>
      </p:sp>
      <p:graphicFrame>
        <p:nvGraphicFramePr>
          <p:cNvPr id="13" name="Chart"/>
          <p:cNvGraphicFramePr/>
          <p:nvPr/>
        </p:nvGraphicFramePr>
        <p:xfrm>
          <a:off xmlns:a="http://schemas.openxmlformats.org/drawingml/2006/main" x="571500" y="2362200"/>
          <a:ext xmlns:a="http://schemas.openxmlformats.org/drawingml/2006/main" cx="9810750" cy="5334000"/>
        </p:xfrm>
        <a:graphic xmlns:a="http://schemas.openxmlformats.org/drawingml/2006/main">
          <a:graphicData uri="http://schemas.openxmlformats.org/drawingml/2006/chart">
            <c:chart xmlns:r="http://schemas.openxmlformats.org/officeDocument/2006/relationships" xmlns:c="http://schemas.openxmlformats.org/drawingml/2006/chart" r:id="R295c03e17cc34a7e"/>
          </a:graphicData>
        </a:graphic>
      </p:graphicFrame>
      <p:sp>
        <p:nvSpPr>
          <p:cNvPr id="6" name="R = (40; 20)">
            <a:extLst xmlns:a="http://schemas.openxmlformats.org/drawingml/2006/main">
              <a:ext uri="{FF2B5EF4-FFF2-40B4-BE49-F238E27FC236}">
                <a16:creationId xmlns:a16="http://schemas.microsoft.com/office/drawing/2014/main" id="{10740B9D-2B9A-4E1A-A051-3A333464F227}"/>
              </a:ext>
            </a:extLst>
          </p:cNvPr>
          <p:cNvSpPr>
            <a:spLocks xmlns:a="http://schemas.openxmlformats.org/drawingml/2006/main" noGrp="1"/>
          </p:cNvSpPr>
          <p:nvPr/>
        </p:nvSpPr>
        <p:spPr>
          <a:xfrm xmlns:a="http://schemas.openxmlformats.org/drawingml/2006/main">
            <a:off x="10763250" y="2752725"/>
            <a:ext cx="3905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R = (40; 20)</a:t>
            </a:r>
          </a:p>
        </p:txBody>
      </p:sp>
      <p:sp>
        <p:nvSpPr>
          <p:cNvPr id="7" name="S = (56; 24)">
            <a:extLst xmlns:a="http://schemas.openxmlformats.org/drawingml/2006/main">
              <a:ext uri="{FF2B5EF4-FFF2-40B4-BE49-F238E27FC236}">
                <a16:creationId xmlns:a16="http://schemas.microsoft.com/office/drawing/2014/main" id="{49E2DAD0-B032-4974-AFDD-ED127C224C35}"/>
              </a:ext>
            </a:extLst>
          </p:cNvPr>
          <p:cNvSpPr>
            <a:spLocks xmlns:a="http://schemas.openxmlformats.org/drawingml/2006/main" noGrp="1"/>
          </p:cNvSpPr>
          <p:nvPr/>
        </p:nvSpPr>
        <p:spPr>
          <a:xfrm xmlns:a="http://schemas.openxmlformats.org/drawingml/2006/main">
            <a:off x="10763250" y="3895725"/>
            <a:ext cx="3905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20665B"/>
                </a:solidFill>
                <a:latin typeface="Arial"/>
                <a:ea typeface="Arial"/>
                <a:cs typeface="Arial"/>
              </a:defRPr>
            </a:pPr>
            <a:r>
              <a:rPr sz="2925" b="1">
                <a:solidFill>
                  <a:srgbClr val="20665B"/>
                </a:solidFill>
                <a:latin typeface="Arial"/>
                <a:ea typeface="Arial"/>
                <a:cs typeface="Arial"/>
              </a:rPr>
              <a:t>S = (56; 24)</a:t>
            </a:r>
          </a:p>
        </p:txBody>
      </p:sp>
      <p:sp>
        <p:nvSpPr>
          <p:cNvPr id="8" name="Prijs omhoog:&#10;meer aangeboden&#10;op dezelfde lijn.">
            <a:extLst xmlns:a="http://schemas.openxmlformats.org/drawingml/2006/main">
              <a:ext uri="{FF2B5EF4-FFF2-40B4-BE49-F238E27FC236}">
                <a16:creationId xmlns:a16="http://schemas.microsoft.com/office/drawing/2014/main" id="{D4728A60-0A76-4E66-8D5C-264EAC9FDA8D}"/>
              </a:ext>
            </a:extLst>
          </p:cNvPr>
          <p:cNvSpPr>
            <a:spLocks xmlns:a="http://schemas.openxmlformats.org/drawingml/2006/main" noGrp="1"/>
          </p:cNvSpPr>
          <p:nvPr/>
        </p:nvSpPr>
        <p:spPr>
          <a:xfrm xmlns:a="http://schemas.openxmlformats.org/drawingml/2006/main">
            <a:off x="10763250" y="5305425"/>
            <a:ext cx="3905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Prijs omhoog:</a:t>
            </a:r>
          </a:p>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meer aangeboden</a:t>
            </a:r>
          </a:p>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op dezelfde lijn.</a:t>
            </a:r>
          </a:p>
        </p:txBody>
      </p:sp>
    </p:spTree>
    <p:extLst>
      <p:ext uri="{BB962C8B-B14F-4D97-AF65-F5344CB8AC3E}">
        <p14:creationId xmlns:p14="http://schemas.microsoft.com/office/powerpoint/2010/main" val="80368534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9b · Duurdere stof verschuift het aanbod">
            <a:extLst xmlns:a="http://schemas.openxmlformats.org/drawingml/2006/main">
              <a:ext uri="{FF2B5EF4-FFF2-40B4-BE49-F238E27FC236}">
                <a16:creationId xmlns:a16="http://schemas.microsoft.com/office/drawing/2014/main" id="{4A463D58-FF7D-4747-803F-0119D9D4557F}"/>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9b · Duurdere stof verschuift het aanbod</a:t>
            </a:r>
          </a:p>
        </p:txBody>
      </p:sp>
      <p:sp>
        <p:nvSpPr>
          <p:cNvPr id="2" name="">
            <a:extLst xmlns:a="http://schemas.openxmlformats.org/drawingml/2006/main">
              <a:ext uri="{FF2B5EF4-FFF2-40B4-BE49-F238E27FC236}">
                <a16:creationId xmlns:a16="http://schemas.microsoft.com/office/drawing/2014/main" id="{17F3BA13-7FFB-4201-801D-351E72886EC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1 Aanbod en aanbodfactoren · Opgave 9 · Boekpagina 94">
            <a:extLst xmlns:a="http://schemas.openxmlformats.org/drawingml/2006/main">
              <a:ext uri="{FF2B5EF4-FFF2-40B4-BE49-F238E27FC236}">
                <a16:creationId xmlns:a16="http://schemas.microsoft.com/office/drawing/2014/main" id="{249BF6AD-CDFE-4A05-BCAE-9255CC73024B}"/>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§1.3.1 Aanbod en aanbodfactoren · Opgave 9 · Boekpagina 94</a:t>
            </a:r>
          </a:p>
        </p:txBody>
      </p:sp>
      <p:sp>
        <p:nvSpPr>
          <p:cNvPr id="4" name="21">
            <a:extLst xmlns:a="http://schemas.openxmlformats.org/drawingml/2006/main">
              <a:ext uri="{FF2B5EF4-FFF2-40B4-BE49-F238E27FC236}">
                <a16:creationId xmlns:a16="http://schemas.microsoft.com/office/drawing/2014/main" id="{A85758F1-0D16-437C-88D4-7C083F7A238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21</a:t>
            </a:r>
          </a:p>
        </p:txBody>
      </p:sp>
      <p:sp>
        <p:nvSpPr>
          <p:cNvPr id="5" name="Factor: de prijs van stof, een productiemiddel">
            <a:extLst xmlns:a="http://schemas.openxmlformats.org/drawingml/2006/main">
              <a:ext uri="{FF2B5EF4-FFF2-40B4-BE49-F238E27FC236}">
                <a16:creationId xmlns:a16="http://schemas.microsoft.com/office/drawing/2014/main" id="{08ADA3DB-9A0C-4F37-A513-029B20422A6F}"/>
              </a:ext>
            </a:extLst>
          </p:cNvPr>
          <p:cNvSpPr>
            <a:spLocks xmlns:a="http://schemas.openxmlformats.org/drawingml/2006/main" noGrp="1"/>
          </p:cNvSpPr>
          <p:nvPr/>
        </p:nvSpPr>
        <p:spPr>
          <a:xfrm xmlns:a="http://schemas.openxmlformats.org/drawingml/2006/main">
            <a:off x="571500" y="2076450"/>
            <a:ext cx="14097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A94D16"/>
                </a:solidFill>
                <a:latin typeface="Arial"/>
                <a:ea typeface="Arial"/>
                <a:cs typeface="Arial"/>
              </a:defRPr>
            </a:pPr>
            <a:r>
              <a:rPr sz="3225" b="1">
                <a:solidFill>
                  <a:srgbClr val="A94D16"/>
                </a:solidFill>
                <a:latin typeface="Arial"/>
                <a:ea typeface="Arial"/>
                <a:cs typeface="Arial"/>
              </a:rPr>
              <a:t>Factor: de prijs van stof, een productiemiddel</a:t>
            </a:r>
          </a:p>
        </p:txBody>
      </p:sp>
      <p:sp>
        <p:nvSpPr>
          <p:cNvPr id="6" name="Vergelijk bij dezelfde oude verkoopprijs van € 20.">
            <a:extLst xmlns:a="http://schemas.openxmlformats.org/drawingml/2006/main">
              <a:ext uri="{FF2B5EF4-FFF2-40B4-BE49-F238E27FC236}">
                <a16:creationId xmlns:a16="http://schemas.microsoft.com/office/drawing/2014/main" id="{F151AD53-35F9-4B8F-A90F-534D4F473D3F}"/>
              </a:ext>
            </a:extLst>
          </p:cNvPr>
          <p:cNvSpPr>
            <a:spLocks xmlns:a="http://schemas.openxmlformats.org/drawingml/2006/main" noGrp="1"/>
          </p:cNvSpPr>
          <p:nvPr/>
        </p:nvSpPr>
        <p:spPr>
          <a:xfrm xmlns:a="http://schemas.openxmlformats.org/drawingml/2006/main">
            <a:off x="571500" y="3514725"/>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Vergelijk bij dezelfde oude verkoopprijs van € 20.</a:t>
            </a:r>
          </a:p>
        </p:txBody>
      </p:sp>
      <p:sp>
        <p:nvSpPr>
          <p:cNvPr id="7" name="Nieuw: q = 4 × 20 − 52 = 28 tassen per maand">
            <a:extLst xmlns:a="http://schemas.openxmlformats.org/drawingml/2006/main">
              <a:ext uri="{FF2B5EF4-FFF2-40B4-BE49-F238E27FC236}">
                <a16:creationId xmlns:a16="http://schemas.microsoft.com/office/drawing/2014/main" id="{59C0E272-D11C-4E85-9886-12431DB4C304}"/>
              </a:ext>
            </a:extLst>
          </p:cNvPr>
          <p:cNvSpPr>
            <a:spLocks xmlns:a="http://schemas.openxmlformats.org/drawingml/2006/main" noGrp="1"/>
          </p:cNvSpPr>
          <p:nvPr/>
        </p:nvSpPr>
        <p:spPr>
          <a:xfrm xmlns:a="http://schemas.openxmlformats.org/drawingml/2006/main">
            <a:off x="571500" y="4724400"/>
            <a:ext cx="14097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Nieuw: q = 4 × 20 − 52 = 28 tassen per maand</a:t>
            </a:r>
          </a:p>
        </p:txBody>
      </p:sp>
      <p:sp>
        <p:nvSpPr>
          <p:cNvPr id="8" name="28 − 40 = −12 tassen per maand">
            <a:extLst xmlns:a="http://schemas.openxmlformats.org/drawingml/2006/main">
              <a:ext uri="{FF2B5EF4-FFF2-40B4-BE49-F238E27FC236}">
                <a16:creationId xmlns:a16="http://schemas.microsoft.com/office/drawing/2014/main" id="{1B608241-593D-4539-93F0-D33F2F086642}"/>
              </a:ext>
            </a:extLst>
          </p:cNvPr>
          <p:cNvSpPr>
            <a:spLocks xmlns:a="http://schemas.openxmlformats.org/drawingml/2006/main" noGrp="1"/>
          </p:cNvSpPr>
          <p:nvPr/>
        </p:nvSpPr>
        <p:spPr>
          <a:xfrm xmlns:a="http://schemas.openxmlformats.org/drawingml/2006/main">
            <a:off x="571500" y="6029325"/>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28 − 40 = −12 tassen per maand</a:t>
            </a:r>
          </a:p>
        </p:txBody>
      </p:sp>
      <p:sp>
        <p:nvSpPr>
          <p:cNvPr id="9" name="Minder aanbod bij dezelfde prijs: A verschuift naar links.">
            <a:extLst xmlns:a="http://schemas.openxmlformats.org/drawingml/2006/main">
              <a:ext uri="{FF2B5EF4-FFF2-40B4-BE49-F238E27FC236}">
                <a16:creationId xmlns:a16="http://schemas.microsoft.com/office/drawing/2014/main" id="{676DB7D4-0F7D-4B4C-B33C-7078F1CD66A4}"/>
              </a:ext>
            </a:extLst>
          </p:cNvPr>
          <p:cNvSpPr>
            <a:spLocks xmlns:a="http://schemas.openxmlformats.org/drawingml/2006/main" noGrp="1"/>
          </p:cNvSpPr>
          <p:nvPr/>
        </p:nvSpPr>
        <p:spPr>
          <a:xfrm xmlns:a="http://schemas.openxmlformats.org/drawingml/2006/main">
            <a:off x="571500" y="737235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A94D16"/>
                </a:solidFill>
                <a:latin typeface="Arial"/>
                <a:ea typeface="Arial"/>
                <a:cs typeface="Arial"/>
              </a:defRPr>
            </a:pPr>
            <a:r>
              <a:rPr sz="2850" b="1">
                <a:solidFill>
                  <a:srgbClr val="A94D16"/>
                </a:solidFill>
                <a:latin typeface="Arial"/>
                <a:ea typeface="Arial"/>
                <a:cs typeface="Arial"/>
              </a:rPr>
              <a:t>Minder aanbod bij dezelfde prijs: A verschuift naar links.</a:t>
            </a:r>
          </a:p>
        </p:txBody>
      </p:sp>
    </p:spTree>
    <p:extLst>
      <p:ext uri="{BB962C8B-B14F-4D97-AF65-F5344CB8AC3E}">
        <p14:creationId xmlns:p14="http://schemas.microsoft.com/office/powerpoint/2010/main" val="24527649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9c · De nieuwe lijn en punt T berekenen">
            <a:extLst xmlns:a="http://schemas.openxmlformats.org/drawingml/2006/main">
              <a:ext uri="{FF2B5EF4-FFF2-40B4-BE49-F238E27FC236}">
                <a16:creationId xmlns:a16="http://schemas.microsoft.com/office/drawing/2014/main" id="{AC7C161A-64E3-4789-B099-09AAFE5E73F1}"/>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9c · De nieuwe lijn en punt T berekenen</a:t>
            </a:r>
          </a:p>
        </p:txBody>
      </p:sp>
      <p:sp>
        <p:nvSpPr>
          <p:cNvPr id="2" name="">
            <a:extLst xmlns:a="http://schemas.openxmlformats.org/drawingml/2006/main">
              <a:ext uri="{FF2B5EF4-FFF2-40B4-BE49-F238E27FC236}">
                <a16:creationId xmlns:a16="http://schemas.microsoft.com/office/drawing/2014/main" id="{2ED728C7-3554-4AB5-A7C1-CDD11B7842D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1 Aanbod en aanbodfactoren · Opgave 9 · Boekpagina 94">
            <a:extLst xmlns:a="http://schemas.openxmlformats.org/drawingml/2006/main">
              <a:ext uri="{FF2B5EF4-FFF2-40B4-BE49-F238E27FC236}">
                <a16:creationId xmlns:a16="http://schemas.microsoft.com/office/drawing/2014/main" id="{584FEF33-B06A-4444-AC2D-03BAE4179624}"/>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§1.3.1 Aanbod en aanbodfactoren · Opgave 9 · Boekpagina 94</a:t>
            </a:r>
          </a:p>
        </p:txBody>
      </p:sp>
      <p:sp>
        <p:nvSpPr>
          <p:cNvPr id="4" name="22">
            <a:extLst xmlns:a="http://schemas.openxmlformats.org/drawingml/2006/main">
              <a:ext uri="{FF2B5EF4-FFF2-40B4-BE49-F238E27FC236}">
                <a16:creationId xmlns:a16="http://schemas.microsoft.com/office/drawing/2014/main" id="{A0ED4EAD-7B31-4634-AF6C-1342D9A29AE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22</a:t>
            </a:r>
          </a:p>
        </p:txBody>
      </p:sp>
      <p:sp>
        <p:nvSpPr>
          <p:cNvPr id="5" name="A₁: q = 4P − 52, voor 13 ≤ P ≤ 30">
            <a:extLst xmlns:a="http://schemas.openxmlformats.org/drawingml/2006/main">
              <a:ext uri="{FF2B5EF4-FFF2-40B4-BE49-F238E27FC236}">
                <a16:creationId xmlns:a16="http://schemas.microsoft.com/office/drawing/2014/main" id="{C7DD8B19-B9A3-4FC1-8796-A8771FE681D2}"/>
              </a:ext>
            </a:extLst>
          </p:cNvPr>
          <p:cNvSpPr>
            <a:spLocks xmlns:a="http://schemas.openxmlformats.org/drawingml/2006/main" noGrp="1"/>
          </p:cNvSpPr>
          <p:nvPr/>
        </p:nvSpPr>
        <p:spPr>
          <a:xfrm xmlns:a="http://schemas.openxmlformats.org/drawingml/2006/main">
            <a:off x="571500" y="1990725"/>
            <a:ext cx="1409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A94D16"/>
                </a:solidFill>
                <a:latin typeface="Arial"/>
                <a:ea typeface="Arial"/>
                <a:cs typeface="Arial"/>
              </a:defRPr>
            </a:pPr>
            <a:r>
              <a:rPr sz="3225" b="1">
                <a:solidFill>
                  <a:srgbClr val="A94D16"/>
                </a:solidFill>
                <a:latin typeface="Arial"/>
                <a:ea typeface="Arial"/>
                <a:cs typeface="Arial"/>
              </a:rPr>
              <a:t>A₁: q = 4P − 52, voor 13 ≤ P ≤ 30</a:t>
            </a:r>
          </a:p>
        </p:txBody>
      </p:sp>
      <p:graphicFrame>
        <p:nvGraphicFramePr>
          <p:cNvPr id="14" name=""/>
          <p:cNvGraphicFramePr/>
          <p:nvPr/>
        </p:nvGraphicFramePr>
        <p:xfrm>
          <a:off xmlns:a="http://schemas.openxmlformats.org/drawingml/2006/main" x="571500" y="3200400"/>
          <a:ext xmlns:a="http://schemas.openxmlformats.org/drawingml/2006/main" cx="14097000" cy="2724150"/>
        </p:xfrm>
        <a:graphic xmlns:a="http://schemas.openxmlformats.org/drawingml/2006/main">
          <a:graphicData uri="http://schemas.openxmlformats.org/drawingml/2006/table">
            <a:tbl>
              <a:tblPr/>
              <a:tblGrid>
                <a:gridCol w="2476500"/>
                <a:gridCol w="7620000"/>
                <a:gridCol w="4000500"/>
              </a:tblGrid>
              <a:tr h="908050">
                <a:tc>
                  <a:txBody>
                    <a:bodyPr lIns="171450" tIns="95250" rIns="152400" bIns="95250"/>
                    <a:lstStyle/>
                    <a:p>
                      <a:r>
                        <a:rPr sz="2625" b="1">
                          <a:solidFill>
                            <a:srgbClr val="FFFFFF"/>
                          </a:solidFill>
                          <a:latin typeface="Arial"/>
                          <a:ea typeface="Arial"/>
                          <a:cs typeface="Arial"/>
                        </a:rPr>
                        <a:t>Prijs P</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Invullen in de nieuwe functie</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Punt (q; P)</a:t>
                      </a:r>
                    </a:p>
                  </a:txBody>
                  <a:tcPr marL="91440" marR="91440" marT="45720" marB="45720" anchor="ctr">
                    <a:solidFill>
                      <a:srgbClr val="183247"/>
                    </a:solidFill>
                  </a:tcPr>
                </a:tc>
              </a:tr>
              <a:tr h="908050">
                <a:tc>
                  <a:txBody>
                    <a:bodyPr lIns="171450" tIns="95250" rIns="152400" bIns="95250"/>
                    <a:lstStyle/>
                    <a:p>
                      <a:r>
                        <a:rPr sz="2625" b="0">
                          <a:solidFill>
                            <a:srgbClr val="183247"/>
                          </a:solidFill>
                          <a:latin typeface="Arial"/>
                          <a:ea typeface="Arial"/>
                          <a:cs typeface="Arial"/>
                        </a:rPr>
                        <a:t>13</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q = 4 × 13 − 52 = 0</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(0; 13)</a:t>
                      </a:r>
                    </a:p>
                  </a:txBody>
                  <a:tcPr marL="91440" marR="91440" marT="45720" marB="45720" anchor="ctr">
                    <a:solidFill>
                      <a:srgbClr val="FFFFFF"/>
                    </a:solidFill>
                  </a:tcPr>
                </a:tc>
              </a:tr>
              <a:tr h="908050">
                <a:tc>
                  <a:txBody>
                    <a:bodyPr lIns="171450" tIns="95250" rIns="152400" bIns="95250"/>
                    <a:lstStyle/>
                    <a:p>
                      <a:r>
                        <a:rPr sz="2625" b="0">
                          <a:solidFill>
                            <a:srgbClr val="183247"/>
                          </a:solidFill>
                          <a:latin typeface="Arial"/>
                          <a:ea typeface="Arial"/>
                          <a:cs typeface="Arial"/>
                        </a:rPr>
                        <a:t>30</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q = 4 × 30 − 52 = 68</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(68; 30)</a:t>
                      </a:r>
                    </a:p>
                  </a:txBody>
                  <a:tcPr marL="91440" marR="91440" marT="45720" marB="45720" anchor="ctr">
                    <a:solidFill>
                      <a:srgbClr val="EFF4F7"/>
                    </a:solidFill>
                  </a:tcPr>
                </a:tc>
              </a:tr>
            </a:tbl>
          </a:graphicData>
        </a:graphic>
      </p:graphicFrame>
      <p:sp>
        <p:nvSpPr>
          <p:cNvPr id="7" name="T gebruikt beide veranderingen: P = 24 en A₁.">
            <a:extLst xmlns:a="http://schemas.openxmlformats.org/drawingml/2006/main">
              <a:ext uri="{FF2B5EF4-FFF2-40B4-BE49-F238E27FC236}">
                <a16:creationId xmlns:a16="http://schemas.microsoft.com/office/drawing/2014/main" id="{74C09060-7EB7-4286-A15D-13B55607E344}"/>
              </a:ext>
            </a:extLst>
          </p:cNvPr>
          <p:cNvSpPr>
            <a:spLocks xmlns:a="http://schemas.openxmlformats.org/drawingml/2006/main" noGrp="1"/>
          </p:cNvSpPr>
          <p:nvPr/>
        </p:nvSpPr>
        <p:spPr>
          <a:xfrm xmlns:a="http://schemas.openxmlformats.org/drawingml/2006/main">
            <a:off x="571500" y="634365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T gebruikt beide veranderingen: P = 24 en A₁.</a:t>
            </a:r>
          </a:p>
        </p:txBody>
      </p:sp>
      <p:sp>
        <p:nvSpPr>
          <p:cNvPr id="8" name="q = 4 × 24 − 52 = 44, dus T = (44; 24).">
            <a:extLst xmlns:a="http://schemas.openxmlformats.org/drawingml/2006/main">
              <a:ext uri="{FF2B5EF4-FFF2-40B4-BE49-F238E27FC236}">
                <a16:creationId xmlns:a16="http://schemas.microsoft.com/office/drawing/2014/main" id="{9F76D685-98ED-419F-8A9D-46E6577C6DF7}"/>
              </a:ext>
            </a:extLst>
          </p:cNvPr>
          <p:cNvSpPr>
            <a:spLocks xmlns:a="http://schemas.openxmlformats.org/drawingml/2006/main" noGrp="1"/>
          </p:cNvSpPr>
          <p:nvPr/>
        </p:nvSpPr>
        <p:spPr>
          <a:xfrm xmlns:a="http://schemas.openxmlformats.org/drawingml/2006/main">
            <a:off x="571500" y="7267575"/>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3247"/>
                </a:solidFill>
                <a:latin typeface="Arial"/>
                <a:ea typeface="Arial"/>
                <a:cs typeface="Arial"/>
              </a:defRPr>
            </a:pPr>
            <a:r>
              <a:rPr sz="3150" b="1">
                <a:solidFill>
                  <a:srgbClr val="183247"/>
                </a:solidFill>
                <a:latin typeface="Arial"/>
                <a:ea typeface="Arial"/>
                <a:cs typeface="Arial"/>
              </a:rPr>
              <a:t>q = 4 × 24 − 52 = 44, dus T = (44; 24).</a:t>
            </a:r>
          </a:p>
        </p:txBody>
      </p:sp>
    </p:spTree>
    <p:extLst>
      <p:ext uri="{BB962C8B-B14F-4D97-AF65-F5344CB8AC3E}">
        <p14:creationId xmlns:p14="http://schemas.microsoft.com/office/powerpoint/2010/main" val="39040394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9c · De complete tekening">
            <a:extLst xmlns:a="http://schemas.openxmlformats.org/drawingml/2006/main">
              <a:ext uri="{FF2B5EF4-FFF2-40B4-BE49-F238E27FC236}">
                <a16:creationId xmlns:a16="http://schemas.microsoft.com/office/drawing/2014/main" id="{BCD49940-9623-4ADB-BBD0-371354C9F5F6}"/>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9c · De complete tekening</a:t>
            </a:r>
          </a:p>
        </p:txBody>
      </p:sp>
      <p:sp>
        <p:nvSpPr>
          <p:cNvPr id="2" name="">
            <a:extLst xmlns:a="http://schemas.openxmlformats.org/drawingml/2006/main">
              <a:ext uri="{FF2B5EF4-FFF2-40B4-BE49-F238E27FC236}">
                <a16:creationId xmlns:a16="http://schemas.microsoft.com/office/drawing/2014/main" id="{20AC441F-DA9D-4D9F-849A-16583B95246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1 Aanbod en aanbodfactoren · Opgave 9 · Boekpagina 94">
            <a:extLst xmlns:a="http://schemas.openxmlformats.org/drawingml/2006/main">
              <a:ext uri="{FF2B5EF4-FFF2-40B4-BE49-F238E27FC236}">
                <a16:creationId xmlns:a16="http://schemas.microsoft.com/office/drawing/2014/main" id="{27C1642C-ABE1-48C4-916F-D9DEDF6FB1F1}"/>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§1.3.1 Aanbod en aanbodfactoren · Opgave 9 · Boekpagina 94</a:t>
            </a:r>
          </a:p>
        </p:txBody>
      </p:sp>
      <p:sp>
        <p:nvSpPr>
          <p:cNvPr id="4" name="23">
            <a:extLst xmlns:a="http://schemas.openxmlformats.org/drawingml/2006/main">
              <a:ext uri="{FF2B5EF4-FFF2-40B4-BE49-F238E27FC236}">
                <a16:creationId xmlns:a16="http://schemas.microsoft.com/office/drawing/2014/main" id="{2583E444-A4F9-40AA-9A37-4E75F119AD1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23</a:t>
            </a:r>
          </a:p>
        </p:txBody>
      </p:sp>
      <p:graphicFrame>
        <p:nvGraphicFramePr>
          <p:cNvPr id="13" name="Chart"/>
          <p:cNvGraphicFramePr/>
          <p:nvPr/>
        </p:nvGraphicFramePr>
        <p:xfrm>
          <a:off xmlns:a="http://schemas.openxmlformats.org/drawingml/2006/main" x="571500" y="2362200"/>
          <a:ext xmlns:a="http://schemas.openxmlformats.org/drawingml/2006/main" cx="9810750" cy="5334000"/>
        </p:xfrm>
        <a:graphic xmlns:a="http://schemas.openxmlformats.org/drawingml/2006/main">
          <a:graphicData uri="http://schemas.openxmlformats.org/drawingml/2006/chart">
            <c:chart xmlns:r="http://schemas.openxmlformats.org/officeDocument/2006/relationships" xmlns:c="http://schemas.openxmlformats.org/drawingml/2006/chart" r:id="Ra69f1f9165054d64"/>
          </a:graphicData>
        </a:graphic>
      </p:graphicFrame>
      <p:sp>
        <p:nvSpPr>
          <p:cNvPr id="6" name="R = (40; 20)&#10;Oude situatie">
            <a:extLst xmlns:a="http://schemas.openxmlformats.org/drawingml/2006/main">
              <a:ext uri="{FF2B5EF4-FFF2-40B4-BE49-F238E27FC236}">
                <a16:creationId xmlns:a16="http://schemas.microsoft.com/office/drawing/2014/main" id="{40C3CB12-9DF2-4803-A817-5876B5B736A2}"/>
              </a:ext>
            </a:extLst>
          </p:cNvPr>
          <p:cNvSpPr>
            <a:spLocks xmlns:a="http://schemas.openxmlformats.org/drawingml/2006/main" noGrp="1"/>
          </p:cNvSpPr>
          <p:nvPr/>
        </p:nvSpPr>
        <p:spPr>
          <a:xfrm xmlns:a="http://schemas.openxmlformats.org/drawingml/2006/main">
            <a:off x="10763250" y="2447925"/>
            <a:ext cx="3905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R = (40; 20)</a:t>
            </a:r>
          </a:p>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Oude situatie</a:t>
            </a:r>
          </a:p>
        </p:txBody>
      </p:sp>
      <p:sp>
        <p:nvSpPr>
          <p:cNvPr id="7" name="S = (56; 24)&#10;Alleen eigen prijs">
            <a:extLst xmlns:a="http://schemas.openxmlformats.org/drawingml/2006/main">
              <a:ext uri="{FF2B5EF4-FFF2-40B4-BE49-F238E27FC236}">
                <a16:creationId xmlns:a16="http://schemas.microsoft.com/office/drawing/2014/main" id="{1AE11181-5487-4C44-9B27-CB03045F0DC1}"/>
              </a:ext>
            </a:extLst>
          </p:cNvPr>
          <p:cNvSpPr>
            <a:spLocks xmlns:a="http://schemas.openxmlformats.org/drawingml/2006/main" noGrp="1"/>
          </p:cNvSpPr>
          <p:nvPr/>
        </p:nvSpPr>
        <p:spPr>
          <a:xfrm xmlns:a="http://schemas.openxmlformats.org/drawingml/2006/main">
            <a:off x="10763250" y="4124325"/>
            <a:ext cx="3905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20665B"/>
                </a:solidFill>
                <a:latin typeface="Arial"/>
                <a:ea typeface="Arial"/>
                <a:cs typeface="Arial"/>
              </a:defRPr>
            </a:pPr>
            <a:r>
              <a:rPr sz="2700" b="1">
                <a:solidFill>
                  <a:srgbClr val="20665B"/>
                </a:solidFill>
                <a:latin typeface="Arial"/>
                <a:ea typeface="Arial"/>
                <a:cs typeface="Arial"/>
              </a:rPr>
              <a:t>S = (56; 24)</a:t>
            </a:r>
          </a:p>
          <a:p xmlns:a="http://schemas.openxmlformats.org/drawingml/2006/main">
            <a:pPr algn="l">
              <a:defRPr sz="2700" b="1">
                <a:solidFill>
                  <a:srgbClr val="20665B"/>
                </a:solidFill>
                <a:latin typeface="Arial"/>
                <a:ea typeface="Arial"/>
                <a:cs typeface="Arial"/>
              </a:defRPr>
            </a:pPr>
            <a:r>
              <a:rPr sz="2700" b="1">
                <a:solidFill>
                  <a:srgbClr val="20665B"/>
                </a:solidFill>
                <a:latin typeface="Arial"/>
                <a:ea typeface="Arial"/>
                <a:cs typeface="Arial"/>
              </a:rPr>
              <a:t>Alleen eigen prijs</a:t>
            </a:r>
          </a:p>
        </p:txBody>
      </p:sp>
      <p:sp>
        <p:nvSpPr>
          <p:cNvPr id="8" name="T = (44; 24)&#10;Beide veranderingen">
            <a:extLst xmlns:a="http://schemas.openxmlformats.org/drawingml/2006/main">
              <a:ext uri="{FF2B5EF4-FFF2-40B4-BE49-F238E27FC236}">
                <a16:creationId xmlns:a16="http://schemas.microsoft.com/office/drawing/2014/main" id="{97B75F92-D635-46E7-9B7D-EE2B84438CE6}"/>
              </a:ext>
            </a:extLst>
          </p:cNvPr>
          <p:cNvSpPr>
            <a:spLocks xmlns:a="http://schemas.openxmlformats.org/drawingml/2006/main" noGrp="1"/>
          </p:cNvSpPr>
          <p:nvPr/>
        </p:nvSpPr>
        <p:spPr>
          <a:xfrm xmlns:a="http://schemas.openxmlformats.org/drawingml/2006/main">
            <a:off x="10763250" y="5819775"/>
            <a:ext cx="3905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A94D16"/>
                </a:solidFill>
                <a:latin typeface="Arial"/>
                <a:ea typeface="Arial"/>
                <a:cs typeface="Arial"/>
              </a:defRPr>
            </a:pPr>
            <a:r>
              <a:rPr sz="2625" b="1">
                <a:solidFill>
                  <a:srgbClr val="A94D16"/>
                </a:solidFill>
                <a:latin typeface="Arial"/>
                <a:ea typeface="Arial"/>
                <a:cs typeface="Arial"/>
              </a:rPr>
              <a:t>T = (44; 24)</a:t>
            </a:r>
          </a:p>
          <a:p xmlns:a="http://schemas.openxmlformats.org/drawingml/2006/main">
            <a:pPr algn="l">
              <a:defRPr sz="2625" b="1">
                <a:solidFill>
                  <a:srgbClr val="A94D16"/>
                </a:solidFill>
                <a:latin typeface="Arial"/>
                <a:ea typeface="Arial"/>
                <a:cs typeface="Arial"/>
              </a:defRPr>
            </a:pPr>
            <a:r>
              <a:rPr sz="2625" b="1">
                <a:solidFill>
                  <a:srgbClr val="A94D16"/>
                </a:solidFill>
                <a:latin typeface="Arial"/>
                <a:ea typeface="Arial"/>
                <a:cs typeface="Arial"/>
              </a:rPr>
              <a:t>Beide veranderingen</a:t>
            </a:r>
          </a:p>
        </p:txBody>
      </p:sp>
    </p:spTree>
    <p:extLst>
      <p:ext uri="{BB962C8B-B14F-4D97-AF65-F5344CB8AC3E}">
        <p14:creationId xmlns:p14="http://schemas.microsoft.com/office/powerpoint/2010/main" val="214005421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9d · Een netto toename van vier tassen">
            <a:extLst xmlns:a="http://schemas.openxmlformats.org/drawingml/2006/main">
              <a:ext uri="{FF2B5EF4-FFF2-40B4-BE49-F238E27FC236}">
                <a16:creationId xmlns:a16="http://schemas.microsoft.com/office/drawing/2014/main" id="{39510CF9-BF4E-45DD-827E-86D5AD0A2035}"/>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9d · Een netto toename van vier tassen</a:t>
            </a:r>
          </a:p>
        </p:txBody>
      </p:sp>
      <p:sp>
        <p:nvSpPr>
          <p:cNvPr id="2" name="">
            <a:extLst xmlns:a="http://schemas.openxmlformats.org/drawingml/2006/main">
              <a:ext uri="{FF2B5EF4-FFF2-40B4-BE49-F238E27FC236}">
                <a16:creationId xmlns:a16="http://schemas.microsoft.com/office/drawing/2014/main" id="{91D6ED42-D4AF-4EC8-8354-27E494E95F7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1 Aanbod en aanbodfactoren · Opgave 9 · Boekpagina 94">
            <a:extLst xmlns:a="http://schemas.openxmlformats.org/drawingml/2006/main">
              <a:ext uri="{FF2B5EF4-FFF2-40B4-BE49-F238E27FC236}">
                <a16:creationId xmlns:a16="http://schemas.microsoft.com/office/drawing/2014/main" id="{5AD87679-30CD-4775-B431-33530F8E49AF}"/>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§1.3.1 Aanbod en aanbodfactoren · Opgave 9 · Boekpagina 94</a:t>
            </a:r>
          </a:p>
        </p:txBody>
      </p:sp>
      <p:sp>
        <p:nvSpPr>
          <p:cNvPr id="4" name="24">
            <a:extLst xmlns:a="http://schemas.openxmlformats.org/drawingml/2006/main">
              <a:ext uri="{FF2B5EF4-FFF2-40B4-BE49-F238E27FC236}">
                <a16:creationId xmlns:a16="http://schemas.microsoft.com/office/drawing/2014/main" id="{BFD1D7CE-0D6A-475D-BDED-E35F4014866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24</a:t>
            </a:r>
          </a:p>
        </p:txBody>
      </p:sp>
      <p:sp>
        <p:nvSpPr>
          <p:cNvPr id="5" name="Uiteindelijk: q = 4 × 24 − 52 = 44 tassen per maand">
            <a:extLst xmlns:a="http://schemas.openxmlformats.org/drawingml/2006/main">
              <a:ext uri="{FF2B5EF4-FFF2-40B4-BE49-F238E27FC236}">
                <a16:creationId xmlns:a16="http://schemas.microsoft.com/office/drawing/2014/main" id="{1DEEF164-FA7F-4446-A4B3-68E3E798F7C2}"/>
              </a:ext>
            </a:extLst>
          </p:cNvPr>
          <p:cNvSpPr>
            <a:spLocks xmlns:a="http://schemas.openxmlformats.org/drawingml/2006/main" noGrp="1"/>
          </p:cNvSpPr>
          <p:nvPr/>
        </p:nvSpPr>
        <p:spPr>
          <a:xfrm xmlns:a="http://schemas.openxmlformats.org/drawingml/2006/main">
            <a:off x="571500" y="1924050"/>
            <a:ext cx="1409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83247"/>
                </a:solidFill>
                <a:latin typeface="Arial"/>
                <a:ea typeface="Arial"/>
                <a:cs typeface="Arial"/>
              </a:defRPr>
            </a:pPr>
            <a:r>
              <a:rPr sz="3075" b="1">
                <a:solidFill>
                  <a:srgbClr val="183247"/>
                </a:solidFill>
                <a:latin typeface="Arial"/>
                <a:ea typeface="Arial"/>
                <a:cs typeface="Arial"/>
              </a:rPr>
              <a:t>Uiteindelijk: q = 4 × 24 − 52 = 44 tassen per maand</a:t>
            </a:r>
          </a:p>
        </p:txBody>
      </p:sp>
      <p:graphicFrame>
        <p:nvGraphicFramePr>
          <p:cNvPr id="13" name=""/>
          <p:cNvGraphicFramePr/>
          <p:nvPr/>
        </p:nvGraphicFramePr>
        <p:xfrm>
          <a:off xmlns:a="http://schemas.openxmlformats.org/drawingml/2006/main" x="571500" y="3371850"/>
          <a:ext xmlns:a="http://schemas.openxmlformats.org/drawingml/2006/main" cx="14097000" cy="3324225"/>
        </p:xfrm>
        <a:graphic xmlns:a="http://schemas.openxmlformats.org/drawingml/2006/main">
          <a:graphicData uri="http://schemas.openxmlformats.org/drawingml/2006/table">
            <a:tbl>
              <a:tblPr/>
              <a:tblGrid>
                <a:gridCol w="9334500"/>
                <a:gridCol w="4762500"/>
              </a:tblGrid>
              <a:tr h="831056">
                <a:tc>
                  <a:txBody>
                    <a:bodyPr lIns="171450" tIns="95250" rIns="152400" bIns="95250"/>
                    <a:lstStyle/>
                    <a:p>
                      <a:r>
                        <a:rPr sz="2625" b="1">
                          <a:solidFill>
                            <a:srgbClr val="FFFFFF"/>
                          </a:solidFill>
                          <a:latin typeface="Arial"/>
                          <a:ea typeface="Arial"/>
                          <a:cs typeface="Arial"/>
                        </a:rPr>
                        <a:t>Effect</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Verschil (tassen per maand)</a:t>
                      </a:r>
                    </a:p>
                  </a:txBody>
                  <a:tcPr marL="91440" marR="91440" marT="45720" marB="45720" anchor="ctr">
                    <a:solidFill>
                      <a:srgbClr val="183247"/>
                    </a:solidFill>
                  </a:tcPr>
                </a:tc>
              </a:tr>
              <a:tr h="831056">
                <a:tc>
                  <a:txBody>
                    <a:bodyPr lIns="171450" tIns="95250" rIns="152400" bIns="95250"/>
                    <a:lstStyle/>
                    <a:p>
                      <a:r>
                        <a:rPr sz="2625" b="0">
                          <a:solidFill>
                            <a:srgbClr val="183247"/>
                          </a:solidFill>
                          <a:latin typeface="Arial"/>
                          <a:ea typeface="Arial"/>
                          <a:cs typeface="Arial"/>
                        </a:rPr>
                        <a:t>Hogere verkoopprijs</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56 − 40 = +16</a:t>
                      </a:r>
                    </a:p>
                  </a:txBody>
                  <a:tcPr marL="91440" marR="91440" marT="45720" marB="45720" anchor="ctr">
                    <a:solidFill>
                      <a:srgbClr val="FFFFFF"/>
                    </a:solidFill>
                  </a:tcPr>
                </a:tc>
              </a:tr>
              <a:tr h="831056">
                <a:tc>
                  <a:txBody>
                    <a:bodyPr lIns="171450" tIns="95250" rIns="152400" bIns="95250"/>
                    <a:lstStyle/>
                    <a:p>
                      <a:r>
                        <a:rPr sz="2625" b="0">
                          <a:solidFill>
                            <a:srgbClr val="183247"/>
                          </a:solidFill>
                          <a:latin typeface="Arial"/>
                          <a:ea typeface="Arial"/>
                          <a:cs typeface="Arial"/>
                        </a:rPr>
                        <a:t>Duurdere stof, bij dezelfde nieuwe prijs</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44 − 56 = −12</a:t>
                      </a:r>
                    </a:p>
                  </a:txBody>
                  <a:tcPr marL="91440" marR="91440" marT="45720" marB="45720" anchor="ctr">
                    <a:solidFill>
                      <a:srgbClr val="EFF4F7"/>
                    </a:solidFill>
                  </a:tcPr>
                </a:tc>
              </a:tr>
              <a:tr h="831056">
                <a:tc>
                  <a:txBody>
                    <a:bodyPr lIns="171450" tIns="95250" rIns="152400" bIns="95250"/>
                    <a:lstStyle/>
                    <a:p>
                      <a:r>
                        <a:rPr sz="2625" b="0">
                          <a:solidFill>
                            <a:srgbClr val="183247"/>
                          </a:solidFill>
                          <a:latin typeface="Arial"/>
                          <a:ea typeface="Arial"/>
                          <a:cs typeface="Arial"/>
                        </a:rPr>
                        <a:t>Samen ten opzichte van het begin</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44 − 40 = +4</a:t>
                      </a:r>
                    </a:p>
                  </a:txBody>
                  <a:tcPr marL="91440" marR="91440" marT="45720" marB="45720" anchor="ctr">
                    <a:solidFill>
                      <a:srgbClr val="FFFFFF"/>
                    </a:solidFill>
                  </a:tcPr>
                </a:tc>
              </a:tr>
            </a:tbl>
          </a:graphicData>
        </a:graphic>
      </p:graphicFrame>
      <p:sp>
        <p:nvSpPr>
          <p:cNvPr id="7" name="De stijging van 16 is groter dan de daling van 12.">
            <a:extLst xmlns:a="http://schemas.openxmlformats.org/drawingml/2006/main">
              <a:ext uri="{FF2B5EF4-FFF2-40B4-BE49-F238E27FC236}">
                <a16:creationId xmlns:a16="http://schemas.microsoft.com/office/drawing/2014/main" id="{27B98217-1032-4667-8E11-FD76D20B6AD6}"/>
              </a:ext>
            </a:extLst>
          </p:cNvPr>
          <p:cNvSpPr>
            <a:spLocks xmlns:a="http://schemas.openxmlformats.org/drawingml/2006/main" noGrp="1"/>
          </p:cNvSpPr>
          <p:nvPr/>
        </p:nvSpPr>
        <p:spPr>
          <a:xfrm xmlns:a="http://schemas.openxmlformats.org/drawingml/2006/main">
            <a:off x="571500" y="7296150"/>
            <a:ext cx="1409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De stijging van 16 is groter dan de daling van 12.</a:t>
            </a:r>
          </a:p>
        </p:txBody>
      </p:sp>
    </p:spTree>
    <p:extLst>
      <p:ext uri="{BB962C8B-B14F-4D97-AF65-F5344CB8AC3E}">
        <p14:creationId xmlns:p14="http://schemas.microsoft.com/office/powerpoint/2010/main" val="126776071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9e · De oorzaak bepaalt de verandering">
            <a:extLst xmlns:a="http://schemas.openxmlformats.org/drawingml/2006/main">
              <a:ext uri="{FF2B5EF4-FFF2-40B4-BE49-F238E27FC236}">
                <a16:creationId xmlns:a16="http://schemas.microsoft.com/office/drawing/2014/main" id="{B80D2C2E-E07C-47A7-AA97-B284CFBFEE18}"/>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9e · De oorzaak bepaalt de verandering</a:t>
            </a:r>
          </a:p>
        </p:txBody>
      </p:sp>
      <p:sp>
        <p:nvSpPr>
          <p:cNvPr id="2" name="">
            <a:extLst xmlns:a="http://schemas.openxmlformats.org/drawingml/2006/main">
              <a:ext uri="{FF2B5EF4-FFF2-40B4-BE49-F238E27FC236}">
                <a16:creationId xmlns:a16="http://schemas.microsoft.com/office/drawing/2014/main" id="{8B5A3195-6FEB-4999-BB04-A033C03976C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1 Aanbod en aanbodfactoren · Opgave 9 · Boekpagina 94">
            <a:extLst xmlns:a="http://schemas.openxmlformats.org/drawingml/2006/main">
              <a:ext uri="{FF2B5EF4-FFF2-40B4-BE49-F238E27FC236}">
                <a16:creationId xmlns:a16="http://schemas.microsoft.com/office/drawing/2014/main" id="{DED324D8-646D-400F-B422-EB971826D7CD}"/>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§1.3.1 Aanbod en aanbodfactoren · Opgave 9 · Boekpagina 94</a:t>
            </a:r>
          </a:p>
        </p:txBody>
      </p:sp>
      <p:sp>
        <p:nvSpPr>
          <p:cNvPr id="4" name="25">
            <a:extLst xmlns:a="http://schemas.openxmlformats.org/drawingml/2006/main">
              <a:ext uri="{FF2B5EF4-FFF2-40B4-BE49-F238E27FC236}">
                <a16:creationId xmlns:a16="http://schemas.microsoft.com/office/drawing/2014/main" id="{4919ED53-FA0A-4472-84B3-E4D0E27EE5C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25</a:t>
            </a:r>
          </a:p>
        </p:txBody>
      </p:sp>
      <p:sp>
        <p:nvSpPr>
          <p:cNvPr id="5" name="“De hogere verkoopprijs verschuift de aanbodlijn naar rechts">
            <a:extLst xmlns:a="http://schemas.openxmlformats.org/drawingml/2006/main">
              <a:ext uri="{FF2B5EF4-FFF2-40B4-BE49-F238E27FC236}">
                <a16:creationId xmlns:a16="http://schemas.microsoft.com/office/drawing/2014/main" id="{9975C383-8FB6-4454-AA05-C267B27382DE}"/>
              </a:ext>
            </a:extLst>
          </p:cNvPr>
          <p:cNvSpPr>
            <a:spLocks xmlns:a="http://schemas.openxmlformats.org/drawingml/2006/main" noGrp="1"/>
          </p:cNvSpPr>
          <p:nvPr/>
        </p:nvSpPr>
        <p:spPr>
          <a:xfrm xmlns:a="http://schemas.openxmlformats.org/drawingml/2006/main">
            <a:off x="571500" y="2133600"/>
            <a:ext cx="140970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“De hogere verkoopprijs verschuift de aanbodlijn naar rechts.”</a:t>
            </a:r>
          </a:p>
        </p:txBody>
      </p:sp>
      <p:sp>
        <p:nvSpPr>
          <p:cNvPr id="6" name="Onjuist">
            <a:extLst xmlns:a="http://schemas.openxmlformats.org/drawingml/2006/main">
              <a:ext uri="{FF2B5EF4-FFF2-40B4-BE49-F238E27FC236}">
                <a16:creationId xmlns:a16="http://schemas.microsoft.com/office/drawing/2014/main" id="{9F2D7565-5D1D-4631-9D16-0ECE62025F8F}"/>
              </a:ext>
            </a:extLst>
          </p:cNvPr>
          <p:cNvSpPr>
            <a:spLocks xmlns:a="http://schemas.openxmlformats.org/drawingml/2006/main" noGrp="1"/>
          </p:cNvSpPr>
          <p:nvPr/>
        </p:nvSpPr>
        <p:spPr>
          <a:xfrm xmlns:a="http://schemas.openxmlformats.org/drawingml/2006/main">
            <a:off x="571500" y="3895725"/>
            <a:ext cx="14097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A94D16"/>
                </a:solidFill>
                <a:latin typeface="Arial"/>
                <a:ea typeface="Arial"/>
                <a:cs typeface="Arial"/>
              </a:defRPr>
            </a:pPr>
            <a:r>
              <a:rPr sz="3900" b="1">
                <a:solidFill>
                  <a:srgbClr val="A94D16"/>
                </a:solidFill>
                <a:latin typeface="Arial"/>
                <a:ea typeface="Arial"/>
                <a:cs typeface="Arial"/>
              </a:rPr>
              <a:t>Onjuist</a:t>
            </a:r>
          </a:p>
        </p:txBody>
      </p:sp>
      <p:sp>
        <p:nvSpPr>
          <p:cNvPr id="7" name="Hogere tasprijs: beweging van R naar S langs A₀.">
            <a:extLst xmlns:a="http://schemas.openxmlformats.org/drawingml/2006/main">
              <a:ext uri="{FF2B5EF4-FFF2-40B4-BE49-F238E27FC236}">
                <a16:creationId xmlns:a16="http://schemas.microsoft.com/office/drawing/2014/main" id="{73E05382-21A3-4A78-9654-AB03E6BF8620}"/>
              </a:ext>
            </a:extLst>
          </p:cNvPr>
          <p:cNvSpPr>
            <a:spLocks xmlns:a="http://schemas.openxmlformats.org/drawingml/2006/main" noGrp="1"/>
          </p:cNvSpPr>
          <p:nvPr/>
        </p:nvSpPr>
        <p:spPr>
          <a:xfrm xmlns:a="http://schemas.openxmlformats.org/drawingml/2006/main">
            <a:off x="571500" y="5124450"/>
            <a:ext cx="14097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0665B"/>
                </a:solidFill>
                <a:latin typeface="Arial"/>
                <a:ea typeface="Arial"/>
                <a:cs typeface="Arial"/>
              </a:defRPr>
            </a:pPr>
            <a:r>
              <a:rPr sz="3000" b="1">
                <a:solidFill>
                  <a:srgbClr val="20665B"/>
                </a:solidFill>
                <a:latin typeface="Arial"/>
                <a:ea typeface="Arial"/>
                <a:cs typeface="Arial"/>
              </a:rPr>
              <a:t>Hogere tasprijs: beweging van R naar S langs A₀.</a:t>
            </a:r>
          </a:p>
        </p:txBody>
      </p:sp>
      <p:sp>
        <p:nvSpPr>
          <p:cNvPr id="8" name="Duurdere stof: aanbodlijn A₀ verschuift naar links, naar A₁.">
            <a:extLst xmlns:a="http://schemas.openxmlformats.org/drawingml/2006/main">
              <a:ext uri="{FF2B5EF4-FFF2-40B4-BE49-F238E27FC236}">
                <a16:creationId xmlns:a16="http://schemas.microsoft.com/office/drawing/2014/main" id="{88D822B0-13A1-4F03-9139-5D197CA84CCF}"/>
              </a:ext>
            </a:extLst>
          </p:cNvPr>
          <p:cNvSpPr>
            <a:spLocks xmlns:a="http://schemas.openxmlformats.org/drawingml/2006/main" noGrp="1"/>
          </p:cNvSpPr>
          <p:nvPr/>
        </p:nvSpPr>
        <p:spPr>
          <a:xfrm xmlns:a="http://schemas.openxmlformats.org/drawingml/2006/main">
            <a:off x="571500" y="6534150"/>
            <a:ext cx="14097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A94D16"/>
                </a:solidFill>
                <a:latin typeface="Arial"/>
                <a:ea typeface="Arial"/>
                <a:cs typeface="Arial"/>
              </a:defRPr>
            </a:pPr>
            <a:r>
              <a:rPr sz="3000" b="1">
                <a:solidFill>
                  <a:srgbClr val="A94D16"/>
                </a:solidFill>
                <a:latin typeface="Arial"/>
                <a:ea typeface="Arial"/>
                <a:cs typeface="Arial"/>
              </a:rPr>
              <a:t>Duurdere stof: aanbodlijn A₀ verschuift naar links, naar A₁.</a:t>
            </a:r>
          </a:p>
        </p:txBody>
      </p:sp>
    </p:spTree>
    <p:extLst>
      <p:ext uri="{BB962C8B-B14F-4D97-AF65-F5344CB8AC3E}">
        <p14:creationId xmlns:p14="http://schemas.microsoft.com/office/powerpoint/2010/main" val="71022726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1.3.1 Aanbod en aanbodfactoren">
            <a:extLst xmlns:a="http://schemas.openxmlformats.org/drawingml/2006/main">
              <a:ext uri="{FF2B5EF4-FFF2-40B4-BE49-F238E27FC236}">
                <a16:creationId xmlns:a16="http://schemas.microsoft.com/office/drawing/2014/main" id="{C1559C36-5A59-4BE2-9D62-2233FCD27EB4}"/>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Deze les: §1.3.1 Aanbod en aanbodfactoren</a:t>
            </a:r>
          </a:p>
        </p:txBody>
      </p:sp>
      <p:sp>
        <p:nvSpPr>
          <p:cNvPr id="2" name="">
            <a:extLst xmlns:a="http://schemas.openxmlformats.org/drawingml/2006/main">
              <a:ext uri="{FF2B5EF4-FFF2-40B4-BE49-F238E27FC236}">
                <a16:creationId xmlns:a16="http://schemas.microsoft.com/office/drawing/2014/main" id="{EC7007A2-85C2-4139-A123-4BA0D29393A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1.3.1 Aanbod en aanbodfactoren">
            <a:extLst xmlns:a="http://schemas.openxmlformats.org/drawingml/2006/main">
              <a:ext uri="{FF2B5EF4-FFF2-40B4-BE49-F238E27FC236}">
                <a16:creationId xmlns:a16="http://schemas.microsoft.com/office/drawing/2014/main" id="{15B08700-5FD8-4AF0-B662-5B2278FC673B}"/>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§1.3.1 Aanbod en aanbodfactoren</a:t>
            </a:r>
          </a:p>
        </p:txBody>
      </p:sp>
      <p:sp>
        <p:nvSpPr>
          <p:cNvPr id="4" name="26">
            <a:extLst xmlns:a="http://schemas.openxmlformats.org/drawingml/2006/main">
              <a:ext uri="{FF2B5EF4-FFF2-40B4-BE49-F238E27FC236}">
                <a16:creationId xmlns:a16="http://schemas.microsoft.com/office/drawing/2014/main" id="{65320066-5554-457F-9AC1-66E5CD8DE9C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26</a:t>
            </a:r>
          </a:p>
        </p:txBody>
      </p:sp>
      <p:sp>
        <p:nvSpPr>
          <p:cNvPr id="5" name="phase">
            <a:extLst xmlns:a="http://schemas.openxmlformats.org/drawingml/2006/main">
              <a:ext uri="{FF2B5EF4-FFF2-40B4-BE49-F238E27FC236}">
                <a16:creationId xmlns:a16="http://schemas.microsoft.com/office/drawing/2014/main" id="{BA8414B5-1294-4E01-9907-C4B404E0AB7A}"/>
              </a:ext>
            </a:extLst>
          </p:cNvPr>
          <p:cNvSpPr>
            <a:spLocks xmlns:a="http://schemas.openxmlformats.org/drawingml/2006/main" noGrp="1"/>
          </p:cNvSpPr>
          <p:nvPr/>
        </p:nvSpPr>
        <p:spPr>
          <a:xfrm xmlns:a="http://schemas.openxmlformats.org/drawingml/2006/main">
            <a:off x="571500" y="1066800"/>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Afsluiting / huiswerk</a:t>
            </a:r>
          </a:p>
        </p:txBody>
      </p:sp>
      <p:sp>
        <p:nvSpPr>
          <p:cNvPr id="6" name="Lesroute">
            <a:extLst xmlns:a="http://schemas.openxmlformats.org/drawingml/2006/main">
              <a:ext uri="{FF2B5EF4-FFF2-40B4-BE49-F238E27FC236}">
                <a16:creationId xmlns:a16="http://schemas.microsoft.com/office/drawing/2014/main" id="{F4500484-91CF-45EB-B673-56B9BE96AE5E}"/>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9BC9DFC9-A761-42CB-B5A0-D8F04334E428}"/>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9C1A9A6F-E817-4CD2-AC8E-D2485FF6DB2F}"/>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E835985B-226E-4B77-897C-1272A90D73DA}"/>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59EE7D20-5D02-4914-9FD9-D8259412E5B2}"/>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E3B95020-4F2E-4EC3-B7A8-F87A730E9935}"/>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D502C441-9A2E-4782-A0F0-D65BB042066F}"/>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46F2CBAB-F76E-4611-B4F0-7F5E14E6E1C2}"/>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F8ED7817-50A8-4A67-9267-2262E8C709D2}"/>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386DB614-7055-4370-AD5E-56E441AA764E}"/>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A9BD5D11-9C28-4B1E-921F-0853A40A31B7}"/>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761E0936-13E9-4056-A195-927DA7C24B10}"/>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B75C6523-48D8-478A-829C-B8DD5585DE9C}"/>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9.</a:t>
            </a:r>
          </a:p>
        </p:txBody>
      </p:sp>
      <p:sp>
        <p:nvSpPr>
          <p:cNvPr id="19" name="route-number-7">
            <a:extLst xmlns:a="http://schemas.openxmlformats.org/drawingml/2006/main">
              <a:ext uri="{FF2B5EF4-FFF2-40B4-BE49-F238E27FC236}">
                <a16:creationId xmlns:a16="http://schemas.microsoft.com/office/drawing/2014/main" id="{18108A18-BC5A-49C9-88C1-14C0ED2E52FF}"/>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D127BD24-B416-421A-8A07-4C062EAC19F2}"/>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C2835A8D-2A74-4D1A-8179-6706BE5F4179}"/>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1A3A506B-E20B-4253-83D8-D32331597524}"/>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Aanbod uitleggen en berekenen.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Bewegen en verschuiven onderscheiden.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Plannen en verkoop uit elkaar houden.</a:t>
            </a:r>
          </a:p>
        </p:txBody>
      </p:sp>
      <p:sp>
        <p:nvSpPr>
          <p:cNvPr id="23" name="">
            <a:extLst xmlns:a="http://schemas.openxmlformats.org/drawingml/2006/main">
              <a:ext uri="{FF2B5EF4-FFF2-40B4-BE49-F238E27FC236}">
                <a16:creationId xmlns:a16="http://schemas.microsoft.com/office/drawing/2014/main" id="{DFFB3F4D-1872-49D3-99FF-86694B87F836}"/>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B9E6A641-A96F-4B10-9A1E-66C05587A8B2}"/>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6C9324A7-BDE2-4DD1-BC81-0B1A3F0BE5FA}"/>
              </a:ext>
            </a:extLst>
          </p:cNvPr>
          <p:cNvSpPr>
            <a:spLocks xmlns:a="http://schemas.openxmlformats.org/drawingml/2006/main" noGrp="1"/>
          </p:cNvSpPr>
          <p:nvPr/>
        </p:nvSpPr>
        <p:spPr>
          <a:xfrm xmlns:a="http://schemas.openxmlformats.org/drawingml/2006/main">
            <a:off x="9258300" y="4371975"/>
            <a:ext cx="5381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90 · Opgaven 1 en 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 verkennen, theorie p. 86 en 89</a:t>
            </a:r>
          </a:p>
        </p:txBody>
      </p:sp>
      <p:sp>
        <p:nvSpPr>
          <p:cNvPr id="26" name="">
            <a:extLst xmlns:a="http://schemas.openxmlformats.org/drawingml/2006/main">
              <a:ext uri="{FF2B5EF4-FFF2-40B4-BE49-F238E27FC236}">
                <a16:creationId xmlns:a16="http://schemas.microsoft.com/office/drawing/2014/main" id="{50055D8C-031A-4F0D-987A-4E18662275FF}"/>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AB22045D-FA7C-4D0B-A605-0D0416763AF6}"/>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84E2DD93-0411-4794-AC66-B4558294053F}"/>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§1.3.1</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Basis: 3, 4 en 5</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Zelfstandig: 6, 7 en 8</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Doelopgave: 9</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Maken en nakijken</a:t>
            </a:r>
          </a:p>
        </p:txBody>
      </p:sp>
    </p:spTree>
    <p:extLst>
      <p:ext uri="{BB962C8B-B14F-4D97-AF65-F5344CB8AC3E}">
        <p14:creationId xmlns:p14="http://schemas.microsoft.com/office/powerpoint/2010/main" val="5661628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2026-10-03T13:30:32.0160000Z</dcterms:created>
  <dcterms:modified xsi:type="dcterms:W3CDTF">2026-10-03T13:30:32.0160000Z</dcterms:modified>
</coreProperties>
</file>