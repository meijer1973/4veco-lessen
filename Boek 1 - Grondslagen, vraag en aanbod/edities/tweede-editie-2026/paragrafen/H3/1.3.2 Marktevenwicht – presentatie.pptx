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6.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fe764927f3461b" /><Relationship Type="http://schemas.openxmlformats.org/officeDocument/2006/relationships/extended-properties" Target="/docProps/app.xml" Id="R0d3b7ae5f124462c" /><Relationship Type="http://schemas.openxmlformats.org/officeDocument/2006/relationships/officeDocument" Target="/ppt/presentation.xml" Id="R232226c4f8ac4bad" /></Relationships>
</file>

<file path=ppt/presentation.xml><?xml version="1.0" encoding="utf-8"?>
<p:presentation xmlns:p="http://schemas.openxmlformats.org/presentationml/2006/main">
  <p:sldMasterIdLst>
    <p:sldMasterId xmlns:r="http://schemas.openxmlformats.org/officeDocument/2006/relationships" id="2147483648" r:id="R55c0f9c5fbf840f3"/>
  </p:sldMasterIdLst>
  <p:notesMasterIdLst>
    <p:notesMasterId xmlns:r="http://schemas.openxmlformats.org/officeDocument/2006/relationships" r:id="R1cb291fd7f114b2d"/>
  </p:notesMasterIdLst>
  <p:sldIdLst>
    <p:sldId xmlns:r="http://schemas.openxmlformats.org/officeDocument/2006/relationships" id="256" r:id="R1ff2e1e6e74f4dc6"/>
    <p:sldId xmlns:r="http://schemas.openxmlformats.org/officeDocument/2006/relationships" id="257" r:id="Rb249dccaf4744310"/>
    <p:sldId xmlns:r="http://schemas.openxmlformats.org/officeDocument/2006/relationships" id="258" r:id="R9e13c646e44c473c"/>
    <p:sldId xmlns:r="http://schemas.openxmlformats.org/officeDocument/2006/relationships" id="259" r:id="R60aff890821c401a"/>
    <p:sldId xmlns:r="http://schemas.openxmlformats.org/officeDocument/2006/relationships" id="260" r:id="Rce858125615b403d"/>
    <p:sldId xmlns:r="http://schemas.openxmlformats.org/officeDocument/2006/relationships" id="261" r:id="R985a6ae5399149b6"/>
    <p:sldId xmlns:r="http://schemas.openxmlformats.org/officeDocument/2006/relationships" id="262" r:id="Rfdab7d49faf84aa6"/>
    <p:sldId xmlns:r="http://schemas.openxmlformats.org/officeDocument/2006/relationships" id="263" r:id="Rffaff29516dd4feb"/>
    <p:sldId xmlns:r="http://schemas.openxmlformats.org/officeDocument/2006/relationships" id="264" r:id="R6302b1e4de2b4727"/>
    <p:sldId xmlns:r="http://schemas.openxmlformats.org/officeDocument/2006/relationships" id="265" r:id="Rd8706f03f1c44041"/>
    <p:sldId xmlns:r="http://schemas.openxmlformats.org/officeDocument/2006/relationships" id="266" r:id="Rffe359e4ece541f3"/>
    <p:sldId xmlns:r="http://schemas.openxmlformats.org/officeDocument/2006/relationships" id="267" r:id="R8162df70a79d4a35"/>
    <p:sldId xmlns:r="http://schemas.openxmlformats.org/officeDocument/2006/relationships" id="268" r:id="R507ef11be5de4416"/>
    <p:sldId xmlns:r="http://schemas.openxmlformats.org/officeDocument/2006/relationships" id="269" r:id="R1324d10aa9424db1"/>
    <p:sldId xmlns:r="http://schemas.openxmlformats.org/officeDocument/2006/relationships" id="270" r:id="Ra25af7b0bbab4c44"/>
    <p:sldId xmlns:r="http://schemas.openxmlformats.org/officeDocument/2006/relationships" id="271" r:id="R714940d7002c4027"/>
    <p:sldId xmlns:r="http://schemas.openxmlformats.org/officeDocument/2006/relationships" id="272" r:id="Rc2a553d8701345dd"/>
    <p:sldId xmlns:r="http://schemas.openxmlformats.org/officeDocument/2006/relationships" id="273" r:id="Rd922423219f84114"/>
    <p:sldId xmlns:r="http://schemas.openxmlformats.org/officeDocument/2006/relationships" id="274" r:id="Re39e87c713154f7c"/>
    <p:sldId xmlns:r="http://schemas.openxmlformats.org/officeDocument/2006/relationships" id="275" r:id="Rbbab63918ede494b"/>
    <p:sldId xmlns:r="http://schemas.openxmlformats.org/officeDocument/2006/relationships" id="276" r:id="R36aa8b6d0c7540fd"/>
    <p:sldId xmlns:r="http://schemas.openxmlformats.org/officeDocument/2006/relationships" id="277" r:id="R78fc3f7712734560"/>
    <p:sldId xmlns:r="http://schemas.openxmlformats.org/officeDocument/2006/relationships" id="278" r:id="R179421d22f7e4078"/>
    <p:sldId xmlns:r="http://schemas.openxmlformats.org/officeDocument/2006/relationships" id="279" r:id="R0476eefafc7040e2"/>
    <p:sldId xmlns:r="http://schemas.openxmlformats.org/officeDocument/2006/relationships" id="280" r:id="R324c996bf5c84de0"/>
    <p:sldId xmlns:r="http://schemas.openxmlformats.org/officeDocument/2006/relationships" id="281" r:id="Ree3792c2b5e84cf8"/>
    <p:sldId xmlns:r="http://schemas.openxmlformats.org/officeDocument/2006/relationships" id="282" r:id="Rab362d56f52e46be"/>
    <p:sldId xmlns:r="http://schemas.openxmlformats.org/officeDocument/2006/relationships" id="283" r:id="R8a5d6a55f0ba411d"/>
    <p:sldId xmlns:r="http://schemas.openxmlformats.org/officeDocument/2006/relationships" id="284" r:id="R4bc7a571aa324976"/>
    <p:sldId xmlns:r="http://schemas.openxmlformats.org/officeDocument/2006/relationships" id="285" r:id="R0ef16cc04a7e4f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c451d1b0aa404a" /><Relationship Type="http://schemas.openxmlformats.org/officeDocument/2006/relationships/slideMaster" Target="/ppt/slideMasters/slideMaster1.xml" Id="R55c0f9c5fbf840f3" /><Relationship Type="http://schemas.openxmlformats.org/officeDocument/2006/relationships/notesMaster" Target="/ppt/notesMasters/notesMaster1.xml" Id="R1cb291fd7f114b2d" /><Relationship Type="http://schemas.openxmlformats.org/officeDocument/2006/relationships/presProps" Target="/ppt/presProps.xml" Id="R7256a4802a044a2b" /><Relationship Type="http://schemas.openxmlformats.org/officeDocument/2006/relationships/tableStyles" Target="/ppt/tableStyles.xml" Id="Rca7b9cb056bd4b2c" /><Relationship Type="http://schemas.openxmlformats.org/officeDocument/2006/relationships/slide" Target="/ppt/slides/slide1.xml" Id="R1ff2e1e6e74f4dc6" /><Relationship Type="http://schemas.openxmlformats.org/officeDocument/2006/relationships/slide" Target="/ppt/slides/slide2.xml" Id="Rb249dccaf4744310" /><Relationship Type="http://schemas.openxmlformats.org/officeDocument/2006/relationships/slide" Target="/ppt/slides/slide3.xml" Id="R9e13c646e44c473c" /><Relationship Type="http://schemas.openxmlformats.org/officeDocument/2006/relationships/slide" Target="/ppt/slides/slide4.xml" Id="R60aff890821c401a" /><Relationship Type="http://schemas.openxmlformats.org/officeDocument/2006/relationships/slide" Target="/ppt/slides/slide5.xml" Id="Rce858125615b403d" /><Relationship Type="http://schemas.openxmlformats.org/officeDocument/2006/relationships/slide" Target="/ppt/slides/slide6.xml" Id="R985a6ae5399149b6" /><Relationship Type="http://schemas.openxmlformats.org/officeDocument/2006/relationships/slide" Target="/ppt/slides/slide7.xml" Id="Rfdab7d49faf84aa6" /><Relationship Type="http://schemas.openxmlformats.org/officeDocument/2006/relationships/slide" Target="/ppt/slides/slide8.xml" Id="Rffaff29516dd4feb" /><Relationship Type="http://schemas.openxmlformats.org/officeDocument/2006/relationships/slide" Target="/ppt/slides/slide9.xml" Id="R6302b1e4de2b4727" /><Relationship Type="http://schemas.openxmlformats.org/officeDocument/2006/relationships/slide" Target="/ppt/slides/slide10.xml" Id="Rd8706f03f1c44041" /><Relationship Type="http://schemas.openxmlformats.org/officeDocument/2006/relationships/slide" Target="/ppt/slides/slide11.xml" Id="Rffe359e4ece541f3" /><Relationship Type="http://schemas.openxmlformats.org/officeDocument/2006/relationships/slide" Target="/ppt/slides/slide12.xml" Id="R8162df70a79d4a35" /><Relationship Type="http://schemas.openxmlformats.org/officeDocument/2006/relationships/slide" Target="/ppt/slides/slide13.xml" Id="R507ef11be5de4416" /><Relationship Type="http://schemas.openxmlformats.org/officeDocument/2006/relationships/slide" Target="/ppt/slides/slide14.xml" Id="R1324d10aa9424db1" /><Relationship Type="http://schemas.openxmlformats.org/officeDocument/2006/relationships/slide" Target="/ppt/slides/slide15.xml" Id="Ra25af7b0bbab4c44" /><Relationship Type="http://schemas.openxmlformats.org/officeDocument/2006/relationships/slide" Target="/ppt/slides/slide16.xml" Id="R714940d7002c4027" /><Relationship Type="http://schemas.openxmlformats.org/officeDocument/2006/relationships/slide" Target="/ppt/slides/slide17.xml" Id="Rc2a553d8701345dd" /><Relationship Type="http://schemas.openxmlformats.org/officeDocument/2006/relationships/slide" Target="/ppt/slides/slide18.xml" Id="Rd922423219f84114" /><Relationship Type="http://schemas.openxmlformats.org/officeDocument/2006/relationships/slide" Target="/ppt/slides/slide19.xml" Id="Re39e87c713154f7c" /><Relationship Type="http://schemas.openxmlformats.org/officeDocument/2006/relationships/slide" Target="/ppt/slides/slide20.xml" Id="Rbbab63918ede494b" /><Relationship Type="http://schemas.openxmlformats.org/officeDocument/2006/relationships/slide" Target="/ppt/slides/slide21.xml" Id="R36aa8b6d0c7540fd" /><Relationship Type="http://schemas.openxmlformats.org/officeDocument/2006/relationships/slide" Target="/ppt/slides/slide22.xml" Id="R78fc3f7712734560" /><Relationship Type="http://schemas.openxmlformats.org/officeDocument/2006/relationships/slide" Target="/ppt/slides/slide23.xml" Id="R179421d22f7e4078" /><Relationship Type="http://schemas.openxmlformats.org/officeDocument/2006/relationships/slide" Target="/ppt/slides/slide24.xml" Id="R0476eefafc7040e2" /><Relationship Type="http://schemas.openxmlformats.org/officeDocument/2006/relationships/slide" Target="/ppt/slides/slide25.xml" Id="R324c996bf5c84de0" /><Relationship Type="http://schemas.openxmlformats.org/officeDocument/2006/relationships/slide" Target="/ppt/slides/slide26.xml" Id="Ree3792c2b5e84cf8" /><Relationship Type="http://schemas.openxmlformats.org/officeDocument/2006/relationships/slide" Target="/ppt/slides/slide27.xml" Id="Rab362d56f52e46be" /><Relationship Type="http://schemas.openxmlformats.org/officeDocument/2006/relationships/slide" Target="/ppt/slides/slide28.xml" Id="R8a5d6a55f0ba411d" /><Relationship Type="http://schemas.openxmlformats.org/officeDocument/2006/relationships/slide" Target="/ppt/slides/slide29.xml" Id="R4bc7a571aa324976" /><Relationship Type="http://schemas.openxmlformats.org/officeDocument/2006/relationships/slide" Target="/ppt/slides/slide30.xml" Id="R0ef16cc04a7e4f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7f57483d264e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b349031cdb4577" /><Relationship Type="http://schemas.openxmlformats.org/officeDocument/2006/relationships/notesMaster" Target="/ppt/notesMasters/notesMaster1.xml" Id="R547c736eeb344a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dc6bfcf2cf4993" /><Relationship Type="http://schemas.openxmlformats.org/officeDocument/2006/relationships/notesMaster" Target="/ppt/notesMasters/notesMaster1.xml" Id="Rb4f8cca18a9c48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730921d80544af" /><Relationship Type="http://schemas.openxmlformats.org/officeDocument/2006/relationships/notesMaster" Target="/ppt/notesMasters/notesMaster1.xml" Id="R5b7a06df820145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944f5bf382486a" /><Relationship Type="http://schemas.openxmlformats.org/officeDocument/2006/relationships/notesMaster" Target="/ppt/notesMasters/notesMaster1.xml" Id="R57cbda9e830d40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599c232af64228" /><Relationship Type="http://schemas.openxmlformats.org/officeDocument/2006/relationships/notesMaster" Target="/ppt/notesMasters/notesMaster1.xml" Id="Rfb3163ebd2c841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5d43816b774abf" /><Relationship Type="http://schemas.openxmlformats.org/officeDocument/2006/relationships/notesMaster" Target="/ppt/notesMasters/notesMaster1.xml" Id="R2db0206f2b0843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f8c3f92cd74b7e" /><Relationship Type="http://schemas.openxmlformats.org/officeDocument/2006/relationships/notesMaster" Target="/ppt/notesMasters/notesMaster1.xml" Id="Ra0a210814e4744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4b2941f73348cb" /><Relationship Type="http://schemas.openxmlformats.org/officeDocument/2006/relationships/notesMaster" Target="/ppt/notesMasters/notesMaster1.xml" Id="R8cf71ccec56e48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822f8ae47c4819" /><Relationship Type="http://schemas.openxmlformats.org/officeDocument/2006/relationships/notesMaster" Target="/ppt/notesMasters/notesMaster1.xml" Id="R0279f1a493a443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b58e205afc4913" /><Relationship Type="http://schemas.openxmlformats.org/officeDocument/2006/relationships/notesMaster" Target="/ppt/notesMasters/notesMaster1.xml" Id="R21d9e8f61a3b44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aaec690d564ebd" /><Relationship Type="http://schemas.openxmlformats.org/officeDocument/2006/relationships/notesMaster" Target="/ppt/notesMasters/notesMaster1.xml" Id="R38d1d528bc414f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ab68160b584abf" /><Relationship Type="http://schemas.openxmlformats.org/officeDocument/2006/relationships/notesMaster" Target="/ppt/notesMasters/notesMaster1.xml" Id="R0358fd29e88a44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4a838dc8434bb3" /><Relationship Type="http://schemas.openxmlformats.org/officeDocument/2006/relationships/notesMaster" Target="/ppt/notesMasters/notesMaster1.xml" Id="R654251e9adb647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791547b8984920" /><Relationship Type="http://schemas.openxmlformats.org/officeDocument/2006/relationships/notesMaster" Target="/ppt/notesMasters/notesMaster1.xml" Id="Rf16f0aefaca845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93156faa5a48d9" /><Relationship Type="http://schemas.openxmlformats.org/officeDocument/2006/relationships/notesMaster" Target="/ppt/notesMasters/notesMaster1.xml" Id="R34fa6a83f47d4e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6c094960324cd2" /><Relationship Type="http://schemas.openxmlformats.org/officeDocument/2006/relationships/notesMaster" Target="/ppt/notesMasters/notesMaster1.xml" Id="Ra3ee962c6bfe4d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35e301fcdb4e13" /><Relationship Type="http://schemas.openxmlformats.org/officeDocument/2006/relationships/notesMaster" Target="/ppt/notesMasters/notesMaster1.xml" Id="Rd81508fe29cd43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07f6a729fa4c9b" /><Relationship Type="http://schemas.openxmlformats.org/officeDocument/2006/relationships/notesMaster" Target="/ppt/notesMasters/notesMaster1.xml" Id="Rf2adc19c85ec4d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d59d4e067b4dbb" /><Relationship Type="http://schemas.openxmlformats.org/officeDocument/2006/relationships/notesMaster" Target="/ppt/notesMasters/notesMaster1.xml" Id="R32ca7b476ee944b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1a079804d9405f" /><Relationship Type="http://schemas.openxmlformats.org/officeDocument/2006/relationships/notesMaster" Target="/ppt/notesMasters/notesMaster1.xml" Id="Rb2370c9b481f44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280366f9d94435" /><Relationship Type="http://schemas.openxmlformats.org/officeDocument/2006/relationships/notesMaster" Target="/ppt/notesMasters/notesMaster1.xml" Id="Rda530f4162d949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80acb7c205416c" /><Relationship Type="http://schemas.openxmlformats.org/officeDocument/2006/relationships/notesMaster" Target="/ppt/notesMasters/notesMaster1.xml" Id="R256eadfee71742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120f39c5f1f4b46" /><Relationship Type="http://schemas.openxmlformats.org/officeDocument/2006/relationships/notesMaster" Target="/ppt/notesMasters/notesMaster1.xml" Id="Rf39fff96c39d401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1699eb30814d88" /><Relationship Type="http://schemas.openxmlformats.org/officeDocument/2006/relationships/notesMaster" Target="/ppt/notesMasters/notesMaster1.xml" Id="Rb8d74ecddeae4d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0398b116f77438e" /><Relationship Type="http://schemas.openxmlformats.org/officeDocument/2006/relationships/notesMaster" Target="/ppt/notesMasters/notesMaster1.xml" Id="R8b996496e95b436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2c8504a1e24949" /><Relationship Type="http://schemas.openxmlformats.org/officeDocument/2006/relationships/notesMaster" Target="/ppt/notesMasters/notesMaster1.xml" Id="R1006a4cdaf2a4eb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bea031a71544fd9" /><Relationship Type="http://schemas.openxmlformats.org/officeDocument/2006/relationships/notesMaster" Target="/ppt/notesMasters/notesMaster1.xml" Id="R15038a77a79c4d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359185fef6f45f6" /><Relationship Type="http://schemas.openxmlformats.org/officeDocument/2006/relationships/notesMaster" Target="/ppt/notesMasters/notesMaster1.xml" Id="R8a76b53e3ce1404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17bdc854404262" /><Relationship Type="http://schemas.openxmlformats.org/officeDocument/2006/relationships/notesMaster" Target="/ppt/notesMasters/notesMaster1.xml" Id="R63f4efbfafaa48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af2a66ecb604ade" /><Relationship Type="http://schemas.openxmlformats.org/officeDocument/2006/relationships/notesMaster" Target="/ppt/notesMasters/notesMaster1.xml" Id="Rf7801c0c802141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denkstap wil je na de uitleg opnieuw proberen?</a:t>
            </a:r>
          </a:p>
          <a:p xmlns:a="http://schemas.openxmlformats.org/drawingml/2006/main">
            <a:r>
              <a:rPr sz="1400"/>
              <a:t/>
            </a:r>
          </a:p>
          <a:p xmlns:a="http://schemas.openxmlformats.org/drawingml/2006/main">
            <a:r>
              <a:rPr sz="1400"/>
              <a:t>Uitleg: Laat dit overzicht staan tijdens startopdracht. Start 12–13 staat op p.102. Opgave 12 haalt terugrekenen en invullen op, onderwezen op p.27 en p.48–49. Opgave 13 verkent een nieuw begrip: laat leerlingen de definitie en uitleg over dezelfde transacties op p.96–97 gebruiken, aanwijzen wat helpt en vragen noteren. Dit is geen toets van al beheerste kennis. Keer vóór het basiswerk terug naar 13: laat de klas opnieuw onderbouwen. Bespreek dan: evenwicht, 60 verkochte bidons, omdat één verkoop dezelfde aankoop is. Basis 14–16 op p.103–104, zelfstandig 17–19 op p.105, doel 20 op p.106. Huiswerk is 14, 15, 16, 17, 18, 19 en 20 maken en nakijken. Bonus 21 en herhaling 22 zijn extra. De volledige route kan meerdere lessen vragen.</a:t>
            </a:r>
          </a:p>
          <a:p xmlns:a="http://schemas.openxmlformats.org/drawingml/2006/main">
            <a:r>
              <a:rPr sz="1400"/>
              <a:t/>
            </a:r>
          </a:p>
          <a:p xmlns:a="http://schemas.openxmlformats.org/drawingml/2006/main">
            <a:r>
              <a:rPr sz="1400"/>
              <a:t>Misvatting: Start 13 gebruikt nieuwe tweezijdige marktkennis. Een startpoging bewijst geen beheersing.</a:t>
            </a:r>
          </a:p>
          <a:p xmlns:a="http://schemas.openxmlformats.org/drawingml/2006/main">
            <a:r>
              <a:rPr sz="1400"/>
              <a:t/>
            </a:r>
          </a:p>
          <a:p xmlns:a="http://schemas.openxmlformats.org/drawingml/2006/main">
            <a:r>
              <a:rPr sz="1400"/>
              <a:t>Overgang: Ga verder naar de volgende lesfase.</a:t>
            </a:r>
          </a:p>
          <a:p xmlns:a="http://schemas.openxmlformats.org/drawingml/2006/main">
            <a:r>
              <a:rPr sz="1400"/>
              <a:t/>
            </a:r>
          </a:p>
          <a:p xmlns:a="http://schemas.openxmlformats.org/drawingml/2006/main">
            <a:r>
              <a:rPr sz="1400"/>
              <a:t>Bron: Boek 1, tweede editie 2026, gedrukte leerlingboekpagina 96–97, 102–106.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Wanneer passen koop- en verkoopplannen bij elkaar?</a:t>
            </a:r>
          </a:p>
          <a:p xmlns:a="http://schemas.openxmlformats.org/drawingml/2006/main">
            <a:r>
              <a:rPr sz="1400"/>
              <a:t/>
            </a:r>
          </a:p>
          <a:p xmlns:a="http://schemas.openxmlformats.org/drawingml/2006/main">
            <a:r>
              <a:rPr sz="1400"/>
              <a:t>Uitleg: Koppel de doelen aan opgave 20. De klas kende losse vraag- en aanbodplannen. Vandaag worden die bij dezelfde prijs gecombineerd. Twee functies gelijkstellen wordt stap voor stap aangeleerd.</a:t>
            </a:r>
          </a:p>
          <a:p xmlns:a="http://schemas.openxmlformats.org/drawingml/2006/main">
            <a:r>
              <a:rPr sz="1400"/>
              <a:t/>
            </a:r>
          </a:p>
          <a:p xmlns:a="http://schemas.openxmlformats.org/drawingml/2006/main">
            <a:r>
              <a:rPr sz="1400"/>
              <a:t>Misvatting: Twee functies kennen betekent nog niet dat gelijkstellen al beheerst is.</a:t>
            </a:r>
          </a:p>
          <a:p xmlns:a="http://schemas.openxmlformats.org/drawingml/2006/main">
            <a:r>
              <a:rPr sz="1400"/>
              <a:t/>
            </a:r>
          </a:p>
          <a:p xmlns:a="http://schemas.openxmlformats.org/drawingml/2006/main">
            <a:r>
              <a:rPr sz="1400"/>
              <a:t>Overgang: Introduceer de afzonderlijke pennenetuimarkt.</a:t>
            </a:r>
          </a:p>
          <a:p xmlns:a="http://schemas.openxmlformats.org/drawingml/2006/main">
            <a:r>
              <a:rPr sz="1400"/>
              <a:t/>
            </a:r>
          </a:p>
          <a:p xmlns:a="http://schemas.openxmlformats.org/drawingml/2006/main">
            <a:r>
              <a:rPr sz="1400"/>
              <a:t>Bron: Boek 1, tweede editie 2026, gedrukte leerlingboekpagina 96.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hoort bij P en welke bij Q?</a:t>
            </a:r>
          </a:p>
          <a:p xmlns:a="http://schemas.openxmlformats.org/drawingml/2006/main">
            <a:r>
              <a:rPr sz="1400"/>
              <a:t/>
            </a:r>
          </a:p>
          <a:p xmlns:a="http://schemas.openxmlformats.org/drawingml/2006/main">
            <a:r>
              <a:rPr sz="1400"/>
              <a:t>Uitleg: Qv is wat alle kopers bij P willen en kunnen kopen; Qa wat verkopers bij dezelfde P willen en kunnen aanbieden. Haal collectieve vraag p.68–69 en aanbod als plan p.86–87 op. Beide functies zijn geldig in het gezamenlijke prijsinterval 2 ≤ P ≤ 18. Deelnemers kunnen elkaar vinden.</a:t>
            </a:r>
          </a:p>
          <a:p xmlns:a="http://schemas.openxmlformats.org/drawingml/2006/main">
            <a:r>
              <a:rPr sz="1400"/>
              <a:t/>
            </a:r>
          </a:p>
          <a:p xmlns:a="http://schemas.openxmlformats.org/drawingml/2006/main">
            <a:r>
              <a:rPr sz="1400"/>
              <a:t>Misvatting: Hoofdletter Q is hier een markttotaal. Aanbod is nog geen verkoop.</a:t>
            </a:r>
          </a:p>
          <a:p xmlns:a="http://schemas.openxmlformats.org/drawingml/2006/main">
            <a:r>
              <a:rPr sz="1400"/>
              <a:t/>
            </a:r>
          </a:p>
          <a:p xmlns:a="http://schemas.openxmlformats.org/drawingml/2006/main">
            <a:r>
              <a:rPr sz="1400"/>
              <a:t>Overgang: Vergelijk de plannen bij enkele prijzen.</a:t>
            </a:r>
          </a:p>
          <a:p xmlns:a="http://schemas.openxmlformats.org/drawingml/2006/main">
            <a:r>
              <a:rPr sz="1400"/>
              <a:t/>
            </a:r>
          </a:p>
          <a:p xmlns:a="http://schemas.openxmlformats.org/drawingml/2006/main">
            <a:r>
              <a:rPr sz="1400"/>
              <a:t>Bron: Boek 1, tweede editie 2026, gedrukte leerlingboekpagina 96.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heeft gelijke plannen?</a:t>
            </a:r>
          </a:p>
          <a:p xmlns:a="http://schemas.openxmlformats.org/drawingml/2006/main">
            <a:r>
              <a:rPr sz="1400"/>
              <a:t/>
            </a:r>
          </a:p>
          <a:p xmlns:a="http://schemas.openxmlformats.org/drawingml/2006/main">
            <a:r>
              <a:rPr sz="1400"/>
              <a:t>Uitleg: Herhaal substitutie: bij 8 geeft 72 − 4 × 8 = 40 en 4 × 8 − 8 = 24. Bij 10 zijn beide 32. Kopers kopen dezelfde etuis die verkopers verkopen. De 32 transacties tellen niet dubbel. Evenwicht vervult niet alle behoeften en bewijst geen eerlijke verdeling.</a:t>
            </a:r>
          </a:p>
          <a:p xmlns:a="http://schemas.openxmlformats.org/drawingml/2006/main">
            <a:r>
              <a:rPr sz="1400"/>
              <a:t/>
            </a:r>
          </a:p>
          <a:p xmlns:a="http://schemas.openxmlformats.org/drawingml/2006/main">
            <a:r>
              <a:rPr sz="1400"/>
              <a:t>Misvatting: Tel Qv en Qa niet op tot 64.</a:t>
            </a:r>
          </a:p>
          <a:p xmlns:a="http://schemas.openxmlformats.org/drawingml/2006/main">
            <a:r>
              <a:rPr sz="1400"/>
              <a:t/>
            </a:r>
          </a:p>
          <a:p xmlns:a="http://schemas.openxmlformats.org/drawingml/2006/main">
            <a:r>
              <a:rPr sz="1400"/>
              <a:t>Overgang: Bereken dezelfde prijs algebraïsch.</a:t>
            </a:r>
          </a:p>
          <a:p xmlns:a="http://schemas.openxmlformats.org/drawingml/2006/main">
            <a:r>
              <a:rPr sz="1400"/>
              <a:t/>
            </a:r>
          </a:p>
          <a:p xmlns:a="http://schemas.openxmlformats.org/drawingml/2006/main">
            <a:r>
              <a:rPr sz="1400"/>
              <a:t>Bron: Boek 1, tweede editie 2026, gedrukte leerlingboekpagina 96–97.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mag je aan beide kanten 4P optellen?</a:t>
            </a:r>
          </a:p>
          <a:p xmlns:a="http://schemas.openxmlformats.org/drawingml/2006/main">
            <a:r>
              <a:rPr sz="1400"/>
              <a:t/>
            </a:r>
          </a:p>
          <a:p xmlns:a="http://schemas.openxmlformats.org/drawingml/2006/main">
            <a:r>
              <a:rPr sz="1400"/>
              <a:t>Uitleg: Dit is de eerste vergelijking met P aan beide kanten. Laat elke bewerking hardop benoemen. De terugrekenmethode p.27 en p.49 blijft geldig: aan beide zijden hetzelfde doen. Begin met de economische voorwaarde.</a:t>
            </a:r>
          </a:p>
          <a:p xmlns:a="http://schemas.openxmlformats.org/drawingml/2006/main">
            <a:r>
              <a:rPr sz="1400"/>
              <a:t/>
            </a:r>
          </a:p>
          <a:p xmlns:a="http://schemas.openxmlformats.org/drawingml/2006/main">
            <a:r>
              <a:rPr sz="1400"/>
              <a:t>Misvatting: Een minteken verandert niet vanzelf. Qv = 0 bepaalt een assnijpunt.</a:t>
            </a:r>
          </a:p>
          <a:p xmlns:a="http://schemas.openxmlformats.org/drawingml/2006/main">
            <a:r>
              <a:rPr sz="1400"/>
              <a:t/>
            </a:r>
          </a:p>
          <a:p xmlns:a="http://schemas.openxmlformats.org/drawingml/2006/main">
            <a:r>
              <a:rPr sz="1400"/>
              <a:t>Overgang: Bereken Q en controleer de andere functie.</a:t>
            </a:r>
          </a:p>
          <a:p xmlns:a="http://schemas.openxmlformats.org/drawingml/2006/main">
            <a:r>
              <a:rPr sz="1400"/>
              <a:t/>
            </a:r>
          </a:p>
          <a:p xmlns:a="http://schemas.openxmlformats.org/drawingml/2006/main">
            <a:r>
              <a:rPr sz="1400"/>
              <a:t>Bron: Boek 1, tweede editie 2026, gedrukte leerlingboekpagina 98.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zou een controle-uitkomst van 31 betekenen?</a:t>
            </a:r>
          </a:p>
          <a:p xmlns:a="http://schemas.openxmlformats.org/drawingml/2006/main">
            <a:r>
              <a:rPr sz="1400"/>
              <a:t/>
            </a:r>
          </a:p>
          <a:p xmlns:a="http://schemas.openxmlformats.org/drawingml/2006/main">
            <a:r>
              <a:rPr sz="1400"/>
              <a:t>Uitleg: Bereken Q uit één functie en controleer onafhankelijk in de andere. Bij een verschil is de prijs of substitutie onjuist. Lees de volledige eenheden mee.</a:t>
            </a:r>
          </a:p>
          <a:p xmlns:a="http://schemas.openxmlformats.org/drawingml/2006/main">
            <a:r>
              <a:rPr sz="1400"/>
              <a:t/>
            </a:r>
          </a:p>
          <a:p xmlns:a="http://schemas.openxmlformats.org/drawingml/2006/main">
            <a:r>
              <a:rPr sz="1400"/>
              <a:t>Misvatting: Alleen P=10 is nog geen volledig antwoord.</a:t>
            </a:r>
          </a:p>
          <a:p xmlns:a="http://schemas.openxmlformats.org/drawingml/2006/main">
            <a:r>
              <a:rPr sz="1400"/>
              <a:t/>
            </a:r>
          </a:p>
          <a:p xmlns:a="http://schemas.openxmlformats.org/drawingml/2006/main">
            <a:r>
              <a:rPr sz="1400"/>
              <a:t>Overgang: Maak van de functies een tekening.</a:t>
            </a:r>
          </a:p>
          <a:p xmlns:a="http://schemas.openxmlformats.org/drawingml/2006/main">
            <a:r>
              <a:rPr sz="1400"/>
              <a:t/>
            </a:r>
          </a:p>
          <a:p xmlns:a="http://schemas.openxmlformats.org/drawingml/2006/main">
            <a:r>
              <a:rPr sz="1400"/>
              <a:t>Bron: Boek 1, tweede editie 2026, gedrukte leerlingboekpagina 98.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nemen we bij A niet het punt bij P=0?</a:t>
            </a:r>
          </a:p>
          <a:p xmlns:a="http://schemas.openxmlformats.org/drawingml/2006/main">
            <a:r>
              <a:rPr sz="1400"/>
              <a:t/>
            </a:r>
          </a:p>
          <a:p xmlns:a="http://schemas.openxmlformats.org/drawingml/2006/main">
            <a:r>
              <a:rPr sz="1400"/>
              <a:t>Uitleg: Herhaal p.24–25 en p.48–49: kies assen en schaal, bereken twee geldige punten per rechte lijn. Voor A ligt P=0 buiten het domein. Los Qa=0 op of kies een geldige prijs. De tweede A-coördinaat gebruikt de hoogste geldige prijs.</a:t>
            </a:r>
          </a:p>
          <a:p xmlns:a="http://schemas.openxmlformats.org/drawingml/2006/main">
            <a:r>
              <a:rPr sz="1400"/>
              <a:t/>
            </a:r>
          </a:p>
          <a:p xmlns:a="http://schemas.openxmlformats.org/drawingml/2006/main">
            <a:r>
              <a:rPr sz="1400"/>
              <a:t>Misvatting: Coördinaten zijn (Q;P). De assen hoeven niet dezelfde stapgrootte te hebben.</a:t>
            </a:r>
          </a:p>
          <a:p xmlns:a="http://schemas.openxmlformats.org/drawingml/2006/main">
            <a:r>
              <a:rPr sz="1400"/>
              <a:t/>
            </a:r>
          </a:p>
          <a:p xmlns:a="http://schemas.openxmlformats.org/drawingml/2006/main">
            <a:r>
              <a:rPr sz="1400"/>
              <a:t>Overgang: Teken eerst V.</a:t>
            </a:r>
          </a:p>
          <a:p xmlns:a="http://schemas.openxmlformats.org/drawingml/2006/main">
            <a:r>
              <a:rPr sz="1400"/>
              <a:t/>
            </a:r>
          </a:p>
          <a:p xmlns:a="http://schemas.openxmlformats.org/drawingml/2006/main">
            <a:r>
              <a:rPr sz="1400"/>
              <a:t>Bron: Boek 1, tweede editie 2026, gedrukte leerlingboekpagina 97–98, 101.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dit lijnpunt vandaan?</a:t>
            </a:r>
          </a:p>
          <a:p xmlns:a="http://schemas.openxmlformats.org/drawingml/2006/main">
            <a:r>
              <a:rPr sz="1400"/>
              <a:t/>
            </a:r>
          </a:p>
          <a:p xmlns:a="http://schemas.openxmlformats.org/drawingml/2006/main">
            <a:r>
              <a:rPr sz="1400"/>
              <a:t>Uitleg: Plaats (0;18) en (72;0) en verbind ze binnen het domein. Wijs de P-as en Q-as aan.</a:t>
            </a:r>
          </a:p>
          <a:p xmlns:a="http://schemas.openxmlformats.org/drawingml/2006/main">
            <a:r>
              <a:rPr sz="1400"/>
              <a:t/>
            </a:r>
          </a:p>
          <a:p xmlns:a="http://schemas.openxmlformats.org/drawingml/2006/main">
            <a:r>
              <a:rPr sz="1400"/>
              <a:t>Misvatting: Een snijpunt met een as is geen marktevenwicht.</a:t>
            </a:r>
          </a:p>
          <a:p xmlns:a="http://schemas.openxmlformats.org/drawingml/2006/main">
            <a:r>
              <a:rPr sz="1400"/>
              <a:t/>
            </a:r>
          </a:p>
          <a:p xmlns:a="http://schemas.openxmlformats.org/drawingml/2006/main">
            <a:r>
              <a:rPr sz="1400"/>
              <a:t>Overgang: Bouw de grafiek verder op.</a:t>
            </a:r>
          </a:p>
          <a:p xmlns:a="http://schemas.openxmlformats.org/drawingml/2006/main">
            <a:r>
              <a:rPr sz="1400"/>
              <a:t/>
            </a:r>
          </a:p>
          <a:p xmlns:a="http://schemas.openxmlformats.org/drawingml/2006/main">
            <a:r>
              <a:rPr sz="1400"/>
              <a:t>Bron: Boek 1, tweede editie 2026, gedrukte leerlingboekpagina 97, 101.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dit lijnpunt vandaan?</a:t>
            </a:r>
          </a:p>
          <a:p xmlns:a="http://schemas.openxmlformats.org/drawingml/2006/main">
            <a:r>
              <a:rPr sz="1400"/>
              <a:t/>
            </a:r>
          </a:p>
          <a:p xmlns:a="http://schemas.openxmlformats.org/drawingml/2006/main">
            <a:r>
              <a:rPr sz="1400"/>
              <a:t>Uitleg: Voeg (0;2) en (64;18) toe en verbind ze. De assen veranderen niet. De aanbodlijn start bij P=2, waar Q=0.</a:t>
            </a:r>
          </a:p>
          <a:p xmlns:a="http://schemas.openxmlformats.org/drawingml/2006/main">
            <a:r>
              <a:rPr sz="1400"/>
              <a:t/>
            </a:r>
          </a:p>
          <a:p xmlns:a="http://schemas.openxmlformats.org/drawingml/2006/main">
            <a:r>
              <a:rPr sz="1400"/>
              <a:t>Misvatting: Een snijpunt met een as is geen marktevenwicht.</a:t>
            </a:r>
          </a:p>
          <a:p xmlns:a="http://schemas.openxmlformats.org/drawingml/2006/main">
            <a:r>
              <a:rPr sz="1400"/>
              <a:t/>
            </a:r>
          </a:p>
          <a:p xmlns:a="http://schemas.openxmlformats.org/drawingml/2006/main">
            <a:r>
              <a:rPr sz="1400"/>
              <a:t>Overgang: Bouw de grafiek verder op.</a:t>
            </a:r>
          </a:p>
          <a:p xmlns:a="http://schemas.openxmlformats.org/drawingml/2006/main">
            <a:r>
              <a:rPr sz="1400"/>
              <a:t/>
            </a:r>
          </a:p>
          <a:p xmlns:a="http://schemas.openxmlformats.org/drawingml/2006/main">
            <a:r>
              <a:rPr sz="1400"/>
              <a:t>Bron: Boek 1, tweede editie 2026, gedrukte leerlingboekpagina 97, 101.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zie je dat E bij beide plannen hoort?</a:t>
            </a:r>
          </a:p>
          <a:p xmlns:a="http://schemas.openxmlformats.org/drawingml/2006/main">
            <a:r>
              <a:rPr sz="1400"/>
              <a:t/>
            </a:r>
          </a:p>
          <a:p xmlns:a="http://schemas.openxmlformats.org/drawingml/2006/main">
            <a:r>
              <a:rPr sz="1400"/>
              <a:t>Uitleg: Markeer E bij Q=32 en P=10. Trek horizontaal naar P=10 en verticaal naar Q=32. Dit bevestigt beide substituties. Laat de assen aflezen.</a:t>
            </a:r>
          </a:p>
          <a:p xmlns:a="http://schemas.openxmlformats.org/drawingml/2006/main">
            <a:r>
              <a:rPr sz="1400"/>
              <a:t/>
            </a:r>
          </a:p>
          <a:p xmlns:a="http://schemas.openxmlformats.org/drawingml/2006/main">
            <a:r>
              <a:rPr sz="1400"/>
              <a:t>Misvatting: Een snijpunt met een as is geen marktevenwicht.</a:t>
            </a:r>
          </a:p>
          <a:p xmlns:a="http://schemas.openxmlformats.org/drawingml/2006/main">
            <a:r>
              <a:rPr sz="1400"/>
              <a:t/>
            </a:r>
          </a:p>
          <a:p xmlns:a="http://schemas.openxmlformats.org/drawingml/2006/main">
            <a:r>
              <a:rPr sz="1400"/>
              <a:t>Overgang: Vergelijk plannen bij een lagere prijs.</a:t>
            </a:r>
          </a:p>
          <a:p xmlns:a="http://schemas.openxmlformats.org/drawingml/2006/main">
            <a:r>
              <a:rPr sz="1400"/>
              <a:t/>
            </a:r>
          </a:p>
          <a:p xmlns:a="http://schemas.openxmlformats.org/drawingml/2006/main">
            <a:r>
              <a:rPr sz="1400"/>
              <a:t>Bron: Boek 1, tweede editie 2026, gedrukte leerlingboekpagina 97, 101.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koopplannen kunnen bij €8 niet aansluiten?</a:t>
            </a:r>
          </a:p>
          <a:p xmlns:a="http://schemas.openxmlformats.org/drawingml/2006/main">
            <a:r>
              <a:rPr sz="1400"/>
              <a:t/>
            </a:r>
          </a:p>
          <a:p xmlns:a="http://schemas.openxmlformats.org/drawingml/2006/main">
            <a:r>
              <a:rPr sz="1400"/>
              <a:t>Uitleg: Alleen de aanvangsprijs is anders. De oranje horizontale afstand is het tekort. Bij dezelfde prijs willen kopers 40 etuis en bieden verkopers 24 aan. Vergelijk hoeveelheden, geen prijzen.</a:t>
            </a:r>
          </a:p>
          <a:p xmlns:a="http://schemas.openxmlformats.org/drawingml/2006/main">
            <a:r>
              <a:rPr sz="1400"/>
              <a:t/>
            </a:r>
          </a:p>
          <a:p xmlns:a="http://schemas.openxmlformats.org/drawingml/2006/main">
            <a:r>
              <a:rPr sz="1400"/>
              <a:t>Misvatting: Tekort is geen schaarste. Ook in evenwicht zijn middelen schaars.</a:t>
            </a:r>
          </a:p>
          <a:p xmlns:a="http://schemas.openxmlformats.org/drawingml/2006/main">
            <a:r>
              <a:rPr sz="1400"/>
              <a:t/>
            </a:r>
          </a:p>
          <a:p xmlns:a="http://schemas.openxmlformats.org/drawingml/2006/main">
            <a:r>
              <a:rPr sz="1400"/>
              <a:t>Overgang: Bepaal afzonderlijk de verkoop.</a:t>
            </a:r>
          </a:p>
          <a:p xmlns:a="http://schemas.openxmlformats.org/drawingml/2006/main">
            <a:r>
              <a:rPr sz="1400"/>
              <a:t/>
            </a:r>
          </a:p>
          <a:p xmlns:a="http://schemas.openxmlformats.org/drawingml/2006/main">
            <a:r>
              <a:rPr sz="1400"/>
              <a:t>Bron: Boek 1, tweede editie 2026, gedrukte leerlingboekpagina 99.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etuis worden daadwerkelijk gekocht?</a:t>
            </a:r>
          </a:p>
          <a:p xmlns:a="http://schemas.openxmlformats.org/drawingml/2006/main">
            <a:r>
              <a:rPr sz="1400"/>
              <a:t/>
            </a:r>
          </a:p>
          <a:p xmlns:a="http://schemas.openxmlformats.org/drawingml/2006/main">
            <a:r>
              <a:rPr sz="1400"/>
              <a:t>Uitleg: De 16 ontbrekende etuis zijn geen verkochte etuis. De bronafspraak maakt van de 24 aangeboden etuis 24 transacties. Zonder zo’n regel garanderen de twee plannen de verkoop niet.</a:t>
            </a:r>
          </a:p>
          <a:p xmlns:a="http://schemas.openxmlformats.org/drawingml/2006/main">
            <a:r>
              <a:rPr sz="1400"/>
              <a:t/>
            </a:r>
          </a:p>
          <a:p xmlns:a="http://schemas.openxmlformats.org/drawingml/2006/main">
            <a:r>
              <a:rPr sz="1400"/>
              <a:t>Misvatting: min(Qv,Qa) is hier een gevolg van de afspraak, geen universele verkoopwet.</a:t>
            </a:r>
          </a:p>
          <a:p xmlns:a="http://schemas.openxmlformats.org/drawingml/2006/main">
            <a:r>
              <a:rPr sz="1400"/>
              <a:t/>
            </a:r>
          </a:p>
          <a:p xmlns:a="http://schemas.openxmlformats.org/drawingml/2006/main">
            <a:r>
              <a:rPr sz="1400"/>
              <a:t>Overgang: Verklaar de druk op de prijs.</a:t>
            </a:r>
          </a:p>
          <a:p xmlns:a="http://schemas.openxmlformats.org/drawingml/2006/main">
            <a:r>
              <a:rPr sz="1400"/>
              <a:t/>
            </a:r>
          </a:p>
          <a:p xmlns:a="http://schemas.openxmlformats.org/drawingml/2006/main">
            <a:r>
              <a:rPr sz="1400"/>
              <a:t>Bron: Boek 1, tweede editie 2026, gedrukte leerlingboekpagina 99, 102.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actor veroorzaakt prijsdruk en hoe reageren beide kanten?</a:t>
            </a:r>
          </a:p>
          <a:p xmlns:a="http://schemas.openxmlformats.org/drawingml/2006/main">
            <a:r>
              <a:rPr sz="1400"/>
              <a:t/>
            </a:r>
          </a:p>
          <a:p xmlns:a="http://schemas.openxmlformats.org/drawingml/2006/main">
            <a:r>
              <a:rPr sz="1400"/>
              <a:t>Uitleg: Concurrentie tussen kopers geeft opwaartse druk als de prijs kan aanpassen. Hogere P verlaagt Qv langs V en verhoogt Qa langs A tot beide plannen aansluiten. Aanpassing hoeft niet onmiddellijk te gebeuren.</a:t>
            </a:r>
          </a:p>
          <a:p xmlns:a="http://schemas.openxmlformats.org/drawingml/2006/main">
            <a:r>
              <a:rPr sz="1400"/>
              <a:t/>
            </a:r>
          </a:p>
          <a:p xmlns:a="http://schemas.openxmlformats.org/drawingml/2006/main">
            <a:r>
              <a:rPr sz="1400"/>
              <a:t>Misvatting: De lijnen verschuiven niet door de eigen prijs. De overige omstandigheden blijven gelijk.</a:t>
            </a:r>
          </a:p>
          <a:p xmlns:a="http://schemas.openxmlformats.org/drawingml/2006/main">
            <a:r>
              <a:rPr sz="1400"/>
              <a:t/>
            </a:r>
          </a:p>
          <a:p xmlns:a="http://schemas.openxmlformats.org/drawingml/2006/main">
            <a:r>
              <a:rPr sz="1400"/>
              <a:t>Overgang: Begin een apart geval met een te hoge aanvangsprijs.</a:t>
            </a:r>
          </a:p>
          <a:p xmlns:a="http://schemas.openxmlformats.org/drawingml/2006/main">
            <a:r>
              <a:rPr sz="1400"/>
              <a:t/>
            </a:r>
          </a:p>
          <a:p xmlns:a="http://schemas.openxmlformats.org/drawingml/2006/main">
            <a:r>
              <a:rPr sz="1400"/>
              <a:t>Bron: Boek 1, tweede editie 2026, gedrukte leerlingboekpagina 99, 102.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concurreert hier om de andere kant?</a:t>
            </a:r>
          </a:p>
          <a:p xmlns:a="http://schemas.openxmlformats.org/drawingml/2006/main">
            <a:r>
              <a:rPr sz="1400"/>
              <a:t/>
            </a:r>
          </a:p>
          <a:p xmlns:a="http://schemas.openxmlformats.org/drawingml/2006/main">
            <a:r>
              <a:rPr sz="1400"/>
              <a:t>Uitleg: Reset het scenario: nu is de beginprijs 12. Deelnemers aan de kleinste kant vinden een partner; geen andere voorraden of beperkingen. Aanbod is een plan: alleen als 40 etuis al gemaakt zijn, betekent dit overschot 16 onverkochte etuis in voorraad.</a:t>
            </a:r>
          </a:p>
          <a:p xmlns:a="http://schemas.openxmlformats.org/drawingml/2006/main">
            <a:r>
              <a:rPr sz="1400"/>
              <a:t/>
            </a:r>
          </a:p>
          <a:p xmlns:a="http://schemas.openxmlformats.org/drawingml/2006/main">
            <a:r>
              <a:rPr sz="1400"/>
              <a:t>Misvatting: Aanbodoverschot betekent niet automatisch geproduceerde voorraad.</a:t>
            </a:r>
          </a:p>
          <a:p xmlns:a="http://schemas.openxmlformats.org/drawingml/2006/main">
            <a:r>
              <a:rPr sz="1400"/>
              <a:t/>
            </a:r>
          </a:p>
          <a:p xmlns:a="http://schemas.openxmlformats.org/drawingml/2006/main">
            <a:r>
              <a:rPr sz="1400"/>
              <a:t>Overgang: Verklaar de prijsdaling.</a:t>
            </a:r>
          </a:p>
          <a:p xmlns:a="http://schemas.openxmlformats.org/drawingml/2006/main">
            <a:r>
              <a:rPr sz="1400"/>
              <a:t/>
            </a:r>
          </a:p>
          <a:p xmlns:a="http://schemas.openxmlformats.org/drawingml/2006/main">
            <a:r>
              <a:rPr sz="1400"/>
              <a:t>Bron: Boek 1, tweede editie 2026, gedrukte leerlingboekpagina 100.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actor veroorzaakt prijsdruk en hoe reageren beide kanten?</a:t>
            </a:r>
          </a:p>
          <a:p xmlns:a="http://schemas.openxmlformats.org/drawingml/2006/main">
            <a:r>
              <a:rPr sz="1400"/>
              <a:t/>
            </a:r>
          </a:p>
          <a:p xmlns:a="http://schemas.openxmlformats.org/drawingml/2006/main">
            <a:r>
              <a:rPr sz="1400"/>
              <a:t>Uitleg: Verkopers concurreren om kopers. Bij lagere P groeit Qv en daalt Qa langs dezelfde lijnen. Het vorige geval staat los van dit geval.</a:t>
            </a:r>
          </a:p>
          <a:p xmlns:a="http://schemas.openxmlformats.org/drawingml/2006/main">
            <a:r>
              <a:rPr sz="1400"/>
              <a:t/>
            </a:r>
          </a:p>
          <a:p xmlns:a="http://schemas.openxmlformats.org/drawingml/2006/main">
            <a:r>
              <a:rPr sz="1400"/>
              <a:t>Misvatting: De lijnen verschuiven niet door de eigen prijs. De overige omstandigheden blijven gelijk.</a:t>
            </a:r>
          </a:p>
          <a:p xmlns:a="http://schemas.openxmlformats.org/drawingml/2006/main">
            <a:r>
              <a:rPr sz="1400"/>
              <a:t/>
            </a:r>
          </a:p>
          <a:p xmlns:a="http://schemas.openxmlformats.org/drawingml/2006/main">
            <a:r>
              <a:rPr sz="1400"/>
              <a:t>Overgang: Controleer het verschil tussen tekort en verkoop.</a:t>
            </a:r>
          </a:p>
          <a:p xmlns:a="http://schemas.openxmlformats.org/drawingml/2006/main">
            <a:r>
              <a:rPr sz="1400"/>
              <a:t/>
            </a:r>
          </a:p>
          <a:p xmlns:a="http://schemas.openxmlformats.org/drawingml/2006/main">
            <a:r>
              <a:rPr sz="1400"/>
              <a:t>Bron: Boek 1, tweede editie 2026, gedrukte leerlingboekpagina 100.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is een verschil en welk getal telt transacties?</a:t>
            </a:r>
          </a:p>
          <a:p xmlns:a="http://schemas.openxmlformats.org/drawingml/2006/main">
            <a:r>
              <a:rPr sz="1400"/>
              <a:t/>
            </a:r>
          </a:p>
          <a:p xmlns:a="http://schemas.openxmlformats.org/drawingml/2006/main">
            <a:r>
              <a:rPr sz="1400"/>
              <a:t>Uitleg: Laat leerlingen eerst zelf een zin formuleren. Bespreek daarna: tekort 16 maar verkoop 24 omdat alle aangeboden etuis een koper vinden. Er is opwaartse prijsdruk. Dit is een korte controle van het uitlegvoorbeeld, geen extra huiswerk.</a:t>
            </a:r>
          </a:p>
          <a:p xmlns:a="http://schemas.openxmlformats.org/drawingml/2006/main">
            <a:r>
              <a:rPr sz="1400"/>
              <a:t/>
            </a:r>
          </a:p>
          <a:p xmlns:a="http://schemas.openxmlformats.org/drawingml/2006/main">
            <a:r>
              <a:rPr sz="1400"/>
              <a:t>Misvatting: Correct het verschil berekenen bewijst niet dat verkoop correct is bepaald.</a:t>
            </a:r>
          </a:p>
          <a:p xmlns:a="http://schemas.openxmlformats.org/drawingml/2006/main">
            <a:r>
              <a:rPr sz="1400"/>
              <a:t/>
            </a:r>
          </a:p>
          <a:p xmlns:a="http://schemas.openxmlformats.org/drawingml/2006/main">
            <a:r>
              <a:rPr sz="1400"/>
              <a:t>Overgang: Keer op het overzicht terug naar start 13 en begin daarna met basis 14–16.</a:t>
            </a:r>
          </a:p>
          <a:p xmlns:a="http://schemas.openxmlformats.org/drawingml/2006/main">
            <a:r>
              <a:rPr sz="1400"/>
              <a:t/>
            </a:r>
          </a:p>
          <a:p xmlns:a="http://schemas.openxmlformats.org/drawingml/2006/main">
            <a:r>
              <a:rPr sz="1400"/>
              <a:t>Bron: Boek 1, tweede editie 2026, gedrukte leerlingboekpagina 99, 102.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Uitlegvoorbeeld — niet uit het boek. De pennenetuimarkt, functies en cijfers zijn afzonderlijk voor deze presentatie gemaakt. De boekpagina onderwijst de methode, niet deze gegevens. Qv = 72 − 4P voor 0 ≤ P ≤ 18; Qa = 4P − 8 voor 2 ≤ P ≤ 18. P in euro per etui; Q in etuis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denkstap wil je na de uitleg opnieuw proberen?</a:t>
            </a:r>
          </a:p>
          <a:p xmlns:a="http://schemas.openxmlformats.org/drawingml/2006/main">
            <a:r>
              <a:rPr sz="1400"/>
              <a:t/>
            </a:r>
          </a:p>
          <a:p xmlns:a="http://schemas.openxmlformats.org/drawingml/2006/main">
            <a:r>
              <a:rPr sz="1400"/>
              <a:t>Uitleg: Laat dit overzicht staan tijdens zelfstandig werken. Start 12–13 staat op p.102. Opgave 12 haalt terugrekenen en invullen op, onderwezen op p.27 en p.48–49. Opgave 13 verkent een nieuw begrip: laat leerlingen de definitie en uitleg over dezelfde transacties op p.96–97 gebruiken, aanwijzen wat helpt en vragen noteren. Dit is geen toets van al beheerste kennis. Keer vóór het basiswerk terug naar 13: laat de klas opnieuw onderbouwen. Bespreek dan: evenwicht, 60 verkochte bidons, omdat één verkoop dezelfde aankoop is. Basis 14–16 op p.103–104, zelfstandig 17–19 op p.105, doel 20 op p.106. Huiswerk is 14, 15, 16, 17, 18, 19 en 20 maken en nakijken. Bonus 21 en herhaling 22 zijn extra. De volledige route kan meerdere lessen vragen.</a:t>
            </a:r>
          </a:p>
          <a:p xmlns:a="http://schemas.openxmlformats.org/drawingml/2006/main">
            <a:r>
              <a:rPr sz="1400"/>
              <a:t/>
            </a:r>
          </a:p>
          <a:p xmlns:a="http://schemas.openxmlformats.org/drawingml/2006/main">
            <a:r>
              <a:rPr sz="1400"/>
              <a:t>Misvatting: Start 13 gebruikt nieuwe tweezijdige marktkennis. Een startpoging bewijst geen beheersing.</a:t>
            </a:r>
          </a:p>
          <a:p xmlns:a="http://schemas.openxmlformats.org/drawingml/2006/main">
            <a:r>
              <a:rPr sz="1400"/>
              <a:t/>
            </a:r>
          </a:p>
          <a:p xmlns:a="http://schemas.openxmlformats.org/drawingml/2006/main">
            <a:r>
              <a:rPr sz="1400"/>
              <a:t>Overgang: Ga verder naar de volgende lesfase.</a:t>
            </a:r>
          </a:p>
          <a:p xmlns:a="http://schemas.openxmlformats.org/drawingml/2006/main">
            <a:r>
              <a:rPr sz="1400"/>
              <a:t/>
            </a:r>
          </a:p>
          <a:p xmlns:a="http://schemas.openxmlformats.org/drawingml/2006/main">
            <a:r>
              <a:rPr sz="1400"/>
              <a:t>Bron: Boek 1, tweede editie 2026, gedrukte leerlingboekpagina 96–97, 102–106.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omstandigheden houdt de bron gelijk?</a:t>
            </a:r>
          </a:p>
          <a:p xmlns:a="http://schemas.openxmlformats.org/drawingml/2006/main">
            <a:r>
              <a:rPr sz="1400"/>
              <a:t/>
            </a:r>
          </a:p>
          <a:p xmlns:a="http://schemas.openxmlformats.org/drawingml/2006/main">
            <a:r>
              <a:rPr sz="1400"/>
              <a:t>Uitleg: Dit zijn volledige algemene context, functies, domeinen en eenheden van de echte doelopgave 20. De aanvullende transactieregel staat bij d. Toon eerst alle vragen zonder uitwerking.</a:t>
            </a:r>
          </a:p>
          <a:p xmlns:a="http://schemas.openxmlformats.org/drawingml/2006/main">
            <a:r>
              <a:rPr sz="1400"/>
              <a:t/>
            </a:r>
          </a:p>
          <a:p xmlns:a="http://schemas.openxmlformats.org/drawingml/2006/main">
            <a:r>
              <a:rPr sz="1400"/>
              <a:t>Misvatting: De etuifuncties gelden hier niet: dit is de bekermarkt uit het boek.</a:t>
            </a:r>
          </a:p>
          <a:p xmlns:a="http://schemas.openxmlformats.org/drawingml/2006/main">
            <a:r>
              <a:rPr sz="1400"/>
              <a:t/>
            </a:r>
          </a:p>
          <a:p xmlns:a="http://schemas.openxmlformats.org/drawingml/2006/main">
            <a:r>
              <a:rPr sz="1400"/>
              <a:t>Overgang: Toon a–c, daarna d–e.</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vraagt c naast de lijnen?</a:t>
            </a:r>
          </a:p>
          <a:p xmlns:a="http://schemas.openxmlformats.org/drawingml/2006/main">
            <a:r>
              <a:rPr sz="1400"/>
              <a:t/>
            </a:r>
          </a:p>
          <a:p xmlns:a="http://schemas.openxmlformats.org/drawingml/2006/main">
            <a:r>
              <a:rPr sz="1400"/>
              <a:t>Uitleg: a, b en c zijn volledig getoond zonder antwoorden. Laat leerlingen hun eerdere werk gereedhouden. Nog geen oplossingsstappen: d en e volgen eerst.</a:t>
            </a:r>
          </a:p>
          <a:p xmlns:a="http://schemas.openxmlformats.org/drawingml/2006/main">
            <a:r>
              <a:rPr sz="1400"/>
              <a:t/>
            </a:r>
          </a:p>
          <a:p xmlns:a="http://schemas.openxmlformats.org/drawingml/2006/main">
            <a:r>
              <a:rPr sz="1400"/>
              <a:t>Misvatting: Een tekening zonder eenheden en schalen is onvolledig.</a:t>
            </a:r>
          </a:p>
          <a:p xmlns:a="http://schemas.openxmlformats.org/drawingml/2006/main">
            <a:r>
              <a:rPr sz="1400"/>
              <a:t/>
            </a:r>
          </a:p>
          <a:p xmlns:a="http://schemas.openxmlformats.org/drawingml/2006/main">
            <a:r>
              <a:rPr sz="1400"/>
              <a:t>Overgang: Toon d en e.</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gegeven en wat moet je berekenen?</a:t>
            </a:r>
          </a:p>
          <a:p xmlns:a="http://schemas.openxmlformats.org/drawingml/2006/main">
            <a:r>
              <a:rPr sz="1400"/>
              <a:t/>
            </a:r>
          </a:p>
          <a:p xmlns:a="http://schemas.openxmlformats.org/drawingml/2006/main">
            <a:r>
              <a:rPr sz="1400"/>
              <a:t>Uitleg: Alle vijf deelvragen zijn nu beschikbaar. De transactieregel is essentieel voor d. Vraag welke prijs zij bij d invullen: 10, ook als bij a een andere prijs is gevonden.</a:t>
            </a:r>
          </a:p>
          <a:p xmlns:a="http://schemas.openxmlformats.org/drawingml/2006/main">
            <a:r>
              <a:rPr sz="1400"/>
              <a:t/>
            </a:r>
          </a:p>
          <a:p xmlns:a="http://schemas.openxmlformats.org/drawingml/2006/main">
            <a:r>
              <a:rPr sz="1400"/>
              <a:t>Misvatting: Vervang de beginprijs niet door de evenwichtsprijs.</a:t>
            </a:r>
          </a:p>
          <a:p xmlns:a="http://schemas.openxmlformats.org/drawingml/2006/main">
            <a:r>
              <a:rPr sz="1400"/>
              <a:t/>
            </a:r>
          </a:p>
          <a:p xmlns:a="http://schemas.openxmlformats.org/drawingml/2006/main">
            <a:r>
              <a:rPr sz="1400"/>
              <a:t>Overgang: Bespreek a stapsgewijs.</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houdt de gelijkheid intact?</a:t>
            </a:r>
          </a:p>
          <a:p xmlns:a="http://schemas.openxmlformats.org/drawingml/2006/main">
            <a:r>
              <a:rPr sz="1400"/>
              <a:t/>
            </a:r>
          </a:p>
          <a:p xmlns:a="http://schemas.openxmlformats.org/drawingml/2006/main">
            <a:r>
              <a:rPr sz="1400"/>
              <a:t>Uitleg: Begin met de evenwichtsvoorwaarde. Voer iedere bewerking aan beide kanten uit. 12 ligt tussen 6 en 15 en daarmee binnen beide domeinen.</a:t>
            </a:r>
          </a:p>
          <a:p xmlns:a="http://schemas.openxmlformats.org/drawingml/2006/main">
            <a:r>
              <a:rPr sz="1400"/>
              <a:t/>
            </a:r>
          </a:p>
          <a:p xmlns:a="http://schemas.openxmlformats.org/drawingml/2006/main">
            <a:r>
              <a:rPr sz="1400"/>
              <a:t>Misvatting: Qv=0 geeft P=15, de vraagasgrens, geen evenwicht.</a:t>
            </a:r>
          </a:p>
          <a:p xmlns:a="http://schemas.openxmlformats.org/drawingml/2006/main">
            <a:r>
              <a:rPr sz="1400"/>
              <a:t/>
            </a:r>
          </a:p>
          <a:p xmlns:a="http://schemas.openxmlformats.org/drawingml/2006/main">
            <a:r>
              <a:rPr sz="1400"/>
              <a:t>Overgang: Vul P=12 in beide functies in.</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tweede controle inhoudelijk nuttig?</a:t>
            </a:r>
          </a:p>
          <a:p xmlns:a="http://schemas.openxmlformats.org/drawingml/2006/main">
            <a:r>
              <a:rPr sz="1400"/>
              <a:t/>
            </a:r>
          </a:p>
          <a:p xmlns:a="http://schemas.openxmlformats.org/drawingml/2006/main">
            <a:r>
              <a:rPr sz="1400"/>
              <a:t>Uitleg: Controleer de hoeveelheid uit de vraagfunctie met de aanbodfunctie. Dezelfde 30 bekers worden verkocht en gekocht. Lees de volledige interpretatie hardop.</a:t>
            </a:r>
          </a:p>
          <a:p xmlns:a="http://schemas.openxmlformats.org/drawingml/2006/main">
            <a:r>
              <a:rPr sz="1400"/>
              <a:t/>
            </a:r>
          </a:p>
          <a:p xmlns:a="http://schemas.openxmlformats.org/drawingml/2006/main">
            <a:r>
              <a:rPr sz="1400"/>
              <a:t>Misvatting: 30 plus 30 zijn geen 60 verkopen.</a:t>
            </a:r>
          </a:p>
          <a:p xmlns:a="http://schemas.openxmlformats.org/drawingml/2006/main">
            <a:r>
              <a:rPr sz="1400"/>
              <a:t/>
            </a:r>
          </a:p>
          <a:p xmlns:a="http://schemas.openxmlformats.org/drawingml/2006/main">
            <a:r>
              <a:rPr sz="1400"/>
              <a:t>Overgang: Bepaal de punten voor de tekening.</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eindigt A bij (45;15)?</a:t>
            </a:r>
          </a:p>
          <a:p xmlns:a="http://schemas.openxmlformats.org/drawingml/2006/main">
            <a:r>
              <a:rPr sz="1400"/>
              <a:t/>
            </a:r>
          </a:p>
          <a:p xmlns:a="http://schemas.openxmlformats.org/drawingml/2006/main">
            <a:r>
              <a:rPr sz="1400"/>
              <a:t>Uitleg: Twee geldige punten bepalen iedere rechte lijn. Vraag mag tot P=0, aanbod pas vanaf P=6. A eindigt bij de gegeven P=15 en Q=45. Controleer coördinaten tegen beide functies.</a:t>
            </a:r>
          </a:p>
          <a:p xmlns:a="http://schemas.openxmlformats.org/drawingml/2006/main">
            <a:r>
              <a:rPr sz="1400"/>
              <a:t/>
            </a:r>
          </a:p>
          <a:p xmlns:a="http://schemas.openxmlformats.org/drawingml/2006/main">
            <a:r>
              <a:rPr sz="1400"/>
              <a:t>Misvatting: Verleng niet buiten het opgegeven domein.</a:t>
            </a:r>
          </a:p>
          <a:p xmlns:a="http://schemas.openxmlformats.org/drawingml/2006/main">
            <a:r>
              <a:rPr sz="1400"/>
              <a:t/>
            </a:r>
          </a:p>
          <a:p xmlns:a="http://schemas.openxmlformats.org/drawingml/2006/main">
            <a:r>
              <a:rPr sz="1400"/>
              <a:t>Overgang: Plaats eerst V.</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€15 niet de evenwichtsprijs?</a:t>
            </a:r>
          </a:p>
          <a:p xmlns:a="http://schemas.openxmlformats.org/drawingml/2006/main">
            <a:r>
              <a:rPr sz="1400"/>
              <a:t/>
            </a:r>
          </a:p>
          <a:p xmlns:a="http://schemas.openxmlformats.org/drawingml/2006/main">
            <a:r>
              <a:rPr sz="1400"/>
              <a:t>Uitleg: Plaats en verbind de berekende punten. De assen hebben de afgesproken eenheden en gelijke stappen. (0;15) is alleen het vraagassnijpunt.</a:t>
            </a:r>
          </a:p>
          <a:p xmlns:a="http://schemas.openxmlformats.org/drawingml/2006/main">
            <a:r>
              <a:rPr sz="1400"/>
              <a:t/>
            </a:r>
          </a:p>
          <a:p xmlns:a="http://schemas.openxmlformats.org/drawingml/2006/main">
            <a:r>
              <a:rPr sz="1400"/>
              <a:t>Misvatting: Evenwicht is het gemeenschappelijke punt van twee plannen.</a:t>
            </a:r>
          </a:p>
          <a:p xmlns:a="http://schemas.openxmlformats.org/drawingml/2006/main">
            <a:r>
              <a:rPr sz="1400"/>
              <a:t/>
            </a:r>
          </a:p>
          <a:p xmlns:a="http://schemas.openxmlformats.org/drawingml/2006/main">
            <a:r>
              <a:rPr sz="1400"/>
              <a:t>Overgang: Voeg A en E toe.</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controleert de tekening?</a:t>
            </a:r>
          </a:p>
          <a:p xmlns:a="http://schemas.openxmlformats.org/drawingml/2006/main">
            <a:r>
              <a:rPr sz="1400"/>
              <a:t/>
            </a:r>
          </a:p>
          <a:p xmlns:a="http://schemas.openxmlformats.org/drawingml/2006/main">
            <a:r>
              <a:rPr sz="1400"/>
              <a:t>Uitleg: Voeg A toe, markeer E en teken hulplijnen bij P=12 en Q=30. De tekening bevestigt a en b. Iedere lijn blijft binnen het eigen domein.</a:t>
            </a:r>
          </a:p>
          <a:p xmlns:a="http://schemas.openxmlformats.org/drawingml/2006/main">
            <a:r>
              <a:rPr sz="1400"/>
              <a:t/>
            </a:r>
          </a:p>
          <a:p xmlns:a="http://schemas.openxmlformats.org/drawingml/2006/main">
            <a:r>
              <a:rPr sz="1400"/>
              <a:t>Misvatting: Evenwicht is het gemeenschappelijke punt van twee plannen.</a:t>
            </a:r>
          </a:p>
          <a:p xmlns:a="http://schemas.openxmlformats.org/drawingml/2006/main">
            <a:r>
              <a:rPr sz="1400"/>
              <a:t/>
            </a:r>
          </a:p>
          <a:p xmlns:a="http://schemas.openxmlformats.org/drawingml/2006/main">
            <a:r>
              <a:rPr sz="1400"/>
              <a:t>Overgang: Ga voor d terug naar de beginprijs €10.</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gebruik je voor d?</a:t>
            </a:r>
          </a:p>
          <a:p xmlns:a="http://schemas.openxmlformats.org/drawingml/2006/main">
            <a:r>
              <a:rPr sz="1400"/>
              <a:t/>
            </a:r>
          </a:p>
          <a:p xmlns:a="http://schemas.openxmlformats.org/drawingml/2006/main">
            <a:r>
              <a:rPr sz="1400"/>
              <a:t>Uitleg: Vul 10 in zoals d vraagt. Vraag 50 is groter dan aanbod 20: vraagoverschot 30 bekers per week. Dit is toevallig dezelfde 30 als de evenwichtshoeveelheid, maar een ander begrip.</a:t>
            </a:r>
          </a:p>
          <a:p xmlns:a="http://schemas.openxmlformats.org/drawingml/2006/main">
            <a:r>
              <a:rPr sz="1400"/>
              <a:t/>
            </a:r>
          </a:p>
          <a:p xmlns:a="http://schemas.openxmlformats.org/drawingml/2006/main">
            <a:r>
              <a:rPr sz="1400"/>
              <a:t>Misvatting: Neem niet P=12 over uit a.</a:t>
            </a:r>
          </a:p>
          <a:p xmlns:a="http://schemas.openxmlformats.org/drawingml/2006/main">
            <a:r>
              <a:rPr sz="1400"/>
              <a:t/>
            </a:r>
          </a:p>
          <a:p xmlns:a="http://schemas.openxmlformats.org/drawingml/2006/main">
            <a:r>
              <a:rPr sz="1400"/>
              <a:t>Overgang: Lees de transactieregel.</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broninformatie maakt aanbod hier verkoop?</a:t>
            </a:r>
          </a:p>
          <a:p xmlns:a="http://schemas.openxmlformats.org/drawingml/2006/main">
            <a:r>
              <a:rPr sz="1400"/>
              <a:t/>
            </a:r>
          </a:p>
          <a:p xmlns:a="http://schemas.openxmlformats.org/drawingml/2006/main">
            <a:r>
              <a:rPr sz="1400"/>
              <a:t>Uitleg: Alle 20 aangeboden bekers vinden een koper door de gegeven afspraak. Tekort 30 meet niet-uitgevoerde koopplannen. Zonder afspraak volgt werkelijke verkoop niet volledig uit de functies.</a:t>
            </a:r>
          </a:p>
          <a:p xmlns:a="http://schemas.openxmlformats.org/drawingml/2006/main">
            <a:r>
              <a:rPr sz="1400"/>
              <a:t/>
            </a:r>
          </a:p>
          <a:p xmlns:a="http://schemas.openxmlformats.org/drawingml/2006/main">
            <a:r>
              <a:rPr sz="1400"/>
              <a:t>Misvatting: Verkoop is niet het verschil tussen de plannen.</a:t>
            </a:r>
          </a:p>
          <a:p xmlns:a="http://schemas.openxmlformats.org/drawingml/2006/main">
            <a:r>
              <a:rPr sz="1400"/>
              <a:t/>
            </a:r>
          </a:p>
          <a:p xmlns:a="http://schemas.openxmlformats.org/drawingml/2006/main">
            <a:r>
              <a:rPr sz="1400"/>
              <a:t>Overgang: Verklaar hoe de prijsdruk de plannen dichter bij elkaar brengt.</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actor veroorzaakt prijsdruk en hoe reageren beide kanten?</a:t>
            </a:r>
          </a:p>
          <a:p xmlns:a="http://schemas.openxmlformats.org/drawingml/2006/main">
            <a:r>
              <a:rPr sz="1400"/>
              <a:t/>
            </a:r>
          </a:p>
          <a:p xmlns:a="http://schemas.openxmlformats.org/drawingml/2006/main">
            <a:r>
              <a:rPr sz="1400"/>
              <a:t>Uitleg: Concurrentie tussen kopers geeft opwaartse druk als de prijs kan aanpassen. Hogere P verlaagt Qv langs V en verhoogt Qa langs A tot beide plannen aansluiten. Aanpassing hoeft niet onmiddellijk te gebeuren.</a:t>
            </a:r>
          </a:p>
          <a:p xmlns:a="http://schemas.openxmlformats.org/drawingml/2006/main">
            <a:r>
              <a:rPr sz="1400"/>
              <a:t/>
            </a:r>
          </a:p>
          <a:p xmlns:a="http://schemas.openxmlformats.org/drawingml/2006/main">
            <a:r>
              <a:rPr sz="1400"/>
              <a:t>Misvatting: De lijnen verschuiven niet door de eigen prijs. De overige omstandigheden blijven gelijk.</a:t>
            </a:r>
          </a:p>
          <a:p xmlns:a="http://schemas.openxmlformats.org/drawingml/2006/main">
            <a:r>
              <a:rPr sz="1400"/>
              <a:t/>
            </a:r>
          </a:p>
          <a:p xmlns:a="http://schemas.openxmlformats.org/drawingml/2006/main">
            <a:r>
              <a:rPr sz="1400"/>
              <a:t>Overgang: Controleer alle deelvragen.</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ontbrak in jouw antwoord?</a:t>
            </a:r>
          </a:p>
          <a:p xmlns:a="http://schemas.openxmlformats.org/drawingml/2006/main">
            <a:r>
              <a:rPr sz="1400"/>
              <a:t/>
            </a:r>
          </a:p>
          <a:p xmlns:a="http://schemas.openxmlformats.org/drawingml/2006/main">
            <a:r>
              <a:rPr sz="1400"/>
              <a:t>Uitleg: Geef inhoudelijke terugkoppeling op de eigen uitwerking. Een eindgetal alleen volstaat niet als de vraag ook een redenering of grafiek vraagt. Dit bewijst geen beheersing van de hele klas.</a:t>
            </a:r>
          </a:p>
          <a:p xmlns:a="http://schemas.openxmlformats.org/drawingml/2006/main">
            <a:r>
              <a:rPr sz="1400"/>
              <a:t/>
            </a:r>
          </a:p>
          <a:p xmlns:a="http://schemas.openxmlformats.org/drawingml/2006/main">
            <a:r>
              <a:rPr sz="1400"/>
              <a:t>Misvatting: Een overschot en evenwichtshoeveelheid zijn verschillende begrippen, ook als beide hier 30 zijn.</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1, tweede editie 2026, gedrukte leerlingboekpagina 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denkstap wil je na de uitleg opnieuw proberen?</a:t>
            </a:r>
          </a:p>
          <a:p xmlns:a="http://schemas.openxmlformats.org/drawingml/2006/main">
            <a:r>
              <a:rPr sz="1400"/>
              <a:t/>
            </a:r>
          </a:p>
          <a:p xmlns:a="http://schemas.openxmlformats.org/drawingml/2006/main">
            <a:r>
              <a:rPr sz="1400"/>
              <a:t>Uitleg: Laat dit overzicht staan tijdens afsluiting / huiswerk. Start 12–13 staat op p.102. Opgave 12 haalt terugrekenen en invullen op, onderwezen op p.27 en p.48–49. Opgave 13 verkent een nieuw begrip: laat leerlingen de definitie en uitleg over dezelfde transacties op p.96–97 gebruiken, aanwijzen wat helpt en vragen noteren. Dit is geen toets van al beheerste kennis. Keer vóór het basiswerk terug naar 13: laat de klas opnieuw onderbouwen. Bespreek dan: evenwicht, 60 verkochte bidons, omdat één verkoop dezelfde aankoop is. Basis 14–16 op p.103–104, zelfstandig 17–19 op p.105, doel 20 op p.106. Huiswerk is 14, 15, 16, 17, 18, 19 en 20 maken en nakijken. Bonus 21 en herhaling 22 zijn extra. De volledige route kan meerdere lessen vragen.</a:t>
            </a:r>
          </a:p>
          <a:p xmlns:a="http://schemas.openxmlformats.org/drawingml/2006/main">
            <a:r>
              <a:rPr sz="1400"/>
              <a:t/>
            </a:r>
          </a:p>
          <a:p xmlns:a="http://schemas.openxmlformats.org/drawingml/2006/main">
            <a:r>
              <a:rPr sz="1400"/>
              <a:t>Misvatting: Start 13 gebruikt nieuwe tweezijdige marktkennis. Een startpoging bewijst geen beheersing.</a:t>
            </a:r>
          </a:p>
          <a:p xmlns:a="http://schemas.openxmlformats.org/drawingml/2006/main">
            <a:r>
              <a:rPr sz="1400"/>
              <a:t/>
            </a:r>
          </a:p>
          <a:p xmlns:a="http://schemas.openxmlformats.org/drawingml/2006/main">
            <a:r>
              <a:rPr sz="1400"/>
              <a:t>Overgang: Laat het huiswerk in de agenda schrijven.</a:t>
            </a:r>
          </a:p>
          <a:p xmlns:a="http://schemas.openxmlformats.org/drawingml/2006/main">
            <a:r>
              <a:rPr sz="1400"/>
              <a:t/>
            </a:r>
          </a:p>
          <a:p xmlns:a="http://schemas.openxmlformats.org/drawingml/2006/main">
            <a:r>
              <a:rPr sz="1400"/>
              <a:t>Bron: Boek 1, tweede editie 2026, gedrukte leerlingboekpagina 96–97, 102–106.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78b4ab2a24e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71d929281e483e" /><Relationship Type="http://schemas.openxmlformats.org/officeDocument/2006/relationships/slideLayout" Target="/ppt/slideLayouts/slideLayout1.xml" Id="R0a7efa18fa9f47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7efa18fa9f47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dd362cbdab49e8" /><Relationship Type="http://schemas.openxmlformats.org/officeDocument/2006/relationships/notesSlide" Target="/ppt/notesSlides/notesSlide1.xml" Id="R4b57cf9ccc9c47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51858ec9e14f76" /><Relationship Type="http://schemas.openxmlformats.org/officeDocument/2006/relationships/notesSlide" Target="/ppt/notesSlides/notesSlide2.xml" Id="R403e9cfa54ef4d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f1b231ed34434f" /><Relationship Type="http://schemas.openxmlformats.org/officeDocument/2006/relationships/notesSlide" Target="/ppt/notesSlides/notesSlide3.xml" Id="R319054a0953d43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ff81eb192b4125" /><Relationship Type="http://schemas.openxmlformats.org/officeDocument/2006/relationships/notesSlide" Target="/ppt/notesSlides/notesSlide4.xml" Id="R5e37568e693d4c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0d10277ab842b7" /><Relationship Type="http://schemas.openxmlformats.org/officeDocument/2006/relationships/notesSlide" Target="/ppt/notesSlides/notesSlide5.xml" Id="Rde5ac8844f024d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070eae2b4f4f53" /><Relationship Type="http://schemas.openxmlformats.org/officeDocument/2006/relationships/notesSlide" Target="/ppt/notesSlides/notesSlide6.xml" Id="R4aca6996d2f049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85899f66dc405f" /><Relationship Type="http://schemas.openxmlformats.org/officeDocument/2006/relationships/notesSlide" Target="/ppt/notesSlides/notesSlide7.xml" Id="R7790de626a4144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01b638c5904332" /><Relationship Type="http://schemas.openxmlformats.org/officeDocument/2006/relationships/chart" Target="/ppt/slides/charts/chart1.xml" Id="Rd194074679e04015" /><Relationship Type="http://schemas.openxmlformats.org/officeDocument/2006/relationships/notesSlide" Target="/ppt/notesSlides/notesSlide8.xml" Id="Re39508f0970f48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575bbe335d4c58" /><Relationship Type="http://schemas.openxmlformats.org/officeDocument/2006/relationships/chart" Target="/ppt/slides/charts/chart2.xml" Id="R9aa92ea1c7564069" /><Relationship Type="http://schemas.openxmlformats.org/officeDocument/2006/relationships/notesSlide" Target="/ppt/notesSlides/notesSlide9.xml" Id="Ra6eec29b85bb49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34e0209b0d4521" /><Relationship Type="http://schemas.openxmlformats.org/officeDocument/2006/relationships/chart" Target="/ppt/slides/charts/chart3.xml" Id="Rfe81f9d7e38442ca" /><Relationship Type="http://schemas.openxmlformats.org/officeDocument/2006/relationships/notesSlide" Target="/ppt/notesSlides/notesSlide10.xml" Id="R4b6dc0849f624b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f4a4659d64413c" /><Relationship Type="http://schemas.openxmlformats.org/officeDocument/2006/relationships/chart" Target="/ppt/slides/charts/chart4.xml" Id="Rbc9d4cc91b5c4b1c" /><Relationship Type="http://schemas.openxmlformats.org/officeDocument/2006/relationships/notesSlide" Target="/ppt/notesSlides/notesSlide11.xml" Id="R9187086f271340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60798ebe4648a4" /><Relationship Type="http://schemas.openxmlformats.org/officeDocument/2006/relationships/notesSlide" Target="/ppt/notesSlides/notesSlide12.xml" Id="R8f24b42980f841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73af0302dc4c32" /><Relationship Type="http://schemas.openxmlformats.org/officeDocument/2006/relationships/notesSlide" Target="/ppt/notesSlides/notesSlide13.xml" Id="R3b307e8b6c3147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b416ed2740453a" /><Relationship Type="http://schemas.openxmlformats.org/officeDocument/2006/relationships/notesSlide" Target="/ppt/notesSlides/notesSlide14.xml" Id="R645907e85c7f4d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af1fd4984d4336" /><Relationship Type="http://schemas.openxmlformats.org/officeDocument/2006/relationships/notesSlide" Target="/ppt/notesSlides/notesSlide15.xml" Id="R8046d01422ed44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ff0fd482734e8b" /><Relationship Type="http://schemas.openxmlformats.org/officeDocument/2006/relationships/notesSlide" Target="/ppt/notesSlides/notesSlide16.xml" Id="R1191c30f0ec148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9937deb77f242ae" /><Relationship Type="http://schemas.openxmlformats.org/officeDocument/2006/relationships/notesSlide" Target="/ppt/notesSlides/notesSlide17.xml" Id="Rc19b4b490db44e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4cbd0e138934c11" /><Relationship Type="http://schemas.openxmlformats.org/officeDocument/2006/relationships/notesSlide" Target="/ppt/notesSlides/notesSlide18.xml" Id="R272b955fbce149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4806b84c83444c" /><Relationship Type="http://schemas.openxmlformats.org/officeDocument/2006/relationships/notesSlide" Target="/ppt/notesSlides/notesSlide19.xml" Id="R033e52b3c9c54d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899244d92684aaf" /><Relationship Type="http://schemas.openxmlformats.org/officeDocument/2006/relationships/notesSlide" Target="/ppt/notesSlides/notesSlide20.xml" Id="Rfdac26464d4a48b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e4578fef7e04c67" /><Relationship Type="http://schemas.openxmlformats.org/officeDocument/2006/relationships/notesSlide" Target="/ppt/notesSlides/notesSlide21.xml" Id="R9d88cef7788841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fe20ad779c8482d" /><Relationship Type="http://schemas.openxmlformats.org/officeDocument/2006/relationships/notesSlide" Target="/ppt/notesSlides/notesSlide22.xml" Id="Rf86d1749fb564a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e0a6d667a1b49c7" /><Relationship Type="http://schemas.openxmlformats.org/officeDocument/2006/relationships/notesSlide" Target="/ppt/notesSlides/notesSlide23.xml" Id="R80ac07aaecea41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44b482c8c9345d0" /><Relationship Type="http://schemas.openxmlformats.org/officeDocument/2006/relationships/chart" Target="/ppt/slides/charts/chart5.xml" Id="Rc4c0368f79804714" /><Relationship Type="http://schemas.openxmlformats.org/officeDocument/2006/relationships/notesSlide" Target="/ppt/notesSlides/notesSlide24.xml" Id="R6842d2ca6c784d1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496cd7774964aac" /><Relationship Type="http://schemas.openxmlformats.org/officeDocument/2006/relationships/chart" Target="/ppt/slides/charts/chart6.xml" Id="R17527d06ef514b47" /><Relationship Type="http://schemas.openxmlformats.org/officeDocument/2006/relationships/notesSlide" Target="/ppt/notesSlides/notesSlide25.xml" Id="R746f0dabb60745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dd3c772d8c84112" /><Relationship Type="http://schemas.openxmlformats.org/officeDocument/2006/relationships/notesSlide" Target="/ppt/notesSlides/notesSlide26.xml" Id="R58681461e406435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77de1a292024cc4" /><Relationship Type="http://schemas.openxmlformats.org/officeDocument/2006/relationships/notesSlide" Target="/ppt/notesSlides/notesSlide27.xml" Id="R486a54864d654d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8240747cf8640db" /><Relationship Type="http://schemas.openxmlformats.org/officeDocument/2006/relationships/notesSlide" Target="/ppt/notesSlides/notesSlide28.xml" Id="Rb54c34ff384644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196a8b4e1dd44d6" /><Relationship Type="http://schemas.openxmlformats.org/officeDocument/2006/relationships/notesSlide" Target="/ppt/notesSlides/notesSlide29.xml" Id="Ra3e14b8f8a9f4d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a12e47655dd4ca1" /><Relationship Type="http://schemas.openxmlformats.org/officeDocument/2006/relationships/notesSlide" Target="/ppt/notesSlides/notesSlide30.xml" Id="R00a710e07fd245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50.4</c:v>
                </c:pt>
                <c:pt idx="2">
                  <c:v>72</c:v>
                </c:pt>
              </c:numCache>
            </c:numRef>
          </c:xVal>
          <c:yVal>
            <c:numRef>
              <c:f>'Chart Data'!$B$2:$B$4</c:f>
              <c:numCache>
                <c:formatCode>0</c:formatCode>
                <c:ptCount val="3"/>
                <c:pt idx="0">
                  <c:v>18</c:v>
                </c:pt>
                <c:pt idx="1">
                  <c:v>5.4</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etui)</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(etuis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50.4</c:v>
                </c:pt>
                <c:pt idx="2">
                  <c:v>72</c:v>
                </c:pt>
              </c:numCache>
            </c:numRef>
          </c:xVal>
          <c:yVal>
            <c:numRef>
              <c:f>'Chart Data'!$B$2:$B$4</c:f>
              <c:numCache>
                <c:formatCode>0</c:formatCode>
                <c:ptCount val="3"/>
                <c:pt idx="0">
                  <c:v>18</c:v>
                </c:pt>
                <c:pt idx="1">
                  <c:v>5.4</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52.48</c:v>
                </c:pt>
                <c:pt idx="2">
                  <c:v>64</c:v>
                </c:pt>
              </c:numCache>
            </c:numRef>
          </c:xVal>
          <c:yVal>
            <c:numRef>
              <c:f>'Chart Data'!$D$2:$D$4</c:f>
              <c:numCache>
                <c:formatCode>0</c:formatCode>
                <c:ptCount val="3"/>
                <c:pt idx="0">
                  <c:v>2</c:v>
                </c:pt>
                <c:pt idx="1">
                  <c:v>15.12</c:v>
                </c:pt>
                <c:pt idx="2">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etui)</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(etuis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50.4</c:v>
                </c:pt>
                <c:pt idx="2">
                  <c:v>72</c:v>
                </c:pt>
              </c:numCache>
            </c:numRef>
          </c:xVal>
          <c:yVal>
            <c:numRef>
              <c:f>'Chart Data'!$B$2:$B$4</c:f>
              <c:numCache>
                <c:formatCode>0</c:formatCode>
                <c:ptCount val="3"/>
                <c:pt idx="0">
                  <c:v>18</c:v>
                </c:pt>
                <c:pt idx="1">
                  <c:v>5.4</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52.48</c:v>
                </c:pt>
                <c:pt idx="2">
                  <c:v>64</c:v>
                </c:pt>
              </c:numCache>
            </c:numRef>
          </c:xVal>
          <c:yVal>
            <c:numRef>
              <c:f>'Chart Data'!$D$2:$D$4</c:f>
              <c:numCache>
                <c:formatCode>0</c:formatCode>
                <c:ptCount val="3"/>
                <c:pt idx="0">
                  <c:v>2</c:v>
                </c:pt>
                <c:pt idx="1">
                  <c:v>15.12</c:v>
                </c:pt>
                <c:pt idx="2">
                  <c:v>18</c:v>
                </c:pt>
              </c:numCache>
            </c:numRef>
          </c:yVal>
          <c:smooth val="0"/>
        </c:ser>
        <c:ser>
          <c:idx val="2"/>
          <c:order val="2"/>
          <c:tx>
            <c:v>Hulplijnen E</c:v>
          </c:tx>
          <c:spPr>
            <a:ln xmlns:a="http://schemas.openxmlformats.org/drawingml/2006/main" w="19050">
              <a:solidFill>
                <a:srgbClr val="445B6B"/>
              </a:solidFill>
              <a:prstDash val="dash"/>
            </a:ln>
          </c:spPr>
          <c:marker>
            <c:symbol val="none"/>
          </c:marker>
          <c:xVal>
            <c:numRef>
              <c:f>'Chart Data'!$E$2:$E$4</c:f>
              <c:numCache>
                <c:formatCode>General</c:formatCode>
                <c:ptCount val="3"/>
                <c:pt idx="0">
                  <c:v>0</c:v>
                </c:pt>
                <c:pt idx="1">
                  <c:v>32</c:v>
                </c:pt>
                <c:pt idx="2">
                  <c:v>32</c:v>
                </c:pt>
              </c:numCache>
            </c:numRef>
          </c:xVal>
          <c:yVal>
            <c:numRef>
              <c:f>'Chart Data'!$F$2:$F$4</c:f>
              <c:numCache>
                <c:formatCode>0</c:formatCode>
                <c:ptCount val="3"/>
                <c:pt idx="0">
                  <c:v>10</c:v>
                </c:pt>
                <c:pt idx="1">
                  <c:v>10</c:v>
                </c:pt>
                <c:pt idx="2">
                  <c:v>0</c:v>
                </c:pt>
              </c:numCache>
            </c:numRef>
          </c:yVal>
          <c:smooth val="0"/>
        </c:ser>
        <c:ser>
          <c:idx val="3"/>
          <c:order val="3"/>
          <c:tx>
            <c:v>E</c:v>
          </c:tx>
          <c:spPr>
            <a:ln xmlns:a="http://schemas.openxmlformats.org/drawingml/2006/main" w="0">
              <a:solidFill>
                <a:srgbClr val="183247"/>
              </a:solid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32</c:v>
                </c:pt>
              </c:numCache>
            </c:numRef>
          </c:xVal>
          <c:yVal>
            <c:numRef>
              <c:f>'Chart Data'!$H$2:$H$2</c:f>
              <c:numCache>
                <c:formatCode>0</c:formatCode>
                <c:ptCount val="1"/>
                <c:pt idx="0">
                  <c:v>10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etui)</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(etuis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50.4</c:v>
                </c:pt>
                <c:pt idx="2">
                  <c:v>72</c:v>
                </c:pt>
              </c:numCache>
            </c:numRef>
          </c:xVal>
          <c:yVal>
            <c:numRef>
              <c:f>'Chart Data'!$B$2:$B$4</c:f>
              <c:numCache>
                <c:formatCode>0</c:formatCode>
                <c:ptCount val="3"/>
                <c:pt idx="0">
                  <c:v>18</c:v>
                </c:pt>
                <c:pt idx="1">
                  <c:v>5.4</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52.48</c:v>
                </c:pt>
                <c:pt idx="2">
                  <c:v>64</c:v>
                </c:pt>
              </c:numCache>
            </c:numRef>
          </c:xVal>
          <c:yVal>
            <c:numRef>
              <c:f>'Chart Data'!$D$2:$D$4</c:f>
              <c:numCache>
                <c:formatCode>0</c:formatCode>
                <c:ptCount val="3"/>
                <c:pt idx="0">
                  <c:v>2</c:v>
                </c:pt>
                <c:pt idx="1">
                  <c:v>15.12</c:v>
                </c:pt>
                <c:pt idx="2">
                  <c:v>18</c:v>
                </c:pt>
              </c:numCache>
            </c:numRef>
          </c:yVal>
          <c:smooth val="0"/>
        </c:ser>
        <c:ser>
          <c:idx val="2"/>
          <c:order val="2"/>
          <c:tx>
            <c:v>Prijs</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40</c:v>
                </c:pt>
              </c:numCache>
            </c:numRef>
          </c:xVal>
          <c:yVal>
            <c:numRef>
              <c:f>'Chart Data'!$F$2:$F$3</c:f>
              <c:numCache>
                <c:formatCode>0</c:formatCode>
                <c:ptCount val="2"/>
                <c:pt idx="0">
                  <c:v>8</c:v>
                </c:pt>
                <c:pt idx="1">
                  <c:v>8</c:v>
                </c:pt>
              </c:numCache>
            </c:numRef>
          </c:yVal>
          <c:smooth val="0"/>
        </c:ser>
        <c:ser>
          <c:idx val="3"/>
          <c:order val="3"/>
          <c:tx>
            <c:v>Verschil</c:v>
          </c:tx>
          <c:spPr>
            <a:ln xmlns:a="http://schemas.openxmlformats.org/drawingml/2006/main" w="66675">
              <a:solidFill>
                <a:srgbClr val="A94D16"/>
              </a:solidFill>
            </a:ln>
          </c:spPr>
          <c:marker>
            <c:symbol val="circle"/>
            <c:size val="7"/>
            <c:spPr>
              <a:solidFill xmlns:a="http://schemas.openxmlformats.org/drawingml/2006/main">
                <a:srgbClr val="A94D16"/>
              </a:solidFill>
            </c:spPr>
          </c:marker>
          <c:xVal>
            <c:numRef>
              <c:f>'Chart Data'!$G$2:$G$3</c:f>
              <c:numCache>
                <c:formatCode>General</c:formatCode>
                <c:ptCount val="2"/>
                <c:pt idx="0">
                  <c:v>24</c:v>
                </c:pt>
                <c:pt idx="1">
                  <c:v>40</c:v>
                </c:pt>
              </c:numCache>
            </c:numRef>
          </c:xVal>
          <c:yVal>
            <c:numRef>
              <c:f>'Chart Data'!$H$2:$H$3</c:f>
              <c:numCache>
                <c:formatCode>0</c:formatCode>
                <c:ptCount val="2"/>
                <c:pt idx="0">
                  <c:v>8</c:v>
                </c:pt>
                <c:pt idx="1">
                  <c:v>8</c:v>
                </c:pt>
              </c:numCache>
            </c:numRef>
          </c:yVal>
          <c:smooth val="0"/>
        </c:ser>
        <c:ser>
          <c:idx val="4"/>
          <c:order val="4"/>
          <c:tx>
            <c:v>Qv lezen</c:v>
          </c:tx>
          <c:spPr>
            <a:ln xmlns:a="http://schemas.openxmlformats.org/drawingml/2006/main" w="19050">
              <a:solidFill>
                <a:srgbClr val="1A5276"/>
              </a:solidFill>
              <a:prstDash val="dash"/>
            </a:ln>
          </c:spPr>
          <c:marker>
            <c:symbol val="none"/>
          </c:marker>
          <c:xVal>
            <c:numRef>
              <c:f>'Chart Data'!$I$2:$I$3</c:f>
              <c:numCache>
                <c:formatCode>General</c:formatCode>
                <c:ptCount val="2"/>
                <c:pt idx="0">
                  <c:v>40</c:v>
                </c:pt>
                <c:pt idx="1">
                  <c:v>40</c:v>
                </c:pt>
              </c:numCache>
            </c:numRef>
          </c:xVal>
          <c:yVal>
            <c:numRef>
              <c:f>'Chart Data'!$J$2:$J$3</c:f>
              <c:numCache>
                <c:formatCode>0</c:formatCode>
                <c:ptCount val="2"/>
                <c:pt idx="0">
                  <c:v>8</c:v>
                </c:pt>
                <c:pt idx="1">
                  <c:v>0</c:v>
                </c:pt>
              </c:numCache>
            </c:numRef>
          </c:yVal>
          <c:smooth val="0"/>
        </c:ser>
        <c:ser>
          <c:idx val="5"/>
          <c:order val="5"/>
          <c:tx>
            <c:v>Qa lezen</c:v>
          </c:tx>
          <c:spPr>
            <a:ln xmlns:a="http://schemas.openxmlformats.org/drawingml/2006/main" w="19050">
              <a:solidFill>
                <a:srgbClr val="1E8449"/>
              </a:solidFill>
              <a:prstDash val="dash"/>
            </a:ln>
          </c:spPr>
          <c:marker>
            <c:symbol val="none"/>
          </c:marker>
          <c:xVal>
            <c:numRef>
              <c:f>'Chart Data'!$K$2:$K$3</c:f>
              <c:numCache>
                <c:formatCode>General</c:formatCode>
                <c:ptCount val="2"/>
                <c:pt idx="0">
                  <c:v>24</c:v>
                </c:pt>
                <c:pt idx="1">
                  <c:v>24</c:v>
                </c:pt>
              </c:numCache>
            </c:numRef>
          </c:xVal>
          <c:yVal>
            <c:numRef>
              <c:f>'Chart Data'!$L$2:$L$3</c:f>
              <c:numCache>
                <c:formatCode>0</c:formatCode>
                <c:ptCount val="2"/>
                <c:pt idx="0">
                  <c:v>8</c:v>
                </c:pt>
                <c:pt idx="1">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etui)</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(etuis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105</c:v>
                </c:pt>
                <c:pt idx="2">
                  <c:v>150</c:v>
                </c:pt>
              </c:numCache>
            </c:numRef>
          </c:xVal>
          <c:yVal>
            <c:numRef>
              <c:f>'Chart Data'!$B$2:$B$4</c:f>
              <c:numCache>
                <c:formatCode>0</c:formatCode>
                <c:ptCount val="3"/>
                <c:pt idx="0">
                  <c:v>15</c:v>
                </c:pt>
                <c:pt idx="1">
                  <c:v>4.5</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beker)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3"/>
      </c:valAx>
      <c:valAx>
        <c:axId val="48650112"/>
        <c:scaling>
          <c:orientation val="minMax"/>
          <c:max val="15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(bekers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105</c:v>
                </c:pt>
                <c:pt idx="2">
                  <c:v>150</c:v>
                </c:pt>
              </c:numCache>
            </c:numRef>
          </c:xVal>
          <c:yVal>
            <c:numRef>
              <c:f>'Chart Data'!$B$2:$B$4</c:f>
              <c:numCache>
                <c:formatCode>0</c:formatCode>
                <c:ptCount val="3"/>
                <c:pt idx="0">
                  <c:v>15</c:v>
                </c:pt>
                <c:pt idx="1">
                  <c:v>4.5</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36.9</c:v>
                </c:pt>
                <c:pt idx="2">
                  <c:v>45</c:v>
                </c:pt>
              </c:numCache>
            </c:numRef>
          </c:xVal>
          <c:yVal>
            <c:numRef>
              <c:f>'Chart Data'!$D$2:$D$4</c:f>
              <c:numCache>
                <c:formatCode>0</c:formatCode>
                <c:ptCount val="3"/>
                <c:pt idx="0">
                  <c:v>6</c:v>
                </c:pt>
                <c:pt idx="1">
                  <c:v>13.38</c:v>
                </c:pt>
                <c:pt idx="2">
                  <c:v>15</c:v>
                </c:pt>
              </c:numCache>
            </c:numRef>
          </c:yVal>
          <c:smooth val="0"/>
        </c:ser>
        <c:ser>
          <c:idx val="2"/>
          <c:order val="2"/>
          <c:tx>
            <c:v>Hulplijnen E</c:v>
          </c:tx>
          <c:spPr>
            <a:ln xmlns:a="http://schemas.openxmlformats.org/drawingml/2006/main" w="19050">
              <a:solidFill>
                <a:srgbClr val="445B6B"/>
              </a:solidFill>
              <a:prstDash val="dash"/>
            </a:ln>
          </c:spPr>
          <c:marker>
            <c:symbol val="none"/>
          </c:marker>
          <c:xVal>
            <c:numRef>
              <c:f>'Chart Data'!$E$2:$E$4</c:f>
              <c:numCache>
                <c:formatCode>General</c:formatCode>
                <c:ptCount val="3"/>
                <c:pt idx="0">
                  <c:v>0</c:v>
                </c:pt>
                <c:pt idx="1">
                  <c:v>30</c:v>
                </c:pt>
                <c:pt idx="2">
                  <c:v>30</c:v>
                </c:pt>
              </c:numCache>
            </c:numRef>
          </c:xVal>
          <c:yVal>
            <c:numRef>
              <c:f>'Chart Data'!$F$2:$F$4</c:f>
              <c:numCache>
                <c:formatCode>0</c:formatCode>
                <c:ptCount val="3"/>
                <c:pt idx="0">
                  <c:v>12</c:v>
                </c:pt>
                <c:pt idx="1">
                  <c:v>12</c:v>
                </c:pt>
                <c:pt idx="2">
                  <c:v>0</c:v>
                </c:pt>
              </c:numCache>
            </c:numRef>
          </c:yVal>
          <c:smooth val="0"/>
        </c:ser>
        <c:ser>
          <c:idx val="3"/>
          <c:order val="3"/>
          <c:tx>
            <c:v>E</c:v>
          </c:tx>
          <c:spPr>
            <a:ln xmlns:a="http://schemas.openxmlformats.org/drawingml/2006/main" w="0">
              <a:solidFill>
                <a:srgbClr val="183247"/>
              </a:solid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30</c:v>
                </c:pt>
              </c:numCache>
            </c:numRef>
          </c:xVal>
          <c:yVal>
            <c:numRef>
              <c:f>'Chart Data'!$H$2:$H$2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beker)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3"/>
      </c:valAx>
      <c:valAx>
        <c:axId val="48650112"/>
        <c:scaling>
          <c:orientation val="minMax"/>
          <c:max val="15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(bekers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2 Marktevenwicht">
            <a:extLst xmlns:a="http://schemas.openxmlformats.org/drawingml/2006/main">
              <a:ext uri="{FF2B5EF4-FFF2-40B4-BE49-F238E27FC236}">
                <a16:creationId xmlns:a16="http://schemas.microsoft.com/office/drawing/2014/main" id="{F34098C0-4075-462B-8EE8-61754DA362B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§1.3.2 Marktevenwicht</a:t>
            </a:r>
          </a:p>
        </p:txBody>
      </p:sp>
      <p:sp>
        <p:nvSpPr>
          <p:cNvPr id="2" name="">
            <a:extLst xmlns:a="http://schemas.openxmlformats.org/drawingml/2006/main">
              <a:ext uri="{FF2B5EF4-FFF2-40B4-BE49-F238E27FC236}">
                <a16:creationId xmlns:a16="http://schemas.microsoft.com/office/drawing/2014/main" id="{01D388F4-3531-42E9-AAA8-BC53F916EB7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1A6D09EE-F88C-417E-A264-6832402F41C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
            <a:extLst xmlns:a="http://schemas.openxmlformats.org/drawingml/2006/main">
              <a:ext uri="{FF2B5EF4-FFF2-40B4-BE49-F238E27FC236}">
                <a16:creationId xmlns:a16="http://schemas.microsoft.com/office/drawing/2014/main" id="{DCAB0592-8470-4983-95E5-9E78BC3D76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5CD043B3-4500-4893-AD9E-A3D9233C295E}"/>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1F7D2C72-4035-4A5C-A381-91A2346F307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BD9EB05-E7C5-41B4-ACD4-58E3BF80B63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1C8293CC-8E4A-4D6E-B5E1-9E058D15A942}"/>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B02364B2-65E4-45C7-887F-89396D6CC7F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A1074A0-9454-4952-8203-AEA1C067315D}"/>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964A27B-49F1-4F45-867E-0D6445E0CDE7}"/>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43AA94D-CFDD-4099-858D-310AC5BF837E}"/>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5F98D589-868D-4317-B68A-DC8FB637E3B5}"/>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F6537BD3-043A-4D66-B1EC-9CA7FCBC2BB3}"/>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EAA2B12A-D318-496E-A62E-60981BC9CF6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C7FC3D5-ADAC-44C2-9CCF-C8960A5D54A6}"/>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28565169-C059-4C89-A5AF-113DC57AEC4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2C9FC58-35CF-4085-BDA8-0FF473CE1C7A}"/>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20.</a:t>
            </a:r>
          </a:p>
        </p:txBody>
      </p:sp>
      <p:sp>
        <p:nvSpPr>
          <p:cNvPr id="19" name="route-number-7">
            <a:extLst xmlns:a="http://schemas.openxmlformats.org/drawingml/2006/main">
              <a:ext uri="{FF2B5EF4-FFF2-40B4-BE49-F238E27FC236}">
                <a16:creationId xmlns:a16="http://schemas.microsoft.com/office/drawing/2014/main" id="{1BCF7317-A4D8-47B2-8C34-DCD04D17A3F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B271C71-EA48-4C35-B0E9-C1B6F4C6F729}"/>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8B91F41-2F7B-449A-9A21-5E71427020E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EE9FA5C-A9BB-41C6-AA12-226C87DD9C3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Evenwicht berekenen 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Overschot, verkoop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prijsdruk verklaren.</a:t>
            </a:r>
          </a:p>
        </p:txBody>
      </p:sp>
      <p:sp>
        <p:nvSpPr>
          <p:cNvPr id="23" name="">
            <a:extLst xmlns:a="http://schemas.openxmlformats.org/drawingml/2006/main">
              <a:ext uri="{FF2B5EF4-FFF2-40B4-BE49-F238E27FC236}">
                <a16:creationId xmlns:a16="http://schemas.microsoft.com/office/drawing/2014/main" id="{1441E32C-8CFD-4ED1-9406-5710F4EF0DA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77AE674-CCBC-4365-9CB8-C45D6E5C6D1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CAC7974-E7A5-4998-9989-DE0898F0EF3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102 · Opgaven 12 en 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13: verkennen, theorie p. 96–97</a:t>
            </a:r>
          </a:p>
        </p:txBody>
      </p:sp>
      <p:sp>
        <p:nvSpPr>
          <p:cNvPr id="26" name="">
            <a:extLst xmlns:a="http://schemas.openxmlformats.org/drawingml/2006/main">
              <a:ext uri="{FF2B5EF4-FFF2-40B4-BE49-F238E27FC236}">
                <a16:creationId xmlns:a16="http://schemas.microsoft.com/office/drawing/2014/main" id="{B18B3FAF-5E64-4C87-817E-9698109CED3D}"/>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282EFC5-D895-4B54-A2E1-1E7F23C0426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9B7A3FF-37CF-4649-9706-8E376ACCF968}"/>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§1.3.2 Marktevenwicht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14, 15 en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17, 18 en 19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122883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3CB8A839-201B-4003-B52B-53E296121F8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237576BF-E364-4F4B-BE1A-918F529A394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DF47DC2C-598B-450D-865E-3E955F4DF66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2">
            <a:extLst xmlns:a="http://schemas.openxmlformats.org/drawingml/2006/main">
              <a:ext uri="{FF2B5EF4-FFF2-40B4-BE49-F238E27FC236}">
                <a16:creationId xmlns:a16="http://schemas.microsoft.com/office/drawing/2014/main" id="{24C63D3A-5C45-43EC-AD53-BFA0A2230B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Evenwicht">
            <a:extLst xmlns:a="http://schemas.openxmlformats.org/drawingml/2006/main">
              <a:ext uri="{FF2B5EF4-FFF2-40B4-BE49-F238E27FC236}">
                <a16:creationId xmlns:a16="http://schemas.microsoft.com/office/drawing/2014/main" id="{7ED29426-2688-47B4-812F-C39C063BB113}"/>
              </a:ext>
            </a:extLst>
          </p:cNvPr>
          <p:cNvSpPr>
            <a:spLocks xmlns:a="http://schemas.openxmlformats.org/drawingml/2006/main" noGrp="1"/>
          </p:cNvSpPr>
          <p:nvPr/>
        </p:nvSpPr>
        <p:spPr>
          <a:xfrm xmlns:a="http://schemas.openxmlformats.org/drawingml/2006/main">
            <a:off x="571500" y="20002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Evenwicht</a:t>
            </a:r>
          </a:p>
        </p:txBody>
      </p:sp>
      <p:sp>
        <p:nvSpPr>
          <p:cNvPr id="6" name="Je berekent P, controleert Q in beide functies en ">
            <a:extLst xmlns:a="http://schemas.openxmlformats.org/drawingml/2006/main">
              <a:ext uri="{FF2B5EF4-FFF2-40B4-BE49-F238E27FC236}">
                <a16:creationId xmlns:a16="http://schemas.microsoft.com/office/drawing/2014/main" id="{6C22C28B-D629-4563-940F-F535578C3533}"/>
              </a:ext>
            </a:extLst>
          </p:cNvPr>
          <p:cNvSpPr>
            <a:spLocks xmlns:a="http://schemas.openxmlformats.org/drawingml/2006/main" noGrp="1"/>
          </p:cNvSpPr>
          <p:nvPr/>
        </p:nvSpPr>
        <p:spPr>
          <a:xfrm xmlns:a="http://schemas.openxmlformats.org/drawingml/2006/main">
            <a:off x="6191250" y="2000250"/>
            <a:ext cx="8382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berekent P, controleert Q in beide functies en legt uit.</a:t>
            </a:r>
          </a:p>
        </p:txBody>
      </p:sp>
      <p:sp>
        <p:nvSpPr>
          <p:cNvPr id="7" name="">
            <a:extLst xmlns:a="http://schemas.openxmlformats.org/drawingml/2006/main">
              <a:ext uri="{FF2B5EF4-FFF2-40B4-BE49-F238E27FC236}">
                <a16:creationId xmlns:a16="http://schemas.microsoft.com/office/drawing/2014/main" id="{BCF43241-7B62-4CF0-8526-2C59578F9879}"/>
              </a:ext>
            </a:extLst>
          </p:cNvPr>
          <p:cNvSpPr>
            <a:spLocks xmlns:a="http://schemas.openxmlformats.org/drawingml/2006/main" noGrp="1"/>
          </p:cNvSpPr>
          <p:nvPr/>
        </p:nvSpPr>
        <p:spPr>
          <a:xfrm xmlns:a="http://schemas.openxmlformats.org/drawingml/2006/main">
            <a:off x="571500" y="3114675"/>
            <a:ext cx="14097000" cy="0"/>
          </a:xfrm>
          <a:prstGeom xmlns:a="http://schemas.openxmlformats.org/drawingml/2006/main" prst="line">
            <a:avLst/>
          </a:prstGeom>
          <a:ln xmlns:a="http://schemas.openxmlformats.org/drawingml/2006/main" w="19050">
            <a:solidFill>
              <a:srgbClr val="C6D2DB"/>
            </a:solidFill>
          </a:ln>
        </p:spPr>
      </p:sp>
      <p:sp>
        <p:nvSpPr>
          <p:cNvPr id="8" name="Een marktgrafiek">
            <a:extLst xmlns:a="http://schemas.openxmlformats.org/drawingml/2006/main">
              <a:ext uri="{FF2B5EF4-FFF2-40B4-BE49-F238E27FC236}">
                <a16:creationId xmlns:a16="http://schemas.microsoft.com/office/drawing/2014/main" id="{0CB29B47-F791-419C-8AB7-F392EC23B7EF}"/>
              </a:ext>
            </a:extLst>
          </p:cNvPr>
          <p:cNvSpPr>
            <a:spLocks xmlns:a="http://schemas.openxmlformats.org/drawingml/2006/main" noGrp="1"/>
          </p:cNvSpPr>
          <p:nvPr/>
        </p:nvSpPr>
        <p:spPr>
          <a:xfrm xmlns:a="http://schemas.openxmlformats.org/drawingml/2006/main">
            <a:off x="571500" y="3381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Een marktgrafiek</a:t>
            </a:r>
          </a:p>
        </p:txBody>
      </p:sp>
      <p:sp>
        <p:nvSpPr>
          <p:cNvPr id="9" name="Je tekent V en A, met E, schalen, eenheden en hulp">
            <a:extLst xmlns:a="http://schemas.openxmlformats.org/drawingml/2006/main">
              <a:ext uri="{FF2B5EF4-FFF2-40B4-BE49-F238E27FC236}">
                <a16:creationId xmlns:a16="http://schemas.microsoft.com/office/drawing/2014/main" id="{B3E45FFE-8E3B-4CA6-8228-9C2AE446C423}"/>
              </a:ext>
            </a:extLst>
          </p:cNvPr>
          <p:cNvSpPr>
            <a:spLocks xmlns:a="http://schemas.openxmlformats.org/drawingml/2006/main" noGrp="1"/>
          </p:cNvSpPr>
          <p:nvPr/>
        </p:nvSpPr>
        <p:spPr>
          <a:xfrm xmlns:a="http://schemas.openxmlformats.org/drawingml/2006/main">
            <a:off x="6191250" y="3381375"/>
            <a:ext cx="8382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tekent V en A, met E, schalen, eenheden en hulplijnen.</a:t>
            </a:r>
          </a:p>
        </p:txBody>
      </p:sp>
      <p:sp>
        <p:nvSpPr>
          <p:cNvPr id="10" name="">
            <a:extLst xmlns:a="http://schemas.openxmlformats.org/drawingml/2006/main">
              <a:ext uri="{FF2B5EF4-FFF2-40B4-BE49-F238E27FC236}">
                <a16:creationId xmlns:a16="http://schemas.microsoft.com/office/drawing/2014/main" id="{3117FDC8-D3CC-4328-9CE7-EF0204A19ED4}"/>
              </a:ext>
            </a:extLst>
          </p:cNvPr>
          <p:cNvSpPr>
            <a:spLocks xmlns:a="http://schemas.openxmlformats.org/drawingml/2006/main" noGrp="1"/>
          </p:cNvSpPr>
          <p:nvPr/>
        </p:nvSpPr>
        <p:spPr>
          <a:xfrm xmlns:a="http://schemas.openxmlformats.org/drawingml/2006/main">
            <a:off x="571500" y="4495800"/>
            <a:ext cx="14097000" cy="0"/>
          </a:xfrm>
          <a:prstGeom xmlns:a="http://schemas.openxmlformats.org/drawingml/2006/main" prst="line">
            <a:avLst/>
          </a:prstGeom>
          <a:ln xmlns:a="http://schemas.openxmlformats.org/drawingml/2006/main" w="19050">
            <a:solidFill>
              <a:srgbClr val="C6D2DB"/>
            </a:solidFill>
          </a:ln>
        </p:spPr>
      </p:sp>
      <p:sp>
        <p:nvSpPr>
          <p:cNvPr id="11" name="Plannen en verkoop">
            <a:extLst xmlns:a="http://schemas.openxmlformats.org/drawingml/2006/main">
              <a:ext uri="{FF2B5EF4-FFF2-40B4-BE49-F238E27FC236}">
                <a16:creationId xmlns:a16="http://schemas.microsoft.com/office/drawing/2014/main" id="{02D5CA65-311E-4DE5-916F-5412A2A852BC}"/>
              </a:ext>
            </a:extLst>
          </p:cNvPr>
          <p:cNvSpPr>
            <a:spLocks xmlns:a="http://schemas.openxmlformats.org/drawingml/2006/main" noGrp="1"/>
          </p:cNvSpPr>
          <p:nvPr/>
        </p:nvSpPr>
        <p:spPr>
          <a:xfrm xmlns:a="http://schemas.openxmlformats.org/drawingml/2006/main">
            <a:off x="571500" y="47625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Plannen en verkoop</a:t>
            </a:r>
          </a:p>
        </p:txBody>
      </p:sp>
      <p:sp>
        <p:nvSpPr>
          <p:cNvPr id="12" name="Je berekent overschotten en bepaalt de verkoop.">
            <a:extLst xmlns:a="http://schemas.openxmlformats.org/drawingml/2006/main">
              <a:ext uri="{FF2B5EF4-FFF2-40B4-BE49-F238E27FC236}">
                <a16:creationId xmlns:a16="http://schemas.microsoft.com/office/drawing/2014/main" id="{D2186F25-2370-42C3-B06B-9FA27BED984C}"/>
              </a:ext>
            </a:extLst>
          </p:cNvPr>
          <p:cNvSpPr>
            <a:spLocks xmlns:a="http://schemas.openxmlformats.org/drawingml/2006/main" noGrp="1"/>
          </p:cNvSpPr>
          <p:nvPr/>
        </p:nvSpPr>
        <p:spPr>
          <a:xfrm xmlns:a="http://schemas.openxmlformats.org/drawingml/2006/main">
            <a:off x="6191250" y="4762500"/>
            <a:ext cx="8382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berekent overschotten en bepaalt de verkoop.</a:t>
            </a:r>
          </a:p>
        </p:txBody>
      </p:sp>
      <p:sp>
        <p:nvSpPr>
          <p:cNvPr id="13" name="">
            <a:extLst xmlns:a="http://schemas.openxmlformats.org/drawingml/2006/main">
              <a:ext uri="{FF2B5EF4-FFF2-40B4-BE49-F238E27FC236}">
                <a16:creationId xmlns:a16="http://schemas.microsoft.com/office/drawing/2014/main" id="{24FD1EFA-11E9-4828-B715-DFA51920B624}"/>
              </a:ext>
            </a:extLst>
          </p:cNvPr>
          <p:cNvSpPr>
            <a:spLocks xmlns:a="http://schemas.openxmlformats.org/drawingml/2006/main" noGrp="1"/>
          </p:cNvSpPr>
          <p:nvPr/>
        </p:nvSpPr>
        <p:spPr>
          <a:xfrm xmlns:a="http://schemas.openxmlformats.org/drawingml/2006/main">
            <a:off x="571500" y="5876925"/>
            <a:ext cx="14097000" cy="0"/>
          </a:xfrm>
          <a:prstGeom xmlns:a="http://schemas.openxmlformats.org/drawingml/2006/main" prst="line">
            <a:avLst/>
          </a:prstGeom>
          <a:ln xmlns:a="http://schemas.openxmlformats.org/drawingml/2006/main" w="19050">
            <a:solidFill>
              <a:srgbClr val="C6D2DB"/>
            </a:solidFill>
          </a:ln>
        </p:spPr>
      </p:sp>
      <p:sp>
        <p:nvSpPr>
          <p:cNvPr id="14" name="Prijsdruk">
            <a:extLst xmlns:a="http://schemas.openxmlformats.org/drawingml/2006/main">
              <a:ext uri="{FF2B5EF4-FFF2-40B4-BE49-F238E27FC236}">
                <a16:creationId xmlns:a16="http://schemas.microsoft.com/office/drawing/2014/main" id="{9CB0D48F-A370-4055-9306-814EF40110DF}"/>
              </a:ext>
            </a:extLst>
          </p:cNvPr>
          <p:cNvSpPr>
            <a:spLocks xmlns:a="http://schemas.openxmlformats.org/drawingml/2006/main" noGrp="1"/>
          </p:cNvSpPr>
          <p:nvPr/>
        </p:nvSpPr>
        <p:spPr>
          <a:xfrm xmlns:a="http://schemas.openxmlformats.org/drawingml/2006/main">
            <a:off x="571500" y="614362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Prijsdruk</a:t>
            </a:r>
          </a:p>
        </p:txBody>
      </p:sp>
      <p:sp>
        <p:nvSpPr>
          <p:cNvPr id="15" name="Je verklaart de reacties langs de bestaande lijnen">
            <a:extLst xmlns:a="http://schemas.openxmlformats.org/drawingml/2006/main">
              <a:ext uri="{FF2B5EF4-FFF2-40B4-BE49-F238E27FC236}">
                <a16:creationId xmlns:a16="http://schemas.microsoft.com/office/drawing/2014/main" id="{A602DEF1-179C-4A8B-90D5-7A5CD0004DDC}"/>
              </a:ext>
            </a:extLst>
          </p:cNvPr>
          <p:cNvSpPr>
            <a:spLocks xmlns:a="http://schemas.openxmlformats.org/drawingml/2006/main" noGrp="1"/>
          </p:cNvSpPr>
          <p:nvPr/>
        </p:nvSpPr>
        <p:spPr>
          <a:xfrm xmlns:a="http://schemas.openxmlformats.org/drawingml/2006/main">
            <a:off x="6191250" y="6143625"/>
            <a:ext cx="8382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Je verklaart de reacties langs de bestaande lijnen.</a:t>
            </a:r>
          </a:p>
        </p:txBody>
      </p:sp>
    </p:spTree>
    <p:extLst>
      <p:ext uri="{BB962C8B-B14F-4D97-AF65-F5344CB8AC3E}">
        <p14:creationId xmlns:p14="http://schemas.microsoft.com/office/powerpoint/2010/main" val="1719618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opplannen en verkoopplannen">
            <a:extLst xmlns:a="http://schemas.openxmlformats.org/drawingml/2006/main">
              <a:ext uri="{FF2B5EF4-FFF2-40B4-BE49-F238E27FC236}">
                <a16:creationId xmlns:a16="http://schemas.microsoft.com/office/drawing/2014/main" id="{0A01DB4F-17AC-4B09-BA58-C80D3294996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Koopplannen en verkoopplannen</a:t>
            </a:r>
          </a:p>
        </p:txBody>
      </p:sp>
      <p:sp>
        <p:nvSpPr>
          <p:cNvPr id="2" name="">
            <a:extLst xmlns:a="http://schemas.openxmlformats.org/drawingml/2006/main">
              <a:ext uri="{FF2B5EF4-FFF2-40B4-BE49-F238E27FC236}">
                <a16:creationId xmlns:a16="http://schemas.microsoft.com/office/drawing/2014/main" id="{429E9A11-E3C7-4F53-9957-94A8BFFB03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57777300-3106-4853-991A-DCB1EDCD3ED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3">
            <a:extLst xmlns:a="http://schemas.openxmlformats.org/drawingml/2006/main">
              <a:ext uri="{FF2B5EF4-FFF2-40B4-BE49-F238E27FC236}">
                <a16:creationId xmlns:a16="http://schemas.microsoft.com/office/drawing/2014/main" id="{633B0939-675E-401B-A638-6804231CEBF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A0E8631F-DEB0-414B-80D0-03579E40090C}"/>
              </a:ext>
            </a:extLst>
          </p:cNvPr>
          <p:cNvSpPr>
            <a:spLocks xmlns:a="http://schemas.openxmlformats.org/drawingml/2006/main" noGrp="1"/>
          </p:cNvSpPr>
          <p:nvPr/>
        </p:nvSpPr>
        <p:spPr>
          <a:xfrm xmlns:a="http://schemas.openxmlformats.org/drawingml/2006/main">
            <a:off x="571500" y="175260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sp>
        <p:nvSpPr>
          <p:cNvPr id="6" name="Eén soort pennenetui, veel kleine kopers en verkop">
            <a:extLst xmlns:a="http://schemas.openxmlformats.org/drawingml/2006/main">
              <a:ext uri="{FF2B5EF4-FFF2-40B4-BE49-F238E27FC236}">
                <a16:creationId xmlns:a16="http://schemas.microsoft.com/office/drawing/2014/main" id="{2E5877BA-1B84-49BA-9F3D-9E53B4833129}"/>
              </a:ext>
            </a:extLst>
          </p:cNvPr>
          <p:cNvSpPr>
            <a:spLocks xmlns:a="http://schemas.openxmlformats.org/drawingml/2006/main" noGrp="1"/>
          </p:cNvSpPr>
          <p:nvPr/>
        </p:nvSpPr>
        <p:spPr>
          <a:xfrm xmlns:a="http://schemas.openxmlformats.org/drawingml/2006/main">
            <a:off x="571500" y="24288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Eén soort pennenetui, veel kleine kopers en verkopers</a:t>
            </a:r>
          </a:p>
        </p:txBody>
      </p:sp>
      <p:graphicFrame>
        <p:nvGraphicFramePr>
          <p:cNvPr id="16" name=""/>
          <p:cNvGraphicFramePr/>
          <p:nvPr/>
        </p:nvGraphicFramePr>
        <p:xfrm>
          <a:off xmlns:a="http://schemas.openxmlformats.org/drawingml/2006/main" x="571500" y="3390900"/>
          <a:ext xmlns:a="http://schemas.openxmlformats.org/drawingml/2006/main" cx="14097000" cy="2466975"/>
        </p:xfrm>
        <a:graphic xmlns:a="http://schemas.openxmlformats.org/drawingml/2006/main">
          <a:graphicData uri="http://schemas.openxmlformats.org/drawingml/2006/table">
            <a:tbl>
              <a:tblPr/>
              <a:tblGrid>
                <a:gridCol w="7048500"/>
                <a:gridCol w="7048500"/>
              </a:tblGrid>
              <a:tr h="822325">
                <a:tc>
                  <a:txBody>
                    <a:bodyPr lIns="171450" tIns="95250" rIns="152400" bIns="95250"/>
                    <a:lstStyle/>
                    <a:p>
                      <a:r>
                        <a:rPr sz="2850" b="1">
                          <a:solidFill>
                            <a:srgbClr val="FFFFFF"/>
                          </a:solidFill>
                          <a:latin typeface="Arial"/>
                          <a:ea typeface="Arial"/>
                          <a:cs typeface="Arial"/>
                        </a:rPr>
                        <a:t>Collectieve vraag</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Collectief aanbod</a:t>
                      </a:r>
                    </a:p>
                  </a:txBody>
                  <a:tcPr marL="91440" marR="91440" marT="45720" marB="45720" anchor="ctr">
                    <a:solidFill>
                      <a:srgbClr val="183247"/>
                    </a:solidFill>
                  </a:tcPr>
                </a:tc>
              </a:tr>
              <a:tr h="822325">
                <a:tc>
                  <a:txBody>
                    <a:bodyPr lIns="171450" tIns="95250" rIns="152400" bIns="95250"/>
                    <a:lstStyle/>
                    <a:p>
                      <a:r>
                        <a:rPr sz="2850" b="0">
                          <a:solidFill>
                            <a:srgbClr val="183247"/>
                          </a:solidFill>
                          <a:latin typeface="Arial"/>
                          <a:ea typeface="Arial"/>
                          <a:cs typeface="Arial"/>
                        </a:rPr>
                        <a:t>Qᵥ = 72 − 4P</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Qₐ = 4P − 8</a:t>
                      </a:r>
                    </a:p>
                  </a:txBody>
                  <a:tcPr marL="91440" marR="91440" marT="45720" marB="45720" anchor="ctr">
                    <a:solidFill>
                      <a:srgbClr val="FFFFFF"/>
                    </a:solidFill>
                  </a:tcPr>
                </a:tc>
              </a:tr>
              <a:tr h="822325">
                <a:tc>
                  <a:txBody>
                    <a:bodyPr lIns="171450" tIns="95250" rIns="152400" bIns="95250"/>
                    <a:lstStyle/>
                    <a:p>
                      <a:r>
                        <a:rPr sz="2850" b="0">
                          <a:solidFill>
                            <a:srgbClr val="183247"/>
                          </a:solidFill>
                          <a:latin typeface="Arial"/>
                          <a:ea typeface="Arial"/>
                          <a:cs typeface="Arial"/>
                        </a:rPr>
                        <a:t>0 ≤ P ≤ 18</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2 ≤ P ≤ 18</a:t>
                      </a:r>
                    </a:p>
                  </a:txBody>
                  <a:tcPr marL="91440" marR="91440" marT="45720" marB="45720" anchor="ctr">
                    <a:solidFill>
                      <a:srgbClr val="EFF4F7"/>
                    </a:solidFill>
                  </a:tcPr>
                </a:tc>
              </a:tr>
            </a:tbl>
          </a:graphicData>
        </a:graphic>
      </p:graphicFrame>
      <p:sp>
        <p:nvSpPr>
          <p:cNvPr id="8" name="P: € per etui      Qᵥ en Qₐ: etuis per week">
            <a:extLst xmlns:a="http://schemas.openxmlformats.org/drawingml/2006/main">
              <a:ext uri="{FF2B5EF4-FFF2-40B4-BE49-F238E27FC236}">
                <a16:creationId xmlns:a16="http://schemas.microsoft.com/office/drawing/2014/main" id="{055D19AF-BD58-4662-BD07-0DF1B0C6AE92}"/>
              </a:ext>
            </a:extLst>
          </p:cNvPr>
          <p:cNvSpPr>
            <a:spLocks xmlns:a="http://schemas.openxmlformats.org/drawingml/2006/main" noGrp="1"/>
          </p:cNvSpPr>
          <p:nvPr/>
        </p:nvSpPr>
        <p:spPr>
          <a:xfrm xmlns:a="http://schemas.openxmlformats.org/drawingml/2006/main">
            <a:off x="571500" y="64103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 € per etui      Qᵥ en Qₐ: etuis per week</a:t>
            </a:r>
          </a:p>
        </p:txBody>
      </p:sp>
      <p:sp>
        <p:nvSpPr>
          <p:cNvPr id="9" name="De overige omstandigheden blijven gelijk.">
            <a:extLst xmlns:a="http://schemas.openxmlformats.org/drawingml/2006/main">
              <a:ext uri="{FF2B5EF4-FFF2-40B4-BE49-F238E27FC236}">
                <a16:creationId xmlns:a16="http://schemas.microsoft.com/office/drawing/2014/main" id="{73B801B9-495E-4F89-932B-B7487E0AD61C}"/>
              </a:ext>
            </a:extLst>
          </p:cNvPr>
          <p:cNvSpPr>
            <a:spLocks xmlns:a="http://schemas.openxmlformats.org/drawingml/2006/main" noGrp="1"/>
          </p:cNvSpPr>
          <p:nvPr/>
        </p:nvSpPr>
        <p:spPr>
          <a:xfrm xmlns:a="http://schemas.openxmlformats.org/drawingml/2006/main">
            <a:off x="571500" y="730567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overige omstandigheden blijven gelijk.</a:t>
            </a:r>
          </a:p>
        </p:txBody>
      </p:sp>
    </p:spTree>
    <p:extLst>
      <p:ext uri="{BB962C8B-B14F-4D97-AF65-F5344CB8AC3E}">
        <p14:creationId xmlns:p14="http://schemas.microsoft.com/office/powerpoint/2010/main" val="6161513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enwicht: dezelfde hoeveelheid bij dezelfde prijs">
            <a:extLst xmlns:a="http://schemas.openxmlformats.org/drawingml/2006/main">
              <a:ext uri="{FF2B5EF4-FFF2-40B4-BE49-F238E27FC236}">
                <a16:creationId xmlns:a16="http://schemas.microsoft.com/office/drawing/2014/main" id="{5EDE4895-BE71-468C-A91D-1BBCF02A3EB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Evenwicht: dezelfde hoeveelheid bij dezelfde prijs</a:t>
            </a:r>
          </a:p>
        </p:txBody>
      </p:sp>
      <p:sp>
        <p:nvSpPr>
          <p:cNvPr id="2" name="">
            <a:extLst xmlns:a="http://schemas.openxmlformats.org/drawingml/2006/main">
              <a:ext uri="{FF2B5EF4-FFF2-40B4-BE49-F238E27FC236}">
                <a16:creationId xmlns:a16="http://schemas.microsoft.com/office/drawing/2014/main" id="{85BFC003-1EA0-47A9-8B6B-FFB7A98D953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3ABD6542-D77B-4617-A33B-364EF13B937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4">
            <a:extLst xmlns:a="http://schemas.openxmlformats.org/drawingml/2006/main">
              <a:ext uri="{FF2B5EF4-FFF2-40B4-BE49-F238E27FC236}">
                <a16:creationId xmlns:a16="http://schemas.microsoft.com/office/drawing/2014/main" id="{919CE37D-074A-4241-BED6-805E25A3022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Pennenetuis">
            <a:extLst xmlns:a="http://schemas.openxmlformats.org/drawingml/2006/main">
              <a:ext uri="{FF2B5EF4-FFF2-40B4-BE49-F238E27FC236}">
                <a16:creationId xmlns:a16="http://schemas.microsoft.com/office/drawing/2014/main" id="{579719F4-D43F-47DB-82F3-37A82A7410E5}"/>
              </a:ext>
            </a:extLst>
          </p:cNvPr>
          <p:cNvSpPr>
            <a:spLocks xmlns:a="http://schemas.openxmlformats.org/drawingml/2006/main" noGrp="1"/>
          </p:cNvSpPr>
          <p:nvPr/>
        </p:nvSpPr>
        <p:spPr>
          <a:xfrm xmlns:a="http://schemas.openxmlformats.org/drawingml/2006/main">
            <a:off x="571500" y="179070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Pennenetuis</a:t>
            </a:r>
          </a:p>
        </p:txBody>
      </p:sp>
      <p:graphicFrame>
        <p:nvGraphicFramePr>
          <p:cNvPr id="14" name=""/>
          <p:cNvGraphicFramePr/>
          <p:nvPr/>
        </p:nvGraphicFramePr>
        <p:xfrm>
          <a:off xmlns:a="http://schemas.openxmlformats.org/drawingml/2006/main" x="571500" y="2752725"/>
          <a:ext xmlns:a="http://schemas.openxmlformats.org/drawingml/2006/main" cx="14097000" cy="3286125"/>
        </p:xfrm>
        <a:graphic xmlns:a="http://schemas.openxmlformats.org/drawingml/2006/main">
          <a:graphicData uri="http://schemas.openxmlformats.org/drawingml/2006/table">
            <a:tbl>
              <a:tblPr/>
              <a:tblGrid>
                <a:gridCol w="4667250"/>
                <a:gridCol w="4714875"/>
                <a:gridCol w="4714875"/>
              </a:tblGrid>
              <a:tr h="821531">
                <a:tc>
                  <a:txBody>
                    <a:bodyPr lIns="171450" tIns="95250" rIns="152400" bIns="95250"/>
                    <a:lstStyle/>
                    <a:p>
                      <a:r>
                        <a:rPr sz="2700" b="1">
                          <a:solidFill>
                            <a:srgbClr val="FFFFFF"/>
                          </a:solidFill>
                          <a:latin typeface="Arial"/>
                          <a:ea typeface="Arial"/>
                          <a:cs typeface="Arial"/>
                        </a:rPr>
                        <a:t>P (€ per etui)</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Qᵥ (per week)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Qₐ (per week)</a:t>
                      </a:r>
                    </a:p>
                  </a:txBody>
                  <a:tcPr marL="91440" marR="91440" marT="45720" marB="45720" anchor="ctr">
                    <a:solidFill>
                      <a:srgbClr val="183247"/>
                    </a:solidFill>
                  </a:tcPr>
                </a:tc>
              </a:tr>
              <a:tr h="821531">
                <a:tc>
                  <a:txBody>
                    <a:bodyPr lIns="171450" tIns="95250" rIns="152400" bIns="95250"/>
                    <a:lstStyle/>
                    <a:p>
                      <a:r>
                        <a:rPr sz="2700" b="0">
                          <a:solidFill>
                            <a:srgbClr val="183247"/>
                          </a:solidFill>
                          <a:latin typeface="Arial"/>
                          <a:ea typeface="Arial"/>
                          <a:cs typeface="Arial"/>
                        </a:rPr>
                        <a:t>8</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40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24</a:t>
                      </a:r>
                    </a:p>
                  </a:txBody>
                  <a:tcPr marL="91440" marR="91440" marT="45720" marB="45720" anchor="ctr">
                    <a:solidFill>
                      <a:srgbClr val="FFFFFF"/>
                    </a:solidFill>
                  </a:tcPr>
                </a:tc>
              </a:tr>
              <a:tr h="821531">
                <a:tc>
                  <a:txBody>
                    <a:bodyPr lIns="171450" tIns="95250" rIns="152400" bIns="95250"/>
                    <a:lstStyle/>
                    <a:p>
                      <a:r>
                        <a:rPr sz="2700" b="0">
                          <a:solidFill>
                            <a:srgbClr val="183247"/>
                          </a:solidFill>
                          <a:latin typeface="Arial"/>
                          <a:ea typeface="Arial"/>
                          <a:cs typeface="Arial"/>
                        </a:rPr>
                        <a:t>10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32</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32</a:t>
                      </a:r>
                    </a:p>
                  </a:txBody>
                  <a:tcPr marL="91440" marR="91440" marT="45720" marB="45720" anchor="ctr">
                    <a:solidFill>
                      <a:srgbClr val="EFF4F7"/>
                    </a:solidFill>
                  </a:tcPr>
                </a:tc>
              </a:tr>
              <a:tr h="821531">
                <a:tc>
                  <a:txBody>
                    <a:bodyPr lIns="171450" tIns="95250" rIns="152400" bIns="95250"/>
                    <a:lstStyle/>
                    <a:p>
                      <a:r>
                        <a:rPr sz="2700" b="0">
                          <a:solidFill>
                            <a:srgbClr val="183247"/>
                          </a:solidFill>
                          <a:latin typeface="Arial"/>
                          <a:ea typeface="Arial"/>
                          <a:cs typeface="Arial"/>
                        </a:rPr>
                        <a:t>12</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40</a:t>
                      </a:r>
                    </a:p>
                  </a:txBody>
                  <a:tcPr marL="91440" marR="91440" marT="45720" marB="45720" anchor="ctr">
                    <a:solidFill>
                      <a:srgbClr val="FFFFFF"/>
                    </a:solidFill>
                  </a:tcPr>
                </a:tc>
              </a:tr>
            </a:tbl>
          </a:graphicData>
        </a:graphic>
      </p:graphicFrame>
      <p:sp>
        <p:nvSpPr>
          <p:cNvPr id="7" name="Evenwichtsprijs: € 10 per etui">
            <a:extLst xmlns:a="http://schemas.openxmlformats.org/drawingml/2006/main">
              <a:ext uri="{FF2B5EF4-FFF2-40B4-BE49-F238E27FC236}">
                <a16:creationId xmlns:a16="http://schemas.microsoft.com/office/drawing/2014/main" id="{6C6F13D6-12CB-487D-BEAA-3A4C82F82402}"/>
              </a:ext>
            </a:extLst>
          </p:cNvPr>
          <p:cNvSpPr>
            <a:spLocks xmlns:a="http://schemas.openxmlformats.org/drawingml/2006/main" noGrp="1"/>
          </p:cNvSpPr>
          <p:nvPr/>
        </p:nvSpPr>
        <p:spPr>
          <a:xfrm xmlns:a="http://schemas.openxmlformats.org/drawingml/2006/main">
            <a:off x="571500" y="65532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Evenwichtsprijs: € 10 per etui</a:t>
            </a:r>
          </a:p>
        </p:txBody>
      </p:sp>
      <p:sp>
        <p:nvSpPr>
          <p:cNvPr id="8" name="Evenwichtshoeveelheid: 32 etuis per week">
            <a:extLst xmlns:a="http://schemas.openxmlformats.org/drawingml/2006/main">
              <a:ext uri="{FF2B5EF4-FFF2-40B4-BE49-F238E27FC236}">
                <a16:creationId xmlns:a16="http://schemas.microsoft.com/office/drawing/2014/main" id="{994C1849-E50E-4FA9-A3A2-CC0256390E96}"/>
              </a:ext>
            </a:extLst>
          </p:cNvPr>
          <p:cNvSpPr>
            <a:spLocks xmlns:a="http://schemas.openxmlformats.org/drawingml/2006/main" noGrp="1"/>
          </p:cNvSpPr>
          <p:nvPr/>
        </p:nvSpPr>
        <p:spPr>
          <a:xfrm xmlns:a="http://schemas.openxmlformats.org/drawingml/2006/main">
            <a:off x="571500" y="73247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E8449"/>
                </a:solidFill>
                <a:latin typeface="Arial"/>
                <a:ea typeface="Arial"/>
                <a:cs typeface="Arial"/>
              </a:defRPr>
            </a:pPr>
            <a:r>
              <a:rPr sz="3075" b="1">
                <a:solidFill>
                  <a:srgbClr val="1E8449"/>
                </a:solidFill>
                <a:latin typeface="Arial"/>
                <a:ea typeface="Arial"/>
                <a:cs typeface="Arial"/>
              </a:rPr>
              <a:t>Evenwichtshoeveelheid: 32 etuis per week</a:t>
            </a:r>
          </a:p>
        </p:txBody>
      </p:sp>
    </p:spTree>
    <p:extLst>
      <p:ext uri="{BB962C8B-B14F-4D97-AF65-F5344CB8AC3E}">
        <p14:creationId xmlns:p14="http://schemas.microsoft.com/office/powerpoint/2010/main" val="12104411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e evenwichtsprijs berekenen">
            <a:extLst xmlns:a="http://schemas.openxmlformats.org/drawingml/2006/main">
              <a:ext uri="{FF2B5EF4-FFF2-40B4-BE49-F238E27FC236}">
                <a16:creationId xmlns:a16="http://schemas.microsoft.com/office/drawing/2014/main" id="{AB3548F3-DF8F-4F28-967E-569D61F345C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evenwichtsprijs berekenen</a:t>
            </a:r>
          </a:p>
        </p:txBody>
      </p:sp>
      <p:sp>
        <p:nvSpPr>
          <p:cNvPr id="2" name="">
            <a:extLst xmlns:a="http://schemas.openxmlformats.org/drawingml/2006/main">
              <a:ext uri="{FF2B5EF4-FFF2-40B4-BE49-F238E27FC236}">
                <a16:creationId xmlns:a16="http://schemas.microsoft.com/office/drawing/2014/main" id="{23F46DE1-8975-4E84-B655-6DB109BC367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A74A716C-2380-4212-A1D8-32918F48352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5">
            <a:extLst xmlns:a="http://schemas.openxmlformats.org/drawingml/2006/main">
              <a:ext uri="{FF2B5EF4-FFF2-40B4-BE49-F238E27FC236}">
                <a16:creationId xmlns:a16="http://schemas.microsoft.com/office/drawing/2014/main" id="{F0AB3056-D8DD-4D2D-940B-8DEF61AD97D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In evenwicht: Qᵥ = Qₐ">
            <a:extLst xmlns:a="http://schemas.openxmlformats.org/drawingml/2006/main">
              <a:ext uri="{FF2B5EF4-FFF2-40B4-BE49-F238E27FC236}">
                <a16:creationId xmlns:a16="http://schemas.microsoft.com/office/drawing/2014/main" id="{2D37D4DF-9A3D-4922-AF6E-E9F783C47BD0}"/>
              </a:ext>
            </a:extLst>
          </p:cNvPr>
          <p:cNvSpPr>
            <a:spLocks xmlns:a="http://schemas.openxmlformats.org/drawingml/2006/main" noGrp="1"/>
          </p:cNvSpPr>
          <p:nvPr/>
        </p:nvSpPr>
        <p:spPr>
          <a:xfrm xmlns:a="http://schemas.openxmlformats.org/drawingml/2006/main">
            <a:off x="571500" y="17907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In evenwicht: Qᵥ = Qₐ</a:t>
            </a:r>
          </a:p>
        </p:txBody>
      </p:sp>
      <p:sp>
        <p:nvSpPr>
          <p:cNvPr id="6" name="72 − 4P = 4P − 8">
            <a:extLst xmlns:a="http://schemas.openxmlformats.org/drawingml/2006/main">
              <a:ext uri="{FF2B5EF4-FFF2-40B4-BE49-F238E27FC236}">
                <a16:creationId xmlns:a16="http://schemas.microsoft.com/office/drawing/2014/main" id="{B16685C0-F06A-4727-8875-1DB47BF0023B}"/>
              </a:ext>
            </a:extLst>
          </p:cNvPr>
          <p:cNvSpPr>
            <a:spLocks xmlns:a="http://schemas.openxmlformats.org/drawingml/2006/main" noGrp="1"/>
          </p:cNvSpPr>
          <p:nvPr/>
        </p:nvSpPr>
        <p:spPr>
          <a:xfrm xmlns:a="http://schemas.openxmlformats.org/drawingml/2006/main">
            <a:off x="571500" y="281940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72 − 4P = 4P − 8</a:t>
            </a:r>
          </a:p>
        </p:txBody>
      </p:sp>
      <p:sp>
        <p:nvSpPr>
          <p:cNvPr id="7" name="">
            <a:extLst xmlns:a="http://schemas.openxmlformats.org/drawingml/2006/main">
              <a:ext uri="{FF2B5EF4-FFF2-40B4-BE49-F238E27FC236}">
                <a16:creationId xmlns:a16="http://schemas.microsoft.com/office/drawing/2014/main" id="{0AA99875-A18B-480D-842F-F6A2BA4E4AC2}"/>
              </a:ext>
            </a:extLst>
          </p:cNvPr>
          <p:cNvSpPr>
            <a:spLocks xmlns:a="http://schemas.openxmlformats.org/drawingml/2006/main" noGrp="1"/>
          </p:cNvSpPr>
          <p:nvPr/>
        </p:nvSpPr>
        <p:spPr>
          <a:xfrm xmlns:a="http://schemas.openxmlformats.org/drawingml/2006/main">
            <a:off x="7858125" y="28765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72 = 8P − 8">
            <a:extLst xmlns:a="http://schemas.openxmlformats.org/drawingml/2006/main">
              <a:ext uri="{FF2B5EF4-FFF2-40B4-BE49-F238E27FC236}">
                <a16:creationId xmlns:a16="http://schemas.microsoft.com/office/drawing/2014/main" id="{54D98E01-55C0-4D25-BA40-462450EE5851}"/>
              </a:ext>
            </a:extLst>
          </p:cNvPr>
          <p:cNvSpPr>
            <a:spLocks xmlns:a="http://schemas.openxmlformats.org/drawingml/2006/main" noGrp="1"/>
          </p:cNvSpPr>
          <p:nvPr/>
        </p:nvSpPr>
        <p:spPr>
          <a:xfrm xmlns:a="http://schemas.openxmlformats.org/drawingml/2006/main">
            <a:off x="571500" y="390525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72 = 8P − 8</a:t>
            </a:r>
          </a:p>
        </p:txBody>
      </p:sp>
      <p:sp>
        <p:nvSpPr>
          <p:cNvPr id="9" name="+4P aan beide kanten">
            <a:extLst xmlns:a="http://schemas.openxmlformats.org/drawingml/2006/main">
              <a:ext uri="{FF2B5EF4-FFF2-40B4-BE49-F238E27FC236}">
                <a16:creationId xmlns:a16="http://schemas.microsoft.com/office/drawing/2014/main" id="{4E91F61C-EEBC-412B-91D1-03F49A29ADB5}"/>
              </a:ext>
            </a:extLst>
          </p:cNvPr>
          <p:cNvSpPr>
            <a:spLocks xmlns:a="http://schemas.openxmlformats.org/drawingml/2006/main" noGrp="1"/>
          </p:cNvSpPr>
          <p:nvPr/>
        </p:nvSpPr>
        <p:spPr>
          <a:xfrm xmlns:a="http://schemas.openxmlformats.org/drawingml/2006/main">
            <a:off x="7858125" y="39624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+4P aan beide kanten</a:t>
            </a:r>
          </a:p>
        </p:txBody>
      </p:sp>
      <p:sp>
        <p:nvSpPr>
          <p:cNvPr id="10" name="80 = 8P">
            <a:extLst xmlns:a="http://schemas.openxmlformats.org/drawingml/2006/main">
              <a:ext uri="{FF2B5EF4-FFF2-40B4-BE49-F238E27FC236}">
                <a16:creationId xmlns:a16="http://schemas.microsoft.com/office/drawing/2014/main" id="{1FCC9156-DE44-4448-93EE-278413864352}"/>
              </a:ext>
            </a:extLst>
          </p:cNvPr>
          <p:cNvSpPr>
            <a:spLocks xmlns:a="http://schemas.openxmlformats.org/drawingml/2006/main" noGrp="1"/>
          </p:cNvSpPr>
          <p:nvPr/>
        </p:nvSpPr>
        <p:spPr>
          <a:xfrm xmlns:a="http://schemas.openxmlformats.org/drawingml/2006/main">
            <a:off x="571500" y="499110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80 = 8P</a:t>
            </a:r>
          </a:p>
        </p:txBody>
      </p:sp>
      <p:sp>
        <p:nvSpPr>
          <p:cNvPr id="11" name="+8 aan beide kanten">
            <a:extLst xmlns:a="http://schemas.openxmlformats.org/drawingml/2006/main">
              <a:ext uri="{FF2B5EF4-FFF2-40B4-BE49-F238E27FC236}">
                <a16:creationId xmlns:a16="http://schemas.microsoft.com/office/drawing/2014/main" id="{904F02AC-66A1-48D6-8810-3C5E9DDCD4CE}"/>
              </a:ext>
            </a:extLst>
          </p:cNvPr>
          <p:cNvSpPr>
            <a:spLocks xmlns:a="http://schemas.openxmlformats.org/drawingml/2006/main" noGrp="1"/>
          </p:cNvSpPr>
          <p:nvPr/>
        </p:nvSpPr>
        <p:spPr>
          <a:xfrm xmlns:a="http://schemas.openxmlformats.org/drawingml/2006/main">
            <a:off x="7858125" y="50482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+8 aan beide kanten</a:t>
            </a:r>
          </a:p>
        </p:txBody>
      </p:sp>
      <p:sp>
        <p:nvSpPr>
          <p:cNvPr id="12" name="P = 10">
            <a:extLst xmlns:a="http://schemas.openxmlformats.org/drawingml/2006/main">
              <a:ext uri="{FF2B5EF4-FFF2-40B4-BE49-F238E27FC236}">
                <a16:creationId xmlns:a16="http://schemas.microsoft.com/office/drawing/2014/main" id="{C88AEC9C-7063-4137-8886-B5BF9311A2DE}"/>
              </a:ext>
            </a:extLst>
          </p:cNvPr>
          <p:cNvSpPr>
            <a:spLocks xmlns:a="http://schemas.openxmlformats.org/drawingml/2006/main" noGrp="1"/>
          </p:cNvSpPr>
          <p:nvPr/>
        </p:nvSpPr>
        <p:spPr>
          <a:xfrm xmlns:a="http://schemas.openxmlformats.org/drawingml/2006/main">
            <a:off x="571500" y="607695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P = 10</a:t>
            </a:r>
          </a:p>
        </p:txBody>
      </p:sp>
      <p:sp>
        <p:nvSpPr>
          <p:cNvPr id="13" name="beide kanten delen door 8">
            <a:extLst xmlns:a="http://schemas.openxmlformats.org/drawingml/2006/main">
              <a:ext uri="{FF2B5EF4-FFF2-40B4-BE49-F238E27FC236}">
                <a16:creationId xmlns:a16="http://schemas.microsoft.com/office/drawing/2014/main" id="{E0D8BF80-269A-4951-8FF9-EC8EE830AE1A}"/>
              </a:ext>
            </a:extLst>
          </p:cNvPr>
          <p:cNvSpPr>
            <a:spLocks xmlns:a="http://schemas.openxmlformats.org/drawingml/2006/main" noGrp="1"/>
          </p:cNvSpPr>
          <p:nvPr/>
        </p:nvSpPr>
        <p:spPr>
          <a:xfrm xmlns:a="http://schemas.openxmlformats.org/drawingml/2006/main">
            <a:off x="7858125" y="61341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beide kanten delen door 8</a:t>
            </a:r>
          </a:p>
        </p:txBody>
      </p:sp>
      <p:sp>
        <p:nvSpPr>
          <p:cNvPr id="14" name="De prijs van € 10 valt binnen beide domeinen.">
            <a:extLst xmlns:a="http://schemas.openxmlformats.org/drawingml/2006/main">
              <a:ext uri="{FF2B5EF4-FFF2-40B4-BE49-F238E27FC236}">
                <a16:creationId xmlns:a16="http://schemas.microsoft.com/office/drawing/2014/main" id="{9374576D-8322-43BE-A758-758407D28E04}"/>
              </a:ext>
            </a:extLst>
          </p:cNvPr>
          <p:cNvSpPr>
            <a:spLocks xmlns:a="http://schemas.openxmlformats.org/drawingml/2006/main" noGrp="1"/>
          </p:cNvSpPr>
          <p:nvPr/>
        </p:nvSpPr>
        <p:spPr>
          <a:xfrm xmlns:a="http://schemas.openxmlformats.org/drawingml/2006/main">
            <a:off x="571500" y="743902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De prijs van € 10 valt binnen beide domeinen.</a:t>
            </a:r>
          </a:p>
        </p:txBody>
      </p:sp>
    </p:spTree>
    <p:extLst>
      <p:ext uri="{BB962C8B-B14F-4D97-AF65-F5344CB8AC3E}">
        <p14:creationId xmlns:p14="http://schemas.microsoft.com/office/powerpoint/2010/main" val="2910126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 hoeveelheid berekenen en controleren">
            <a:extLst xmlns:a="http://schemas.openxmlformats.org/drawingml/2006/main">
              <a:ext uri="{FF2B5EF4-FFF2-40B4-BE49-F238E27FC236}">
                <a16:creationId xmlns:a16="http://schemas.microsoft.com/office/drawing/2014/main" id="{BAFB48F1-5A43-466E-9DF0-259C6870345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hoeveelheid berekenen en controleren</a:t>
            </a:r>
          </a:p>
        </p:txBody>
      </p:sp>
      <p:sp>
        <p:nvSpPr>
          <p:cNvPr id="2" name="">
            <a:extLst xmlns:a="http://schemas.openxmlformats.org/drawingml/2006/main">
              <a:ext uri="{FF2B5EF4-FFF2-40B4-BE49-F238E27FC236}">
                <a16:creationId xmlns:a16="http://schemas.microsoft.com/office/drawing/2014/main" id="{C906F66F-D61E-4EF0-AE1A-2B29EAC5474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469BC020-39FD-406E-97AF-102848B648D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6">
            <a:extLst xmlns:a="http://schemas.openxmlformats.org/drawingml/2006/main">
              <a:ext uri="{FF2B5EF4-FFF2-40B4-BE49-F238E27FC236}">
                <a16:creationId xmlns:a16="http://schemas.microsoft.com/office/drawing/2014/main" id="{FFB16D5B-2F93-4180-9DF9-5353333B937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 = € 10 per etui">
            <a:extLst xmlns:a="http://schemas.openxmlformats.org/drawingml/2006/main">
              <a:ext uri="{FF2B5EF4-FFF2-40B4-BE49-F238E27FC236}">
                <a16:creationId xmlns:a16="http://schemas.microsoft.com/office/drawing/2014/main" id="{8E2D9675-EF94-4B77-A5CB-B56996E4DEFE}"/>
              </a:ext>
            </a:extLst>
          </p:cNvPr>
          <p:cNvSpPr>
            <a:spLocks xmlns:a="http://schemas.openxmlformats.org/drawingml/2006/main" noGrp="1"/>
          </p:cNvSpPr>
          <p:nvPr/>
        </p:nvSpPr>
        <p:spPr>
          <a:xfrm xmlns:a="http://schemas.openxmlformats.org/drawingml/2006/main">
            <a:off x="571500" y="18192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P = € 10 per etui</a:t>
            </a:r>
          </a:p>
        </p:txBody>
      </p:sp>
      <p:sp>
        <p:nvSpPr>
          <p:cNvPr id="6" name="Vraag">
            <a:extLst xmlns:a="http://schemas.openxmlformats.org/drawingml/2006/main">
              <a:ext uri="{FF2B5EF4-FFF2-40B4-BE49-F238E27FC236}">
                <a16:creationId xmlns:a16="http://schemas.microsoft.com/office/drawing/2014/main" id="{C4530A36-FB3D-4F58-801B-CB568F9EA828}"/>
              </a:ext>
            </a:extLst>
          </p:cNvPr>
          <p:cNvSpPr>
            <a:spLocks xmlns:a="http://schemas.openxmlformats.org/drawingml/2006/main" noGrp="1"/>
          </p:cNvSpPr>
          <p:nvPr/>
        </p:nvSpPr>
        <p:spPr>
          <a:xfrm xmlns:a="http://schemas.openxmlformats.org/drawingml/2006/main">
            <a:off x="571500" y="29337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Vraag</a:t>
            </a:r>
          </a:p>
        </p:txBody>
      </p:sp>
      <p:sp>
        <p:nvSpPr>
          <p:cNvPr id="7" name="Qᵥ = 72 − 4 × 10 = 32">
            <a:extLst xmlns:a="http://schemas.openxmlformats.org/drawingml/2006/main">
              <a:ext uri="{FF2B5EF4-FFF2-40B4-BE49-F238E27FC236}">
                <a16:creationId xmlns:a16="http://schemas.microsoft.com/office/drawing/2014/main" id="{BCDC766A-8323-415F-ABA6-DB0E39C51687}"/>
              </a:ext>
            </a:extLst>
          </p:cNvPr>
          <p:cNvSpPr>
            <a:spLocks xmlns:a="http://schemas.openxmlformats.org/drawingml/2006/main" noGrp="1"/>
          </p:cNvSpPr>
          <p:nvPr/>
        </p:nvSpPr>
        <p:spPr>
          <a:xfrm xmlns:a="http://schemas.openxmlformats.org/drawingml/2006/main">
            <a:off x="4429125" y="29146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Qᵥ = 72 − 4 × 10 = 32</a:t>
            </a:r>
          </a:p>
        </p:txBody>
      </p:sp>
      <p:sp>
        <p:nvSpPr>
          <p:cNvPr id="8" name="Controle: aanbod">
            <a:extLst xmlns:a="http://schemas.openxmlformats.org/drawingml/2006/main">
              <a:ext uri="{FF2B5EF4-FFF2-40B4-BE49-F238E27FC236}">
                <a16:creationId xmlns:a16="http://schemas.microsoft.com/office/drawing/2014/main" id="{5CE85B93-577A-4071-A656-A2967B9C30C2}"/>
              </a:ext>
            </a:extLst>
          </p:cNvPr>
          <p:cNvSpPr>
            <a:spLocks xmlns:a="http://schemas.openxmlformats.org/drawingml/2006/main" noGrp="1"/>
          </p:cNvSpPr>
          <p:nvPr/>
        </p:nvSpPr>
        <p:spPr>
          <a:xfrm xmlns:a="http://schemas.openxmlformats.org/drawingml/2006/main">
            <a:off x="571500" y="4229100"/>
            <a:ext cx="3619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8449"/>
                </a:solidFill>
                <a:latin typeface="Arial"/>
                <a:ea typeface="Arial"/>
                <a:cs typeface="Arial"/>
              </a:defRPr>
            </a:pPr>
            <a:r>
              <a:rPr sz="2700" b="1">
                <a:solidFill>
                  <a:srgbClr val="1E8449"/>
                </a:solidFill>
                <a:latin typeface="Arial"/>
                <a:ea typeface="Arial"/>
                <a:cs typeface="Arial"/>
              </a:rPr>
              <a:t>Controle: aanbod</a:t>
            </a:r>
          </a:p>
        </p:txBody>
      </p:sp>
      <p:sp>
        <p:nvSpPr>
          <p:cNvPr id="9" name="Qₐ = 4 × 10 − 8 = 32">
            <a:extLst xmlns:a="http://schemas.openxmlformats.org/drawingml/2006/main">
              <a:ext uri="{FF2B5EF4-FFF2-40B4-BE49-F238E27FC236}">
                <a16:creationId xmlns:a16="http://schemas.microsoft.com/office/drawing/2014/main" id="{143AA6F9-1943-47CC-B42B-D9A9EC9C324C}"/>
              </a:ext>
            </a:extLst>
          </p:cNvPr>
          <p:cNvSpPr>
            <a:spLocks xmlns:a="http://schemas.openxmlformats.org/drawingml/2006/main" noGrp="1"/>
          </p:cNvSpPr>
          <p:nvPr/>
        </p:nvSpPr>
        <p:spPr>
          <a:xfrm xmlns:a="http://schemas.openxmlformats.org/drawingml/2006/main">
            <a:off x="4429125" y="421957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Qₐ = 4 × 10 − 8 = 32</a:t>
            </a:r>
          </a:p>
        </p:txBody>
      </p:sp>
      <p:sp>
        <p:nvSpPr>
          <p:cNvPr id="10" name="">
            <a:extLst xmlns:a="http://schemas.openxmlformats.org/drawingml/2006/main">
              <a:ext uri="{FF2B5EF4-FFF2-40B4-BE49-F238E27FC236}">
                <a16:creationId xmlns:a16="http://schemas.microsoft.com/office/drawing/2014/main" id="{3AE11BED-2D82-455D-83AD-6BB8754E993C}"/>
              </a:ext>
            </a:extLst>
          </p:cNvPr>
          <p:cNvSpPr>
            <a:spLocks xmlns:a="http://schemas.openxmlformats.org/drawingml/2006/main" noGrp="1"/>
          </p:cNvSpPr>
          <p:nvPr/>
        </p:nvSpPr>
        <p:spPr>
          <a:xfrm xmlns:a="http://schemas.openxmlformats.org/drawingml/2006/main">
            <a:off x="571500" y="5676900"/>
            <a:ext cx="14097000" cy="0"/>
          </a:xfrm>
          <a:prstGeom xmlns:a="http://schemas.openxmlformats.org/drawingml/2006/main" prst="line">
            <a:avLst/>
          </a:prstGeom>
          <a:ln xmlns:a="http://schemas.openxmlformats.org/drawingml/2006/main" w="19050">
            <a:solidFill>
              <a:srgbClr val="C6D2DB"/>
            </a:solidFill>
          </a:ln>
        </p:spPr>
      </p:sp>
      <p:sp>
        <p:nvSpPr>
          <p:cNvPr id="11" name="Bij € 10 per etui sluiten beide plannen voor&#10;32 et">
            <a:extLst xmlns:a="http://schemas.openxmlformats.org/drawingml/2006/main">
              <a:ext uri="{FF2B5EF4-FFF2-40B4-BE49-F238E27FC236}">
                <a16:creationId xmlns:a16="http://schemas.microsoft.com/office/drawing/2014/main" id="{7269598B-5936-458F-87E2-9555CE7B1E9E}"/>
              </a:ext>
            </a:extLst>
          </p:cNvPr>
          <p:cNvSpPr>
            <a:spLocks xmlns:a="http://schemas.openxmlformats.org/drawingml/2006/main" noGrp="1"/>
          </p:cNvSpPr>
          <p:nvPr/>
        </p:nvSpPr>
        <p:spPr>
          <a:xfrm xmlns:a="http://schemas.openxmlformats.org/drawingml/2006/main">
            <a:off x="571500" y="6219825"/>
            <a:ext cx="14097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Bij € 10 per etui sluiten beide plannen voor</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32 etuis per week op elkaar aan.</a:t>
            </a:r>
          </a:p>
        </p:txBody>
      </p:sp>
    </p:spTree>
    <p:extLst>
      <p:ext uri="{BB962C8B-B14F-4D97-AF65-F5344CB8AC3E}">
        <p14:creationId xmlns:p14="http://schemas.microsoft.com/office/powerpoint/2010/main" val="3891083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wee punten per rechte lijn">
            <a:extLst xmlns:a="http://schemas.openxmlformats.org/drawingml/2006/main">
              <a:ext uri="{FF2B5EF4-FFF2-40B4-BE49-F238E27FC236}">
                <a16:creationId xmlns:a16="http://schemas.microsoft.com/office/drawing/2014/main" id="{E8CD6478-A416-4790-A951-8E47870556F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Twee punten per rechte lijn</a:t>
            </a:r>
          </a:p>
        </p:txBody>
      </p:sp>
      <p:sp>
        <p:nvSpPr>
          <p:cNvPr id="2" name="">
            <a:extLst xmlns:a="http://schemas.openxmlformats.org/drawingml/2006/main">
              <a:ext uri="{FF2B5EF4-FFF2-40B4-BE49-F238E27FC236}">
                <a16:creationId xmlns:a16="http://schemas.microsoft.com/office/drawing/2014/main" id="{CE693ED1-F048-457A-A198-3D4B984A25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8F904491-878B-46D5-91F4-D31E1E6376F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7">
            <a:extLst xmlns:a="http://schemas.openxmlformats.org/drawingml/2006/main">
              <a:ext uri="{FF2B5EF4-FFF2-40B4-BE49-F238E27FC236}">
                <a16:creationId xmlns:a16="http://schemas.microsoft.com/office/drawing/2014/main" id="{C20C4E45-558B-4BD0-8AC1-F8012883D10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Coördinaten: (Q; P). Hoeveelheid eerst.">
            <a:extLst xmlns:a="http://schemas.openxmlformats.org/drawingml/2006/main">
              <a:ext uri="{FF2B5EF4-FFF2-40B4-BE49-F238E27FC236}">
                <a16:creationId xmlns:a16="http://schemas.microsoft.com/office/drawing/2014/main" id="{0BA4070C-346D-4689-AA86-7FB41C0E5C8C}"/>
              </a:ext>
            </a:extLst>
          </p:cNvPr>
          <p:cNvSpPr>
            <a:spLocks xmlns:a="http://schemas.openxmlformats.org/drawingml/2006/main" noGrp="1"/>
          </p:cNvSpPr>
          <p:nvPr/>
        </p:nvSpPr>
        <p:spPr>
          <a:xfrm xmlns:a="http://schemas.openxmlformats.org/drawingml/2006/main">
            <a:off x="571500" y="17907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Coördinaten: (Q; P). Hoeveelheid eerst.</a:t>
            </a:r>
          </a:p>
        </p:txBody>
      </p:sp>
      <p:graphicFrame>
        <p:nvGraphicFramePr>
          <p:cNvPr id="13" name=""/>
          <p:cNvGraphicFramePr/>
          <p:nvPr/>
        </p:nvGraphicFramePr>
        <p:xfrm>
          <a:off xmlns:a="http://schemas.openxmlformats.org/drawingml/2006/main" x="571500" y="2762250"/>
          <a:ext xmlns:a="http://schemas.openxmlformats.org/drawingml/2006/main" cx="14097000" cy="3429000"/>
        </p:xfrm>
        <a:graphic xmlns:a="http://schemas.openxmlformats.org/drawingml/2006/main">
          <a:graphicData uri="http://schemas.openxmlformats.org/drawingml/2006/table">
            <a:tbl>
              <a:tblPr/>
              <a:tblGrid>
                <a:gridCol w="1428750"/>
                <a:gridCol w="9239250"/>
                <a:gridCol w="3429000"/>
              </a:tblGrid>
              <a:tr h="1143000">
                <a:tc>
                  <a:txBody>
                    <a:bodyPr lIns="171450" tIns="95250" rIns="152400" bIns="95250"/>
                    <a:lstStyle/>
                    <a:p>
                      <a:r>
                        <a:rPr sz="2400" b="1">
                          <a:solidFill>
                            <a:srgbClr val="FFFFFF"/>
                          </a:solidFill>
                          <a:latin typeface="Arial"/>
                          <a:ea typeface="Arial"/>
                          <a:cs typeface="Arial"/>
                        </a:rPr>
                        <a:t>Lijn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Punt (Q; P)</a:t>
                      </a:r>
                    </a:p>
                  </a:txBody>
                  <a:tcPr marL="91440" marR="91440" marT="45720" marB="45720" anchor="ctr">
                    <a:solidFill>
                      <a:srgbClr val="183247"/>
                    </a:solidFill>
                  </a:tcPr>
                </a:tc>
              </a:tr>
              <a:tr h="1143000">
                <a:tc>
                  <a:txBody>
                    <a:bodyPr lIns="171450" tIns="95250" rIns="152400" bIns="95250"/>
                    <a:lstStyle/>
                    <a:p>
                      <a:r>
                        <a:rPr sz="2400" b="0">
                          <a:solidFill>
                            <a:srgbClr val="183247"/>
                          </a:solidFill>
                          <a:latin typeface="Arial"/>
                          <a:ea typeface="Arial"/>
                          <a:cs typeface="Arial"/>
                        </a:rPr>
                        <a:t>V</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 = 0: Qᵥ = 72</a:t>
                      </a:r>
                    </a:p>
                    <a:p>
                      <a:r>
                        <a:rPr sz="2400" b="0">
                          <a:solidFill>
                            <a:srgbClr val="183247"/>
                          </a:solidFill>
                          <a:latin typeface="Arial"/>
                          <a:ea typeface="Arial"/>
                          <a:cs typeface="Arial"/>
                        </a:rPr>
                        <a:t>Qᵥ = 0: 72 − 4P = 0, dus P = 18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(72; 0)</a:t>
                      </a:r>
                    </a:p>
                    <a:p>
                      <a:r>
                        <a:rPr sz="2400" b="0">
                          <a:solidFill>
                            <a:srgbClr val="183247"/>
                          </a:solidFill>
                          <a:latin typeface="Arial"/>
                          <a:ea typeface="Arial"/>
                          <a:cs typeface="Arial"/>
                        </a:rPr>
                        <a:t>(0; 18)</a:t>
                      </a:r>
                    </a:p>
                  </a:txBody>
                  <a:tcPr marL="91440" marR="91440" marT="45720" marB="45720" anchor="ctr">
                    <a:solidFill>
                      <a:srgbClr val="FFFFFF"/>
                    </a:solidFill>
                  </a:tcPr>
                </a:tc>
              </a:tr>
              <a:tr h="1143000">
                <a:tc>
                  <a:txBody>
                    <a:bodyPr lIns="171450" tIns="95250" rIns="152400" bIns="95250"/>
                    <a:lstStyle/>
                    <a:p>
                      <a:r>
                        <a:rPr sz="2400" b="0">
                          <a:solidFill>
                            <a:srgbClr val="183247"/>
                          </a:solidFill>
                          <a:latin typeface="Arial"/>
                          <a:ea typeface="Arial"/>
                          <a:cs typeface="Arial"/>
                        </a:rPr>
                        <a:t>A</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Qₐ = 0: 4P − 8 = 0, dus P = 2</a:t>
                      </a:r>
                    </a:p>
                    <a:p>
                      <a:r>
                        <a:rPr sz="2400" b="0">
                          <a:solidFill>
                            <a:srgbClr val="183247"/>
                          </a:solidFill>
                          <a:latin typeface="Arial"/>
                          <a:ea typeface="Arial"/>
                          <a:cs typeface="Arial"/>
                        </a:rPr>
                        <a:t>P = 18: Qₐ = 4 × 18 − 8 = 64</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2)</a:t>
                      </a:r>
                    </a:p>
                    <a:p>
                      <a:r>
                        <a:rPr sz="2400" b="0">
                          <a:solidFill>
                            <a:srgbClr val="183247"/>
                          </a:solidFill>
                          <a:latin typeface="Arial"/>
                          <a:ea typeface="Arial"/>
                          <a:cs typeface="Arial"/>
                        </a:rPr>
                        <a:t>(64; 18)</a:t>
                      </a:r>
                    </a:p>
                  </a:txBody>
                  <a:tcPr marL="91440" marR="91440" marT="45720" marB="45720" anchor="ctr">
                    <a:solidFill>
                      <a:srgbClr val="EFF4F7"/>
                    </a:solidFill>
                  </a:tcPr>
                </a:tc>
              </a:tr>
            </a:tbl>
          </a:graphicData>
        </a:graphic>
      </p:graphicFrame>
      <p:sp>
        <p:nvSpPr>
          <p:cNvPr id="7" name="Q-as: 0–80, stappen van 8. P-as: 0–18, stappen van">
            <a:extLst xmlns:a="http://schemas.openxmlformats.org/drawingml/2006/main">
              <a:ext uri="{FF2B5EF4-FFF2-40B4-BE49-F238E27FC236}">
                <a16:creationId xmlns:a16="http://schemas.microsoft.com/office/drawing/2014/main" id="{7F58A256-70F1-43E3-9F5B-5BBAF65B9A61}"/>
              </a:ext>
            </a:extLst>
          </p:cNvPr>
          <p:cNvSpPr>
            <a:spLocks xmlns:a="http://schemas.openxmlformats.org/drawingml/2006/main" noGrp="1"/>
          </p:cNvSpPr>
          <p:nvPr/>
        </p:nvSpPr>
        <p:spPr>
          <a:xfrm xmlns:a="http://schemas.openxmlformats.org/drawingml/2006/main">
            <a:off x="571500" y="6772275"/>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Q-as: 0–80, stappen van 8. P-as: 0–18, stappen van 2.</a:t>
            </a:r>
          </a:p>
        </p:txBody>
      </p:sp>
    </p:spTree>
    <p:extLst>
      <p:ext uri="{BB962C8B-B14F-4D97-AF65-F5344CB8AC3E}">
        <p14:creationId xmlns:p14="http://schemas.microsoft.com/office/powerpoint/2010/main" val="17471899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vraaglijn tekenen">
            <a:extLst xmlns:a="http://schemas.openxmlformats.org/drawingml/2006/main">
              <a:ext uri="{FF2B5EF4-FFF2-40B4-BE49-F238E27FC236}">
                <a16:creationId xmlns:a16="http://schemas.microsoft.com/office/drawing/2014/main" id="{8074BF6C-B696-4336-98E9-57D9AA7FDA0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vraaglijn tekenen</a:t>
            </a:r>
          </a:p>
        </p:txBody>
      </p:sp>
      <p:sp>
        <p:nvSpPr>
          <p:cNvPr id="2" name="">
            <a:extLst xmlns:a="http://schemas.openxmlformats.org/drawingml/2006/main">
              <a:ext uri="{FF2B5EF4-FFF2-40B4-BE49-F238E27FC236}">
                <a16:creationId xmlns:a16="http://schemas.microsoft.com/office/drawing/2014/main" id="{FA29CF44-62BA-4B0B-BDCA-9D5404CA286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E64FCB73-29C2-4124-8DBB-E89DA8CF7A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8">
            <a:extLst xmlns:a="http://schemas.openxmlformats.org/drawingml/2006/main">
              <a:ext uri="{FF2B5EF4-FFF2-40B4-BE49-F238E27FC236}">
                <a16:creationId xmlns:a16="http://schemas.microsoft.com/office/drawing/2014/main" id="{813EDC58-DFD6-4513-A5F2-DE26CC2742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Pennenetuis: dezelfde functies en dezelfde schalen">
            <a:extLst xmlns:a="http://schemas.openxmlformats.org/drawingml/2006/main">
              <a:ext uri="{FF2B5EF4-FFF2-40B4-BE49-F238E27FC236}">
                <a16:creationId xmlns:a16="http://schemas.microsoft.com/office/drawing/2014/main" id="{58F7879B-982D-478D-AC90-D9A17AD34B20}"/>
              </a:ext>
            </a:extLst>
          </p:cNvPr>
          <p:cNvSpPr>
            <a:spLocks xmlns:a="http://schemas.openxmlformats.org/drawingml/2006/main" noGrp="1"/>
          </p:cNvSpPr>
          <p:nvPr/>
        </p:nvSpPr>
        <p:spPr>
          <a:xfrm xmlns:a="http://schemas.openxmlformats.org/drawingml/2006/main">
            <a:off x="571500" y="17716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Pennenetuis: dezelfde functies en dezelfde schalen</a:t>
            </a:r>
          </a:p>
        </p:txBody>
      </p:sp>
      <p:graphicFrame>
        <p:nvGraphicFramePr>
          <p:cNvPr id="14" name="Chart"/>
          <p:cNvGraphicFramePr/>
          <p:nvPr/>
        </p:nvGraphicFramePr>
        <p:xfrm>
          <a:off xmlns:a="http://schemas.openxmlformats.org/drawingml/2006/main" x="571500" y="2295525"/>
          <a:ext xmlns:a="http://schemas.openxmlformats.org/drawingml/2006/main" cx="10096500" cy="5286375"/>
        </p:xfrm>
        <a:graphic xmlns:a="http://schemas.openxmlformats.org/drawingml/2006/main">
          <a:graphicData uri="http://schemas.openxmlformats.org/drawingml/2006/chart">
            <c:chart xmlns:r="http://schemas.openxmlformats.org/officeDocument/2006/relationships" xmlns:c="http://schemas.openxmlformats.org/drawingml/2006/chart" r:id="Rd194074679e04015"/>
          </a:graphicData>
        </a:graphic>
      </p:graphicFrame>
      <p:sp>
        <p:nvSpPr>
          <p:cNvPr id="7" name="V door&#10;(0; 18) en&#10;(72; 0)">
            <a:extLst xmlns:a="http://schemas.openxmlformats.org/drawingml/2006/main">
              <a:ext uri="{FF2B5EF4-FFF2-40B4-BE49-F238E27FC236}">
                <a16:creationId xmlns:a16="http://schemas.microsoft.com/office/drawing/2014/main" id="{189B4089-3DDE-4C4F-ADF4-303B57DDA097}"/>
              </a:ext>
            </a:extLst>
          </p:cNvPr>
          <p:cNvSpPr>
            <a:spLocks xmlns:a="http://schemas.openxmlformats.org/drawingml/2006/main" noGrp="1"/>
          </p:cNvSpPr>
          <p:nvPr/>
        </p:nvSpPr>
        <p:spPr>
          <a:xfrm xmlns:a="http://schemas.openxmlformats.org/drawingml/2006/main">
            <a:off x="11144250" y="2914650"/>
            <a:ext cx="3476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V door</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(0; 18) en</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(72; 0)</a:t>
            </a:r>
          </a:p>
        </p:txBody>
      </p:sp>
      <p:sp>
        <p:nvSpPr>
          <p:cNvPr id="8" name="De lijn daalt:&#10;bij een hogere P&#10;is Qᵥ kleiner.">
            <a:extLst xmlns:a="http://schemas.openxmlformats.org/drawingml/2006/main">
              <a:ext uri="{FF2B5EF4-FFF2-40B4-BE49-F238E27FC236}">
                <a16:creationId xmlns:a16="http://schemas.microsoft.com/office/drawing/2014/main" id="{D5812EA2-A41F-4DB2-9937-67077B7204AF}"/>
              </a:ext>
            </a:extLst>
          </p:cNvPr>
          <p:cNvSpPr>
            <a:spLocks xmlns:a="http://schemas.openxmlformats.org/drawingml/2006/main" noGrp="1"/>
          </p:cNvSpPr>
          <p:nvPr/>
        </p:nvSpPr>
        <p:spPr>
          <a:xfrm xmlns:a="http://schemas.openxmlformats.org/drawingml/2006/main">
            <a:off x="11144250" y="5953125"/>
            <a:ext cx="3476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lijn daalt:</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bij een hogere P</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is Qᵥ kleiner.</a:t>
            </a:r>
          </a:p>
        </p:txBody>
      </p:sp>
    </p:spTree>
    <p:extLst>
      <p:ext uri="{BB962C8B-B14F-4D97-AF65-F5344CB8AC3E}">
        <p14:creationId xmlns:p14="http://schemas.microsoft.com/office/powerpoint/2010/main" val="10743182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aanbodlijn toevoegen">
            <a:extLst xmlns:a="http://schemas.openxmlformats.org/drawingml/2006/main">
              <a:ext uri="{FF2B5EF4-FFF2-40B4-BE49-F238E27FC236}">
                <a16:creationId xmlns:a16="http://schemas.microsoft.com/office/drawing/2014/main" id="{931EE1AE-C04E-40EC-B197-F4160D3AFED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aanbodlijn toevoegen</a:t>
            </a:r>
          </a:p>
        </p:txBody>
      </p:sp>
      <p:sp>
        <p:nvSpPr>
          <p:cNvPr id="2" name="">
            <a:extLst xmlns:a="http://schemas.openxmlformats.org/drawingml/2006/main">
              <a:ext uri="{FF2B5EF4-FFF2-40B4-BE49-F238E27FC236}">
                <a16:creationId xmlns:a16="http://schemas.microsoft.com/office/drawing/2014/main" id="{57D54DF1-485C-4E93-BC0B-18C17A706B2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AECD98FD-7E1D-44A9-9D23-42029D3B3C4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9">
            <a:extLst xmlns:a="http://schemas.openxmlformats.org/drawingml/2006/main">
              <a:ext uri="{FF2B5EF4-FFF2-40B4-BE49-F238E27FC236}">
                <a16:creationId xmlns:a16="http://schemas.microsoft.com/office/drawing/2014/main" id="{8DE2166A-3527-4727-B8E8-D7DFEAC21CD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Pennenetuis: dezelfde functies en dezelfde schalen">
            <a:extLst xmlns:a="http://schemas.openxmlformats.org/drawingml/2006/main">
              <a:ext uri="{FF2B5EF4-FFF2-40B4-BE49-F238E27FC236}">
                <a16:creationId xmlns:a16="http://schemas.microsoft.com/office/drawing/2014/main" id="{4A797FA5-2620-44D9-AE53-C2F8EDA365B4}"/>
              </a:ext>
            </a:extLst>
          </p:cNvPr>
          <p:cNvSpPr>
            <a:spLocks xmlns:a="http://schemas.openxmlformats.org/drawingml/2006/main" noGrp="1"/>
          </p:cNvSpPr>
          <p:nvPr/>
        </p:nvSpPr>
        <p:spPr>
          <a:xfrm xmlns:a="http://schemas.openxmlformats.org/drawingml/2006/main">
            <a:off x="571500" y="17716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Pennenetuis: dezelfde functies en dezelfde schalen</a:t>
            </a:r>
          </a:p>
        </p:txBody>
      </p:sp>
      <p:graphicFrame>
        <p:nvGraphicFramePr>
          <p:cNvPr id="14" name="Chart"/>
          <p:cNvGraphicFramePr/>
          <p:nvPr/>
        </p:nvGraphicFramePr>
        <p:xfrm>
          <a:off xmlns:a="http://schemas.openxmlformats.org/drawingml/2006/main" x="571500" y="2295525"/>
          <a:ext xmlns:a="http://schemas.openxmlformats.org/drawingml/2006/main" cx="10096500" cy="5286375"/>
        </p:xfrm>
        <a:graphic xmlns:a="http://schemas.openxmlformats.org/drawingml/2006/main">
          <a:graphicData uri="http://schemas.openxmlformats.org/drawingml/2006/chart">
            <c:chart xmlns:r="http://schemas.openxmlformats.org/officeDocument/2006/relationships" xmlns:c="http://schemas.openxmlformats.org/drawingml/2006/chart" r:id="R9aa92ea1c7564069"/>
          </a:graphicData>
        </a:graphic>
      </p:graphicFrame>
      <p:sp>
        <p:nvSpPr>
          <p:cNvPr id="7" name="A door&#10;(0; 2) en&#10;(64; 18)">
            <a:extLst xmlns:a="http://schemas.openxmlformats.org/drawingml/2006/main">
              <a:ext uri="{FF2B5EF4-FFF2-40B4-BE49-F238E27FC236}">
                <a16:creationId xmlns:a16="http://schemas.microsoft.com/office/drawing/2014/main" id="{FF7106BB-EC5C-44BA-B143-5B25DFF7F133}"/>
              </a:ext>
            </a:extLst>
          </p:cNvPr>
          <p:cNvSpPr>
            <a:spLocks xmlns:a="http://schemas.openxmlformats.org/drawingml/2006/main" noGrp="1"/>
          </p:cNvSpPr>
          <p:nvPr/>
        </p:nvSpPr>
        <p:spPr>
          <a:xfrm xmlns:a="http://schemas.openxmlformats.org/drawingml/2006/main">
            <a:off x="11144250" y="2914650"/>
            <a:ext cx="3476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E8449"/>
                </a:solidFill>
                <a:latin typeface="Arial"/>
                <a:ea typeface="Arial"/>
                <a:cs typeface="Arial"/>
              </a:defRPr>
            </a:pPr>
            <a:r>
              <a:rPr sz="2550" b="1">
                <a:solidFill>
                  <a:srgbClr val="1E8449"/>
                </a:solidFill>
                <a:latin typeface="Arial"/>
                <a:ea typeface="Arial"/>
                <a:cs typeface="Arial"/>
              </a:rPr>
              <a:t>A door</a:t>
            </a:r>
          </a:p>
          <a:p xmlns:a="http://schemas.openxmlformats.org/drawingml/2006/main">
            <a:pPr algn="l">
              <a:defRPr sz="2550" b="1">
                <a:solidFill>
                  <a:srgbClr val="1E8449"/>
                </a:solidFill>
                <a:latin typeface="Arial"/>
                <a:ea typeface="Arial"/>
                <a:cs typeface="Arial"/>
              </a:defRPr>
            </a:pPr>
            <a:r>
              <a:rPr sz="2550" b="1">
                <a:solidFill>
                  <a:srgbClr val="1E8449"/>
                </a:solidFill>
                <a:latin typeface="Arial"/>
                <a:ea typeface="Arial"/>
                <a:cs typeface="Arial"/>
              </a:rPr>
              <a:t>(0; 2) en</a:t>
            </a:r>
          </a:p>
          <a:p xmlns:a="http://schemas.openxmlformats.org/drawingml/2006/main">
            <a:pPr algn="l">
              <a:defRPr sz="2550" b="1">
                <a:solidFill>
                  <a:srgbClr val="1E8449"/>
                </a:solidFill>
                <a:latin typeface="Arial"/>
                <a:ea typeface="Arial"/>
                <a:cs typeface="Arial"/>
              </a:defRPr>
            </a:pPr>
            <a:r>
              <a:rPr sz="2550" b="1">
                <a:solidFill>
                  <a:srgbClr val="1E8449"/>
                </a:solidFill>
                <a:latin typeface="Arial"/>
                <a:ea typeface="Arial"/>
                <a:cs typeface="Arial"/>
              </a:rPr>
              <a:t>(64; 18)</a:t>
            </a:r>
          </a:p>
        </p:txBody>
      </p:sp>
      <p:sp>
        <p:nvSpPr>
          <p:cNvPr id="8" name="De lijn stijgt:&#10;bij een hogere P&#10;is Qₐ groter.">
            <a:extLst xmlns:a="http://schemas.openxmlformats.org/drawingml/2006/main">
              <a:ext uri="{FF2B5EF4-FFF2-40B4-BE49-F238E27FC236}">
                <a16:creationId xmlns:a16="http://schemas.microsoft.com/office/drawing/2014/main" id="{503DC3F1-64DD-4604-8862-33E5ADD5475A}"/>
              </a:ext>
            </a:extLst>
          </p:cNvPr>
          <p:cNvSpPr>
            <a:spLocks xmlns:a="http://schemas.openxmlformats.org/drawingml/2006/main" noGrp="1"/>
          </p:cNvSpPr>
          <p:nvPr/>
        </p:nvSpPr>
        <p:spPr>
          <a:xfrm xmlns:a="http://schemas.openxmlformats.org/drawingml/2006/main">
            <a:off x="11144250" y="5953125"/>
            <a:ext cx="3476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lijn stijgt:</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bij een hogere P</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is Qₐ groter.</a:t>
            </a:r>
          </a:p>
        </p:txBody>
      </p:sp>
    </p:spTree>
    <p:extLst>
      <p:ext uri="{BB962C8B-B14F-4D97-AF65-F5344CB8AC3E}">
        <p14:creationId xmlns:p14="http://schemas.microsoft.com/office/powerpoint/2010/main" val="11762912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snijpunt en de hulplijnen">
            <a:extLst xmlns:a="http://schemas.openxmlformats.org/drawingml/2006/main">
              <a:ext uri="{FF2B5EF4-FFF2-40B4-BE49-F238E27FC236}">
                <a16:creationId xmlns:a16="http://schemas.microsoft.com/office/drawing/2014/main" id="{E172E1A2-550B-4787-A718-4A3ECED4235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snijpunt en de hulplijnen</a:t>
            </a:r>
          </a:p>
        </p:txBody>
      </p:sp>
      <p:sp>
        <p:nvSpPr>
          <p:cNvPr id="2" name="">
            <a:extLst xmlns:a="http://schemas.openxmlformats.org/drawingml/2006/main">
              <a:ext uri="{FF2B5EF4-FFF2-40B4-BE49-F238E27FC236}">
                <a16:creationId xmlns:a16="http://schemas.microsoft.com/office/drawing/2014/main" id="{D8FEB6C2-8090-49C1-AD01-807C907949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AF65A6A9-5114-4289-976B-EFF299FCF38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0">
            <a:extLst xmlns:a="http://schemas.openxmlformats.org/drawingml/2006/main">
              <a:ext uri="{FF2B5EF4-FFF2-40B4-BE49-F238E27FC236}">
                <a16:creationId xmlns:a16="http://schemas.microsoft.com/office/drawing/2014/main" id="{61059C1E-42A8-48E8-B7FC-FBFC6473FE0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Pennenetuis: dezelfde functies en dezelfde schalen">
            <a:extLst xmlns:a="http://schemas.openxmlformats.org/drawingml/2006/main">
              <a:ext uri="{FF2B5EF4-FFF2-40B4-BE49-F238E27FC236}">
                <a16:creationId xmlns:a16="http://schemas.microsoft.com/office/drawing/2014/main" id="{1291BDD9-0CB8-429F-AEB8-B8FDAE881C39}"/>
              </a:ext>
            </a:extLst>
          </p:cNvPr>
          <p:cNvSpPr>
            <a:spLocks xmlns:a="http://schemas.openxmlformats.org/drawingml/2006/main" noGrp="1"/>
          </p:cNvSpPr>
          <p:nvPr/>
        </p:nvSpPr>
        <p:spPr>
          <a:xfrm xmlns:a="http://schemas.openxmlformats.org/drawingml/2006/main">
            <a:off x="571500" y="17716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Pennenetuis: dezelfde functies en dezelfde schalen</a:t>
            </a:r>
          </a:p>
        </p:txBody>
      </p:sp>
      <p:graphicFrame>
        <p:nvGraphicFramePr>
          <p:cNvPr id="14" name="Chart"/>
          <p:cNvGraphicFramePr/>
          <p:nvPr/>
        </p:nvGraphicFramePr>
        <p:xfrm>
          <a:off xmlns:a="http://schemas.openxmlformats.org/drawingml/2006/main" x="571500" y="2295525"/>
          <a:ext xmlns:a="http://schemas.openxmlformats.org/drawingml/2006/main" cx="10096500" cy="5286375"/>
        </p:xfrm>
        <a:graphic xmlns:a="http://schemas.openxmlformats.org/drawingml/2006/main">
          <a:graphicData uri="http://schemas.openxmlformats.org/drawingml/2006/chart">
            <c:chart xmlns:r="http://schemas.openxmlformats.org/officeDocument/2006/relationships" xmlns:c="http://schemas.openxmlformats.org/drawingml/2006/chart" r:id="Rfe81f9d7e38442ca"/>
          </a:graphicData>
        </a:graphic>
      </p:graphicFrame>
      <p:sp>
        <p:nvSpPr>
          <p:cNvPr id="7" name="E = (32; 10)&#10;&#10;P = € 10&#10;Q = 32">
            <a:extLst xmlns:a="http://schemas.openxmlformats.org/drawingml/2006/main">
              <a:ext uri="{FF2B5EF4-FFF2-40B4-BE49-F238E27FC236}">
                <a16:creationId xmlns:a16="http://schemas.microsoft.com/office/drawing/2014/main" id="{5FE379B7-E30A-42DD-B5D9-BF1E43EC3B2C}"/>
              </a:ext>
            </a:extLst>
          </p:cNvPr>
          <p:cNvSpPr>
            <a:spLocks xmlns:a="http://schemas.openxmlformats.org/drawingml/2006/main" noGrp="1"/>
          </p:cNvSpPr>
          <p:nvPr/>
        </p:nvSpPr>
        <p:spPr>
          <a:xfrm xmlns:a="http://schemas.openxmlformats.org/drawingml/2006/main">
            <a:off x="11144250" y="2914650"/>
            <a:ext cx="3476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E = (32; 10)</a:t>
            </a:r>
          </a:p>
          <a:p xmlns:a="http://schemas.openxmlformats.org/drawingml/2006/main">
            <a:r>
              <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P = € 10</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Q = 32</a:t>
            </a:r>
          </a:p>
        </p:txBody>
      </p:sp>
      <p:sp>
        <p:nvSpPr>
          <p:cNvPr id="8" name="Het punt ligt&#10;op V én A.&#10;Dezelfde 32 etuis.">
            <a:extLst xmlns:a="http://schemas.openxmlformats.org/drawingml/2006/main">
              <a:ext uri="{FF2B5EF4-FFF2-40B4-BE49-F238E27FC236}">
                <a16:creationId xmlns:a16="http://schemas.microsoft.com/office/drawing/2014/main" id="{219793EF-1176-4CE8-AAE6-764338772B8C}"/>
              </a:ext>
            </a:extLst>
          </p:cNvPr>
          <p:cNvSpPr>
            <a:spLocks xmlns:a="http://schemas.openxmlformats.org/drawingml/2006/main" noGrp="1"/>
          </p:cNvSpPr>
          <p:nvPr/>
        </p:nvSpPr>
        <p:spPr>
          <a:xfrm xmlns:a="http://schemas.openxmlformats.org/drawingml/2006/main">
            <a:off x="11144250" y="5953125"/>
            <a:ext cx="3476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Het punt ligt</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op V én A.</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Dezelfde 32 etuis.</a:t>
            </a:r>
          </a:p>
        </p:txBody>
      </p:sp>
    </p:spTree>
    <p:extLst>
      <p:ext uri="{BB962C8B-B14F-4D97-AF65-F5344CB8AC3E}">
        <p14:creationId xmlns:p14="http://schemas.microsoft.com/office/powerpoint/2010/main" val="20022578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ij € 8 ontstaat een vraagoverschot">
            <a:extLst xmlns:a="http://schemas.openxmlformats.org/drawingml/2006/main">
              <a:ext uri="{FF2B5EF4-FFF2-40B4-BE49-F238E27FC236}">
                <a16:creationId xmlns:a16="http://schemas.microsoft.com/office/drawing/2014/main" id="{BA118AFE-AC6D-4652-9AF0-6BF09D21F6A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Bij € 8 ontstaat een vraagoverschot</a:t>
            </a:r>
          </a:p>
        </p:txBody>
      </p:sp>
      <p:sp>
        <p:nvSpPr>
          <p:cNvPr id="2" name="">
            <a:extLst xmlns:a="http://schemas.openxmlformats.org/drawingml/2006/main">
              <a:ext uri="{FF2B5EF4-FFF2-40B4-BE49-F238E27FC236}">
                <a16:creationId xmlns:a16="http://schemas.microsoft.com/office/drawing/2014/main" id="{2CFD7DEB-E8BF-4E8F-A040-B1FB05DAB43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DCDAE5BF-0F97-40C7-B696-7AF50763DA9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1">
            <a:extLst xmlns:a="http://schemas.openxmlformats.org/drawingml/2006/main">
              <a:ext uri="{FF2B5EF4-FFF2-40B4-BE49-F238E27FC236}">
                <a16:creationId xmlns:a16="http://schemas.microsoft.com/office/drawing/2014/main" id="{CAEE844B-F92E-4055-9BCD-65684AB99B9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Pennenetuis: een aanvankelijke prijs onder het eve">
            <a:extLst xmlns:a="http://schemas.openxmlformats.org/drawingml/2006/main">
              <a:ext uri="{FF2B5EF4-FFF2-40B4-BE49-F238E27FC236}">
                <a16:creationId xmlns:a16="http://schemas.microsoft.com/office/drawing/2014/main" id="{ECDA6A7E-204C-4D84-AFB9-4A398B6C3993}"/>
              </a:ext>
            </a:extLst>
          </p:cNvPr>
          <p:cNvSpPr>
            <a:spLocks xmlns:a="http://schemas.openxmlformats.org/drawingml/2006/main" noGrp="1"/>
          </p:cNvSpPr>
          <p:nvPr/>
        </p:nvSpPr>
        <p:spPr>
          <a:xfrm xmlns:a="http://schemas.openxmlformats.org/drawingml/2006/main">
            <a:off x="571500" y="177165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Pennenetuis: een aanvankelijke prijs onder het evenwicht</a:t>
            </a:r>
          </a:p>
        </p:txBody>
      </p:sp>
      <p:graphicFrame>
        <p:nvGraphicFramePr>
          <p:cNvPr id="14" name="Chart"/>
          <p:cNvGraphicFramePr/>
          <p:nvPr/>
        </p:nvGraphicFramePr>
        <p:xfrm>
          <a:off xmlns:a="http://schemas.openxmlformats.org/drawingml/2006/main" x="571500" y="2295525"/>
          <a:ext xmlns:a="http://schemas.openxmlformats.org/drawingml/2006/main" cx="10096500" cy="5286375"/>
        </p:xfrm>
        <a:graphic xmlns:a="http://schemas.openxmlformats.org/drawingml/2006/main">
          <a:graphicData uri="http://schemas.openxmlformats.org/drawingml/2006/chart">
            <c:chart xmlns:r="http://schemas.openxmlformats.org/officeDocument/2006/relationships" xmlns:c="http://schemas.openxmlformats.org/drawingml/2006/chart" r:id="Rbc9d4cc91b5c4b1c"/>
          </a:graphicData>
        </a:graphic>
      </p:graphicFrame>
      <p:sp>
        <p:nvSpPr>
          <p:cNvPr id="7" name="Qᵥ = 72 − 4 × 8&#10;     = 40&#10;&#10;Qₐ = 4 × 8 − 8&#10;     = 2">
            <a:extLst xmlns:a="http://schemas.openxmlformats.org/drawingml/2006/main">
              <a:ext uri="{FF2B5EF4-FFF2-40B4-BE49-F238E27FC236}">
                <a16:creationId xmlns:a16="http://schemas.microsoft.com/office/drawing/2014/main" id="{AEE9F719-B4DD-4FC7-9E99-ADD6ED77ACB1}"/>
              </a:ext>
            </a:extLst>
          </p:cNvPr>
          <p:cNvSpPr>
            <a:spLocks xmlns:a="http://schemas.openxmlformats.org/drawingml/2006/main" noGrp="1"/>
          </p:cNvSpPr>
          <p:nvPr/>
        </p:nvSpPr>
        <p:spPr>
          <a:xfrm xmlns:a="http://schemas.openxmlformats.org/drawingml/2006/main">
            <a:off x="10953750" y="2552700"/>
            <a:ext cx="3667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Qᵥ = 72 − 4 × 8</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     = 40</a:t>
            </a:r>
          </a:p>
          <a:p xmlns:a="http://schemas.openxmlformats.org/drawingml/2006/main">
            <a:r>
              <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Qₐ = 4 × 8 − 8</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     = 24</a:t>
            </a:r>
          </a:p>
        </p:txBody>
      </p:sp>
      <p:sp>
        <p:nvSpPr>
          <p:cNvPr id="8" name="Vraagoverschot&#10;40 − 24 = 16&#10;etuis per week">
            <a:extLst xmlns:a="http://schemas.openxmlformats.org/drawingml/2006/main">
              <a:ext uri="{FF2B5EF4-FFF2-40B4-BE49-F238E27FC236}">
                <a16:creationId xmlns:a16="http://schemas.microsoft.com/office/drawing/2014/main" id="{A953896A-9423-4C1C-932D-5D8002153C68}"/>
              </a:ext>
            </a:extLst>
          </p:cNvPr>
          <p:cNvSpPr>
            <a:spLocks xmlns:a="http://schemas.openxmlformats.org/drawingml/2006/main" noGrp="1"/>
          </p:cNvSpPr>
          <p:nvPr/>
        </p:nvSpPr>
        <p:spPr>
          <a:xfrm xmlns:a="http://schemas.openxmlformats.org/drawingml/2006/main">
            <a:off x="10953750" y="5791200"/>
            <a:ext cx="3714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Vraagoverschot</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40 − 24 = 16</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etuis per week</a:t>
            </a:r>
          </a:p>
        </p:txBody>
      </p:sp>
    </p:spTree>
    <p:extLst>
      <p:ext uri="{BB962C8B-B14F-4D97-AF65-F5344CB8AC3E}">
        <p14:creationId xmlns:p14="http://schemas.microsoft.com/office/powerpoint/2010/main" val="9138278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Verkoop vraagt een transactieregel">
            <a:extLst xmlns:a="http://schemas.openxmlformats.org/drawingml/2006/main">
              <a:ext uri="{FF2B5EF4-FFF2-40B4-BE49-F238E27FC236}">
                <a16:creationId xmlns:a16="http://schemas.microsoft.com/office/drawing/2014/main" id="{CB54B02A-EDB4-499E-BE2F-74209148236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Verkoop vraagt een transactieregel</a:t>
            </a:r>
          </a:p>
        </p:txBody>
      </p:sp>
      <p:sp>
        <p:nvSpPr>
          <p:cNvPr id="2" name="">
            <a:extLst xmlns:a="http://schemas.openxmlformats.org/drawingml/2006/main">
              <a:ext uri="{FF2B5EF4-FFF2-40B4-BE49-F238E27FC236}">
                <a16:creationId xmlns:a16="http://schemas.microsoft.com/office/drawing/2014/main" id="{ECD1E986-9A67-4164-9A7F-B66CE31DAEA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309579C5-ED4E-4B55-AABE-37F53CDC261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2">
            <a:extLst xmlns:a="http://schemas.openxmlformats.org/drawingml/2006/main">
              <a:ext uri="{FF2B5EF4-FFF2-40B4-BE49-F238E27FC236}">
                <a16:creationId xmlns:a16="http://schemas.microsoft.com/office/drawing/2014/main" id="{C988FA94-7AC8-4C37-9420-4AA18C20C78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Bij € 8: gevraagd 40, aangeboden 24 etuis per week">
            <a:extLst xmlns:a="http://schemas.openxmlformats.org/drawingml/2006/main">
              <a:ext uri="{FF2B5EF4-FFF2-40B4-BE49-F238E27FC236}">
                <a16:creationId xmlns:a16="http://schemas.microsoft.com/office/drawing/2014/main" id="{4B7DA2FA-66FE-4B92-BD13-CE0E2C885CF4}"/>
              </a:ext>
            </a:extLst>
          </p:cNvPr>
          <p:cNvSpPr>
            <a:spLocks xmlns:a="http://schemas.openxmlformats.org/drawingml/2006/main" noGrp="1"/>
          </p:cNvSpPr>
          <p:nvPr/>
        </p:nvSpPr>
        <p:spPr>
          <a:xfrm xmlns:a="http://schemas.openxmlformats.org/drawingml/2006/main">
            <a:off x="571500" y="18192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Bij € 8: gevraagd 40, aangeboden 24 etuis per week</a:t>
            </a:r>
          </a:p>
        </p:txBody>
      </p:sp>
      <p:sp>
        <p:nvSpPr>
          <p:cNvPr id="6" name="Afspraak in dit voorbeeld">
            <a:extLst xmlns:a="http://schemas.openxmlformats.org/drawingml/2006/main">
              <a:ext uri="{FF2B5EF4-FFF2-40B4-BE49-F238E27FC236}">
                <a16:creationId xmlns:a16="http://schemas.microsoft.com/office/drawing/2014/main" id="{C7C6C5BE-F2D5-4EC0-8A12-AF0C2703B972}"/>
              </a:ext>
            </a:extLst>
          </p:cNvPr>
          <p:cNvSpPr>
            <a:spLocks xmlns:a="http://schemas.openxmlformats.org/drawingml/2006/main" noGrp="1"/>
          </p:cNvSpPr>
          <p:nvPr/>
        </p:nvSpPr>
        <p:spPr>
          <a:xfrm xmlns:a="http://schemas.openxmlformats.org/drawingml/2006/main">
            <a:off x="571500" y="29337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Afspraak in dit voorbeeld</a:t>
            </a:r>
          </a:p>
        </p:txBody>
      </p:sp>
      <p:sp>
        <p:nvSpPr>
          <p:cNvPr id="7" name="Alle aangeboden etuis vinden een koper.&#10;Er is geen">
            <a:extLst xmlns:a="http://schemas.openxmlformats.org/drawingml/2006/main">
              <a:ext uri="{FF2B5EF4-FFF2-40B4-BE49-F238E27FC236}">
                <a16:creationId xmlns:a16="http://schemas.microsoft.com/office/drawing/2014/main" id="{B932EAFE-4438-4EA4-87D4-3AA7656FD732}"/>
              </a:ext>
            </a:extLst>
          </p:cNvPr>
          <p:cNvSpPr>
            <a:spLocks xmlns:a="http://schemas.openxmlformats.org/drawingml/2006/main" noGrp="1"/>
          </p:cNvSpPr>
          <p:nvPr/>
        </p:nvSpPr>
        <p:spPr>
          <a:xfrm xmlns:a="http://schemas.openxmlformats.org/drawingml/2006/main">
            <a:off x="571500" y="3724275"/>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Alle aangeboden etuis vinden een koper.</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Er is geen andere voorraad. Niets anders belemmert de verkoop.</a:t>
            </a:r>
          </a:p>
        </p:txBody>
      </p:sp>
      <p:sp>
        <p:nvSpPr>
          <p:cNvPr id="8" name="">
            <a:extLst xmlns:a="http://schemas.openxmlformats.org/drawingml/2006/main">
              <a:ext uri="{FF2B5EF4-FFF2-40B4-BE49-F238E27FC236}">
                <a16:creationId xmlns:a16="http://schemas.microsoft.com/office/drawing/2014/main" id="{A0E195E6-EA01-4D9B-8275-BAE8B7653A87}"/>
              </a:ext>
            </a:extLst>
          </p:cNvPr>
          <p:cNvSpPr>
            <a:spLocks xmlns:a="http://schemas.openxmlformats.org/drawingml/2006/main" noGrp="1"/>
          </p:cNvSpPr>
          <p:nvPr/>
        </p:nvSpPr>
        <p:spPr>
          <a:xfrm xmlns:a="http://schemas.openxmlformats.org/drawingml/2006/main">
            <a:off x="571500" y="5724525"/>
            <a:ext cx="14097000" cy="0"/>
          </a:xfrm>
          <a:prstGeom xmlns:a="http://schemas.openxmlformats.org/drawingml/2006/main" prst="line">
            <a:avLst/>
          </a:prstGeom>
          <a:ln xmlns:a="http://schemas.openxmlformats.org/drawingml/2006/main" w="19050">
            <a:solidFill>
              <a:srgbClr val="C6D2DB"/>
            </a:solidFill>
          </a:ln>
        </p:spPr>
      </p:sp>
      <p:sp>
        <p:nvSpPr>
          <p:cNvPr id="9" name="Verkoop: 24 etuis per week">
            <a:extLst xmlns:a="http://schemas.openxmlformats.org/drawingml/2006/main">
              <a:ext uri="{FF2B5EF4-FFF2-40B4-BE49-F238E27FC236}">
                <a16:creationId xmlns:a16="http://schemas.microsoft.com/office/drawing/2014/main" id="{FA7F7004-F9E1-4220-A289-7FB3D424E890}"/>
              </a:ext>
            </a:extLst>
          </p:cNvPr>
          <p:cNvSpPr>
            <a:spLocks xmlns:a="http://schemas.openxmlformats.org/drawingml/2006/main" noGrp="1"/>
          </p:cNvSpPr>
          <p:nvPr/>
        </p:nvSpPr>
        <p:spPr>
          <a:xfrm xmlns:a="http://schemas.openxmlformats.org/drawingml/2006/main">
            <a:off x="571500" y="61912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8449"/>
                </a:solidFill>
                <a:latin typeface="Arial"/>
                <a:ea typeface="Arial"/>
                <a:cs typeface="Arial"/>
              </a:defRPr>
            </a:pPr>
            <a:r>
              <a:rPr sz="3600" b="1">
                <a:solidFill>
                  <a:srgbClr val="1E8449"/>
                </a:solidFill>
                <a:latin typeface="Arial"/>
                <a:ea typeface="Arial"/>
                <a:cs typeface="Arial"/>
              </a:rPr>
              <a:t>Verkoop: 24 etuis per week</a:t>
            </a:r>
          </a:p>
        </p:txBody>
      </p:sp>
      <p:sp>
        <p:nvSpPr>
          <p:cNvPr id="10" name="Tekort: 16 etuis per week">
            <a:extLst xmlns:a="http://schemas.openxmlformats.org/drawingml/2006/main">
              <a:ext uri="{FF2B5EF4-FFF2-40B4-BE49-F238E27FC236}">
                <a16:creationId xmlns:a16="http://schemas.microsoft.com/office/drawing/2014/main" id="{2CE93C21-C392-4C1A-8B69-091E373BC94A}"/>
              </a:ext>
            </a:extLst>
          </p:cNvPr>
          <p:cNvSpPr>
            <a:spLocks xmlns:a="http://schemas.openxmlformats.org/drawingml/2006/main" noGrp="1"/>
          </p:cNvSpPr>
          <p:nvPr/>
        </p:nvSpPr>
        <p:spPr>
          <a:xfrm xmlns:a="http://schemas.openxmlformats.org/drawingml/2006/main">
            <a:off x="571500" y="71913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Tekort: 16 etuis per week</a:t>
            </a:r>
          </a:p>
        </p:txBody>
      </p:sp>
    </p:spTree>
    <p:extLst>
      <p:ext uri="{BB962C8B-B14F-4D97-AF65-F5344CB8AC3E}">
        <p14:creationId xmlns:p14="http://schemas.microsoft.com/office/powerpoint/2010/main" val="10778355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pers concurreren bij een tekort">
            <a:extLst xmlns:a="http://schemas.openxmlformats.org/drawingml/2006/main">
              <a:ext uri="{FF2B5EF4-FFF2-40B4-BE49-F238E27FC236}">
                <a16:creationId xmlns:a16="http://schemas.microsoft.com/office/drawing/2014/main" id="{2FF493E3-7919-4418-8F55-4D46E972DB4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Kopers concurreren bij een tekort</a:t>
            </a:r>
          </a:p>
        </p:txBody>
      </p:sp>
      <p:sp>
        <p:nvSpPr>
          <p:cNvPr id="2" name="">
            <a:extLst xmlns:a="http://schemas.openxmlformats.org/drawingml/2006/main">
              <a:ext uri="{FF2B5EF4-FFF2-40B4-BE49-F238E27FC236}">
                <a16:creationId xmlns:a16="http://schemas.microsoft.com/office/drawing/2014/main" id="{740E09FD-1A86-42D2-83FD-9C2CEE7BA2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A03A3CA8-842D-4106-AA90-604575C3010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3">
            <a:extLst xmlns:a="http://schemas.openxmlformats.org/drawingml/2006/main">
              <a:ext uri="{FF2B5EF4-FFF2-40B4-BE49-F238E27FC236}">
                <a16:creationId xmlns:a16="http://schemas.microsoft.com/office/drawing/2014/main" id="{34D395E2-05F2-4879-96B0-7EFED25224A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Meer koopplannen dan verkoopplannen">
            <a:extLst xmlns:a="http://schemas.openxmlformats.org/drawingml/2006/main">
              <a:ext uri="{FF2B5EF4-FFF2-40B4-BE49-F238E27FC236}">
                <a16:creationId xmlns:a16="http://schemas.microsoft.com/office/drawing/2014/main" id="{5A77A898-6410-4F3D-8AD3-7E534A0B55A9}"/>
              </a:ext>
            </a:extLst>
          </p:cNvPr>
          <p:cNvSpPr>
            <a:spLocks xmlns:a="http://schemas.openxmlformats.org/drawingml/2006/main" noGrp="1"/>
          </p:cNvSpPr>
          <p:nvPr/>
        </p:nvSpPr>
        <p:spPr>
          <a:xfrm xmlns:a="http://schemas.openxmlformats.org/drawingml/2006/main">
            <a:off x="571500" y="1924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Meer koopplannen dan verkoopplannen</a:t>
            </a:r>
          </a:p>
        </p:txBody>
      </p:sp>
      <p:sp>
        <p:nvSpPr>
          <p:cNvPr id="6" name="De beperkte hoeveelheid geeft opwaartse prijsdruk.">
            <a:extLst xmlns:a="http://schemas.openxmlformats.org/drawingml/2006/main">
              <a:ext uri="{FF2B5EF4-FFF2-40B4-BE49-F238E27FC236}">
                <a16:creationId xmlns:a16="http://schemas.microsoft.com/office/drawing/2014/main" id="{1D409F6D-A8B4-4F90-9A1D-6548162E5DAE}"/>
              </a:ext>
            </a:extLst>
          </p:cNvPr>
          <p:cNvSpPr>
            <a:spLocks xmlns:a="http://schemas.openxmlformats.org/drawingml/2006/main" noGrp="1"/>
          </p:cNvSpPr>
          <p:nvPr/>
        </p:nvSpPr>
        <p:spPr>
          <a:xfrm xmlns:a="http://schemas.openxmlformats.org/drawingml/2006/main">
            <a:off x="571500" y="32004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De beperkte hoeveelheid geeft opwaartse prijsdruk.</a:t>
            </a:r>
          </a:p>
        </p:txBody>
      </p:sp>
      <p:graphicFrame>
        <p:nvGraphicFramePr>
          <p:cNvPr id="14" name=""/>
          <p:cNvGraphicFramePr/>
          <p:nvPr/>
        </p:nvGraphicFramePr>
        <p:xfrm>
          <a:off xmlns:a="http://schemas.openxmlformats.org/drawingml/2006/main" x="571500" y="4724400"/>
          <a:ext xmlns:a="http://schemas.openxmlformats.org/drawingml/2006/main" cx="14097000" cy="2457450"/>
        </p:xfrm>
        <a:graphic xmlns:a="http://schemas.openxmlformats.org/drawingml/2006/main">
          <a:graphicData uri="http://schemas.openxmlformats.org/drawingml/2006/table">
            <a:tbl>
              <a:tblPr/>
              <a:tblGrid>
                <a:gridCol w="8763000"/>
                <a:gridCol w="2667000"/>
                <a:gridCol w="2667000"/>
              </a:tblGrid>
              <a:tr h="819150">
                <a:tc>
                  <a:txBody>
                    <a:bodyPr lIns="171450" tIns="95250" rIns="152400" bIns="95250"/>
                    <a:lstStyle/>
                    <a:p>
                      <a:r>
                        <a:rPr sz="2475" b="1">
                          <a:solidFill>
                            <a:srgbClr val="FFFFFF"/>
                          </a:solidFill>
                          <a:latin typeface="Arial"/>
                          <a:ea typeface="Arial"/>
                          <a:cs typeface="Arial"/>
                        </a:rPr>
                        <a:t>Bij prijsstijging van € 8 naar € 10</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Eerst</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In evenwicht</a:t>
                      </a:r>
                    </a:p>
                  </a:txBody>
                  <a:tcPr marL="91440" marR="91440" marT="45720" marB="45720" anchor="ctr">
                    <a:solidFill>
                      <a:srgbClr val="183247"/>
                    </a:solidFill>
                  </a:tcPr>
                </a:tc>
              </a:tr>
              <a:tr h="819150">
                <a:tc>
                  <a:txBody>
                    <a:bodyPr lIns="171450" tIns="95250" rIns="152400" bIns="95250"/>
                    <a:lstStyle/>
                    <a:p>
                      <a:r>
                        <a:rPr sz="2475" b="0">
                          <a:solidFill>
                            <a:srgbClr val="183247"/>
                          </a:solidFill>
                          <a:latin typeface="Arial"/>
                          <a:ea typeface="Arial"/>
                          <a:cs typeface="Arial"/>
                        </a:rPr>
                        <a:t>Qᵥ langs V (etuis per week)</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32</a:t>
                      </a:r>
                    </a:p>
                  </a:txBody>
                  <a:tcPr marL="91440" marR="91440" marT="45720" marB="45720" anchor="ctr">
                    <a:solidFill>
                      <a:srgbClr val="FFFFFF"/>
                    </a:solidFill>
                  </a:tcPr>
                </a:tc>
              </a:tr>
              <a:tr h="819150">
                <a:tc>
                  <a:txBody>
                    <a:bodyPr lIns="171450" tIns="95250" rIns="152400" bIns="95250"/>
                    <a:lstStyle/>
                    <a:p>
                      <a:r>
                        <a:rPr sz="2475" b="0">
                          <a:solidFill>
                            <a:srgbClr val="183247"/>
                          </a:solidFill>
                          <a:latin typeface="Arial"/>
                          <a:ea typeface="Arial"/>
                          <a:cs typeface="Arial"/>
                        </a:rPr>
                        <a:t>Qₐ langs A (etuis per week)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24</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32</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9621754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ij € 12 ontstaat een aanbodoverschot">
            <a:extLst xmlns:a="http://schemas.openxmlformats.org/drawingml/2006/main">
              <a:ext uri="{FF2B5EF4-FFF2-40B4-BE49-F238E27FC236}">
                <a16:creationId xmlns:a16="http://schemas.microsoft.com/office/drawing/2014/main" id="{DDFA4034-49F0-424A-B616-BC0574B5758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Bij € 12 ontstaat een aanbodoverschot</a:t>
            </a:r>
          </a:p>
        </p:txBody>
      </p:sp>
      <p:sp>
        <p:nvSpPr>
          <p:cNvPr id="2" name="">
            <a:extLst xmlns:a="http://schemas.openxmlformats.org/drawingml/2006/main">
              <a:ext uri="{FF2B5EF4-FFF2-40B4-BE49-F238E27FC236}">
                <a16:creationId xmlns:a16="http://schemas.microsoft.com/office/drawing/2014/main" id="{A5BF3D47-BD93-4B08-85F4-81EED068630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12D1BCA0-DA08-4BDB-9F68-CB85B95D2EE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4">
            <a:extLst xmlns:a="http://schemas.openxmlformats.org/drawingml/2006/main">
              <a:ext uri="{FF2B5EF4-FFF2-40B4-BE49-F238E27FC236}">
                <a16:creationId xmlns:a16="http://schemas.microsoft.com/office/drawing/2014/main" id="{A596F3FD-84CC-4C29-B217-93B75DB2E91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Nieuw geval: dezelfde markt, nu aanvankelijk € 12 ">
            <a:extLst xmlns:a="http://schemas.openxmlformats.org/drawingml/2006/main">
              <a:ext uri="{FF2B5EF4-FFF2-40B4-BE49-F238E27FC236}">
                <a16:creationId xmlns:a16="http://schemas.microsoft.com/office/drawing/2014/main" id="{621EB2A1-4D6F-4B1E-89AD-1C1B9629A419}"/>
              </a:ext>
            </a:extLst>
          </p:cNvPr>
          <p:cNvSpPr>
            <a:spLocks xmlns:a="http://schemas.openxmlformats.org/drawingml/2006/main" noGrp="1"/>
          </p:cNvSpPr>
          <p:nvPr/>
        </p:nvSpPr>
        <p:spPr>
          <a:xfrm xmlns:a="http://schemas.openxmlformats.org/drawingml/2006/main">
            <a:off x="571500" y="17907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Nieuw geval: dezelfde markt, nu aanvankelijk € 12 per etui</a:t>
            </a:r>
          </a:p>
        </p:txBody>
      </p:sp>
      <p:graphicFrame>
        <p:nvGraphicFramePr>
          <p:cNvPr id="13" name=""/>
          <p:cNvGraphicFramePr/>
          <p:nvPr/>
        </p:nvGraphicFramePr>
        <p:xfrm>
          <a:off xmlns:a="http://schemas.openxmlformats.org/drawingml/2006/main" x="571500" y="3048000"/>
          <a:ext xmlns:a="http://schemas.openxmlformats.org/drawingml/2006/main" cx="14097000" cy="3076575"/>
        </p:xfrm>
        <a:graphic xmlns:a="http://schemas.openxmlformats.org/drawingml/2006/main">
          <a:graphicData uri="http://schemas.openxmlformats.org/drawingml/2006/table">
            <a:tbl>
              <a:tblPr/>
              <a:tblGrid>
                <a:gridCol w="4667250"/>
                <a:gridCol w="5048250"/>
                <a:gridCol w="4381500"/>
              </a:tblGrid>
              <a:tr h="769144">
                <a:tc>
                  <a:txBody>
                    <a:bodyPr lIns="171450" tIns="95250" rIns="152400" bIns="95250"/>
                    <a:lstStyle/>
                    <a:p>
                      <a:r>
                        <a:rPr sz="2550" b="1">
                          <a:solidFill>
                            <a:srgbClr val="FFFFFF"/>
                          </a:solidFill>
                          <a:latin typeface="Arial"/>
                          <a:ea typeface="Arial"/>
                          <a:cs typeface="Arial"/>
                        </a:rPr>
                        <a:t>Bij € 12</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Etuis per week</a:t>
                      </a:r>
                    </a:p>
                  </a:txBody>
                  <a:tcPr marL="91440" marR="91440" marT="45720" marB="45720" anchor="ctr">
                    <a:solidFill>
                      <a:srgbClr val="183247"/>
                    </a:solidFill>
                  </a:tcPr>
                </a:tc>
              </a:tr>
              <a:tr h="769144">
                <a:tc>
                  <a:txBody>
                    <a:bodyPr lIns="171450" tIns="95250" rIns="152400" bIns="95250"/>
                    <a:lstStyle/>
                    <a:p>
                      <a:r>
                        <a:rPr sz="2550" b="0">
                          <a:solidFill>
                            <a:srgbClr val="183247"/>
                          </a:solidFill>
                          <a:latin typeface="Arial"/>
                          <a:ea typeface="Arial"/>
                          <a:cs typeface="Arial"/>
                        </a:rPr>
                        <a:t>Gevraagd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72 − 4 × 12</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a:t>
                      </a:r>
                    </a:p>
                  </a:txBody>
                  <a:tcPr marL="91440" marR="91440" marT="45720" marB="45720" anchor="ctr">
                    <a:solidFill>
                      <a:srgbClr val="FFFFFF"/>
                    </a:solidFill>
                  </a:tcPr>
                </a:tc>
              </a:tr>
              <a:tr h="769144">
                <a:tc>
                  <a:txBody>
                    <a:bodyPr lIns="171450" tIns="95250" rIns="152400" bIns="95250"/>
                    <a:lstStyle/>
                    <a:p>
                      <a:r>
                        <a:rPr sz="2550" b="0">
                          <a:solidFill>
                            <a:srgbClr val="183247"/>
                          </a:solidFill>
                          <a:latin typeface="Arial"/>
                          <a:ea typeface="Arial"/>
                          <a:cs typeface="Arial"/>
                        </a:rPr>
                        <a:t>Aangeboden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 × 12 − 8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40</a:t>
                      </a:r>
                    </a:p>
                  </a:txBody>
                  <a:tcPr marL="91440" marR="91440" marT="45720" marB="45720" anchor="ctr">
                    <a:solidFill>
                      <a:srgbClr val="EFF4F7"/>
                    </a:solidFill>
                  </a:tcPr>
                </a:tc>
              </a:tr>
              <a:tr h="769144">
                <a:tc>
                  <a:txBody>
                    <a:bodyPr lIns="171450" tIns="95250" rIns="152400" bIns="95250"/>
                    <a:lstStyle/>
                    <a:p>
                      <a:r>
                        <a:rPr sz="2550" b="0">
                          <a:solidFill>
                            <a:srgbClr val="183247"/>
                          </a:solidFill>
                          <a:latin typeface="Arial"/>
                          <a:ea typeface="Arial"/>
                          <a:cs typeface="Arial"/>
                        </a:rPr>
                        <a:t>Aanbodoverschot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40 − 24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16</a:t>
                      </a:r>
                    </a:p>
                  </a:txBody>
                  <a:tcPr marL="91440" marR="91440" marT="45720" marB="45720" anchor="ctr">
                    <a:solidFill>
                      <a:srgbClr val="FFFFFF"/>
                    </a:solidFill>
                  </a:tcPr>
                </a:tc>
              </a:tr>
            </a:tbl>
          </a:graphicData>
        </a:graphic>
      </p:graphicFrame>
      <p:sp>
        <p:nvSpPr>
          <p:cNvPr id="7" name="Alle koopplannen vinden een verkoper, zonder ander">
            <a:extLst xmlns:a="http://schemas.openxmlformats.org/drawingml/2006/main">
              <a:ext uri="{FF2B5EF4-FFF2-40B4-BE49-F238E27FC236}">
                <a16:creationId xmlns:a16="http://schemas.microsoft.com/office/drawing/2014/main" id="{EE281703-3221-4E69-983D-0D78A53BBCAE}"/>
              </a:ext>
            </a:extLst>
          </p:cNvPr>
          <p:cNvSpPr>
            <a:spLocks xmlns:a="http://schemas.openxmlformats.org/drawingml/2006/main" noGrp="1"/>
          </p:cNvSpPr>
          <p:nvPr/>
        </p:nvSpPr>
        <p:spPr>
          <a:xfrm xmlns:a="http://schemas.openxmlformats.org/drawingml/2006/main">
            <a:off x="571500" y="6715125"/>
            <a:ext cx="14097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8449"/>
                </a:solidFill>
                <a:latin typeface="Arial"/>
                <a:ea typeface="Arial"/>
                <a:cs typeface="Arial"/>
              </a:defRPr>
            </a:pPr>
            <a:r>
              <a:rPr sz="2700" b="1">
                <a:solidFill>
                  <a:srgbClr val="1E8449"/>
                </a:solidFill>
                <a:latin typeface="Arial"/>
                <a:ea typeface="Arial"/>
                <a:cs typeface="Arial"/>
              </a:rPr>
              <a:t>Alle koopplannen vinden een verkoper, zonder andere beperking.</a:t>
            </a:r>
          </a:p>
          <a:p xmlns:a="http://schemas.openxmlformats.org/drawingml/2006/main">
            <a:pPr algn="l">
              <a:defRPr sz="2700" b="1">
                <a:solidFill>
                  <a:srgbClr val="1E8449"/>
                </a:solidFill>
                <a:latin typeface="Arial"/>
                <a:ea typeface="Arial"/>
                <a:cs typeface="Arial"/>
              </a:defRPr>
            </a:pPr>
            <a:r>
              <a:rPr sz="2700" b="1">
                <a:solidFill>
                  <a:srgbClr val="1E8449"/>
                </a:solidFill>
                <a:latin typeface="Arial"/>
                <a:ea typeface="Arial"/>
                <a:cs typeface="Arial"/>
              </a:rPr>
              <a:t>Verkoop: 24 etuis per week.</a:t>
            </a:r>
          </a:p>
        </p:txBody>
      </p:sp>
    </p:spTree>
    <p:extLst>
      <p:ext uri="{BB962C8B-B14F-4D97-AF65-F5344CB8AC3E}">
        <p14:creationId xmlns:p14="http://schemas.microsoft.com/office/powerpoint/2010/main" val="527983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erkopers concurreren om kopers">
            <a:extLst xmlns:a="http://schemas.openxmlformats.org/drawingml/2006/main">
              <a:ext uri="{FF2B5EF4-FFF2-40B4-BE49-F238E27FC236}">
                <a16:creationId xmlns:a16="http://schemas.microsoft.com/office/drawing/2014/main" id="{60A44C6C-C03C-4ADC-8EB3-E77A17562B4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Verkopers concurreren om kopers</a:t>
            </a:r>
          </a:p>
        </p:txBody>
      </p:sp>
      <p:sp>
        <p:nvSpPr>
          <p:cNvPr id="2" name="">
            <a:extLst xmlns:a="http://schemas.openxmlformats.org/drawingml/2006/main">
              <a:ext uri="{FF2B5EF4-FFF2-40B4-BE49-F238E27FC236}">
                <a16:creationId xmlns:a16="http://schemas.microsoft.com/office/drawing/2014/main" id="{34758D41-EB31-4709-9CDB-A4589FEC3E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55F8F908-7161-4FFA-B36C-E8A58EBB814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5">
            <a:extLst xmlns:a="http://schemas.openxmlformats.org/drawingml/2006/main">
              <a:ext uri="{FF2B5EF4-FFF2-40B4-BE49-F238E27FC236}">
                <a16:creationId xmlns:a16="http://schemas.microsoft.com/office/drawing/2014/main" id="{F67329D7-7F8D-4648-8067-98FFF149252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Meer verkoopplannen dan koopplannen">
            <a:extLst xmlns:a="http://schemas.openxmlformats.org/drawingml/2006/main">
              <a:ext uri="{FF2B5EF4-FFF2-40B4-BE49-F238E27FC236}">
                <a16:creationId xmlns:a16="http://schemas.microsoft.com/office/drawing/2014/main" id="{2D63A8DB-C6E2-4FAE-BB00-83EA732B9093}"/>
              </a:ext>
            </a:extLst>
          </p:cNvPr>
          <p:cNvSpPr>
            <a:spLocks xmlns:a="http://schemas.openxmlformats.org/drawingml/2006/main" noGrp="1"/>
          </p:cNvSpPr>
          <p:nvPr/>
        </p:nvSpPr>
        <p:spPr>
          <a:xfrm xmlns:a="http://schemas.openxmlformats.org/drawingml/2006/main">
            <a:off x="571500" y="1924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Meer verkoopplannen dan koopplannen</a:t>
            </a:r>
          </a:p>
        </p:txBody>
      </p:sp>
      <p:sp>
        <p:nvSpPr>
          <p:cNvPr id="6" name="Het overschot geeft neerwaartse prijsdruk.">
            <a:extLst xmlns:a="http://schemas.openxmlformats.org/drawingml/2006/main">
              <a:ext uri="{FF2B5EF4-FFF2-40B4-BE49-F238E27FC236}">
                <a16:creationId xmlns:a16="http://schemas.microsoft.com/office/drawing/2014/main" id="{EFA979F7-93C8-4E0E-8227-E3373C3E75CD}"/>
              </a:ext>
            </a:extLst>
          </p:cNvPr>
          <p:cNvSpPr>
            <a:spLocks xmlns:a="http://schemas.openxmlformats.org/drawingml/2006/main" noGrp="1"/>
          </p:cNvSpPr>
          <p:nvPr/>
        </p:nvSpPr>
        <p:spPr>
          <a:xfrm xmlns:a="http://schemas.openxmlformats.org/drawingml/2006/main">
            <a:off x="571500" y="32004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Het overschot geeft neerwaartse prijsdruk.</a:t>
            </a:r>
          </a:p>
        </p:txBody>
      </p:sp>
      <p:graphicFrame>
        <p:nvGraphicFramePr>
          <p:cNvPr id="14" name=""/>
          <p:cNvGraphicFramePr/>
          <p:nvPr/>
        </p:nvGraphicFramePr>
        <p:xfrm>
          <a:off xmlns:a="http://schemas.openxmlformats.org/drawingml/2006/main" x="571500" y="4724400"/>
          <a:ext xmlns:a="http://schemas.openxmlformats.org/drawingml/2006/main" cx="14097000" cy="2457450"/>
        </p:xfrm>
        <a:graphic xmlns:a="http://schemas.openxmlformats.org/drawingml/2006/main">
          <a:graphicData uri="http://schemas.openxmlformats.org/drawingml/2006/table">
            <a:tbl>
              <a:tblPr/>
              <a:tblGrid>
                <a:gridCol w="8763000"/>
                <a:gridCol w="2667000"/>
                <a:gridCol w="2667000"/>
              </a:tblGrid>
              <a:tr h="819150">
                <a:tc>
                  <a:txBody>
                    <a:bodyPr lIns="171450" tIns="95250" rIns="152400" bIns="95250"/>
                    <a:lstStyle/>
                    <a:p>
                      <a:r>
                        <a:rPr sz="2475" b="1">
                          <a:solidFill>
                            <a:srgbClr val="FFFFFF"/>
                          </a:solidFill>
                          <a:latin typeface="Arial"/>
                          <a:ea typeface="Arial"/>
                          <a:cs typeface="Arial"/>
                        </a:rPr>
                        <a:t>Bij prijsdaling van € 12 naar € 10</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Eerst</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In evenwicht</a:t>
                      </a:r>
                    </a:p>
                  </a:txBody>
                  <a:tcPr marL="91440" marR="91440" marT="45720" marB="45720" anchor="ctr">
                    <a:solidFill>
                      <a:srgbClr val="183247"/>
                    </a:solidFill>
                  </a:tcPr>
                </a:tc>
              </a:tr>
              <a:tr h="819150">
                <a:tc>
                  <a:txBody>
                    <a:bodyPr lIns="171450" tIns="95250" rIns="152400" bIns="95250"/>
                    <a:lstStyle/>
                    <a:p>
                      <a:r>
                        <a:rPr sz="2475" b="0">
                          <a:solidFill>
                            <a:srgbClr val="183247"/>
                          </a:solidFill>
                          <a:latin typeface="Arial"/>
                          <a:ea typeface="Arial"/>
                          <a:cs typeface="Arial"/>
                        </a:rPr>
                        <a:t>Qᵥ langs V (etuis per week)</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32</a:t>
                      </a:r>
                    </a:p>
                  </a:txBody>
                  <a:tcPr marL="91440" marR="91440" marT="45720" marB="45720" anchor="ctr">
                    <a:solidFill>
                      <a:srgbClr val="FFFFFF"/>
                    </a:solidFill>
                  </a:tcPr>
                </a:tc>
              </a:tr>
              <a:tr h="819150">
                <a:tc>
                  <a:txBody>
                    <a:bodyPr lIns="171450" tIns="95250" rIns="152400" bIns="95250"/>
                    <a:lstStyle/>
                    <a:p>
                      <a:r>
                        <a:rPr sz="2475" b="0">
                          <a:solidFill>
                            <a:srgbClr val="183247"/>
                          </a:solidFill>
                          <a:latin typeface="Arial"/>
                          <a:ea typeface="Arial"/>
                          <a:cs typeface="Arial"/>
                        </a:rPr>
                        <a:t>Qₐ langs A (etuis per week)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32</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1443103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bij het uitlegvoorbeeld">
            <a:extLst xmlns:a="http://schemas.openxmlformats.org/drawingml/2006/main">
              <a:ext uri="{FF2B5EF4-FFF2-40B4-BE49-F238E27FC236}">
                <a16:creationId xmlns:a16="http://schemas.microsoft.com/office/drawing/2014/main" id="{73DCECEC-FCB3-4AA0-8818-C0CB7719D21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bij het uitlegvoorbeeld</a:t>
            </a:r>
          </a:p>
        </p:txBody>
      </p:sp>
      <p:sp>
        <p:nvSpPr>
          <p:cNvPr id="2" name="">
            <a:extLst xmlns:a="http://schemas.openxmlformats.org/drawingml/2006/main">
              <a:ext uri="{FF2B5EF4-FFF2-40B4-BE49-F238E27FC236}">
                <a16:creationId xmlns:a16="http://schemas.microsoft.com/office/drawing/2014/main" id="{BF74AF7A-E6D8-4E4B-885C-4EA200E6FA2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4EC435DF-22ED-46B4-9136-8C1217953D2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6">
            <a:extLst xmlns:a="http://schemas.openxmlformats.org/drawingml/2006/main">
              <a:ext uri="{FF2B5EF4-FFF2-40B4-BE49-F238E27FC236}">
                <a16:creationId xmlns:a16="http://schemas.microsoft.com/office/drawing/2014/main" id="{F2F5C31F-E106-4E9F-ADEC-442E97704E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Bij € 8 zijn Qᵥ = 40 en Qₐ = 24.">
            <a:extLst xmlns:a="http://schemas.openxmlformats.org/drawingml/2006/main">
              <a:ext uri="{FF2B5EF4-FFF2-40B4-BE49-F238E27FC236}">
                <a16:creationId xmlns:a16="http://schemas.microsoft.com/office/drawing/2014/main" id="{16F71816-2F6A-4808-8A2B-CF0157AE8131}"/>
              </a:ext>
            </a:extLst>
          </p:cNvPr>
          <p:cNvSpPr>
            <a:spLocks xmlns:a="http://schemas.openxmlformats.org/drawingml/2006/main" noGrp="1"/>
          </p:cNvSpPr>
          <p:nvPr/>
        </p:nvSpPr>
        <p:spPr>
          <a:xfrm xmlns:a="http://schemas.openxmlformats.org/drawingml/2006/main">
            <a:off x="571500" y="209550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Bij € 8 zijn Qᵥ = 40 en Qₐ = 24.</a:t>
            </a:r>
          </a:p>
        </p:txBody>
      </p:sp>
      <p:sp>
        <p:nvSpPr>
          <p:cNvPr id="6" name="“Het tekort is 16, dus er worden 16 etuis verkocht">
            <a:extLst xmlns:a="http://schemas.openxmlformats.org/drawingml/2006/main">
              <a:ext uri="{FF2B5EF4-FFF2-40B4-BE49-F238E27FC236}">
                <a16:creationId xmlns:a16="http://schemas.microsoft.com/office/drawing/2014/main" id="{8D96E8B6-5016-4FCC-B189-7232ADF57543}"/>
              </a:ext>
            </a:extLst>
          </p:cNvPr>
          <p:cNvSpPr>
            <a:spLocks xmlns:a="http://schemas.openxmlformats.org/drawingml/2006/main" noGrp="1"/>
          </p:cNvSpPr>
          <p:nvPr/>
        </p:nvSpPr>
        <p:spPr>
          <a:xfrm xmlns:a="http://schemas.openxmlformats.org/drawingml/2006/main">
            <a:off x="571500" y="382905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“Het tekort is 16, dus er worden 16 etuis verkocht.”</a:t>
            </a:r>
          </a:p>
        </p:txBody>
      </p:sp>
      <p:sp>
        <p:nvSpPr>
          <p:cNvPr id="7" name="Klopt dit onder onze transactieregel?&#10;Welke prijsd">
            <a:extLst xmlns:a="http://schemas.openxmlformats.org/drawingml/2006/main">
              <a:ext uri="{FF2B5EF4-FFF2-40B4-BE49-F238E27FC236}">
                <a16:creationId xmlns:a16="http://schemas.microsoft.com/office/drawing/2014/main" id="{9183470C-1613-42B8-9032-C111ACC8A5F6}"/>
              </a:ext>
            </a:extLst>
          </p:cNvPr>
          <p:cNvSpPr>
            <a:spLocks xmlns:a="http://schemas.openxmlformats.org/drawingml/2006/main" noGrp="1"/>
          </p:cNvSpPr>
          <p:nvPr/>
        </p:nvSpPr>
        <p:spPr>
          <a:xfrm xmlns:a="http://schemas.openxmlformats.org/drawingml/2006/main">
            <a:off x="571500" y="556260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Klopt dit onder onze transactieregel?</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Welke prijsdruk ontstaat?</a:t>
            </a:r>
          </a:p>
        </p:txBody>
      </p:sp>
    </p:spTree>
    <p:extLst>
      <p:ext uri="{BB962C8B-B14F-4D97-AF65-F5344CB8AC3E}">
        <p14:creationId xmlns:p14="http://schemas.microsoft.com/office/powerpoint/2010/main" val="20370444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2 Marktevenwicht">
            <a:extLst xmlns:a="http://schemas.openxmlformats.org/drawingml/2006/main">
              <a:ext uri="{FF2B5EF4-FFF2-40B4-BE49-F238E27FC236}">
                <a16:creationId xmlns:a16="http://schemas.microsoft.com/office/drawing/2014/main" id="{087BFFD2-87A1-4D75-9F05-C6B4C879FC6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§1.3.2 Marktevenwicht</a:t>
            </a:r>
          </a:p>
        </p:txBody>
      </p:sp>
      <p:sp>
        <p:nvSpPr>
          <p:cNvPr id="2" name="">
            <a:extLst xmlns:a="http://schemas.openxmlformats.org/drawingml/2006/main">
              <a:ext uri="{FF2B5EF4-FFF2-40B4-BE49-F238E27FC236}">
                <a16:creationId xmlns:a16="http://schemas.microsoft.com/office/drawing/2014/main" id="{3CB85830-C60F-49B4-BC1B-32C54004C4B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F7BE3A95-6AB4-48E5-8D1E-65695B0BD35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17">
            <a:extLst xmlns:a="http://schemas.openxmlformats.org/drawingml/2006/main">
              <a:ext uri="{FF2B5EF4-FFF2-40B4-BE49-F238E27FC236}">
                <a16:creationId xmlns:a16="http://schemas.microsoft.com/office/drawing/2014/main" id="{EEB846DA-D7E5-4194-9551-B2EBE094196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phase">
            <a:extLst xmlns:a="http://schemas.openxmlformats.org/drawingml/2006/main">
              <a:ext uri="{FF2B5EF4-FFF2-40B4-BE49-F238E27FC236}">
                <a16:creationId xmlns:a16="http://schemas.microsoft.com/office/drawing/2014/main" id="{F59AA60B-6E8C-489E-82BB-69C120E7419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FAEF8B50-6C89-45E4-82DD-040F24D30A5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8D951A9-9858-4CB1-904B-A5AA8F529AA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6248AB1-9178-4D3A-91C7-D117C1BD26F2}"/>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5DC4051-4DC7-44FC-938E-76289F8A045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BF58629-38BB-4CD7-9461-376228FB9B1E}"/>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FB4E6EE-9FFA-4A31-A359-93FA17B333D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97DC2754-04F2-469D-930E-B0F1EC7D8E8A}"/>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F449A427-33FC-4A06-A341-B2CD7E9CAA6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B81326A-A0B3-4DAA-B1C1-2C984D5318E1}"/>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7D1563A-B8E5-46CF-801D-DCC62228EA6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5F92F2E-9437-4562-8A9B-35C6F3C26A19}"/>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98EEC0F1-5FB6-4939-AE4A-EEF093F3EEB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E3B380FB-0446-4CA0-864D-E9A972C0C94C}"/>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20.</a:t>
            </a:r>
          </a:p>
        </p:txBody>
      </p:sp>
      <p:sp>
        <p:nvSpPr>
          <p:cNvPr id="19" name="route-number-7">
            <a:extLst xmlns:a="http://schemas.openxmlformats.org/drawingml/2006/main">
              <a:ext uri="{FF2B5EF4-FFF2-40B4-BE49-F238E27FC236}">
                <a16:creationId xmlns:a16="http://schemas.microsoft.com/office/drawing/2014/main" id="{365E89F2-46C6-4291-A86B-3D9D8CEC1B7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33145DB-8D3A-444B-8A4A-20E76F71CAEF}"/>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E4099CA-5F37-4FC0-9C48-C679879945D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FE5C6CA-B0C3-447C-AE57-CF45ADD2AB7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Evenwicht berekenen 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Overschot, verkoop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prijsdruk verklaren.</a:t>
            </a:r>
          </a:p>
        </p:txBody>
      </p:sp>
      <p:sp>
        <p:nvSpPr>
          <p:cNvPr id="23" name="">
            <a:extLst xmlns:a="http://schemas.openxmlformats.org/drawingml/2006/main">
              <a:ext uri="{FF2B5EF4-FFF2-40B4-BE49-F238E27FC236}">
                <a16:creationId xmlns:a16="http://schemas.microsoft.com/office/drawing/2014/main" id="{66D00DA3-0054-43ED-B262-CA9C9605C0D9}"/>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50B3DE81-3960-40C1-B8EB-F82B8B8C99D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3AD3055-659D-4F1C-AB63-94B46EC32BDB}"/>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102 · Opgaven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 verkennen, theorie p. 96–97</a:t>
            </a:r>
          </a:p>
        </p:txBody>
      </p:sp>
      <p:sp>
        <p:nvSpPr>
          <p:cNvPr id="26" name="">
            <a:extLst xmlns:a="http://schemas.openxmlformats.org/drawingml/2006/main">
              <a:ext uri="{FF2B5EF4-FFF2-40B4-BE49-F238E27FC236}">
                <a16:creationId xmlns:a16="http://schemas.microsoft.com/office/drawing/2014/main" id="{6CB54D79-8323-44E3-B4C6-C70CC00CF9F9}"/>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8297726-250A-4E2A-92FC-3F205A146F09}"/>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1129734-0F73-4F36-B3BF-D93D20F6CDB9}"/>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§1.3.2 Marktevenwicht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14, 15 en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17, 18 en 19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8291751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0 · Herbruikbare bekers">
            <a:extLst xmlns:a="http://schemas.openxmlformats.org/drawingml/2006/main">
              <a:ext uri="{FF2B5EF4-FFF2-40B4-BE49-F238E27FC236}">
                <a16:creationId xmlns:a16="http://schemas.microsoft.com/office/drawing/2014/main" id="{B7901ABF-126E-44CB-903B-B320736BEAA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 · Herbruikbare bekers</a:t>
            </a:r>
          </a:p>
        </p:txBody>
      </p:sp>
      <p:sp>
        <p:nvSpPr>
          <p:cNvPr id="2" name="">
            <a:extLst xmlns:a="http://schemas.openxmlformats.org/drawingml/2006/main">
              <a:ext uri="{FF2B5EF4-FFF2-40B4-BE49-F238E27FC236}">
                <a16:creationId xmlns:a16="http://schemas.microsoft.com/office/drawing/2014/main" id="{EA782C60-2B33-449D-83E9-7BF999A2BF2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967BFB91-804C-49B3-A253-8AF55DA04E2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18">
            <a:extLst xmlns:a="http://schemas.openxmlformats.org/drawingml/2006/main">
              <a:ext uri="{FF2B5EF4-FFF2-40B4-BE49-F238E27FC236}">
                <a16:creationId xmlns:a16="http://schemas.microsoft.com/office/drawing/2014/main" id="{8AA15C58-2496-47EA-8E37-E470190BC8E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Een markt verkoopt één soort herbruikbare beker. V">
            <a:extLst xmlns:a="http://schemas.openxmlformats.org/drawingml/2006/main">
              <a:ext uri="{FF2B5EF4-FFF2-40B4-BE49-F238E27FC236}">
                <a16:creationId xmlns:a16="http://schemas.microsoft.com/office/drawing/2014/main" id="{9DAB8B80-36DE-478B-97A2-26285EC68F81}"/>
              </a:ext>
            </a:extLst>
          </p:cNvPr>
          <p:cNvSpPr>
            <a:spLocks xmlns:a="http://schemas.openxmlformats.org/drawingml/2006/main" noGrp="1"/>
          </p:cNvSpPr>
          <p:nvPr/>
        </p:nvSpPr>
        <p:spPr>
          <a:xfrm xmlns:a="http://schemas.openxmlformats.org/drawingml/2006/main">
            <a:off x="571500" y="1838325"/>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markt verkoopt één soort herbruikbare beker. Veel kleine kopers en verkopers kunnen elkaar vinden. De overige omstandigheden blijven gelijk.</a:t>
            </a:r>
          </a:p>
        </p:txBody>
      </p:sp>
      <p:graphicFrame>
        <p:nvGraphicFramePr>
          <p:cNvPr id="13" name=""/>
          <p:cNvGraphicFramePr/>
          <p:nvPr/>
        </p:nvGraphicFramePr>
        <p:xfrm>
          <a:off xmlns:a="http://schemas.openxmlformats.org/drawingml/2006/main" x="571500" y="4143375"/>
          <a:ext xmlns:a="http://schemas.openxmlformats.org/drawingml/2006/main" cx="14097000" cy="2295525"/>
        </p:xfrm>
        <a:graphic xmlns:a="http://schemas.openxmlformats.org/drawingml/2006/main">
          <a:graphicData uri="http://schemas.openxmlformats.org/drawingml/2006/table">
            <a:tbl>
              <a:tblPr/>
              <a:tblGrid>
                <a:gridCol w="7048500"/>
                <a:gridCol w="7048500"/>
              </a:tblGrid>
              <a:tr h="765175">
                <a:tc>
                  <a:txBody>
                    <a:bodyPr lIns="171450" tIns="95250" rIns="152400" bIns="95250"/>
                    <a:lstStyle/>
                    <a:p>
                      <a:r>
                        <a:rPr sz="2850"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Aanbod</a:t>
                      </a:r>
                    </a:p>
                  </a:txBody>
                  <a:tcPr marL="91440" marR="91440" marT="45720" marB="45720" anchor="ctr">
                    <a:solidFill>
                      <a:srgbClr val="183247"/>
                    </a:solidFill>
                  </a:tcPr>
                </a:tc>
              </a:tr>
              <a:tr h="765175">
                <a:tc>
                  <a:txBody>
                    <a:bodyPr lIns="171450" tIns="95250" rIns="152400" bIns="95250"/>
                    <a:lstStyle/>
                    <a:p>
                      <a:r>
                        <a:rPr sz="2850" b="0">
                          <a:solidFill>
                            <a:srgbClr val="183247"/>
                          </a:solidFill>
                          <a:latin typeface="Arial"/>
                          <a:ea typeface="Arial"/>
                          <a:cs typeface="Arial"/>
                        </a:rPr>
                        <a:t>Qᵥ = 150 − 10P</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Qₐ = 5P − 30</a:t>
                      </a:r>
                    </a:p>
                  </a:txBody>
                  <a:tcPr marL="91440" marR="91440" marT="45720" marB="45720" anchor="ctr">
                    <a:solidFill>
                      <a:srgbClr val="FFFFFF"/>
                    </a:solidFill>
                  </a:tcPr>
                </a:tc>
              </a:tr>
              <a:tr h="765175">
                <a:tc>
                  <a:txBody>
                    <a:bodyPr lIns="171450" tIns="95250" rIns="152400" bIns="95250"/>
                    <a:lstStyle/>
                    <a:p>
                      <a:r>
                        <a:rPr sz="2850" b="0">
                          <a:solidFill>
                            <a:srgbClr val="183247"/>
                          </a:solidFill>
                          <a:latin typeface="Arial"/>
                          <a:ea typeface="Arial"/>
                          <a:cs typeface="Arial"/>
                        </a:rPr>
                        <a:t>0 ≤ P ≤ 15</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6 ≤ P ≤ 15</a:t>
                      </a:r>
                    </a:p>
                  </a:txBody>
                  <a:tcPr marL="91440" marR="91440" marT="45720" marB="45720" anchor="ctr">
                    <a:solidFill>
                      <a:srgbClr val="EFF4F7"/>
                    </a:solidFill>
                  </a:tcPr>
                </a:tc>
              </a:tr>
            </a:tbl>
          </a:graphicData>
        </a:graphic>
      </p:graphicFrame>
      <p:sp>
        <p:nvSpPr>
          <p:cNvPr id="7" name="Q is bekers per week; P is euro per beker.">
            <a:extLst xmlns:a="http://schemas.openxmlformats.org/drawingml/2006/main">
              <a:ext uri="{FF2B5EF4-FFF2-40B4-BE49-F238E27FC236}">
                <a16:creationId xmlns:a16="http://schemas.microsoft.com/office/drawing/2014/main" id="{F749C1DB-7182-4FBE-BCBA-AE38574F2DC1}"/>
              </a:ext>
            </a:extLst>
          </p:cNvPr>
          <p:cNvSpPr>
            <a:spLocks xmlns:a="http://schemas.openxmlformats.org/drawingml/2006/main" noGrp="1"/>
          </p:cNvSpPr>
          <p:nvPr/>
        </p:nvSpPr>
        <p:spPr>
          <a:xfrm xmlns:a="http://schemas.openxmlformats.org/drawingml/2006/main">
            <a:off x="571500" y="714375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Q is bekers per week; P is euro per beker.</a:t>
            </a:r>
          </a:p>
        </p:txBody>
      </p:sp>
    </p:spTree>
    <p:extLst>
      <p:ext uri="{BB962C8B-B14F-4D97-AF65-F5344CB8AC3E}">
        <p14:creationId xmlns:p14="http://schemas.microsoft.com/office/powerpoint/2010/main" val="13828156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0 · Deelvragen a, b en c">
            <a:extLst xmlns:a="http://schemas.openxmlformats.org/drawingml/2006/main">
              <a:ext uri="{FF2B5EF4-FFF2-40B4-BE49-F238E27FC236}">
                <a16:creationId xmlns:a16="http://schemas.microsoft.com/office/drawing/2014/main" id="{A05141EB-3D1D-4A04-934F-7F930BFA95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 · Deelvragen a, b en c</a:t>
            </a:r>
          </a:p>
        </p:txBody>
      </p:sp>
      <p:sp>
        <p:nvSpPr>
          <p:cNvPr id="2" name="">
            <a:extLst xmlns:a="http://schemas.openxmlformats.org/drawingml/2006/main">
              <a:ext uri="{FF2B5EF4-FFF2-40B4-BE49-F238E27FC236}">
                <a16:creationId xmlns:a16="http://schemas.microsoft.com/office/drawing/2014/main" id="{17936377-E539-4254-94BF-8F03ABCCCFD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629F2C07-8AEF-4B14-AC05-AFD89107AA1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19">
            <a:extLst xmlns:a="http://schemas.openxmlformats.org/drawingml/2006/main">
              <a:ext uri="{FF2B5EF4-FFF2-40B4-BE49-F238E27FC236}">
                <a16:creationId xmlns:a16="http://schemas.microsoft.com/office/drawing/2014/main" id="{AF52F9C3-51DA-4A86-AE28-928D85CB8F6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a. Bereken de evenwichtsprijs. Laat je algebraïsch">
            <a:extLst xmlns:a="http://schemas.openxmlformats.org/drawingml/2006/main">
              <a:ext uri="{FF2B5EF4-FFF2-40B4-BE49-F238E27FC236}">
                <a16:creationId xmlns:a16="http://schemas.microsoft.com/office/drawing/2014/main" id="{A7B5F840-5BC1-49F5-893B-7AA5E1A952E4}"/>
              </a:ext>
            </a:extLst>
          </p:cNvPr>
          <p:cNvSpPr>
            <a:spLocks xmlns:a="http://schemas.openxmlformats.org/drawingml/2006/main" noGrp="1"/>
          </p:cNvSpPr>
          <p:nvPr/>
        </p:nvSpPr>
        <p:spPr>
          <a:xfrm xmlns:a="http://schemas.openxmlformats.org/drawingml/2006/main">
            <a:off x="571500" y="194310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 Bereken de evenwichtsprijs. Laat je algebraïsche stappen zien.</a:t>
            </a:r>
          </a:p>
        </p:txBody>
      </p:sp>
      <p:sp>
        <p:nvSpPr>
          <p:cNvPr id="6" name="">
            <a:extLst xmlns:a="http://schemas.openxmlformats.org/drawingml/2006/main">
              <a:ext uri="{FF2B5EF4-FFF2-40B4-BE49-F238E27FC236}">
                <a16:creationId xmlns:a16="http://schemas.microsoft.com/office/drawing/2014/main" id="{28630BF4-4A77-4B2C-863A-86055F798625}"/>
              </a:ext>
            </a:extLst>
          </p:cNvPr>
          <p:cNvSpPr>
            <a:spLocks xmlns:a="http://schemas.openxmlformats.org/drawingml/2006/main" noGrp="1"/>
          </p:cNvSpPr>
          <p:nvPr/>
        </p:nvSpPr>
        <p:spPr>
          <a:xfrm xmlns:a="http://schemas.openxmlformats.org/drawingml/2006/main">
            <a:off x="571500" y="3476625"/>
            <a:ext cx="14097000" cy="0"/>
          </a:xfrm>
          <a:prstGeom xmlns:a="http://schemas.openxmlformats.org/drawingml/2006/main" prst="line">
            <a:avLst/>
          </a:prstGeom>
          <a:ln xmlns:a="http://schemas.openxmlformats.org/drawingml/2006/main" w="19050">
            <a:solidFill>
              <a:srgbClr val="C6D2DB"/>
            </a:solidFill>
          </a:ln>
        </p:spPr>
      </p:sp>
      <p:sp>
        <p:nvSpPr>
          <p:cNvPr id="7" name="b. Bereken de evenwichtshoeveelheid en controleer ">
            <a:extLst xmlns:a="http://schemas.openxmlformats.org/drawingml/2006/main">
              <a:ext uri="{FF2B5EF4-FFF2-40B4-BE49-F238E27FC236}">
                <a16:creationId xmlns:a16="http://schemas.microsoft.com/office/drawing/2014/main" id="{5BD35017-3AC9-401B-B7C8-87E5BF94F493}"/>
              </a:ext>
            </a:extLst>
          </p:cNvPr>
          <p:cNvSpPr>
            <a:spLocks xmlns:a="http://schemas.openxmlformats.org/drawingml/2006/main" noGrp="1"/>
          </p:cNvSpPr>
          <p:nvPr/>
        </p:nvSpPr>
        <p:spPr>
          <a:xfrm xmlns:a="http://schemas.openxmlformats.org/drawingml/2006/main">
            <a:off x="571500" y="393382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Bereken de evenwichtshoeveelheid en controleer die met beide functies. Leg de uitkomst uit in een zin met eenheden.</a:t>
            </a:r>
          </a:p>
        </p:txBody>
      </p:sp>
      <p:sp>
        <p:nvSpPr>
          <p:cNvPr id="8" name="">
            <a:extLst xmlns:a="http://schemas.openxmlformats.org/drawingml/2006/main">
              <a:ext uri="{FF2B5EF4-FFF2-40B4-BE49-F238E27FC236}">
                <a16:creationId xmlns:a16="http://schemas.microsoft.com/office/drawing/2014/main" id="{A4BC320F-ED45-4566-97FC-A0DF0AF801C1}"/>
              </a:ext>
            </a:extLst>
          </p:cNvPr>
          <p:cNvSpPr>
            <a:spLocks xmlns:a="http://schemas.openxmlformats.org/drawingml/2006/main" noGrp="1"/>
          </p:cNvSpPr>
          <p:nvPr/>
        </p:nvSpPr>
        <p:spPr>
          <a:xfrm xmlns:a="http://schemas.openxmlformats.org/drawingml/2006/main">
            <a:off x="571500" y="5810250"/>
            <a:ext cx="14097000" cy="0"/>
          </a:xfrm>
          <a:prstGeom xmlns:a="http://schemas.openxmlformats.org/drawingml/2006/main" prst="line">
            <a:avLst/>
          </a:prstGeom>
          <a:ln xmlns:a="http://schemas.openxmlformats.org/drawingml/2006/main" w="19050">
            <a:solidFill>
              <a:srgbClr val="C6D2DB"/>
            </a:solidFill>
          </a:ln>
        </p:spPr>
      </p:sp>
      <p:sp>
        <p:nvSpPr>
          <p:cNvPr id="9" name="c. Teken zelf beide lijnen in één marktgrafiek. Ge">
            <a:extLst xmlns:a="http://schemas.openxmlformats.org/drawingml/2006/main">
              <a:ext uri="{FF2B5EF4-FFF2-40B4-BE49-F238E27FC236}">
                <a16:creationId xmlns:a16="http://schemas.microsoft.com/office/drawing/2014/main" id="{F498C17A-8B21-48DC-B0FA-F4A56D28AD98}"/>
              </a:ext>
            </a:extLst>
          </p:cNvPr>
          <p:cNvSpPr>
            <a:spLocks xmlns:a="http://schemas.openxmlformats.org/drawingml/2006/main" noGrp="1"/>
          </p:cNvSpPr>
          <p:nvPr/>
        </p:nvSpPr>
        <p:spPr>
          <a:xfrm xmlns:a="http://schemas.openxmlformats.org/drawingml/2006/main">
            <a:off x="571500" y="6276975"/>
            <a:ext cx="14097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 Teken zelf beide lijnen in één marktgrafiek. Geef de assen, eenheden, schaal, E en hulplijnen naar de evenwichtsprijs en -hoeveelheid aan.</a:t>
            </a:r>
          </a:p>
        </p:txBody>
      </p:sp>
    </p:spTree>
    <p:extLst>
      <p:ext uri="{BB962C8B-B14F-4D97-AF65-F5344CB8AC3E}">
        <p14:creationId xmlns:p14="http://schemas.microsoft.com/office/powerpoint/2010/main" val="19490761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0 · Deelvragen d en e">
            <a:extLst xmlns:a="http://schemas.openxmlformats.org/drawingml/2006/main">
              <a:ext uri="{FF2B5EF4-FFF2-40B4-BE49-F238E27FC236}">
                <a16:creationId xmlns:a16="http://schemas.microsoft.com/office/drawing/2014/main" id="{2550E7DA-E022-42FC-BBE4-62A0650672D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 · Deelvragen d en e</a:t>
            </a:r>
          </a:p>
        </p:txBody>
      </p:sp>
      <p:sp>
        <p:nvSpPr>
          <p:cNvPr id="2" name="">
            <a:extLst xmlns:a="http://schemas.openxmlformats.org/drawingml/2006/main">
              <a:ext uri="{FF2B5EF4-FFF2-40B4-BE49-F238E27FC236}">
                <a16:creationId xmlns:a16="http://schemas.microsoft.com/office/drawing/2014/main" id="{94473B19-73F9-442C-ACC7-A8EE5A2FD6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85B9AF05-EF08-4A5C-8441-FB0AD1014EC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0">
            <a:extLst xmlns:a="http://schemas.openxmlformats.org/drawingml/2006/main">
              <a:ext uri="{FF2B5EF4-FFF2-40B4-BE49-F238E27FC236}">
                <a16:creationId xmlns:a16="http://schemas.microsoft.com/office/drawing/2014/main" id="{5A6D0628-ABEE-4629-A960-8565ACD954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d. Aan het begin geldt nog een prijs van € 10.&#10;Ber">
            <a:extLst xmlns:a="http://schemas.openxmlformats.org/drawingml/2006/main">
              <a:ext uri="{FF2B5EF4-FFF2-40B4-BE49-F238E27FC236}">
                <a16:creationId xmlns:a16="http://schemas.microsoft.com/office/drawing/2014/main" id="{58C91FF3-2CB7-417B-A5CE-7AA86CC1C465}"/>
              </a:ext>
            </a:extLst>
          </p:cNvPr>
          <p:cNvSpPr>
            <a:spLocks xmlns:a="http://schemas.openxmlformats.org/drawingml/2006/main" noGrp="1"/>
          </p:cNvSpPr>
          <p:nvPr/>
        </p:nvSpPr>
        <p:spPr>
          <a:xfrm xmlns:a="http://schemas.openxmlformats.org/drawingml/2006/main">
            <a:off x="571500" y="1943100"/>
            <a:ext cx="140970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 Aan het begin geldt nog een prijs van € 10.</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Qᵥ, Qₐ en het tekort of overschot bij die prijs.</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Hoeveel bekers worden verkocht als al het aanbod een koper vindt, er geen andere voorraad is en niets anders de verkoop belemmert?</a:t>
            </a:r>
          </a:p>
        </p:txBody>
      </p:sp>
      <p:sp>
        <p:nvSpPr>
          <p:cNvPr id="6" name="">
            <a:extLst xmlns:a="http://schemas.openxmlformats.org/drawingml/2006/main">
              <a:ext uri="{FF2B5EF4-FFF2-40B4-BE49-F238E27FC236}">
                <a16:creationId xmlns:a16="http://schemas.microsoft.com/office/drawing/2014/main" id="{8EBD8DC8-EBCB-4D51-BE32-D8B56E3788B0}"/>
              </a:ext>
            </a:extLst>
          </p:cNvPr>
          <p:cNvSpPr>
            <a:spLocks xmlns:a="http://schemas.openxmlformats.org/drawingml/2006/main" noGrp="1"/>
          </p:cNvSpPr>
          <p:nvPr/>
        </p:nvSpPr>
        <p:spPr>
          <a:xfrm xmlns:a="http://schemas.openxmlformats.org/drawingml/2006/main">
            <a:off x="571500" y="5248275"/>
            <a:ext cx="14097000" cy="0"/>
          </a:xfrm>
          <a:prstGeom xmlns:a="http://schemas.openxmlformats.org/drawingml/2006/main" prst="line">
            <a:avLst/>
          </a:prstGeom>
          <a:ln xmlns:a="http://schemas.openxmlformats.org/drawingml/2006/main" w="19050">
            <a:solidFill>
              <a:srgbClr val="C6D2DB"/>
            </a:solidFill>
          </a:ln>
        </p:spPr>
      </p:sp>
      <p:sp>
        <p:nvSpPr>
          <p:cNvPr id="7" name="e. De prijs kan zich daarna aanpassen. Verklaar de">
            <a:extLst xmlns:a="http://schemas.openxmlformats.org/drawingml/2006/main">
              <a:ext uri="{FF2B5EF4-FFF2-40B4-BE49-F238E27FC236}">
                <a16:creationId xmlns:a16="http://schemas.microsoft.com/office/drawing/2014/main" id="{6532C9B7-D78A-40E1-A0CC-8AA5BB696D20}"/>
              </a:ext>
            </a:extLst>
          </p:cNvPr>
          <p:cNvSpPr>
            <a:spLocks xmlns:a="http://schemas.openxmlformats.org/drawingml/2006/main" noGrp="1"/>
          </p:cNvSpPr>
          <p:nvPr/>
        </p:nvSpPr>
        <p:spPr>
          <a:xfrm xmlns:a="http://schemas.openxmlformats.org/drawingml/2006/main">
            <a:off x="571500" y="5781675"/>
            <a:ext cx="140970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 De prijs kan zich daarna aanpassen. Verklaar de richting van de prijsdruk en de reacties van kopers en verkopers langs de bestaande lijnen.</a:t>
            </a:r>
          </a:p>
        </p:txBody>
      </p:sp>
    </p:spTree>
    <p:extLst>
      <p:ext uri="{BB962C8B-B14F-4D97-AF65-F5344CB8AC3E}">
        <p14:creationId xmlns:p14="http://schemas.microsoft.com/office/powerpoint/2010/main" val="294987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pgave 20a · De evenwichtsprijs">
            <a:extLst xmlns:a="http://schemas.openxmlformats.org/drawingml/2006/main">
              <a:ext uri="{FF2B5EF4-FFF2-40B4-BE49-F238E27FC236}">
                <a16:creationId xmlns:a16="http://schemas.microsoft.com/office/drawing/2014/main" id="{4100B261-FF5D-42BE-9C2E-3A9FEF9CBCC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20a · De evenwichtsprijs</a:t>
            </a:r>
          </a:p>
        </p:txBody>
      </p:sp>
      <p:sp>
        <p:nvSpPr>
          <p:cNvPr id="2" name="">
            <a:extLst xmlns:a="http://schemas.openxmlformats.org/drawingml/2006/main">
              <a:ext uri="{FF2B5EF4-FFF2-40B4-BE49-F238E27FC236}">
                <a16:creationId xmlns:a16="http://schemas.microsoft.com/office/drawing/2014/main" id="{5244FCC0-5B24-4927-B79B-8C62CFFA9D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7DE025C8-5F60-4A9A-B3AB-26A80705AB0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1">
            <a:extLst xmlns:a="http://schemas.openxmlformats.org/drawingml/2006/main">
              <a:ext uri="{FF2B5EF4-FFF2-40B4-BE49-F238E27FC236}">
                <a16:creationId xmlns:a16="http://schemas.microsoft.com/office/drawing/2014/main" id="{DFF29903-2BCF-41C8-843B-36E70C07F09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Evenwicht: Qᵥ = Qₐ">
            <a:extLst xmlns:a="http://schemas.openxmlformats.org/drawingml/2006/main">
              <a:ext uri="{FF2B5EF4-FFF2-40B4-BE49-F238E27FC236}">
                <a16:creationId xmlns:a16="http://schemas.microsoft.com/office/drawing/2014/main" id="{8C774121-DBF9-428C-9C23-E0566556D762}"/>
              </a:ext>
            </a:extLst>
          </p:cNvPr>
          <p:cNvSpPr>
            <a:spLocks xmlns:a="http://schemas.openxmlformats.org/drawingml/2006/main" noGrp="1"/>
          </p:cNvSpPr>
          <p:nvPr/>
        </p:nvSpPr>
        <p:spPr>
          <a:xfrm xmlns:a="http://schemas.openxmlformats.org/drawingml/2006/main">
            <a:off x="571500" y="18097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Evenwicht: Qᵥ = Qₐ</a:t>
            </a:r>
          </a:p>
        </p:txBody>
      </p:sp>
      <p:sp>
        <p:nvSpPr>
          <p:cNvPr id="6" name="150 − 10P = 5P − 30">
            <a:extLst xmlns:a="http://schemas.openxmlformats.org/drawingml/2006/main">
              <a:ext uri="{FF2B5EF4-FFF2-40B4-BE49-F238E27FC236}">
                <a16:creationId xmlns:a16="http://schemas.microsoft.com/office/drawing/2014/main" id="{BE4BDF48-1FBE-4EFF-8D4B-625BE659C8DB}"/>
              </a:ext>
            </a:extLst>
          </p:cNvPr>
          <p:cNvSpPr>
            <a:spLocks xmlns:a="http://schemas.openxmlformats.org/drawingml/2006/main" noGrp="1"/>
          </p:cNvSpPr>
          <p:nvPr/>
        </p:nvSpPr>
        <p:spPr>
          <a:xfrm xmlns:a="http://schemas.openxmlformats.org/drawingml/2006/main">
            <a:off x="571500" y="281940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150 − 10P = 5P − 30</a:t>
            </a:r>
          </a:p>
        </p:txBody>
      </p:sp>
      <p:sp>
        <p:nvSpPr>
          <p:cNvPr id="7" name="">
            <a:extLst xmlns:a="http://schemas.openxmlformats.org/drawingml/2006/main">
              <a:ext uri="{FF2B5EF4-FFF2-40B4-BE49-F238E27FC236}">
                <a16:creationId xmlns:a16="http://schemas.microsoft.com/office/drawing/2014/main" id="{3A219891-06BA-4A5D-A3D3-7294F8683ED5}"/>
              </a:ext>
            </a:extLst>
          </p:cNvPr>
          <p:cNvSpPr>
            <a:spLocks xmlns:a="http://schemas.openxmlformats.org/drawingml/2006/main" noGrp="1"/>
          </p:cNvSpPr>
          <p:nvPr/>
        </p:nvSpPr>
        <p:spPr>
          <a:xfrm xmlns:a="http://schemas.openxmlformats.org/drawingml/2006/main">
            <a:off x="7858125" y="28765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150 = 15P − 30">
            <a:extLst xmlns:a="http://schemas.openxmlformats.org/drawingml/2006/main">
              <a:ext uri="{FF2B5EF4-FFF2-40B4-BE49-F238E27FC236}">
                <a16:creationId xmlns:a16="http://schemas.microsoft.com/office/drawing/2014/main" id="{C656F15F-2EE8-474E-A43D-41D3EC38131C}"/>
              </a:ext>
            </a:extLst>
          </p:cNvPr>
          <p:cNvSpPr>
            <a:spLocks xmlns:a="http://schemas.openxmlformats.org/drawingml/2006/main" noGrp="1"/>
          </p:cNvSpPr>
          <p:nvPr/>
        </p:nvSpPr>
        <p:spPr>
          <a:xfrm xmlns:a="http://schemas.openxmlformats.org/drawingml/2006/main">
            <a:off x="571500" y="390525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150 = 15P − 30</a:t>
            </a:r>
          </a:p>
        </p:txBody>
      </p:sp>
      <p:sp>
        <p:nvSpPr>
          <p:cNvPr id="9" name="+10P aan beide kanten">
            <a:extLst xmlns:a="http://schemas.openxmlformats.org/drawingml/2006/main">
              <a:ext uri="{FF2B5EF4-FFF2-40B4-BE49-F238E27FC236}">
                <a16:creationId xmlns:a16="http://schemas.microsoft.com/office/drawing/2014/main" id="{2DD3DBEC-4923-41F4-ACC3-75B63E98BBD5}"/>
              </a:ext>
            </a:extLst>
          </p:cNvPr>
          <p:cNvSpPr>
            <a:spLocks xmlns:a="http://schemas.openxmlformats.org/drawingml/2006/main" noGrp="1"/>
          </p:cNvSpPr>
          <p:nvPr/>
        </p:nvSpPr>
        <p:spPr>
          <a:xfrm xmlns:a="http://schemas.openxmlformats.org/drawingml/2006/main">
            <a:off x="7858125" y="39624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+10P aan beide kanten</a:t>
            </a:r>
          </a:p>
        </p:txBody>
      </p:sp>
      <p:sp>
        <p:nvSpPr>
          <p:cNvPr id="10" name="180 = 15P">
            <a:extLst xmlns:a="http://schemas.openxmlformats.org/drawingml/2006/main">
              <a:ext uri="{FF2B5EF4-FFF2-40B4-BE49-F238E27FC236}">
                <a16:creationId xmlns:a16="http://schemas.microsoft.com/office/drawing/2014/main" id="{6674B015-ACCF-4E26-A8C4-989020E41CCD}"/>
              </a:ext>
            </a:extLst>
          </p:cNvPr>
          <p:cNvSpPr>
            <a:spLocks xmlns:a="http://schemas.openxmlformats.org/drawingml/2006/main" noGrp="1"/>
          </p:cNvSpPr>
          <p:nvPr/>
        </p:nvSpPr>
        <p:spPr>
          <a:xfrm xmlns:a="http://schemas.openxmlformats.org/drawingml/2006/main">
            <a:off x="571500" y="499110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180 = 15P</a:t>
            </a:r>
          </a:p>
        </p:txBody>
      </p:sp>
      <p:sp>
        <p:nvSpPr>
          <p:cNvPr id="11" name="+30 aan beide kanten">
            <a:extLst xmlns:a="http://schemas.openxmlformats.org/drawingml/2006/main">
              <a:ext uri="{FF2B5EF4-FFF2-40B4-BE49-F238E27FC236}">
                <a16:creationId xmlns:a16="http://schemas.microsoft.com/office/drawing/2014/main" id="{DB3A1D42-B48D-48A7-83A0-710F03F696B4}"/>
              </a:ext>
            </a:extLst>
          </p:cNvPr>
          <p:cNvSpPr>
            <a:spLocks xmlns:a="http://schemas.openxmlformats.org/drawingml/2006/main" noGrp="1"/>
          </p:cNvSpPr>
          <p:nvPr/>
        </p:nvSpPr>
        <p:spPr>
          <a:xfrm xmlns:a="http://schemas.openxmlformats.org/drawingml/2006/main">
            <a:off x="7858125" y="50482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+30 aan beide kanten</a:t>
            </a:r>
          </a:p>
        </p:txBody>
      </p:sp>
      <p:sp>
        <p:nvSpPr>
          <p:cNvPr id="12" name="P = 12">
            <a:extLst xmlns:a="http://schemas.openxmlformats.org/drawingml/2006/main">
              <a:ext uri="{FF2B5EF4-FFF2-40B4-BE49-F238E27FC236}">
                <a16:creationId xmlns:a16="http://schemas.microsoft.com/office/drawing/2014/main" id="{90DB731B-CBAE-4320-8DEE-4EFA8B5777BC}"/>
              </a:ext>
            </a:extLst>
          </p:cNvPr>
          <p:cNvSpPr>
            <a:spLocks xmlns:a="http://schemas.openxmlformats.org/drawingml/2006/main" noGrp="1"/>
          </p:cNvSpPr>
          <p:nvPr/>
        </p:nvSpPr>
        <p:spPr>
          <a:xfrm xmlns:a="http://schemas.openxmlformats.org/drawingml/2006/main">
            <a:off x="571500" y="607695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P = 12</a:t>
            </a:r>
          </a:p>
        </p:txBody>
      </p:sp>
      <p:sp>
        <p:nvSpPr>
          <p:cNvPr id="13" name="beide kanten delen door 15">
            <a:extLst xmlns:a="http://schemas.openxmlformats.org/drawingml/2006/main">
              <a:ext uri="{FF2B5EF4-FFF2-40B4-BE49-F238E27FC236}">
                <a16:creationId xmlns:a16="http://schemas.microsoft.com/office/drawing/2014/main" id="{71A3CE2C-7E02-46F0-A661-759EC0847778}"/>
              </a:ext>
            </a:extLst>
          </p:cNvPr>
          <p:cNvSpPr>
            <a:spLocks xmlns:a="http://schemas.openxmlformats.org/drawingml/2006/main" noGrp="1"/>
          </p:cNvSpPr>
          <p:nvPr/>
        </p:nvSpPr>
        <p:spPr>
          <a:xfrm xmlns:a="http://schemas.openxmlformats.org/drawingml/2006/main">
            <a:off x="7858125" y="61341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beide kanten delen door 15</a:t>
            </a:r>
          </a:p>
        </p:txBody>
      </p:sp>
      <p:sp>
        <p:nvSpPr>
          <p:cNvPr id="14" name="€ 12 per beker valt binnen beide domeinen.">
            <a:extLst xmlns:a="http://schemas.openxmlformats.org/drawingml/2006/main">
              <a:ext uri="{FF2B5EF4-FFF2-40B4-BE49-F238E27FC236}">
                <a16:creationId xmlns:a16="http://schemas.microsoft.com/office/drawing/2014/main" id="{FA81FD78-196F-43D5-8ACB-846C3E66B426}"/>
              </a:ext>
            </a:extLst>
          </p:cNvPr>
          <p:cNvSpPr>
            <a:spLocks xmlns:a="http://schemas.openxmlformats.org/drawingml/2006/main" noGrp="1"/>
          </p:cNvSpPr>
          <p:nvPr/>
        </p:nvSpPr>
        <p:spPr>
          <a:xfrm xmlns:a="http://schemas.openxmlformats.org/drawingml/2006/main">
            <a:off x="571500" y="743902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€ 12 per beker valt binnen beide domeinen.</a:t>
            </a:r>
          </a:p>
        </p:txBody>
      </p:sp>
    </p:spTree>
    <p:extLst>
      <p:ext uri="{BB962C8B-B14F-4D97-AF65-F5344CB8AC3E}">
        <p14:creationId xmlns:p14="http://schemas.microsoft.com/office/powerpoint/2010/main" val="119338070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0b · Hoeveelheid en controle">
            <a:extLst xmlns:a="http://schemas.openxmlformats.org/drawingml/2006/main">
              <a:ext uri="{FF2B5EF4-FFF2-40B4-BE49-F238E27FC236}">
                <a16:creationId xmlns:a16="http://schemas.microsoft.com/office/drawing/2014/main" id="{23A0FF00-40F0-4CFE-B290-ADACB46F366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20b · Hoeveelheid en controle</a:t>
            </a:r>
          </a:p>
        </p:txBody>
      </p:sp>
      <p:sp>
        <p:nvSpPr>
          <p:cNvPr id="2" name="">
            <a:extLst xmlns:a="http://schemas.openxmlformats.org/drawingml/2006/main">
              <a:ext uri="{FF2B5EF4-FFF2-40B4-BE49-F238E27FC236}">
                <a16:creationId xmlns:a16="http://schemas.microsoft.com/office/drawing/2014/main" id="{F952A0D0-22E4-49B4-BFC3-398ABB38E28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73ADA7E0-1C76-4B6C-BFF8-29BA646FD32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2">
            <a:extLst xmlns:a="http://schemas.openxmlformats.org/drawingml/2006/main">
              <a:ext uri="{FF2B5EF4-FFF2-40B4-BE49-F238E27FC236}">
                <a16:creationId xmlns:a16="http://schemas.microsoft.com/office/drawing/2014/main" id="{9367857B-5D7F-420E-8A1B-2CF38CCD0E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Vraag: Qᵥ = 150 − 10 × 12 = 30">
            <a:extLst xmlns:a="http://schemas.openxmlformats.org/drawingml/2006/main">
              <a:ext uri="{FF2B5EF4-FFF2-40B4-BE49-F238E27FC236}">
                <a16:creationId xmlns:a16="http://schemas.microsoft.com/office/drawing/2014/main" id="{F1E3E4ED-8717-49E8-A486-31D0F0B1D771}"/>
              </a:ext>
            </a:extLst>
          </p:cNvPr>
          <p:cNvSpPr>
            <a:spLocks xmlns:a="http://schemas.openxmlformats.org/drawingml/2006/main" noGrp="1"/>
          </p:cNvSpPr>
          <p:nvPr/>
        </p:nvSpPr>
        <p:spPr>
          <a:xfrm xmlns:a="http://schemas.openxmlformats.org/drawingml/2006/main">
            <a:off x="571500" y="23241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Vraag: Qᵥ = 150 − 10 × 12 = 30</a:t>
            </a:r>
          </a:p>
        </p:txBody>
      </p:sp>
      <p:sp>
        <p:nvSpPr>
          <p:cNvPr id="6" name="Aanbod: Qₐ = 5 × 12 − 30 = 30">
            <a:extLst xmlns:a="http://schemas.openxmlformats.org/drawingml/2006/main">
              <a:ext uri="{FF2B5EF4-FFF2-40B4-BE49-F238E27FC236}">
                <a16:creationId xmlns:a16="http://schemas.microsoft.com/office/drawing/2014/main" id="{418F3606-FC9B-41F4-9C95-D23DEE53D010}"/>
              </a:ext>
            </a:extLst>
          </p:cNvPr>
          <p:cNvSpPr>
            <a:spLocks xmlns:a="http://schemas.openxmlformats.org/drawingml/2006/main" noGrp="1"/>
          </p:cNvSpPr>
          <p:nvPr/>
        </p:nvSpPr>
        <p:spPr>
          <a:xfrm xmlns:a="http://schemas.openxmlformats.org/drawingml/2006/main">
            <a:off x="571500" y="38766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E8449"/>
                </a:solidFill>
                <a:latin typeface="Arial"/>
                <a:ea typeface="Arial"/>
                <a:cs typeface="Arial"/>
              </a:defRPr>
            </a:pPr>
            <a:r>
              <a:rPr sz="3375" b="1">
                <a:solidFill>
                  <a:srgbClr val="1E8449"/>
                </a:solidFill>
                <a:latin typeface="Arial"/>
                <a:ea typeface="Arial"/>
                <a:cs typeface="Arial"/>
              </a:rPr>
              <a:t>Aanbod: Qₐ = 5 × 12 − 30 = 30</a:t>
            </a:r>
          </a:p>
        </p:txBody>
      </p:sp>
      <p:sp>
        <p:nvSpPr>
          <p:cNvPr id="7" name="">
            <a:extLst xmlns:a="http://schemas.openxmlformats.org/drawingml/2006/main">
              <a:ext uri="{FF2B5EF4-FFF2-40B4-BE49-F238E27FC236}">
                <a16:creationId xmlns:a16="http://schemas.microsoft.com/office/drawing/2014/main" id="{21BBB4A7-9B59-4C29-B140-D25F7F97F70D}"/>
              </a:ext>
            </a:extLst>
          </p:cNvPr>
          <p:cNvSpPr>
            <a:spLocks xmlns:a="http://schemas.openxmlformats.org/drawingml/2006/main" noGrp="1"/>
          </p:cNvSpPr>
          <p:nvPr/>
        </p:nvSpPr>
        <p:spPr>
          <a:xfrm xmlns:a="http://schemas.openxmlformats.org/drawingml/2006/main">
            <a:off x="571500" y="5419725"/>
            <a:ext cx="14097000" cy="0"/>
          </a:xfrm>
          <a:prstGeom xmlns:a="http://schemas.openxmlformats.org/drawingml/2006/main" prst="line">
            <a:avLst/>
          </a:prstGeom>
          <a:ln xmlns:a="http://schemas.openxmlformats.org/drawingml/2006/main" w="19050">
            <a:solidFill>
              <a:srgbClr val="C6D2DB"/>
            </a:solidFill>
          </a:ln>
        </p:spPr>
      </p:sp>
      <p:sp>
        <p:nvSpPr>
          <p:cNvPr id="8" name="Bij € 12 per beker sluiten beide plannen voor&#10;30 b">
            <a:extLst xmlns:a="http://schemas.openxmlformats.org/drawingml/2006/main">
              <a:ext uri="{FF2B5EF4-FFF2-40B4-BE49-F238E27FC236}">
                <a16:creationId xmlns:a16="http://schemas.microsoft.com/office/drawing/2014/main" id="{1BE9A55C-5C41-4C30-8568-3F3AE533D5CC}"/>
              </a:ext>
            </a:extLst>
          </p:cNvPr>
          <p:cNvSpPr>
            <a:spLocks xmlns:a="http://schemas.openxmlformats.org/drawingml/2006/main" noGrp="1"/>
          </p:cNvSpPr>
          <p:nvPr/>
        </p:nvSpPr>
        <p:spPr>
          <a:xfrm xmlns:a="http://schemas.openxmlformats.org/drawingml/2006/main">
            <a:off x="571500" y="6124575"/>
            <a:ext cx="14097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Bij € 12 per beker sluiten beide plannen voor</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30 bekers per week op elkaar aan.</a:t>
            </a:r>
          </a:p>
        </p:txBody>
      </p:sp>
    </p:spTree>
    <p:extLst>
      <p:ext uri="{BB962C8B-B14F-4D97-AF65-F5344CB8AC3E}">
        <p14:creationId xmlns:p14="http://schemas.microsoft.com/office/powerpoint/2010/main" val="35554192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0c · Punten voor de tekening">
            <a:extLst xmlns:a="http://schemas.openxmlformats.org/drawingml/2006/main">
              <a:ext uri="{FF2B5EF4-FFF2-40B4-BE49-F238E27FC236}">
                <a16:creationId xmlns:a16="http://schemas.microsoft.com/office/drawing/2014/main" id="{12E8AC21-3219-47A3-93CD-82DB1EDA27F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20c · Punten voor de tekening</a:t>
            </a:r>
          </a:p>
        </p:txBody>
      </p:sp>
      <p:sp>
        <p:nvSpPr>
          <p:cNvPr id="2" name="">
            <a:extLst xmlns:a="http://schemas.openxmlformats.org/drawingml/2006/main">
              <a:ext uri="{FF2B5EF4-FFF2-40B4-BE49-F238E27FC236}">
                <a16:creationId xmlns:a16="http://schemas.microsoft.com/office/drawing/2014/main" id="{DED207C2-ABD8-4368-8E94-6EAA8C2FC38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E929ABB9-01B3-4726-845C-7E8DA2E7C5E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3">
            <a:extLst xmlns:a="http://schemas.openxmlformats.org/drawingml/2006/main">
              <a:ext uri="{FF2B5EF4-FFF2-40B4-BE49-F238E27FC236}">
                <a16:creationId xmlns:a16="http://schemas.microsoft.com/office/drawing/2014/main" id="{6DC0C5E6-DF03-4D5E-BC99-75A9995B75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1" name=""/>
          <p:cNvGraphicFramePr/>
          <p:nvPr/>
        </p:nvGraphicFramePr>
        <p:xfrm>
          <a:off xmlns:a="http://schemas.openxmlformats.org/drawingml/2006/main" x="571500" y="2085975"/>
          <a:ext xmlns:a="http://schemas.openxmlformats.org/drawingml/2006/main" cx="14097000" cy="3638550"/>
        </p:xfrm>
        <a:graphic xmlns:a="http://schemas.openxmlformats.org/drawingml/2006/main">
          <a:graphicData uri="http://schemas.openxmlformats.org/drawingml/2006/table">
            <a:tbl>
              <a:tblPr/>
              <a:tblGrid>
                <a:gridCol w="1428750"/>
                <a:gridCol w="9239250"/>
                <a:gridCol w="3429000"/>
              </a:tblGrid>
              <a:tr h="1212850">
                <a:tc>
                  <a:txBody>
                    <a:bodyPr lIns="171450" tIns="95250" rIns="152400" bIns="95250"/>
                    <a:lstStyle/>
                    <a:p>
                      <a:r>
                        <a:rPr sz="2400" b="1">
                          <a:solidFill>
                            <a:srgbClr val="FFFFFF"/>
                          </a:solidFill>
                          <a:latin typeface="Arial"/>
                          <a:ea typeface="Arial"/>
                          <a:cs typeface="Arial"/>
                        </a:rPr>
                        <a:t>Lijn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Punt (Q; P)</a:t>
                      </a:r>
                    </a:p>
                  </a:txBody>
                  <a:tcPr marL="91440" marR="91440" marT="45720" marB="45720" anchor="ctr">
                    <a:solidFill>
                      <a:srgbClr val="183247"/>
                    </a:solidFill>
                  </a:tcPr>
                </a:tc>
              </a:tr>
              <a:tr h="1212850">
                <a:tc>
                  <a:txBody>
                    <a:bodyPr lIns="171450" tIns="95250" rIns="152400" bIns="95250"/>
                    <a:lstStyle/>
                    <a:p>
                      <a:r>
                        <a:rPr sz="2400" b="0">
                          <a:solidFill>
                            <a:srgbClr val="183247"/>
                          </a:solidFill>
                          <a:latin typeface="Arial"/>
                          <a:ea typeface="Arial"/>
                          <a:cs typeface="Arial"/>
                        </a:rPr>
                        <a:t>V</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Qᵥ = 0: 150 − 10P = 0, dus P = 15</a:t>
                      </a:r>
                    </a:p>
                    <a:p>
                      <a:r>
                        <a:rPr sz="2400" b="0">
                          <a:solidFill>
                            <a:srgbClr val="183247"/>
                          </a:solidFill>
                          <a:latin typeface="Arial"/>
                          <a:ea typeface="Arial"/>
                          <a:cs typeface="Arial"/>
                        </a:rPr>
                        <a:t>P = 0: Qᵥ = 150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 15)</a:t>
                      </a:r>
                    </a:p>
                    <a:p>
                      <a:r>
                        <a:rPr sz="2400" b="0">
                          <a:solidFill>
                            <a:srgbClr val="183247"/>
                          </a:solidFill>
                          <a:latin typeface="Arial"/>
                          <a:ea typeface="Arial"/>
                          <a:cs typeface="Arial"/>
                        </a:rPr>
                        <a:t>(150; 0)</a:t>
                      </a:r>
                    </a:p>
                  </a:txBody>
                  <a:tcPr marL="91440" marR="91440" marT="45720" marB="45720" anchor="ctr">
                    <a:solidFill>
                      <a:srgbClr val="FFFFFF"/>
                    </a:solidFill>
                  </a:tcPr>
                </a:tc>
              </a:tr>
              <a:tr h="1212850">
                <a:tc>
                  <a:txBody>
                    <a:bodyPr lIns="171450" tIns="95250" rIns="152400" bIns="95250"/>
                    <a:lstStyle/>
                    <a:p>
                      <a:r>
                        <a:rPr sz="2400" b="0">
                          <a:solidFill>
                            <a:srgbClr val="183247"/>
                          </a:solidFill>
                          <a:latin typeface="Arial"/>
                          <a:ea typeface="Arial"/>
                          <a:cs typeface="Arial"/>
                        </a:rPr>
                        <a:t>A</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Qₐ = 0: 5P − 30 = 0, dus P = 6</a:t>
                      </a:r>
                    </a:p>
                    <a:p>
                      <a:r>
                        <a:rPr sz="2400" b="0">
                          <a:solidFill>
                            <a:srgbClr val="183247"/>
                          </a:solidFill>
                          <a:latin typeface="Arial"/>
                          <a:ea typeface="Arial"/>
                          <a:cs typeface="Arial"/>
                        </a:rPr>
                        <a:t>P = 15: Qₐ = 5 × 15 − 30 = 45</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6)</a:t>
                      </a:r>
                    </a:p>
                    <a:p>
                      <a:r>
                        <a:rPr sz="2400" b="0">
                          <a:solidFill>
                            <a:srgbClr val="183247"/>
                          </a:solidFill>
                          <a:latin typeface="Arial"/>
                          <a:ea typeface="Arial"/>
                          <a:cs typeface="Arial"/>
                        </a:rPr>
                        <a:t>(45; 15)</a:t>
                      </a:r>
                    </a:p>
                  </a:txBody>
                  <a:tcPr marL="91440" marR="91440" marT="45720" marB="45720" anchor="ctr">
                    <a:solidFill>
                      <a:srgbClr val="EFF4F7"/>
                    </a:solidFill>
                  </a:tcPr>
                </a:tc>
              </a:tr>
            </a:tbl>
          </a:graphicData>
        </a:graphic>
      </p:graphicFrame>
      <p:sp>
        <p:nvSpPr>
          <p:cNvPr id="6" name="Q horizontaal: 0–150, stappen van 30.&#10;P verticaal:">
            <a:extLst xmlns:a="http://schemas.openxmlformats.org/drawingml/2006/main">
              <a:ext uri="{FF2B5EF4-FFF2-40B4-BE49-F238E27FC236}">
                <a16:creationId xmlns:a16="http://schemas.microsoft.com/office/drawing/2014/main" id="{736A2E03-029E-48C6-BF31-38A9A7A63FA1}"/>
              </a:ext>
            </a:extLst>
          </p:cNvPr>
          <p:cNvSpPr>
            <a:spLocks xmlns:a="http://schemas.openxmlformats.org/drawingml/2006/main" noGrp="1"/>
          </p:cNvSpPr>
          <p:nvPr/>
        </p:nvSpPr>
        <p:spPr>
          <a:xfrm xmlns:a="http://schemas.openxmlformats.org/drawingml/2006/main">
            <a:off x="571500" y="6362700"/>
            <a:ext cx="14097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Q horizontaal: 0–150, stappen van 30.</a:t>
            </a:r>
          </a:p>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P verticaal: 0–15, stappen van 3.</a:t>
            </a:r>
          </a:p>
        </p:txBody>
      </p:sp>
    </p:spTree>
    <p:extLst>
      <p:ext uri="{BB962C8B-B14F-4D97-AF65-F5344CB8AC3E}">
        <p14:creationId xmlns:p14="http://schemas.microsoft.com/office/powerpoint/2010/main" val="97349806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0c · De vraaglijn">
            <a:extLst xmlns:a="http://schemas.openxmlformats.org/drawingml/2006/main">
              <a:ext uri="{FF2B5EF4-FFF2-40B4-BE49-F238E27FC236}">
                <a16:creationId xmlns:a16="http://schemas.microsoft.com/office/drawing/2014/main" id="{4A86110B-9FEB-48D7-9EB9-39CDB8687F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20c · De vraaglijn</a:t>
            </a:r>
          </a:p>
        </p:txBody>
      </p:sp>
      <p:sp>
        <p:nvSpPr>
          <p:cNvPr id="2" name="">
            <a:extLst xmlns:a="http://schemas.openxmlformats.org/drawingml/2006/main">
              <a:ext uri="{FF2B5EF4-FFF2-40B4-BE49-F238E27FC236}">
                <a16:creationId xmlns:a16="http://schemas.microsoft.com/office/drawing/2014/main" id="{F4B1AB2A-A86E-4D83-8E2E-B32D1A4E20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C9512956-8453-403F-BC4E-29EA765604C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4">
            <a:extLst xmlns:a="http://schemas.openxmlformats.org/drawingml/2006/main">
              <a:ext uri="{FF2B5EF4-FFF2-40B4-BE49-F238E27FC236}">
                <a16:creationId xmlns:a16="http://schemas.microsoft.com/office/drawing/2014/main" id="{A205950D-CA59-4F10-BED9-D9AABCC2D34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Qᵥ = 150 − 10P                  Qₐ = 5P − 30">
            <a:extLst xmlns:a="http://schemas.openxmlformats.org/drawingml/2006/main">
              <a:ext uri="{FF2B5EF4-FFF2-40B4-BE49-F238E27FC236}">
                <a16:creationId xmlns:a16="http://schemas.microsoft.com/office/drawing/2014/main" id="{83197F15-0160-470F-9852-89B4E177B72C}"/>
              </a:ext>
            </a:extLst>
          </p:cNvPr>
          <p:cNvSpPr>
            <a:spLocks xmlns:a="http://schemas.openxmlformats.org/drawingml/2006/main" noGrp="1"/>
          </p:cNvSpPr>
          <p:nvPr/>
        </p:nvSpPr>
        <p:spPr>
          <a:xfrm xmlns:a="http://schemas.openxmlformats.org/drawingml/2006/main">
            <a:off x="571500" y="17716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Qᵥ = 150 − 10P                  Qₐ = 5P − 30</a:t>
            </a:r>
          </a:p>
        </p:txBody>
      </p:sp>
      <p:graphicFrame>
        <p:nvGraphicFramePr>
          <p:cNvPr id="14" name="Chart"/>
          <p:cNvGraphicFramePr/>
          <p:nvPr/>
        </p:nvGraphicFramePr>
        <p:xfrm>
          <a:off xmlns:a="http://schemas.openxmlformats.org/drawingml/2006/main" x="571500" y="2295525"/>
          <a:ext xmlns:a="http://schemas.openxmlformats.org/drawingml/2006/main" cx="10096500" cy="5286375"/>
        </p:xfrm>
        <a:graphic xmlns:a="http://schemas.openxmlformats.org/drawingml/2006/main">
          <a:graphicData uri="http://schemas.openxmlformats.org/drawingml/2006/chart">
            <c:chart xmlns:r="http://schemas.openxmlformats.org/officeDocument/2006/relationships" xmlns:c="http://schemas.openxmlformats.org/drawingml/2006/chart" r:id="Rc4c0368f79804714"/>
          </a:graphicData>
        </a:graphic>
      </p:graphicFrame>
      <p:sp>
        <p:nvSpPr>
          <p:cNvPr id="7" name="V door&#10;(0; 15) en&#10;(150; 0)">
            <a:extLst xmlns:a="http://schemas.openxmlformats.org/drawingml/2006/main">
              <a:ext uri="{FF2B5EF4-FFF2-40B4-BE49-F238E27FC236}">
                <a16:creationId xmlns:a16="http://schemas.microsoft.com/office/drawing/2014/main" id="{E8345906-1B7D-4F3C-B6AD-E8FFB0250F36}"/>
              </a:ext>
            </a:extLst>
          </p:cNvPr>
          <p:cNvSpPr>
            <a:spLocks xmlns:a="http://schemas.openxmlformats.org/drawingml/2006/main" noGrp="1"/>
          </p:cNvSpPr>
          <p:nvPr/>
        </p:nvSpPr>
        <p:spPr>
          <a:xfrm xmlns:a="http://schemas.openxmlformats.org/drawingml/2006/main">
            <a:off x="11144250" y="2705100"/>
            <a:ext cx="35242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V door</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(0; 15) en</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(150; 0)</a:t>
            </a:r>
          </a:p>
        </p:txBody>
      </p:sp>
      <p:sp>
        <p:nvSpPr>
          <p:cNvPr id="8" name="De prijsasgrens&#10;is € 15.">
            <a:extLst xmlns:a="http://schemas.openxmlformats.org/drawingml/2006/main">
              <a:ext uri="{FF2B5EF4-FFF2-40B4-BE49-F238E27FC236}">
                <a16:creationId xmlns:a16="http://schemas.microsoft.com/office/drawing/2014/main" id="{6C5C9A42-DEFE-40F3-8944-9605E6041950}"/>
              </a:ext>
            </a:extLst>
          </p:cNvPr>
          <p:cNvSpPr>
            <a:spLocks xmlns:a="http://schemas.openxmlformats.org/drawingml/2006/main" noGrp="1"/>
          </p:cNvSpPr>
          <p:nvPr/>
        </p:nvSpPr>
        <p:spPr>
          <a:xfrm xmlns:a="http://schemas.openxmlformats.org/drawingml/2006/main">
            <a:off x="11144250" y="5457825"/>
            <a:ext cx="35242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De prijsasgrens</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is € 15.</a:t>
            </a:r>
          </a:p>
        </p:txBody>
      </p:sp>
    </p:spTree>
    <p:extLst>
      <p:ext uri="{BB962C8B-B14F-4D97-AF65-F5344CB8AC3E}">
        <p14:creationId xmlns:p14="http://schemas.microsoft.com/office/powerpoint/2010/main" val="51168649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0c · Beide lijnen en evenwicht">
            <a:extLst xmlns:a="http://schemas.openxmlformats.org/drawingml/2006/main">
              <a:ext uri="{FF2B5EF4-FFF2-40B4-BE49-F238E27FC236}">
                <a16:creationId xmlns:a16="http://schemas.microsoft.com/office/drawing/2014/main" id="{6AB6E9D4-F89B-4C6D-81A4-C50DAA17F8E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20c · Beide lijnen en evenwicht</a:t>
            </a:r>
          </a:p>
        </p:txBody>
      </p:sp>
      <p:sp>
        <p:nvSpPr>
          <p:cNvPr id="2" name="">
            <a:extLst xmlns:a="http://schemas.openxmlformats.org/drawingml/2006/main">
              <a:ext uri="{FF2B5EF4-FFF2-40B4-BE49-F238E27FC236}">
                <a16:creationId xmlns:a16="http://schemas.microsoft.com/office/drawing/2014/main" id="{9644F2AF-56CF-4C45-BF3C-53B88FDB690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3FCC82A4-1B62-4A12-8F6C-BC9835FFA34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5">
            <a:extLst xmlns:a="http://schemas.openxmlformats.org/drawingml/2006/main">
              <a:ext uri="{FF2B5EF4-FFF2-40B4-BE49-F238E27FC236}">
                <a16:creationId xmlns:a16="http://schemas.microsoft.com/office/drawing/2014/main" id="{A01253A3-4CEB-466D-BAAC-748272FFAA1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Qᵥ = 150 − 10P                  Qₐ = 5P − 30">
            <a:extLst xmlns:a="http://schemas.openxmlformats.org/drawingml/2006/main">
              <a:ext uri="{FF2B5EF4-FFF2-40B4-BE49-F238E27FC236}">
                <a16:creationId xmlns:a16="http://schemas.microsoft.com/office/drawing/2014/main" id="{0B8E93B0-9B09-4D92-A69D-D101CF299531}"/>
              </a:ext>
            </a:extLst>
          </p:cNvPr>
          <p:cNvSpPr>
            <a:spLocks xmlns:a="http://schemas.openxmlformats.org/drawingml/2006/main" noGrp="1"/>
          </p:cNvSpPr>
          <p:nvPr/>
        </p:nvSpPr>
        <p:spPr>
          <a:xfrm xmlns:a="http://schemas.openxmlformats.org/drawingml/2006/main">
            <a:off x="571500" y="17716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Qᵥ = 150 − 10P                  Qₐ = 5P − 30</a:t>
            </a:r>
          </a:p>
        </p:txBody>
      </p:sp>
      <p:graphicFrame>
        <p:nvGraphicFramePr>
          <p:cNvPr id="14" name="Chart"/>
          <p:cNvGraphicFramePr/>
          <p:nvPr/>
        </p:nvGraphicFramePr>
        <p:xfrm>
          <a:off xmlns:a="http://schemas.openxmlformats.org/drawingml/2006/main" x="571500" y="2295525"/>
          <a:ext xmlns:a="http://schemas.openxmlformats.org/drawingml/2006/main" cx="10096500" cy="5286375"/>
        </p:xfrm>
        <a:graphic xmlns:a="http://schemas.openxmlformats.org/drawingml/2006/main">
          <a:graphicData uri="http://schemas.openxmlformats.org/drawingml/2006/chart">
            <c:chart xmlns:r="http://schemas.openxmlformats.org/officeDocument/2006/relationships" xmlns:c="http://schemas.openxmlformats.org/drawingml/2006/chart" r:id="R17527d06ef514b47"/>
          </a:graphicData>
        </a:graphic>
      </p:graphicFrame>
      <p:sp>
        <p:nvSpPr>
          <p:cNvPr id="7" name="A door&#10;(0; 6) en&#10;(45; 15)">
            <a:extLst xmlns:a="http://schemas.openxmlformats.org/drawingml/2006/main">
              <a:ext uri="{FF2B5EF4-FFF2-40B4-BE49-F238E27FC236}">
                <a16:creationId xmlns:a16="http://schemas.microsoft.com/office/drawing/2014/main" id="{1CB9BDF1-0291-4C65-B17D-B5408D7679B2}"/>
              </a:ext>
            </a:extLst>
          </p:cNvPr>
          <p:cNvSpPr>
            <a:spLocks xmlns:a="http://schemas.openxmlformats.org/drawingml/2006/main" noGrp="1"/>
          </p:cNvSpPr>
          <p:nvPr/>
        </p:nvSpPr>
        <p:spPr>
          <a:xfrm xmlns:a="http://schemas.openxmlformats.org/drawingml/2006/main">
            <a:off x="11144250" y="2705100"/>
            <a:ext cx="35242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E8449"/>
                </a:solidFill>
                <a:latin typeface="Arial"/>
                <a:ea typeface="Arial"/>
                <a:cs typeface="Arial"/>
              </a:defRPr>
            </a:pPr>
            <a:r>
              <a:rPr sz="2625" b="1">
                <a:solidFill>
                  <a:srgbClr val="1E8449"/>
                </a:solidFill>
                <a:latin typeface="Arial"/>
                <a:ea typeface="Arial"/>
                <a:cs typeface="Arial"/>
              </a:rPr>
              <a:t>A door</a:t>
            </a:r>
          </a:p>
          <a:p xmlns:a="http://schemas.openxmlformats.org/drawingml/2006/main">
            <a:pPr algn="l">
              <a:defRPr sz="2625" b="1">
                <a:solidFill>
                  <a:srgbClr val="1E8449"/>
                </a:solidFill>
                <a:latin typeface="Arial"/>
                <a:ea typeface="Arial"/>
                <a:cs typeface="Arial"/>
              </a:defRPr>
            </a:pPr>
            <a:r>
              <a:rPr sz="2625" b="1">
                <a:solidFill>
                  <a:srgbClr val="1E8449"/>
                </a:solidFill>
                <a:latin typeface="Arial"/>
                <a:ea typeface="Arial"/>
                <a:cs typeface="Arial"/>
              </a:rPr>
              <a:t>(0; 6) en</a:t>
            </a:r>
          </a:p>
          <a:p xmlns:a="http://schemas.openxmlformats.org/drawingml/2006/main">
            <a:pPr algn="l">
              <a:defRPr sz="2625" b="1">
                <a:solidFill>
                  <a:srgbClr val="1E8449"/>
                </a:solidFill>
                <a:latin typeface="Arial"/>
                <a:ea typeface="Arial"/>
                <a:cs typeface="Arial"/>
              </a:defRPr>
            </a:pPr>
            <a:r>
              <a:rPr sz="2625" b="1">
                <a:solidFill>
                  <a:srgbClr val="1E8449"/>
                </a:solidFill>
                <a:latin typeface="Arial"/>
                <a:ea typeface="Arial"/>
                <a:cs typeface="Arial"/>
              </a:rPr>
              <a:t>(45; 15)</a:t>
            </a:r>
          </a:p>
        </p:txBody>
      </p:sp>
      <p:sp>
        <p:nvSpPr>
          <p:cNvPr id="8" name="E = (30; 12)&#10;&#10;P = € 12&#10;Q = 30">
            <a:extLst xmlns:a="http://schemas.openxmlformats.org/drawingml/2006/main">
              <a:ext uri="{FF2B5EF4-FFF2-40B4-BE49-F238E27FC236}">
                <a16:creationId xmlns:a16="http://schemas.microsoft.com/office/drawing/2014/main" id="{4E49DBF2-22EA-4CEF-8106-1BDBA87C4DAB}"/>
              </a:ext>
            </a:extLst>
          </p:cNvPr>
          <p:cNvSpPr>
            <a:spLocks xmlns:a="http://schemas.openxmlformats.org/drawingml/2006/main" noGrp="1"/>
          </p:cNvSpPr>
          <p:nvPr/>
        </p:nvSpPr>
        <p:spPr>
          <a:xfrm xmlns:a="http://schemas.openxmlformats.org/drawingml/2006/main">
            <a:off x="11144250" y="5457825"/>
            <a:ext cx="35242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E = (30; 12)</a:t>
            </a:r>
          </a:p>
          <a:p xmlns:a="http://schemas.openxmlformats.org/drawingml/2006/main">
            <a:r>
              <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P = € 12</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Q = 30</a:t>
            </a:r>
          </a:p>
        </p:txBody>
      </p:sp>
    </p:spTree>
    <p:extLst>
      <p:ext uri="{BB962C8B-B14F-4D97-AF65-F5344CB8AC3E}">
        <p14:creationId xmlns:p14="http://schemas.microsoft.com/office/powerpoint/2010/main" val="163379341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0d · De plannen bij € 10">
            <a:extLst xmlns:a="http://schemas.openxmlformats.org/drawingml/2006/main">
              <a:ext uri="{FF2B5EF4-FFF2-40B4-BE49-F238E27FC236}">
                <a16:creationId xmlns:a16="http://schemas.microsoft.com/office/drawing/2014/main" id="{0AD55D80-F052-4C81-836B-CD9E1988F0D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20d · De plannen bij € 10</a:t>
            </a:r>
          </a:p>
        </p:txBody>
      </p:sp>
      <p:sp>
        <p:nvSpPr>
          <p:cNvPr id="2" name="">
            <a:extLst xmlns:a="http://schemas.openxmlformats.org/drawingml/2006/main">
              <a:ext uri="{FF2B5EF4-FFF2-40B4-BE49-F238E27FC236}">
                <a16:creationId xmlns:a16="http://schemas.microsoft.com/office/drawing/2014/main" id="{4A2243E3-E634-4F9A-9347-64E70437237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501F66E2-AF1E-482C-BF97-AC690553A87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6">
            <a:extLst xmlns:a="http://schemas.openxmlformats.org/drawingml/2006/main">
              <a:ext uri="{FF2B5EF4-FFF2-40B4-BE49-F238E27FC236}">
                <a16:creationId xmlns:a16="http://schemas.microsoft.com/office/drawing/2014/main" id="{560F412A-13D5-492D-B65E-9BCA37F160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Aan het begin: P = € 10 per beker">
            <a:extLst xmlns:a="http://schemas.openxmlformats.org/drawingml/2006/main">
              <a:ext uri="{FF2B5EF4-FFF2-40B4-BE49-F238E27FC236}">
                <a16:creationId xmlns:a16="http://schemas.microsoft.com/office/drawing/2014/main" id="{4C25D1EF-A318-4E6A-862E-2FC874FDEA8F}"/>
              </a:ext>
            </a:extLst>
          </p:cNvPr>
          <p:cNvSpPr>
            <a:spLocks xmlns:a="http://schemas.openxmlformats.org/drawingml/2006/main" noGrp="1"/>
          </p:cNvSpPr>
          <p:nvPr/>
        </p:nvSpPr>
        <p:spPr>
          <a:xfrm xmlns:a="http://schemas.openxmlformats.org/drawingml/2006/main">
            <a:off x="571500" y="18383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Aan het begin: P = € 10 per beker</a:t>
            </a:r>
          </a:p>
        </p:txBody>
      </p:sp>
      <p:graphicFrame>
        <p:nvGraphicFramePr>
          <p:cNvPr id="13" name=""/>
          <p:cNvGraphicFramePr/>
          <p:nvPr/>
        </p:nvGraphicFramePr>
        <p:xfrm>
          <a:off xmlns:a="http://schemas.openxmlformats.org/drawingml/2006/main" x="571500" y="2981325"/>
          <a:ext xmlns:a="http://schemas.openxmlformats.org/drawingml/2006/main" cx="14097000" cy="3333750"/>
        </p:xfrm>
        <a:graphic xmlns:a="http://schemas.openxmlformats.org/drawingml/2006/main">
          <a:graphicData uri="http://schemas.openxmlformats.org/drawingml/2006/table">
            <a:tbl>
              <a:tblPr/>
              <a:tblGrid>
                <a:gridCol w="4381500"/>
                <a:gridCol w="5334000"/>
                <a:gridCol w="4381500"/>
              </a:tblGrid>
              <a:tr h="833438">
                <a:tc>
                  <a:txBody>
                    <a:bodyPr lIns="171450" tIns="95250" rIns="152400" bIns="95250"/>
                    <a:lstStyle/>
                    <a:p>
                      <a:r>
                        <a:rPr sz="262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Bekers per week</a:t>
                      </a:r>
                    </a:p>
                  </a:txBody>
                  <a:tcPr marL="91440" marR="91440" marT="45720" marB="45720" anchor="ctr">
                    <a:solidFill>
                      <a:srgbClr val="183247"/>
                    </a:solidFill>
                  </a:tcPr>
                </a:tc>
              </a:tr>
              <a:tr h="833438">
                <a:tc>
                  <a:txBody>
                    <a:bodyPr lIns="171450" tIns="95250" rIns="152400" bIns="95250"/>
                    <a:lstStyle/>
                    <a:p>
                      <a:r>
                        <a:rPr sz="2625" b="0">
                          <a:solidFill>
                            <a:srgbClr val="183247"/>
                          </a:solidFill>
                          <a:latin typeface="Arial"/>
                          <a:ea typeface="Arial"/>
                          <a:cs typeface="Arial"/>
                        </a:rPr>
                        <a:t>Qᵥ</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150 − 10 × 10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50</a:t>
                      </a:r>
                    </a:p>
                  </a:txBody>
                  <a:tcPr marL="91440" marR="91440" marT="45720" marB="45720" anchor="ctr">
                    <a:solidFill>
                      <a:srgbClr val="FFFFFF"/>
                    </a:solidFill>
                  </a:tcPr>
                </a:tc>
              </a:tr>
              <a:tr h="833438">
                <a:tc>
                  <a:txBody>
                    <a:bodyPr lIns="171450" tIns="95250" rIns="152400" bIns="95250"/>
                    <a:lstStyle/>
                    <a:p>
                      <a:r>
                        <a:rPr sz="2625" b="0">
                          <a:solidFill>
                            <a:srgbClr val="183247"/>
                          </a:solidFill>
                          <a:latin typeface="Arial"/>
                          <a:ea typeface="Arial"/>
                          <a:cs typeface="Arial"/>
                        </a:rPr>
                        <a:t>Qₐ</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 × 10 − 30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20</a:t>
                      </a:r>
                    </a:p>
                  </a:txBody>
                  <a:tcPr marL="91440" marR="91440" marT="45720" marB="45720" anchor="ctr">
                    <a:solidFill>
                      <a:srgbClr val="EFF4F7"/>
                    </a:solidFill>
                  </a:tcPr>
                </a:tc>
              </a:tr>
              <a:tr h="833438">
                <a:tc>
                  <a:txBody>
                    <a:bodyPr lIns="171450" tIns="95250" rIns="152400" bIns="95250"/>
                    <a:lstStyle/>
                    <a:p>
                      <a:r>
                        <a:rPr sz="2625" b="0">
                          <a:solidFill>
                            <a:srgbClr val="183247"/>
                          </a:solidFill>
                          <a:latin typeface="Arial"/>
                          <a:ea typeface="Arial"/>
                          <a:cs typeface="Arial"/>
                        </a:rPr>
                        <a:t>Vraagoverschot</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50 − 20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30</a:t>
                      </a:r>
                    </a:p>
                  </a:txBody>
                  <a:tcPr marL="91440" marR="91440" marT="45720" marB="45720" anchor="ctr">
                    <a:solidFill>
                      <a:srgbClr val="FFFFFF"/>
                    </a:solidFill>
                  </a:tcPr>
                </a:tc>
              </a:tr>
            </a:tbl>
          </a:graphicData>
        </a:graphic>
      </p:graphicFrame>
      <p:sp>
        <p:nvSpPr>
          <p:cNvPr id="7" name="De kopers willen 30 bekers meer dan het aanbod.">
            <a:extLst xmlns:a="http://schemas.openxmlformats.org/drawingml/2006/main">
              <a:ext uri="{FF2B5EF4-FFF2-40B4-BE49-F238E27FC236}">
                <a16:creationId xmlns:a16="http://schemas.microsoft.com/office/drawing/2014/main" id="{024F49EF-7C61-438C-9132-46BF41F1156C}"/>
              </a:ext>
            </a:extLst>
          </p:cNvPr>
          <p:cNvSpPr>
            <a:spLocks xmlns:a="http://schemas.openxmlformats.org/drawingml/2006/main" noGrp="1"/>
          </p:cNvSpPr>
          <p:nvPr/>
        </p:nvSpPr>
        <p:spPr>
          <a:xfrm xmlns:a="http://schemas.openxmlformats.org/drawingml/2006/main">
            <a:off x="571500" y="70675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 kopers willen 30 bekers meer dan het aanbod.</a:t>
            </a:r>
          </a:p>
        </p:txBody>
      </p:sp>
    </p:spTree>
    <p:extLst>
      <p:ext uri="{BB962C8B-B14F-4D97-AF65-F5344CB8AC3E}">
        <p14:creationId xmlns:p14="http://schemas.microsoft.com/office/powerpoint/2010/main" val="6261247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0d · De werkelijke verkoop">
            <a:extLst xmlns:a="http://schemas.openxmlformats.org/drawingml/2006/main">
              <a:ext uri="{FF2B5EF4-FFF2-40B4-BE49-F238E27FC236}">
                <a16:creationId xmlns:a16="http://schemas.microsoft.com/office/drawing/2014/main" id="{AE104E61-2D73-45D1-91C4-39EAA7B0717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20d · De werkelijke verkoop</a:t>
            </a:r>
          </a:p>
        </p:txBody>
      </p:sp>
      <p:sp>
        <p:nvSpPr>
          <p:cNvPr id="2" name="">
            <a:extLst xmlns:a="http://schemas.openxmlformats.org/drawingml/2006/main">
              <a:ext uri="{FF2B5EF4-FFF2-40B4-BE49-F238E27FC236}">
                <a16:creationId xmlns:a16="http://schemas.microsoft.com/office/drawing/2014/main" id="{BF33686A-2EB7-477D-B963-184228854E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A52CFCCC-F017-46F7-BF57-B6E228D1BEC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7">
            <a:extLst xmlns:a="http://schemas.openxmlformats.org/drawingml/2006/main">
              <a:ext uri="{FF2B5EF4-FFF2-40B4-BE49-F238E27FC236}">
                <a16:creationId xmlns:a16="http://schemas.microsoft.com/office/drawing/2014/main" id="{74D7C6B3-4FC2-432D-B971-D5CE4A75C2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De bron geeft drie voorwaarden">
            <a:extLst xmlns:a="http://schemas.openxmlformats.org/drawingml/2006/main">
              <a:ext uri="{FF2B5EF4-FFF2-40B4-BE49-F238E27FC236}">
                <a16:creationId xmlns:a16="http://schemas.microsoft.com/office/drawing/2014/main" id="{7134A1FA-CA72-472B-AFFC-BCE78AA6709F}"/>
              </a:ext>
            </a:extLst>
          </p:cNvPr>
          <p:cNvSpPr>
            <a:spLocks xmlns:a="http://schemas.openxmlformats.org/drawingml/2006/main" noGrp="1"/>
          </p:cNvSpPr>
          <p:nvPr/>
        </p:nvSpPr>
        <p:spPr>
          <a:xfrm xmlns:a="http://schemas.openxmlformats.org/drawingml/2006/main">
            <a:off x="571500" y="18859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De bron geeft drie voorwaarden</a:t>
            </a:r>
          </a:p>
        </p:txBody>
      </p:sp>
      <p:sp>
        <p:nvSpPr>
          <p:cNvPr id="6" name="Al het aanbod vindt een koper.&#10;Er is geen andere v">
            <a:extLst xmlns:a="http://schemas.openxmlformats.org/drawingml/2006/main">
              <a:ext uri="{FF2B5EF4-FFF2-40B4-BE49-F238E27FC236}">
                <a16:creationId xmlns:a16="http://schemas.microsoft.com/office/drawing/2014/main" id="{A65D9041-C8D4-46A1-A772-D675E3D2281A}"/>
              </a:ext>
            </a:extLst>
          </p:cNvPr>
          <p:cNvSpPr>
            <a:spLocks xmlns:a="http://schemas.openxmlformats.org/drawingml/2006/main" noGrp="1"/>
          </p:cNvSpPr>
          <p:nvPr/>
        </p:nvSpPr>
        <p:spPr>
          <a:xfrm xmlns:a="http://schemas.openxmlformats.org/drawingml/2006/main">
            <a:off x="571500" y="2952750"/>
            <a:ext cx="1409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Al het aanbod vindt een koper.</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Er is geen andere voorraad.</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Niets anders belemmert de verkoop.</a:t>
            </a:r>
          </a:p>
        </p:txBody>
      </p:sp>
      <p:sp>
        <p:nvSpPr>
          <p:cNvPr id="7" name="">
            <a:extLst xmlns:a="http://schemas.openxmlformats.org/drawingml/2006/main">
              <a:ext uri="{FF2B5EF4-FFF2-40B4-BE49-F238E27FC236}">
                <a16:creationId xmlns:a16="http://schemas.microsoft.com/office/drawing/2014/main" id="{709158A6-A838-4764-8D6D-731487C8F612}"/>
              </a:ext>
            </a:extLst>
          </p:cNvPr>
          <p:cNvSpPr>
            <a:spLocks xmlns:a="http://schemas.openxmlformats.org/drawingml/2006/main" noGrp="1"/>
          </p:cNvSpPr>
          <p:nvPr/>
        </p:nvSpPr>
        <p:spPr>
          <a:xfrm xmlns:a="http://schemas.openxmlformats.org/drawingml/2006/main">
            <a:off x="571500" y="5524500"/>
            <a:ext cx="14097000" cy="0"/>
          </a:xfrm>
          <a:prstGeom xmlns:a="http://schemas.openxmlformats.org/drawingml/2006/main" prst="line">
            <a:avLst/>
          </a:prstGeom>
          <a:ln xmlns:a="http://schemas.openxmlformats.org/drawingml/2006/main" w="19050">
            <a:solidFill>
              <a:srgbClr val="C6D2DB"/>
            </a:solidFill>
          </a:ln>
        </p:spPr>
      </p:sp>
      <p:sp>
        <p:nvSpPr>
          <p:cNvPr id="8" name="Verkoop: 20 bekers per week">
            <a:extLst xmlns:a="http://schemas.openxmlformats.org/drawingml/2006/main">
              <a:ext uri="{FF2B5EF4-FFF2-40B4-BE49-F238E27FC236}">
                <a16:creationId xmlns:a16="http://schemas.microsoft.com/office/drawing/2014/main" id="{F0B3BB25-E77B-4F61-B866-BD92E67FDCEE}"/>
              </a:ext>
            </a:extLst>
          </p:cNvPr>
          <p:cNvSpPr>
            <a:spLocks xmlns:a="http://schemas.openxmlformats.org/drawingml/2006/main" noGrp="1"/>
          </p:cNvSpPr>
          <p:nvPr/>
        </p:nvSpPr>
        <p:spPr>
          <a:xfrm xmlns:a="http://schemas.openxmlformats.org/drawingml/2006/main">
            <a:off x="571500" y="60864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E8449"/>
                </a:solidFill>
                <a:latin typeface="Arial"/>
                <a:ea typeface="Arial"/>
                <a:cs typeface="Arial"/>
              </a:defRPr>
            </a:pPr>
            <a:r>
              <a:rPr sz="3750" b="1">
                <a:solidFill>
                  <a:srgbClr val="1E8449"/>
                </a:solidFill>
                <a:latin typeface="Arial"/>
                <a:ea typeface="Arial"/>
                <a:cs typeface="Arial"/>
              </a:rPr>
              <a:t>Verkoop: 20 bekers per week</a:t>
            </a:r>
          </a:p>
        </p:txBody>
      </p:sp>
      <p:sp>
        <p:nvSpPr>
          <p:cNvPr id="9" name="De ontbrekende 30 bekers worden niet verkocht.">
            <a:extLst xmlns:a="http://schemas.openxmlformats.org/drawingml/2006/main">
              <a:ext uri="{FF2B5EF4-FFF2-40B4-BE49-F238E27FC236}">
                <a16:creationId xmlns:a16="http://schemas.microsoft.com/office/drawing/2014/main" id="{E597BAE9-EEF6-47CA-AAD5-85DFE73713A8}"/>
              </a:ext>
            </a:extLst>
          </p:cNvPr>
          <p:cNvSpPr>
            <a:spLocks xmlns:a="http://schemas.openxmlformats.org/drawingml/2006/main" noGrp="1"/>
          </p:cNvSpPr>
          <p:nvPr/>
        </p:nvSpPr>
        <p:spPr>
          <a:xfrm xmlns:a="http://schemas.openxmlformats.org/drawingml/2006/main">
            <a:off x="571500" y="72771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ontbrekende 30 bekers worden niet verkocht.</a:t>
            </a:r>
          </a:p>
        </p:txBody>
      </p:sp>
    </p:spTree>
    <p:extLst>
      <p:ext uri="{BB962C8B-B14F-4D97-AF65-F5344CB8AC3E}">
        <p14:creationId xmlns:p14="http://schemas.microsoft.com/office/powerpoint/2010/main" val="88471446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0e · Opwaartse prijsdruk">
            <a:extLst xmlns:a="http://schemas.openxmlformats.org/drawingml/2006/main">
              <a:ext uri="{FF2B5EF4-FFF2-40B4-BE49-F238E27FC236}">
                <a16:creationId xmlns:a16="http://schemas.microsoft.com/office/drawing/2014/main" id="{8811D303-BB0E-494F-9F57-B8CC06ABFC2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20e · Opwaartse prijsdruk</a:t>
            </a:r>
          </a:p>
        </p:txBody>
      </p:sp>
      <p:sp>
        <p:nvSpPr>
          <p:cNvPr id="2" name="">
            <a:extLst xmlns:a="http://schemas.openxmlformats.org/drawingml/2006/main">
              <a:ext uri="{FF2B5EF4-FFF2-40B4-BE49-F238E27FC236}">
                <a16:creationId xmlns:a16="http://schemas.microsoft.com/office/drawing/2014/main" id="{985603DF-D59E-4BDA-9116-7ADEFAAAC2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 Opgave 20 · Boekpagina 106">
            <a:extLst xmlns:a="http://schemas.openxmlformats.org/drawingml/2006/main">
              <a:ext uri="{FF2B5EF4-FFF2-40B4-BE49-F238E27FC236}">
                <a16:creationId xmlns:a16="http://schemas.microsoft.com/office/drawing/2014/main" id="{57769D74-ED94-415C-B5D9-69D7579A5D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 · Opgave 20 · Boekpagina 106</a:t>
            </a:r>
          </a:p>
        </p:txBody>
      </p:sp>
      <p:sp>
        <p:nvSpPr>
          <p:cNvPr id="4" name="28">
            <a:extLst xmlns:a="http://schemas.openxmlformats.org/drawingml/2006/main">
              <a:ext uri="{FF2B5EF4-FFF2-40B4-BE49-F238E27FC236}">
                <a16:creationId xmlns:a16="http://schemas.microsoft.com/office/drawing/2014/main" id="{ED9575CD-6C28-432B-ACB9-F706C8C4617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Kopers concurreren om het aanbod van 20 bekers.">
            <a:extLst xmlns:a="http://schemas.openxmlformats.org/drawingml/2006/main">
              <a:ext uri="{FF2B5EF4-FFF2-40B4-BE49-F238E27FC236}">
                <a16:creationId xmlns:a16="http://schemas.microsoft.com/office/drawing/2014/main" id="{C8A685D3-35B0-4EFD-ADF0-20D7598A8BAB}"/>
              </a:ext>
            </a:extLst>
          </p:cNvPr>
          <p:cNvSpPr>
            <a:spLocks xmlns:a="http://schemas.openxmlformats.org/drawingml/2006/main" noGrp="1"/>
          </p:cNvSpPr>
          <p:nvPr/>
        </p:nvSpPr>
        <p:spPr>
          <a:xfrm xmlns:a="http://schemas.openxmlformats.org/drawingml/2006/main">
            <a:off x="571500" y="1924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Kopers concurreren om het aanbod van 20 bekers.</a:t>
            </a:r>
          </a:p>
        </p:txBody>
      </p:sp>
      <p:sp>
        <p:nvSpPr>
          <p:cNvPr id="6" name="De prijs kan stijgen richting € 12 per beker.">
            <a:extLst xmlns:a="http://schemas.openxmlformats.org/drawingml/2006/main">
              <a:ext uri="{FF2B5EF4-FFF2-40B4-BE49-F238E27FC236}">
                <a16:creationId xmlns:a16="http://schemas.microsoft.com/office/drawing/2014/main" id="{C8C10F78-0FFB-42A7-B0B0-BC71DB07FD2C}"/>
              </a:ext>
            </a:extLst>
          </p:cNvPr>
          <p:cNvSpPr>
            <a:spLocks xmlns:a="http://schemas.openxmlformats.org/drawingml/2006/main" noGrp="1"/>
          </p:cNvSpPr>
          <p:nvPr/>
        </p:nvSpPr>
        <p:spPr>
          <a:xfrm xmlns:a="http://schemas.openxmlformats.org/drawingml/2006/main">
            <a:off x="571500" y="32004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De prijs kan stijgen richting € 12 per beker.</a:t>
            </a:r>
          </a:p>
        </p:txBody>
      </p:sp>
      <p:graphicFrame>
        <p:nvGraphicFramePr>
          <p:cNvPr id="14" name=""/>
          <p:cNvGraphicFramePr/>
          <p:nvPr/>
        </p:nvGraphicFramePr>
        <p:xfrm>
          <a:off xmlns:a="http://schemas.openxmlformats.org/drawingml/2006/main" x="571500" y="4724400"/>
          <a:ext xmlns:a="http://schemas.openxmlformats.org/drawingml/2006/main" cx="14097000" cy="2457450"/>
        </p:xfrm>
        <a:graphic xmlns:a="http://schemas.openxmlformats.org/drawingml/2006/main">
          <a:graphicData uri="http://schemas.openxmlformats.org/drawingml/2006/table">
            <a:tbl>
              <a:tblPr/>
              <a:tblGrid>
                <a:gridCol w="8763000"/>
                <a:gridCol w="2667000"/>
                <a:gridCol w="2667000"/>
              </a:tblGrid>
              <a:tr h="819150">
                <a:tc>
                  <a:txBody>
                    <a:bodyPr lIns="171450" tIns="95250" rIns="152400" bIns="95250"/>
                    <a:lstStyle/>
                    <a:p>
                      <a:r>
                        <a:rPr sz="2475" b="1">
                          <a:solidFill>
                            <a:srgbClr val="FFFFFF"/>
                          </a:solidFill>
                          <a:latin typeface="Arial"/>
                          <a:ea typeface="Arial"/>
                          <a:cs typeface="Arial"/>
                        </a:rPr>
                        <a:t>Langs dezelfde lijn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Bij € 10</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Bij € 12</a:t>
                      </a:r>
                    </a:p>
                  </a:txBody>
                  <a:tcPr marL="91440" marR="91440" marT="45720" marB="45720" anchor="ctr">
                    <a:solidFill>
                      <a:srgbClr val="183247"/>
                    </a:solidFill>
                  </a:tcPr>
                </a:tc>
              </a:tr>
              <a:tr h="819150">
                <a:tc>
                  <a:txBody>
                    <a:bodyPr lIns="171450" tIns="95250" rIns="152400" bIns="95250"/>
                    <a:lstStyle/>
                    <a:p>
                      <a:r>
                        <a:rPr sz="2475" b="0">
                          <a:solidFill>
                            <a:srgbClr val="183247"/>
                          </a:solidFill>
                          <a:latin typeface="Arial"/>
                          <a:ea typeface="Arial"/>
                          <a:cs typeface="Arial"/>
                        </a:rPr>
                        <a:t>Qᵥ daalt langs V (bekers per week)</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30</a:t>
                      </a:r>
                    </a:p>
                  </a:txBody>
                  <a:tcPr marL="91440" marR="91440" marT="45720" marB="45720" anchor="ctr">
                    <a:solidFill>
                      <a:srgbClr val="FFFFFF"/>
                    </a:solidFill>
                  </a:tcPr>
                </a:tc>
              </a:tr>
              <a:tr h="819150">
                <a:tc>
                  <a:txBody>
                    <a:bodyPr lIns="171450" tIns="95250" rIns="152400" bIns="95250"/>
                    <a:lstStyle/>
                    <a:p>
                      <a:r>
                        <a:rPr sz="2475" b="0">
                          <a:solidFill>
                            <a:srgbClr val="183247"/>
                          </a:solidFill>
                          <a:latin typeface="Arial"/>
                          <a:ea typeface="Arial"/>
                          <a:cs typeface="Arial"/>
                        </a:rPr>
                        <a:t>Qₐ stijgt langs A (bekers per week)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26621176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20">
            <a:extLst xmlns:a="http://schemas.openxmlformats.org/drawingml/2006/main">
              <a:ext uri="{FF2B5EF4-FFF2-40B4-BE49-F238E27FC236}">
                <a16:creationId xmlns:a16="http://schemas.microsoft.com/office/drawing/2014/main" id="{116A8EA8-AF00-442C-8FA3-BE956A86F9C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20</a:t>
            </a:r>
          </a:p>
        </p:txBody>
      </p:sp>
      <p:sp>
        <p:nvSpPr>
          <p:cNvPr id="2" name="">
            <a:extLst xmlns:a="http://schemas.openxmlformats.org/drawingml/2006/main">
              <a:ext uri="{FF2B5EF4-FFF2-40B4-BE49-F238E27FC236}">
                <a16:creationId xmlns:a16="http://schemas.microsoft.com/office/drawing/2014/main" id="{F8AB0774-3DAE-4C1B-9A4B-3461B86CD2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AC9D1024-CB94-4B05-AF39-0890ADCB24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29">
            <a:extLst xmlns:a="http://schemas.openxmlformats.org/drawingml/2006/main">
              <a:ext uri="{FF2B5EF4-FFF2-40B4-BE49-F238E27FC236}">
                <a16:creationId xmlns:a16="http://schemas.microsoft.com/office/drawing/2014/main" id="{CA63FE67-78B2-4420-809F-51F1BF8ACB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a en b">
            <a:extLst xmlns:a="http://schemas.openxmlformats.org/drawingml/2006/main">
              <a:ext uri="{FF2B5EF4-FFF2-40B4-BE49-F238E27FC236}">
                <a16:creationId xmlns:a16="http://schemas.microsoft.com/office/drawing/2014/main" id="{70FC85A5-2F93-436C-AC54-A15D7CFA9AF6}"/>
              </a:ext>
            </a:extLst>
          </p:cNvPr>
          <p:cNvSpPr>
            <a:spLocks xmlns:a="http://schemas.openxmlformats.org/drawingml/2006/main" noGrp="1"/>
          </p:cNvSpPr>
          <p:nvPr/>
        </p:nvSpPr>
        <p:spPr>
          <a:xfrm xmlns:a="http://schemas.openxmlformats.org/drawingml/2006/main">
            <a:off x="571500" y="20764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a en b</a:t>
            </a:r>
          </a:p>
        </p:txBody>
      </p:sp>
      <p:sp>
        <p:nvSpPr>
          <p:cNvPr id="6" name="Gelijke plannen, algebra, beide controles en eenhe">
            <a:extLst xmlns:a="http://schemas.openxmlformats.org/drawingml/2006/main">
              <a:ext uri="{FF2B5EF4-FFF2-40B4-BE49-F238E27FC236}">
                <a16:creationId xmlns:a16="http://schemas.microsoft.com/office/drawing/2014/main" id="{B47F0D53-25F0-4C2C-AF28-0FCD16FD4D5A}"/>
              </a:ext>
            </a:extLst>
          </p:cNvPr>
          <p:cNvSpPr>
            <a:spLocks xmlns:a="http://schemas.openxmlformats.org/drawingml/2006/main" noGrp="1"/>
          </p:cNvSpPr>
          <p:nvPr/>
        </p:nvSpPr>
        <p:spPr>
          <a:xfrm xmlns:a="http://schemas.openxmlformats.org/drawingml/2006/main">
            <a:off x="4076700" y="2076450"/>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Gelijke plannen, algebra, beide controles en eenheden.</a:t>
            </a:r>
          </a:p>
        </p:txBody>
      </p:sp>
      <p:sp>
        <p:nvSpPr>
          <p:cNvPr id="7" name="c">
            <a:extLst xmlns:a="http://schemas.openxmlformats.org/drawingml/2006/main">
              <a:ext uri="{FF2B5EF4-FFF2-40B4-BE49-F238E27FC236}">
                <a16:creationId xmlns:a16="http://schemas.microsoft.com/office/drawing/2014/main" id="{1B63AD7C-FF68-4EC0-963A-70AF42006E4E}"/>
              </a:ext>
            </a:extLst>
          </p:cNvPr>
          <p:cNvSpPr>
            <a:spLocks xmlns:a="http://schemas.openxmlformats.org/drawingml/2006/main" noGrp="1"/>
          </p:cNvSpPr>
          <p:nvPr/>
        </p:nvSpPr>
        <p:spPr>
          <a:xfrm xmlns:a="http://schemas.openxmlformats.org/drawingml/2006/main">
            <a:off x="571500" y="34099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c</a:t>
            </a:r>
          </a:p>
        </p:txBody>
      </p:sp>
      <p:sp>
        <p:nvSpPr>
          <p:cNvPr id="8" name="Zelf getekend: V, A, E, assen, schalen en hulplijn">
            <a:extLst xmlns:a="http://schemas.openxmlformats.org/drawingml/2006/main">
              <a:ext uri="{FF2B5EF4-FFF2-40B4-BE49-F238E27FC236}">
                <a16:creationId xmlns:a16="http://schemas.microsoft.com/office/drawing/2014/main" id="{B5125F6B-FA51-40AB-BEF2-C3ED1480BD94}"/>
              </a:ext>
            </a:extLst>
          </p:cNvPr>
          <p:cNvSpPr>
            <a:spLocks xmlns:a="http://schemas.openxmlformats.org/drawingml/2006/main" noGrp="1"/>
          </p:cNvSpPr>
          <p:nvPr/>
        </p:nvSpPr>
        <p:spPr>
          <a:xfrm xmlns:a="http://schemas.openxmlformats.org/drawingml/2006/main">
            <a:off x="4076700" y="3409950"/>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Zelf getekend: V, A, E, assen, schalen en hulplijnen.</a:t>
            </a:r>
          </a:p>
        </p:txBody>
      </p:sp>
      <p:sp>
        <p:nvSpPr>
          <p:cNvPr id="9" name="d">
            <a:extLst xmlns:a="http://schemas.openxmlformats.org/drawingml/2006/main">
              <a:ext uri="{FF2B5EF4-FFF2-40B4-BE49-F238E27FC236}">
                <a16:creationId xmlns:a16="http://schemas.microsoft.com/office/drawing/2014/main" id="{3144B24F-1D75-4707-8E5E-5AD38AE0DCF8}"/>
              </a:ext>
            </a:extLst>
          </p:cNvPr>
          <p:cNvSpPr>
            <a:spLocks xmlns:a="http://schemas.openxmlformats.org/drawingml/2006/main" noGrp="1"/>
          </p:cNvSpPr>
          <p:nvPr/>
        </p:nvSpPr>
        <p:spPr>
          <a:xfrm xmlns:a="http://schemas.openxmlformats.org/drawingml/2006/main">
            <a:off x="571500" y="47434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d</a:t>
            </a:r>
          </a:p>
        </p:txBody>
      </p:sp>
      <p:sp>
        <p:nvSpPr>
          <p:cNvPr id="10" name="Vraagoverschot 30; verkoop volgens de afspraak 20.">
            <a:extLst xmlns:a="http://schemas.openxmlformats.org/drawingml/2006/main">
              <a:ext uri="{FF2B5EF4-FFF2-40B4-BE49-F238E27FC236}">
                <a16:creationId xmlns:a16="http://schemas.microsoft.com/office/drawing/2014/main" id="{104B1AF8-2E8D-4945-8889-797F2AB6FC3A}"/>
              </a:ext>
            </a:extLst>
          </p:cNvPr>
          <p:cNvSpPr>
            <a:spLocks xmlns:a="http://schemas.openxmlformats.org/drawingml/2006/main" noGrp="1"/>
          </p:cNvSpPr>
          <p:nvPr/>
        </p:nvSpPr>
        <p:spPr>
          <a:xfrm xmlns:a="http://schemas.openxmlformats.org/drawingml/2006/main">
            <a:off x="4076700" y="4743450"/>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Vraagoverschot 30; verkoop volgens de afspraak 20.</a:t>
            </a:r>
          </a:p>
        </p:txBody>
      </p:sp>
      <p:sp>
        <p:nvSpPr>
          <p:cNvPr id="11" name="e">
            <a:extLst xmlns:a="http://schemas.openxmlformats.org/drawingml/2006/main">
              <a:ext uri="{FF2B5EF4-FFF2-40B4-BE49-F238E27FC236}">
                <a16:creationId xmlns:a16="http://schemas.microsoft.com/office/drawing/2014/main" id="{2E8A42BD-3CBD-4A54-8756-37E08DFA6C0C}"/>
              </a:ext>
            </a:extLst>
          </p:cNvPr>
          <p:cNvSpPr>
            <a:spLocks xmlns:a="http://schemas.openxmlformats.org/drawingml/2006/main" noGrp="1"/>
          </p:cNvSpPr>
          <p:nvPr/>
        </p:nvSpPr>
        <p:spPr>
          <a:xfrm xmlns:a="http://schemas.openxmlformats.org/drawingml/2006/main">
            <a:off x="571500" y="60769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e</a:t>
            </a:r>
          </a:p>
        </p:txBody>
      </p:sp>
      <p:sp>
        <p:nvSpPr>
          <p:cNvPr id="12" name="Kopers concurreren; Qᵥ daalt en Qₐ stijgt langs de">
            <a:extLst xmlns:a="http://schemas.openxmlformats.org/drawingml/2006/main">
              <a:ext uri="{FF2B5EF4-FFF2-40B4-BE49-F238E27FC236}">
                <a16:creationId xmlns:a16="http://schemas.microsoft.com/office/drawing/2014/main" id="{A4336B1D-0D81-4279-A5A1-397430837A2D}"/>
              </a:ext>
            </a:extLst>
          </p:cNvPr>
          <p:cNvSpPr>
            <a:spLocks xmlns:a="http://schemas.openxmlformats.org/drawingml/2006/main" noGrp="1"/>
          </p:cNvSpPr>
          <p:nvPr/>
        </p:nvSpPr>
        <p:spPr>
          <a:xfrm xmlns:a="http://schemas.openxmlformats.org/drawingml/2006/main">
            <a:off x="4076700" y="6076950"/>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Kopers concurreren; Qᵥ daalt en Qₐ stijgt langs de lijnen.</a:t>
            </a:r>
          </a:p>
        </p:txBody>
      </p:sp>
      <p:sp>
        <p:nvSpPr>
          <p:cNvPr id="13" name="Verbeter één ontbrekende stap of onjuiste uitleg i">
            <a:extLst xmlns:a="http://schemas.openxmlformats.org/drawingml/2006/main">
              <a:ext uri="{FF2B5EF4-FFF2-40B4-BE49-F238E27FC236}">
                <a16:creationId xmlns:a16="http://schemas.microsoft.com/office/drawing/2014/main" id="{D52DF79B-504C-4D11-A25F-D4FC3FB77054}"/>
              </a:ext>
            </a:extLst>
          </p:cNvPr>
          <p:cNvSpPr>
            <a:spLocks xmlns:a="http://schemas.openxmlformats.org/drawingml/2006/main" noGrp="1"/>
          </p:cNvSpPr>
          <p:nvPr/>
        </p:nvSpPr>
        <p:spPr>
          <a:xfrm xmlns:a="http://schemas.openxmlformats.org/drawingml/2006/main">
            <a:off x="571500" y="76009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Verbeter één ontbrekende stap of onjuiste uitleg in je eigen werk.</a:t>
            </a:r>
          </a:p>
        </p:txBody>
      </p:sp>
    </p:spTree>
    <p:extLst>
      <p:ext uri="{BB962C8B-B14F-4D97-AF65-F5344CB8AC3E}">
        <p14:creationId xmlns:p14="http://schemas.microsoft.com/office/powerpoint/2010/main" val="3588571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2 Marktevenwicht">
            <a:extLst xmlns:a="http://schemas.openxmlformats.org/drawingml/2006/main">
              <a:ext uri="{FF2B5EF4-FFF2-40B4-BE49-F238E27FC236}">
                <a16:creationId xmlns:a16="http://schemas.microsoft.com/office/drawing/2014/main" id="{0E234B8E-C733-4FED-B01F-629E364067C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§1.3.2 Marktevenwicht</a:t>
            </a:r>
          </a:p>
        </p:txBody>
      </p:sp>
      <p:sp>
        <p:nvSpPr>
          <p:cNvPr id="2" name="">
            <a:extLst xmlns:a="http://schemas.openxmlformats.org/drawingml/2006/main">
              <a:ext uri="{FF2B5EF4-FFF2-40B4-BE49-F238E27FC236}">
                <a16:creationId xmlns:a16="http://schemas.microsoft.com/office/drawing/2014/main" id="{E758AC32-D9A7-4F1E-BDC5-77C3A27893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2 Marktevenwicht">
            <a:extLst xmlns:a="http://schemas.openxmlformats.org/drawingml/2006/main">
              <a:ext uri="{FF2B5EF4-FFF2-40B4-BE49-F238E27FC236}">
                <a16:creationId xmlns:a16="http://schemas.microsoft.com/office/drawing/2014/main" id="{B2D3FBBD-5464-4E22-8CD6-2FAE16B4B55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§1.3.2 Marktevenwicht</a:t>
            </a:r>
          </a:p>
        </p:txBody>
      </p:sp>
      <p:sp>
        <p:nvSpPr>
          <p:cNvPr id="4" name="30">
            <a:extLst xmlns:a="http://schemas.openxmlformats.org/drawingml/2006/main">
              <a:ext uri="{FF2B5EF4-FFF2-40B4-BE49-F238E27FC236}">
                <a16:creationId xmlns:a16="http://schemas.microsoft.com/office/drawing/2014/main" id="{3D11E4FF-9009-4937-AF8F-C8BADC921D6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30</a:t>
            </a:r>
          </a:p>
        </p:txBody>
      </p:sp>
      <p:sp>
        <p:nvSpPr>
          <p:cNvPr id="5" name="phase">
            <a:extLst xmlns:a="http://schemas.openxmlformats.org/drawingml/2006/main">
              <a:ext uri="{FF2B5EF4-FFF2-40B4-BE49-F238E27FC236}">
                <a16:creationId xmlns:a16="http://schemas.microsoft.com/office/drawing/2014/main" id="{6C462A7D-A973-4332-A2BE-051943843FEC}"/>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26B22A3-BCE5-4FEC-B4EB-82B2DFC7D63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2A5352E-ECF2-4E61-AE9E-9068347ED0B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69038CCE-D0EC-4A21-94C8-F02B3422B4DD}"/>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82B828D-B9DB-4CBD-AA90-2EA4ACD8545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60AE4EB6-5B11-4890-9310-FB85BEB24BDF}"/>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A3504AD-4455-4133-BF0A-3728237D220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8C7ABDFC-B02E-4DC0-ACA6-81B4D9B5B506}"/>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3B29A28-9F25-4111-88EB-D267F12CF93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5122CDEE-F3B6-4A26-A674-9D0F25893181}"/>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561BBA07-0657-42D4-A625-65753F76AAC6}"/>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E3A16FA-D5FF-4ACA-9D8A-08DF51622023}"/>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C4034FF-BEA0-4FF9-A289-67B1FA7F0505}"/>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1D82352-CBEB-4CFA-B561-4E9307CBB53E}"/>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20.</a:t>
            </a:r>
          </a:p>
        </p:txBody>
      </p:sp>
      <p:sp>
        <p:nvSpPr>
          <p:cNvPr id="19" name="route-number-7">
            <a:extLst xmlns:a="http://schemas.openxmlformats.org/drawingml/2006/main">
              <a:ext uri="{FF2B5EF4-FFF2-40B4-BE49-F238E27FC236}">
                <a16:creationId xmlns:a16="http://schemas.microsoft.com/office/drawing/2014/main" id="{0E27C914-17CB-45E6-AA63-8BF70C5A06D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B653689-4DFD-4885-897B-28F84FEEB902}"/>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0F74C85-E46D-4867-A71B-7D686735E3C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B56D821-70F4-4263-B205-8465668C82BA}"/>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Evenwicht berekenen 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Overschot, verkoop 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prijsdruk verklaren.</a:t>
            </a:r>
          </a:p>
        </p:txBody>
      </p:sp>
      <p:sp>
        <p:nvSpPr>
          <p:cNvPr id="23" name="">
            <a:extLst xmlns:a="http://schemas.openxmlformats.org/drawingml/2006/main">
              <a:ext uri="{FF2B5EF4-FFF2-40B4-BE49-F238E27FC236}">
                <a16:creationId xmlns:a16="http://schemas.microsoft.com/office/drawing/2014/main" id="{4533C5C1-8956-480D-B9E7-7421D1166302}"/>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AABD22F4-0066-4F94-A63E-73417624267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84A8B24-B4B2-44AB-88EA-FD7023DF87BA}"/>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102 · Opgaven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 verkennen, theorie p. 96–97</a:t>
            </a:r>
          </a:p>
        </p:txBody>
      </p:sp>
      <p:sp>
        <p:nvSpPr>
          <p:cNvPr id="26" name="">
            <a:extLst xmlns:a="http://schemas.openxmlformats.org/drawingml/2006/main">
              <a:ext uri="{FF2B5EF4-FFF2-40B4-BE49-F238E27FC236}">
                <a16:creationId xmlns:a16="http://schemas.microsoft.com/office/drawing/2014/main" id="{AED8D5AE-7B8B-44BF-9218-537B5D1F9E0C}"/>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7DF7D13-1C89-468D-BCBA-03BB7F130BA0}"/>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4EE73FE-4465-44D0-B665-4503A9A13461}"/>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§1.3.2 Marktevenwicht</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14, 15 en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17, 18 en 19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20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359382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2026-10-03T13:58:59.2490000Z</dcterms:created>
  <dcterms:modified xsi:type="dcterms:W3CDTF">2026-10-03T13:58:59.2490000Z</dcterms:modified>
</coreProperties>
</file>